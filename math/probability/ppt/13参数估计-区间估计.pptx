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2"/>
  </p:notesMasterIdLst>
  <p:sldIdLst>
    <p:sldId id="1205" r:id="rId3"/>
    <p:sldId id="1206" r:id="rId4"/>
    <p:sldId id="1176" r:id="rId5"/>
    <p:sldId id="1101" r:id="rId6"/>
    <p:sldId id="1102" r:id="rId7"/>
    <p:sldId id="1103" r:id="rId8"/>
    <p:sldId id="1104" r:id="rId9"/>
    <p:sldId id="1105" r:id="rId10"/>
    <p:sldId id="1106" r:id="rId11"/>
    <p:sldId id="1107" r:id="rId12"/>
    <p:sldId id="1108" r:id="rId13"/>
    <p:sldId id="1109" r:id="rId14"/>
    <p:sldId id="1110" r:id="rId15"/>
    <p:sldId id="1111" r:id="rId16"/>
    <p:sldId id="1112" r:id="rId17"/>
    <p:sldId id="1113" r:id="rId18"/>
    <p:sldId id="1114" r:id="rId19"/>
    <p:sldId id="1115" r:id="rId20"/>
    <p:sldId id="1116" r:id="rId21"/>
    <p:sldId id="1117" r:id="rId22"/>
    <p:sldId id="1118" r:id="rId23"/>
    <p:sldId id="1119" r:id="rId24"/>
    <p:sldId id="1120" r:id="rId25"/>
    <p:sldId id="1121" r:id="rId26"/>
    <p:sldId id="1122" r:id="rId27"/>
    <p:sldId id="1123" r:id="rId28"/>
    <p:sldId id="1208" r:id="rId29"/>
    <p:sldId id="1209" r:id="rId30"/>
    <p:sldId id="1210" r:id="rId31"/>
    <p:sldId id="1211" r:id="rId32"/>
    <p:sldId id="1212" r:id="rId33"/>
    <p:sldId id="1213" r:id="rId34"/>
    <p:sldId id="1214" r:id="rId35"/>
    <p:sldId id="1215" r:id="rId36"/>
    <p:sldId id="1216" r:id="rId37"/>
    <p:sldId id="1217" r:id="rId38"/>
    <p:sldId id="1218" r:id="rId39"/>
    <p:sldId id="1219" r:id="rId40"/>
    <p:sldId id="1220" r:id="rId41"/>
    <p:sldId id="1221" r:id="rId42"/>
    <p:sldId id="1222" r:id="rId43"/>
    <p:sldId id="1224" r:id="rId44"/>
    <p:sldId id="1225" r:id="rId45"/>
    <p:sldId id="1226" r:id="rId46"/>
    <p:sldId id="1227" r:id="rId47"/>
    <p:sldId id="1228" r:id="rId48"/>
    <p:sldId id="1229" r:id="rId49"/>
    <p:sldId id="1230" r:id="rId50"/>
    <p:sldId id="1241" r:id="rId51"/>
    <p:sldId id="1231" r:id="rId52"/>
    <p:sldId id="1232" r:id="rId53"/>
    <p:sldId id="1233" r:id="rId54"/>
    <p:sldId id="1234" r:id="rId55"/>
    <p:sldId id="1235" r:id="rId56"/>
    <p:sldId id="1236" r:id="rId57"/>
    <p:sldId id="1237" r:id="rId58"/>
    <p:sldId id="1238" r:id="rId59"/>
    <p:sldId id="1239" r:id="rId60"/>
    <p:sldId id="1124" r:id="rId61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5930" indent="1905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3130" indent="1905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0330" indent="1905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7530" indent="1905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99"/>
    <a:srgbClr val="0000FF"/>
    <a:srgbClr val="FF0000"/>
    <a:srgbClr val="000000"/>
    <a:srgbClr val="00CCFF"/>
    <a:srgbClr val="0033CC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40" autoAdjust="0"/>
    <p:restoredTop sz="94581" autoAdjust="0"/>
  </p:normalViewPr>
  <p:slideViewPr>
    <p:cSldViewPr>
      <p:cViewPr varScale="1">
        <p:scale>
          <a:sx n="120" d="100"/>
          <a:sy n="120" d="100"/>
        </p:scale>
        <p:origin x="1666" y="91"/>
      </p:cViewPr>
      <p:guideLst>
        <p:guide orient="horz" pos="3262"/>
        <p:guide pos="2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5" Type="http://schemas.openxmlformats.org/officeDocument/2006/relationships/tableStyles" Target="tableStyles.xml"/><Relationship Id="rId64" Type="http://schemas.openxmlformats.org/officeDocument/2006/relationships/viewProps" Target="viewProps.xml"/><Relationship Id="rId63" Type="http://schemas.openxmlformats.org/officeDocument/2006/relationships/presProps" Target="presProps.xml"/><Relationship Id="rId62" Type="http://schemas.openxmlformats.org/officeDocument/2006/relationships/notesMaster" Target="notesMasters/notesMaster1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image" Target="../media/image42.emf"/></Relationships>
</file>

<file path=ppt/drawings/_rels/vmlDrawing3.vml.rels><?xml version="1.0" encoding="UTF-8" standalone="yes"?>
<Relationships xmlns="http://schemas.openxmlformats.org/package/2006/relationships"><Relationship Id="rId4" Type="http://schemas.openxmlformats.org/officeDocument/2006/relationships/image" Target="../media/image48.emf"/><Relationship Id="rId3" Type="http://schemas.openxmlformats.org/officeDocument/2006/relationships/image" Target="../media/image47.emf"/><Relationship Id="rId2" Type="http://schemas.openxmlformats.org/officeDocument/2006/relationships/image" Target="../media/image46.emf"/><Relationship Id="rId1" Type="http://schemas.openxmlformats.org/officeDocument/2006/relationships/image" Target="../media/image4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83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983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83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/>
            </a:lvl1pPr>
          </a:lstStyle>
          <a:p>
            <a:pPr>
              <a:defRPr/>
            </a:pPr>
            <a:fld id="{269BF50F-1B3C-47DF-8DD1-71F6C49BC2E6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1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4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1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6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533401"/>
            <a:ext cx="2057400" cy="55927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533401"/>
            <a:ext cx="6019800" cy="55927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533401"/>
            <a:ext cx="8229600" cy="55927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8" name="Rectangle 18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 sz="3305"/>
          </a:p>
        </p:txBody>
      </p:sp>
      <p:sp>
        <p:nvSpPr>
          <p:cNvPr id="81939" name="Rectangle 19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 sz="3305"/>
          </a:p>
        </p:txBody>
      </p:sp>
      <p:sp>
        <p:nvSpPr>
          <p:cNvPr id="81940" name="Rectangle 20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 sz="3305"/>
          </a:p>
        </p:txBody>
      </p:sp>
      <p:sp>
        <p:nvSpPr>
          <p:cNvPr id="81941" name="Rectangle 21"/>
          <p:cNvSpPr>
            <a:spLocks noGrp="1" noChangeArrowheads="1"/>
          </p:cNvSpPr>
          <p:nvPr>
            <p:ph type="title"/>
          </p:nvPr>
        </p:nvSpPr>
        <p:spPr bwMode="auto">
          <a:xfrm>
            <a:off x="819150" y="533400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wipe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黑体" panose="0201060906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0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黑体" panose="0201060906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0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黑体" panose="0201060906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0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黑体" panose="0201060906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0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9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1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2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3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4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5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6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7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8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9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0.jpe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1.emf"/><Relationship Id="rId1" Type="http://schemas.openxmlformats.org/officeDocument/2006/relationships/oleObject" Target="../embeddings/oleObject1.bin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4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43.e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42.emf"/><Relationship Id="rId1" Type="http://schemas.openxmlformats.org/officeDocument/2006/relationships/oleObject" Target="../embeddings/oleObject2.bin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48.emf"/><Relationship Id="rId7" Type="http://schemas.openxmlformats.org/officeDocument/2006/relationships/oleObject" Target="../embeddings/oleObject8.bin"/><Relationship Id="rId6" Type="http://schemas.openxmlformats.org/officeDocument/2006/relationships/image" Target="../media/image47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46.e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45.emf"/><Relationship Id="rId10" Type="http://schemas.openxmlformats.org/officeDocument/2006/relationships/vmlDrawing" Target="../drawings/vmlDrawing3.vml"/><Relationship Id="rId1" Type="http://schemas.openxmlformats.org/officeDocument/2006/relationships/oleObject" Target="../embeddings/oleObject5.bin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9.jpe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0.jpe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1.jpe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2.jpe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3.jpe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4.jpe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5.jpe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6.jpe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7.jpe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8.jpe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9.jpe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0D3A42051805F76EB15DB612DC9A0C9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680" y="-282575"/>
            <a:ext cx="8677275" cy="7698740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4F0096C970ED5CA30A6C65FB60EAD4C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185" y="-558165"/>
            <a:ext cx="8221345" cy="7674610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111553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" y="600075"/>
            <a:ext cx="10058400" cy="565721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111554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" y="600075"/>
            <a:ext cx="10058400" cy="565721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111554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" y="600075"/>
            <a:ext cx="10058400" cy="565721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111555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" y="600075"/>
            <a:ext cx="10058400" cy="565721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111556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" y="600075"/>
            <a:ext cx="10058400" cy="565721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111556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33680" y="600075"/>
            <a:ext cx="9834880" cy="565721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111557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63830" y="600075"/>
            <a:ext cx="9765030" cy="565721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111557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35255" y="677545"/>
            <a:ext cx="9605010" cy="565721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111558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" y="600075"/>
            <a:ext cx="10058400" cy="565721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111558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5" y="661670"/>
            <a:ext cx="10058400" cy="565721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111559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" y="600075"/>
            <a:ext cx="10058400" cy="565721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111559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48590" y="600075"/>
            <a:ext cx="9379585" cy="565721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111600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33680" y="600075"/>
            <a:ext cx="9272270" cy="565721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111601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2235" y="600075"/>
            <a:ext cx="9194165" cy="565721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111601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" y="600075"/>
            <a:ext cx="10058400" cy="565721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111601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415" y="600075"/>
            <a:ext cx="9171940" cy="565721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111602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270" y="600075"/>
            <a:ext cx="9064625" cy="565721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111603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70" y="600075"/>
            <a:ext cx="9063355" cy="565721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111603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2390" y="600075"/>
            <a:ext cx="8515985" cy="565721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111604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95" y="600075"/>
            <a:ext cx="9565005" cy="565721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111605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890" y="600075"/>
            <a:ext cx="8408670" cy="565721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111605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6515" y="600075"/>
            <a:ext cx="9318625" cy="565721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111606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48590" y="600075"/>
            <a:ext cx="9340850" cy="565721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111606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6515" y="600075"/>
            <a:ext cx="9279255" cy="565721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827088" y="774700"/>
            <a:ext cx="7467600" cy="164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5400" b="0">
                <a:ea typeface="华文行楷" panose="02010800040101010101" pitchFamily="2" charset="-122"/>
              </a:rPr>
              <a:t>       </a:t>
            </a:r>
            <a:r>
              <a:rPr lang="zh-CN" altLang="en-US" sz="4400" b="0">
                <a:latin typeface="华文楷体" panose="02010600040101010101" pitchFamily="2" charset="-122"/>
                <a:ea typeface="华文楷体" panose="02010600040101010101" pitchFamily="2" charset="-122"/>
              </a:rPr>
              <a:t>第八章 假设检验</a:t>
            </a:r>
            <a:endParaRPr lang="zh-CN" altLang="en-US" sz="4400" b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endParaRPr lang="zh-CN" altLang="en-US" sz="32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88163" name="Text Box 3"/>
          <p:cNvSpPr txBox="1">
            <a:spLocks noChangeArrowheads="1"/>
          </p:cNvSpPr>
          <p:nvPr/>
        </p:nvSpPr>
        <p:spPr bwMode="auto">
          <a:xfrm>
            <a:off x="1476375" y="2565400"/>
            <a:ext cx="6702425" cy="242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/>
              <a:t>理解假设检验的概念及其基本思想。</a:t>
            </a:r>
            <a:endParaRPr lang="zh-CN" altLang="en-US"/>
          </a:p>
          <a:p>
            <a:pPr eaLnBrk="1" hangingPunct="1">
              <a:lnSpc>
                <a:spcPct val="140000"/>
              </a:lnSpc>
            </a:pPr>
            <a:r>
              <a:rPr lang="zh-CN" altLang="en-US"/>
              <a:t> 理解拒绝域、临界值、显著水平等概念。</a:t>
            </a:r>
            <a:endParaRPr lang="zh-CN" altLang="en-US"/>
          </a:p>
          <a:p>
            <a:pPr eaLnBrk="1" hangingPunct="1">
              <a:lnSpc>
                <a:spcPct val="140000"/>
              </a:lnSpc>
            </a:pPr>
            <a:r>
              <a:rPr lang="zh-CN" altLang="en-US"/>
              <a:t> 掌握假设检验的基本步骤。</a:t>
            </a:r>
            <a:endParaRPr lang="zh-CN" altLang="en-US"/>
          </a:p>
          <a:p>
            <a:pPr eaLnBrk="1" hangingPunct="1">
              <a:lnSpc>
                <a:spcPct val="140000"/>
              </a:lnSpc>
            </a:pPr>
            <a:r>
              <a:rPr lang="zh-CN" altLang="en-US"/>
              <a:t>了解假设检验可能产生的两类错误。</a:t>
            </a:r>
            <a:endParaRPr lang="zh-CN" alt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88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8163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4131259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" y="600075"/>
            <a:ext cx="10058400" cy="565721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4131300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" y="600075"/>
            <a:ext cx="10058400" cy="565721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4131301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" y="600075"/>
            <a:ext cx="10058400" cy="565721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4131301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" y="600075"/>
            <a:ext cx="10058400" cy="565721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41313020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" y="600710"/>
            <a:ext cx="9014460" cy="565721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4131302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635" y="600710"/>
            <a:ext cx="8816975" cy="565721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4131303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85725" y="347345"/>
            <a:ext cx="9315450" cy="565721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4131304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85725" y="426085"/>
            <a:ext cx="9314815" cy="565721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4131304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07645" y="687705"/>
            <a:ext cx="9559290" cy="565721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4131305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" y="600075"/>
            <a:ext cx="10058400" cy="565721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4131306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" y="600075"/>
            <a:ext cx="10058400" cy="565721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4131306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76860" y="600075"/>
            <a:ext cx="9457055" cy="565721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41313070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11455" y="600710"/>
            <a:ext cx="9892030" cy="565721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4131307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16840" y="600075"/>
            <a:ext cx="9583420" cy="565721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546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404813"/>
            <a:ext cx="4800600" cy="457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>
                <a:solidFill>
                  <a:srgbClr val="000099"/>
                </a:solidFill>
                <a:ea typeface="楷体_GB2312" pitchFamily="49" charset="-122"/>
              </a:rPr>
              <a:t> 基本思想</a:t>
            </a:r>
            <a:endParaRPr lang="zh-CN" altLang="en-US" sz="2800">
              <a:solidFill>
                <a:srgbClr val="000099"/>
              </a:solidFill>
              <a:ea typeface="楷体_GB2312" pitchFamily="49" charset="-122"/>
            </a:endParaRPr>
          </a:p>
        </p:txBody>
      </p:sp>
      <p:sp>
        <p:nvSpPr>
          <p:cNvPr id="876547" name="Text Box 3"/>
          <p:cNvSpPr txBox="1">
            <a:spLocks noChangeArrowheads="1"/>
          </p:cNvSpPr>
          <p:nvPr/>
        </p:nvSpPr>
        <p:spPr bwMode="auto">
          <a:xfrm>
            <a:off x="1116013" y="1052513"/>
            <a:ext cx="3311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通过大量实践，</a:t>
            </a:r>
            <a:endParaRPr lang="zh-CN" altLang="en-US"/>
          </a:p>
        </p:txBody>
      </p:sp>
      <p:sp>
        <p:nvSpPr>
          <p:cNvPr id="876548" name="Text Box 4"/>
          <p:cNvSpPr txBox="1">
            <a:spLocks noChangeArrowheads="1"/>
          </p:cNvSpPr>
          <p:nvPr/>
        </p:nvSpPr>
        <p:spPr bwMode="auto">
          <a:xfrm>
            <a:off x="3348038" y="1074738"/>
            <a:ext cx="53927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人们对小概率事件</a:t>
            </a:r>
            <a:r>
              <a:rPr lang="en-US" altLang="zh-CN"/>
              <a:t>(</a:t>
            </a:r>
            <a:r>
              <a:rPr lang="zh-CN" altLang="en-US"/>
              <a:t>即一次试验中 </a:t>
            </a:r>
            <a:endParaRPr lang="zh-CN" altLang="en-US"/>
          </a:p>
        </p:txBody>
      </p:sp>
      <p:sp>
        <p:nvSpPr>
          <p:cNvPr id="876549" name="Text Box 5"/>
          <p:cNvSpPr txBox="1">
            <a:spLocks noChangeArrowheads="1"/>
          </p:cNvSpPr>
          <p:nvPr/>
        </p:nvSpPr>
        <p:spPr bwMode="auto">
          <a:xfrm>
            <a:off x="755650" y="1614488"/>
            <a:ext cx="70596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发生的概率很小的事情 ）总结出一条原理：</a:t>
            </a:r>
            <a:endParaRPr lang="zh-CN" altLang="en-US"/>
          </a:p>
        </p:txBody>
      </p:sp>
      <p:sp>
        <p:nvSpPr>
          <p:cNvPr id="876550" name="Text Box 6"/>
          <p:cNvSpPr txBox="1">
            <a:spLocks noChangeArrowheads="1"/>
          </p:cNvSpPr>
          <p:nvPr/>
        </p:nvSpPr>
        <p:spPr bwMode="auto">
          <a:xfrm>
            <a:off x="746125" y="3068638"/>
            <a:ext cx="46894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并称此为实际推断原理，</a:t>
            </a:r>
            <a:endParaRPr lang="zh-CN" altLang="en-US"/>
          </a:p>
        </p:txBody>
      </p:sp>
      <p:sp>
        <p:nvSpPr>
          <p:cNvPr id="876551" name="Text Box 7"/>
          <p:cNvSpPr txBox="1">
            <a:spLocks noChangeArrowheads="1"/>
          </p:cNvSpPr>
          <p:nvPr/>
        </p:nvSpPr>
        <p:spPr bwMode="auto">
          <a:xfrm>
            <a:off x="4572000" y="3071813"/>
            <a:ext cx="4032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其为判断假设的根据。</a:t>
            </a:r>
            <a:endParaRPr lang="zh-CN" altLang="en-US"/>
          </a:p>
        </p:txBody>
      </p:sp>
      <p:sp>
        <p:nvSpPr>
          <p:cNvPr id="876552" name="Text Box 8"/>
          <p:cNvSpPr txBox="1">
            <a:spLocks noChangeArrowheads="1"/>
          </p:cNvSpPr>
          <p:nvPr/>
        </p:nvSpPr>
        <p:spPr bwMode="auto">
          <a:xfrm>
            <a:off x="776288" y="3660775"/>
            <a:ext cx="33639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在假设检验时，</a:t>
            </a:r>
            <a:endParaRPr lang="zh-CN" altLang="en-US"/>
          </a:p>
        </p:txBody>
      </p:sp>
      <p:sp>
        <p:nvSpPr>
          <p:cNvPr id="876553" name="Text Box 9"/>
          <p:cNvSpPr txBox="1">
            <a:spLocks noChangeArrowheads="1"/>
          </p:cNvSpPr>
          <p:nvPr/>
        </p:nvSpPr>
        <p:spPr bwMode="auto">
          <a:xfrm>
            <a:off x="3203575" y="3683000"/>
            <a:ext cx="52736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若一次试验中小概率事件发生了</a:t>
            </a:r>
            <a:r>
              <a:rPr lang="en-US" altLang="zh-CN"/>
              <a:t>,</a:t>
            </a:r>
            <a:endParaRPr lang="en-US" altLang="zh-CN"/>
          </a:p>
        </p:txBody>
      </p:sp>
      <p:sp>
        <p:nvSpPr>
          <p:cNvPr id="876554" name="Text Box 10"/>
          <p:cNvSpPr txBox="1">
            <a:spLocks noChangeArrowheads="1"/>
          </p:cNvSpPr>
          <p:nvPr/>
        </p:nvSpPr>
        <p:spPr bwMode="auto">
          <a:xfrm>
            <a:off x="746125" y="4264025"/>
            <a:ext cx="4330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就认为是不合理的。</a:t>
            </a:r>
            <a:endParaRPr lang="zh-CN" altLang="en-US"/>
          </a:p>
        </p:txBody>
      </p:sp>
      <p:sp>
        <p:nvSpPr>
          <p:cNvPr id="876555" name="Text Box 11"/>
          <p:cNvSpPr txBox="1">
            <a:spLocks noChangeArrowheads="1"/>
          </p:cNvSpPr>
          <p:nvPr/>
        </p:nvSpPr>
        <p:spPr bwMode="auto">
          <a:xfrm>
            <a:off x="3924300" y="4278313"/>
            <a:ext cx="4895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小概率事件在一次试验中发</a:t>
            </a:r>
            <a:endParaRPr lang="zh-CN" altLang="en-US"/>
          </a:p>
        </p:txBody>
      </p:sp>
      <p:sp>
        <p:nvSpPr>
          <p:cNvPr id="876556" name="Text Box 12"/>
          <p:cNvSpPr txBox="1">
            <a:spLocks noChangeArrowheads="1"/>
          </p:cNvSpPr>
          <p:nvPr/>
        </p:nvSpPr>
        <p:spPr bwMode="auto">
          <a:xfrm>
            <a:off x="798513" y="4918075"/>
            <a:ext cx="41132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生的概率记为</a:t>
            </a:r>
            <a:r>
              <a:rPr lang="en-US" altLang="zh-CN"/>
              <a:t>α</a:t>
            </a:r>
            <a:r>
              <a:rPr lang="zh-CN" altLang="en-US"/>
              <a:t>，一般取</a:t>
            </a:r>
            <a:endParaRPr lang="zh-CN" altLang="en-US"/>
          </a:p>
        </p:txBody>
      </p:sp>
      <p:graphicFrame>
        <p:nvGraphicFramePr>
          <p:cNvPr id="876557" name="Object 13"/>
          <p:cNvGraphicFramePr>
            <a:graphicFrameLocks noChangeAspect="1"/>
          </p:cNvGraphicFramePr>
          <p:nvPr/>
        </p:nvGraphicFramePr>
        <p:xfrm>
          <a:off x="4932363" y="4953000"/>
          <a:ext cx="3278187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9" name="公式" r:id="rId1" imgW="1314450" imgH="144145" progId="Equation.3">
                  <p:embed/>
                </p:oleObj>
              </mc:Choice>
              <mc:Fallback>
                <p:oleObj name="公式" r:id="rId1" imgW="1314450" imgH="144145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4953000"/>
                        <a:ext cx="3278187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6558" name="Text Box 14"/>
          <p:cNvSpPr txBox="1">
            <a:spLocks noChangeArrowheads="1"/>
          </p:cNvSpPr>
          <p:nvPr/>
        </p:nvSpPr>
        <p:spPr bwMode="auto">
          <a:xfrm>
            <a:off x="819150" y="5516563"/>
            <a:ext cx="74977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在假设检验中</a:t>
            </a:r>
            <a:r>
              <a:rPr lang="en-US" altLang="zh-CN"/>
              <a:t>,</a:t>
            </a:r>
            <a:r>
              <a:rPr lang="zh-CN" altLang="en-US"/>
              <a:t>称</a:t>
            </a:r>
            <a:r>
              <a:rPr lang="en-US" altLang="zh-CN"/>
              <a:t>α</a:t>
            </a:r>
            <a:r>
              <a:rPr lang="zh-CN" altLang="en-US"/>
              <a:t>为</a:t>
            </a:r>
            <a:r>
              <a:rPr lang="zh-CN" altLang="en-US">
                <a:solidFill>
                  <a:srgbClr val="0000FF"/>
                </a:solidFill>
              </a:rPr>
              <a:t>显著水平、检验水平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876559" name="Rectangle 15"/>
          <p:cNvSpPr>
            <a:spLocks noChangeArrowheads="1"/>
          </p:cNvSpPr>
          <p:nvPr/>
        </p:nvSpPr>
        <p:spPr bwMode="auto">
          <a:xfrm>
            <a:off x="1476375" y="2349500"/>
            <a:ext cx="67024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00FF"/>
                </a:solidFill>
              </a:rPr>
              <a:t> 小概率事件在一次试验中几乎不会发生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6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76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765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76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765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765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765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765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76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76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76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76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76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6547" grpId="0" autoUpdateAnimBg="0" build="p"/>
      <p:bldP spid="876548" grpId="0" autoUpdateAnimBg="0" build="p"/>
      <p:bldP spid="876549" grpId="0" autoUpdateAnimBg="0" build="p"/>
      <p:bldP spid="876550" grpId="0" autoUpdateAnimBg="0" build="p"/>
      <p:bldP spid="876551" grpId="0" autoUpdateAnimBg="0" build="p"/>
      <p:bldP spid="876552" grpId="0" autoUpdateAnimBg="0" build="p"/>
      <p:bldP spid="876553" grpId="0" autoUpdateAnimBg="0" build="p"/>
      <p:bldP spid="876554" grpId="0" autoUpdateAnimBg="0" build="p"/>
      <p:bldP spid="876555" grpId="0" autoUpdateAnimBg="0" build="p"/>
      <p:bldP spid="876556" grpId="0" autoUpdateAnimBg="0" build="p"/>
      <p:bldP spid="876558" grpId="0" autoUpdateAnimBg="0" build="p"/>
      <p:bldP spid="876559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Text Box 2"/>
          <p:cNvSpPr txBox="1">
            <a:spLocks noChangeArrowheads="1"/>
          </p:cNvSpPr>
          <p:nvPr/>
        </p:nvSpPr>
        <p:spPr bwMode="auto">
          <a:xfrm>
            <a:off x="611188" y="260350"/>
            <a:ext cx="22256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chemeClr val="accent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基本步骤  </a:t>
            </a:r>
            <a:endParaRPr kumimoji="0" lang="zh-CN" altLang="en-US" sz="3200">
              <a:solidFill>
                <a:schemeClr val="accent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22883" name="Text Box 3"/>
          <p:cNvSpPr txBox="1">
            <a:spLocks noChangeArrowheads="1"/>
          </p:cNvSpPr>
          <p:nvPr/>
        </p:nvSpPr>
        <p:spPr bwMode="auto">
          <a:xfrm>
            <a:off x="468313" y="1196975"/>
            <a:ext cx="651827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0" lang="en-US" altLang="zh-CN">
                <a:latin typeface="Arial" panose="020B0604020202020204" pitchFamily="34" charset="0"/>
              </a:rPr>
              <a:t>1</a:t>
            </a:r>
            <a:r>
              <a:rPr kumimoji="0" lang="zh-CN" altLang="en-US">
                <a:latin typeface="Arial" panose="020B0604020202020204" pitchFamily="34" charset="0"/>
              </a:rPr>
              <a:t>、</a:t>
            </a:r>
            <a:r>
              <a:rPr kumimoji="0" lang="zh-CN" altLang="en-US">
                <a:solidFill>
                  <a:srgbClr val="0000FF"/>
                </a:solidFill>
                <a:latin typeface="Arial" panose="020B0604020202020204" pitchFamily="34" charset="0"/>
              </a:rPr>
              <a:t>提出原假设</a:t>
            </a:r>
            <a:r>
              <a:rPr kumimoji="0" lang="en-US" altLang="zh-CN">
                <a:latin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kumimoji="0" lang="en-US" altLang="zh-CN" baseline="-25000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kumimoji="0" lang="en-US" altLang="zh-CN">
                <a:solidFill>
                  <a:srgbClr val="0000FF"/>
                </a:solidFill>
                <a:latin typeface="Arial" panose="020B0604020202020204" pitchFamily="34" charset="0"/>
              </a:rPr>
              <a:t> </a:t>
            </a:r>
            <a:r>
              <a:rPr kumimoji="0" lang="zh-CN" altLang="en-US">
                <a:latin typeface="Arial" panose="020B0604020202020204" pitchFamily="34" charset="0"/>
              </a:rPr>
              <a:t>，确定备择假设</a:t>
            </a:r>
            <a:r>
              <a:rPr kumimoji="0" lang="en-US" altLang="zh-CN">
                <a:latin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kumimoji="0" lang="en-US" altLang="zh-CN" baseline="-25000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kumimoji="0" lang="en-US" altLang="zh-CN">
                <a:latin typeface="Arial" panose="020B0604020202020204" pitchFamily="34" charset="0"/>
              </a:rPr>
              <a:t> </a:t>
            </a:r>
            <a:r>
              <a:rPr kumimoji="0" lang="zh-CN" altLang="en-US">
                <a:latin typeface="Arial" panose="020B0604020202020204" pitchFamily="34" charset="0"/>
              </a:rPr>
              <a:t>； </a:t>
            </a:r>
            <a:endParaRPr kumimoji="0" lang="zh-CN" altLang="en-US">
              <a:latin typeface="Arial" panose="020B0604020202020204" pitchFamily="34" charset="0"/>
            </a:endParaRPr>
          </a:p>
        </p:txBody>
      </p:sp>
      <p:sp>
        <p:nvSpPr>
          <p:cNvPr id="122884" name="Text Box 4"/>
          <p:cNvSpPr txBox="1">
            <a:spLocks noChangeArrowheads="1"/>
          </p:cNvSpPr>
          <p:nvPr/>
        </p:nvSpPr>
        <p:spPr bwMode="auto">
          <a:xfrm>
            <a:off x="539750" y="1958975"/>
            <a:ext cx="5894388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0" lang="en-US" altLang="zh-CN">
                <a:latin typeface="Arial" panose="020B0604020202020204" pitchFamily="34" charset="0"/>
              </a:rPr>
              <a:t>2</a:t>
            </a:r>
            <a:r>
              <a:rPr kumimoji="0" lang="zh-CN" altLang="en-US">
                <a:latin typeface="Arial" panose="020B0604020202020204" pitchFamily="34" charset="0"/>
              </a:rPr>
              <a:t>、</a:t>
            </a:r>
            <a:r>
              <a:rPr kumimoji="0" lang="zh-CN" altLang="en-US">
                <a:solidFill>
                  <a:srgbClr val="0000FF"/>
                </a:solidFill>
                <a:latin typeface="Arial" panose="020B0604020202020204" pitchFamily="34" charset="0"/>
              </a:rPr>
              <a:t>构造</a:t>
            </a:r>
            <a:r>
              <a:rPr kumimoji="0" lang="zh-CN" altLang="en-US">
                <a:latin typeface="Arial" panose="020B0604020202020204" pitchFamily="34" charset="0"/>
              </a:rPr>
              <a:t>分布已知的合适的</a:t>
            </a:r>
            <a:r>
              <a:rPr kumimoji="0" lang="zh-CN" altLang="en-US">
                <a:solidFill>
                  <a:srgbClr val="0000FF"/>
                </a:solidFill>
                <a:latin typeface="Arial" panose="020B0604020202020204" pitchFamily="34" charset="0"/>
              </a:rPr>
              <a:t>统计量</a:t>
            </a:r>
            <a:r>
              <a:rPr kumimoji="0" lang="zh-CN" altLang="en-US">
                <a:latin typeface="Arial" panose="020B0604020202020204" pitchFamily="34" charset="0"/>
              </a:rPr>
              <a:t>； </a:t>
            </a:r>
            <a:endParaRPr kumimoji="0" lang="zh-CN" altLang="en-US">
              <a:latin typeface="Arial" panose="020B0604020202020204" pitchFamily="34" charset="0"/>
            </a:endParaRPr>
          </a:p>
        </p:txBody>
      </p:sp>
      <p:sp>
        <p:nvSpPr>
          <p:cNvPr id="122885" name="Text Box 5"/>
          <p:cNvSpPr txBox="1">
            <a:spLocks noChangeArrowheads="1"/>
          </p:cNvSpPr>
          <p:nvPr/>
        </p:nvSpPr>
        <p:spPr bwMode="auto">
          <a:xfrm>
            <a:off x="539750" y="2887663"/>
            <a:ext cx="8216900" cy="112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0" lang="en-US" altLang="zh-CN">
                <a:latin typeface="Arial" panose="020B0604020202020204" pitchFamily="34" charset="0"/>
              </a:rPr>
              <a:t>3</a:t>
            </a:r>
            <a:r>
              <a:rPr kumimoji="0" lang="zh-CN" altLang="en-US">
                <a:latin typeface="Arial" panose="020B0604020202020204" pitchFamily="34" charset="0"/>
              </a:rPr>
              <a:t>、由给定的检验水平</a:t>
            </a:r>
            <a:r>
              <a:rPr kumimoji="0" lang="zh-CN" altLang="en-US">
                <a:latin typeface="Arial" panose="020B0604020202020204" pitchFamily="34" charset="0"/>
                <a:sym typeface="Symbol" panose="05050102010706020507" pitchFamily="18" charset="2"/>
              </a:rPr>
              <a:t>，</a:t>
            </a:r>
            <a:r>
              <a:rPr kumimoji="0" lang="zh-CN" altLang="en-US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求出</a:t>
            </a:r>
            <a:r>
              <a:rPr kumimoji="0" lang="zh-CN" altLang="en-US">
                <a:latin typeface="Arial" panose="020B0604020202020204" pitchFamily="34" charset="0"/>
                <a:sym typeface="Symbol" panose="05050102010706020507" pitchFamily="18" charset="2"/>
              </a:rPr>
              <a:t>在</a:t>
            </a:r>
            <a:r>
              <a:rPr kumimoji="0" lang="en-US" altLang="zh-CN">
                <a:latin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kumimoji="0" lang="en-US" altLang="zh-CN" baseline="-25000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kumimoji="0" lang="zh-CN" altLang="en-US">
                <a:latin typeface="Arial" panose="020B0604020202020204" pitchFamily="34" charset="0"/>
                <a:sym typeface="Symbol" panose="05050102010706020507" pitchFamily="18" charset="2"/>
              </a:rPr>
              <a:t>成立的条件下的</a:t>
            </a:r>
            <a:endParaRPr kumimoji="0" lang="zh-CN" altLang="en-US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kumimoji="0" lang="zh-CN" altLang="en-US">
                <a:latin typeface="Arial" panose="020B0604020202020204" pitchFamily="34" charset="0"/>
                <a:sym typeface="Symbol" panose="05050102010706020507" pitchFamily="18" charset="2"/>
              </a:rPr>
              <a:t>      </a:t>
            </a:r>
            <a:r>
              <a:rPr kumimoji="0" lang="zh-CN" altLang="en-US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临界值</a:t>
            </a:r>
            <a:r>
              <a:rPr kumimoji="0" lang="zh-CN" altLang="en-US">
                <a:latin typeface="Arial" panose="020B0604020202020204" pitchFamily="34" charset="0"/>
                <a:sym typeface="Symbol" panose="05050102010706020507" pitchFamily="18" charset="2"/>
              </a:rPr>
              <a:t>（上侧分位数，或双侧分位数）；</a:t>
            </a:r>
            <a:endParaRPr kumimoji="0" lang="zh-CN" altLang="en-US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22886" name="Text Box 6"/>
          <p:cNvSpPr txBox="1">
            <a:spLocks noChangeArrowheads="1"/>
          </p:cNvSpPr>
          <p:nvPr/>
        </p:nvSpPr>
        <p:spPr bwMode="auto">
          <a:xfrm>
            <a:off x="579438" y="4292600"/>
            <a:ext cx="8320087" cy="112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0" lang="en-US" altLang="zh-CN">
                <a:latin typeface="Arial" panose="020B0604020202020204" pitchFamily="34" charset="0"/>
              </a:rPr>
              <a:t>4</a:t>
            </a:r>
            <a:r>
              <a:rPr kumimoji="0" lang="zh-CN" altLang="en-US">
                <a:latin typeface="Arial" panose="020B0604020202020204" pitchFamily="34" charset="0"/>
              </a:rPr>
              <a:t>、</a:t>
            </a:r>
            <a:r>
              <a:rPr kumimoji="0" lang="zh-CN" altLang="en-US">
                <a:solidFill>
                  <a:srgbClr val="0000FF"/>
                </a:solidFill>
                <a:latin typeface="Arial" panose="020B0604020202020204" pitchFamily="34" charset="0"/>
              </a:rPr>
              <a:t>计算</a:t>
            </a:r>
            <a:r>
              <a:rPr kumimoji="0" lang="zh-CN" altLang="en-US">
                <a:latin typeface="Arial" panose="020B0604020202020204" pitchFamily="34" charset="0"/>
              </a:rPr>
              <a:t>统计量的样本</a:t>
            </a:r>
            <a:r>
              <a:rPr kumimoji="0" lang="zh-CN" altLang="en-US">
                <a:solidFill>
                  <a:srgbClr val="0000FF"/>
                </a:solidFill>
                <a:latin typeface="Arial" panose="020B0604020202020204" pitchFamily="34" charset="0"/>
              </a:rPr>
              <a:t>观测值</a:t>
            </a:r>
            <a:r>
              <a:rPr kumimoji="0" lang="zh-CN" altLang="en-US">
                <a:latin typeface="Arial" panose="020B0604020202020204" pitchFamily="34" charset="0"/>
              </a:rPr>
              <a:t>，如果落在拒绝域内，</a:t>
            </a:r>
            <a:endParaRPr kumimoji="0" lang="zh-CN" altLang="en-US"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</a:pPr>
            <a:r>
              <a:rPr kumimoji="0" lang="zh-CN" altLang="en-US">
                <a:latin typeface="Arial" panose="020B0604020202020204" pitchFamily="34" charset="0"/>
              </a:rPr>
              <a:t>      则拒绝原假设，否则，接受原假设。</a:t>
            </a:r>
            <a:endParaRPr kumimoji="0"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2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2" grpId="0" bldLvl="0" animBg="1" autoUpdateAnimBg="0"/>
      <p:bldP spid="122883" grpId="0" bldLvl="0" animBg="1" autoUpdateAnimBg="0"/>
      <p:bldP spid="122884" grpId="0" bldLvl="0" animBg="1" autoUpdateAnimBg="0"/>
      <p:bldP spid="122885" grpId="0" bldLvl="0" animBg="1" autoUpdateAnimBg="0"/>
      <p:bldP spid="122886" grpId="0" bldLvl="0" animBg="1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42" name="Rectangle 2"/>
          <p:cNvSpPr>
            <a:spLocks noChangeArrowheads="1"/>
          </p:cNvSpPr>
          <p:nvPr/>
        </p:nvSpPr>
        <p:spPr bwMode="auto">
          <a:xfrm>
            <a:off x="2163763" y="182563"/>
            <a:ext cx="659923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/>
              <a:t> </a:t>
            </a:r>
            <a:r>
              <a:rPr lang="zh-CN" altLang="en-US" sz="3200"/>
              <a:t>假设检验的两类错误</a:t>
            </a:r>
            <a:endParaRPr lang="zh-CN" altLang="en-US" sz="2400" b="0"/>
          </a:p>
        </p:txBody>
      </p:sp>
      <p:grpSp>
        <p:nvGrpSpPr>
          <p:cNvPr id="2" name="Group 3"/>
          <p:cNvGrpSpPr/>
          <p:nvPr/>
        </p:nvGrpSpPr>
        <p:grpSpPr bwMode="auto">
          <a:xfrm>
            <a:off x="1219200" y="685800"/>
            <a:ext cx="7086600" cy="3200400"/>
            <a:chOff x="864" y="816"/>
            <a:chExt cx="4464" cy="2016"/>
          </a:xfrm>
        </p:grpSpPr>
        <p:sp>
          <p:nvSpPr>
            <p:cNvPr id="20494" name="Line 4"/>
            <p:cNvSpPr>
              <a:spLocks noChangeShapeType="1"/>
            </p:cNvSpPr>
            <p:nvPr/>
          </p:nvSpPr>
          <p:spPr bwMode="auto">
            <a:xfrm>
              <a:off x="912" y="864"/>
              <a:ext cx="44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5" name="Rectangle 5"/>
            <p:cNvSpPr>
              <a:spLocks noChangeArrowheads="1"/>
            </p:cNvSpPr>
            <p:nvPr/>
          </p:nvSpPr>
          <p:spPr bwMode="auto">
            <a:xfrm>
              <a:off x="2268" y="1246"/>
              <a:ext cx="987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 i="1"/>
                <a:t> H</a:t>
              </a:r>
              <a:r>
                <a:rPr lang="en-US" altLang="zh-CN" sz="3200" baseline="-25000"/>
                <a:t>0</a:t>
              </a:r>
              <a:r>
                <a:rPr lang="zh-CN" altLang="en-US" sz="3200"/>
                <a:t>为真</a:t>
              </a:r>
              <a:endParaRPr lang="zh-CN" altLang="en-US" sz="3200"/>
            </a:p>
          </p:txBody>
        </p:sp>
        <p:sp>
          <p:nvSpPr>
            <p:cNvPr id="20496" name="Rectangle 6"/>
            <p:cNvSpPr>
              <a:spLocks noChangeArrowheads="1"/>
            </p:cNvSpPr>
            <p:nvPr/>
          </p:nvSpPr>
          <p:spPr bwMode="auto">
            <a:xfrm>
              <a:off x="2834" y="816"/>
              <a:ext cx="11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3200"/>
                <a:t>实际情况</a:t>
              </a:r>
              <a:endParaRPr lang="zh-CN" altLang="en-US" sz="3200"/>
            </a:p>
          </p:txBody>
        </p:sp>
        <p:sp>
          <p:nvSpPr>
            <p:cNvPr id="20497" name="Rectangle 7"/>
            <p:cNvSpPr>
              <a:spLocks noChangeArrowheads="1"/>
            </p:cNvSpPr>
            <p:nvPr/>
          </p:nvSpPr>
          <p:spPr bwMode="auto">
            <a:xfrm>
              <a:off x="1019" y="1200"/>
              <a:ext cx="69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3200"/>
                <a:t>决 定</a:t>
              </a:r>
              <a:endParaRPr lang="zh-CN" altLang="en-US" sz="3200"/>
            </a:p>
          </p:txBody>
        </p:sp>
        <p:sp>
          <p:nvSpPr>
            <p:cNvPr id="20498" name="Line 8"/>
            <p:cNvSpPr>
              <a:spLocks noChangeShapeType="1"/>
            </p:cNvSpPr>
            <p:nvPr/>
          </p:nvSpPr>
          <p:spPr bwMode="auto">
            <a:xfrm>
              <a:off x="864" y="1680"/>
              <a:ext cx="44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9" name="Line 9"/>
            <p:cNvSpPr>
              <a:spLocks noChangeShapeType="1"/>
            </p:cNvSpPr>
            <p:nvPr/>
          </p:nvSpPr>
          <p:spPr bwMode="auto">
            <a:xfrm>
              <a:off x="864" y="2160"/>
              <a:ext cx="44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0" name="Line 10"/>
            <p:cNvSpPr>
              <a:spLocks noChangeShapeType="1"/>
            </p:cNvSpPr>
            <p:nvPr/>
          </p:nvSpPr>
          <p:spPr bwMode="auto">
            <a:xfrm>
              <a:off x="864" y="864"/>
              <a:ext cx="0" cy="18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1" name="Line 11"/>
            <p:cNvSpPr>
              <a:spLocks noChangeShapeType="1"/>
            </p:cNvSpPr>
            <p:nvPr/>
          </p:nvSpPr>
          <p:spPr bwMode="auto">
            <a:xfrm>
              <a:off x="864" y="2736"/>
              <a:ext cx="44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2" name="Line 12"/>
            <p:cNvSpPr>
              <a:spLocks noChangeShapeType="1"/>
            </p:cNvSpPr>
            <p:nvPr/>
          </p:nvSpPr>
          <p:spPr bwMode="auto">
            <a:xfrm>
              <a:off x="5280" y="864"/>
              <a:ext cx="0" cy="19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3" name="Line 13"/>
            <p:cNvSpPr>
              <a:spLocks noChangeShapeType="1"/>
            </p:cNvSpPr>
            <p:nvPr/>
          </p:nvSpPr>
          <p:spPr bwMode="auto">
            <a:xfrm>
              <a:off x="864" y="1200"/>
              <a:ext cx="44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4" name="Rectangle 14"/>
            <p:cNvSpPr>
              <a:spLocks noChangeArrowheads="1"/>
            </p:cNvSpPr>
            <p:nvPr/>
          </p:nvSpPr>
          <p:spPr bwMode="auto">
            <a:xfrm>
              <a:off x="1063" y="1774"/>
              <a:ext cx="987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3200"/>
                <a:t> 拒绝</a:t>
              </a:r>
              <a:r>
                <a:rPr lang="en-US" altLang="zh-CN" sz="3200" i="1"/>
                <a:t>H</a:t>
              </a:r>
              <a:r>
                <a:rPr lang="en-US" altLang="zh-CN" sz="3200" baseline="-25000"/>
                <a:t>0</a:t>
              </a:r>
              <a:endParaRPr lang="en-US" altLang="zh-CN" sz="3200"/>
            </a:p>
          </p:txBody>
        </p:sp>
        <p:sp>
          <p:nvSpPr>
            <p:cNvPr id="20505" name="Rectangle 15"/>
            <p:cNvSpPr>
              <a:spLocks noChangeArrowheads="1"/>
            </p:cNvSpPr>
            <p:nvPr/>
          </p:nvSpPr>
          <p:spPr bwMode="auto">
            <a:xfrm>
              <a:off x="999" y="2302"/>
              <a:ext cx="987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3200"/>
                <a:t> 接受</a:t>
              </a:r>
              <a:r>
                <a:rPr lang="en-US" altLang="zh-CN" sz="3200" i="1"/>
                <a:t>H</a:t>
              </a:r>
              <a:r>
                <a:rPr lang="en-US" altLang="zh-CN" sz="3200" baseline="-25000"/>
                <a:t>0</a:t>
              </a:r>
              <a:endParaRPr lang="en-US" altLang="zh-CN" sz="3200"/>
            </a:p>
          </p:txBody>
        </p:sp>
        <p:sp>
          <p:nvSpPr>
            <p:cNvPr id="20506" name="Line 16"/>
            <p:cNvSpPr>
              <a:spLocks noChangeShapeType="1"/>
            </p:cNvSpPr>
            <p:nvPr/>
          </p:nvSpPr>
          <p:spPr bwMode="auto">
            <a:xfrm>
              <a:off x="3456" y="1200"/>
              <a:ext cx="0" cy="15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7" name="Line 17"/>
            <p:cNvSpPr>
              <a:spLocks noChangeShapeType="1"/>
            </p:cNvSpPr>
            <p:nvPr/>
          </p:nvSpPr>
          <p:spPr bwMode="auto">
            <a:xfrm>
              <a:off x="2112" y="864"/>
              <a:ext cx="0" cy="18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8" name="Rectangle 18"/>
            <p:cNvSpPr>
              <a:spLocks noChangeArrowheads="1"/>
            </p:cNvSpPr>
            <p:nvPr/>
          </p:nvSpPr>
          <p:spPr bwMode="auto">
            <a:xfrm>
              <a:off x="3754" y="1246"/>
              <a:ext cx="987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 i="1"/>
                <a:t> H</a:t>
              </a:r>
              <a:r>
                <a:rPr lang="en-US" altLang="zh-CN" sz="3200" baseline="-25000"/>
                <a:t>0</a:t>
              </a:r>
              <a:r>
                <a:rPr lang="zh-CN" altLang="en-US" sz="3200"/>
                <a:t>不真</a:t>
              </a:r>
              <a:endParaRPr lang="zh-CN" altLang="en-US" sz="3200"/>
            </a:p>
          </p:txBody>
        </p:sp>
        <p:sp>
          <p:nvSpPr>
            <p:cNvPr id="20509" name="Rectangle 19"/>
            <p:cNvSpPr>
              <a:spLocks noChangeArrowheads="1"/>
            </p:cNvSpPr>
            <p:nvPr/>
          </p:nvSpPr>
          <p:spPr bwMode="auto">
            <a:xfrm>
              <a:off x="2102" y="1747"/>
              <a:ext cx="140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3200"/>
                <a:t>第一类错误</a:t>
              </a:r>
              <a:endParaRPr lang="zh-CN" altLang="en-US" sz="3200"/>
            </a:p>
          </p:txBody>
        </p:sp>
        <p:sp>
          <p:nvSpPr>
            <p:cNvPr id="20510" name="Rectangle 20"/>
            <p:cNvSpPr>
              <a:spLocks noChangeArrowheads="1"/>
            </p:cNvSpPr>
            <p:nvPr/>
          </p:nvSpPr>
          <p:spPr bwMode="auto">
            <a:xfrm>
              <a:off x="3854" y="1728"/>
              <a:ext cx="69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3200"/>
                <a:t>正确 </a:t>
              </a:r>
              <a:endParaRPr lang="zh-CN" altLang="en-US" sz="3200"/>
            </a:p>
          </p:txBody>
        </p:sp>
        <p:sp>
          <p:nvSpPr>
            <p:cNvPr id="20511" name="Rectangle 21"/>
            <p:cNvSpPr>
              <a:spLocks noChangeArrowheads="1"/>
            </p:cNvSpPr>
            <p:nvPr/>
          </p:nvSpPr>
          <p:spPr bwMode="auto">
            <a:xfrm>
              <a:off x="2367" y="2323"/>
              <a:ext cx="69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3200"/>
                <a:t>正确 </a:t>
              </a:r>
              <a:endParaRPr lang="zh-CN" altLang="en-US" sz="3200"/>
            </a:p>
          </p:txBody>
        </p:sp>
        <p:sp>
          <p:nvSpPr>
            <p:cNvPr id="20512" name="Rectangle 22"/>
            <p:cNvSpPr>
              <a:spLocks noChangeArrowheads="1"/>
            </p:cNvSpPr>
            <p:nvPr/>
          </p:nvSpPr>
          <p:spPr bwMode="auto">
            <a:xfrm>
              <a:off x="3569" y="2323"/>
              <a:ext cx="146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3200"/>
                <a:t> 第二类错误</a:t>
              </a:r>
              <a:endParaRPr lang="zh-CN" altLang="en-US" sz="3200"/>
            </a:p>
          </p:txBody>
        </p:sp>
      </p:grpSp>
      <p:grpSp>
        <p:nvGrpSpPr>
          <p:cNvPr id="3" name="Group 23"/>
          <p:cNvGrpSpPr/>
          <p:nvPr/>
        </p:nvGrpSpPr>
        <p:grpSpPr bwMode="auto">
          <a:xfrm>
            <a:off x="2057400" y="4297363"/>
            <a:ext cx="4495800" cy="579437"/>
            <a:chOff x="1296" y="2707"/>
            <a:chExt cx="2832" cy="365"/>
          </a:xfrm>
        </p:grpSpPr>
        <p:graphicFrame>
          <p:nvGraphicFramePr>
            <p:cNvPr id="20492" name="Object 24"/>
            <p:cNvGraphicFramePr>
              <a:graphicFrameLocks noChangeAspect="1"/>
            </p:cNvGraphicFramePr>
            <p:nvPr/>
          </p:nvGraphicFramePr>
          <p:xfrm>
            <a:off x="3494" y="2786"/>
            <a:ext cx="270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76" name="公式" r:id="rId1" imgW="95250" imgH="86360" progId="Equation.3">
                    <p:embed/>
                  </p:oleObj>
                </mc:Choice>
                <mc:Fallback>
                  <p:oleObj name="公式" r:id="rId1" imgW="95250" imgH="8636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94" y="2786"/>
                          <a:ext cx="270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3" name="Rectangle 25"/>
            <p:cNvSpPr>
              <a:spLocks noChangeArrowheads="1"/>
            </p:cNvSpPr>
            <p:nvPr/>
          </p:nvSpPr>
          <p:spPr bwMode="auto">
            <a:xfrm>
              <a:off x="1296" y="2707"/>
              <a:ext cx="283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 i="1"/>
                <a:t>P</a:t>
              </a:r>
              <a:r>
                <a:rPr lang="en-US" altLang="zh-CN" sz="3200"/>
                <a:t>{</a:t>
              </a:r>
              <a:r>
                <a:rPr lang="zh-CN" altLang="en-US" sz="3200"/>
                <a:t>拒绝</a:t>
              </a:r>
              <a:r>
                <a:rPr lang="en-US" altLang="zh-CN" sz="3200" i="1"/>
                <a:t>H</a:t>
              </a:r>
              <a:r>
                <a:rPr lang="en-US" altLang="zh-CN" sz="3200" baseline="-25000"/>
                <a:t>0</a:t>
              </a:r>
              <a:r>
                <a:rPr lang="en-US" altLang="zh-CN" sz="3200"/>
                <a:t>|</a:t>
              </a:r>
              <a:r>
                <a:rPr lang="en-US" altLang="zh-CN" sz="3200" i="1"/>
                <a:t>H</a:t>
              </a:r>
              <a:r>
                <a:rPr lang="en-US" altLang="zh-CN" sz="3200" baseline="-25000"/>
                <a:t>0</a:t>
              </a:r>
              <a:r>
                <a:rPr lang="zh-CN" altLang="en-US" sz="3200"/>
                <a:t>为真</a:t>
              </a:r>
              <a:r>
                <a:rPr lang="en-US" altLang="zh-CN" sz="3200"/>
                <a:t>}=     ,</a:t>
              </a:r>
              <a:endParaRPr lang="en-US" altLang="zh-CN" sz="3200"/>
            </a:p>
          </p:txBody>
        </p:sp>
      </p:grpSp>
      <p:grpSp>
        <p:nvGrpSpPr>
          <p:cNvPr id="4" name="Group 26"/>
          <p:cNvGrpSpPr/>
          <p:nvPr/>
        </p:nvGrpSpPr>
        <p:grpSpPr bwMode="auto">
          <a:xfrm>
            <a:off x="2057400" y="4949825"/>
            <a:ext cx="4495800" cy="612775"/>
            <a:chOff x="1296" y="3118"/>
            <a:chExt cx="2832" cy="386"/>
          </a:xfrm>
        </p:grpSpPr>
        <p:graphicFrame>
          <p:nvGraphicFramePr>
            <p:cNvPr id="20490" name="Object 27"/>
            <p:cNvGraphicFramePr>
              <a:graphicFrameLocks noChangeAspect="1"/>
            </p:cNvGraphicFramePr>
            <p:nvPr/>
          </p:nvGraphicFramePr>
          <p:xfrm>
            <a:off x="3518" y="3147"/>
            <a:ext cx="292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77" name="公式" r:id="rId3" imgW="104775" imgH="144145" progId="Equation.3">
                    <p:embed/>
                  </p:oleObj>
                </mc:Choice>
                <mc:Fallback>
                  <p:oleObj name="公式" r:id="rId3" imgW="104775" imgH="144145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8" y="3147"/>
                          <a:ext cx="292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1" name="Rectangle 28"/>
            <p:cNvSpPr>
              <a:spLocks noChangeArrowheads="1"/>
            </p:cNvSpPr>
            <p:nvPr/>
          </p:nvSpPr>
          <p:spPr bwMode="auto">
            <a:xfrm>
              <a:off x="1296" y="3118"/>
              <a:ext cx="283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 i="1"/>
                <a:t>P</a:t>
              </a:r>
              <a:r>
                <a:rPr lang="en-US" altLang="zh-CN" sz="3200"/>
                <a:t>{</a:t>
              </a:r>
              <a:r>
                <a:rPr lang="zh-CN" altLang="en-US" sz="3200"/>
                <a:t>接受</a:t>
              </a:r>
              <a:r>
                <a:rPr lang="en-US" altLang="zh-CN" sz="3200" i="1"/>
                <a:t>H</a:t>
              </a:r>
              <a:r>
                <a:rPr lang="en-US" altLang="zh-CN" sz="3200" baseline="-25000"/>
                <a:t>0</a:t>
              </a:r>
              <a:r>
                <a:rPr lang="en-US" altLang="zh-CN" sz="3200"/>
                <a:t>|</a:t>
              </a:r>
              <a:r>
                <a:rPr lang="en-US" altLang="zh-CN" sz="3200" i="1"/>
                <a:t>H</a:t>
              </a:r>
              <a:r>
                <a:rPr lang="en-US" altLang="zh-CN" sz="3200" baseline="-25000"/>
                <a:t>0</a:t>
              </a:r>
              <a:r>
                <a:rPr lang="zh-CN" altLang="en-US" sz="3200"/>
                <a:t>不真</a:t>
              </a:r>
              <a:r>
                <a:rPr lang="en-US" altLang="zh-CN" sz="3200"/>
                <a:t>}=</a:t>
              </a:r>
              <a:r>
                <a:rPr lang="en-US" altLang="zh-CN" sz="3200">
                  <a:solidFill>
                    <a:srgbClr val="CCFFFF"/>
                  </a:solidFill>
                </a:rPr>
                <a:t>    </a:t>
              </a:r>
              <a:r>
                <a:rPr lang="en-US" altLang="zh-CN" sz="3200"/>
                <a:t>.</a:t>
              </a:r>
              <a:endParaRPr lang="en-US" altLang="zh-CN" sz="3200"/>
            </a:p>
          </p:txBody>
        </p:sp>
      </p:grpSp>
      <p:sp>
        <p:nvSpPr>
          <p:cNvPr id="983069" name="Rectangle 29"/>
          <p:cNvSpPr>
            <a:spLocks noChangeArrowheads="1"/>
          </p:cNvSpPr>
          <p:nvPr/>
        </p:nvSpPr>
        <p:spPr bwMode="auto">
          <a:xfrm>
            <a:off x="1066800" y="3763963"/>
            <a:ext cx="4267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/>
              <a:t> </a:t>
            </a:r>
            <a:r>
              <a:rPr lang="zh-CN" altLang="en-US" sz="3200"/>
              <a:t>犯两类错误的概率</a:t>
            </a:r>
            <a:r>
              <a:rPr lang="en-US" altLang="zh-CN" sz="3200"/>
              <a:t>:</a:t>
            </a:r>
            <a:endParaRPr lang="en-US" altLang="zh-CN" sz="2400" b="0"/>
          </a:p>
        </p:txBody>
      </p:sp>
      <p:grpSp>
        <p:nvGrpSpPr>
          <p:cNvPr id="5" name="Group 30"/>
          <p:cNvGrpSpPr/>
          <p:nvPr/>
        </p:nvGrpSpPr>
        <p:grpSpPr bwMode="auto">
          <a:xfrm>
            <a:off x="1071563" y="5562600"/>
            <a:ext cx="6710362" cy="579438"/>
            <a:chOff x="703" y="3523"/>
            <a:chExt cx="4227" cy="365"/>
          </a:xfrm>
        </p:grpSpPr>
        <p:graphicFrame>
          <p:nvGraphicFramePr>
            <p:cNvPr id="20488" name="Object 31"/>
            <p:cNvGraphicFramePr>
              <a:graphicFrameLocks noChangeAspect="1"/>
            </p:cNvGraphicFramePr>
            <p:nvPr/>
          </p:nvGraphicFramePr>
          <p:xfrm>
            <a:off x="1997" y="3611"/>
            <a:ext cx="269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78" name="公式" r:id="rId5" imgW="95250" imgH="86360" progId="Equation.3">
                    <p:embed/>
                  </p:oleObj>
                </mc:Choice>
                <mc:Fallback>
                  <p:oleObj name="公式" r:id="rId5" imgW="95250" imgH="8636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7" y="3611"/>
                          <a:ext cx="269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89" name="Rectangle 32"/>
            <p:cNvSpPr>
              <a:spLocks noChangeArrowheads="1"/>
            </p:cNvSpPr>
            <p:nvPr/>
          </p:nvSpPr>
          <p:spPr bwMode="auto">
            <a:xfrm>
              <a:off x="703" y="3523"/>
              <a:ext cx="4227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3200"/>
                <a:t>显著性水平   为犯第一类错误的概率</a:t>
              </a:r>
              <a:r>
                <a:rPr lang="en-US" altLang="zh-CN" sz="3200"/>
                <a:t>.</a:t>
              </a:r>
              <a:endParaRPr lang="en-US" altLang="zh-CN" sz="3200"/>
            </a:p>
          </p:txBody>
        </p: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830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830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83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42" grpId="0" autoUpdateAnimBg="0"/>
      <p:bldP spid="983069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Text Box 2"/>
          <p:cNvSpPr txBox="1">
            <a:spLocks noChangeArrowheads="1"/>
          </p:cNvSpPr>
          <p:nvPr/>
        </p:nvSpPr>
        <p:spPr bwMode="auto">
          <a:xfrm>
            <a:off x="457200" y="457200"/>
            <a:ext cx="8509000" cy="164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0" lang="zh-CN" altLang="en-US">
                <a:solidFill>
                  <a:srgbClr val="0000FF"/>
                </a:solidFill>
                <a:latin typeface="Arial" panose="020B0604020202020204" pitchFamily="34" charset="0"/>
              </a:rPr>
              <a:t>第一类错误（弃真错误）</a:t>
            </a:r>
            <a:r>
              <a:rPr kumimoji="0" lang="en-US" altLang="zh-CN">
                <a:latin typeface="Arial" panose="020B0604020202020204" pitchFamily="34" charset="0"/>
              </a:rPr>
              <a:t>——</a:t>
            </a:r>
            <a:r>
              <a:rPr kumimoji="0" lang="zh-CN" altLang="en-US">
                <a:latin typeface="Arial" panose="020B0604020202020204" pitchFamily="34" charset="0"/>
              </a:rPr>
              <a:t>原假设</a:t>
            </a:r>
            <a:r>
              <a:rPr kumimoji="0" lang="en-US" altLang="zh-CN">
                <a:latin typeface="Arial" panose="020B0604020202020204" pitchFamily="34" charset="0"/>
              </a:rPr>
              <a:t>H</a:t>
            </a:r>
            <a:r>
              <a:rPr kumimoji="0" lang="en-US" altLang="zh-CN" baseline="-25000">
                <a:latin typeface="Arial" panose="020B0604020202020204" pitchFamily="34" charset="0"/>
              </a:rPr>
              <a:t>0</a:t>
            </a:r>
            <a:r>
              <a:rPr kumimoji="0" lang="zh-CN" altLang="en-US">
                <a:latin typeface="Arial" panose="020B0604020202020204" pitchFamily="34" charset="0"/>
              </a:rPr>
              <a:t>为真，而检验</a:t>
            </a:r>
            <a:endParaRPr kumimoji="0" lang="zh-CN" altLang="en-US"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</a:pPr>
            <a:r>
              <a:rPr kumimoji="0" lang="zh-CN" altLang="en-US">
                <a:latin typeface="Arial" panose="020B0604020202020204" pitchFamily="34" charset="0"/>
              </a:rPr>
              <a:t>结果为拒绝</a:t>
            </a:r>
            <a:r>
              <a:rPr kumimoji="0" lang="en-US" altLang="zh-CN">
                <a:latin typeface="Arial" panose="020B0604020202020204" pitchFamily="34" charset="0"/>
              </a:rPr>
              <a:t>H</a:t>
            </a:r>
            <a:r>
              <a:rPr kumimoji="0" lang="en-US" altLang="zh-CN" baseline="-25000">
                <a:latin typeface="Arial" panose="020B0604020202020204" pitchFamily="34" charset="0"/>
              </a:rPr>
              <a:t>0</a:t>
            </a:r>
            <a:r>
              <a:rPr kumimoji="0" lang="zh-CN" altLang="en-US">
                <a:latin typeface="Arial" panose="020B0604020202020204" pitchFamily="34" charset="0"/>
              </a:rPr>
              <a:t>；记其概率为</a:t>
            </a:r>
            <a:r>
              <a:rPr kumimoji="0" lang="zh-CN" altLang="en-US">
                <a:latin typeface="Arial" panose="020B0604020202020204" pitchFamily="34" charset="0"/>
                <a:sym typeface="Symbol" panose="05050102010706020507" pitchFamily="18" charset="2"/>
              </a:rPr>
              <a:t>，即</a:t>
            </a:r>
            <a:endParaRPr kumimoji="0" lang="zh-CN" altLang="en-US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kumimoji="0" lang="zh-CN" altLang="en-US">
                <a:latin typeface="Arial" panose="020B0604020202020204" pitchFamily="34" charset="0"/>
                <a:sym typeface="Symbol" panose="05050102010706020507" pitchFamily="18" charset="2"/>
              </a:rPr>
              <a:t>                  </a:t>
            </a:r>
            <a:r>
              <a:rPr kumimoji="0" lang="en-US" altLang="zh-CN">
                <a:latin typeface="Arial" panose="020B0604020202020204" pitchFamily="34" charset="0"/>
                <a:sym typeface="Symbol" panose="05050102010706020507" pitchFamily="18" charset="2"/>
              </a:rPr>
              <a:t>P{</a:t>
            </a:r>
            <a:r>
              <a:rPr kumimoji="0" lang="zh-CN" altLang="en-US">
                <a:latin typeface="Arial" panose="020B0604020202020204" pitchFamily="34" charset="0"/>
                <a:sym typeface="Symbol" panose="05050102010706020507" pitchFamily="18" charset="2"/>
              </a:rPr>
              <a:t>拒绝</a:t>
            </a:r>
            <a:r>
              <a:rPr kumimoji="0" lang="en-US" altLang="zh-CN">
                <a:latin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kumimoji="0" lang="en-US" altLang="zh-CN" baseline="-25000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kumimoji="0" lang="en-US" altLang="zh-CN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|H</a:t>
            </a:r>
            <a:r>
              <a:rPr kumimoji="0" lang="en-US" altLang="zh-CN" baseline="-250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kumimoji="0" lang="zh-CN" altLang="en-US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为真</a:t>
            </a:r>
            <a:r>
              <a:rPr kumimoji="0" lang="en-US" altLang="zh-CN">
                <a:latin typeface="Arial" panose="020B0604020202020204" pitchFamily="34" charset="0"/>
                <a:sym typeface="Symbol" panose="05050102010706020507" pitchFamily="18" charset="2"/>
              </a:rPr>
              <a:t>}= </a:t>
            </a:r>
            <a:endParaRPr kumimoji="0" lang="en-US" altLang="zh-CN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23907" name="Text Box 3"/>
          <p:cNvSpPr txBox="1">
            <a:spLocks noChangeArrowheads="1"/>
          </p:cNvSpPr>
          <p:nvPr/>
        </p:nvSpPr>
        <p:spPr bwMode="auto">
          <a:xfrm>
            <a:off x="412750" y="2087563"/>
            <a:ext cx="8509000" cy="1643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0" lang="zh-CN" altLang="en-US">
                <a:solidFill>
                  <a:srgbClr val="0000FF"/>
                </a:solidFill>
                <a:latin typeface="Arial" panose="020B0604020202020204" pitchFamily="34" charset="0"/>
              </a:rPr>
              <a:t>第二类错误（取伪错误）</a:t>
            </a:r>
            <a:r>
              <a:rPr kumimoji="0" lang="en-US" altLang="zh-CN">
                <a:latin typeface="Arial" panose="020B0604020202020204" pitchFamily="34" charset="0"/>
              </a:rPr>
              <a:t>——</a:t>
            </a:r>
            <a:r>
              <a:rPr kumimoji="0" lang="zh-CN" altLang="en-US">
                <a:latin typeface="Arial" panose="020B0604020202020204" pitchFamily="34" charset="0"/>
              </a:rPr>
              <a:t>原假设</a:t>
            </a:r>
            <a:r>
              <a:rPr kumimoji="0" lang="en-US" altLang="zh-CN">
                <a:latin typeface="Arial" panose="020B0604020202020204" pitchFamily="34" charset="0"/>
              </a:rPr>
              <a:t>H</a:t>
            </a:r>
            <a:r>
              <a:rPr kumimoji="0" lang="en-US" altLang="zh-CN" baseline="-25000">
                <a:latin typeface="Arial" panose="020B0604020202020204" pitchFamily="34" charset="0"/>
              </a:rPr>
              <a:t>0</a:t>
            </a:r>
            <a:r>
              <a:rPr kumimoji="0" lang="zh-CN" altLang="en-US">
                <a:latin typeface="Arial" panose="020B0604020202020204" pitchFamily="34" charset="0"/>
              </a:rPr>
              <a:t>不符合实际，</a:t>
            </a:r>
            <a:endParaRPr kumimoji="0" lang="zh-CN" altLang="en-US"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</a:pPr>
            <a:r>
              <a:rPr kumimoji="0" lang="zh-CN" altLang="en-US">
                <a:latin typeface="Arial" panose="020B0604020202020204" pitchFamily="34" charset="0"/>
              </a:rPr>
              <a:t>而检验结果为接受</a:t>
            </a:r>
            <a:r>
              <a:rPr kumimoji="0" lang="en-US" altLang="zh-CN">
                <a:latin typeface="Arial" panose="020B0604020202020204" pitchFamily="34" charset="0"/>
              </a:rPr>
              <a:t>H</a:t>
            </a:r>
            <a:r>
              <a:rPr kumimoji="0" lang="en-US" altLang="zh-CN" baseline="-25000">
                <a:latin typeface="Arial" panose="020B0604020202020204" pitchFamily="34" charset="0"/>
              </a:rPr>
              <a:t>0</a:t>
            </a:r>
            <a:r>
              <a:rPr kumimoji="0" lang="zh-CN" altLang="en-US">
                <a:latin typeface="Arial" panose="020B0604020202020204" pitchFamily="34" charset="0"/>
              </a:rPr>
              <a:t>；记其概率为</a:t>
            </a:r>
            <a:r>
              <a:rPr kumimoji="0" lang="zh-CN" altLang="en-US">
                <a:latin typeface="Arial" panose="020B0604020202020204" pitchFamily="34" charset="0"/>
                <a:sym typeface="Symbol" panose="05050102010706020507" pitchFamily="18" charset="2"/>
              </a:rPr>
              <a:t>，即</a:t>
            </a:r>
            <a:endParaRPr kumimoji="0" lang="zh-CN" altLang="en-US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kumimoji="0" lang="zh-CN" altLang="en-US">
                <a:latin typeface="Arial" panose="020B0604020202020204" pitchFamily="34" charset="0"/>
                <a:sym typeface="Symbol" panose="05050102010706020507" pitchFamily="18" charset="2"/>
              </a:rPr>
              <a:t>                 </a:t>
            </a:r>
            <a:r>
              <a:rPr kumimoji="0" lang="en-US" altLang="zh-CN">
                <a:latin typeface="Arial" panose="020B0604020202020204" pitchFamily="34" charset="0"/>
                <a:sym typeface="Symbol" panose="05050102010706020507" pitchFamily="18" charset="2"/>
              </a:rPr>
              <a:t>P{</a:t>
            </a:r>
            <a:r>
              <a:rPr kumimoji="0" lang="zh-CN" altLang="en-US">
                <a:latin typeface="Arial" panose="020B0604020202020204" pitchFamily="34" charset="0"/>
                <a:sym typeface="Symbol" panose="05050102010706020507" pitchFamily="18" charset="2"/>
              </a:rPr>
              <a:t>接受</a:t>
            </a:r>
            <a:r>
              <a:rPr kumimoji="0" lang="en-US" altLang="zh-CN">
                <a:latin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kumimoji="0" lang="en-US" altLang="zh-CN" baseline="-25000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kumimoji="0" lang="en-US" altLang="zh-CN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|H</a:t>
            </a:r>
            <a:r>
              <a:rPr kumimoji="0" lang="en-US" altLang="zh-CN" baseline="-250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kumimoji="0" lang="zh-CN" altLang="en-US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为假</a:t>
            </a:r>
            <a:r>
              <a:rPr kumimoji="0" lang="en-US" altLang="zh-CN">
                <a:latin typeface="Arial" panose="020B0604020202020204" pitchFamily="34" charset="0"/>
                <a:sym typeface="Symbol" panose="05050102010706020507" pitchFamily="18" charset="2"/>
              </a:rPr>
              <a:t>}= </a:t>
            </a:r>
            <a:endParaRPr kumimoji="0" lang="zh-CN" altLang="zh-CN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23908" name="Text Box 4"/>
          <p:cNvSpPr txBox="1">
            <a:spLocks noChangeArrowheads="1"/>
          </p:cNvSpPr>
          <p:nvPr/>
        </p:nvSpPr>
        <p:spPr bwMode="auto">
          <a:xfrm>
            <a:off x="319088" y="3705225"/>
            <a:ext cx="8424862" cy="112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0" lang="zh-CN" altLang="en-US">
                <a:latin typeface="Arial" panose="020B0604020202020204" pitchFamily="34" charset="0"/>
              </a:rPr>
              <a:t>希望：犯两类错误的概率越小越好，但样本容量一定</a:t>
            </a:r>
            <a:endParaRPr kumimoji="0" lang="zh-CN" altLang="en-US"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</a:pPr>
            <a:r>
              <a:rPr kumimoji="0" lang="zh-CN" altLang="en-US">
                <a:latin typeface="Arial" panose="020B0604020202020204" pitchFamily="34" charset="0"/>
              </a:rPr>
              <a:t>           的前提下，不可能同时降低</a:t>
            </a:r>
            <a:r>
              <a:rPr kumimoji="0" lang="zh-CN" altLang="en-US">
                <a:latin typeface="Arial" panose="020B0604020202020204" pitchFamily="34" charset="0"/>
                <a:sym typeface="Symbol" panose="05050102010706020507" pitchFamily="18" charset="2"/>
              </a:rPr>
              <a:t>和。</a:t>
            </a:r>
            <a:endParaRPr kumimoji="0" lang="zh-CN" altLang="en-US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23909" name="Text Box 5"/>
          <p:cNvSpPr txBox="1">
            <a:spLocks noChangeArrowheads="1"/>
          </p:cNvSpPr>
          <p:nvPr/>
        </p:nvSpPr>
        <p:spPr bwMode="auto">
          <a:xfrm>
            <a:off x="247650" y="4751388"/>
            <a:ext cx="926465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0" lang="zh-CN" altLang="en-US">
                <a:solidFill>
                  <a:srgbClr val="0000FF"/>
                </a:solidFill>
                <a:latin typeface="Arial" panose="020B0604020202020204" pitchFamily="34" charset="0"/>
              </a:rPr>
              <a:t>原则：保护原假设，即限制</a:t>
            </a:r>
            <a:r>
              <a:rPr kumimoji="0" lang="zh-CN" altLang="en-US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的前提下，使尽可能的小。</a:t>
            </a:r>
            <a:endParaRPr kumimoji="0" lang="zh-CN" altLang="en-US">
              <a:solidFill>
                <a:srgbClr val="0000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23910" name="Text Box 6"/>
          <p:cNvSpPr txBox="1">
            <a:spLocks noChangeArrowheads="1"/>
          </p:cNvSpPr>
          <p:nvPr/>
        </p:nvSpPr>
        <p:spPr bwMode="auto">
          <a:xfrm>
            <a:off x="311150" y="5356225"/>
            <a:ext cx="8936038" cy="112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0" lang="zh-CN" altLang="en-US">
                <a:latin typeface="Arial" panose="020B0604020202020204" pitchFamily="34" charset="0"/>
              </a:rPr>
              <a:t>注意：“接受</a:t>
            </a:r>
            <a:r>
              <a:rPr kumimoji="0" lang="en-US" altLang="zh-CN">
                <a:latin typeface="Arial" panose="020B0604020202020204" pitchFamily="34" charset="0"/>
              </a:rPr>
              <a:t>H</a:t>
            </a:r>
            <a:r>
              <a:rPr kumimoji="0" lang="en-US" altLang="zh-CN" baseline="-25000">
                <a:latin typeface="Arial" panose="020B0604020202020204" pitchFamily="34" charset="0"/>
              </a:rPr>
              <a:t>0</a:t>
            </a:r>
            <a:r>
              <a:rPr kumimoji="0" lang="en-US" altLang="zh-CN">
                <a:latin typeface="Arial" panose="020B0604020202020204" pitchFamily="34" charset="0"/>
              </a:rPr>
              <a:t>”</a:t>
            </a:r>
            <a:r>
              <a:rPr kumimoji="0" lang="zh-CN" altLang="en-US">
                <a:latin typeface="Arial" panose="020B0604020202020204" pitchFamily="34" charset="0"/>
              </a:rPr>
              <a:t>，并不意味着</a:t>
            </a:r>
            <a:r>
              <a:rPr kumimoji="0" lang="en-US" altLang="zh-CN">
                <a:latin typeface="Arial" panose="020B0604020202020204" pitchFamily="34" charset="0"/>
              </a:rPr>
              <a:t>H</a:t>
            </a:r>
            <a:r>
              <a:rPr kumimoji="0" lang="en-US" altLang="zh-CN" baseline="-25000">
                <a:latin typeface="Arial" panose="020B0604020202020204" pitchFamily="34" charset="0"/>
              </a:rPr>
              <a:t>0</a:t>
            </a:r>
            <a:r>
              <a:rPr kumimoji="0" lang="zh-CN" altLang="en-US">
                <a:latin typeface="Arial" panose="020B0604020202020204" pitchFamily="34" charset="0"/>
              </a:rPr>
              <a:t>一定为真；“拒绝</a:t>
            </a:r>
            <a:r>
              <a:rPr kumimoji="0" lang="en-US" altLang="zh-CN">
                <a:latin typeface="Arial" panose="020B0604020202020204" pitchFamily="34" charset="0"/>
              </a:rPr>
              <a:t>H</a:t>
            </a:r>
            <a:r>
              <a:rPr kumimoji="0" lang="en-US" altLang="zh-CN" baseline="-25000">
                <a:latin typeface="Arial" panose="020B0604020202020204" pitchFamily="34" charset="0"/>
              </a:rPr>
              <a:t>0</a:t>
            </a:r>
            <a:r>
              <a:rPr kumimoji="0" lang="en-US" altLang="zh-CN">
                <a:latin typeface="Arial" panose="020B0604020202020204" pitchFamily="34" charset="0"/>
              </a:rPr>
              <a:t>”</a:t>
            </a:r>
            <a:endParaRPr kumimoji="0" lang="en-US" altLang="zh-CN"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</a:pPr>
            <a:r>
              <a:rPr kumimoji="0" lang="en-US" altLang="zh-CN">
                <a:latin typeface="Arial" panose="020B0604020202020204" pitchFamily="34" charset="0"/>
              </a:rPr>
              <a:t>            </a:t>
            </a:r>
            <a:r>
              <a:rPr kumimoji="0" lang="zh-CN" altLang="en-US">
                <a:latin typeface="Arial" panose="020B0604020202020204" pitchFamily="34" charset="0"/>
              </a:rPr>
              <a:t>也不意味着</a:t>
            </a:r>
            <a:r>
              <a:rPr kumimoji="0" lang="en-US" altLang="zh-CN">
                <a:latin typeface="Arial" panose="020B0604020202020204" pitchFamily="34" charset="0"/>
              </a:rPr>
              <a:t>H</a:t>
            </a:r>
            <a:r>
              <a:rPr kumimoji="0" lang="en-US" altLang="zh-CN" baseline="-25000">
                <a:latin typeface="Arial" panose="020B0604020202020204" pitchFamily="34" charset="0"/>
              </a:rPr>
              <a:t>0</a:t>
            </a:r>
            <a:r>
              <a:rPr kumimoji="0" lang="zh-CN" altLang="en-US">
                <a:latin typeface="Arial" panose="020B0604020202020204" pitchFamily="34" charset="0"/>
              </a:rPr>
              <a:t>一定不真。</a:t>
            </a:r>
            <a:endParaRPr kumimoji="0" lang="zh-CN" altLang="en-US">
              <a:latin typeface="Arial" panose="020B0604020202020204" pitchFamily="34" charset="0"/>
            </a:endParaRPr>
          </a:p>
        </p:txBody>
      </p:sp>
      <p:grpSp>
        <p:nvGrpSpPr>
          <p:cNvPr id="123911" name="Group 7"/>
          <p:cNvGrpSpPr/>
          <p:nvPr/>
        </p:nvGrpSpPr>
        <p:grpSpPr bwMode="auto">
          <a:xfrm>
            <a:off x="5724525" y="1484313"/>
            <a:ext cx="2465388" cy="609600"/>
            <a:chOff x="3560" y="1083"/>
            <a:chExt cx="1553" cy="384"/>
          </a:xfrm>
        </p:grpSpPr>
        <p:sp>
          <p:nvSpPr>
            <p:cNvPr id="21512" name="Text Box 8"/>
            <p:cNvSpPr txBox="1">
              <a:spLocks noChangeArrowheads="1"/>
            </p:cNvSpPr>
            <p:nvPr/>
          </p:nvSpPr>
          <p:spPr bwMode="auto">
            <a:xfrm>
              <a:off x="3974" y="1083"/>
              <a:ext cx="1139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kumimoji="0" lang="zh-CN" altLang="en-US">
                  <a:solidFill>
                    <a:srgbClr val="FF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检验水平 </a:t>
              </a:r>
              <a:endParaRPr kumimoji="0" lang="zh-CN" altLang="en-US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1513" name="Line 9"/>
            <p:cNvSpPr>
              <a:spLocks noChangeShapeType="1"/>
            </p:cNvSpPr>
            <p:nvPr/>
          </p:nvSpPr>
          <p:spPr bwMode="auto">
            <a:xfrm flipV="1">
              <a:off x="3560" y="1298"/>
              <a:ext cx="454" cy="4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3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3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3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3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3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3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6" grpId="0" bldLvl="0" animBg="1" autoUpdateAnimBg="0"/>
      <p:bldP spid="123907" grpId="0" bldLvl="0" animBg="1" autoUpdateAnimBg="0"/>
      <p:bldP spid="123908" grpId="0" bldLvl="0" animBg="1" autoUpdateAnimBg="0"/>
      <p:bldP spid="123909" grpId="0" bldLvl="0" animBg="1" autoUpdateAnimBg="0"/>
      <p:bldP spid="123910" grpId="0" bldLvl="0" animBg="1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066" name="Text Box 2"/>
          <p:cNvSpPr txBox="1">
            <a:spLocks noChangeArrowheads="1"/>
          </p:cNvSpPr>
          <p:nvPr/>
        </p:nvSpPr>
        <p:spPr bwMode="auto">
          <a:xfrm>
            <a:off x="539750" y="260350"/>
            <a:ext cx="8534400" cy="308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        </a:t>
            </a:r>
            <a:r>
              <a:rPr lang="zh-CN" altLang="en-US"/>
              <a:t>当样本容量</a:t>
            </a:r>
            <a:r>
              <a:rPr lang="en-US" altLang="zh-CN"/>
              <a:t>n</a:t>
            </a:r>
            <a:r>
              <a:rPr lang="zh-CN" altLang="en-US"/>
              <a:t>固定时，一类错误概率的减少导致   另一类错误概率的增加</a:t>
            </a:r>
            <a:r>
              <a:rPr lang="en-US" altLang="zh-CN"/>
              <a:t>.</a:t>
            </a:r>
            <a:r>
              <a:rPr lang="zh-CN" altLang="en-US"/>
              <a:t>要同时降低两类错误</a:t>
            </a:r>
            <a:r>
              <a:rPr lang="en-US" altLang="zh-CN"/>
              <a:t>,</a:t>
            </a:r>
            <a:r>
              <a:rPr lang="zh-CN" altLang="en-US"/>
              <a:t>必须增加样本容量</a:t>
            </a:r>
            <a:r>
              <a:rPr lang="en-US" altLang="zh-CN"/>
              <a:t>.</a:t>
            </a:r>
            <a:endParaRPr lang="en-US" altLang="zh-CN"/>
          </a:p>
          <a:p>
            <a:pPr eaLnBrk="1" hangingPunct="1"/>
            <a:endParaRPr lang="en-US" altLang="zh-CN">
              <a:latin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latin typeface="宋体" panose="02010600030101010101" pitchFamily="2" charset="-122"/>
              </a:rPr>
              <a:t>    </a:t>
            </a:r>
            <a:r>
              <a:rPr lang="zh-CN" altLang="en-US">
                <a:latin typeface="宋体" panose="02010600030101010101" pitchFamily="2" charset="-122"/>
              </a:rPr>
              <a:t>在统计学中</a:t>
            </a:r>
            <a:r>
              <a:rPr lang="en-US" altLang="zh-CN">
                <a:latin typeface="宋体" panose="02010600030101010101" pitchFamily="2" charset="-122"/>
              </a:rPr>
              <a:t>,</a:t>
            </a:r>
            <a:r>
              <a:rPr lang="zh-CN" altLang="en-US">
                <a:latin typeface="宋体" panose="02010600030101010101" pitchFamily="2" charset="-122"/>
              </a:rPr>
              <a:t>通常控制犯第一类错误的概率</a:t>
            </a:r>
            <a:r>
              <a:rPr lang="en-US" altLang="zh-CN">
                <a:latin typeface="宋体" panose="02010600030101010101" pitchFamily="2" charset="-122"/>
              </a:rPr>
              <a:t>.</a:t>
            </a:r>
            <a:r>
              <a:rPr lang="zh-CN" altLang="en-US">
                <a:latin typeface="宋体" panose="02010600030101010101" pitchFamily="2" charset="-122"/>
              </a:rPr>
              <a:t>一般事先选定一个数</a:t>
            </a:r>
            <a:r>
              <a:rPr lang="zh-CN" altLang="en-US">
                <a:latin typeface="宋体" panose="0201060003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>
                <a:latin typeface="宋体" panose="02010600030101010101" pitchFamily="2" charset="-122"/>
                <a:sym typeface="Symbol" panose="05050102010706020507" pitchFamily="18" charset="2"/>
              </a:rPr>
              <a:t>,(0&lt;&lt;1),</a:t>
            </a:r>
            <a:r>
              <a:rPr lang="zh-CN" altLang="en-US">
                <a:latin typeface="宋体" panose="02010600030101010101" pitchFamily="2" charset="-122"/>
                <a:sym typeface="Symbol" panose="05050102010706020507" pitchFamily="18" charset="2"/>
              </a:rPr>
              <a:t>要求</a:t>
            </a:r>
            <a:r>
              <a:rPr lang="zh-CN" altLang="en-US">
                <a:latin typeface="宋体" panose="02010600030101010101" pitchFamily="2" charset="-122"/>
              </a:rPr>
              <a:t>犯第一类错误的概率</a:t>
            </a:r>
            <a:r>
              <a:rPr lang="zh-CN" altLang="en-US">
                <a:latin typeface="宋体" panose="02010600030101010101" pitchFamily="2" charset="-122"/>
                <a:sym typeface="Math1" pitchFamily="2" charset="2"/>
              </a:rPr>
              <a:t>≤</a:t>
            </a:r>
            <a:r>
              <a:rPr lang="zh-CN" altLang="en-US">
                <a:latin typeface="宋体" panose="0201060003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>
                <a:latin typeface="宋体" panose="02010600030101010101" pitchFamily="2" charset="-122"/>
                <a:sym typeface="Symbol" panose="05050102010706020507" pitchFamily="18" charset="2"/>
              </a:rPr>
              <a:t>.</a:t>
            </a:r>
            <a:endParaRPr lang="en-US" altLang="zh-CN"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984067" name="Text Box 3"/>
          <p:cNvSpPr txBox="1">
            <a:spLocks noChangeArrowheads="1"/>
          </p:cNvSpPr>
          <p:nvPr/>
        </p:nvSpPr>
        <p:spPr bwMode="auto">
          <a:xfrm>
            <a:off x="755650" y="3486150"/>
            <a:ext cx="3168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00FF"/>
                </a:solidFill>
                <a:ea typeface="楷体_GB2312" pitchFamily="49" charset="-122"/>
              </a:rPr>
              <a:t>显著性检验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endParaRPr lang="zh-CN" altLang="en-US">
              <a:solidFill>
                <a:schemeClr val="hlink"/>
              </a:solidFill>
            </a:endParaRPr>
          </a:p>
        </p:txBody>
      </p:sp>
      <p:sp>
        <p:nvSpPr>
          <p:cNvPr id="984068" name="Text Box 4"/>
          <p:cNvSpPr txBox="1">
            <a:spLocks noChangeArrowheads="1"/>
          </p:cNvSpPr>
          <p:nvPr/>
        </p:nvSpPr>
        <p:spPr bwMode="auto">
          <a:xfrm>
            <a:off x="2965450" y="3486150"/>
            <a:ext cx="59991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只对犯第一类错误的概率加以控制，</a:t>
            </a:r>
            <a:endParaRPr lang="zh-CN" altLang="en-US"/>
          </a:p>
        </p:txBody>
      </p:sp>
      <p:sp>
        <p:nvSpPr>
          <p:cNvPr id="984069" name="Rectangle 5"/>
          <p:cNvSpPr>
            <a:spLocks noChangeArrowheads="1"/>
          </p:cNvSpPr>
          <p:nvPr/>
        </p:nvSpPr>
        <p:spPr bwMode="auto">
          <a:xfrm>
            <a:off x="684213" y="3917950"/>
            <a:ext cx="6048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而不考虑犯第二类错误的概率。</a:t>
            </a:r>
            <a:endParaRPr lang="zh-CN" altLang="en-US"/>
          </a:p>
        </p:txBody>
      </p:sp>
      <p:grpSp>
        <p:nvGrpSpPr>
          <p:cNvPr id="2" name="Group 6"/>
          <p:cNvGrpSpPr/>
          <p:nvPr/>
        </p:nvGrpSpPr>
        <p:grpSpPr bwMode="auto">
          <a:xfrm>
            <a:off x="4721225" y="4421188"/>
            <a:ext cx="3486150" cy="519112"/>
            <a:chOff x="921" y="3411"/>
            <a:chExt cx="2196" cy="327"/>
          </a:xfrm>
        </p:grpSpPr>
        <p:graphicFrame>
          <p:nvGraphicFramePr>
            <p:cNvPr id="22543" name="Object 7"/>
            <p:cNvGraphicFramePr>
              <a:graphicFrameLocks noChangeAspect="1"/>
            </p:cNvGraphicFramePr>
            <p:nvPr/>
          </p:nvGraphicFramePr>
          <p:xfrm>
            <a:off x="1231" y="3491"/>
            <a:ext cx="236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29" name="Equation" r:id="rId1" imgW="95250" imgH="86360" progId="Equation.DSMT4">
                    <p:embed/>
                  </p:oleObj>
                </mc:Choice>
                <mc:Fallback>
                  <p:oleObj name="Equation" r:id="rId1" imgW="95250" imgH="8636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31" y="3491"/>
                          <a:ext cx="236" cy="2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4" name="Text Box 8"/>
            <p:cNvSpPr txBox="1">
              <a:spLocks noChangeArrowheads="1"/>
            </p:cNvSpPr>
            <p:nvPr/>
          </p:nvSpPr>
          <p:spPr bwMode="auto">
            <a:xfrm>
              <a:off x="921" y="3411"/>
              <a:ext cx="21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/>
                <a:t>称    为显著性水平，</a:t>
              </a:r>
              <a:r>
                <a:rPr lang="zh-CN" altLang="en-US" b="0"/>
                <a:t> </a:t>
              </a:r>
              <a:endParaRPr lang="zh-CN" altLang="en-US" b="0"/>
            </a:p>
          </p:txBody>
        </p:sp>
      </p:grpSp>
      <p:grpSp>
        <p:nvGrpSpPr>
          <p:cNvPr id="3" name="Group 9"/>
          <p:cNvGrpSpPr/>
          <p:nvPr/>
        </p:nvGrpSpPr>
        <p:grpSpPr bwMode="auto">
          <a:xfrm>
            <a:off x="828675" y="4468813"/>
            <a:ext cx="3760788" cy="569912"/>
            <a:chOff x="1973" y="210"/>
            <a:chExt cx="2369" cy="359"/>
          </a:xfrm>
        </p:grpSpPr>
        <p:graphicFrame>
          <p:nvGraphicFramePr>
            <p:cNvPr id="22538" name="Object 10"/>
            <p:cNvGraphicFramePr>
              <a:graphicFrameLocks noChangeAspect="1"/>
            </p:cNvGraphicFramePr>
            <p:nvPr/>
          </p:nvGraphicFramePr>
          <p:xfrm>
            <a:off x="3923" y="260"/>
            <a:ext cx="419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30" name="Equation" r:id="rId3" imgW="209550" imgH="106045" progId="Equation.DSMT4">
                    <p:embed/>
                  </p:oleObj>
                </mc:Choice>
                <mc:Fallback>
                  <p:oleObj name="Equation" r:id="rId3" imgW="209550" imgH="106045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3" y="260"/>
                          <a:ext cx="419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2539" name="Group 11"/>
            <p:cNvGrpSpPr/>
            <p:nvPr/>
          </p:nvGrpSpPr>
          <p:grpSpPr bwMode="auto">
            <a:xfrm>
              <a:off x="1973" y="210"/>
              <a:ext cx="1994" cy="359"/>
              <a:chOff x="3198" y="2024"/>
              <a:chExt cx="1994" cy="359"/>
            </a:xfrm>
          </p:grpSpPr>
          <p:sp>
            <p:nvSpPr>
              <p:cNvPr id="22540" name="Text Box 12"/>
              <p:cNvSpPr txBox="1">
                <a:spLocks noChangeArrowheads="1"/>
              </p:cNvSpPr>
              <p:nvPr/>
            </p:nvSpPr>
            <p:spPr bwMode="auto">
              <a:xfrm>
                <a:off x="3198" y="2024"/>
                <a:ext cx="199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/>
                  <a:t>P{</a:t>
                </a:r>
                <a:r>
                  <a:rPr lang="zh-CN" altLang="en-US"/>
                  <a:t>拒绝     </a:t>
                </a:r>
                <a:r>
                  <a:rPr lang="en-US" altLang="zh-CN"/>
                  <a:t>|      </a:t>
                </a:r>
                <a:r>
                  <a:rPr lang="zh-CN" altLang="en-US"/>
                  <a:t>为真</a:t>
                </a:r>
                <a:r>
                  <a:rPr lang="en-US" altLang="zh-CN"/>
                  <a:t>}</a:t>
                </a:r>
                <a:endParaRPr lang="en-US" altLang="zh-CN"/>
              </a:p>
            </p:txBody>
          </p:sp>
          <p:graphicFrame>
            <p:nvGraphicFramePr>
              <p:cNvPr id="22541" name="Object 13"/>
              <p:cNvGraphicFramePr>
                <a:graphicFrameLocks noChangeAspect="1"/>
              </p:cNvGraphicFramePr>
              <p:nvPr/>
            </p:nvGraphicFramePr>
            <p:xfrm>
              <a:off x="3891" y="2024"/>
              <a:ext cx="382" cy="3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631" name="Equation" r:id="rId5" imgW="171450" imgH="173355" progId="Equation.DSMT4">
                      <p:embed/>
                    </p:oleObj>
                  </mc:Choice>
                  <mc:Fallback>
                    <p:oleObj name="Equation" r:id="rId5" imgW="171450" imgH="173355" progId="Equation.DSMT4">
                      <p:embed/>
                      <p:pic>
                        <p:nvPicPr>
                          <p:cNvPr id="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91" y="2024"/>
                            <a:ext cx="382" cy="3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542" name="Object 14"/>
              <p:cNvGraphicFramePr>
                <a:graphicFrameLocks noChangeAspect="1"/>
              </p:cNvGraphicFramePr>
              <p:nvPr/>
            </p:nvGraphicFramePr>
            <p:xfrm>
              <a:off x="4257" y="2024"/>
              <a:ext cx="382" cy="3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632" name="Equation" r:id="rId7" imgW="171450" imgH="173355" progId="Equation.DSMT4">
                      <p:embed/>
                    </p:oleObj>
                  </mc:Choice>
                  <mc:Fallback>
                    <p:oleObj name="Equation" r:id="rId7" imgW="171450" imgH="173355" progId="Equation.DSMT4">
                      <p:embed/>
                      <p:pic>
                        <p:nvPicPr>
                          <p:cNvPr id="0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57" y="2024"/>
                            <a:ext cx="382" cy="3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827088" y="5068888"/>
            <a:ext cx="6048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一般取</a:t>
            </a:r>
            <a:r>
              <a:rPr lang="en-US" altLang="zh-CN"/>
              <a:t>0.05</a:t>
            </a:r>
            <a:r>
              <a:rPr lang="zh-CN" altLang="en-US"/>
              <a:t>，</a:t>
            </a:r>
            <a:r>
              <a:rPr lang="en-US" altLang="zh-CN"/>
              <a:t>0.1</a:t>
            </a:r>
            <a:r>
              <a:rPr lang="zh-CN" altLang="en-US"/>
              <a:t>，</a:t>
            </a:r>
            <a:r>
              <a:rPr lang="en-US" altLang="zh-CN"/>
              <a:t>0.01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827088" y="5722938"/>
            <a:ext cx="79216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可以说备择假设显著地成立，不能说原假设显著地成立。</a:t>
            </a:r>
            <a:endParaRPr lang="zh-CN" alt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840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840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84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840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840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4066" grpId="0" autoUpdateAnimBg="0" build="p"/>
      <p:bldP spid="984067" grpId="0" autoUpdateAnimBg="0" build="p"/>
      <p:bldP spid="984068" grpId="0" autoUpdateAnimBg="0" build="p"/>
      <p:bldP spid="984069" grpId="0" autoUpdateAnimBg="0" build="p"/>
      <p:bldP spid="4" grpId="0" autoUpdateAnimBg="0" build="p"/>
      <p:bldP spid="5" grpId="0" autoUpdateAnimBg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4161151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775" y="671195"/>
            <a:ext cx="8832850" cy="565721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4161151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15" y="678815"/>
            <a:ext cx="9005570" cy="565721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3425825" y="1095375"/>
            <a:ext cx="3270250" cy="1504950"/>
            <a:chOff x="3050" y="1056"/>
            <a:chExt cx="2060" cy="948"/>
          </a:xfrm>
        </p:grpSpPr>
        <p:sp>
          <p:nvSpPr>
            <p:cNvPr id="31773" name="Freeform 3"/>
            <p:cNvSpPr/>
            <p:nvPr/>
          </p:nvSpPr>
          <p:spPr bwMode="auto">
            <a:xfrm>
              <a:off x="3050" y="1056"/>
              <a:ext cx="1030" cy="948"/>
            </a:xfrm>
            <a:custGeom>
              <a:avLst/>
              <a:gdLst>
                <a:gd name="T0" fmla="*/ 1030 w 1030"/>
                <a:gd name="T1" fmla="*/ 0 h 948"/>
                <a:gd name="T2" fmla="*/ 886 w 1030"/>
                <a:gd name="T3" fmla="*/ 144 h 948"/>
                <a:gd name="T4" fmla="*/ 742 w 1030"/>
                <a:gd name="T5" fmla="*/ 432 h 948"/>
                <a:gd name="T6" fmla="*/ 598 w 1030"/>
                <a:gd name="T7" fmla="*/ 720 h 948"/>
                <a:gd name="T8" fmla="*/ 358 w 1030"/>
                <a:gd name="T9" fmla="*/ 912 h 948"/>
                <a:gd name="T10" fmla="*/ 0 w 1030"/>
                <a:gd name="T11" fmla="*/ 934 h 9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30"/>
                <a:gd name="T19" fmla="*/ 0 h 948"/>
                <a:gd name="T20" fmla="*/ 1030 w 1030"/>
                <a:gd name="T21" fmla="*/ 948 h 94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30" h="948">
                  <a:moveTo>
                    <a:pt x="1030" y="0"/>
                  </a:moveTo>
                  <a:cubicBezTo>
                    <a:pt x="982" y="36"/>
                    <a:pt x="934" y="72"/>
                    <a:pt x="886" y="144"/>
                  </a:cubicBezTo>
                  <a:cubicBezTo>
                    <a:pt x="838" y="216"/>
                    <a:pt x="790" y="336"/>
                    <a:pt x="742" y="432"/>
                  </a:cubicBezTo>
                  <a:cubicBezTo>
                    <a:pt x="694" y="528"/>
                    <a:pt x="662" y="640"/>
                    <a:pt x="598" y="720"/>
                  </a:cubicBezTo>
                  <a:cubicBezTo>
                    <a:pt x="534" y="800"/>
                    <a:pt x="458" y="876"/>
                    <a:pt x="358" y="912"/>
                  </a:cubicBezTo>
                  <a:cubicBezTo>
                    <a:pt x="258" y="948"/>
                    <a:pt x="75" y="930"/>
                    <a:pt x="0" y="934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4" name="Freeform 4"/>
            <p:cNvSpPr/>
            <p:nvPr/>
          </p:nvSpPr>
          <p:spPr bwMode="auto">
            <a:xfrm flipH="1">
              <a:off x="4080" y="1056"/>
              <a:ext cx="1030" cy="948"/>
            </a:xfrm>
            <a:custGeom>
              <a:avLst/>
              <a:gdLst>
                <a:gd name="T0" fmla="*/ 1030 w 1030"/>
                <a:gd name="T1" fmla="*/ 0 h 948"/>
                <a:gd name="T2" fmla="*/ 886 w 1030"/>
                <a:gd name="T3" fmla="*/ 144 h 948"/>
                <a:gd name="T4" fmla="*/ 742 w 1030"/>
                <a:gd name="T5" fmla="*/ 432 h 948"/>
                <a:gd name="T6" fmla="*/ 598 w 1030"/>
                <a:gd name="T7" fmla="*/ 720 h 948"/>
                <a:gd name="T8" fmla="*/ 358 w 1030"/>
                <a:gd name="T9" fmla="*/ 912 h 948"/>
                <a:gd name="T10" fmla="*/ 0 w 1030"/>
                <a:gd name="T11" fmla="*/ 934 h 9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30"/>
                <a:gd name="T19" fmla="*/ 0 h 948"/>
                <a:gd name="T20" fmla="*/ 1030 w 1030"/>
                <a:gd name="T21" fmla="*/ 948 h 94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30" h="948">
                  <a:moveTo>
                    <a:pt x="1030" y="0"/>
                  </a:moveTo>
                  <a:cubicBezTo>
                    <a:pt x="982" y="36"/>
                    <a:pt x="934" y="72"/>
                    <a:pt x="886" y="144"/>
                  </a:cubicBezTo>
                  <a:cubicBezTo>
                    <a:pt x="838" y="216"/>
                    <a:pt x="790" y="336"/>
                    <a:pt x="742" y="432"/>
                  </a:cubicBezTo>
                  <a:cubicBezTo>
                    <a:pt x="694" y="528"/>
                    <a:pt x="662" y="640"/>
                    <a:pt x="598" y="720"/>
                  </a:cubicBezTo>
                  <a:cubicBezTo>
                    <a:pt x="534" y="800"/>
                    <a:pt x="458" y="876"/>
                    <a:pt x="358" y="912"/>
                  </a:cubicBezTo>
                  <a:cubicBezTo>
                    <a:pt x="258" y="948"/>
                    <a:pt x="75" y="930"/>
                    <a:pt x="0" y="934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85093" name="Freeform 5"/>
          <p:cNvSpPr/>
          <p:nvPr/>
        </p:nvSpPr>
        <p:spPr bwMode="auto">
          <a:xfrm flipH="1">
            <a:off x="5795963" y="2295525"/>
            <a:ext cx="941387" cy="415925"/>
          </a:xfrm>
          <a:custGeom>
            <a:avLst/>
            <a:gdLst>
              <a:gd name="T0" fmla="*/ 2147483646 w 593"/>
              <a:gd name="T1" fmla="*/ 0 h 262"/>
              <a:gd name="T2" fmla="*/ 2147483646 w 593"/>
              <a:gd name="T3" fmla="*/ 2147483646 h 262"/>
              <a:gd name="T4" fmla="*/ 0 w 593"/>
              <a:gd name="T5" fmla="*/ 2147483646 h 262"/>
              <a:gd name="T6" fmla="*/ 0 w 593"/>
              <a:gd name="T7" fmla="*/ 2147483646 h 262"/>
              <a:gd name="T8" fmla="*/ 2147483646 w 593"/>
              <a:gd name="T9" fmla="*/ 2147483646 h 262"/>
              <a:gd name="T10" fmla="*/ 2147483646 w 593"/>
              <a:gd name="T11" fmla="*/ 2147483646 h 262"/>
              <a:gd name="T12" fmla="*/ 2147483646 w 593"/>
              <a:gd name="T13" fmla="*/ 2147483646 h 262"/>
              <a:gd name="T14" fmla="*/ 2147483646 w 593"/>
              <a:gd name="T15" fmla="*/ 2147483646 h 262"/>
              <a:gd name="T16" fmla="*/ 2147483646 w 593"/>
              <a:gd name="T17" fmla="*/ 0 h 26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593"/>
              <a:gd name="T28" fmla="*/ 0 h 262"/>
              <a:gd name="T29" fmla="*/ 593 w 593"/>
              <a:gd name="T30" fmla="*/ 262 h 26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593" h="262">
                <a:moveTo>
                  <a:pt x="593" y="0"/>
                </a:moveTo>
                <a:lnTo>
                  <a:pt x="576" y="262"/>
                </a:lnTo>
                <a:lnTo>
                  <a:pt x="0" y="262"/>
                </a:lnTo>
                <a:lnTo>
                  <a:pt x="0" y="166"/>
                </a:lnTo>
                <a:lnTo>
                  <a:pt x="144" y="166"/>
                </a:lnTo>
                <a:lnTo>
                  <a:pt x="288" y="166"/>
                </a:lnTo>
                <a:lnTo>
                  <a:pt x="397" y="131"/>
                </a:lnTo>
                <a:lnTo>
                  <a:pt x="480" y="70"/>
                </a:lnTo>
                <a:lnTo>
                  <a:pt x="593" y="0"/>
                </a:lnTo>
                <a:close/>
              </a:path>
            </a:pathLst>
          </a:custGeom>
          <a:solidFill>
            <a:srgbClr val="FF99FF"/>
          </a:solidFill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85094" name="Freeform 6"/>
          <p:cNvSpPr/>
          <p:nvPr/>
        </p:nvSpPr>
        <p:spPr bwMode="auto">
          <a:xfrm>
            <a:off x="3460750" y="2260600"/>
            <a:ext cx="941388" cy="415925"/>
          </a:xfrm>
          <a:custGeom>
            <a:avLst/>
            <a:gdLst>
              <a:gd name="T0" fmla="*/ 2147483646 w 593"/>
              <a:gd name="T1" fmla="*/ 0 h 262"/>
              <a:gd name="T2" fmla="*/ 2147483646 w 593"/>
              <a:gd name="T3" fmla="*/ 2147483646 h 262"/>
              <a:gd name="T4" fmla="*/ 0 w 593"/>
              <a:gd name="T5" fmla="*/ 2147483646 h 262"/>
              <a:gd name="T6" fmla="*/ 0 w 593"/>
              <a:gd name="T7" fmla="*/ 2147483646 h 262"/>
              <a:gd name="T8" fmla="*/ 2147483646 w 593"/>
              <a:gd name="T9" fmla="*/ 2147483646 h 262"/>
              <a:gd name="T10" fmla="*/ 2147483646 w 593"/>
              <a:gd name="T11" fmla="*/ 2147483646 h 262"/>
              <a:gd name="T12" fmla="*/ 2147483646 w 593"/>
              <a:gd name="T13" fmla="*/ 2147483646 h 262"/>
              <a:gd name="T14" fmla="*/ 2147483646 w 593"/>
              <a:gd name="T15" fmla="*/ 2147483646 h 262"/>
              <a:gd name="T16" fmla="*/ 2147483646 w 593"/>
              <a:gd name="T17" fmla="*/ 0 h 26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593"/>
              <a:gd name="T28" fmla="*/ 0 h 262"/>
              <a:gd name="T29" fmla="*/ 593 w 593"/>
              <a:gd name="T30" fmla="*/ 262 h 26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593" h="262">
                <a:moveTo>
                  <a:pt x="593" y="0"/>
                </a:moveTo>
                <a:lnTo>
                  <a:pt x="576" y="262"/>
                </a:lnTo>
                <a:lnTo>
                  <a:pt x="0" y="262"/>
                </a:lnTo>
                <a:lnTo>
                  <a:pt x="0" y="166"/>
                </a:lnTo>
                <a:lnTo>
                  <a:pt x="144" y="166"/>
                </a:lnTo>
                <a:lnTo>
                  <a:pt x="288" y="166"/>
                </a:lnTo>
                <a:lnTo>
                  <a:pt x="397" y="131"/>
                </a:lnTo>
                <a:lnTo>
                  <a:pt x="480" y="70"/>
                </a:lnTo>
                <a:lnTo>
                  <a:pt x="593" y="0"/>
                </a:lnTo>
                <a:close/>
              </a:path>
            </a:pathLst>
          </a:custGeom>
          <a:solidFill>
            <a:srgbClr val="FF99FF"/>
          </a:solidFill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85095" name="Text Box 7"/>
          <p:cNvSpPr txBox="1">
            <a:spLocks noChangeArrowheads="1"/>
          </p:cNvSpPr>
          <p:nvPr/>
        </p:nvSpPr>
        <p:spPr bwMode="auto">
          <a:xfrm>
            <a:off x="6508750" y="1609725"/>
            <a:ext cx="1143000" cy="579438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50000">
                <a:srgbClr val="FF99FF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>
                <a:solidFill>
                  <a:srgbClr val="000000"/>
                </a:solidFill>
              </a:rPr>
              <a:t> </a:t>
            </a:r>
            <a:r>
              <a:rPr lang="en-US" altLang="zh-CN" sz="3200" i="1">
                <a:solidFill>
                  <a:srgbClr val="000000"/>
                </a:solidFill>
              </a:rPr>
              <a:t>α/2</a:t>
            </a:r>
            <a:endParaRPr lang="en-US" altLang="zh-CN" sz="3200" i="1">
              <a:solidFill>
                <a:srgbClr val="000000"/>
              </a:solidFill>
            </a:endParaRPr>
          </a:p>
        </p:txBody>
      </p:sp>
      <p:sp>
        <p:nvSpPr>
          <p:cNvPr id="985096" name="Text Box 8"/>
          <p:cNvSpPr txBox="1">
            <a:spLocks noChangeArrowheads="1"/>
          </p:cNvSpPr>
          <p:nvPr/>
        </p:nvSpPr>
        <p:spPr bwMode="auto">
          <a:xfrm flipH="1">
            <a:off x="2470150" y="1563688"/>
            <a:ext cx="1143000" cy="579437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50000">
                <a:srgbClr val="FF99FF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>
                <a:solidFill>
                  <a:srgbClr val="000000"/>
                </a:solidFill>
              </a:rPr>
              <a:t> </a:t>
            </a:r>
            <a:r>
              <a:rPr lang="en-US" altLang="zh-CN" sz="3200" i="1">
                <a:solidFill>
                  <a:srgbClr val="000000"/>
                </a:solidFill>
              </a:rPr>
              <a:t>α/2</a:t>
            </a:r>
            <a:endParaRPr lang="en-US" altLang="zh-CN" sz="3200" i="1">
              <a:solidFill>
                <a:srgbClr val="000000"/>
              </a:solidFill>
            </a:endParaRPr>
          </a:p>
        </p:txBody>
      </p:sp>
      <p:grpSp>
        <p:nvGrpSpPr>
          <p:cNvPr id="3" name="Group 9"/>
          <p:cNvGrpSpPr/>
          <p:nvPr/>
        </p:nvGrpSpPr>
        <p:grpSpPr bwMode="auto">
          <a:xfrm>
            <a:off x="2774950" y="314325"/>
            <a:ext cx="5181600" cy="3733800"/>
            <a:chOff x="1632" y="96"/>
            <a:chExt cx="3264" cy="2352"/>
          </a:xfrm>
        </p:grpSpPr>
        <p:sp>
          <p:nvSpPr>
            <p:cNvPr id="31769" name="Line 10"/>
            <p:cNvSpPr>
              <a:spLocks noChangeShapeType="1"/>
            </p:cNvSpPr>
            <p:nvPr/>
          </p:nvSpPr>
          <p:spPr bwMode="auto">
            <a:xfrm>
              <a:off x="1632" y="1584"/>
              <a:ext cx="2928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0" name="Line 11"/>
            <p:cNvSpPr>
              <a:spLocks noChangeShapeType="1"/>
            </p:cNvSpPr>
            <p:nvPr/>
          </p:nvSpPr>
          <p:spPr bwMode="auto">
            <a:xfrm flipV="1">
              <a:off x="3072" y="240"/>
              <a:ext cx="0" cy="220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1" name="Text Box 12"/>
            <p:cNvSpPr txBox="1">
              <a:spLocks noChangeArrowheads="1"/>
            </p:cNvSpPr>
            <p:nvPr/>
          </p:nvSpPr>
          <p:spPr bwMode="auto">
            <a:xfrm>
              <a:off x="4560" y="1488"/>
              <a:ext cx="336" cy="333"/>
            </a:xfrm>
            <a:prstGeom prst="rect">
              <a:avLst/>
            </a:prstGeom>
            <a:noFill/>
            <a:ln w="9525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0"/>
                <a:t>X</a:t>
              </a:r>
              <a:endParaRPr lang="en-US" altLang="zh-CN" b="0"/>
            </a:p>
          </p:txBody>
        </p:sp>
        <p:sp>
          <p:nvSpPr>
            <p:cNvPr id="31772" name="Text Box 13"/>
            <p:cNvSpPr txBox="1">
              <a:spLocks noChangeArrowheads="1"/>
            </p:cNvSpPr>
            <p:nvPr/>
          </p:nvSpPr>
          <p:spPr bwMode="auto">
            <a:xfrm>
              <a:off x="3216" y="96"/>
              <a:ext cx="816" cy="333"/>
            </a:xfrm>
            <a:prstGeom prst="rect">
              <a:avLst/>
            </a:prstGeom>
            <a:noFill/>
            <a:ln w="9525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0"/>
                <a:t>φ(x)</a:t>
              </a:r>
              <a:endParaRPr lang="en-US" altLang="zh-CN" b="0"/>
            </a:p>
          </p:txBody>
        </p:sp>
      </p:grpSp>
      <p:sp>
        <p:nvSpPr>
          <p:cNvPr id="985102" name="Line 14"/>
          <p:cNvSpPr>
            <a:spLocks noChangeShapeType="1"/>
          </p:cNvSpPr>
          <p:nvPr/>
        </p:nvSpPr>
        <p:spPr bwMode="auto">
          <a:xfrm>
            <a:off x="4375150" y="2752725"/>
            <a:ext cx="0" cy="838200"/>
          </a:xfrm>
          <a:prstGeom prst="line">
            <a:avLst/>
          </a:prstGeom>
          <a:noFill/>
          <a:ln w="57150">
            <a:solidFill>
              <a:srgbClr val="FFFF00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85103" name="Line 15"/>
          <p:cNvSpPr>
            <a:spLocks noChangeShapeType="1"/>
          </p:cNvSpPr>
          <p:nvPr/>
        </p:nvSpPr>
        <p:spPr bwMode="auto">
          <a:xfrm>
            <a:off x="5822950" y="2752725"/>
            <a:ext cx="0" cy="838200"/>
          </a:xfrm>
          <a:prstGeom prst="line">
            <a:avLst/>
          </a:prstGeom>
          <a:noFill/>
          <a:ln w="57150">
            <a:solidFill>
              <a:srgbClr val="FFFF00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85104" name="Line 16"/>
          <p:cNvSpPr>
            <a:spLocks noChangeShapeType="1"/>
          </p:cNvSpPr>
          <p:nvPr/>
        </p:nvSpPr>
        <p:spPr bwMode="auto">
          <a:xfrm flipV="1">
            <a:off x="4451350" y="3133725"/>
            <a:ext cx="1371600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85105" name="Text Box 17"/>
          <p:cNvSpPr txBox="1">
            <a:spLocks noChangeArrowheads="1"/>
          </p:cNvSpPr>
          <p:nvPr/>
        </p:nvSpPr>
        <p:spPr bwMode="auto">
          <a:xfrm>
            <a:off x="4451350" y="3362325"/>
            <a:ext cx="1295400" cy="457200"/>
          </a:xfrm>
          <a:prstGeom prst="rect">
            <a:avLst/>
          </a:prstGeom>
          <a:gradFill rotWithShape="0">
            <a:gsLst>
              <a:gs pos="0">
                <a:srgbClr val="FFFF66"/>
              </a:gs>
              <a:gs pos="50000">
                <a:srgbClr val="00FFFF"/>
              </a:gs>
              <a:gs pos="100000">
                <a:srgbClr val="FFFF66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/>
              <a:t>接受域</a:t>
            </a:r>
            <a:endParaRPr lang="zh-CN" altLang="en-US" sz="2400"/>
          </a:p>
        </p:txBody>
      </p:sp>
      <p:sp>
        <p:nvSpPr>
          <p:cNvPr id="31756" name="Rectangle 18"/>
          <p:cNvSpPr>
            <a:spLocks noChangeArrowheads="1"/>
          </p:cNvSpPr>
          <p:nvPr/>
        </p:nvSpPr>
        <p:spPr bwMode="auto">
          <a:xfrm>
            <a:off x="1098550" y="647700"/>
            <a:ext cx="3048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>
                <a:solidFill>
                  <a:srgbClr val="FF9933"/>
                </a:solidFill>
              </a:rPr>
              <a:t>P(|Z|&gt;z</a:t>
            </a:r>
            <a:r>
              <a:rPr lang="en-US" altLang="zh-CN" sz="3200" baseline="-25000">
                <a:solidFill>
                  <a:srgbClr val="FF9933"/>
                </a:solidFill>
              </a:rPr>
              <a:t>α/2</a:t>
            </a:r>
            <a:r>
              <a:rPr lang="en-US" altLang="zh-CN" sz="3200">
                <a:solidFill>
                  <a:srgbClr val="FF9933"/>
                </a:solidFill>
              </a:rPr>
              <a:t>)=α</a:t>
            </a:r>
            <a:endParaRPr lang="en-US" altLang="zh-CN" sz="3200">
              <a:solidFill>
                <a:srgbClr val="FF9933"/>
              </a:solidFill>
            </a:endParaRPr>
          </a:p>
        </p:txBody>
      </p:sp>
      <p:sp>
        <p:nvSpPr>
          <p:cNvPr id="985107" name="Text Box 19"/>
          <p:cNvSpPr txBox="1">
            <a:spLocks noChangeArrowheads="1"/>
          </p:cNvSpPr>
          <p:nvPr/>
        </p:nvSpPr>
        <p:spPr bwMode="auto">
          <a:xfrm>
            <a:off x="2622550" y="3300413"/>
            <a:ext cx="1524000" cy="519112"/>
          </a:xfrm>
          <a:prstGeom prst="rect">
            <a:avLst/>
          </a:prstGeom>
          <a:gradFill rotWithShape="0">
            <a:gsLst>
              <a:gs pos="0">
                <a:srgbClr val="FFFF66"/>
              </a:gs>
              <a:gs pos="50000">
                <a:srgbClr val="00FFFF"/>
              </a:gs>
              <a:gs pos="100000">
                <a:srgbClr val="FFFF66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/>
              <a:t>拒绝域</a:t>
            </a:r>
            <a:endParaRPr lang="zh-CN" altLang="en-US"/>
          </a:p>
        </p:txBody>
      </p:sp>
      <p:sp>
        <p:nvSpPr>
          <p:cNvPr id="985108" name="Line 20"/>
          <p:cNvSpPr>
            <a:spLocks noChangeShapeType="1"/>
          </p:cNvSpPr>
          <p:nvPr/>
        </p:nvSpPr>
        <p:spPr bwMode="auto">
          <a:xfrm>
            <a:off x="4375150" y="2295525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5109" name="Line 21"/>
          <p:cNvSpPr>
            <a:spLocks noChangeShapeType="1"/>
          </p:cNvSpPr>
          <p:nvPr/>
        </p:nvSpPr>
        <p:spPr bwMode="auto">
          <a:xfrm>
            <a:off x="5822950" y="2295525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5110" name="Text Box 22"/>
          <p:cNvSpPr txBox="1">
            <a:spLocks noChangeArrowheads="1"/>
          </p:cNvSpPr>
          <p:nvPr/>
        </p:nvSpPr>
        <p:spPr bwMode="auto">
          <a:xfrm>
            <a:off x="5975350" y="3286125"/>
            <a:ext cx="1524000" cy="519113"/>
          </a:xfrm>
          <a:prstGeom prst="rect">
            <a:avLst/>
          </a:prstGeom>
          <a:gradFill rotWithShape="0">
            <a:gsLst>
              <a:gs pos="0">
                <a:srgbClr val="FFFF66"/>
              </a:gs>
              <a:gs pos="50000">
                <a:srgbClr val="00FFFF"/>
              </a:gs>
              <a:gs pos="100000">
                <a:srgbClr val="FFFF66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/>
              <a:t>拒绝域</a:t>
            </a:r>
            <a:endParaRPr lang="zh-CN" altLang="en-US"/>
          </a:p>
        </p:txBody>
      </p:sp>
      <p:sp>
        <p:nvSpPr>
          <p:cNvPr id="985111" name="Text Box 23"/>
          <p:cNvSpPr txBox="1">
            <a:spLocks noChangeArrowheads="1"/>
          </p:cNvSpPr>
          <p:nvPr/>
        </p:nvSpPr>
        <p:spPr bwMode="auto">
          <a:xfrm>
            <a:off x="5289550" y="2614613"/>
            <a:ext cx="129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0"/>
              <a:t>  z</a:t>
            </a:r>
            <a:r>
              <a:rPr lang="en-US" altLang="zh-CN" b="0" baseline="-25000"/>
              <a:t>α/2</a:t>
            </a:r>
            <a:endParaRPr lang="en-US" altLang="zh-CN" b="0"/>
          </a:p>
        </p:txBody>
      </p:sp>
      <p:sp>
        <p:nvSpPr>
          <p:cNvPr id="985112" name="Text Box 24"/>
          <p:cNvSpPr txBox="1">
            <a:spLocks noChangeArrowheads="1"/>
          </p:cNvSpPr>
          <p:nvPr/>
        </p:nvSpPr>
        <p:spPr bwMode="auto">
          <a:xfrm>
            <a:off x="3765550" y="2600325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0"/>
              <a:t> - z</a:t>
            </a:r>
            <a:r>
              <a:rPr lang="en-US" altLang="zh-CN" b="0" baseline="-25000"/>
              <a:t>α/2</a:t>
            </a:r>
            <a:endParaRPr lang="en-US" altLang="zh-CN" b="0"/>
          </a:p>
        </p:txBody>
      </p:sp>
      <p:sp>
        <p:nvSpPr>
          <p:cNvPr id="985113" name="Line 25"/>
          <p:cNvSpPr>
            <a:spLocks noChangeShapeType="1"/>
          </p:cNvSpPr>
          <p:nvPr/>
        </p:nvSpPr>
        <p:spPr bwMode="auto">
          <a:xfrm>
            <a:off x="2241550" y="3133725"/>
            <a:ext cx="2057400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5114" name="Line 26"/>
          <p:cNvSpPr>
            <a:spLocks noChangeShapeType="1"/>
          </p:cNvSpPr>
          <p:nvPr/>
        </p:nvSpPr>
        <p:spPr bwMode="auto">
          <a:xfrm flipH="1">
            <a:off x="5899150" y="3133725"/>
            <a:ext cx="2057400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5115" name="AutoShape 27"/>
          <p:cNvSpPr>
            <a:spLocks noChangeArrowheads="1"/>
          </p:cNvSpPr>
          <p:nvPr/>
        </p:nvSpPr>
        <p:spPr bwMode="auto">
          <a:xfrm>
            <a:off x="5899150" y="1838325"/>
            <a:ext cx="609600" cy="838200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5116" name="AutoShape 28"/>
          <p:cNvSpPr>
            <a:spLocks noChangeArrowheads="1"/>
          </p:cNvSpPr>
          <p:nvPr/>
        </p:nvSpPr>
        <p:spPr bwMode="auto">
          <a:xfrm flipH="1">
            <a:off x="3689350" y="1838325"/>
            <a:ext cx="609600" cy="838200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5117" name="Text Box 29"/>
          <p:cNvSpPr txBox="1">
            <a:spLocks noChangeArrowheads="1"/>
          </p:cNvSpPr>
          <p:nvPr/>
        </p:nvSpPr>
        <p:spPr bwMode="auto">
          <a:xfrm>
            <a:off x="3003550" y="4962525"/>
            <a:ext cx="3200400" cy="646113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600">
                <a:ea typeface="楷体_GB2312" pitchFamily="49" charset="-122"/>
              </a:rPr>
              <a:t>双侧统计检验</a:t>
            </a:r>
            <a:endParaRPr lang="zh-CN" altLang="en-US" sz="3600">
              <a:ea typeface="楷体_GB2312" pitchFamily="49" charset="-122"/>
            </a:endParaRPr>
          </a:p>
        </p:txBody>
      </p:sp>
      <p:sp>
        <p:nvSpPr>
          <p:cNvPr id="985118" name="Text Box 30"/>
          <p:cNvSpPr txBox="1">
            <a:spLocks noChangeArrowheads="1"/>
          </p:cNvSpPr>
          <p:nvPr/>
        </p:nvSpPr>
        <p:spPr bwMode="auto">
          <a:xfrm>
            <a:off x="412750" y="1457325"/>
            <a:ext cx="1828800" cy="64516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3600">
                <a:ea typeface="楷体_GB2312" pitchFamily="49" charset="-122"/>
              </a:rPr>
              <a:t>u</a:t>
            </a:r>
            <a:r>
              <a:rPr lang="zh-CN" altLang="en-US" sz="3600">
                <a:ea typeface="楷体_GB2312" pitchFamily="49" charset="-122"/>
              </a:rPr>
              <a:t>检验</a:t>
            </a:r>
            <a:endParaRPr lang="zh-CN" altLang="en-US" sz="3600">
              <a:ea typeface="楷体_GB2312" pitchFamily="49" charset="-12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8" dur="500"/>
                                        <p:tgtEl>
                                          <p:spTgt spid="985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" dur="500"/>
                                        <p:tgtEl>
                                          <p:spTgt spid="985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850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850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850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850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85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85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85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85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85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85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85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85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985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985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985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985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9850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9850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985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985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985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985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9850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9850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4" dur="500"/>
                                        <p:tgtEl>
                                          <p:spTgt spid="985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9" dur="500"/>
                                        <p:tgtEl>
                                          <p:spTgt spid="985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985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985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985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985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985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985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985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985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8" dur="500"/>
                                        <p:tgtEl>
                                          <p:spTgt spid="985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985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985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985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985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985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985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985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985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985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985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5095" grpId="0" bldLvl="0" animBg="1" autoUpdateAnimBg="0"/>
      <p:bldP spid="985096" grpId="0" bldLvl="0" animBg="1" autoUpdateAnimBg="0"/>
      <p:bldP spid="985105" grpId="0" bldLvl="0" animBg="1" autoUpdateAnimBg="0"/>
      <p:bldP spid="985107" grpId="0" bldLvl="0" animBg="1" autoUpdateAnimBg="0"/>
      <p:bldP spid="985110" grpId="0" bldLvl="0" animBg="1" autoUpdateAnimBg="0"/>
      <p:bldP spid="985111" grpId="0" autoUpdateAnimBg="0"/>
      <p:bldP spid="985112" grpId="0" autoUpdateAnimBg="0"/>
      <p:bldP spid="985117" grpId="0" bldLvl="0" animBg="1" autoUpdateAnimBg="0"/>
      <p:bldP spid="985118" grpId="0" bldLvl="0" animBg="1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4161151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2740" y="600710"/>
            <a:ext cx="8372475" cy="565721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4161151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650" y="648335"/>
            <a:ext cx="8743315" cy="565721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4161151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395" y="600710"/>
            <a:ext cx="8815705" cy="565721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4161152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135" y="600710"/>
            <a:ext cx="9093200" cy="565721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4161152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780" y="488950"/>
            <a:ext cx="10058400" cy="565721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4161152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19810" y="189230"/>
            <a:ext cx="10612120" cy="647890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4161152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00075"/>
            <a:ext cx="8554085" cy="565721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4161152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2225" y="528955"/>
            <a:ext cx="9188450" cy="565721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4161152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30" y="537210"/>
            <a:ext cx="8918575" cy="565721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  <p:transition>
    <p:wipe/>
  </p:transition>
</p:sld>
</file>

<file path=ppt/theme/theme1.xml><?xml version="1.0" encoding="utf-8"?>
<a:theme xmlns:a="http://schemas.openxmlformats.org/drawingml/2006/main" name="11第一章修改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00"/>
      </a:hlink>
      <a:folHlink>
        <a:srgbClr val="B2B2B2"/>
      </a:folHlink>
    </a:clrScheme>
    <a:fontScheme name="11第一章修改">
      <a:majorFont>
        <a:latin typeface="Times New Roman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1第一章修改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第一章修改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1第一章修改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第一章修改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第一章修改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第一章修改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第一章修改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1068</Words>
  <Application>WPS 演示</Application>
  <PresentationFormat>全屏显示(4:3)</PresentationFormat>
  <Paragraphs>136</Paragraphs>
  <Slides>59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8</vt:i4>
      </vt:variant>
      <vt:variant>
        <vt:lpstr>幻灯片标题</vt:lpstr>
      </vt:variant>
      <vt:variant>
        <vt:i4>59</vt:i4>
      </vt:variant>
    </vt:vector>
  </HeadingPairs>
  <TitlesOfParts>
    <vt:vector size="82" baseType="lpstr">
      <vt:lpstr>Arial</vt:lpstr>
      <vt:lpstr>宋体</vt:lpstr>
      <vt:lpstr>Wingdings</vt:lpstr>
      <vt:lpstr>Times New Roman</vt:lpstr>
      <vt:lpstr>黑体</vt:lpstr>
      <vt:lpstr>微软雅黑</vt:lpstr>
      <vt:lpstr>Arial Unicode MS</vt:lpstr>
      <vt:lpstr>华文行楷</vt:lpstr>
      <vt:lpstr>华文楷体</vt:lpstr>
      <vt:lpstr>楷体_GB2312</vt:lpstr>
      <vt:lpstr>Symbol</vt:lpstr>
      <vt:lpstr>Math1</vt:lpstr>
      <vt:lpstr>新宋体</vt:lpstr>
      <vt:lpstr>Segoe Print</vt:lpstr>
      <vt:lpstr>11第一章修改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基本思想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ncr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&lt;&lt;概率论与数理统计&gt;&gt;</dc:title>
  <dc:creator>ww</dc:creator>
  <cp:lastModifiedBy>Guest</cp:lastModifiedBy>
  <cp:revision>865</cp:revision>
  <dcterms:created xsi:type="dcterms:W3CDTF">2005-10-01T12:26:00Z</dcterms:created>
  <dcterms:modified xsi:type="dcterms:W3CDTF">2020-05-18T00:58:58Z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2052-10.1.0.7224</vt:lpwstr>
  </property>
</Properties>
</file>