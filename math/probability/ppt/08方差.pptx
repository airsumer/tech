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4" r:id="rId3"/>
    <p:sldId id="1277" r:id="rId5"/>
    <p:sldId id="1281" r:id="rId6"/>
    <p:sldId id="1284" r:id="rId7"/>
    <p:sldId id="1285" r:id="rId8"/>
    <p:sldId id="1286" r:id="rId9"/>
    <p:sldId id="1287" r:id="rId10"/>
    <p:sldId id="1288" r:id="rId11"/>
    <p:sldId id="1385" r:id="rId12"/>
    <p:sldId id="1386" r:id="rId13"/>
    <p:sldId id="1387" r:id="rId14"/>
    <p:sldId id="1388" r:id="rId15"/>
    <p:sldId id="1389" r:id="rId16"/>
    <p:sldId id="1390" r:id="rId17"/>
    <p:sldId id="1391" r:id="rId18"/>
    <p:sldId id="1438" r:id="rId19"/>
    <p:sldId id="1393" r:id="rId20"/>
    <p:sldId id="1394" r:id="rId21"/>
    <p:sldId id="1395" r:id="rId22"/>
    <p:sldId id="1396" r:id="rId23"/>
    <p:sldId id="1397" r:id="rId24"/>
    <p:sldId id="1398" r:id="rId25"/>
    <p:sldId id="1439" r:id="rId26"/>
    <p:sldId id="1399" r:id="rId27"/>
    <p:sldId id="1400" r:id="rId28"/>
    <p:sldId id="1401" r:id="rId29"/>
    <p:sldId id="1403" r:id="rId30"/>
    <p:sldId id="1404" r:id="rId31"/>
    <p:sldId id="1405" r:id="rId32"/>
    <p:sldId id="1409" r:id="rId33"/>
    <p:sldId id="1410" r:id="rId34"/>
    <p:sldId id="1411" r:id="rId35"/>
    <p:sldId id="1412" r:id="rId36"/>
    <p:sldId id="1413" r:id="rId37"/>
    <p:sldId id="1414" r:id="rId38"/>
    <p:sldId id="1415" r:id="rId39"/>
    <p:sldId id="1416" r:id="rId40"/>
    <p:sldId id="1417" r:id="rId41"/>
    <p:sldId id="1418" r:id="rId42"/>
    <p:sldId id="1419" r:id="rId43"/>
    <p:sldId id="1420" r:id="rId44"/>
    <p:sldId id="1421" r:id="rId45"/>
    <p:sldId id="1422" r:id="rId46"/>
    <p:sldId id="1423" r:id="rId47"/>
    <p:sldId id="1424" r:id="rId48"/>
    <p:sldId id="1425" r:id="rId49"/>
    <p:sldId id="1426" r:id="rId50"/>
    <p:sldId id="1427" r:id="rId51"/>
    <p:sldId id="1430" r:id="rId52"/>
    <p:sldId id="1431" r:id="rId53"/>
    <p:sldId id="1432" r:id="rId54"/>
    <p:sldId id="1433" r:id="rId55"/>
    <p:sldId id="1434" r:id="rId56"/>
    <p:sldId id="1435" r:id="rId57"/>
    <p:sldId id="1436" r:id="rId58"/>
    <p:sldId id="1437" r:id="rId5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14" d="100"/>
          <a:sy n="114" d="100"/>
        </p:scale>
        <p:origin x="1958" y="91"/>
      </p:cViewPr>
      <p:guideLst>
        <p:guide orient="horz" pos="2140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e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30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8" Type="http://schemas.openxmlformats.org/officeDocument/2006/relationships/image" Target="../media/image81.wmf"/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0" Type="http://schemas.openxmlformats.org/officeDocument/2006/relationships/image" Target="../media/image83.wmf"/><Relationship Id="rId1" Type="http://schemas.openxmlformats.org/officeDocument/2006/relationships/image" Target="../media/image7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Relationship Id="rId3" Type="http://schemas.openxmlformats.org/officeDocument/2006/relationships/image" Target="../media/image91.wmf"/><Relationship Id="rId2" Type="http://schemas.openxmlformats.org/officeDocument/2006/relationships/image" Target="../media/image90.emf"/><Relationship Id="rId1" Type="http://schemas.openxmlformats.org/officeDocument/2006/relationships/image" Target="../media/image89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7" Type="http://schemas.openxmlformats.org/officeDocument/2006/relationships/image" Target="../media/image101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image" Target="../media/image103.wmf"/></Relationships>
</file>

<file path=ppt/drawings/_rels/vmlDrawing2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wmf"/><Relationship Id="rId1" Type="http://schemas.openxmlformats.org/officeDocument/2006/relationships/image" Target="../media/image11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image" Target="../media/image128.e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4.emf"/><Relationship Id="rId4" Type="http://schemas.openxmlformats.org/officeDocument/2006/relationships/image" Target="../media/image133.emf"/><Relationship Id="rId3" Type="http://schemas.openxmlformats.org/officeDocument/2006/relationships/image" Target="../media/image132.emf"/><Relationship Id="rId2" Type="http://schemas.openxmlformats.org/officeDocument/2006/relationships/image" Target="../media/image131.emf"/><Relationship Id="rId1" Type="http://schemas.openxmlformats.org/officeDocument/2006/relationships/image" Target="../media/image130.emf"/></Relationships>
</file>

<file path=ppt/drawings/_rels/vmlDrawing3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1.emf"/><Relationship Id="rId6" Type="http://schemas.openxmlformats.org/officeDocument/2006/relationships/image" Target="../media/image140.emf"/><Relationship Id="rId5" Type="http://schemas.openxmlformats.org/officeDocument/2006/relationships/image" Target="../media/image139.emf"/><Relationship Id="rId4" Type="http://schemas.openxmlformats.org/officeDocument/2006/relationships/image" Target="../media/image138.emf"/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emf"/><Relationship Id="rId8" Type="http://schemas.openxmlformats.org/officeDocument/2006/relationships/image" Target="../media/image148.emf"/><Relationship Id="rId7" Type="http://schemas.openxmlformats.org/officeDocument/2006/relationships/image" Target="../media/image147.emf"/><Relationship Id="rId6" Type="http://schemas.openxmlformats.org/officeDocument/2006/relationships/image" Target="../media/image91.wmf"/><Relationship Id="rId5" Type="http://schemas.openxmlformats.org/officeDocument/2006/relationships/image" Target="../media/image146.emf"/><Relationship Id="rId4" Type="http://schemas.openxmlformats.org/officeDocument/2006/relationships/image" Target="../media/image145.emf"/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image" Target="../media/image142.emf"/></Relationships>
</file>

<file path=ppt/drawings/_rels/vmlDrawing3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4.emf"/><Relationship Id="rId5" Type="http://schemas.openxmlformats.org/officeDocument/2006/relationships/image" Target="../media/image91.wmf"/><Relationship Id="rId4" Type="http://schemas.openxmlformats.org/officeDocument/2006/relationships/image" Target="../media/image153.emf"/><Relationship Id="rId3" Type="http://schemas.openxmlformats.org/officeDocument/2006/relationships/image" Target="../media/image152.emf"/><Relationship Id="rId2" Type="http://schemas.openxmlformats.org/officeDocument/2006/relationships/image" Target="../media/image151.emf"/><Relationship Id="rId1" Type="http://schemas.openxmlformats.org/officeDocument/2006/relationships/image" Target="../media/image150.emf"/></Relationships>
</file>

<file path=ppt/drawings/_rels/vmlDrawing3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9.emf"/><Relationship Id="rId4" Type="http://schemas.openxmlformats.org/officeDocument/2006/relationships/image" Target="../media/image158.e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/Relationships>
</file>

<file path=ppt/drawings/_rels/vmlDrawing4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/Relationships>
</file>

<file path=ppt/drawings/_rels/vmlDrawing4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5.emf"/><Relationship Id="rId6" Type="http://schemas.openxmlformats.org/officeDocument/2006/relationships/image" Target="../media/image174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/Relationships>
</file>

<file path=ppt/drawings/_rels/vmlDrawing4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9.emf"/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CBC350-418C-4C9D-A79D-B676D32CD9DD}" type="slidenum">
              <a:rPr lang="en-US" altLang="zh-CN" smtClean="0"/>
            </a:fld>
            <a:endParaRPr lang="en-US" altLang="zh-CN"/>
          </a:p>
        </p:txBody>
      </p:sp>
      <p:sp>
        <p:nvSpPr>
          <p:cNvPr id="512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5E8FDF5-ED6D-40C6-980C-040A1453F43F}" type="slidenum">
              <a:rPr kumimoji="1" lang="en-US" altLang="zh-CN" sz="1200">
                <a:latin typeface="Times New Roman" panose="02020603050405020304" pitchFamily="18" charset="0"/>
              </a:rPr>
            </a:fld>
            <a:endParaRPr kumimoji="1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7942FD9-DA62-4345-8538-A801DF3305DF}" type="slidenum">
              <a:rPr lang="en-US" altLang="zh-CN" sz="1200" smtClean="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emf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emf"/><Relationship Id="rId1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e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e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2.e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4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0.e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4.e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2.e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1.e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5.emf"/><Relationship Id="rId1" Type="http://schemas.openxmlformats.org/officeDocument/2006/relationships/oleObject" Target="../embeddings/oleObject28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3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0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36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7.e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6.emf"/><Relationship Id="rId1" Type="http://schemas.openxmlformats.org/officeDocument/2006/relationships/oleObject" Target="../embeddings/oleObject4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9.e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8.emf"/><Relationship Id="rId1" Type="http://schemas.openxmlformats.org/officeDocument/2006/relationships/oleObject" Target="../embeddings/oleObject44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2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1.emf"/><Relationship Id="rId1" Type="http://schemas.openxmlformats.org/officeDocument/2006/relationships/oleObject" Target="../embeddings/oleObject4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6.e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5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4.e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3.e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7.emf"/><Relationship Id="rId1" Type="http://schemas.openxmlformats.org/officeDocument/2006/relationships/oleObject" Target="../embeddings/oleObject49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0.e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9.emf"/><Relationship Id="rId1" Type="http://schemas.openxmlformats.org/officeDocument/2006/relationships/oleObject" Target="../embeddings/oleObject5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2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1.emf"/><Relationship Id="rId1" Type="http://schemas.openxmlformats.org/officeDocument/2006/relationships/oleObject" Target="../embeddings/oleObject5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4.wmf"/><Relationship Id="rId1" Type="http://schemas.openxmlformats.org/officeDocument/2006/relationships/oleObject" Target="../embeddings/oleObject5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7.wmf"/><Relationship Id="rId14" Type="http://schemas.openxmlformats.org/officeDocument/2006/relationships/vmlDrawing" Target="../drawings/vmlDrawing1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slide" Target="slide4.xml"/><Relationship Id="rId6" Type="http://schemas.openxmlformats.org/officeDocument/2006/relationships/slide" Target="slide2.xml"/><Relationship Id="rId5" Type="http://schemas.openxmlformats.org/officeDocument/2006/relationships/slide" Target="slide7.xml"/><Relationship Id="rId4" Type="http://schemas.openxmlformats.org/officeDocument/2006/relationships/audio" Target="../media/audio2.wav"/><Relationship Id="rId3" Type="http://schemas.openxmlformats.org/officeDocument/2006/relationships/slide" Target="slide3.xml"/><Relationship Id="rId2" Type="http://schemas.openxmlformats.org/officeDocument/2006/relationships/image" Target="../media/image73.GIF"/><Relationship Id="rId1" Type="http://schemas.openxmlformats.org/officeDocument/2006/relationships/slide" Target="slide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69.bin"/><Relationship Id="rId22" Type="http://schemas.openxmlformats.org/officeDocument/2006/relationships/vmlDrawing" Target="../drawings/vmlDrawing20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3.wmf"/><Relationship Id="rId2" Type="http://schemas.openxmlformats.org/officeDocument/2006/relationships/image" Target="../media/image74.wmf"/><Relationship Id="rId19" Type="http://schemas.openxmlformats.org/officeDocument/2006/relationships/oleObject" Target="../embeddings/oleObject77.bin"/><Relationship Id="rId18" Type="http://schemas.openxmlformats.org/officeDocument/2006/relationships/image" Target="../media/image82.wmf"/><Relationship Id="rId17" Type="http://schemas.openxmlformats.org/officeDocument/2006/relationships/oleObject" Target="../embeddings/oleObject76.bin"/><Relationship Id="rId16" Type="http://schemas.openxmlformats.org/officeDocument/2006/relationships/image" Target="../media/image81.wmf"/><Relationship Id="rId15" Type="http://schemas.openxmlformats.org/officeDocument/2006/relationships/oleObject" Target="../embeddings/oleObject75.bin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74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68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5.e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4.emf"/><Relationship Id="rId1" Type="http://schemas.openxmlformats.org/officeDocument/2006/relationships/oleObject" Target="../embeddings/oleObject78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6.emf"/><Relationship Id="rId1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8.emf"/><Relationship Id="rId4" Type="http://schemas.openxmlformats.org/officeDocument/2006/relationships/oleObject" Target="../embeddings/oleObject83.bin"/><Relationship Id="rId3" Type="http://schemas.openxmlformats.org/officeDocument/2006/relationships/oleObject" Target="../embeddings/oleObject82.bin"/><Relationship Id="rId2" Type="http://schemas.openxmlformats.org/officeDocument/2006/relationships/image" Target="../media/image87.wmf"/><Relationship Id="rId1" Type="http://schemas.openxmlformats.org/officeDocument/2006/relationships/oleObject" Target="../embeddings/oleObject8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92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0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9.emf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4.emf"/><Relationship Id="rId11" Type="http://schemas.openxmlformats.org/officeDocument/2006/relationships/oleObject" Target="../embeddings/oleObject89.bin"/><Relationship Id="rId10" Type="http://schemas.openxmlformats.org/officeDocument/2006/relationships/image" Target="../media/image93.emf"/><Relationship Id="rId1" Type="http://schemas.openxmlformats.org/officeDocument/2006/relationships/oleObject" Target="../embeddings/oleObject84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8.e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95.emf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02.e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101.e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100.e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9.emf"/><Relationship Id="rId1" Type="http://schemas.openxmlformats.org/officeDocument/2006/relationships/oleObject" Target="../embeddings/oleObject9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5.e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4.e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03.wmf"/><Relationship Id="rId1" Type="http://schemas.openxmlformats.org/officeDocument/2006/relationships/oleObject" Target="../embeddings/oleObject98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109.e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7.e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06.emf"/><Relationship Id="rId14" Type="http://schemas.openxmlformats.org/officeDocument/2006/relationships/vmlDrawing" Target="../drawings/vmlDrawing2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1.e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110.emf"/><Relationship Id="rId1" Type="http://schemas.openxmlformats.org/officeDocument/2006/relationships/oleObject" Target="../embeddings/oleObject101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15.e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13.e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112.e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7.emf"/><Relationship Id="rId11" Type="http://schemas.openxmlformats.org/officeDocument/2006/relationships/oleObject" Target="../embeddings/oleObject112.bin"/><Relationship Id="rId10" Type="http://schemas.openxmlformats.org/officeDocument/2006/relationships/image" Target="../media/image116.emf"/><Relationship Id="rId1" Type="http://schemas.openxmlformats.org/officeDocument/2006/relationships/oleObject" Target="../embeddings/oleObject107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0.e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8.emf"/><Relationship Id="rId1" Type="http://schemas.openxmlformats.org/officeDocument/2006/relationships/oleObject" Target="../embeddings/oleObject113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3.e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2.e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21.emf"/><Relationship Id="rId1" Type="http://schemas.openxmlformats.org/officeDocument/2006/relationships/oleObject" Target="../embeddings/oleObject116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24.emf"/><Relationship Id="rId1" Type="http://schemas.openxmlformats.org/officeDocument/2006/relationships/oleObject" Target="../embeddings/oleObject119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7.e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26.emf"/><Relationship Id="rId1" Type="http://schemas.openxmlformats.org/officeDocument/2006/relationships/oleObject" Target="../embeddings/oleObject121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9.e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28.emf"/><Relationship Id="rId1" Type="http://schemas.openxmlformats.org/officeDocument/2006/relationships/oleObject" Target="../embeddings/oleObject123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33.e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1.e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30.e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34.emf"/><Relationship Id="rId1" Type="http://schemas.openxmlformats.org/officeDocument/2006/relationships/oleObject" Target="../embeddings/oleObject125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8.e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6.e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35.emf"/><Relationship Id="rId16" Type="http://schemas.openxmlformats.org/officeDocument/2006/relationships/vmlDrawing" Target="../drawings/vmlDrawing3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1.e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40.e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39.emf"/><Relationship Id="rId1" Type="http://schemas.openxmlformats.org/officeDocument/2006/relationships/oleObject" Target="../embeddings/oleObject130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45.e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3.emf"/><Relationship Id="rId3" Type="http://schemas.openxmlformats.org/officeDocument/2006/relationships/oleObject" Target="../embeddings/oleObject138.bin"/><Relationship Id="rId20" Type="http://schemas.openxmlformats.org/officeDocument/2006/relationships/vmlDrawing" Target="../drawings/vmlDrawing36.vml"/><Relationship Id="rId2" Type="http://schemas.openxmlformats.org/officeDocument/2006/relationships/image" Target="../media/image142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49.emf"/><Relationship Id="rId17" Type="http://schemas.openxmlformats.org/officeDocument/2006/relationships/oleObject" Target="../embeddings/oleObject145.bin"/><Relationship Id="rId16" Type="http://schemas.openxmlformats.org/officeDocument/2006/relationships/image" Target="../media/image148.emf"/><Relationship Id="rId15" Type="http://schemas.openxmlformats.org/officeDocument/2006/relationships/oleObject" Target="../embeddings/oleObject144.bin"/><Relationship Id="rId14" Type="http://schemas.openxmlformats.org/officeDocument/2006/relationships/image" Target="../media/image147.e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46.emf"/><Relationship Id="rId1" Type="http://schemas.openxmlformats.org/officeDocument/2006/relationships/oleObject" Target="../embeddings/oleObject137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53.e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1.e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50.emf"/><Relationship Id="rId14" Type="http://schemas.openxmlformats.org/officeDocument/2006/relationships/vmlDrawing" Target="../drawings/vmlDrawing3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4.e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146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58.e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57.e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56.e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55.emf"/><Relationship Id="rId12" Type="http://schemas.openxmlformats.org/officeDocument/2006/relationships/vmlDrawing" Target="../drawings/vmlDrawing3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9.emf"/><Relationship Id="rId1" Type="http://schemas.openxmlformats.org/officeDocument/2006/relationships/oleObject" Target="../embeddings/oleObject152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61.e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60.emf"/><Relationship Id="rId1" Type="http://schemas.openxmlformats.org/officeDocument/2006/relationships/oleObject" Target="../embeddings/oleObject157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66.e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65.e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64.e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63.emf"/><Relationship Id="rId14" Type="http://schemas.openxmlformats.org/officeDocument/2006/relationships/vmlDrawing" Target="../drawings/vmlDrawing4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8.e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67.emf"/><Relationship Id="rId1" Type="http://schemas.openxmlformats.org/officeDocument/2006/relationships/oleObject" Target="../embeddings/oleObject160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72.e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71.e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70.e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69.emf"/><Relationship Id="rId16" Type="http://schemas.openxmlformats.org/officeDocument/2006/relationships/vmlDrawing" Target="../drawings/vmlDrawing4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75.e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74.e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73.emf"/><Relationship Id="rId1" Type="http://schemas.openxmlformats.org/officeDocument/2006/relationships/oleObject" Target="../embeddings/oleObject166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9.e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78.e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77.emf"/><Relationship Id="rId3" Type="http://schemas.openxmlformats.org/officeDocument/2006/relationships/oleObject" Target="../embeddings/oleObject174.bin"/><Relationship Id="rId2" Type="http://schemas.openxmlformats.org/officeDocument/2006/relationships/image" Target="../media/image176.emf"/><Relationship Id="rId10" Type="http://schemas.openxmlformats.org/officeDocument/2006/relationships/vmlDrawing" Target="../drawings/vmlDrawing42.vml"/><Relationship Id="rId1" Type="http://schemas.openxmlformats.org/officeDocument/2006/relationships/oleObject" Target="../embeddings/oleObject17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2583" y="1191578"/>
            <a:ext cx="8458200" cy="1524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概率论</a:t>
            </a:r>
            <a:r>
              <a:rPr lang="zh-CN" altLang="en-US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与数理统计</a:t>
            </a:r>
            <a:endParaRPr lang="zh-CN" altLang="en-US" sz="3600" b="1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330" y="3331845"/>
            <a:ext cx="7162800" cy="147701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               2019-2020</a:t>
            </a:r>
            <a:r>
              <a:rPr lang="zh-CN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学年第二学期</a:t>
            </a:r>
            <a:endParaRPr lang="zh-CN" altLang="zh-CN" sz="2800" b="1" dirty="0">
              <a:solidFill>
                <a:schemeClr val="tx2"/>
              </a:solidFill>
              <a:ea typeface="华文彩云" panose="02010800040101010101" pitchFamily="2" charset="-122"/>
            </a:endParaRPr>
          </a:p>
        </p:txBody>
      </p:sp>
    </p:spTree>
  </p:cSld>
  <p:clrMapOvr>
    <a:masterClrMapping/>
  </p:clrMapOvr>
  <p:transition advTm="10000">
    <p:zoom/>
    <p:sndAc>
      <p:stSnd>
        <p:snd r:embed="rId1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dvAuto="0" autoUpdateAnimBg="0" build="p"/>
      <p:bldP spid="30723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04800" y="477838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en-US" altLang="zh-CN" sz="2800" b="1"/>
              <a:t>  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是离散型随机变量，它的分布律是</a:t>
            </a:r>
            <a:r>
              <a:rPr lang="en-US" altLang="zh-CN" sz="2800" b="1"/>
              <a:t>:                              </a:t>
            </a:r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}=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 ,  </a:t>
            </a:r>
            <a:r>
              <a:rPr lang="en-US" altLang="zh-CN" sz="2800" b="1" i="1"/>
              <a:t>k</a:t>
            </a:r>
            <a:r>
              <a:rPr lang="en-US" altLang="zh-CN" sz="2800" b="1"/>
              <a:t>=1,2,…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68291" name="Text Box 3"/>
          <p:cNvSpPr txBox="1">
            <a:spLocks noChangeArrowheads="1"/>
          </p:cNvSpPr>
          <p:nvPr/>
        </p:nvSpPr>
        <p:spPr bwMode="auto">
          <a:xfrm>
            <a:off x="627063" y="4652963"/>
            <a:ext cx="81692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请注意 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  <a:r>
              <a:rPr lang="zh-CN" altLang="en-US" sz="2800" b="1"/>
              <a:t>离散型随机变量的数学期望是一个绝对收敛的级数的和</a:t>
            </a:r>
            <a:r>
              <a:rPr lang="en-US" altLang="zh-CN" sz="2800" b="1"/>
              <a:t>.</a:t>
            </a:r>
            <a:r>
              <a:rPr lang="zh-CN" altLang="en-US" sz="2800" b="1"/>
              <a:t>数学期望简称</a:t>
            </a:r>
            <a:r>
              <a:rPr lang="zh-CN" altLang="en-US" sz="2800" b="1">
                <a:solidFill>
                  <a:schemeClr val="accent2"/>
                </a:solidFill>
              </a:rPr>
              <a:t>期望</a:t>
            </a:r>
            <a:r>
              <a:rPr lang="zh-CN" altLang="en-US" sz="2800" b="1"/>
              <a:t>，又称为</a:t>
            </a:r>
            <a:r>
              <a:rPr lang="zh-CN" altLang="en-US" sz="2800" b="1">
                <a:solidFill>
                  <a:schemeClr val="accent2"/>
                </a:solidFill>
              </a:rPr>
              <a:t>均值</a:t>
            </a:r>
            <a:r>
              <a:rPr lang="zh-CN" altLang="en-US" sz="2800" b="1"/>
              <a:t>。</a:t>
            </a:r>
            <a:endParaRPr lang="zh-CN" altLang="en-US" sz="2800" b="1"/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2700338" y="3357563"/>
          <a:ext cx="2938462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公式" r:id="rId1" imgW="971550" imgH="346710" progId="Equation.3">
                  <p:embed/>
                </p:oleObj>
              </mc:Choice>
              <mc:Fallback>
                <p:oleObj name="公式" r:id="rId1" imgW="971550" imgH="346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57563"/>
                        <a:ext cx="2938462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3" name="Text Box 5"/>
          <p:cNvSpPr txBox="1">
            <a:spLocks noChangeArrowheads="1"/>
          </p:cNvSpPr>
          <p:nvPr/>
        </p:nvSpPr>
        <p:spPr bwMode="auto">
          <a:xfrm>
            <a:off x="528638" y="2119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4" name="Text Box 6"/>
          <p:cNvSpPr txBox="1">
            <a:spLocks noChangeArrowheads="1"/>
          </p:cNvSpPr>
          <p:nvPr/>
        </p:nvSpPr>
        <p:spPr bwMode="auto">
          <a:xfrm>
            <a:off x="228600" y="196691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若级数</a:t>
            </a:r>
            <a:endParaRPr lang="zh-CN" altLang="en-US" sz="2800"/>
          </a:p>
        </p:txBody>
      </p:sp>
      <p:graphicFrame>
        <p:nvGraphicFramePr>
          <p:cNvPr id="268295" name="Object 7"/>
          <p:cNvGraphicFramePr>
            <a:graphicFrameLocks noChangeAspect="1"/>
          </p:cNvGraphicFramePr>
          <p:nvPr/>
        </p:nvGraphicFramePr>
        <p:xfrm>
          <a:off x="1900238" y="1681163"/>
          <a:ext cx="1423987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3" name="公式" r:id="rId3" imgW="1104900" imgH="875665" progId="Equation.3">
                  <p:embed/>
                </p:oleObj>
              </mc:Choice>
              <mc:Fallback>
                <p:oleObj name="公式" r:id="rId3" imgW="1104900" imgH="8756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1681163"/>
                        <a:ext cx="1423987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6" name="Text Box 8"/>
          <p:cNvSpPr txBox="1">
            <a:spLocks noChangeArrowheads="1"/>
          </p:cNvSpPr>
          <p:nvPr/>
        </p:nvSpPr>
        <p:spPr bwMode="auto">
          <a:xfrm>
            <a:off x="3348038" y="20431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7" name="Text Box 9"/>
          <p:cNvSpPr txBox="1">
            <a:spLocks noChangeArrowheads="1"/>
          </p:cNvSpPr>
          <p:nvPr/>
        </p:nvSpPr>
        <p:spPr bwMode="auto">
          <a:xfrm>
            <a:off x="3424238" y="204311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8" name="Text Box 10"/>
          <p:cNvSpPr txBox="1">
            <a:spLocks noChangeArrowheads="1"/>
          </p:cNvSpPr>
          <p:nvPr/>
        </p:nvSpPr>
        <p:spPr bwMode="auto">
          <a:xfrm>
            <a:off x="2963863" y="19669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绝对收敛，</a:t>
            </a:r>
            <a:endParaRPr lang="zh-CN" altLang="en-US" sz="2800" b="1"/>
          </a:p>
        </p:txBody>
      </p:sp>
      <p:sp>
        <p:nvSpPr>
          <p:cNvPr id="268299" name="Text Box 11"/>
          <p:cNvSpPr txBox="1">
            <a:spLocks noChangeArrowheads="1"/>
          </p:cNvSpPr>
          <p:nvPr/>
        </p:nvSpPr>
        <p:spPr bwMode="auto">
          <a:xfrm>
            <a:off x="5070475" y="1966913"/>
            <a:ext cx="214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则称级数</a:t>
            </a:r>
            <a:endParaRPr lang="zh-CN" altLang="en-US" sz="2800" b="1"/>
          </a:p>
        </p:txBody>
      </p:sp>
      <p:graphicFrame>
        <p:nvGraphicFramePr>
          <p:cNvPr id="268300" name="Object 12"/>
          <p:cNvGraphicFramePr>
            <a:graphicFrameLocks noChangeAspect="1"/>
          </p:cNvGraphicFramePr>
          <p:nvPr/>
        </p:nvGraphicFramePr>
        <p:xfrm>
          <a:off x="6708775" y="1651000"/>
          <a:ext cx="13335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" name="公式" r:id="rId5" imgW="1104900" imgH="875665" progId="Equation.3">
                  <p:embed/>
                </p:oleObj>
              </mc:Choice>
              <mc:Fallback>
                <p:oleObj name="公式" r:id="rId5" imgW="1104900" imgH="8756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1651000"/>
                        <a:ext cx="13335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6492875" y="294640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5" name="公式" r:id="rId7" imgW="800100" imgH="307975" progId="Equation.3">
                  <p:embed/>
                </p:oleObj>
              </mc:Choice>
              <mc:Fallback>
                <p:oleObj name="公式" r:id="rId7" imgW="800100" imgH="3079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2946400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2" name="Text Box 14"/>
          <p:cNvSpPr txBox="1">
            <a:spLocks noChangeArrowheads="1"/>
          </p:cNvSpPr>
          <p:nvPr/>
        </p:nvSpPr>
        <p:spPr bwMode="auto">
          <a:xfrm>
            <a:off x="757238" y="341471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/>
          </a:p>
        </p:txBody>
      </p:sp>
      <p:sp>
        <p:nvSpPr>
          <p:cNvPr id="268303" name="Text Box 15"/>
          <p:cNvSpPr txBox="1">
            <a:spLocks noChangeArrowheads="1"/>
          </p:cNvSpPr>
          <p:nvPr/>
        </p:nvSpPr>
        <p:spPr bwMode="auto">
          <a:xfrm>
            <a:off x="587375" y="365125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/>
              <a:t>即</a:t>
            </a:r>
            <a:endParaRPr lang="zh-CN" altLang="en-US" sz="2800"/>
          </a:p>
        </p:txBody>
      </p:sp>
      <p:sp>
        <p:nvSpPr>
          <p:cNvPr id="268304" name="Text Box 16"/>
          <p:cNvSpPr txBox="1">
            <a:spLocks noChangeArrowheads="1"/>
          </p:cNvSpPr>
          <p:nvPr/>
        </p:nvSpPr>
        <p:spPr bwMode="auto">
          <a:xfrm>
            <a:off x="684213" y="2865438"/>
            <a:ext cx="792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的和为</a:t>
            </a:r>
            <a:r>
              <a:rPr lang="zh-CN" altLang="en-US" sz="2800" b="1" dirty="0">
                <a:solidFill>
                  <a:schemeClr val="accent2"/>
                </a:solidFill>
              </a:rPr>
              <a:t>随机变量</a:t>
            </a:r>
            <a:r>
              <a:rPr lang="en-US" altLang="zh-CN" sz="2800" b="1" dirty="0">
                <a:solidFill>
                  <a:schemeClr val="accent2"/>
                </a:solidFill>
              </a:rPr>
              <a:t>X</a:t>
            </a:r>
            <a:r>
              <a:rPr lang="zh-CN" altLang="en-US" sz="2800" b="1" dirty="0">
                <a:solidFill>
                  <a:schemeClr val="accent2"/>
                </a:solidFill>
              </a:rPr>
              <a:t>的数学期望</a:t>
            </a:r>
            <a:r>
              <a:rPr lang="zh-CN" altLang="en-US" sz="2800" b="1" dirty="0"/>
              <a:t>，记为            </a:t>
            </a:r>
            <a:r>
              <a:rPr lang="en-US" altLang="zh-CN" sz="2800" b="1" dirty="0"/>
              <a:t>,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autoUpdateAnimBg="0"/>
      <p:bldP spid="268293" grpId="0" autoUpdateAnimBg="0"/>
      <p:bldP spid="268294" grpId="0" autoUpdateAnimBg="0"/>
      <p:bldP spid="268296" grpId="0" autoUpdateAnimBg="0"/>
      <p:bldP spid="268297" grpId="0" autoUpdateAnimBg="0"/>
      <p:bldP spid="268298" grpId="0" autoUpdateAnimBg="0"/>
      <p:bldP spid="268299" grpId="0" autoUpdateAnimBg="0"/>
      <p:bldP spid="268302" grpId="0" autoUpdateAnimBg="0"/>
      <p:bldP spid="268303" grpId="0" autoUpdateAnimBg="0"/>
      <p:bldP spid="26830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314" name="Object 2"/>
          <p:cNvGraphicFramePr>
            <a:graphicFrameLocks noChangeAspect="1"/>
          </p:cNvGraphicFramePr>
          <p:nvPr/>
        </p:nvGraphicFramePr>
        <p:xfrm>
          <a:off x="1835150" y="260350"/>
          <a:ext cx="44450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Equation" r:id="rId1" imgW="1257300" imgH="134620" progId="Equation.DSMT4">
                  <p:embed/>
                </p:oleObj>
              </mc:Choice>
              <mc:Fallback>
                <p:oleObj name="Equation" r:id="rId1" imgW="1257300" imgH="1346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60350"/>
                        <a:ext cx="444500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841375" y="2762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827088" y="1196975"/>
          <a:ext cx="6097587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" name="公式" r:id="rId3" imgW="6010275" imgH="1366520" progId="Equation.3">
                  <p:embed/>
                </p:oleObj>
              </mc:Choice>
              <mc:Fallback>
                <p:oleObj name="公式" r:id="rId3" imgW="6010275" imgH="1366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96975"/>
                        <a:ext cx="6097587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710565" y="3092133"/>
          <a:ext cx="8027670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1" name="公式" r:id="rId5" imgW="7937500" imgH="2044700" progId="Equation.3">
                  <p:embed/>
                </p:oleObj>
              </mc:Choice>
              <mc:Fallback>
                <p:oleObj name="公式" r:id="rId5" imgW="7937500" imgH="2044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" y="3092133"/>
                        <a:ext cx="8027670" cy="1997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558800" y="908050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r>
              <a:rPr lang="en-US" altLang="zh-CN" sz="2800" b="1"/>
              <a:t>  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是连续型随机变量，其密度函数为 </a:t>
            </a:r>
            <a:r>
              <a:rPr lang="en-US" altLang="zh-CN" sz="2800" b="1" i="1"/>
              <a:t>f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),</a:t>
            </a:r>
            <a:r>
              <a:rPr lang="zh-CN" altLang="en-US" sz="2800" b="1"/>
              <a:t>如果积分</a:t>
            </a:r>
            <a:endParaRPr lang="zh-CN" altLang="en-US" sz="2800" b="1"/>
          </a:p>
        </p:txBody>
      </p:sp>
      <p:graphicFrame>
        <p:nvGraphicFramePr>
          <p:cNvPr id="272388" name="Object 4"/>
          <p:cNvGraphicFramePr>
            <a:graphicFrameLocks noChangeAspect="1"/>
          </p:cNvGraphicFramePr>
          <p:nvPr/>
        </p:nvGraphicFramePr>
        <p:xfrm>
          <a:off x="2540000" y="1974850"/>
          <a:ext cx="25304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1" imgW="1428750" imgH="337185" progId="Equation.3">
                  <p:embed/>
                </p:oleObj>
              </mc:Choice>
              <mc:Fallback>
                <p:oleObj name="Equation" r:id="rId1" imgW="1428750" imgH="337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974850"/>
                        <a:ext cx="25304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657225" y="2840038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绝对收敛</a:t>
            </a:r>
            <a:r>
              <a:rPr lang="en-US" altLang="zh-CN" sz="2800" b="1"/>
              <a:t>,</a:t>
            </a:r>
            <a:r>
              <a:rPr lang="zh-CN" altLang="en-US" sz="2800" b="1"/>
              <a:t>则称此积分值为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的数学期望</a:t>
            </a:r>
            <a:r>
              <a:rPr lang="en-US" altLang="zh-CN" sz="2800" b="1"/>
              <a:t>, </a:t>
            </a:r>
            <a:r>
              <a:rPr lang="zh-CN" altLang="en-US" sz="2800" b="1"/>
              <a:t>即</a:t>
            </a:r>
            <a:endParaRPr lang="zh-CN" altLang="en-US" sz="2800" b="1"/>
          </a:p>
        </p:txBody>
      </p:sp>
      <p:graphicFrame>
        <p:nvGraphicFramePr>
          <p:cNvPr id="272390" name="Object 6"/>
          <p:cNvGraphicFramePr>
            <a:graphicFrameLocks noChangeAspect="1"/>
          </p:cNvGraphicFramePr>
          <p:nvPr/>
        </p:nvGraphicFramePr>
        <p:xfrm>
          <a:off x="2006600" y="3616325"/>
          <a:ext cx="36671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公式" r:id="rId3" imgW="1247775" imgH="250190" progId="Equation.3">
                  <p:embed/>
                </p:oleObj>
              </mc:Choice>
              <mc:Fallback>
                <p:oleObj name="公式" r:id="rId3" imgW="1247775" imgH="2501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616325"/>
                        <a:ext cx="36671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1" name="Text Box 7"/>
          <p:cNvSpPr txBox="1">
            <a:spLocks noChangeArrowheads="1"/>
          </p:cNvSpPr>
          <p:nvPr/>
        </p:nvSpPr>
        <p:spPr bwMode="auto">
          <a:xfrm>
            <a:off x="482600" y="4673600"/>
            <a:ext cx="845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请注意 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  <a:r>
              <a:rPr lang="en-US" altLang="zh-CN" sz="2800" b="1">
                <a:solidFill>
                  <a:schemeClr val="tx2"/>
                </a:solidFill>
              </a:rPr>
              <a:t> </a:t>
            </a:r>
            <a:r>
              <a:rPr lang="zh-CN" altLang="en-US" sz="2800" b="1">
                <a:solidFill>
                  <a:schemeClr val="tx2"/>
                </a:solidFill>
              </a:rPr>
              <a:t>连续型随机变量的数学期望是一个绝对收敛的积分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72392" name="Text Box 8"/>
          <p:cNvSpPr txBox="1">
            <a:spLocks noChangeArrowheads="1"/>
          </p:cNvSpPr>
          <p:nvPr/>
        </p:nvSpPr>
        <p:spPr bwMode="auto">
          <a:xfrm>
            <a:off x="0" y="152400"/>
            <a:ext cx="691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二、连续型随机变量的数学期望</a:t>
            </a:r>
            <a:endParaRPr lang="zh-CN" altLang="en-US" sz="3200" b="1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autoUpdateAnimBg="0"/>
      <p:bldP spid="272389" grpId="0" autoUpdateAnimBg="0"/>
      <p:bldP spid="272391" grpId="0" autoUpdateAnimBg="0"/>
      <p:bldP spid="27239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378" name="Object 2"/>
          <p:cNvGraphicFramePr>
            <a:graphicFrameLocks noChangeAspect="1"/>
          </p:cNvGraphicFramePr>
          <p:nvPr/>
        </p:nvGraphicFramePr>
        <p:xfrm>
          <a:off x="1555750" y="173038"/>
          <a:ext cx="364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2" name="公式" r:id="rId1" imgW="3562350" imgH="346710" progId="Equation.3">
                  <p:embed/>
                </p:oleObj>
              </mc:Choice>
              <mc:Fallback>
                <p:oleObj name="公式" r:id="rId1" imgW="3562350" imgH="34671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173038"/>
                        <a:ext cx="3644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09600" y="96838"/>
            <a:ext cx="1044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</a:rPr>
              <a:t>例</a:t>
            </a:r>
            <a:r>
              <a:rPr lang="en-US" altLang="zh-CN" sz="3200" b="1">
                <a:solidFill>
                  <a:srgbClr val="003399"/>
                </a:solidFill>
              </a:rPr>
              <a:t>4</a:t>
            </a:r>
            <a:endParaRPr lang="en-US" altLang="zh-CN" sz="3200" b="1">
              <a:solidFill>
                <a:srgbClr val="003399"/>
              </a:solidFill>
            </a:endParaRPr>
          </a:p>
        </p:txBody>
      </p:sp>
      <p:graphicFrame>
        <p:nvGraphicFramePr>
          <p:cNvPr id="229380" name="Object 4"/>
          <p:cNvGraphicFramePr>
            <a:graphicFrameLocks noChangeAspect="1"/>
          </p:cNvGraphicFramePr>
          <p:nvPr/>
        </p:nvGraphicFramePr>
        <p:xfrm>
          <a:off x="1137994" y="752475"/>
          <a:ext cx="5018182" cy="18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3" name="公式" r:id="rId3" imgW="5295900" imgH="1877060" progId="Equation.3">
                  <p:embed/>
                </p:oleObj>
              </mc:Choice>
              <mc:Fallback>
                <p:oleObj name="公式" r:id="rId3" imgW="5295900" imgH="18770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994" y="752475"/>
                        <a:ext cx="5018182" cy="1810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1" name="Object 5"/>
          <p:cNvGraphicFramePr>
            <a:graphicFrameLocks noChangeAspect="1"/>
          </p:cNvGraphicFramePr>
          <p:nvPr/>
        </p:nvGraphicFramePr>
        <p:xfrm>
          <a:off x="810837" y="2591327"/>
          <a:ext cx="67691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4" name="公式" r:id="rId5" imgW="6686550" imgH="1520825" progId="Equation.3">
                  <p:embed/>
                </p:oleObj>
              </mc:Choice>
              <mc:Fallback>
                <p:oleObj name="公式" r:id="rId5" imgW="6686550" imgH="15208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37" y="2591327"/>
                        <a:ext cx="67691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2" name="Object 6"/>
          <p:cNvGraphicFramePr>
            <a:graphicFrameLocks noChangeAspect="1"/>
          </p:cNvGraphicFramePr>
          <p:nvPr/>
        </p:nvGraphicFramePr>
        <p:xfrm>
          <a:off x="975322" y="4344457"/>
          <a:ext cx="5343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5" name="公式" r:id="rId7" imgW="5010150" imgH="346710" progId="Equation.3">
                  <p:embed/>
                </p:oleObj>
              </mc:Choice>
              <mc:Fallback>
                <p:oleObj name="公式" r:id="rId7" imgW="5010150" imgH="3467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22" y="4344457"/>
                        <a:ext cx="53435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6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9080" y="52895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647700"/>
            <a:ext cx="81508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285750" y="1033463"/>
            <a:ext cx="8585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chemeClr val="accent2"/>
                </a:solidFill>
              </a:rPr>
              <a:t>定义</a:t>
            </a:r>
            <a:r>
              <a:rPr lang="en-US" altLang="zh-CN" sz="2800">
                <a:solidFill>
                  <a:schemeClr val="accent2"/>
                </a:solidFill>
              </a:rPr>
              <a:t>2</a:t>
            </a:r>
            <a:r>
              <a:rPr lang="en-US" altLang="zh-CN" sz="2800"/>
              <a:t>   </a:t>
            </a:r>
            <a:r>
              <a:rPr lang="zh-CN" altLang="en-US" sz="2800"/>
              <a:t>设</a:t>
            </a:r>
            <a:r>
              <a:rPr lang="en-US" altLang="zh-CN" sz="2800" i="1"/>
              <a:t>X</a:t>
            </a:r>
            <a:r>
              <a:rPr lang="zh-CN" altLang="en-US" sz="2800"/>
              <a:t>是随机变量，其分布函数为 </a:t>
            </a:r>
            <a:r>
              <a:rPr lang="en-US" altLang="zh-CN" sz="2800" i="1"/>
              <a:t> F</a:t>
            </a:r>
            <a:r>
              <a:rPr lang="en-US" altLang="zh-CN" sz="2800"/>
              <a:t>(</a:t>
            </a:r>
            <a:r>
              <a:rPr lang="en-US" altLang="zh-CN" sz="2800" i="1"/>
              <a:t>x</a:t>
            </a:r>
            <a:r>
              <a:rPr lang="en-US" altLang="zh-CN" sz="2800"/>
              <a:t>), </a:t>
            </a:r>
            <a:r>
              <a:rPr lang="zh-CN" altLang="en-US" sz="2800"/>
              <a:t>如果</a:t>
            </a:r>
            <a:endParaRPr lang="zh-CN" altLang="en-US" sz="2800"/>
          </a:p>
        </p:txBody>
      </p:sp>
      <p:graphicFrame>
        <p:nvGraphicFramePr>
          <p:cNvPr id="272388" name="Object 4"/>
          <p:cNvGraphicFramePr>
            <a:graphicFrameLocks noChangeAspect="1"/>
          </p:cNvGraphicFramePr>
          <p:nvPr/>
        </p:nvGraphicFramePr>
        <p:xfrm>
          <a:off x="2571750" y="1785938"/>
          <a:ext cx="235743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Equation" r:id="rId1" imgW="1028700" imgH="269240" progId="Equation.DSMT4">
                  <p:embed/>
                </p:oleObj>
              </mc:Choice>
              <mc:Fallback>
                <p:oleObj name="Equation" r:id="rId1" imgW="1028700" imgH="269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1785938"/>
                        <a:ext cx="2357438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657225" y="2840038"/>
            <a:ext cx="82296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则记                                       ，</a:t>
            </a:r>
            <a:endParaRPr lang="zh-CN" altLang="en-US" sz="2800"/>
          </a:p>
          <a:p>
            <a:pPr eaLnBrk="1" hangingPunct="1"/>
            <a:endParaRPr lang="zh-CN" altLang="en-US" sz="2800"/>
          </a:p>
        </p:txBody>
      </p:sp>
      <p:graphicFrame>
        <p:nvGraphicFramePr>
          <p:cNvPr id="272390" name="Object 6"/>
          <p:cNvGraphicFramePr>
            <a:graphicFrameLocks noChangeAspect="1"/>
          </p:cNvGraphicFramePr>
          <p:nvPr/>
        </p:nvGraphicFramePr>
        <p:xfrm>
          <a:off x="1643063" y="2671763"/>
          <a:ext cx="32861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2" name="Equation" r:id="rId3" imgW="1143000" imgH="269240" progId="Equation.DSMT4">
                  <p:embed/>
                </p:oleObj>
              </mc:Choice>
              <mc:Fallback>
                <p:oleObj name="Equation" r:id="rId3" imgW="1143000" imgH="269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2671763"/>
                        <a:ext cx="32861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1" name="Text Box 7"/>
          <p:cNvSpPr txBox="1">
            <a:spLocks noChangeArrowheads="1"/>
          </p:cNvSpPr>
          <p:nvPr/>
        </p:nvSpPr>
        <p:spPr bwMode="auto">
          <a:xfrm>
            <a:off x="482600" y="4673600"/>
            <a:ext cx="845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>
                <a:solidFill>
                  <a:schemeClr val="accent2"/>
                </a:solidFill>
              </a:rPr>
              <a:t>请注意 </a:t>
            </a:r>
            <a:r>
              <a:rPr lang="en-US" altLang="zh-CN" sz="2800">
                <a:solidFill>
                  <a:schemeClr val="accent2"/>
                </a:solidFill>
              </a:rPr>
              <a:t>:</a:t>
            </a:r>
            <a:r>
              <a:rPr lang="en-US" altLang="zh-CN" sz="2800">
                <a:solidFill>
                  <a:schemeClr val="tx2"/>
                </a:solidFill>
              </a:rPr>
              <a:t> </a:t>
            </a:r>
            <a:r>
              <a:rPr lang="zh-CN" altLang="en-US" sz="2800">
                <a:solidFill>
                  <a:schemeClr val="tx2"/>
                </a:solidFill>
              </a:rPr>
              <a:t>此积分是</a:t>
            </a:r>
            <a:r>
              <a:rPr lang="en-US" altLang="zh-CN" sz="2800">
                <a:solidFill>
                  <a:schemeClr val="tx2"/>
                </a:solidFill>
              </a:rPr>
              <a:t>R-S</a:t>
            </a:r>
            <a:r>
              <a:rPr lang="zh-CN" altLang="en-US" sz="2800">
                <a:solidFill>
                  <a:schemeClr val="tx2"/>
                </a:solidFill>
              </a:rPr>
              <a:t>积分。</a:t>
            </a:r>
            <a:endParaRPr lang="en-US" altLang="zh-CN" sz="2800">
              <a:solidFill>
                <a:schemeClr val="tx2"/>
              </a:solidFill>
            </a:endParaRPr>
          </a:p>
        </p:txBody>
      </p:sp>
      <p:sp>
        <p:nvSpPr>
          <p:cNvPr id="272392" name="Text Box 8"/>
          <p:cNvSpPr txBox="1">
            <a:spLocks noChangeArrowheads="1"/>
          </p:cNvSpPr>
          <p:nvPr/>
        </p:nvSpPr>
        <p:spPr bwMode="auto">
          <a:xfrm>
            <a:off x="0" y="206375"/>
            <a:ext cx="691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一般的随机变量的数学期望</a:t>
            </a:r>
            <a:endParaRPr lang="zh-CN" altLang="en-US" sz="3200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14375" y="3616325"/>
            <a:ext cx="8229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称此积分值为</a:t>
            </a:r>
            <a:r>
              <a:rPr lang="en-US" altLang="zh-CN" sz="2800" i="1">
                <a:solidFill>
                  <a:schemeClr val="accent2"/>
                </a:solidFill>
              </a:rPr>
              <a:t>X</a:t>
            </a:r>
            <a:r>
              <a:rPr lang="zh-CN" altLang="en-US" sz="2800">
                <a:solidFill>
                  <a:schemeClr val="accent2"/>
                </a:solidFill>
              </a:rPr>
              <a:t>的数学期望。</a:t>
            </a:r>
            <a:endParaRPr lang="zh-CN" altLang="en-US" sz="2800"/>
          </a:p>
          <a:p>
            <a:pPr eaLnBrk="1" hangingPunct="1"/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autoUpdateAnimBg="0"/>
      <p:bldP spid="272389" grpId="0" autoUpdateAnimBg="0"/>
      <p:bldP spid="272391" grpId="0" autoUpdateAnimBg="0"/>
      <p:bldP spid="272392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838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ea typeface="黑体" panose="02010609060101010101" pitchFamily="49" charset="-122"/>
              </a:rPr>
              <a:t>三、随机变量函数的数学期望</a:t>
            </a:r>
            <a:endParaRPr lang="zh-CN" altLang="en-US" sz="32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676275" y="132556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accent2"/>
                </a:solidFill>
              </a:rPr>
              <a:t>   1. </a:t>
            </a:r>
            <a:r>
              <a:rPr lang="zh-CN" altLang="en-US" sz="2800" b="1">
                <a:solidFill>
                  <a:schemeClr val="accent2"/>
                </a:solidFill>
              </a:rPr>
              <a:t>问题的提出：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304800" y="1897063"/>
            <a:ext cx="864076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       </a:t>
            </a:r>
            <a:r>
              <a:rPr lang="zh-CN" altLang="en-US" sz="2800" b="1"/>
              <a:t>设已知随机变量</a:t>
            </a:r>
            <a:r>
              <a:rPr lang="en-US" altLang="zh-CN" sz="2800" b="1" i="1"/>
              <a:t>X</a:t>
            </a:r>
            <a:r>
              <a:rPr lang="zh-CN" altLang="en-US" sz="2800" b="1"/>
              <a:t>的分布，我们需要计算的不是</a:t>
            </a:r>
            <a:r>
              <a:rPr lang="en-US" altLang="zh-CN" sz="2800" b="1"/>
              <a:t>X</a:t>
            </a:r>
            <a:r>
              <a:rPr lang="zh-CN" altLang="en-US" sz="2800" b="1"/>
              <a:t>的期望，而是</a:t>
            </a:r>
            <a:r>
              <a:rPr lang="en-US" altLang="zh-CN" sz="2800" b="1" i="1"/>
              <a:t>X</a:t>
            </a:r>
            <a:r>
              <a:rPr lang="zh-CN" altLang="en-US" sz="2800" b="1"/>
              <a:t>的某个函数的期望，比如说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的期望</a:t>
            </a:r>
            <a:r>
              <a:rPr lang="en-US" altLang="zh-CN" sz="2800" b="1"/>
              <a:t>. </a:t>
            </a:r>
            <a:r>
              <a:rPr lang="zh-CN" altLang="en-US" sz="2800" b="1"/>
              <a:t>那么应该如何计算呢？</a:t>
            </a:r>
            <a:endParaRPr lang="zh-CN" altLang="en-US" sz="2800" b="1"/>
          </a:p>
        </p:txBody>
      </p:sp>
      <p:sp>
        <p:nvSpPr>
          <p:cNvPr id="275461" name="Rectangle 5"/>
          <p:cNvSpPr>
            <a:spLocks noChangeArrowheads="1"/>
          </p:cNvSpPr>
          <p:nvPr/>
        </p:nvSpPr>
        <p:spPr bwMode="auto">
          <a:xfrm>
            <a:off x="287338" y="3567113"/>
            <a:ext cx="8513762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chemeClr val="tx2"/>
                </a:solidFill>
              </a:rPr>
              <a:t>        </a:t>
            </a:r>
            <a:r>
              <a:rPr lang="zh-CN" altLang="en-US" sz="2800" b="1">
                <a:solidFill>
                  <a:schemeClr val="tx2"/>
                </a:solidFill>
              </a:rPr>
              <a:t>一种方法是，因为</a:t>
            </a:r>
            <a:r>
              <a:rPr lang="en-US" altLang="zh-CN" sz="2800" b="1" i="1">
                <a:solidFill>
                  <a:schemeClr val="tx2"/>
                </a:solidFill>
              </a:rPr>
              <a:t>g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)</a:t>
            </a:r>
            <a:r>
              <a:rPr lang="zh-CN" altLang="en-US" sz="2800" b="1">
                <a:solidFill>
                  <a:schemeClr val="tx2"/>
                </a:solidFill>
              </a:rPr>
              <a:t>也是随机变量，故应有概率分布，它的分布可以由已知的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zh-CN" altLang="en-US" sz="2800" b="1">
                <a:solidFill>
                  <a:schemeClr val="tx2"/>
                </a:solidFill>
              </a:rPr>
              <a:t>的分布求出来</a:t>
            </a:r>
            <a:r>
              <a:rPr lang="en-US" altLang="zh-CN" sz="2800" b="1">
                <a:solidFill>
                  <a:schemeClr val="tx2"/>
                </a:solidFill>
              </a:rPr>
              <a:t>. </a:t>
            </a:r>
            <a:r>
              <a:rPr lang="zh-CN" altLang="en-US" sz="2800" b="1">
                <a:solidFill>
                  <a:schemeClr val="tx2"/>
                </a:solidFill>
              </a:rPr>
              <a:t>一旦我们知道了</a:t>
            </a:r>
            <a:r>
              <a:rPr lang="en-US" altLang="zh-CN" sz="2800" b="1" i="1">
                <a:solidFill>
                  <a:schemeClr val="tx2"/>
                </a:solidFill>
              </a:rPr>
              <a:t>g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)</a:t>
            </a:r>
            <a:r>
              <a:rPr lang="zh-CN" altLang="en-US" sz="2800" b="1">
                <a:solidFill>
                  <a:schemeClr val="tx2"/>
                </a:solidFill>
              </a:rPr>
              <a:t>的分布，就可以按照期望的定义把</a:t>
            </a:r>
            <a:r>
              <a:rPr lang="en-US" altLang="zh-CN" sz="2800" b="1" i="1">
                <a:solidFill>
                  <a:schemeClr val="tx2"/>
                </a:solidFill>
              </a:rPr>
              <a:t>E</a:t>
            </a:r>
            <a:r>
              <a:rPr lang="en-US" altLang="zh-CN" sz="2800" b="1">
                <a:solidFill>
                  <a:schemeClr val="tx2"/>
                </a:solidFill>
              </a:rPr>
              <a:t>[</a:t>
            </a:r>
            <a:r>
              <a:rPr lang="en-US" altLang="zh-CN" sz="2800" b="1" i="1">
                <a:solidFill>
                  <a:schemeClr val="tx2"/>
                </a:solidFill>
              </a:rPr>
              <a:t>g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)]</a:t>
            </a:r>
            <a:r>
              <a:rPr lang="zh-CN" altLang="en-US" sz="2800" b="1">
                <a:solidFill>
                  <a:schemeClr val="tx2"/>
                </a:solidFill>
              </a:rPr>
              <a:t>计算出来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autoUpdateAnimBg="0"/>
      <p:bldP spid="275460" grpId="0" autoUpdateAnimBg="0"/>
      <p:bldP spid="27546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ChangeArrowheads="1"/>
          </p:cNvSpPr>
          <p:nvPr/>
        </p:nvSpPr>
        <p:spPr bwMode="auto">
          <a:xfrm>
            <a:off x="395288" y="2520950"/>
            <a:ext cx="799306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那么是否可以不先求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的分布而只根据</a:t>
            </a:r>
            <a:r>
              <a:rPr lang="en-US" altLang="zh-CN" sz="2800" b="1" i="1"/>
              <a:t>X</a:t>
            </a:r>
            <a:r>
              <a:rPr lang="zh-CN" altLang="en-US" sz="2800" b="1"/>
              <a:t>的分布求得</a:t>
            </a:r>
            <a:r>
              <a:rPr lang="en-US" altLang="zh-CN" sz="2800" b="1" i="1"/>
              <a:t>E</a:t>
            </a:r>
            <a:r>
              <a:rPr lang="en-US" altLang="zh-CN" sz="2800" b="1"/>
              <a:t>[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zh-CN" altLang="en-US" sz="2800" b="1"/>
              <a:t>呢？</a:t>
            </a:r>
            <a:endParaRPr lang="zh-CN" altLang="en-US" sz="2800" b="1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552450" y="1166813"/>
            <a:ext cx="7980363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   </a:t>
            </a:r>
            <a:r>
              <a:rPr lang="zh-CN" altLang="en-US" sz="2800" b="1">
                <a:solidFill>
                  <a:schemeClr val="accent2"/>
                </a:solidFill>
              </a:rPr>
              <a:t>使用这种方法必须先求出随机变量函数</a:t>
            </a:r>
            <a:r>
              <a:rPr lang="en-US" altLang="zh-CN" sz="2800" b="1" i="1">
                <a:solidFill>
                  <a:schemeClr val="accent2"/>
                </a:solidFill>
              </a:rPr>
              <a:t>g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r>
              <a:rPr lang="zh-CN" altLang="en-US" sz="2800" b="1">
                <a:solidFill>
                  <a:schemeClr val="accent2"/>
                </a:solidFill>
              </a:rPr>
              <a:t>的分布，一般是比较复杂的 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Text Box 2"/>
          <p:cNvSpPr txBox="1">
            <a:spLocks noChangeArrowheads="1"/>
          </p:cNvSpPr>
          <p:nvPr/>
        </p:nvSpPr>
        <p:spPr bwMode="auto">
          <a:xfrm>
            <a:off x="442913" y="1441450"/>
            <a:ext cx="7521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/>
              <a:t>(1)   </a:t>
            </a:r>
            <a:r>
              <a:rPr lang="zh-CN" altLang="en-US" sz="2800" b="1"/>
              <a:t>当</a:t>
            </a:r>
            <a:r>
              <a:rPr lang="en-US" altLang="zh-CN" sz="2800" b="1" i="1"/>
              <a:t>X</a:t>
            </a:r>
            <a:r>
              <a:rPr lang="zh-CN" altLang="en-US" sz="2800" b="1"/>
              <a:t>为离散型时</a:t>
            </a:r>
            <a:r>
              <a:rPr lang="en-US" altLang="zh-CN" sz="2800" b="1"/>
              <a:t>,</a:t>
            </a:r>
            <a:r>
              <a:rPr lang="zh-CN" altLang="en-US" sz="2800" b="1"/>
              <a:t>它的分布率为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)=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 ;</a:t>
            </a:r>
            <a:endParaRPr lang="en-US" altLang="zh-CN" sz="2800" b="1"/>
          </a:p>
        </p:txBody>
      </p:sp>
      <p:graphicFrame>
        <p:nvGraphicFramePr>
          <p:cNvPr id="277507" name="Object 3"/>
          <p:cNvGraphicFramePr>
            <a:graphicFrameLocks noChangeAspect="1"/>
          </p:cNvGraphicFramePr>
          <p:nvPr/>
        </p:nvGraphicFramePr>
        <p:xfrm>
          <a:off x="531178" y="1950720"/>
          <a:ext cx="6465570" cy="981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公式" r:id="rId1" imgW="6375400" imgH="952500" progId="Equation.3">
                  <p:embed/>
                </p:oleObj>
              </mc:Choice>
              <mc:Fallback>
                <p:oleObj name="公式" r:id="rId1" imgW="6375400" imgH="95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8" y="1950720"/>
                        <a:ext cx="6465570" cy="981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1828800" y="2743200"/>
          <a:ext cx="4470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4" name="公式" r:id="rId3" imgW="4381500" imgH="875665" progId="Equation.3">
                  <p:embed/>
                </p:oleObj>
              </mc:Choice>
              <mc:Fallback>
                <p:oleObj name="公式" r:id="rId3" imgW="4381500" imgH="8756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43200"/>
                        <a:ext cx="4470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427038" y="3760788"/>
            <a:ext cx="68167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2800" b="1"/>
              <a:t>(2)   </a:t>
            </a:r>
            <a:r>
              <a:rPr lang="zh-CN" altLang="en-US" sz="2800" b="1"/>
              <a:t>当</a:t>
            </a:r>
            <a:r>
              <a:rPr lang="en-US" altLang="zh-CN" sz="2800" b="1" i="1"/>
              <a:t>X</a:t>
            </a:r>
            <a:r>
              <a:rPr lang="zh-CN" altLang="en-US" sz="2800" b="1"/>
              <a:t>为连续型时</a:t>
            </a:r>
            <a:r>
              <a:rPr lang="en-US" altLang="zh-CN" sz="2800" b="1"/>
              <a:t>,</a:t>
            </a:r>
            <a:r>
              <a:rPr lang="zh-CN" altLang="en-US" sz="2800" b="1" i="1"/>
              <a:t>它</a:t>
            </a:r>
            <a:r>
              <a:rPr lang="zh-CN" altLang="en-US" sz="2800" b="1"/>
              <a:t>的密度函数为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).</a:t>
            </a:r>
            <a:r>
              <a:rPr lang="zh-CN" altLang="en-US" sz="2800" b="1"/>
              <a:t>若</a:t>
            </a:r>
            <a:endParaRPr lang="zh-CN" altLang="en-US" sz="2800"/>
          </a:p>
        </p:txBody>
      </p:sp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542925" y="4525963"/>
          <a:ext cx="4737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5" name="公式" r:id="rId5" imgW="4648200" imgH="953135" progId="Equation.3">
                  <p:embed/>
                </p:oleObj>
              </mc:Choice>
              <mc:Fallback>
                <p:oleObj name="公式" r:id="rId5" imgW="4648200" imgH="9531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4525963"/>
                        <a:ext cx="47371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1" name="Object 7"/>
          <p:cNvGraphicFramePr>
            <a:graphicFrameLocks noChangeAspect="1"/>
          </p:cNvGraphicFramePr>
          <p:nvPr/>
        </p:nvGraphicFramePr>
        <p:xfrm>
          <a:off x="1752600" y="5257800"/>
          <a:ext cx="4914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6" name="公式" r:id="rId7" imgW="4829175" imgH="953135" progId="Equation.3">
                  <p:embed/>
                </p:oleObj>
              </mc:Choice>
              <mc:Fallback>
                <p:oleObj name="公式" r:id="rId7" imgW="4829175" imgH="9531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57800"/>
                        <a:ext cx="4914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00648" y="685800"/>
            <a:ext cx="90506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定理 </a:t>
            </a:r>
            <a:r>
              <a:rPr lang="zh-CN" altLang="en-US" sz="2800" b="1"/>
              <a:t> 设</a:t>
            </a:r>
            <a:r>
              <a:rPr lang="en-US" altLang="zh-CN" sz="2800" b="1" i="1"/>
              <a:t>Y</a:t>
            </a:r>
            <a:r>
              <a:rPr lang="zh-CN" altLang="en-US" sz="2800" b="1"/>
              <a:t>是随机变量</a:t>
            </a:r>
            <a:r>
              <a:rPr lang="en-US" altLang="zh-CN" sz="2800" b="1"/>
              <a:t>X</a:t>
            </a:r>
            <a:r>
              <a:rPr lang="zh-CN" altLang="en-US" sz="2800" b="1"/>
              <a:t>的函数</a:t>
            </a:r>
            <a:r>
              <a:rPr lang="en-US" altLang="zh-CN" sz="2800" b="1"/>
              <a:t>: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g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(g</a:t>
            </a:r>
            <a:r>
              <a:rPr lang="zh-CN" altLang="en-US" sz="2800" b="1"/>
              <a:t>是分段连续函数</a:t>
            </a:r>
            <a:r>
              <a:rPr lang="en-US" altLang="zh-CN" sz="2800" b="1"/>
              <a:t>)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6" grpId="0" autoUpdateAnimBg="0"/>
      <p:bldP spid="27750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971600" y="329224"/>
          <a:ext cx="6207741" cy="2302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Equation" r:id="rId1" imgW="89001600" imgH="30480000" progId="Equation.DSMT4">
                  <p:embed/>
                </p:oleObj>
              </mc:Choice>
              <mc:Fallback>
                <p:oleObj name="Equation" r:id="rId1" imgW="89001600" imgH="30480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29224"/>
                        <a:ext cx="6207741" cy="2302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1" name="Rectangle 3"/>
          <p:cNvSpPr>
            <a:spLocks noChangeArrowheads="1"/>
          </p:cNvSpPr>
          <p:nvPr/>
        </p:nvSpPr>
        <p:spPr bwMode="auto">
          <a:xfrm>
            <a:off x="539552" y="2729584"/>
            <a:ext cx="8208963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该公式的重要性在于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当我们求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g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)]</a:t>
            </a:r>
            <a:r>
              <a:rPr lang="zh-CN" altLang="zh-CN" sz="2800" b="1" dirty="0"/>
              <a:t>时,  不必知道</a:t>
            </a:r>
            <a:r>
              <a:rPr lang="en-US" altLang="zh-CN" sz="2800" b="1" i="1" dirty="0"/>
              <a:t>g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的分布，而只需知道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的分布就可以了</a:t>
            </a:r>
            <a:r>
              <a:rPr lang="en-US" altLang="zh-CN" sz="2800" b="1" dirty="0"/>
              <a:t>.   </a:t>
            </a:r>
            <a:r>
              <a:rPr lang="zh-CN" altLang="en-US" sz="2800" b="1" dirty="0"/>
              <a:t>这给求随机变量函数的期望带来很大方便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762000" y="4648200"/>
            <a:ext cx="8196263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上述定理还可以推广到两个或两个以上随 机变量的函数的情况。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/>
      <p:bldP spid="278532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5" name="Object 3"/>
          <p:cNvGraphicFramePr>
            <a:graphicFrameLocks noChangeAspect="1"/>
          </p:cNvGraphicFramePr>
          <p:nvPr/>
        </p:nvGraphicFramePr>
        <p:xfrm>
          <a:off x="762000" y="838200"/>
          <a:ext cx="8128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1" name="公式" r:id="rId1" imgW="8128000" imgH="444500" progId="Equation.3">
                  <p:embed/>
                </p:oleObj>
              </mc:Choice>
              <mc:Fallback>
                <p:oleObj name="公式" r:id="rId1" imgW="81280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838200"/>
                        <a:ext cx="8128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228600" y="1524000"/>
          <a:ext cx="3251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2" name="公式" r:id="rId3" imgW="3162300" imgH="337185" progId="Equation.3">
                  <p:embed/>
                </p:oleObj>
              </mc:Choice>
              <mc:Fallback>
                <p:oleObj name="公式" r:id="rId3" imgW="3162300" imgH="337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3251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838200" y="2209800"/>
          <a:ext cx="762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3" name="公式" r:id="rId5" imgW="7534275" imgH="346710" progId="Equation.3">
                  <p:embed/>
                </p:oleObj>
              </mc:Choice>
              <mc:Fallback>
                <p:oleObj name="公式" r:id="rId5" imgW="7534275" imgH="3467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09800"/>
                        <a:ext cx="7620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/>
        </p:nvGraphicFramePr>
        <p:xfrm>
          <a:off x="1219200" y="2667000"/>
          <a:ext cx="66659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4" name="公式" r:id="rId7" imgW="6581775" imgH="953135" progId="Equation.3">
                  <p:embed/>
                </p:oleObj>
              </mc:Choice>
              <mc:Fallback>
                <p:oleObj name="公式" r:id="rId7" imgW="6581775" imgH="9531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67000"/>
                        <a:ext cx="66659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9" name="Object 7"/>
          <p:cNvGraphicFramePr>
            <a:graphicFrameLocks noChangeAspect="1"/>
          </p:cNvGraphicFramePr>
          <p:nvPr/>
        </p:nvGraphicFramePr>
        <p:xfrm>
          <a:off x="838200" y="3733800"/>
          <a:ext cx="6057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5" name="公式" r:id="rId9" imgW="5972175" imgH="953135" progId="Equation.3">
                  <p:embed/>
                </p:oleObj>
              </mc:Choice>
              <mc:Fallback>
                <p:oleObj name="公式" r:id="rId9" imgW="5972175" imgH="9531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6057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0" name="Object 8"/>
          <p:cNvGraphicFramePr>
            <a:graphicFrameLocks noChangeAspect="1"/>
          </p:cNvGraphicFramePr>
          <p:nvPr/>
        </p:nvGraphicFramePr>
        <p:xfrm>
          <a:off x="1187450" y="4724400"/>
          <a:ext cx="568801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6" name="Equation" r:id="rId11" imgW="2314575" imgH="365760" progId="Equation.DSMT4">
                  <p:embed/>
                </p:oleObj>
              </mc:Choice>
              <mc:Fallback>
                <p:oleObj name="Equation" r:id="rId11" imgW="2314575" imgH="365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24400"/>
                        <a:ext cx="5688013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1" name="Object 9"/>
          <p:cNvGraphicFramePr>
            <a:graphicFrameLocks noChangeAspect="1"/>
          </p:cNvGraphicFramePr>
          <p:nvPr/>
        </p:nvGraphicFramePr>
        <p:xfrm>
          <a:off x="762000" y="5867400"/>
          <a:ext cx="7493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7" name="公式" r:id="rId13" imgW="7410450" imgH="365760" progId="Equation.3">
                  <p:embed/>
                </p:oleObj>
              </mc:Choice>
              <mc:Fallback>
                <p:oleObj name="公式" r:id="rId13" imgW="7410450" imgH="3657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867400"/>
                        <a:ext cx="7493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1" name="Text Box 5"/>
          <p:cNvSpPr txBox="1">
            <a:spLocks noChangeArrowheads="1"/>
          </p:cNvSpPr>
          <p:nvPr/>
        </p:nvSpPr>
        <p:spPr bwMode="auto">
          <a:xfrm>
            <a:off x="571500" y="627063"/>
            <a:ext cx="71913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endParaRPr lang="en-US" altLang="zh-CN" sz="28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280582" name="Object 6"/>
          <p:cNvGraphicFramePr>
            <a:graphicFrameLocks noChangeAspect="1"/>
          </p:cNvGraphicFramePr>
          <p:nvPr/>
        </p:nvGraphicFramePr>
        <p:xfrm>
          <a:off x="1371600" y="685800"/>
          <a:ext cx="68453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4" name="公式" r:id="rId1" imgW="6762750" imgH="847090" progId="Equation.3">
                  <p:embed/>
                </p:oleObj>
              </mc:Choice>
              <mc:Fallback>
                <p:oleObj name="公式" r:id="rId1" imgW="6762750" imgH="8470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85800"/>
                        <a:ext cx="68453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3" name="Object 7"/>
          <p:cNvGraphicFramePr>
            <a:graphicFrameLocks noChangeAspect="1"/>
          </p:cNvGraphicFramePr>
          <p:nvPr/>
        </p:nvGraphicFramePr>
        <p:xfrm>
          <a:off x="2641600" y="1425575"/>
          <a:ext cx="30861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5" name="公式" r:id="rId3" imgW="3000375" imgH="1337945" progId="Equation.3">
                  <p:embed/>
                </p:oleObj>
              </mc:Choice>
              <mc:Fallback>
                <p:oleObj name="公式" r:id="rId3" imgW="3000375" imgH="133794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1425575"/>
                        <a:ext cx="30861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4" name="Object 8"/>
          <p:cNvGraphicFramePr>
            <a:graphicFrameLocks noChangeAspect="1"/>
          </p:cNvGraphicFramePr>
          <p:nvPr/>
        </p:nvGraphicFramePr>
        <p:xfrm>
          <a:off x="641350" y="2976563"/>
          <a:ext cx="78994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6" name="公式" r:id="rId5" imgW="7810500" imgH="923925" progId="Equation.3">
                  <p:embed/>
                </p:oleObj>
              </mc:Choice>
              <mc:Fallback>
                <p:oleObj name="公式" r:id="rId5" imgW="7810500" imgH="92392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2976563"/>
                        <a:ext cx="78994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5" name="Object 9"/>
          <p:cNvGraphicFramePr>
            <a:graphicFrameLocks noChangeAspect="1"/>
          </p:cNvGraphicFramePr>
          <p:nvPr/>
        </p:nvGraphicFramePr>
        <p:xfrm>
          <a:off x="1270000" y="5006975"/>
          <a:ext cx="591978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7" name="公式" r:id="rId7" imgW="5829300" imgH="953135" progId="Equation.3">
                  <p:embed/>
                </p:oleObj>
              </mc:Choice>
              <mc:Fallback>
                <p:oleObj name="公式" r:id="rId7" imgW="5829300" imgH="9531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5006975"/>
                        <a:ext cx="5919788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6" name="Object 10"/>
          <p:cNvGraphicFramePr>
            <a:graphicFrameLocks noChangeAspect="1"/>
          </p:cNvGraphicFramePr>
          <p:nvPr/>
        </p:nvGraphicFramePr>
        <p:xfrm>
          <a:off x="806450" y="4460875"/>
          <a:ext cx="307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8" name="公式" r:id="rId9" imgW="2990850" imgH="346710" progId="Equation.3">
                  <p:embed/>
                </p:oleObj>
              </mc:Choice>
              <mc:Fallback>
                <p:oleObj name="公式" r:id="rId9" imgW="2990850" imgH="3467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4460875"/>
                        <a:ext cx="3073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1164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362585"/>
            <a:ext cx="87604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74031" y="2697910"/>
          <a:ext cx="427513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09" name="Equation" r:id="rId1" imgW="51511200" imgH="15849600" progId="Equation.DSMT4">
                  <p:embed/>
                </p:oleObj>
              </mc:Choice>
              <mc:Fallback>
                <p:oleObj name="Equation" r:id="rId1" imgW="51511200" imgH="1584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1" y="2697910"/>
                        <a:ext cx="4275138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67543" y="2361569"/>
            <a:ext cx="5761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</a:rPr>
              <a:t>4.1.15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4398900" y="3115001"/>
            <a:ext cx="11418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，求</a:t>
            </a:r>
            <a:endParaRPr lang="en-US" altLang="zh-CN" sz="2800" dirty="0"/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5181600" y="3165475"/>
          <a:ext cx="11874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10" name="Equation" r:id="rId3" imgW="14325600" imgH="4876800" progId="Equation.DSMT4">
                  <p:embed/>
                </p:oleObj>
              </mc:Choice>
              <mc:Fallback>
                <p:oleObj name="Equation" r:id="rId3" imgW="143256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65475"/>
                        <a:ext cx="11874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874028" y="4439097"/>
          <a:ext cx="5534026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11" name="Equation" r:id="rId5" imgW="66751200" imgH="9448800" progId="Equation.DSMT4">
                  <p:embed/>
                </p:oleObj>
              </mc:Choice>
              <mc:Fallback>
                <p:oleObj name="Equation" r:id="rId5" imgW="66751200" imgH="9448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028" y="4439097"/>
                        <a:ext cx="5534026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-286604" y="877043"/>
          <a:ext cx="60975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9" name="Equation" r:id="rId1" imgW="73456800" imgH="10668000" progId="Equation.DSMT4">
                  <p:embed/>
                </p:oleObj>
              </mc:Choice>
              <mc:Fallback>
                <p:oleObj name="Equation" r:id="rId1" imgW="73456800" imgH="1066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86604" y="877043"/>
                        <a:ext cx="60975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51846" y="496222"/>
            <a:ext cx="5761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</a:rPr>
              <a:t>4.1.16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5940961" y="1187850"/>
            <a:ext cx="11418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求</a:t>
            </a:r>
            <a:endParaRPr lang="en-US" altLang="zh-CN" sz="2800" dirty="0"/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6511880" y="1148986"/>
          <a:ext cx="17192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0" name="Equation" r:id="rId3" imgW="20726400" imgH="6400800" progId="Equation.DSMT4">
                  <p:embed/>
                </p:oleObj>
              </mc:Choice>
              <mc:Fallback>
                <p:oleObj name="Equation" r:id="rId3" imgW="20726400" imgH="6400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880" y="1148986"/>
                        <a:ext cx="171926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805506" y="1803524"/>
          <a:ext cx="6265862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1" name="Equation" r:id="rId5" imgW="75590400" imgH="21336000" progId="Equation.DSMT4">
                  <p:embed/>
                </p:oleObj>
              </mc:Choice>
              <mc:Fallback>
                <p:oleObj name="Equation" r:id="rId5" imgW="75590400" imgH="21336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506" y="1803524"/>
                        <a:ext cx="6265862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1233502" y="4011776"/>
          <a:ext cx="16954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2" name="Equation" r:id="rId7" imgW="20421600" imgH="5181600" progId="Equation.DSMT4">
                  <p:embed/>
                </p:oleObj>
              </mc:Choice>
              <mc:Fallback>
                <p:oleObj name="Equation" r:id="rId7" imgW="20421600" imgH="518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502" y="4011776"/>
                        <a:ext cx="16954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467543" y="3979202"/>
            <a:ext cx="18002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</a:rPr>
              <a:t>例</a:t>
            </a:r>
            <a:r>
              <a:rPr lang="en-US" altLang="zh-CN" sz="2800" dirty="0">
                <a:solidFill>
                  <a:schemeClr val="accent2"/>
                </a:solidFill>
              </a:rPr>
              <a:t>4.1.17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7133937" y="3950497"/>
            <a:ext cx="11418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求</a:t>
            </a:r>
            <a:endParaRPr lang="en-US" altLang="zh-CN" sz="2800" dirty="0"/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7668344" y="4041699"/>
          <a:ext cx="8572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3" name="Equation" r:id="rId9" imgW="10363200" imgH="4876800" progId="Equation.DSMT4">
                  <p:embed/>
                </p:oleObj>
              </mc:Choice>
              <mc:Fallback>
                <p:oleObj name="Equation" r:id="rId9" imgW="10363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4041699"/>
                        <a:ext cx="8572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899592" y="4858355"/>
          <a:ext cx="64928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4" name="Equation" r:id="rId11" imgW="78333600" imgH="11277600" progId="Equation.DSMT4">
                  <p:embed/>
                </p:oleObj>
              </mc:Choice>
              <mc:Fallback>
                <p:oleObj name="Equation" r:id="rId11" imgW="78333600" imgH="11277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858355"/>
                        <a:ext cx="64928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928952" y="3964051"/>
            <a:ext cx="63367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服从单位圆上的均匀分布，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13" grpId="0" bldLvl="0" animBg="1"/>
      <p:bldP spid="14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46113" y="228600"/>
            <a:ext cx="5680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四、数学期望的性质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501650" y="10699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</a:t>
            </a:r>
            <a:r>
              <a:rPr lang="en-US" altLang="zh-CN" sz="2800" b="1">
                <a:solidFill>
                  <a:schemeClr val="tx2"/>
                </a:solidFill>
              </a:rPr>
              <a:t>1. </a:t>
            </a:r>
            <a:r>
              <a:rPr lang="zh-CN" altLang="en-US" sz="2800" b="1">
                <a:solidFill>
                  <a:schemeClr val="tx2"/>
                </a:solidFill>
              </a:rPr>
              <a:t>设</a:t>
            </a:r>
            <a:r>
              <a:rPr lang="en-US" altLang="zh-CN" sz="2800" b="1" i="1">
                <a:solidFill>
                  <a:schemeClr val="tx2"/>
                </a:solidFill>
              </a:rPr>
              <a:t>C</a:t>
            </a:r>
            <a:r>
              <a:rPr lang="zh-CN" altLang="en-US" sz="2800" b="1">
                <a:solidFill>
                  <a:schemeClr val="tx2"/>
                </a:solidFill>
              </a:rPr>
              <a:t>是常数，则</a:t>
            </a:r>
            <a:r>
              <a:rPr lang="en-US" altLang="zh-CN" sz="2800" b="1">
                <a:solidFill>
                  <a:schemeClr val="tx2"/>
                </a:solidFill>
              </a:rPr>
              <a:t>E(</a:t>
            </a:r>
            <a:r>
              <a:rPr lang="en-US" altLang="zh-CN" sz="2800" b="1" i="1">
                <a:solidFill>
                  <a:schemeClr val="tx2"/>
                </a:solidFill>
              </a:rPr>
              <a:t>C</a:t>
            </a:r>
            <a:r>
              <a:rPr lang="en-US" altLang="zh-CN" sz="2800" b="1">
                <a:solidFill>
                  <a:schemeClr val="tx2"/>
                </a:solidFill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</a:rPr>
              <a:t>C</a:t>
            </a:r>
            <a:r>
              <a:rPr lang="en-US" altLang="zh-CN" sz="2800" b="1">
                <a:solidFill>
                  <a:schemeClr val="tx2"/>
                </a:solidFill>
              </a:rPr>
              <a:t>;</a:t>
            </a:r>
            <a:endParaRPr lang="en-US" altLang="zh-CN" sz="2800" b="1"/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341313" y="424656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</a:rPr>
              <a:t>    4. </a:t>
            </a:r>
            <a:r>
              <a:rPr lang="zh-CN" altLang="en-US" sz="2800" b="1" dirty="0">
                <a:solidFill>
                  <a:schemeClr val="tx2"/>
                </a:solidFill>
              </a:rPr>
              <a:t>设</a:t>
            </a:r>
            <a:r>
              <a:rPr lang="en-US" altLang="zh-CN" sz="2800" b="1" i="1" dirty="0">
                <a:solidFill>
                  <a:schemeClr val="tx2"/>
                </a:solidFill>
              </a:rPr>
              <a:t>X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i="1" dirty="0">
                <a:solidFill>
                  <a:schemeClr val="tx2"/>
                </a:solidFill>
              </a:rPr>
              <a:t>Y </a:t>
            </a:r>
            <a:r>
              <a:rPr lang="zh-CN" altLang="en-US" sz="2800" b="1" dirty="0">
                <a:solidFill>
                  <a:schemeClr val="tx2"/>
                </a:solidFill>
              </a:rPr>
              <a:t>相互独立，则 </a:t>
            </a:r>
            <a:r>
              <a:rPr lang="en-US" altLang="zh-CN" sz="2800" b="1" i="1" dirty="0">
                <a:solidFill>
                  <a:schemeClr val="tx2"/>
                </a:solidFill>
              </a:rPr>
              <a:t>E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</a:rPr>
              <a:t>XY</a:t>
            </a:r>
            <a:r>
              <a:rPr lang="en-US" altLang="zh-CN" sz="2800" b="1" dirty="0">
                <a:solidFill>
                  <a:schemeClr val="tx2"/>
                </a:solidFill>
              </a:rPr>
              <a:t>)=</a:t>
            </a:r>
            <a:r>
              <a:rPr lang="en-US" altLang="zh-CN" sz="2800" b="1" i="1" dirty="0">
                <a:solidFill>
                  <a:schemeClr val="tx2"/>
                </a:solidFill>
              </a:rPr>
              <a:t>E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en-US" altLang="zh-CN" sz="2800" b="1" i="1" dirty="0">
                <a:solidFill>
                  <a:schemeClr val="tx2"/>
                </a:solidFill>
              </a:rPr>
              <a:t>E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</a:rPr>
              <a:t>);</a:t>
            </a:r>
            <a:endParaRPr lang="en-US" altLang="zh-CN" sz="2800" dirty="0"/>
          </a:p>
        </p:txBody>
      </p:sp>
      <p:sp>
        <p:nvSpPr>
          <p:cNvPr id="282629" name="Rectangle 5"/>
          <p:cNvSpPr>
            <a:spLocks noChangeArrowheads="1"/>
          </p:cNvSpPr>
          <p:nvPr/>
        </p:nvSpPr>
        <p:spPr bwMode="auto">
          <a:xfrm>
            <a:off x="501650" y="17557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   </a:t>
            </a:r>
            <a:r>
              <a:rPr lang="en-US" altLang="zh-CN" sz="2800" b="1" dirty="0">
                <a:solidFill>
                  <a:schemeClr val="tx2"/>
                </a:solidFill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</a:rPr>
              <a:t>若</a:t>
            </a:r>
            <a:r>
              <a:rPr lang="en-US" altLang="zh-CN" sz="2800" b="1" i="1" dirty="0">
                <a:solidFill>
                  <a:schemeClr val="tx2"/>
                </a:solidFill>
              </a:rPr>
              <a:t>k</a:t>
            </a:r>
            <a:r>
              <a:rPr lang="zh-CN" altLang="en-US" sz="2800" b="1" dirty="0">
                <a:solidFill>
                  <a:schemeClr val="tx2"/>
                </a:solidFill>
              </a:rPr>
              <a:t>是常数，则</a:t>
            </a:r>
            <a:r>
              <a:rPr lang="en-US" altLang="zh-CN" sz="2800" b="1" i="1" dirty="0">
                <a:solidFill>
                  <a:schemeClr val="tx2"/>
                </a:solidFill>
              </a:rPr>
              <a:t>E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i="1" dirty="0" err="1">
                <a:solidFill>
                  <a:schemeClr val="tx2"/>
                </a:solidFill>
              </a:rPr>
              <a:t>kX</a:t>
            </a:r>
            <a:r>
              <a:rPr lang="en-US" altLang="zh-CN" sz="2800" b="1" dirty="0">
                <a:solidFill>
                  <a:schemeClr val="tx2"/>
                </a:solidFill>
              </a:rPr>
              <a:t>)=</a:t>
            </a:r>
            <a:r>
              <a:rPr lang="en-US" altLang="zh-CN" sz="2800" b="1" i="1" dirty="0" err="1">
                <a:solidFill>
                  <a:schemeClr val="tx2"/>
                </a:solidFill>
              </a:rPr>
              <a:t>kE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</a:rPr>
              <a:t>);</a:t>
            </a:r>
            <a:endParaRPr lang="en-US" altLang="zh-CN" sz="2800" b="1" dirty="0"/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501650" y="25177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</a:t>
            </a:r>
            <a:r>
              <a:rPr lang="en-US" altLang="zh-CN" sz="2800" b="1">
                <a:solidFill>
                  <a:schemeClr val="tx2"/>
                </a:solidFill>
              </a:rPr>
              <a:t>3. </a:t>
            </a:r>
            <a:r>
              <a:rPr lang="en-US" altLang="zh-CN" sz="2800" b="1" i="1">
                <a:solidFill>
                  <a:schemeClr val="tx2"/>
                </a:solidFill>
              </a:rPr>
              <a:t>E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+</a:t>
            </a:r>
            <a:r>
              <a:rPr lang="en-US" altLang="zh-CN" sz="2800" b="1" i="1">
                <a:solidFill>
                  <a:schemeClr val="tx2"/>
                </a:solidFill>
              </a:rPr>
              <a:t>Y</a:t>
            </a:r>
            <a:r>
              <a:rPr lang="en-US" altLang="zh-CN" sz="2800" b="1">
                <a:solidFill>
                  <a:schemeClr val="tx2"/>
                </a:solidFill>
              </a:rPr>
              <a:t>) =</a:t>
            </a:r>
            <a:r>
              <a:rPr lang="en-US" altLang="zh-CN" sz="2800" b="1" i="1">
                <a:solidFill>
                  <a:schemeClr val="tx2"/>
                </a:solidFill>
              </a:rPr>
              <a:t> E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)+</a:t>
            </a:r>
            <a:r>
              <a:rPr lang="en-US" altLang="zh-CN" sz="2800" b="1" i="1">
                <a:solidFill>
                  <a:schemeClr val="tx2"/>
                </a:solidFill>
              </a:rPr>
              <a:t>E</a:t>
            </a:r>
            <a:r>
              <a:rPr lang="en-US" altLang="zh-CN" sz="2800" b="1">
                <a:solidFill>
                  <a:schemeClr val="tx2"/>
                </a:solidFill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</a:rPr>
              <a:t>Y</a:t>
            </a:r>
            <a:r>
              <a:rPr lang="en-US" altLang="zh-CN" sz="2800" b="1">
                <a:solidFill>
                  <a:schemeClr val="tx2"/>
                </a:solidFill>
              </a:rPr>
              <a:t>);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282631" name="Object 7"/>
          <p:cNvGraphicFramePr>
            <a:graphicFrameLocks noChangeAspect="1"/>
          </p:cNvGraphicFramePr>
          <p:nvPr/>
        </p:nvGraphicFramePr>
        <p:xfrm>
          <a:off x="538163" y="3213100"/>
          <a:ext cx="532606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1" name="Equation" r:id="rId1" imgW="1933575" imgH="346710" progId="Equation.DSMT4">
                  <p:embed/>
                </p:oleObj>
              </mc:Choice>
              <mc:Fallback>
                <p:oleObj name="Equation" r:id="rId1" imgW="1933575" imgH="3467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3213100"/>
                        <a:ext cx="532606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2" name="Object 8"/>
          <p:cNvGraphicFramePr>
            <a:graphicFrameLocks noChangeAspect="1"/>
          </p:cNvGraphicFramePr>
          <p:nvPr/>
        </p:nvGraphicFramePr>
        <p:xfrm>
          <a:off x="790575" y="4778375"/>
          <a:ext cx="502443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2" name="公式" r:id="rId3" imgW="1819275" imgH="346710" progId="Equation.3">
                  <p:embed/>
                </p:oleObj>
              </mc:Choice>
              <mc:Fallback>
                <p:oleObj name="公式" r:id="rId3" imgW="1819275" imgH="3467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4778375"/>
                        <a:ext cx="502443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3" name="Rectangle 9"/>
          <p:cNvSpPr>
            <a:spLocks noChangeArrowheads="1"/>
          </p:cNvSpPr>
          <p:nvPr/>
        </p:nvSpPr>
        <p:spPr bwMode="auto">
          <a:xfrm>
            <a:off x="5614988" y="5038725"/>
            <a:ext cx="334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tx2"/>
                </a:solidFill>
              </a:rPr>
              <a:t>（诸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tx2"/>
                </a:solidFill>
              </a:rPr>
              <a:t>i</a:t>
            </a:r>
            <a:r>
              <a:rPr lang="zh-CN" altLang="en-US" sz="2800" b="1">
                <a:solidFill>
                  <a:schemeClr val="tx2"/>
                </a:solidFill>
              </a:rPr>
              <a:t>相互独立时）</a:t>
            </a:r>
            <a:endParaRPr lang="zh-CN" altLang="en-US" sz="2800" b="1" baseline="-25000">
              <a:solidFill>
                <a:schemeClr val="tx2"/>
              </a:solidFill>
            </a:endParaRPr>
          </a:p>
        </p:txBody>
      </p:sp>
      <p:sp>
        <p:nvSpPr>
          <p:cNvPr id="282634" name="AutoShape 10"/>
          <p:cNvSpPr>
            <a:spLocks noChangeArrowheads="1"/>
          </p:cNvSpPr>
          <p:nvPr/>
        </p:nvSpPr>
        <p:spPr bwMode="auto">
          <a:xfrm>
            <a:off x="5867400" y="1524000"/>
            <a:ext cx="3124200" cy="2024063"/>
          </a:xfrm>
          <a:prstGeom prst="wedgeRectCallout">
            <a:avLst>
              <a:gd name="adj1" fmla="val -42634"/>
              <a:gd name="adj2" fmla="val 89606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请注意</a:t>
            </a:r>
            <a:r>
              <a:rPr lang="en-US" altLang="zh-CN" sz="2800" b="1"/>
              <a:t>:</a:t>
            </a:r>
            <a:endParaRPr lang="en-US" altLang="zh-CN" sz="2800" b="1"/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由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XY</a:t>
            </a:r>
            <a:r>
              <a:rPr lang="en-US" altLang="zh-CN" sz="2800" b="1"/>
              <a:t>)=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endParaRPr lang="en-US" altLang="zh-CN" sz="2800" b="1"/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不一定能推出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 </a:t>
            </a:r>
            <a:endParaRPr lang="en-US" altLang="zh-CN" sz="2800" b="1" i="1"/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独立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282628" grpId="0" autoUpdateAnimBg="0"/>
      <p:bldP spid="282629" grpId="0" autoUpdateAnimBg="0"/>
      <p:bldP spid="282630" grpId="0" autoUpdateAnimBg="0"/>
      <p:bldP spid="282633" grpId="0" autoUpdateAnimBg="0"/>
      <p:bldP spid="282634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457200" y="609600"/>
          <a:ext cx="7137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7" name="公式" r:id="rId1" imgW="7048500" imgH="365760" progId="Equation.3">
                  <p:embed/>
                </p:oleObj>
              </mc:Choice>
              <mc:Fallback>
                <p:oleObj name="公式" r:id="rId1" imgW="7048500" imgH="3657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09600"/>
                        <a:ext cx="7137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1" name="Object 3"/>
          <p:cNvGraphicFramePr>
            <a:graphicFrameLocks noChangeAspect="1"/>
          </p:cNvGraphicFramePr>
          <p:nvPr/>
        </p:nvGraphicFramePr>
        <p:xfrm>
          <a:off x="522288" y="1535113"/>
          <a:ext cx="821531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8" name="公式" r:id="rId3" imgW="8648700" imgH="914400" progId="Equation.3">
                  <p:embed/>
                </p:oleObj>
              </mc:Choice>
              <mc:Fallback>
                <p:oleObj name="公式" r:id="rId3" imgW="86487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1535113"/>
                        <a:ext cx="821531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2" name="Object 4"/>
          <p:cNvGraphicFramePr>
            <a:graphicFrameLocks noChangeAspect="1"/>
          </p:cNvGraphicFramePr>
          <p:nvPr/>
        </p:nvGraphicFramePr>
        <p:xfrm>
          <a:off x="1422400" y="2698750"/>
          <a:ext cx="64516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9" name="公式" r:id="rId5" imgW="6362700" imgH="2675890" progId="Equation.3">
                  <p:embed/>
                </p:oleObj>
              </mc:Choice>
              <mc:Fallback>
                <p:oleObj name="公式" r:id="rId5" imgW="6362700" imgH="26758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2698750"/>
                        <a:ext cx="6451600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971550" y="1447800"/>
          <a:ext cx="288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0" name="公式" r:id="rId1" imgW="2800350" imgH="327025" progId="Equation.3">
                  <p:embed/>
                </p:oleObj>
              </mc:Choice>
              <mc:Fallback>
                <p:oleObj name="公式" r:id="rId1" imgW="2800350" imgH="32702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47800"/>
                        <a:ext cx="2882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5" name="Object 3"/>
          <p:cNvGraphicFramePr>
            <a:graphicFrameLocks noChangeAspect="1"/>
          </p:cNvGraphicFramePr>
          <p:nvPr/>
        </p:nvGraphicFramePr>
        <p:xfrm>
          <a:off x="1258888" y="2276475"/>
          <a:ext cx="7129462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1" name="Equation" r:id="rId3" imgW="3171825" imgH="914400" progId="Equation.DSMT4">
                  <p:embed/>
                </p:oleObj>
              </mc:Choice>
              <mc:Fallback>
                <p:oleObj name="Equation" r:id="rId3" imgW="3171825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76475"/>
                        <a:ext cx="7129462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919163" y="248761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6.</a:t>
            </a:r>
            <a:r>
              <a:rPr lang="zh-CN" altLang="en-US" sz="2800"/>
              <a:t>马尔可夫不等式：</a:t>
            </a:r>
            <a:endParaRPr lang="zh-CN" altLang="en-US" sz="2800"/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703263" y="97472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5.</a:t>
            </a:r>
            <a:r>
              <a:rPr lang="zh-CN" altLang="en-US" sz="2800" b="1"/>
              <a:t>若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282631" name="Object 7"/>
          <p:cNvGraphicFramePr>
            <a:graphicFrameLocks noChangeAspect="1"/>
          </p:cNvGraphicFramePr>
          <p:nvPr/>
        </p:nvGraphicFramePr>
        <p:xfrm>
          <a:off x="1806575" y="1046163"/>
          <a:ext cx="38512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2" name="Equation" r:id="rId1" imgW="1371600" imgH="134620" progId="Equation.DSMT4">
                  <p:embed/>
                </p:oleObj>
              </mc:Choice>
              <mc:Fallback>
                <p:oleObj name="Equation" r:id="rId1" imgW="1371600" imgH="1346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1046163"/>
                        <a:ext cx="38512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2792413" y="3567113"/>
          <a:ext cx="3449637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3" name="Equation" r:id="rId3" imgW="1219200" imgH="307975" progId="Equation.DSMT4">
                  <p:embed/>
                </p:oleObj>
              </mc:Choice>
              <mc:Fallback>
                <p:oleObj name="Equation" r:id="rId3" imgW="1219200" imgH="30797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567113"/>
                        <a:ext cx="3449637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2916238" y="1773238"/>
          <a:ext cx="28146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4" name="Equation" r:id="rId5" imgW="981075" imgH="115570" progId="Equation.DSMT4">
                  <p:embed/>
                </p:oleObj>
              </mc:Choice>
              <mc:Fallback>
                <p:oleObj name="Equation" r:id="rId5" imgW="981075" imgH="11557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773238"/>
                        <a:ext cx="28146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279525" y="16795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</a:rPr>
              <a:t>特别地</a:t>
            </a:r>
            <a:endParaRPr lang="zh-CN" altLang="en-US" sz="2800" b="1">
              <a:solidFill>
                <a:schemeClr val="tx2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27113" y="4503738"/>
            <a:ext cx="81534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7.</a:t>
            </a:r>
            <a:r>
              <a:rPr lang="zh-CN" altLang="en-US" sz="2800"/>
              <a:t>若</a:t>
            </a:r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071688" y="4575175"/>
          <a:ext cx="18748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5" name="Equation" r:id="rId7" imgW="628650" imgH="115570" progId="Equation.DSMT4">
                  <p:embed/>
                </p:oleObj>
              </mc:Choice>
              <mc:Fallback>
                <p:oleObj name="Equation" r:id="rId7" imgW="628650" imgH="11557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575175"/>
                        <a:ext cx="18748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159250" y="4575175"/>
          <a:ext cx="25114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6" name="Equation" r:id="rId9" imgW="866775" imgH="134620" progId="Equation.DSMT4">
                  <p:embed/>
                </p:oleObj>
              </mc:Choice>
              <mc:Fallback>
                <p:oleObj name="Equation" r:id="rId9" imgW="866775" imgH="1346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4575175"/>
                        <a:ext cx="25114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7" name="Rectangle 19"/>
          <p:cNvSpPr>
            <a:spLocks noChangeArrowheads="1"/>
          </p:cNvSpPr>
          <p:nvPr/>
        </p:nvSpPr>
        <p:spPr bwMode="auto">
          <a:xfrm>
            <a:off x="1063625" y="299085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对任意</a:t>
            </a:r>
            <a:r>
              <a:rPr lang="en-US" altLang="zh-CN" sz="2800"/>
              <a:t>c&gt;0</a:t>
            </a:r>
            <a:r>
              <a:rPr lang="zh-CN" altLang="en-US" sz="2800"/>
              <a:t>，有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8" grpId="0" autoUpdateAnimBg="0"/>
      <p:bldP spid="282630" grpId="0" autoUpdateAnimBg="0"/>
      <p:bldP spid="4" grpId="0" autoUpdateAnimBg="0"/>
      <p:bldP spid="5" grpId="0" autoUpdateAnimBg="0"/>
      <p:bldP spid="114707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11164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" y="600075"/>
            <a:ext cx="847344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755650" y="981075"/>
          <a:ext cx="6264275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8" name="Equation" r:id="rId1" imgW="2800350" imgH="577215" progId="Equation.DSMT4">
                  <p:embed/>
                </p:oleObj>
              </mc:Choice>
              <mc:Fallback>
                <p:oleObj name="Equation" r:id="rId1" imgW="2800350" imgH="57721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981075"/>
                        <a:ext cx="6264275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5" name="Object 3"/>
          <p:cNvGraphicFramePr>
            <a:graphicFrameLocks noChangeAspect="1"/>
          </p:cNvGraphicFramePr>
          <p:nvPr/>
        </p:nvGraphicFramePr>
        <p:xfrm>
          <a:off x="827088" y="2997200"/>
          <a:ext cx="7683500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9" name="Equation" r:id="rId3" imgW="3886200" imgH="606425" progId="Equation.DSMT4">
                  <p:embed/>
                </p:oleObj>
              </mc:Choice>
              <mc:Fallback>
                <p:oleObj name="Equation" r:id="rId3" imgW="3886200" imgH="60642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7683500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60388" y="1050925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ea typeface="黑体" panose="02010609060101010101" pitchFamily="49" charset="-122"/>
              </a:rPr>
              <a:t>五、数学期望性质的应用</a:t>
            </a:r>
            <a:endParaRPr lang="zh-CN" altLang="en-US" sz="32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539750" y="2101850"/>
            <a:ext cx="4379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8</a:t>
            </a:r>
            <a:r>
              <a:rPr lang="en-US" altLang="zh-CN" sz="2800" b="1"/>
              <a:t> </a:t>
            </a:r>
            <a:r>
              <a:rPr lang="zh-CN" altLang="en-US" sz="2800" b="1"/>
              <a:t>求二项分布的数学期望</a:t>
            </a:r>
            <a:endParaRPr lang="zh-CN" altLang="en-US" sz="2800" b="1"/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1198563" y="2997200"/>
            <a:ext cx="2436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若  </a:t>
            </a:r>
            <a:r>
              <a:rPr lang="en-US" altLang="zh-CN" sz="2800" b="1" i="1"/>
              <a:t>X</a:t>
            </a:r>
            <a:r>
              <a:rPr lang="en-US" altLang="zh-CN" sz="2800" b="1"/>
              <a:t>~</a:t>
            </a:r>
            <a:r>
              <a:rPr lang="en-US" altLang="zh-CN" sz="2800" b="1" i="1"/>
              <a:t>B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,</a:t>
            </a:r>
            <a:r>
              <a:rPr lang="en-US" altLang="zh-CN" sz="2800" b="1" i="1"/>
              <a:t>p</a:t>
            </a:r>
            <a:r>
              <a:rPr lang="en-US" altLang="zh-CN" sz="2800" b="1"/>
              <a:t>)</a:t>
            </a:r>
            <a:r>
              <a:rPr lang="zh-CN" altLang="en-US" sz="2800" b="1"/>
              <a:t>，</a:t>
            </a:r>
            <a:endParaRPr lang="zh-CN" altLang="en-US" sz="2800" b="1"/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582613" y="3860800"/>
            <a:ext cx="6510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则</a:t>
            </a:r>
            <a:r>
              <a:rPr lang="en-US" altLang="zh-CN" sz="2800" b="1" i="1"/>
              <a:t>X</a:t>
            </a:r>
            <a:r>
              <a:rPr lang="zh-CN" altLang="en-US" sz="2800" b="1"/>
              <a:t>表示</a:t>
            </a:r>
            <a:r>
              <a:rPr lang="en-US" altLang="zh-CN" sz="2800" b="1" i="1"/>
              <a:t>n</a:t>
            </a:r>
            <a:r>
              <a:rPr lang="zh-CN" altLang="en-US" sz="2800" b="1"/>
              <a:t>重贝努里试验中的“成功” 次数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85702" name="Rectangle 6"/>
          <p:cNvSpPr>
            <a:spLocks noChangeArrowheads="1"/>
          </p:cNvSpPr>
          <p:nvPr/>
        </p:nvSpPr>
        <p:spPr bwMode="auto">
          <a:xfrm>
            <a:off x="539750" y="4797425"/>
            <a:ext cx="4527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现在我们来求</a:t>
            </a:r>
            <a:r>
              <a:rPr lang="en-US" altLang="zh-CN" sz="2800" b="1" i="1"/>
              <a:t>X</a:t>
            </a:r>
            <a:r>
              <a:rPr lang="zh-CN" altLang="en-US" sz="2800" b="1"/>
              <a:t>的数学期望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autoUpdateAnimBg="0"/>
      <p:bldP spid="285700" grpId="0" autoUpdateAnimBg="0"/>
      <p:bldP spid="285701" grpId="0" autoUpdateAnimBg="0"/>
      <p:bldP spid="28570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674688" y="5237163"/>
            <a:ext cx="8218487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/>
              <a:t>      </a:t>
            </a:r>
            <a:r>
              <a:rPr lang="zh-CN" altLang="en-US" sz="2800" b="1"/>
              <a:t>可见，服从参数为</a:t>
            </a:r>
            <a:r>
              <a:rPr lang="en-US" altLang="zh-CN" sz="2800" b="1" i="1"/>
              <a:t>n</a:t>
            </a:r>
            <a:r>
              <a:rPr lang="zh-CN" altLang="en-US" sz="2800" b="1"/>
              <a:t>和</a:t>
            </a:r>
            <a:r>
              <a:rPr lang="en-US" altLang="zh-CN" sz="2800" b="1" i="1"/>
              <a:t>p</a:t>
            </a:r>
            <a:r>
              <a:rPr lang="zh-CN" altLang="en-US" sz="2800" b="1"/>
              <a:t>的二项分布的随机变量</a:t>
            </a:r>
            <a:r>
              <a:rPr lang="en-US" altLang="zh-CN" sz="2800" b="1" i="1"/>
              <a:t>X</a:t>
            </a:r>
            <a:r>
              <a:rPr lang="zh-CN" altLang="en-US" sz="2800" b="1"/>
              <a:t>的数学期望是 </a:t>
            </a:r>
            <a:r>
              <a:rPr lang="en-US" altLang="zh-CN" sz="2800" b="1" i="1"/>
              <a:t>n p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57200" y="549275"/>
            <a:ext cx="2144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  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~</a:t>
            </a:r>
            <a:r>
              <a:rPr lang="en-US" altLang="zh-CN" sz="3200" b="1" i="1">
                <a:solidFill>
                  <a:schemeClr val="accent2"/>
                </a:solidFill>
              </a:rPr>
              <a:t>B</a:t>
            </a:r>
            <a:r>
              <a:rPr lang="en-US" altLang="zh-CN" sz="3200" b="1">
                <a:solidFill>
                  <a:schemeClr val="accent2"/>
                </a:solidFill>
              </a:rPr>
              <a:t>(</a:t>
            </a:r>
            <a:r>
              <a:rPr lang="en-US" altLang="zh-CN" sz="3200" b="1" i="1">
                <a:solidFill>
                  <a:schemeClr val="accent2"/>
                </a:solidFill>
              </a:rPr>
              <a:t>n</a:t>
            </a:r>
            <a:r>
              <a:rPr lang="en-US" altLang="zh-CN" sz="3200" b="1">
                <a:solidFill>
                  <a:schemeClr val="accent2"/>
                </a:solidFill>
              </a:rPr>
              <a:t>,</a:t>
            </a:r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), 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286724" name="Rectangle 4"/>
          <p:cNvSpPr>
            <a:spLocks noChangeArrowheads="1"/>
          </p:cNvSpPr>
          <p:nvPr/>
        </p:nvSpPr>
        <p:spPr bwMode="auto">
          <a:xfrm>
            <a:off x="674688" y="1497013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若设</a:t>
            </a:r>
            <a:endParaRPr lang="zh-CN" altLang="en-US" sz="2800" b="1"/>
          </a:p>
        </p:txBody>
      </p:sp>
      <p:sp>
        <p:nvSpPr>
          <p:cNvPr id="286725" name="Rectangle 5"/>
          <p:cNvSpPr>
            <a:spLocks noChangeArrowheads="1"/>
          </p:cNvSpPr>
          <p:nvPr/>
        </p:nvSpPr>
        <p:spPr bwMode="auto">
          <a:xfrm>
            <a:off x="674688" y="2476500"/>
            <a:ext cx="3567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则     </a:t>
            </a:r>
            <a:r>
              <a:rPr lang="en-US" altLang="zh-CN" sz="2800" b="1" i="1"/>
              <a:t>X</a:t>
            </a:r>
            <a:r>
              <a:rPr lang="en-US" altLang="zh-CN" sz="2800" b="1"/>
              <a:t>=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+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+…+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endParaRPr lang="en-US" altLang="zh-CN" sz="2800" b="1" baseline="-25000"/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4148138" y="4562475"/>
            <a:ext cx="946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</a:t>
            </a:r>
            <a:r>
              <a:rPr lang="en-US" altLang="zh-CN" sz="3200" b="1" i="1"/>
              <a:t> np</a:t>
            </a:r>
            <a:endParaRPr lang="en-US" altLang="zh-CN" sz="3200" b="1"/>
          </a:p>
        </p:txBody>
      </p:sp>
      <p:graphicFrame>
        <p:nvGraphicFramePr>
          <p:cNvPr id="286727" name="Object 7"/>
          <p:cNvGraphicFramePr>
            <a:graphicFrameLocks noChangeAspect="1"/>
          </p:cNvGraphicFramePr>
          <p:nvPr/>
        </p:nvGraphicFramePr>
        <p:xfrm>
          <a:off x="1825625" y="1238250"/>
          <a:ext cx="429736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1" name="公式" r:id="rId1" imgW="1704975" imgH="404495" progId="Equation.3">
                  <p:embed/>
                </p:oleObj>
              </mc:Choice>
              <mc:Fallback>
                <p:oleObj name="公式" r:id="rId1" imgW="1704975" imgH="4044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1238250"/>
                        <a:ext cx="429736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8" name="Rectangle 8"/>
          <p:cNvSpPr>
            <a:spLocks noChangeArrowheads="1"/>
          </p:cNvSpPr>
          <p:nvPr/>
        </p:nvSpPr>
        <p:spPr bwMode="auto">
          <a:xfrm>
            <a:off x="6361113" y="1390650"/>
            <a:ext cx="2484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i</a:t>
            </a:r>
            <a:r>
              <a:rPr lang="en-US" altLang="zh-CN" sz="3200" b="1"/>
              <a:t>=1,2</a:t>
            </a:r>
            <a:r>
              <a:rPr lang="zh-CN" altLang="en-US" sz="3200" b="1"/>
              <a:t>，</a:t>
            </a:r>
            <a:r>
              <a:rPr lang="en-US" altLang="zh-CN" sz="3200" b="1"/>
              <a:t>…</a:t>
            </a:r>
            <a:r>
              <a:rPr lang="zh-CN" altLang="en-US" sz="3200" b="1"/>
              <a:t>，</a:t>
            </a:r>
            <a:r>
              <a:rPr lang="en-US" altLang="zh-CN" sz="3200" b="1" i="1"/>
              <a:t>n</a:t>
            </a:r>
            <a:endParaRPr lang="en-US" altLang="zh-CN" sz="3200" b="1"/>
          </a:p>
        </p:txBody>
      </p:sp>
      <p:sp>
        <p:nvSpPr>
          <p:cNvPr id="286729" name="Rectangle 9"/>
          <p:cNvSpPr>
            <a:spLocks noChangeArrowheads="1"/>
          </p:cNvSpPr>
          <p:nvPr/>
        </p:nvSpPr>
        <p:spPr bwMode="auto">
          <a:xfrm>
            <a:off x="674688" y="3116263"/>
            <a:ext cx="2867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因为 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 =1)= </a:t>
            </a:r>
            <a:r>
              <a:rPr lang="en-US" altLang="zh-CN" sz="2800" b="1" i="1"/>
              <a:t>p</a:t>
            </a:r>
            <a:r>
              <a:rPr lang="en-US" altLang="zh-CN" sz="2800" b="1"/>
              <a:t>,</a:t>
            </a:r>
            <a:endParaRPr lang="en-US" altLang="zh-CN" sz="2800" b="1"/>
          </a:p>
        </p:txBody>
      </p:sp>
      <p:sp>
        <p:nvSpPr>
          <p:cNvPr id="286730" name="Rectangle 10"/>
          <p:cNvSpPr>
            <a:spLocks noChangeArrowheads="1"/>
          </p:cNvSpPr>
          <p:nvPr/>
        </p:nvSpPr>
        <p:spPr bwMode="auto">
          <a:xfrm>
            <a:off x="4081463" y="3086100"/>
            <a:ext cx="24590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P</a:t>
            </a:r>
            <a:r>
              <a:rPr lang="en-US" altLang="zh-CN" sz="3200" b="1"/>
              <a:t>(</a:t>
            </a:r>
            <a:r>
              <a:rPr lang="en-US" altLang="zh-CN" sz="3200" b="1" i="1"/>
              <a:t>X</a:t>
            </a:r>
            <a:r>
              <a:rPr lang="en-US" altLang="zh-CN" sz="3200" b="1" i="1" baseline="-25000"/>
              <a:t>i</a:t>
            </a:r>
            <a:r>
              <a:rPr lang="en-US" altLang="zh-CN" sz="3200" b="1"/>
              <a:t> =0)= 1-</a:t>
            </a:r>
            <a:r>
              <a:rPr lang="en-US" altLang="zh-CN" sz="3200" b="1" i="1"/>
              <a:t>p</a:t>
            </a:r>
            <a:endParaRPr lang="en-US" altLang="zh-CN" sz="3200" b="1"/>
          </a:p>
        </p:txBody>
      </p:sp>
      <p:grpSp>
        <p:nvGrpSpPr>
          <p:cNvPr id="2" name="Group 11"/>
          <p:cNvGrpSpPr/>
          <p:nvPr/>
        </p:nvGrpSpPr>
        <p:grpSpPr bwMode="auto">
          <a:xfrm>
            <a:off x="674688" y="4410075"/>
            <a:ext cx="3525837" cy="968375"/>
            <a:chOff x="667" y="2462"/>
            <a:chExt cx="2221" cy="610"/>
          </a:xfrm>
        </p:grpSpPr>
        <p:graphicFrame>
          <p:nvGraphicFramePr>
            <p:cNvPr id="33809" name="Object 12"/>
            <p:cNvGraphicFramePr>
              <a:graphicFrameLocks noChangeAspect="1"/>
            </p:cNvGraphicFramePr>
            <p:nvPr/>
          </p:nvGraphicFramePr>
          <p:xfrm>
            <a:off x="2008" y="2462"/>
            <a:ext cx="880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32" name="公式" r:id="rId3" imgW="533400" imgH="346710" progId="Equation.3">
                    <p:embed/>
                  </p:oleObj>
                </mc:Choice>
                <mc:Fallback>
                  <p:oleObj name="公式" r:id="rId3" imgW="533400" imgH="34671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2462"/>
                          <a:ext cx="880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0" name="Rectangle 13"/>
            <p:cNvSpPr>
              <a:spLocks noChangeArrowheads="1"/>
            </p:cNvSpPr>
            <p:nvPr/>
          </p:nvSpPr>
          <p:spPr bwMode="auto">
            <a:xfrm>
              <a:off x="667" y="2596"/>
              <a:ext cx="13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所以   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)=</a:t>
              </a:r>
              <a:endParaRPr lang="en-US" altLang="zh-CN" sz="2800" b="1"/>
            </a:p>
          </p:txBody>
        </p:sp>
      </p:grp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2438400" y="609600"/>
            <a:ext cx="6510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则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表示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zh-CN" altLang="en-US" sz="2800" b="1">
                <a:solidFill>
                  <a:schemeClr val="accent2"/>
                </a:solidFill>
              </a:rPr>
              <a:t>重贝努里试验中的“成功” 次数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963738" y="3825875"/>
            <a:ext cx="4470400" cy="584200"/>
            <a:chOff x="921" y="2145"/>
            <a:chExt cx="2816" cy="368"/>
          </a:xfrm>
        </p:grpSpPr>
        <p:sp>
          <p:nvSpPr>
            <p:cNvPr id="33806" name="Rectangle 16"/>
            <p:cNvSpPr>
              <a:spLocks noChangeArrowheads="1"/>
            </p:cNvSpPr>
            <p:nvPr/>
          </p:nvSpPr>
          <p:spPr bwMode="auto">
            <a:xfrm>
              <a:off x="921" y="2145"/>
              <a:ext cx="8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 i="1"/>
                <a:t>E</a:t>
              </a:r>
              <a:r>
                <a:rPr lang="en-US" altLang="zh-CN" sz="3200" b="1"/>
                <a:t>(</a:t>
              </a:r>
              <a:r>
                <a:rPr lang="en-US" altLang="zh-CN" sz="3200" b="1" i="1"/>
                <a:t>X</a:t>
              </a:r>
              <a:r>
                <a:rPr lang="en-US" altLang="zh-CN" sz="3200" b="1" i="1" baseline="-25000"/>
                <a:t>i</a:t>
              </a:r>
              <a:r>
                <a:rPr lang="en-US" altLang="zh-CN" sz="3200" b="1"/>
                <a:t>)= </a:t>
              </a:r>
              <a:endParaRPr lang="en-US" altLang="zh-CN" sz="3200" b="1"/>
            </a:p>
          </p:txBody>
        </p:sp>
        <p:graphicFrame>
          <p:nvGraphicFramePr>
            <p:cNvPr id="33807" name="Object 17"/>
            <p:cNvGraphicFramePr>
              <a:graphicFrameLocks noChangeAspect="1"/>
            </p:cNvGraphicFramePr>
            <p:nvPr/>
          </p:nvGraphicFramePr>
          <p:xfrm>
            <a:off x="1719" y="2174"/>
            <a:ext cx="1624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33" name="公式" r:id="rId5" imgW="876300" imgH="115570" progId="Equation.3">
                    <p:embed/>
                  </p:oleObj>
                </mc:Choice>
                <mc:Fallback>
                  <p:oleObj name="公式" r:id="rId5" imgW="876300" imgH="11557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" y="2174"/>
                          <a:ext cx="1624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Rectangle 18"/>
            <p:cNvSpPr>
              <a:spLocks noChangeArrowheads="1"/>
            </p:cNvSpPr>
            <p:nvPr/>
          </p:nvSpPr>
          <p:spPr bwMode="auto">
            <a:xfrm>
              <a:off x="3283" y="2145"/>
              <a:ext cx="45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/>
                <a:t>= </a:t>
              </a:r>
              <a:r>
                <a:rPr lang="en-US" altLang="zh-CN" sz="3200" b="1" i="1"/>
                <a:t>p</a:t>
              </a:r>
              <a:endParaRPr lang="en-US" altLang="zh-CN" sz="32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utoUpdateAnimBg="0"/>
      <p:bldP spid="286724" grpId="0" autoUpdateAnimBg="0"/>
      <p:bldP spid="286725" grpId="0" autoUpdateAnimBg="0"/>
      <p:bldP spid="286726" grpId="0" autoUpdateAnimBg="0"/>
      <p:bldP spid="286728" grpId="0" autoUpdateAnimBg="0"/>
      <p:bldP spid="286729" grpId="0" autoUpdateAnimBg="0"/>
      <p:bldP spid="2867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Text Box 2"/>
          <p:cNvSpPr txBox="1">
            <a:spLocks noChangeArrowheads="1"/>
          </p:cNvSpPr>
          <p:nvPr/>
        </p:nvSpPr>
        <p:spPr bwMode="auto">
          <a:xfrm>
            <a:off x="520700" y="1319213"/>
            <a:ext cx="8285163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本题是将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分解成数个随机变量之和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然后利用随</a:t>
            </a:r>
            <a:endParaRPr lang="zh-CN" altLang="en-US" sz="28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7747" name="Text Box 3"/>
          <p:cNvSpPr txBox="1">
            <a:spLocks noChangeArrowheads="1"/>
          </p:cNvSpPr>
          <p:nvPr/>
        </p:nvSpPr>
        <p:spPr bwMode="auto">
          <a:xfrm>
            <a:off x="381000" y="1905000"/>
            <a:ext cx="85693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机变量和的数学期望等于随机变量数学期望的和来求</a:t>
            </a:r>
            <a:endParaRPr lang="zh-CN" altLang="en-US" sz="28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7748" name="Text Box 4"/>
          <p:cNvSpPr txBox="1">
            <a:spLocks noChangeArrowheads="1"/>
          </p:cNvSpPr>
          <p:nvPr/>
        </p:nvSpPr>
        <p:spPr bwMode="auto">
          <a:xfrm>
            <a:off x="611188" y="2420938"/>
            <a:ext cx="5732462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数学期望的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此方法具有一定的意义</a:t>
            </a:r>
            <a:r>
              <a:rPr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en-US" altLang="zh-CN" sz="32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6" grpId="0" bldLvl="0" animBg="1" autoUpdateAnimBg="0"/>
      <p:bldP spid="287747" grpId="0" bldLvl="0" animBg="1" autoUpdateAnimBg="0"/>
      <p:bldP spid="287748" grpId="0" bldLvl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990600" y="358775"/>
            <a:ext cx="81534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zh-CN" sz="2800" b="1">
                <a:ea typeface="华文新魏" panose="02010800040101010101" pitchFamily="2" charset="-122"/>
              </a:rPr>
              <a:t>  </a:t>
            </a:r>
            <a:r>
              <a:rPr lang="zh-CN" altLang="en-US" sz="2800" b="1">
                <a:ea typeface="华文新魏" panose="02010800040101010101" pitchFamily="2" charset="-122"/>
              </a:rPr>
              <a:t>例</a:t>
            </a:r>
            <a:r>
              <a:rPr lang="en-US" altLang="zh-CN" sz="2800" b="1">
                <a:ea typeface="华文新魏" panose="02010800040101010101" pitchFamily="2" charset="-122"/>
              </a:rPr>
              <a:t>.</a:t>
            </a:r>
            <a:r>
              <a:rPr lang="zh-CN" altLang="en-US" sz="2800" b="1">
                <a:ea typeface="华文新魏" panose="02010800040101010101" pitchFamily="2" charset="-122"/>
              </a:rPr>
              <a:t>设某种疾病的发病率为</a:t>
            </a:r>
            <a:r>
              <a:rPr lang="en-US" altLang="zh-CN" sz="2800" b="1">
                <a:ea typeface="华文新魏" panose="02010800040101010101" pitchFamily="2" charset="-122"/>
              </a:rPr>
              <a:t>1%(</a:t>
            </a:r>
            <a:r>
              <a:rPr lang="en-US" altLang="zh-CN" sz="2800" b="1" i="1">
                <a:ea typeface="华文新魏" panose="02010800040101010101" pitchFamily="2" charset="-122"/>
              </a:rPr>
              <a:t>p</a:t>
            </a:r>
            <a:r>
              <a:rPr lang="en-US" altLang="zh-CN" sz="2800" b="1">
                <a:ea typeface="华文新魏" panose="02010800040101010101" pitchFamily="2" charset="-122"/>
              </a:rPr>
              <a:t>)</a:t>
            </a:r>
            <a:r>
              <a:rPr lang="zh-CN" altLang="en-US" sz="2800" b="1">
                <a:ea typeface="华文新魏" panose="02010800040101010101" pitchFamily="2" charset="-122"/>
              </a:rPr>
              <a:t>，在</a:t>
            </a:r>
            <a:r>
              <a:rPr lang="en-US" altLang="zh-CN" sz="2800" b="1">
                <a:ea typeface="华文新魏" panose="02010800040101010101" pitchFamily="2" charset="-122"/>
              </a:rPr>
              <a:t>10000</a:t>
            </a:r>
            <a:r>
              <a:rPr lang="zh-CN" altLang="en-US" sz="2800" b="1">
                <a:ea typeface="华文新魏" panose="02010800040101010101" pitchFamily="2" charset="-122"/>
              </a:rPr>
              <a:t>个人中普查这种疾病</a:t>
            </a:r>
            <a:r>
              <a:rPr lang="en-US" altLang="zh-CN" sz="2800" b="1">
                <a:ea typeface="华文新魏" panose="02010800040101010101" pitchFamily="2" charset="-122"/>
              </a:rPr>
              <a:t>,</a:t>
            </a:r>
            <a:r>
              <a:rPr lang="zh-CN" altLang="en-US" sz="2800" b="1">
                <a:ea typeface="华文新魏" panose="02010800040101010101" pitchFamily="2" charset="-122"/>
              </a:rPr>
              <a:t>为此要化验每个人的血。</a:t>
            </a:r>
            <a:endParaRPr lang="zh-CN" altLang="en-US" sz="2800" b="1">
              <a:ea typeface="华文新魏" panose="02010800040101010101" pitchFamily="2" charset="-122"/>
            </a:endParaRPr>
          </a:p>
          <a:p>
            <a:pPr eaLnBrk="1" hangingPunct="1">
              <a:spcAft>
                <a:spcPts val="600"/>
              </a:spcAft>
            </a:pPr>
            <a:r>
              <a:rPr lang="zh-CN" altLang="en-US" sz="2800" b="1">
                <a:ea typeface="华文新魏" panose="02010800040101010101" pitchFamily="2" charset="-122"/>
              </a:rPr>
              <a:t>    新方法是，把从</a:t>
            </a:r>
            <a:r>
              <a:rPr lang="en-US" altLang="zh-CN" sz="2800" b="1">
                <a:ea typeface="华文新魏" panose="02010800040101010101" pitchFamily="2" charset="-122"/>
              </a:rPr>
              <a:t>100(</a:t>
            </a:r>
            <a:r>
              <a:rPr lang="en-US" altLang="zh-CN" sz="2800" b="1" i="1">
                <a:ea typeface="华文新魏" panose="02010800040101010101" pitchFamily="2" charset="-122"/>
              </a:rPr>
              <a:t>k</a:t>
            </a:r>
            <a:r>
              <a:rPr lang="en-US" altLang="zh-CN" sz="2800" b="1">
                <a:ea typeface="华文新魏" panose="02010800040101010101" pitchFamily="2" charset="-122"/>
              </a:rPr>
              <a:t>)</a:t>
            </a:r>
            <a:r>
              <a:rPr lang="zh-CN" altLang="en-US" sz="2800" b="1">
                <a:ea typeface="华文新魏" panose="02010800040101010101" pitchFamily="2" charset="-122"/>
              </a:rPr>
              <a:t>个人抽来的血混在一起化验，如果混合血样呈阴性，则通过，如果混合血样呈阳性，则再分别化验该组每个人的血样。求平均化验次数</a:t>
            </a:r>
            <a:r>
              <a:rPr lang="en-US" altLang="zh-CN" sz="2800" b="1">
                <a:ea typeface="华文新魏" panose="02010800040101010101" pitchFamily="2" charset="-122"/>
              </a:rPr>
              <a:t>.</a:t>
            </a:r>
            <a:endParaRPr lang="en-US" altLang="zh-CN" sz="2800" b="1">
              <a:ea typeface="华文新魏" panose="02010800040101010101" pitchFamily="2" charset="-122"/>
            </a:endParaRP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1371600" y="3216275"/>
            <a:ext cx="4784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ea typeface="华文新魏" panose="02010800040101010101" pitchFamily="2" charset="-122"/>
              </a:rPr>
              <a:t>解</a:t>
            </a:r>
            <a:r>
              <a:rPr lang="en-US" altLang="zh-CN" sz="2800" b="1" dirty="0">
                <a:ea typeface="华文新魏" panose="02010800040101010101" pitchFamily="2" charset="-122"/>
              </a:rPr>
              <a:t>:</a:t>
            </a:r>
            <a:r>
              <a:rPr lang="zh-CN" altLang="en-US" sz="2800" b="1" dirty="0">
                <a:ea typeface="华文新魏" panose="02010800040101010101" pitchFamily="2" charset="-122"/>
              </a:rPr>
              <a:t>设</a:t>
            </a:r>
            <a:r>
              <a:rPr lang="en-US" altLang="zh-CN" sz="2800" b="1" i="1" dirty="0" err="1">
                <a:ea typeface="华文新魏" panose="02010800040101010101" pitchFamily="2" charset="-122"/>
              </a:rPr>
              <a:t>X</a:t>
            </a:r>
            <a:r>
              <a:rPr lang="en-US" altLang="zh-CN" sz="2800" b="1" i="1" baseline="-25000" dirty="0" err="1">
                <a:ea typeface="华文新魏" panose="02010800040101010101" pitchFamily="2" charset="-122"/>
              </a:rPr>
              <a:t>j</a:t>
            </a:r>
            <a:r>
              <a:rPr lang="zh-CN" altLang="en-US" sz="2800" b="1" dirty="0">
                <a:ea typeface="华文新魏" panose="02010800040101010101" pitchFamily="2" charset="-122"/>
              </a:rPr>
              <a:t>为第</a:t>
            </a:r>
            <a:r>
              <a:rPr lang="en-US" altLang="zh-CN" sz="2800" b="1" i="1" dirty="0">
                <a:ea typeface="华文新魏" panose="02010800040101010101" pitchFamily="2" charset="-122"/>
              </a:rPr>
              <a:t>j</a:t>
            </a:r>
            <a:r>
              <a:rPr lang="zh-CN" altLang="en-US" sz="2800" b="1" dirty="0">
                <a:ea typeface="华文新魏" panose="02010800040101010101" pitchFamily="2" charset="-122"/>
              </a:rPr>
              <a:t>组的化验次数，</a:t>
            </a:r>
            <a:endParaRPr lang="zh-CN" altLang="en-US" sz="2800" b="1" dirty="0">
              <a:ea typeface="华文新魏" panose="02010800040101010101" pitchFamily="2" charset="-122"/>
            </a:endParaRPr>
          </a:p>
        </p:txBody>
      </p:sp>
      <p:graphicFrame>
        <p:nvGraphicFramePr>
          <p:cNvPr id="164870" name="Object 6"/>
          <p:cNvGraphicFramePr>
            <a:graphicFrameLocks noChangeAspect="1"/>
          </p:cNvGraphicFramePr>
          <p:nvPr/>
        </p:nvGraphicFramePr>
        <p:xfrm>
          <a:off x="5824538" y="3222625"/>
          <a:ext cx="17621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0" name="Equation" r:id="rId1" imgW="711200" imgH="203200" progId="Equation.DSMT4">
                  <p:embed/>
                </p:oleObj>
              </mc:Choice>
              <mc:Fallback>
                <p:oleObj name="Equation" r:id="rId1" imgW="7112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3222625"/>
                        <a:ext cx="17621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2590800" y="5349875"/>
            <a:ext cx="533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4872" name="Line 8"/>
          <p:cNvSpPr>
            <a:spLocks noChangeShapeType="1"/>
          </p:cNvSpPr>
          <p:nvPr/>
        </p:nvSpPr>
        <p:spPr bwMode="auto">
          <a:xfrm>
            <a:off x="3200400" y="4740275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2555875" y="4724400"/>
            <a:ext cx="468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 dirty="0" err="1">
                <a:ea typeface="华文新魏" panose="02010800040101010101" pitchFamily="2" charset="-122"/>
              </a:rPr>
              <a:t>X</a:t>
            </a:r>
            <a:r>
              <a:rPr lang="en-US" altLang="zh-CN" sz="2800" b="1" i="1" baseline="-25000" dirty="0" err="1">
                <a:ea typeface="华文新魏" panose="02010800040101010101" pitchFamily="2" charset="-122"/>
              </a:rPr>
              <a:t>j</a:t>
            </a:r>
            <a:endParaRPr lang="en-US" altLang="zh-CN" sz="2800" b="1" i="1" baseline="-25000" dirty="0">
              <a:ea typeface="华文新魏" panose="02010800040101010101" pitchFamily="2" charset="-122"/>
            </a:endParaRPr>
          </a:p>
        </p:txBody>
      </p:sp>
      <p:sp>
        <p:nvSpPr>
          <p:cNvPr id="164874" name="Rectangle 10"/>
          <p:cNvSpPr>
            <a:spLocks noChangeArrowheads="1"/>
          </p:cNvSpPr>
          <p:nvPr/>
        </p:nvSpPr>
        <p:spPr bwMode="auto">
          <a:xfrm>
            <a:off x="2590800" y="5426075"/>
            <a:ext cx="468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ea typeface="华文新魏" panose="02010800040101010101" pitchFamily="2" charset="-122"/>
              </a:rPr>
              <a:t>P</a:t>
            </a:r>
            <a:r>
              <a:rPr lang="en-US" altLang="zh-CN" sz="2800" b="1" i="1" baseline="-25000">
                <a:ea typeface="华文新魏" panose="02010800040101010101" pitchFamily="2" charset="-122"/>
              </a:rPr>
              <a:t>j</a:t>
            </a:r>
            <a:endParaRPr lang="en-US" altLang="zh-CN" sz="2800" b="1" i="1" baseline="-25000">
              <a:ea typeface="华文新魏" panose="02010800040101010101" pitchFamily="2" charset="-122"/>
            </a:endParaRPr>
          </a:p>
        </p:txBody>
      </p:sp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3352800" y="481647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ea typeface="华文新魏" panose="02010800040101010101" pitchFamily="2" charset="-122"/>
              </a:rPr>
              <a:t>1                                101</a:t>
            </a:r>
            <a:endParaRPr lang="en-US" altLang="zh-CN" b="1">
              <a:ea typeface="华文新魏" panose="02010800040101010101" pitchFamily="2" charset="-122"/>
            </a:endParaRPr>
          </a:p>
        </p:txBody>
      </p:sp>
      <p:graphicFrame>
        <p:nvGraphicFramePr>
          <p:cNvPr id="164876" name="Object 12"/>
          <p:cNvGraphicFramePr>
            <a:graphicFrameLocks noChangeAspect="1"/>
          </p:cNvGraphicFramePr>
          <p:nvPr/>
        </p:nvGraphicFramePr>
        <p:xfrm>
          <a:off x="3492500" y="5516563"/>
          <a:ext cx="12350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1" name="Equation" r:id="rId3" imgW="558800" imgH="228600" progId="Equation.DSMT4">
                  <p:embed/>
                </p:oleObj>
              </mc:Choice>
              <mc:Fallback>
                <p:oleObj name="Equation" r:id="rId3" imgW="5588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516563"/>
                        <a:ext cx="12350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7" name="Object 13"/>
          <p:cNvGraphicFramePr>
            <a:graphicFrameLocks noChangeAspect="1"/>
          </p:cNvGraphicFramePr>
          <p:nvPr/>
        </p:nvGraphicFramePr>
        <p:xfrm>
          <a:off x="5753100" y="5516563"/>
          <a:ext cx="162718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02" name="Equation" r:id="rId5" imgW="736600" imgH="228600" progId="Equation.3">
                  <p:embed/>
                </p:oleObj>
              </mc:Choice>
              <mc:Fallback>
                <p:oleObj name="Equation" r:id="rId5" imgW="7366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5516563"/>
                        <a:ext cx="162718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8" name="Rectangle 14"/>
          <p:cNvSpPr>
            <a:spLocks noChangeArrowheads="1"/>
          </p:cNvSpPr>
          <p:nvPr/>
        </p:nvSpPr>
        <p:spPr bwMode="auto">
          <a:xfrm>
            <a:off x="1447800" y="3908425"/>
            <a:ext cx="2284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华文新魏" panose="02010800040101010101" pitchFamily="2" charset="-122"/>
              </a:rPr>
              <a:t>则</a:t>
            </a:r>
            <a:r>
              <a:rPr lang="en-US" altLang="zh-CN" sz="2800" b="1" i="1">
                <a:ea typeface="华文新魏" panose="02010800040101010101" pitchFamily="2" charset="-122"/>
              </a:rPr>
              <a:t>X</a:t>
            </a:r>
            <a:r>
              <a:rPr lang="en-US" altLang="zh-CN" sz="2800" b="1" i="1" baseline="-25000">
                <a:ea typeface="华文新魏" panose="02010800040101010101" pitchFamily="2" charset="-122"/>
              </a:rPr>
              <a:t>j</a:t>
            </a:r>
            <a:r>
              <a:rPr lang="zh-CN" altLang="en-US" sz="2800" b="1">
                <a:ea typeface="华文新魏" panose="02010800040101010101" pitchFamily="2" charset="-122"/>
              </a:rPr>
              <a:t>的分布为</a:t>
            </a:r>
            <a:endParaRPr lang="zh-CN" altLang="en-US" sz="2800" b="1"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utoUpdateAnimBg="0"/>
      <p:bldP spid="164873" grpId="0" autoUpdateAnimBg="0"/>
      <p:bldP spid="164874" grpId="0" autoUpdateAnimBg="0"/>
      <p:bldP spid="164875" grpId="0" autoUpdateAnimBg="0"/>
      <p:bldP spid="16487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1835150" y="188913"/>
          <a:ext cx="47037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4" name="Equation" r:id="rId1" imgW="2019300" imgH="254000" progId="Equation.3">
                  <p:embed/>
                </p:oleObj>
              </mc:Choice>
              <mc:Fallback>
                <p:oleObj name="Equation" r:id="rId1" imgW="2019300" imgH="254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88913"/>
                        <a:ext cx="47037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5435600" y="836613"/>
          <a:ext cx="15192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5" name="Equation" r:id="rId3" imgW="698500" imgH="444500" progId="Equation.DSMT4">
                  <p:embed/>
                </p:oleObj>
              </mc:Choice>
              <mc:Fallback>
                <p:oleObj name="Equation" r:id="rId3" imgW="698500" imgH="444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836613"/>
                        <a:ext cx="15192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27088" y="981075"/>
            <a:ext cx="4867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ea typeface="华文新魏" panose="02010800040101010101" pitchFamily="2" charset="-122"/>
              </a:rPr>
              <a:t>X</a:t>
            </a:r>
            <a:r>
              <a:rPr lang="zh-CN" altLang="en-US" sz="3200" b="1">
                <a:ea typeface="华文新魏" panose="02010800040101010101" pitchFamily="2" charset="-122"/>
              </a:rPr>
              <a:t>为</a:t>
            </a:r>
            <a:r>
              <a:rPr lang="en-US" altLang="zh-CN" sz="3200" b="1">
                <a:ea typeface="华文新魏" panose="02010800040101010101" pitchFamily="2" charset="-122"/>
              </a:rPr>
              <a:t>10000</a:t>
            </a:r>
            <a:r>
              <a:rPr lang="zh-CN" altLang="en-US" sz="3200" b="1">
                <a:ea typeface="华文新魏" panose="02010800040101010101" pitchFamily="2" charset="-122"/>
              </a:rPr>
              <a:t>人的化验次数，</a:t>
            </a:r>
            <a:endParaRPr lang="zh-CN" altLang="en-US" sz="320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879600" y="3887788"/>
          <a:ext cx="43164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6" name="Equation" r:id="rId5" imgW="1854200" imgH="228600" progId="Equation.DSMT4">
                  <p:embed/>
                </p:oleObj>
              </mc:Choice>
              <mc:Fallback>
                <p:oleObj name="Equation" r:id="rId5" imgW="18542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887788"/>
                        <a:ext cx="43164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2268538" y="1773238"/>
          <a:ext cx="431958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7" name="Equation" r:id="rId7" imgW="1854200" imgH="444500" progId="Equation.DSMT4">
                  <p:embed/>
                </p:oleObj>
              </mc:Choice>
              <mc:Fallback>
                <p:oleObj name="Equation" r:id="rId7" imgW="18542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773238"/>
                        <a:ext cx="4319587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838325" y="3062288"/>
          <a:ext cx="467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8" name="Equation" r:id="rId9" imgW="2006600" imgH="228600" progId="Equation.DSMT4">
                  <p:embed/>
                </p:oleObj>
              </mc:Choice>
              <mc:Fallback>
                <p:oleObj name="Equation" r:id="rId9" imgW="20066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3062288"/>
                        <a:ext cx="4673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885950" y="4614863"/>
          <a:ext cx="11826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9" name="Equation" r:id="rId11" imgW="469900" imgH="177800" progId="Equation.DSMT4">
                  <p:embed/>
                </p:oleObj>
              </mc:Choice>
              <mc:Fallback>
                <p:oleObj name="Equation" r:id="rId11" imgW="469900" imgH="177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4614863"/>
                        <a:ext cx="11826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1752600" y="304800"/>
            <a:ext cx="47244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rgbClr val="000000"/>
                </a:solidFill>
                <a:ea typeface="黑体" panose="02010609060101010101" pitchFamily="49" charset="-122"/>
              </a:rPr>
              <a:t>第二节           方差</a:t>
            </a:r>
            <a:endParaRPr lang="zh-CN" altLang="en-US" sz="400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2557463" y="1460500"/>
            <a:ext cx="5256212" cy="3506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方差的定义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方差的计算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方差的性质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切比雪夫不等式</a:t>
            </a:r>
            <a:endParaRPr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3200" b="1"/>
              <a:t>小结</a:t>
            </a:r>
            <a:endParaRPr lang="zh-CN" altLang="en-US" sz="3200" b="1"/>
          </a:p>
        </p:txBody>
      </p:sp>
      <p:pic>
        <p:nvPicPr>
          <p:cNvPr id="40964" name="Picture 4" descr="f012">
            <a:hlinkClick r:id="rId1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01788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 descr="f012">
            <a:hlinkClick r:id="rId3" action="ppaction://hlinksldjump" highlightClick="1">
              <a:snd r:embed="rId4" name="chimes.wav"/>
            </a:hlinkClick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232251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 descr="f012">
            <a:hlinkClick r:id="rId5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304165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7" descr="f012">
            <a:hlinkClick r:id="rId6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3760788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8" descr="f012">
            <a:hlinkClick r:id="rId7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448151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687388" y="279082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611188" y="1624013"/>
            <a:ext cx="76200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上一节我们介绍了随机变量的数学期望，它体现了随机变量取值的</a:t>
            </a:r>
            <a:r>
              <a:rPr lang="zh-CN" altLang="en-US" sz="2800" b="1">
                <a:solidFill>
                  <a:schemeClr val="accent2"/>
                </a:solidFill>
              </a:rPr>
              <a:t>平均水平</a:t>
            </a:r>
            <a:r>
              <a:rPr lang="zh-CN" altLang="en-US" sz="2800" b="1"/>
              <a:t>，是随机变量的一个重要的数字特征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  <p:sp>
        <p:nvSpPr>
          <p:cNvPr id="242692" name="Rectangle 4"/>
          <p:cNvSpPr>
            <a:spLocks noChangeArrowheads="1"/>
          </p:cNvSpPr>
          <p:nvPr/>
        </p:nvSpPr>
        <p:spPr bwMode="auto">
          <a:xfrm>
            <a:off x="34925" y="3935413"/>
            <a:ext cx="76962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 </a:t>
            </a:r>
            <a:r>
              <a:rPr lang="zh-CN" altLang="en-US" sz="2800" b="1"/>
              <a:t>但是在一些场合，仅仅知道平均值是不够的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781" name="Object 5"/>
          <p:cNvGraphicFramePr>
            <a:graphicFrameLocks noChangeAspect="1"/>
          </p:cNvGraphicFramePr>
          <p:nvPr/>
        </p:nvGraphicFramePr>
        <p:xfrm>
          <a:off x="227013" y="463550"/>
          <a:ext cx="79216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0" name="公式" r:id="rId1" imgW="3124200" imgH="203200" progId="Equation.3">
                  <p:embed/>
                </p:oleObj>
              </mc:Choice>
              <mc:Fallback>
                <p:oleObj name="公式" r:id="rId1" imgW="31242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463550"/>
                        <a:ext cx="79216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2" name="Object 6"/>
          <p:cNvGraphicFramePr>
            <a:graphicFrameLocks noChangeAspect="1"/>
          </p:cNvGraphicFramePr>
          <p:nvPr/>
        </p:nvGraphicFramePr>
        <p:xfrm>
          <a:off x="766763" y="1182688"/>
          <a:ext cx="28082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1" name="公式" r:id="rId3" imgW="1269365" imgH="203200" progId="Equation.3">
                  <p:embed/>
                </p:oleObj>
              </mc:Choice>
              <mc:Fallback>
                <p:oleObj name="公式" r:id="rId3" imgW="1269365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182688"/>
                        <a:ext cx="28082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3" name="Object 7"/>
          <p:cNvGraphicFramePr>
            <a:graphicFrameLocks noChangeAspect="1"/>
          </p:cNvGraphicFramePr>
          <p:nvPr/>
        </p:nvGraphicFramePr>
        <p:xfrm>
          <a:off x="4870450" y="1182688"/>
          <a:ext cx="30257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2" name="公式" r:id="rId5" imgW="1231265" imgH="203200" progId="Equation.3">
                  <p:embed/>
                </p:oleObj>
              </mc:Choice>
              <mc:Fallback>
                <p:oleObj name="公式" r:id="rId5" imgW="12312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1182688"/>
                        <a:ext cx="30257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4" name="Object 8"/>
          <p:cNvGraphicFramePr>
            <a:graphicFrameLocks noChangeAspect="1"/>
          </p:cNvGraphicFramePr>
          <p:nvPr/>
        </p:nvGraphicFramePr>
        <p:xfrm>
          <a:off x="766763" y="1831975"/>
          <a:ext cx="35052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3" name="Document" r:id="rId7" imgW="6173470" imgH="1786255" progId="Word.Document.8">
                  <p:embed/>
                </p:oleObj>
              </mc:Choice>
              <mc:Fallback>
                <p:oleObj name="Document" r:id="rId7" imgW="6173470" imgH="1786255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831975"/>
                        <a:ext cx="350520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5" name="Object 9"/>
          <p:cNvGraphicFramePr>
            <a:graphicFrameLocks noChangeAspect="1"/>
          </p:cNvGraphicFramePr>
          <p:nvPr/>
        </p:nvGraphicFramePr>
        <p:xfrm>
          <a:off x="4870450" y="1831975"/>
          <a:ext cx="3733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4" name="Document" r:id="rId9" imgW="6173470" imgH="1786255" progId="Word.Document.8">
                  <p:embed/>
                </p:oleObj>
              </mc:Choice>
              <mc:Fallback>
                <p:oleObj name="Document" r:id="rId9" imgW="6173470" imgH="1786255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1831975"/>
                        <a:ext cx="37338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6" name="Object 10"/>
          <p:cNvGraphicFramePr>
            <a:graphicFrameLocks noChangeAspect="1"/>
          </p:cNvGraphicFramePr>
          <p:nvPr/>
        </p:nvGraphicFramePr>
        <p:xfrm>
          <a:off x="766763" y="3065463"/>
          <a:ext cx="48704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5" name="公式" r:id="rId11" imgW="2108200" imgH="203200" progId="Equation.3">
                  <p:embed/>
                </p:oleObj>
              </mc:Choice>
              <mc:Fallback>
                <p:oleObj name="公式" r:id="rId11" imgW="21082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3065463"/>
                        <a:ext cx="48704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7" name="Object 11"/>
          <p:cNvGraphicFramePr>
            <a:graphicFrameLocks noChangeAspect="1"/>
          </p:cNvGraphicFramePr>
          <p:nvPr/>
        </p:nvGraphicFramePr>
        <p:xfrm>
          <a:off x="838200" y="3641725"/>
          <a:ext cx="34559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6" name="公式" r:id="rId13" imgW="1600200" imgH="203200" progId="Equation.3">
                  <p:embed/>
                </p:oleObj>
              </mc:Choice>
              <mc:Fallback>
                <p:oleObj name="公式" r:id="rId13" imgW="1600200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641725"/>
                        <a:ext cx="34559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8" name="Object 12"/>
          <p:cNvGraphicFramePr>
            <a:graphicFrameLocks noChangeAspect="1"/>
          </p:cNvGraphicFramePr>
          <p:nvPr/>
        </p:nvGraphicFramePr>
        <p:xfrm>
          <a:off x="1630363" y="4146550"/>
          <a:ext cx="51847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7" name="公式" r:id="rId15" imgW="2082165" imgH="177800" progId="Equation.3">
                  <p:embed/>
                </p:oleObj>
              </mc:Choice>
              <mc:Fallback>
                <p:oleObj name="公式" r:id="rId15" imgW="2082165" imgH="177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4146550"/>
                        <a:ext cx="51847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9" name="Object 13"/>
          <p:cNvGraphicFramePr>
            <a:graphicFrameLocks noChangeAspect="1"/>
          </p:cNvGraphicFramePr>
          <p:nvPr/>
        </p:nvGraphicFramePr>
        <p:xfrm>
          <a:off x="1558925" y="4578350"/>
          <a:ext cx="54006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8" name="公式" r:id="rId17" imgW="2094865" imgH="177800" progId="Equation.3">
                  <p:embed/>
                </p:oleObj>
              </mc:Choice>
              <mc:Fallback>
                <p:oleObj name="公式" r:id="rId17" imgW="2094865" imgH="177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4578350"/>
                        <a:ext cx="54006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90" name="Object 14"/>
          <p:cNvGraphicFramePr>
            <a:graphicFrameLocks noChangeAspect="1"/>
          </p:cNvGraphicFramePr>
          <p:nvPr/>
        </p:nvGraphicFramePr>
        <p:xfrm>
          <a:off x="611188" y="5013325"/>
          <a:ext cx="74882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9" name="Equation" r:id="rId19" imgW="3530600" imgH="685800" progId="Equation.DSMT4">
                  <p:embed/>
                </p:oleObj>
              </mc:Choice>
              <mc:Fallback>
                <p:oleObj name="Equation" r:id="rId19" imgW="3530600" imgH="685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013325"/>
                        <a:ext cx="7488237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1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1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ChangeArrowheads="1"/>
          </p:cNvSpPr>
          <p:nvPr/>
        </p:nvSpPr>
        <p:spPr bwMode="auto">
          <a:xfrm>
            <a:off x="0" y="609600"/>
            <a:ext cx="87630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由此可见</a:t>
            </a:r>
            <a:r>
              <a:rPr lang="en-US" altLang="zh-CN" sz="2800" b="1"/>
              <a:t>,</a:t>
            </a:r>
            <a:r>
              <a:rPr lang="zh-CN" altLang="en-US" sz="2800" b="1"/>
              <a:t>研究</a:t>
            </a:r>
            <a:r>
              <a:rPr lang="zh-CN" altLang="en-US" sz="2800" b="1">
                <a:solidFill>
                  <a:srgbClr val="003399"/>
                </a:solidFill>
              </a:rPr>
              <a:t>随机变量与其均值的偏离程度</a:t>
            </a:r>
            <a:r>
              <a:rPr lang="zh-CN" altLang="en-US" sz="2800" b="1"/>
              <a:t>是十分必要的</a:t>
            </a:r>
            <a:r>
              <a:rPr lang="en-US" altLang="zh-CN" sz="2800" b="1"/>
              <a:t>.</a:t>
            </a:r>
            <a:r>
              <a:rPr lang="zh-CN" altLang="en-US" sz="2800" b="1"/>
              <a:t>那么</a:t>
            </a:r>
            <a:r>
              <a:rPr lang="en-US" altLang="zh-CN" sz="2800" b="1"/>
              <a:t>,</a:t>
            </a:r>
            <a:r>
              <a:rPr lang="zh-CN" altLang="en-US" sz="2800" b="1"/>
              <a:t>用怎样的量去度量这个偏离程度呢</a:t>
            </a:r>
            <a:r>
              <a:rPr lang="en-US" altLang="zh-CN" sz="2800" b="1"/>
              <a:t>?</a:t>
            </a:r>
            <a:r>
              <a:rPr lang="zh-CN" altLang="en-US" sz="2800" b="1"/>
              <a:t>容易看到</a:t>
            </a:r>
            <a:endParaRPr lang="zh-CN" altLang="en-US" sz="2800" b="1"/>
          </a:p>
        </p:txBody>
      </p:sp>
      <p:sp>
        <p:nvSpPr>
          <p:cNvPr id="245763" name="Text Box 3"/>
          <p:cNvSpPr txBox="1">
            <a:spLocks noChangeArrowheads="1"/>
          </p:cNvSpPr>
          <p:nvPr/>
        </p:nvSpPr>
        <p:spPr bwMode="auto">
          <a:xfrm>
            <a:off x="685800" y="48006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这个数字特征就是我们这一节要介绍的</a:t>
            </a:r>
            <a:endParaRPr lang="zh-CN" altLang="en-US" sz="2800"/>
          </a:p>
        </p:txBody>
      </p:sp>
      <p:sp>
        <p:nvSpPr>
          <p:cNvPr id="245764" name="Rectangle 4"/>
          <p:cNvSpPr>
            <a:spLocks noChangeArrowheads="1"/>
          </p:cNvSpPr>
          <p:nvPr/>
        </p:nvSpPr>
        <p:spPr bwMode="auto">
          <a:xfrm>
            <a:off x="2971800" y="54102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rgbClr val="003399"/>
                </a:solidFill>
                <a:ea typeface="黑体" panose="02010609060101010101" pitchFamily="49" charset="-122"/>
              </a:rPr>
              <a:t>方差</a:t>
            </a:r>
            <a:endParaRPr lang="zh-CN" altLang="en-US" sz="36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45765" name="Object 5"/>
          <p:cNvGraphicFramePr>
            <a:graphicFrameLocks noChangeAspect="1"/>
          </p:cNvGraphicFramePr>
          <p:nvPr/>
        </p:nvGraphicFramePr>
        <p:xfrm>
          <a:off x="2743200" y="2057400"/>
          <a:ext cx="2146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1" name="公式" r:id="rId1" imgW="2057400" imgH="365760" progId="Equation.3">
                  <p:embed/>
                </p:oleObj>
              </mc:Choice>
              <mc:Fallback>
                <p:oleObj name="公式" r:id="rId1" imgW="2057400" imgH="365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0"/>
                        <a:ext cx="2146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6" name="Text Box 6"/>
          <p:cNvSpPr txBox="1">
            <a:spLocks noChangeArrowheads="1"/>
          </p:cNvSpPr>
          <p:nvPr/>
        </p:nvSpPr>
        <p:spPr bwMode="auto">
          <a:xfrm>
            <a:off x="0" y="2590800"/>
            <a:ext cx="87074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        </a:t>
            </a:r>
            <a:r>
              <a:rPr lang="zh-CN" altLang="en-US" sz="2800" b="1"/>
              <a:t>能度量随机变量与其均值</a:t>
            </a:r>
            <a:r>
              <a:rPr lang="en-US" altLang="zh-CN" sz="2800" b="1"/>
              <a:t>E(X)</a:t>
            </a:r>
            <a:r>
              <a:rPr lang="zh-CN" altLang="en-US" sz="2800" b="1"/>
              <a:t>的偏离程度</a:t>
            </a:r>
            <a:r>
              <a:rPr lang="en-US" altLang="zh-CN" sz="2800" b="1"/>
              <a:t>. </a:t>
            </a:r>
            <a:r>
              <a:rPr lang="zh-CN" altLang="en-US" sz="2800" b="1"/>
              <a:t>但由于上式带有绝对值</a:t>
            </a:r>
            <a:r>
              <a:rPr lang="en-US" altLang="zh-CN" sz="2800" b="1"/>
              <a:t>,</a:t>
            </a:r>
            <a:r>
              <a:rPr lang="zh-CN" altLang="en-US" sz="2800" b="1"/>
              <a:t>运算不方便</a:t>
            </a:r>
            <a:r>
              <a:rPr lang="en-US" altLang="zh-CN" sz="2800" b="1"/>
              <a:t>,</a:t>
            </a:r>
            <a:r>
              <a:rPr lang="zh-CN" altLang="en-US" sz="2800" b="1"/>
              <a:t>通常用量</a:t>
            </a:r>
            <a:endParaRPr lang="zh-CN" altLang="en-US" sz="2800" b="1"/>
          </a:p>
        </p:txBody>
      </p:sp>
      <p:graphicFrame>
        <p:nvGraphicFramePr>
          <p:cNvPr id="245767" name="Object 7"/>
          <p:cNvGraphicFramePr>
            <a:graphicFrameLocks noChangeAspect="1"/>
          </p:cNvGraphicFramePr>
          <p:nvPr/>
        </p:nvGraphicFramePr>
        <p:xfrm>
          <a:off x="2819400" y="3581400"/>
          <a:ext cx="24511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2" name="公式" r:id="rId3" imgW="2362200" imgH="384810" progId="Equation.3">
                  <p:embed/>
                </p:oleObj>
              </mc:Choice>
              <mc:Fallback>
                <p:oleObj name="公式" r:id="rId3" imgW="2362200" imgH="3848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81400"/>
                        <a:ext cx="24511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8" name="Text Box 8"/>
          <p:cNvSpPr txBox="1">
            <a:spLocks noChangeArrowheads="1"/>
          </p:cNvSpPr>
          <p:nvPr/>
        </p:nvSpPr>
        <p:spPr bwMode="auto">
          <a:xfrm>
            <a:off x="533400" y="4267200"/>
            <a:ext cx="7404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来度量随机变量</a:t>
            </a:r>
            <a:r>
              <a:rPr lang="en-US" altLang="zh-CN" sz="2800" b="1"/>
              <a:t>X</a:t>
            </a:r>
            <a:r>
              <a:rPr lang="zh-CN" altLang="en-US" sz="2800" b="1"/>
              <a:t>与其均值</a:t>
            </a:r>
            <a:r>
              <a:rPr lang="en-US" altLang="zh-CN" sz="2800" b="1"/>
              <a:t>E(X)</a:t>
            </a:r>
            <a:r>
              <a:rPr lang="zh-CN" altLang="en-US" sz="2800" b="1"/>
              <a:t>的偏离程度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  <p:bldP spid="245763" grpId="0" autoUpdateAnimBg="0"/>
      <p:bldP spid="245764" grpId="0" autoUpdateAnimBg="0"/>
      <p:bldP spid="245766" grpId="0" autoUpdateAnimBg="0"/>
      <p:bldP spid="24576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81000" y="685800"/>
            <a:ext cx="716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一、方差的定义</a:t>
            </a:r>
            <a:r>
              <a:rPr lang="zh-CN" altLang="en-US" sz="32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2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1617663" y="303530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307975" y="1765300"/>
            <a:ext cx="8305800" cy="1252538"/>
            <a:chOff x="158" y="693"/>
            <a:chExt cx="5232" cy="789"/>
          </a:xfrm>
        </p:grpSpPr>
        <p:sp>
          <p:nvSpPr>
            <p:cNvPr id="45064" name="Text Box 5"/>
            <p:cNvSpPr txBox="1">
              <a:spLocks noChangeArrowheads="1"/>
            </p:cNvSpPr>
            <p:nvPr/>
          </p:nvSpPr>
          <p:spPr bwMode="auto">
            <a:xfrm>
              <a:off x="350" y="693"/>
              <a:ext cx="5040" cy="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en-US" altLang="zh-CN" sz="2800" b="1"/>
                <a:t>        </a:t>
              </a:r>
              <a:r>
                <a:rPr lang="zh-CN" altLang="en-US" sz="2800" b="1"/>
                <a:t>设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是一个随机变量，若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[(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</a:t>
              </a:r>
              <a:r>
                <a:rPr lang="en-US" altLang="zh-CN" sz="2800" b="1" baseline="30000"/>
                <a:t>2</a:t>
              </a:r>
              <a:r>
                <a:rPr lang="en-US" altLang="zh-CN" sz="2800">
                  <a:sym typeface="+mn-ea"/>
                </a:rPr>
                <a:t>]</a:t>
              </a:r>
              <a:r>
                <a:rPr lang="zh-CN" altLang="en-US" sz="2800">
                  <a:sym typeface="+mn-ea"/>
                </a:rPr>
                <a:t>存</a:t>
              </a:r>
              <a:r>
                <a:rPr lang="zh-CN" altLang="en-US" sz="2800" b="1"/>
                <a:t>在 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称</a:t>
              </a:r>
              <a:endParaRPr lang="zh-CN" altLang="en-US" sz="2800" b="1"/>
            </a:p>
            <a:p>
              <a:pPr algn="just">
                <a:lnSpc>
                  <a:spcPct val="120000"/>
                </a:lnSpc>
              </a:pPr>
              <a:endParaRPr lang="en-US" altLang="zh-CN" sz="2800" b="1"/>
            </a:p>
          </p:txBody>
        </p:sp>
        <p:sp>
          <p:nvSpPr>
            <p:cNvPr id="45065" name="Text Box 6"/>
            <p:cNvSpPr txBox="1">
              <a:spLocks noChangeArrowheads="1"/>
            </p:cNvSpPr>
            <p:nvPr/>
          </p:nvSpPr>
          <p:spPr bwMode="auto">
            <a:xfrm>
              <a:off x="158" y="1130"/>
              <a:ext cx="139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 i="1"/>
                <a:t>E</a:t>
              </a:r>
              <a:r>
                <a:rPr lang="en-US" altLang="zh-CN" sz="2800" b="1"/>
                <a:t>[(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</a:t>
              </a:r>
              <a:r>
                <a:rPr lang="en-US" altLang="zh-CN" sz="2800" b="1" baseline="30000"/>
                <a:t>2</a:t>
              </a:r>
              <a:endParaRPr lang="en-US" altLang="zh-CN" sz="2800" b="1" baseline="30000"/>
            </a:p>
          </p:txBody>
        </p:sp>
        <p:sp>
          <p:nvSpPr>
            <p:cNvPr id="45066" name="Text Box 7"/>
            <p:cNvSpPr txBox="1">
              <a:spLocks noChangeArrowheads="1"/>
            </p:cNvSpPr>
            <p:nvPr/>
          </p:nvSpPr>
          <p:spPr bwMode="auto">
            <a:xfrm>
              <a:off x="1424" y="1153"/>
              <a:ext cx="150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为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 </a:t>
              </a:r>
              <a:r>
                <a:rPr lang="zh-CN" altLang="en-US" sz="2800" b="1">
                  <a:solidFill>
                    <a:schemeClr val="accent2"/>
                  </a:solidFill>
                </a:rPr>
                <a:t>的方差</a:t>
              </a:r>
              <a:r>
                <a:rPr lang="en-US" altLang="zh-CN" sz="2800" b="1"/>
                <a:t>.   </a:t>
              </a:r>
              <a:endParaRPr lang="en-US" altLang="zh-CN" sz="2800"/>
            </a:p>
          </p:txBody>
        </p:sp>
      </p:grpSp>
      <p:sp>
        <p:nvSpPr>
          <p:cNvPr id="291848" name="Text Box 8"/>
          <p:cNvSpPr txBox="1">
            <a:spLocks noChangeArrowheads="1"/>
          </p:cNvSpPr>
          <p:nvPr/>
        </p:nvSpPr>
        <p:spPr bwMode="auto">
          <a:xfrm>
            <a:off x="3765550" y="249555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记为</a:t>
            </a:r>
            <a:r>
              <a:rPr lang="en-US" altLang="zh-CN" sz="2800" b="1"/>
              <a:t>D(X)</a:t>
            </a:r>
            <a:r>
              <a:rPr lang="zh-CN" altLang="en-US" sz="2800" b="1"/>
              <a:t>或</a:t>
            </a:r>
            <a:r>
              <a:rPr lang="en-US" altLang="zh-CN" sz="2800" b="1"/>
              <a:t>Var(X)</a:t>
            </a:r>
            <a:r>
              <a:rPr lang="zh-CN" altLang="en-US" sz="2800" b="1"/>
              <a:t>，即</a:t>
            </a:r>
            <a:endParaRPr lang="zh-CN" altLang="en-US" sz="2800"/>
          </a:p>
        </p:txBody>
      </p:sp>
      <p:graphicFrame>
        <p:nvGraphicFramePr>
          <p:cNvPr id="291849" name="Object 9"/>
          <p:cNvGraphicFramePr>
            <a:graphicFrameLocks noChangeAspect="1"/>
          </p:cNvGraphicFramePr>
          <p:nvPr/>
        </p:nvGraphicFramePr>
        <p:xfrm>
          <a:off x="512763" y="4381500"/>
          <a:ext cx="80041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7" name="公式" r:id="rId1" imgW="7800975" imgH="923925" progId="Equation.3">
                  <p:embed/>
                </p:oleObj>
              </mc:Choice>
              <mc:Fallback>
                <p:oleObj name="公式" r:id="rId1" imgW="7800975" imgH="92392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4381500"/>
                        <a:ext cx="800417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0" name="Rectangle 10"/>
          <p:cNvSpPr>
            <a:spLocks noChangeArrowheads="1"/>
          </p:cNvSpPr>
          <p:nvPr/>
        </p:nvSpPr>
        <p:spPr bwMode="auto">
          <a:xfrm>
            <a:off x="1997075" y="3302000"/>
            <a:ext cx="4071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solidFill>
                  <a:schemeClr val="accent2"/>
                </a:solidFill>
              </a:rPr>
              <a:t>D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)=Var(X)=</a:t>
            </a:r>
            <a:r>
              <a:rPr lang="en-US" altLang="zh-CN" sz="2800" b="1" i="1">
                <a:solidFill>
                  <a:schemeClr val="accent2"/>
                </a:solidFill>
              </a:rPr>
              <a:t>E</a:t>
            </a:r>
            <a:r>
              <a:rPr lang="en-US" altLang="zh-CN" sz="2800" b="1">
                <a:solidFill>
                  <a:schemeClr val="accent2"/>
                </a:solidFill>
              </a:rPr>
              <a:t>[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-</a:t>
            </a:r>
            <a:r>
              <a:rPr lang="en-US" altLang="zh-CN" sz="2800" b="1" i="1">
                <a:solidFill>
                  <a:schemeClr val="accent2"/>
                </a:solidFill>
              </a:rPr>
              <a:t>E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)]</a:t>
            </a:r>
            <a:r>
              <a:rPr lang="en-US" altLang="zh-CN" sz="2800" b="1" baseline="30000">
                <a:solidFill>
                  <a:schemeClr val="accent2"/>
                </a:solidFill>
              </a:rPr>
              <a:t>2</a:t>
            </a:r>
            <a:endParaRPr lang="en-US" altLang="zh-CN" sz="2800" b="1" baseline="30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8" grpId="0" autoUpdateAnimBg="0"/>
      <p:bldP spid="29185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ChangeArrowheads="1"/>
          </p:cNvSpPr>
          <p:nvPr/>
        </p:nvSpPr>
        <p:spPr bwMode="auto">
          <a:xfrm>
            <a:off x="609600" y="3113088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若</a:t>
            </a:r>
            <a:r>
              <a:rPr lang="en-US" altLang="zh-CN" sz="2800" b="1" i="1"/>
              <a:t>X</a:t>
            </a:r>
            <a:r>
              <a:rPr lang="zh-CN" altLang="en-US" sz="2800" b="1"/>
              <a:t>的取值比较分散，则方差</a:t>
            </a:r>
            <a:r>
              <a:rPr lang="en-US" altLang="zh-CN" sz="2800" b="1"/>
              <a:t>D(X)</a:t>
            </a:r>
            <a:r>
              <a:rPr lang="zh-CN" altLang="en-US" sz="2800" b="1"/>
              <a:t>较大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381000" y="762000"/>
            <a:ext cx="8077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方差刻划了随机变量的取值对于其数学期望的离散程度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92868" name="Rectangle 4"/>
          <p:cNvSpPr>
            <a:spLocks noChangeArrowheads="1"/>
          </p:cNvSpPr>
          <p:nvPr/>
        </p:nvSpPr>
        <p:spPr bwMode="auto">
          <a:xfrm>
            <a:off x="1103313" y="2274888"/>
            <a:ext cx="6530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若</a:t>
            </a:r>
            <a:r>
              <a:rPr lang="en-US" altLang="zh-CN" sz="2800" b="1" i="1"/>
              <a:t>X</a:t>
            </a:r>
            <a:r>
              <a:rPr lang="zh-CN" altLang="en-US" sz="2800" b="1"/>
              <a:t>的取值比较集中，则方差</a:t>
            </a:r>
            <a:r>
              <a:rPr lang="en-US" altLang="zh-CN" sz="2800" b="1"/>
              <a:t>D(X)</a:t>
            </a:r>
            <a:r>
              <a:rPr lang="zh-CN" altLang="en-US" sz="2800" b="1"/>
              <a:t>较小；</a:t>
            </a:r>
            <a:endParaRPr lang="zh-CN" altLang="en-US" sz="2800" b="1"/>
          </a:p>
        </p:txBody>
      </p:sp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508000" y="3987800"/>
            <a:ext cx="8208963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</a:pPr>
            <a:r>
              <a:rPr lang="zh-CN" altLang="en-US" sz="2800" b="1">
                <a:solidFill>
                  <a:schemeClr val="accent2"/>
                </a:solidFill>
              </a:rPr>
              <a:t>因此，</a:t>
            </a:r>
            <a:r>
              <a:rPr lang="en-US" altLang="zh-CN" sz="2800" b="1">
                <a:solidFill>
                  <a:schemeClr val="accent2"/>
                </a:solidFill>
              </a:rPr>
              <a:t>D</a:t>
            </a:r>
            <a:r>
              <a:rPr lang="zh-CN" altLang="en-US" sz="2800" b="1">
                <a:solidFill>
                  <a:schemeClr val="accent2"/>
                </a:solidFill>
              </a:rPr>
              <a:t>（</a:t>
            </a:r>
            <a:r>
              <a:rPr lang="en-US" altLang="zh-CN" sz="2800" b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）是刻画</a:t>
            </a:r>
            <a:r>
              <a:rPr lang="en-US" altLang="zh-CN" sz="2800" b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取值分散程度的一个量，它是衡量</a:t>
            </a:r>
            <a:r>
              <a:rPr lang="en-US" altLang="zh-CN" sz="2800" b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取值分散程度的一个尺度。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 autoUpdateAnimBg="0"/>
      <p:bldP spid="292867" grpId="0" autoUpdateAnimBg="0"/>
      <p:bldP spid="292868" grpId="0" autoUpdateAnimBg="0"/>
      <p:bldP spid="292869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4610100" y="300196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3" name="公式" r:id="rId1" imgW="114300" imgH="215900" progId="Equation.3">
                  <p:embed/>
                </p:oleObj>
              </mc:Choice>
              <mc:Fallback>
                <p:oleObj name="公式" r:id="rId1" imgW="1143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00196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4610100" y="300196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4" name="公式" r:id="rId3" imgW="114300" imgH="215900" progId="Equation.3">
                  <p:embed/>
                </p:oleObj>
              </mc:Choice>
              <mc:Fallback>
                <p:oleObj name="公式" r:id="rId3" imgW="114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00196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2" name="AutoShape 4"/>
          <p:cNvSpPr>
            <a:spLocks noChangeArrowheads="1"/>
          </p:cNvSpPr>
          <p:nvPr/>
        </p:nvSpPr>
        <p:spPr bwMode="auto">
          <a:xfrm>
            <a:off x="6858000" y="1828800"/>
            <a:ext cx="2016125" cy="2376488"/>
          </a:xfrm>
          <a:prstGeom prst="wedgeRectCallout">
            <a:avLst>
              <a:gd name="adj1" fmla="val -115042"/>
              <a:gd name="adj2" fmla="val 19875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 dirty="0"/>
              <a:t>X</a:t>
            </a:r>
            <a:r>
              <a:rPr lang="zh-CN" altLang="en-US" sz="2800" b="1" dirty="0"/>
              <a:t>为离散型，</a:t>
            </a:r>
            <a:endParaRPr lang="zh-CN" altLang="en-US" sz="2800" b="1" dirty="0"/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/>
              <a:t>分布律</a:t>
            </a:r>
            <a:endParaRPr lang="zh-CN" altLang="en-US" sz="2800" b="1" dirty="0"/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i="1" dirty="0"/>
              <a:t>P</a:t>
            </a:r>
            <a:r>
              <a:rPr lang="en-US" altLang="zh-CN" sz="2800" b="1" dirty="0"/>
              <a:t>{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=</a:t>
            </a:r>
            <a:r>
              <a:rPr lang="en-US" altLang="zh-CN" sz="2800" b="1" i="1" dirty="0" err="1"/>
              <a:t>x</a:t>
            </a:r>
            <a:r>
              <a:rPr lang="en-US" altLang="zh-CN" sz="2800" b="1" i="1" baseline="-25000" dirty="0" err="1"/>
              <a:t>k</a:t>
            </a:r>
            <a:r>
              <a:rPr lang="en-US" altLang="zh-CN" sz="2800" b="1" dirty="0"/>
              <a:t>}=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k</a:t>
            </a:r>
            <a:endParaRPr lang="en-US" altLang="zh-CN" sz="2800" b="1" baseline="-25000" dirty="0"/>
          </a:p>
        </p:txBody>
      </p:sp>
      <p:sp>
        <p:nvSpPr>
          <p:cNvPr id="293893" name="Rectangle 5"/>
          <p:cNvSpPr>
            <a:spLocks noChangeArrowheads="1"/>
          </p:cNvSpPr>
          <p:nvPr/>
        </p:nvSpPr>
        <p:spPr bwMode="auto">
          <a:xfrm>
            <a:off x="381000" y="1131888"/>
            <a:ext cx="83058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由定义知，方差是随机变量 </a:t>
            </a:r>
            <a:r>
              <a:rPr lang="en-US" altLang="zh-CN" sz="2800" b="1" i="1"/>
              <a:t>X </a:t>
            </a:r>
            <a:r>
              <a:rPr lang="zh-CN" altLang="en-US" sz="2800" b="1"/>
              <a:t>的函数  </a:t>
            </a:r>
            <a:endParaRPr lang="zh-CN" altLang="en-US" sz="2800" b="1"/>
          </a:p>
          <a:p>
            <a:pPr eaLnBrk="1" hangingPunct="1">
              <a:lnSpc>
                <a:spcPct val="120000"/>
              </a:lnSpc>
            </a:pPr>
            <a:r>
              <a:rPr lang="zh-CN" altLang="en-US" sz="2800" b="1" i="1"/>
              <a:t>                       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>
                <a:solidFill>
                  <a:schemeClr val="accent2"/>
                </a:solidFill>
              </a:rPr>
              <a:t>[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-</a:t>
            </a:r>
            <a:r>
              <a:rPr lang="en-US" altLang="zh-CN" sz="2800" b="1" i="1">
                <a:solidFill>
                  <a:schemeClr val="accent2"/>
                </a:solidFill>
              </a:rPr>
              <a:t>E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)]</a:t>
            </a:r>
            <a:r>
              <a:rPr lang="en-US" altLang="zh-CN" sz="2800" b="1" baseline="30000">
                <a:solidFill>
                  <a:schemeClr val="accent2"/>
                </a:solidFill>
              </a:rPr>
              <a:t>2 </a:t>
            </a:r>
            <a:endParaRPr lang="en-US" altLang="zh-CN" sz="2800" b="1" baseline="30000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800" b="1"/>
              <a:t>的</a:t>
            </a:r>
            <a:r>
              <a:rPr lang="zh-CN" altLang="en-US" sz="2800" b="1"/>
              <a:t>数学期望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graphicFrame>
        <p:nvGraphicFramePr>
          <p:cNvPr id="293894" name="Object 6"/>
          <p:cNvGraphicFramePr>
            <a:graphicFrameLocks noChangeAspect="1"/>
          </p:cNvGraphicFramePr>
          <p:nvPr/>
        </p:nvGraphicFramePr>
        <p:xfrm>
          <a:off x="990600" y="3048000"/>
          <a:ext cx="5113338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5" name="公式" r:id="rId4" imgW="4905375" imgH="1597660" progId="Equation.3">
                  <p:embed/>
                </p:oleObj>
              </mc:Choice>
              <mc:Fallback>
                <p:oleObj name="公式" r:id="rId4" imgW="4905375" imgH="15976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048000"/>
                        <a:ext cx="5113338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81000" y="228600"/>
            <a:ext cx="3714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二、方差的计算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293896" name="AutoShape 8"/>
          <p:cNvSpPr/>
          <p:nvPr/>
        </p:nvSpPr>
        <p:spPr bwMode="auto">
          <a:xfrm flipH="1">
            <a:off x="762000" y="5029200"/>
            <a:ext cx="4535488" cy="609600"/>
          </a:xfrm>
          <a:prstGeom prst="borderCallout1">
            <a:avLst>
              <a:gd name="adj1" fmla="val 18745"/>
              <a:gd name="adj2" fmla="val -1681"/>
              <a:gd name="adj3" fmla="val -45574"/>
              <a:gd name="adj4" fmla="val -2069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/>
              <a:t>X</a:t>
            </a:r>
            <a:r>
              <a:rPr lang="zh-CN" altLang="en-US" sz="2800" b="1"/>
              <a:t>为连续型，</a:t>
            </a:r>
            <a:r>
              <a:rPr lang="en-US" altLang="zh-CN" sz="2800" b="1" i="1"/>
              <a:t>X</a:t>
            </a:r>
            <a:r>
              <a:rPr lang="zh-CN" altLang="en-US" sz="2800" b="1"/>
              <a:t>概率密度</a:t>
            </a:r>
            <a:r>
              <a:rPr lang="en-US" altLang="zh-CN" sz="2800" b="1" i="1"/>
              <a:t>f(x</a:t>
            </a:r>
            <a:r>
              <a:rPr lang="en-US" altLang="zh-CN" sz="2800" b="1"/>
              <a:t>)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 bldLvl="0" animBg="1" autoUpdateAnimBg="0"/>
      <p:bldP spid="293893" grpId="0" autoUpdateAnimBg="0"/>
      <p:bldP spid="293896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762000" y="609600"/>
            <a:ext cx="459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计算方差的一个简化公式</a:t>
            </a:r>
            <a:endParaRPr lang="zh-CN" altLang="en-US" sz="28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294915" name="Text Box 3"/>
          <p:cNvSpPr txBox="1">
            <a:spLocks noChangeArrowheads="1"/>
          </p:cNvSpPr>
          <p:nvPr/>
        </p:nvSpPr>
        <p:spPr bwMode="auto">
          <a:xfrm>
            <a:off x="533400" y="149225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 b="1"/>
              <a:t>      </a:t>
            </a:r>
            <a:r>
              <a:rPr lang="en-US" altLang="zh-CN" sz="2800" b="1" i="1">
                <a:solidFill>
                  <a:schemeClr val="accent2"/>
                </a:solidFill>
              </a:rPr>
              <a:t>D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)=</a:t>
            </a:r>
            <a:r>
              <a:rPr lang="en-US" altLang="zh-CN" sz="2800" b="1" i="1">
                <a:solidFill>
                  <a:schemeClr val="accent2"/>
                </a:solidFill>
              </a:rPr>
              <a:t>E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baseline="30000">
                <a:solidFill>
                  <a:schemeClr val="accent2"/>
                </a:solidFill>
              </a:rPr>
              <a:t>2</a:t>
            </a:r>
            <a:r>
              <a:rPr lang="en-US" altLang="zh-CN" sz="2800" b="1">
                <a:solidFill>
                  <a:schemeClr val="accent2"/>
                </a:solidFill>
              </a:rPr>
              <a:t>)-[</a:t>
            </a:r>
            <a:r>
              <a:rPr lang="en-US" altLang="zh-CN" sz="2800" b="1" i="1">
                <a:solidFill>
                  <a:schemeClr val="accent2"/>
                </a:solidFill>
              </a:rPr>
              <a:t>E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)]</a:t>
            </a:r>
            <a:r>
              <a:rPr lang="en-US" altLang="zh-CN" sz="2800" b="1" baseline="30000">
                <a:solidFill>
                  <a:schemeClr val="accent2"/>
                </a:solidFill>
              </a:rPr>
              <a:t>2</a:t>
            </a:r>
            <a:r>
              <a:rPr lang="en-US" altLang="zh-CN" sz="2800" b="1"/>
              <a:t>                    </a:t>
            </a:r>
            <a:endParaRPr lang="en-US" altLang="zh-CN" sz="2800" b="1"/>
          </a:p>
        </p:txBody>
      </p:sp>
      <p:sp>
        <p:nvSpPr>
          <p:cNvPr id="294916" name="AutoShape 4"/>
          <p:cNvSpPr>
            <a:spLocks noChangeArrowheads="1"/>
          </p:cNvSpPr>
          <p:nvPr/>
        </p:nvSpPr>
        <p:spPr bwMode="auto">
          <a:xfrm>
            <a:off x="5486400" y="1600200"/>
            <a:ext cx="1408113" cy="679450"/>
          </a:xfrm>
          <a:prstGeom prst="wedgeRectCallout">
            <a:avLst>
              <a:gd name="adj1" fmla="val -90810"/>
              <a:gd name="adj2" fmla="val 153736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展开</a:t>
            </a:r>
            <a:endParaRPr lang="zh-CN" altLang="en-US" sz="2800" b="1"/>
          </a:p>
        </p:txBody>
      </p:sp>
      <p:sp>
        <p:nvSpPr>
          <p:cNvPr id="294917" name="Rectangle 5"/>
          <p:cNvSpPr>
            <a:spLocks noChangeArrowheads="1"/>
          </p:cNvSpPr>
          <p:nvPr/>
        </p:nvSpPr>
        <p:spPr bwMode="auto">
          <a:xfrm>
            <a:off x="457200" y="219710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/>
              <a:t>证：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</a:t>
            </a:r>
            <a:r>
              <a:rPr lang="en-US" altLang="zh-CN" sz="2800" b="1" i="1"/>
              <a:t>E</a:t>
            </a:r>
            <a:r>
              <a:rPr lang="en-US" altLang="zh-CN" sz="2800" b="1"/>
              <a:t>[</a:t>
            </a:r>
            <a:r>
              <a:rPr lang="en-US" altLang="zh-CN" sz="2800" b="1" i="1"/>
              <a:t>X</a:t>
            </a:r>
            <a:r>
              <a:rPr lang="en-US" altLang="zh-CN" sz="2800" b="1"/>
              <a:t>-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en-US" altLang="zh-CN" sz="2800" b="1" baseline="30000"/>
              <a:t>2</a:t>
            </a:r>
            <a:endParaRPr lang="en-US" altLang="zh-CN" sz="2800" b="1" baseline="30000">
              <a:solidFill>
                <a:schemeClr val="tx2"/>
              </a:solidFill>
            </a:endParaRPr>
          </a:p>
        </p:txBody>
      </p:sp>
      <p:sp>
        <p:nvSpPr>
          <p:cNvPr id="294918" name="Rectangle 6"/>
          <p:cNvSpPr>
            <a:spLocks noChangeArrowheads="1"/>
          </p:cNvSpPr>
          <p:nvPr/>
        </p:nvSpPr>
        <p:spPr bwMode="auto">
          <a:xfrm>
            <a:off x="2354263" y="2882900"/>
            <a:ext cx="3778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=</a:t>
            </a:r>
            <a:r>
              <a:rPr lang="en-US" altLang="zh-CN" sz="2800" b="1" i="1"/>
              <a:t>E</a:t>
            </a:r>
            <a:r>
              <a:rPr lang="en-US" altLang="zh-CN" sz="2800" b="1"/>
              <a:t>{</a:t>
            </a:r>
            <a:r>
              <a:rPr lang="en-US" altLang="zh-CN" sz="2800" b="1" i="1"/>
              <a:t>X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-2</a:t>
            </a:r>
            <a:r>
              <a:rPr lang="en-US" altLang="zh-CN" sz="2800" b="1" i="1"/>
              <a:t>XE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)+[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}</a:t>
            </a:r>
            <a:endParaRPr lang="en-US" altLang="zh-CN" sz="2800" b="1" baseline="30000">
              <a:solidFill>
                <a:schemeClr val="tx2"/>
              </a:solidFill>
            </a:endParaRPr>
          </a:p>
        </p:txBody>
      </p:sp>
      <p:sp>
        <p:nvSpPr>
          <p:cNvPr id="294919" name="Rectangle 7"/>
          <p:cNvSpPr>
            <a:spLocks noChangeArrowheads="1"/>
          </p:cNvSpPr>
          <p:nvPr/>
        </p:nvSpPr>
        <p:spPr bwMode="auto">
          <a:xfrm>
            <a:off x="2057400" y="3721100"/>
            <a:ext cx="4430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=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)-2[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+[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en-US" altLang="zh-CN" sz="2800" b="1" baseline="30000"/>
              <a:t>2</a:t>
            </a:r>
            <a:endParaRPr lang="en-US" altLang="zh-CN" sz="2800" b="1" baseline="30000">
              <a:solidFill>
                <a:schemeClr val="tx2"/>
              </a:solidFill>
            </a:endParaRPr>
          </a:p>
        </p:txBody>
      </p:sp>
      <p:sp>
        <p:nvSpPr>
          <p:cNvPr id="294920" name="Rectangle 8"/>
          <p:cNvSpPr>
            <a:spLocks noChangeArrowheads="1"/>
          </p:cNvSpPr>
          <p:nvPr/>
        </p:nvSpPr>
        <p:spPr bwMode="auto">
          <a:xfrm>
            <a:off x="2232025" y="4559300"/>
            <a:ext cx="2408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=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)-[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</a:t>
            </a:r>
            <a:r>
              <a:rPr lang="en-US" altLang="zh-CN" sz="2800" b="1" baseline="30000"/>
              <a:t>2</a:t>
            </a:r>
            <a:endParaRPr lang="en-US" altLang="zh-CN" sz="2800" b="1" baseline="30000"/>
          </a:p>
        </p:txBody>
      </p:sp>
      <p:sp>
        <p:nvSpPr>
          <p:cNvPr id="294921" name="AutoShape 9"/>
          <p:cNvSpPr>
            <a:spLocks noChangeArrowheads="1"/>
          </p:cNvSpPr>
          <p:nvPr/>
        </p:nvSpPr>
        <p:spPr bwMode="auto">
          <a:xfrm>
            <a:off x="6934200" y="2819400"/>
            <a:ext cx="1663700" cy="990600"/>
          </a:xfrm>
          <a:prstGeom prst="wedgeRectCallout">
            <a:avLst>
              <a:gd name="adj1" fmla="val -100764"/>
              <a:gd name="adj2" fmla="val 50801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利用期望</a:t>
            </a:r>
            <a:endParaRPr lang="zh-CN" altLang="en-US" sz="2800" b="1"/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性质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autoUpdateAnimBg="0"/>
      <p:bldP spid="294915" grpId="0" autoUpdateAnimBg="0"/>
      <p:bldP spid="294916" grpId="0" bldLvl="0" animBg="1" autoUpdateAnimBg="0"/>
      <p:bldP spid="294917" grpId="0" autoUpdateAnimBg="0"/>
      <p:bldP spid="294918" grpId="0" autoUpdateAnimBg="0"/>
      <p:bldP spid="294919" grpId="0" autoUpdateAnimBg="0"/>
      <p:bldP spid="294920" grpId="0" autoUpdateAnimBg="0"/>
      <p:bldP spid="294921" grpId="0" bldLvl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384175" y="685800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295939" name="Text Box 3"/>
          <p:cNvSpPr txBox="1">
            <a:spLocks noChangeArrowheads="1"/>
          </p:cNvSpPr>
          <p:nvPr/>
        </p:nvSpPr>
        <p:spPr bwMode="auto">
          <a:xfrm>
            <a:off x="1566727" y="685800"/>
            <a:ext cx="70535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设随机变量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具有</a:t>
            </a:r>
            <a:r>
              <a:rPr lang="en-US" altLang="zh-CN" sz="2800" b="1" dirty="0"/>
              <a:t>(0—1</a:t>
            </a:r>
            <a:r>
              <a:rPr lang="zh-CN" altLang="en-US" sz="2800" b="1" dirty="0"/>
              <a:t>）分布，其分布律为</a:t>
            </a:r>
            <a:endParaRPr lang="zh-CN" altLang="en-US" sz="2800" b="1" dirty="0"/>
          </a:p>
        </p:txBody>
      </p:sp>
      <p:graphicFrame>
        <p:nvGraphicFramePr>
          <p:cNvPr id="295940" name="Object 4"/>
          <p:cNvGraphicFramePr>
            <a:graphicFrameLocks noChangeAspect="1"/>
          </p:cNvGraphicFramePr>
          <p:nvPr/>
        </p:nvGraphicFramePr>
        <p:xfrm>
          <a:off x="1571625" y="1406525"/>
          <a:ext cx="486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6" name="公式" r:id="rId1" imgW="4781550" imgH="307975" progId="Equation.3">
                  <p:embed/>
                </p:oleObj>
              </mc:Choice>
              <mc:Fallback>
                <p:oleObj name="公式" r:id="rId1" imgW="4781550" imgH="30797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406525"/>
                        <a:ext cx="4864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1" name="Text Box 5"/>
          <p:cNvSpPr txBox="1">
            <a:spLocks noChangeArrowheads="1"/>
          </p:cNvSpPr>
          <p:nvPr/>
        </p:nvSpPr>
        <p:spPr bwMode="auto">
          <a:xfrm>
            <a:off x="425450" y="1989138"/>
            <a:ext cx="1649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求</a:t>
            </a:r>
            <a:r>
              <a:rPr lang="en-US" altLang="zh-CN" sz="2800" b="1"/>
              <a:t>D(X) .  </a:t>
            </a:r>
            <a:endParaRPr lang="en-US" altLang="zh-CN" sz="2800" b="1"/>
          </a:p>
        </p:txBody>
      </p:sp>
      <p:sp>
        <p:nvSpPr>
          <p:cNvPr id="295942" name="Text Box 6"/>
          <p:cNvSpPr txBox="1">
            <a:spLocks noChangeArrowheads="1"/>
          </p:cNvSpPr>
          <p:nvPr/>
        </p:nvSpPr>
        <p:spPr bwMode="auto">
          <a:xfrm>
            <a:off x="523875" y="2679700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graphicFrame>
        <p:nvGraphicFramePr>
          <p:cNvPr id="295943" name="Object 7"/>
          <p:cNvGraphicFramePr>
            <a:graphicFrameLocks noChangeAspect="1"/>
          </p:cNvGraphicFramePr>
          <p:nvPr/>
        </p:nvGraphicFramePr>
        <p:xfrm>
          <a:off x="1660525" y="2779713"/>
          <a:ext cx="426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7" name="公式" r:id="rId3" imgW="4181475" imgH="307975" progId="Equation.3">
                  <p:embed/>
                </p:oleObj>
              </mc:Choice>
              <mc:Fallback>
                <p:oleObj name="公式" r:id="rId3" imgW="4181475" imgH="30797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2779713"/>
                        <a:ext cx="4267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4" name="Object 8"/>
          <p:cNvGraphicFramePr>
            <a:graphicFrameLocks noChangeAspect="1"/>
          </p:cNvGraphicFramePr>
          <p:nvPr/>
        </p:nvGraphicFramePr>
        <p:xfrm>
          <a:off x="4914900" y="3789363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8" name="Equation" r:id="rId5" imgW="190500" imgH="419100" progId="Equation.3">
                  <p:embed/>
                </p:oleObj>
              </mc:Choice>
              <mc:Fallback>
                <p:oleObj name="Equation" r:id="rId5" imgW="1905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3789363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5" name="Object 9"/>
          <p:cNvGraphicFramePr>
            <a:graphicFrameLocks noChangeAspect="1"/>
          </p:cNvGraphicFramePr>
          <p:nvPr/>
        </p:nvGraphicFramePr>
        <p:xfrm>
          <a:off x="1879600" y="3376613"/>
          <a:ext cx="4724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9" name="公式" r:id="rId7" imgW="4638675" imgH="384810" progId="Equation.3">
                  <p:embed/>
                </p:oleObj>
              </mc:Choice>
              <mc:Fallback>
                <p:oleObj name="公式" r:id="rId7" imgW="4638675" imgH="3848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376613"/>
                        <a:ext cx="47244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6" name="Text Box 10"/>
          <p:cNvSpPr txBox="1">
            <a:spLocks noChangeArrowheads="1"/>
          </p:cNvSpPr>
          <p:nvPr/>
        </p:nvSpPr>
        <p:spPr bwMode="auto">
          <a:xfrm>
            <a:off x="490538" y="3975100"/>
            <a:ext cx="125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由公式</a:t>
            </a:r>
            <a:endParaRPr lang="zh-CN" altLang="en-US" sz="2800" b="1"/>
          </a:p>
        </p:txBody>
      </p:sp>
      <p:graphicFrame>
        <p:nvGraphicFramePr>
          <p:cNvPr id="295947" name="Object 11"/>
          <p:cNvGraphicFramePr>
            <a:graphicFrameLocks noChangeAspect="1"/>
          </p:cNvGraphicFramePr>
          <p:nvPr/>
        </p:nvGraphicFramePr>
        <p:xfrm>
          <a:off x="1866900" y="4672013"/>
          <a:ext cx="66548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0" name="公式" r:id="rId9" imgW="6572250" imgH="384810" progId="Equation.3">
                  <p:embed/>
                </p:oleObj>
              </mc:Choice>
              <mc:Fallback>
                <p:oleObj name="公式" r:id="rId9" imgW="6572250" imgH="3848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672013"/>
                        <a:ext cx="66548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8" name="Text Box 12"/>
          <p:cNvSpPr txBox="1">
            <a:spLocks noChangeArrowheads="1"/>
          </p:cNvSpPr>
          <p:nvPr/>
        </p:nvSpPr>
        <p:spPr bwMode="auto">
          <a:xfrm>
            <a:off x="490538" y="5265738"/>
            <a:ext cx="217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因此</a:t>
            </a:r>
            <a:r>
              <a:rPr lang="en-US" altLang="zh-CN" sz="2800" b="1">
                <a:solidFill>
                  <a:schemeClr val="accent2"/>
                </a:solidFill>
              </a:rPr>
              <a:t>,0-1</a:t>
            </a:r>
            <a:r>
              <a:rPr lang="zh-CN" altLang="en-US" sz="2800" b="1">
                <a:solidFill>
                  <a:schemeClr val="accent2"/>
                </a:solidFill>
              </a:rPr>
              <a:t>分布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295949" name="Object 13"/>
          <p:cNvGraphicFramePr>
            <a:graphicFrameLocks noChangeAspect="1"/>
          </p:cNvGraphicFramePr>
          <p:nvPr/>
        </p:nvGraphicFramePr>
        <p:xfrm>
          <a:off x="2438400" y="5791200"/>
          <a:ext cx="401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1" name="公式" r:id="rId11" imgW="3924300" imgH="307975" progId="Equation.3">
                  <p:embed/>
                </p:oleObj>
              </mc:Choice>
              <mc:Fallback>
                <p:oleObj name="公式" r:id="rId11" imgW="3924300" imgH="3079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791200"/>
                        <a:ext cx="4013200" cy="3937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9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9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9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autoUpdateAnimBg="0"/>
      <p:bldP spid="295941" grpId="0" autoUpdateAnimBg="0"/>
      <p:bldP spid="295942" grpId="0" autoUpdateAnimBg="0"/>
      <p:bldP spid="295946" grpId="0" autoUpdateAnimBg="0"/>
      <p:bldP spid="29594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609600" y="609600"/>
            <a:ext cx="8534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zh-CN" sz="2800"/>
          </a:p>
          <a:p>
            <a:pPr algn="ctr">
              <a:spcBef>
                <a:spcPct val="50000"/>
              </a:spcBef>
            </a:pPr>
            <a:endParaRPr lang="en-US" altLang="zh-CN" sz="2800"/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98463" y="285750"/>
            <a:ext cx="719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/>
        </p:nvGraphicFramePr>
        <p:xfrm>
          <a:off x="1258888" y="260350"/>
          <a:ext cx="41036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1" name="Equation" r:id="rId1" imgW="1371600" imgH="134620" progId="Equation.DSMT4">
                  <p:embed/>
                </p:oleObj>
              </mc:Choice>
              <mc:Fallback>
                <p:oleObj name="Equation" r:id="rId1" imgW="1371600" imgH="1346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60350"/>
                        <a:ext cx="41036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5" name="Text Box 5"/>
          <p:cNvSpPr txBox="1">
            <a:spLocks noChangeArrowheads="1"/>
          </p:cNvSpPr>
          <p:nvPr/>
        </p:nvSpPr>
        <p:spPr bwMode="auto">
          <a:xfrm>
            <a:off x="403225" y="930275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sp>
        <p:nvSpPr>
          <p:cNvPr id="296966" name="Text Box 6"/>
          <p:cNvSpPr txBox="1">
            <a:spLocks noChangeArrowheads="1"/>
          </p:cNvSpPr>
          <p:nvPr/>
        </p:nvSpPr>
        <p:spPr bwMode="auto">
          <a:xfrm>
            <a:off x="1139825" y="954088"/>
            <a:ext cx="252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/>
              <a:t>X</a:t>
            </a:r>
            <a:r>
              <a:rPr lang="zh-CN" altLang="en-US" sz="2800" b="1" dirty="0"/>
              <a:t>的分布律为</a:t>
            </a:r>
            <a:endParaRPr lang="zh-CN" altLang="en-US" sz="2800" b="1" dirty="0"/>
          </a:p>
        </p:txBody>
      </p:sp>
      <p:graphicFrame>
        <p:nvGraphicFramePr>
          <p:cNvPr id="296967" name="Object 7"/>
          <p:cNvGraphicFramePr>
            <a:graphicFrameLocks noChangeAspect="1"/>
          </p:cNvGraphicFramePr>
          <p:nvPr/>
        </p:nvGraphicFramePr>
        <p:xfrm>
          <a:off x="1781175" y="1463675"/>
          <a:ext cx="53990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name="公式" r:id="rId3" imgW="5314950" imgH="808355" progId="Equation.3">
                  <p:embed/>
                </p:oleObj>
              </mc:Choice>
              <mc:Fallback>
                <p:oleObj name="公式" r:id="rId3" imgW="5314950" imgH="80835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1463675"/>
                        <a:ext cx="53990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8" name="Text Box 8"/>
          <p:cNvSpPr txBox="1">
            <a:spLocks noChangeArrowheads="1"/>
          </p:cNvSpPr>
          <p:nvPr/>
        </p:nvSpPr>
        <p:spPr bwMode="auto">
          <a:xfrm>
            <a:off x="660400" y="2511425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上节已算得</a:t>
            </a:r>
            <a:endParaRPr lang="zh-CN" altLang="en-US" sz="2800" b="1"/>
          </a:p>
        </p:txBody>
      </p:sp>
      <p:graphicFrame>
        <p:nvGraphicFramePr>
          <p:cNvPr id="296969" name="Object 9"/>
          <p:cNvGraphicFramePr>
            <a:graphicFrameLocks noChangeAspect="1"/>
          </p:cNvGraphicFramePr>
          <p:nvPr/>
        </p:nvGraphicFramePr>
        <p:xfrm>
          <a:off x="2820988" y="2611438"/>
          <a:ext cx="1646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3" name="公式" r:id="rId5" imgW="1971675" imgH="337185" progId="Equation.3">
                  <p:embed/>
                </p:oleObj>
              </mc:Choice>
              <mc:Fallback>
                <p:oleObj name="公式" r:id="rId5" imgW="1971675" imgH="3371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2611438"/>
                        <a:ext cx="16462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70" name="Object 10"/>
          <p:cNvGraphicFramePr>
            <a:graphicFrameLocks noChangeAspect="1"/>
          </p:cNvGraphicFramePr>
          <p:nvPr/>
        </p:nvGraphicFramePr>
        <p:xfrm>
          <a:off x="611188" y="3429000"/>
          <a:ext cx="3898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4" name="公式" r:id="rId7" imgW="3810000" imgH="384810" progId="Equation.3">
                  <p:embed/>
                </p:oleObj>
              </mc:Choice>
              <mc:Fallback>
                <p:oleObj name="公式" r:id="rId7" imgW="3810000" imgH="3848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429000"/>
                        <a:ext cx="3898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71" name="Object 11"/>
          <p:cNvGraphicFramePr>
            <a:graphicFrameLocks noChangeAspect="1"/>
          </p:cNvGraphicFramePr>
          <p:nvPr/>
        </p:nvGraphicFramePr>
        <p:xfrm>
          <a:off x="4949825" y="3482975"/>
          <a:ext cx="33909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5" name="公式" r:id="rId9" imgW="3305175" imgH="307975" progId="Equation.3">
                  <p:embed/>
                </p:oleObj>
              </mc:Choice>
              <mc:Fallback>
                <p:oleObj name="公式" r:id="rId9" imgW="3305175" imgH="30797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3482975"/>
                        <a:ext cx="33909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72" name="Object 12"/>
          <p:cNvGraphicFramePr>
            <a:graphicFrameLocks noChangeAspect="1"/>
          </p:cNvGraphicFramePr>
          <p:nvPr/>
        </p:nvGraphicFramePr>
        <p:xfrm>
          <a:off x="1597025" y="4283075"/>
          <a:ext cx="3416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6" name="公式" r:id="rId11" imgW="3333750" imgH="885825" progId="Equation.3">
                  <p:embed/>
                </p:oleObj>
              </mc:Choice>
              <mc:Fallback>
                <p:oleObj name="公式" r:id="rId11" imgW="3333750" imgH="88582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4283075"/>
                        <a:ext cx="3416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73" name="Object 13"/>
          <p:cNvGraphicFramePr>
            <a:graphicFrameLocks noChangeAspect="1"/>
          </p:cNvGraphicFramePr>
          <p:nvPr/>
        </p:nvGraphicFramePr>
        <p:xfrm>
          <a:off x="5191125" y="4206875"/>
          <a:ext cx="3187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7" name="公式" r:id="rId13" imgW="3105150" imgH="885825" progId="Equation.3">
                  <p:embed/>
                </p:oleObj>
              </mc:Choice>
              <mc:Fallback>
                <p:oleObj name="公式" r:id="rId13" imgW="3105150" imgH="8858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4206875"/>
                        <a:ext cx="3187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74" name="Object 14"/>
          <p:cNvGraphicFramePr>
            <a:graphicFrameLocks noChangeAspect="1"/>
          </p:cNvGraphicFramePr>
          <p:nvPr/>
        </p:nvGraphicFramePr>
        <p:xfrm>
          <a:off x="1673225" y="5618163"/>
          <a:ext cx="3276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8" name="公式" r:id="rId15" imgW="3190875" imgH="307975" progId="Equation.3">
                  <p:embed/>
                </p:oleObj>
              </mc:Choice>
              <mc:Fallback>
                <p:oleObj name="公式" r:id="rId15" imgW="3190875" imgH="30797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5618163"/>
                        <a:ext cx="32766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29697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29697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3" dur="1" fill="hold"/>
                                        <p:tgtEl>
                                          <p:spTgt spid="29697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6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1" fill="hold"/>
                                        <p:tgtEl>
                                          <p:spTgt spid="29697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5" grpId="0" autoUpdateAnimBg="0"/>
      <p:bldP spid="296966" grpId="0" autoUpdateAnimBg="0"/>
      <p:bldP spid="29696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986" name="Object 2"/>
          <p:cNvGraphicFramePr>
            <a:graphicFrameLocks noChangeAspect="1"/>
          </p:cNvGraphicFramePr>
          <p:nvPr/>
        </p:nvGraphicFramePr>
        <p:xfrm>
          <a:off x="827584" y="3212976"/>
          <a:ext cx="8028511" cy="2195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6" name="Equation" r:id="rId1" imgW="82905600" imgH="21945600" progId="Equation.DSMT4">
                  <p:embed/>
                </p:oleObj>
              </mc:Choice>
              <mc:Fallback>
                <p:oleObj name="Equation" r:id="rId1" imgW="82905600" imgH="21945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212976"/>
                        <a:ext cx="8028511" cy="2195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1752600" y="914400"/>
          <a:ext cx="43815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7" name="公式" r:id="rId3" imgW="4295775" imgH="384810" progId="Equation.3">
                  <p:embed/>
                </p:oleObj>
              </mc:Choice>
              <mc:Fallback>
                <p:oleObj name="公式" r:id="rId3" imgW="4295775" imgH="3848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914400"/>
                        <a:ext cx="43815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8" name="Text Box 4"/>
          <p:cNvSpPr txBox="1">
            <a:spLocks noChangeArrowheads="1"/>
          </p:cNvSpPr>
          <p:nvPr/>
        </p:nvSpPr>
        <p:spPr bwMode="auto">
          <a:xfrm>
            <a:off x="695325" y="1662113"/>
            <a:ext cx="2417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因此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zh-CN" altLang="en-US" sz="2800" b="1">
                <a:solidFill>
                  <a:schemeClr val="accent2"/>
                </a:solidFill>
              </a:rPr>
              <a:t>泊松分布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297989" name="Object 5"/>
          <p:cNvGraphicFramePr>
            <a:graphicFrameLocks noChangeAspect="1"/>
          </p:cNvGraphicFramePr>
          <p:nvPr/>
        </p:nvGraphicFramePr>
        <p:xfrm>
          <a:off x="3001963" y="2605088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8" name="公式" r:id="rId5" imgW="2962275" imgH="307975" progId="Equation.3">
                  <p:embed/>
                </p:oleObj>
              </mc:Choice>
              <mc:Fallback>
                <p:oleObj name="公式" r:id="rId5" imgW="2962275" imgH="30797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2605088"/>
                        <a:ext cx="3048000" cy="3937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9798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9798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9798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647700" y="2889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299011" name="Object 3"/>
          <p:cNvGraphicFramePr>
            <a:graphicFrameLocks noChangeAspect="1"/>
          </p:cNvGraphicFramePr>
          <p:nvPr/>
        </p:nvGraphicFramePr>
        <p:xfrm>
          <a:off x="1644650" y="317500"/>
          <a:ext cx="369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5" name="公式" r:id="rId1" imgW="3609975" imgH="346710" progId="Equation.3">
                  <p:embed/>
                </p:oleObj>
              </mc:Choice>
              <mc:Fallback>
                <p:oleObj name="公式" r:id="rId1" imgW="3609975" imgH="346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317500"/>
                        <a:ext cx="369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717550" y="1266825"/>
            <a:ext cx="630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 </a:t>
            </a:r>
            <a:endParaRPr lang="zh-CN" altLang="en-US" sz="2800" b="1"/>
          </a:p>
        </p:txBody>
      </p:sp>
      <p:graphicFrame>
        <p:nvGraphicFramePr>
          <p:cNvPr id="299013" name="Object 5"/>
          <p:cNvGraphicFramePr>
            <a:graphicFrameLocks noChangeAspect="1"/>
          </p:cNvGraphicFramePr>
          <p:nvPr/>
        </p:nvGraphicFramePr>
        <p:xfrm>
          <a:off x="1524000" y="1295400"/>
          <a:ext cx="254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6" name="公式" r:id="rId3" imgW="2457450" imgH="346710" progId="Equation.3">
                  <p:embed/>
                </p:oleObj>
              </mc:Choice>
              <mc:Fallback>
                <p:oleObj name="公式" r:id="rId3" imgW="2457450" imgH="3467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95400"/>
                        <a:ext cx="2540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4" name="Object 6"/>
          <p:cNvGraphicFramePr>
            <a:graphicFrameLocks noChangeAspect="1"/>
          </p:cNvGraphicFramePr>
          <p:nvPr/>
        </p:nvGraphicFramePr>
        <p:xfrm>
          <a:off x="4521200" y="844550"/>
          <a:ext cx="37084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7" name="公式" r:id="rId5" imgW="3619500" imgH="1337945" progId="Equation.3">
                  <p:embed/>
                </p:oleObj>
              </mc:Choice>
              <mc:Fallback>
                <p:oleObj name="公式" r:id="rId5" imgW="3619500" imgH="13379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844550"/>
                        <a:ext cx="37084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5" name="Object 7"/>
          <p:cNvGraphicFramePr>
            <a:graphicFrameLocks noChangeAspect="1"/>
          </p:cNvGraphicFramePr>
          <p:nvPr/>
        </p:nvGraphicFramePr>
        <p:xfrm>
          <a:off x="769938" y="2374900"/>
          <a:ext cx="520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8" name="公式" r:id="rId7" imgW="5124450" imgH="750570" progId="Equation.3">
                  <p:embed/>
                </p:oleObj>
              </mc:Choice>
              <mc:Fallback>
                <p:oleObj name="公式" r:id="rId7" imgW="5124450" imgH="75057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374900"/>
                        <a:ext cx="5207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6" name="Object 8"/>
          <p:cNvGraphicFramePr>
            <a:graphicFrameLocks noChangeAspect="1"/>
          </p:cNvGraphicFramePr>
          <p:nvPr/>
        </p:nvGraphicFramePr>
        <p:xfrm>
          <a:off x="752475" y="3244850"/>
          <a:ext cx="5980113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9" name="公式" r:id="rId9" imgW="5895975" imgH="1569085" progId="Equation.3">
                  <p:embed/>
                </p:oleObj>
              </mc:Choice>
              <mc:Fallback>
                <p:oleObj name="公式" r:id="rId9" imgW="5895975" imgH="15690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3244850"/>
                        <a:ext cx="5980113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7" name="Text Box 9"/>
          <p:cNvSpPr txBox="1">
            <a:spLocks noChangeArrowheads="1"/>
          </p:cNvSpPr>
          <p:nvPr/>
        </p:nvSpPr>
        <p:spPr bwMode="auto">
          <a:xfrm>
            <a:off x="695325" y="4860925"/>
            <a:ext cx="2417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因此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zh-CN" altLang="en-US" sz="2800" b="1">
                <a:solidFill>
                  <a:schemeClr val="accent2"/>
                </a:solidFill>
              </a:rPr>
              <a:t>均匀分布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299018" name="Object 10"/>
          <p:cNvGraphicFramePr>
            <a:graphicFrameLocks noChangeAspect="1"/>
          </p:cNvGraphicFramePr>
          <p:nvPr/>
        </p:nvGraphicFramePr>
        <p:xfrm>
          <a:off x="2362200" y="5334000"/>
          <a:ext cx="4457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0" name="公式" r:id="rId11" imgW="4371975" imgH="828040" progId="Equation.3">
                  <p:embed/>
                </p:oleObj>
              </mc:Choice>
              <mc:Fallback>
                <p:oleObj name="公式" r:id="rId11" imgW="4371975" imgH="828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334000"/>
                        <a:ext cx="4457700" cy="9017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9901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9901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9901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9901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990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9901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990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29901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2" grpId="0" autoUpdateAnimBg="0"/>
      <p:bldP spid="29901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469900" y="476250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00035" name="Text Box 3"/>
          <p:cNvSpPr txBox="1">
            <a:spLocks noChangeArrowheads="1"/>
          </p:cNvSpPr>
          <p:nvPr/>
        </p:nvSpPr>
        <p:spPr bwMode="auto">
          <a:xfrm>
            <a:off x="1752600" y="533400"/>
            <a:ext cx="6602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设随机变量</a:t>
            </a:r>
            <a:r>
              <a:rPr lang="en-US" altLang="zh-CN" sz="2800" b="1"/>
              <a:t>X</a:t>
            </a:r>
            <a:r>
              <a:rPr lang="zh-CN" altLang="en-US" sz="2800" b="1"/>
              <a:t>服从指数分布</a:t>
            </a:r>
            <a:r>
              <a:rPr lang="en-US" altLang="zh-CN" sz="2800" b="1"/>
              <a:t>,</a:t>
            </a:r>
            <a:r>
              <a:rPr lang="zh-CN" altLang="en-US" sz="2800" b="1"/>
              <a:t>其概率密度为</a:t>
            </a:r>
            <a:endParaRPr lang="zh-CN" altLang="en-US" sz="2800" b="1"/>
          </a:p>
        </p:txBody>
      </p:sp>
      <p:graphicFrame>
        <p:nvGraphicFramePr>
          <p:cNvPr id="300036" name="Object 4"/>
          <p:cNvGraphicFramePr>
            <a:graphicFrameLocks noChangeAspect="1"/>
          </p:cNvGraphicFramePr>
          <p:nvPr/>
        </p:nvGraphicFramePr>
        <p:xfrm>
          <a:off x="2341563" y="1057275"/>
          <a:ext cx="31877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0" name="公式" r:id="rId1" imgW="3105150" imgH="1405255" progId="Equation.3">
                  <p:embed/>
                </p:oleObj>
              </mc:Choice>
              <mc:Fallback>
                <p:oleObj name="公式" r:id="rId1" imgW="3105150" imgH="14052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1057275"/>
                        <a:ext cx="31877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37" name="Object 5"/>
          <p:cNvGraphicFramePr>
            <a:graphicFrameLocks noChangeAspect="1"/>
          </p:cNvGraphicFramePr>
          <p:nvPr/>
        </p:nvGraphicFramePr>
        <p:xfrm>
          <a:off x="1414463" y="2568575"/>
          <a:ext cx="421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1" name="公式" r:id="rId3" imgW="4133850" imgH="346710" progId="Equation.3">
                  <p:embed/>
                </p:oleObj>
              </mc:Choice>
              <mc:Fallback>
                <p:oleObj name="公式" r:id="rId3" imgW="4133850" imgH="3467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2568575"/>
                        <a:ext cx="4216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8" name="Text Box 6"/>
          <p:cNvSpPr txBox="1">
            <a:spLocks noChangeArrowheads="1"/>
          </p:cNvSpPr>
          <p:nvPr/>
        </p:nvSpPr>
        <p:spPr bwMode="auto">
          <a:xfrm>
            <a:off x="550863" y="320516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graphicFrame>
        <p:nvGraphicFramePr>
          <p:cNvPr id="300039" name="Object 7"/>
          <p:cNvGraphicFramePr>
            <a:graphicFrameLocks noChangeAspect="1"/>
          </p:cNvGraphicFramePr>
          <p:nvPr/>
        </p:nvGraphicFramePr>
        <p:xfrm>
          <a:off x="1338263" y="2981325"/>
          <a:ext cx="5372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2" name="公式" r:id="rId5" imgW="5286375" imgH="953135" progId="Equation.3">
                  <p:embed/>
                </p:oleObj>
              </mc:Choice>
              <mc:Fallback>
                <p:oleObj name="公式" r:id="rId5" imgW="5286375" imgH="9531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2981325"/>
                        <a:ext cx="53721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40" name="Object 8"/>
          <p:cNvGraphicFramePr>
            <a:graphicFrameLocks noChangeAspect="1"/>
          </p:cNvGraphicFramePr>
          <p:nvPr/>
        </p:nvGraphicFramePr>
        <p:xfrm>
          <a:off x="1217613" y="3895725"/>
          <a:ext cx="6210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3" name="公式" r:id="rId7" imgW="6124575" imgH="953135" progId="Equation.3">
                  <p:embed/>
                </p:oleObj>
              </mc:Choice>
              <mc:Fallback>
                <p:oleObj name="公式" r:id="rId7" imgW="6124575" imgH="9531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3895725"/>
                        <a:ext cx="6210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41" name="Object 9"/>
          <p:cNvGraphicFramePr>
            <a:graphicFrameLocks noChangeAspect="1"/>
          </p:cNvGraphicFramePr>
          <p:nvPr/>
        </p:nvGraphicFramePr>
        <p:xfrm>
          <a:off x="881063" y="4892675"/>
          <a:ext cx="22479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4" name="公式" r:id="rId9" imgW="2162175" imgH="384810" progId="Equation.3">
                  <p:embed/>
                </p:oleObj>
              </mc:Choice>
              <mc:Fallback>
                <p:oleObj name="公式" r:id="rId9" imgW="2162175" imgH="3848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4892675"/>
                        <a:ext cx="22479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42" name="Text Box 10"/>
          <p:cNvSpPr txBox="1">
            <a:spLocks noChangeArrowheads="1"/>
          </p:cNvSpPr>
          <p:nvPr/>
        </p:nvSpPr>
        <p:spPr bwMode="auto">
          <a:xfrm>
            <a:off x="585788" y="5486400"/>
            <a:ext cx="3130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由此可知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zh-CN" altLang="en-US" sz="2800" b="1">
                <a:solidFill>
                  <a:schemeClr val="accent2"/>
                </a:solidFill>
              </a:rPr>
              <a:t>指数分布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300043" name="Object 11"/>
          <p:cNvGraphicFramePr>
            <a:graphicFrameLocks noChangeAspect="1"/>
          </p:cNvGraphicFramePr>
          <p:nvPr/>
        </p:nvGraphicFramePr>
        <p:xfrm>
          <a:off x="3810000" y="5562600"/>
          <a:ext cx="3683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5" name="公式" r:id="rId11" imgW="3600450" imgH="327025" progId="Equation.3">
                  <p:embed/>
                </p:oleObj>
              </mc:Choice>
              <mc:Fallback>
                <p:oleObj name="公式" r:id="rId11" imgW="3600450" imgH="3270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562600"/>
                        <a:ext cx="3683000" cy="404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0003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0003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30003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30003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0004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30004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30004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30004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autoUpdateAnimBg="0"/>
      <p:bldP spid="300038" grpId="0" autoUpdateAnimBg="0"/>
      <p:bldP spid="300042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693738" y="4572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00FF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Gamma </a:t>
            </a:r>
            <a:r>
              <a:rPr lang="zh-CN" altLang="en-US" sz="2800">
                <a:solidFill>
                  <a:srgbClr val="0000FF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分布 </a:t>
            </a:r>
            <a:endParaRPr lang="zh-CN" altLang="en-US" sz="2800">
              <a:solidFill>
                <a:srgbClr val="0000FF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/>
        </p:nvGraphicFramePr>
        <p:xfrm>
          <a:off x="769938" y="1219200"/>
          <a:ext cx="8012112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8" name="文档" r:id="rId1" imgW="4921250" imgH="705485" progId="Word.Document.8">
                  <p:embed/>
                </p:oleObj>
              </mc:Choice>
              <mc:Fallback>
                <p:oleObj name="文档" r:id="rId1" imgW="4921250" imgH="70548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1219200"/>
                        <a:ext cx="8012112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/>
        </p:nvGraphicFramePr>
        <p:xfrm>
          <a:off x="1831975" y="2024063"/>
          <a:ext cx="5370513" cy="170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9" name="Equation" r:id="rId3" imgW="3517900" imgH="1117600" progId="Equation.DSMT4">
                  <p:embed/>
                </p:oleObj>
              </mc:Choice>
              <mc:Fallback>
                <p:oleObj name="Equation" r:id="rId3" imgW="3517900" imgH="1117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2024063"/>
                        <a:ext cx="5370513" cy="170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1" name="Object 7"/>
          <p:cNvGraphicFramePr>
            <a:graphicFrameLocks noChangeAspect="1"/>
          </p:cNvGraphicFramePr>
          <p:nvPr/>
        </p:nvGraphicFramePr>
        <p:xfrm>
          <a:off x="577850" y="4005263"/>
          <a:ext cx="8386763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0" name="Document" r:id="rId5" imgW="4138295" imgH="347345" progId="Word.Document.8">
                  <p:embed/>
                </p:oleObj>
              </mc:Choice>
              <mc:Fallback>
                <p:oleObj name="Document" r:id="rId5" imgW="4138295" imgH="347345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005263"/>
                        <a:ext cx="8386763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8" name="Text Box 6"/>
          <p:cNvSpPr txBox="1">
            <a:spLocks noChangeArrowheads="1"/>
          </p:cNvSpPr>
          <p:nvPr/>
        </p:nvSpPr>
        <p:spPr bwMode="auto">
          <a:xfrm>
            <a:off x="617538" y="40481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/>
              <a:t>解</a:t>
            </a:r>
            <a:endParaRPr lang="zh-CN" altLang="en-US" sz="2800"/>
          </a:p>
        </p:txBody>
      </p:sp>
      <p:graphicFrame>
        <p:nvGraphicFramePr>
          <p:cNvPr id="300039" name="Object 7"/>
          <p:cNvGraphicFramePr>
            <a:graphicFrameLocks noChangeAspect="1"/>
          </p:cNvGraphicFramePr>
          <p:nvPr/>
        </p:nvGraphicFramePr>
        <p:xfrm>
          <a:off x="1638300" y="188913"/>
          <a:ext cx="2673350" cy="456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4" name="Equation" r:id="rId1" imgW="1333500" imgH="2310130" progId="Equation.DSMT4">
                  <p:embed/>
                </p:oleObj>
              </mc:Choice>
              <mc:Fallback>
                <p:oleObj name="Equation" r:id="rId1" imgW="1333500" imgH="23101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188913"/>
                        <a:ext cx="2673350" cy="456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42" name="Text Box 10"/>
          <p:cNvSpPr txBox="1">
            <a:spLocks noChangeArrowheads="1"/>
          </p:cNvSpPr>
          <p:nvPr/>
        </p:nvSpPr>
        <p:spPr bwMode="auto">
          <a:xfrm>
            <a:off x="1257300" y="4876800"/>
            <a:ext cx="171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>
                <a:solidFill>
                  <a:schemeClr val="accent2"/>
                </a:solidFill>
              </a:rPr>
              <a:t>由此可知</a:t>
            </a:r>
            <a:r>
              <a:rPr lang="en-US" altLang="zh-CN" sz="2800">
                <a:solidFill>
                  <a:schemeClr val="accent2"/>
                </a:solidFill>
              </a:rPr>
              <a:t>,</a:t>
            </a:r>
            <a:endParaRPr lang="zh-CN" altLang="en-US" sz="2800">
              <a:solidFill>
                <a:schemeClr val="accent2"/>
              </a:solidFill>
            </a:endParaRPr>
          </a:p>
        </p:txBody>
      </p:sp>
      <p:graphicFrame>
        <p:nvGraphicFramePr>
          <p:cNvPr id="300043" name="Object 11"/>
          <p:cNvGraphicFramePr>
            <a:graphicFrameLocks noChangeAspect="1"/>
          </p:cNvGraphicFramePr>
          <p:nvPr/>
        </p:nvGraphicFramePr>
        <p:xfrm>
          <a:off x="2195513" y="5640388"/>
          <a:ext cx="388937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5" name="Equation" r:id="rId3" imgW="1485900" imgH="384810" progId="Equation.DSMT4">
                  <p:embed/>
                </p:oleObj>
              </mc:Choice>
              <mc:Fallback>
                <p:oleObj name="Equation" r:id="rId3" imgW="1485900" imgH="38481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640388"/>
                        <a:ext cx="3889375" cy="110966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5268913" y="227013"/>
          <a:ext cx="2601912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66" name="Equation" r:id="rId5" imgW="1400175" imgH="2310130" progId="Equation.DSMT4">
                  <p:embed/>
                </p:oleObj>
              </mc:Choice>
              <mc:Fallback>
                <p:oleObj name="Equation" r:id="rId5" imgW="1400175" imgH="23101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227013"/>
                        <a:ext cx="2601912" cy="424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0003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30004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8" grpId="0" autoUpdateAnimBg="0"/>
      <p:bldP spid="3000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2"/>
          <p:cNvSpPr txBox="1">
            <a:spLocks noChangeArrowheads="1"/>
          </p:cNvSpPr>
          <p:nvPr/>
        </p:nvSpPr>
        <p:spPr bwMode="auto">
          <a:xfrm>
            <a:off x="914400" y="609600"/>
            <a:ext cx="533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三、方差的性质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301069" name="Rectangle 13"/>
          <p:cNvSpPr>
            <a:spLocks noChangeArrowheads="1"/>
          </p:cNvSpPr>
          <p:nvPr/>
        </p:nvSpPr>
        <p:spPr bwMode="auto">
          <a:xfrm>
            <a:off x="592138" y="1462088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1. </a:t>
            </a:r>
            <a:r>
              <a:rPr lang="zh-CN" altLang="en-US" sz="2800" b="1"/>
              <a:t>设</a:t>
            </a:r>
            <a:r>
              <a:rPr lang="en-US" altLang="zh-CN" sz="2800" b="1" i="1"/>
              <a:t>C </a:t>
            </a:r>
            <a:r>
              <a:rPr lang="zh-CN" altLang="en-US" sz="2800" b="1"/>
              <a:t>是常数</a:t>
            </a:r>
            <a:r>
              <a:rPr lang="en-US" altLang="zh-CN" sz="2800" b="1"/>
              <a:t>, </a:t>
            </a:r>
            <a:r>
              <a:rPr lang="zh-CN" altLang="en-US" sz="2800" b="1"/>
              <a:t>则 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)=0 ;</a:t>
            </a:r>
            <a:endParaRPr lang="en-US" altLang="zh-CN" sz="2800" b="1"/>
          </a:p>
        </p:txBody>
      </p:sp>
      <p:sp>
        <p:nvSpPr>
          <p:cNvPr id="301070" name="Rectangle 14"/>
          <p:cNvSpPr>
            <a:spLocks noChangeArrowheads="1"/>
          </p:cNvSpPr>
          <p:nvPr/>
        </p:nvSpPr>
        <p:spPr bwMode="auto">
          <a:xfrm>
            <a:off x="593725" y="239871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2. </a:t>
            </a:r>
            <a:r>
              <a:rPr lang="zh-CN" altLang="en-US" sz="2800" b="1"/>
              <a:t>若 </a:t>
            </a:r>
            <a:r>
              <a:rPr lang="en-US" altLang="zh-CN" sz="2800" b="1" i="1"/>
              <a:t>C </a:t>
            </a:r>
            <a:r>
              <a:rPr lang="zh-CN" altLang="en-US" sz="2800" b="1"/>
              <a:t>是常数</a:t>
            </a:r>
            <a:r>
              <a:rPr lang="en-US" altLang="zh-CN" sz="2800" b="1"/>
              <a:t>, </a:t>
            </a:r>
            <a:r>
              <a:rPr lang="zh-CN" altLang="en-US" sz="2800" b="1"/>
              <a:t>则 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CX</a:t>
            </a:r>
            <a:r>
              <a:rPr lang="en-US" altLang="zh-CN" sz="2800" b="1"/>
              <a:t>)=</a:t>
            </a:r>
            <a:r>
              <a:rPr lang="en-US" altLang="zh-CN" sz="2800" b="1" i="1"/>
              <a:t>C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 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;</a:t>
            </a:r>
            <a:endParaRPr lang="en-US" altLang="zh-CN" sz="2800" b="1"/>
          </a:p>
        </p:txBody>
      </p:sp>
      <p:sp>
        <p:nvSpPr>
          <p:cNvPr id="301071" name="Rectangle 15"/>
          <p:cNvSpPr>
            <a:spLocks noChangeArrowheads="1"/>
          </p:cNvSpPr>
          <p:nvPr/>
        </p:nvSpPr>
        <p:spPr bwMode="auto">
          <a:xfrm>
            <a:off x="592138" y="3071813"/>
            <a:ext cx="78486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5000"/>
              </a:lnSpc>
            </a:pPr>
            <a:r>
              <a:rPr lang="en-US" altLang="zh-CN" sz="2800" b="1"/>
              <a:t>   3. </a:t>
            </a:r>
            <a:r>
              <a:rPr lang="zh-CN" altLang="en-US" sz="2800" b="1"/>
              <a:t>设 </a:t>
            </a:r>
            <a:r>
              <a:rPr lang="en-US" altLang="zh-CN" sz="2800" b="1" i="1"/>
              <a:t>X </a:t>
            </a:r>
            <a:r>
              <a:rPr lang="zh-CN" altLang="en-US" sz="2800" b="1"/>
              <a:t>与 </a:t>
            </a:r>
            <a:r>
              <a:rPr lang="en-US" altLang="zh-CN" sz="2800" b="1" i="1"/>
              <a:t>Y </a:t>
            </a:r>
            <a:r>
              <a:rPr lang="zh-CN" altLang="en-US" sz="2800" b="1"/>
              <a:t>是两个随机变量，则</a:t>
            </a:r>
            <a:endParaRPr lang="zh-CN" altLang="en-US" sz="2800" b="1"/>
          </a:p>
          <a:p>
            <a:pPr eaLnBrk="1" hangingPunct="1">
              <a:lnSpc>
                <a:spcPct val="165000"/>
              </a:lnSpc>
            </a:pPr>
            <a:r>
              <a:rPr lang="zh-CN" altLang="en-US" sz="2800" b="1" i="1"/>
              <a:t>      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en-US" altLang="zh-CN" sz="2800" b="1"/>
              <a:t>)= 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)+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)+2</a:t>
            </a:r>
            <a:r>
              <a:rPr lang="en-US" altLang="zh-CN" sz="2800" b="1" i="1"/>
              <a:t>E</a:t>
            </a:r>
            <a:r>
              <a:rPr lang="en-US" altLang="zh-CN" sz="2800" b="1"/>
              <a:t>{[</a:t>
            </a:r>
            <a:r>
              <a:rPr lang="en-US" altLang="zh-CN" sz="2800" b="1" i="1"/>
              <a:t>X</a:t>
            </a:r>
            <a:r>
              <a:rPr lang="en-US" altLang="zh-CN" sz="2800" b="1"/>
              <a:t>-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)][</a:t>
            </a:r>
            <a:r>
              <a:rPr lang="en-US" altLang="zh-CN" sz="2800" b="1" i="1"/>
              <a:t>Y</a:t>
            </a:r>
            <a:r>
              <a:rPr lang="en-US" altLang="zh-CN" sz="2800" b="1"/>
              <a:t>-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)]}</a:t>
            </a:r>
            <a:endParaRPr lang="en-US" altLang="zh-CN" sz="2800" b="1"/>
          </a:p>
        </p:txBody>
      </p:sp>
      <p:grpSp>
        <p:nvGrpSpPr>
          <p:cNvPr id="2" name="Group 16"/>
          <p:cNvGrpSpPr/>
          <p:nvPr/>
        </p:nvGrpSpPr>
        <p:grpSpPr bwMode="auto">
          <a:xfrm>
            <a:off x="520700" y="4953000"/>
            <a:ext cx="8153400" cy="557213"/>
            <a:chOff x="288" y="705"/>
            <a:chExt cx="5136" cy="351"/>
          </a:xfrm>
        </p:grpSpPr>
        <p:sp>
          <p:nvSpPr>
            <p:cNvPr id="57353" name="Rectangle 17"/>
            <p:cNvSpPr>
              <a:spLocks noChangeArrowheads="1"/>
            </p:cNvSpPr>
            <p:nvPr/>
          </p:nvSpPr>
          <p:spPr bwMode="auto">
            <a:xfrm>
              <a:off x="288" y="705"/>
              <a:ext cx="51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2"/>
                  </a:solidFill>
                </a:rPr>
                <a:t>    </a:t>
              </a:r>
              <a:r>
                <a:rPr lang="en-US" altLang="zh-CN" sz="2800" b="1"/>
                <a:t>4.</a:t>
              </a:r>
              <a:r>
                <a:rPr lang="en-US" altLang="zh-CN" sz="2800" b="1">
                  <a:solidFill>
                    <a:schemeClr val="tx2"/>
                  </a:solidFill>
                </a:rPr>
                <a:t> </a:t>
              </a:r>
              <a:r>
                <a:rPr lang="en-US" altLang="zh-CN" sz="2800" b="1" i="1"/>
                <a:t>D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)=0              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{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= </a:t>
              </a:r>
              <a:r>
                <a:rPr lang="en-US" altLang="zh-CN" sz="2800" b="1" i="1"/>
                <a:t>C</a:t>
              </a:r>
              <a:r>
                <a:rPr lang="en-US" altLang="zh-CN" sz="2800" b="1"/>
                <a:t>}=1 ,</a:t>
              </a:r>
              <a:endParaRPr lang="en-US" altLang="zh-CN" sz="2800" b="1"/>
            </a:p>
          </p:txBody>
        </p:sp>
        <p:graphicFrame>
          <p:nvGraphicFramePr>
            <p:cNvPr id="57354" name="Object 18"/>
            <p:cNvGraphicFramePr>
              <a:graphicFrameLocks noChangeAspect="1"/>
            </p:cNvGraphicFramePr>
            <p:nvPr/>
          </p:nvGraphicFramePr>
          <p:xfrm>
            <a:off x="1675" y="729"/>
            <a:ext cx="43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35" name="公式" r:id="rId1" imgW="114300" imgH="67310" progId="Equation.3">
                    <p:embed/>
                  </p:oleObj>
                </mc:Choice>
                <mc:Fallback>
                  <p:oleObj name="公式" r:id="rId1" imgW="114300" imgH="6731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5" y="729"/>
                          <a:ext cx="43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75" name="Text Box 19"/>
          <p:cNvSpPr txBox="1">
            <a:spLocks noChangeArrowheads="1"/>
          </p:cNvSpPr>
          <p:nvPr/>
        </p:nvSpPr>
        <p:spPr bwMode="auto">
          <a:xfrm>
            <a:off x="5561013" y="4918075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这里</a:t>
            </a:r>
            <a:r>
              <a:rPr lang="en-US" altLang="zh-CN" sz="2800" b="1"/>
              <a:t>C=E(X)</a:t>
            </a:r>
            <a:endParaRPr lang="en-US" altLang="zh-CN" sz="2800" b="1"/>
          </a:p>
        </p:txBody>
      </p:sp>
      <p:graphicFrame>
        <p:nvGraphicFramePr>
          <p:cNvPr id="301076" name="Object 20"/>
          <p:cNvGraphicFramePr>
            <a:graphicFrameLocks noChangeAspect="1"/>
          </p:cNvGraphicFramePr>
          <p:nvPr/>
        </p:nvGraphicFramePr>
        <p:xfrm>
          <a:off x="2667000" y="4953000"/>
          <a:ext cx="9144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36" name="Equation" r:id="rId3" imgW="215900" imgH="152400" progId="Equation.3">
                  <p:embed/>
                </p:oleObj>
              </mc:Choice>
              <mc:Fallback>
                <p:oleObj name="Equation" r:id="rId3" imgW="215900" imgH="152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53000"/>
                        <a:ext cx="9144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9" grpId="0" autoUpdateAnimBg="0"/>
      <p:bldP spid="301070" grpId="0" autoUpdateAnimBg="0"/>
      <p:bldP spid="301071" grpId="0" autoUpdateAnimBg="0"/>
      <p:bldP spid="30107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990600" y="152400"/>
            <a:ext cx="321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下面我们证明性质</a:t>
            </a:r>
            <a:r>
              <a:rPr lang="en-US" altLang="zh-CN" sz="2800" b="1">
                <a:solidFill>
                  <a:srgbClr val="003399"/>
                </a:solidFill>
                <a:ea typeface="黑体" panose="02010609060101010101" pitchFamily="49" charset="-122"/>
              </a:rPr>
              <a:t>3</a:t>
            </a:r>
            <a:endParaRPr lang="en-US" altLang="zh-CN" sz="28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302083" name="Text Box 3"/>
          <p:cNvSpPr txBox="1">
            <a:spLocks noChangeArrowheads="1"/>
          </p:cNvSpPr>
          <p:nvPr/>
        </p:nvSpPr>
        <p:spPr bwMode="auto">
          <a:xfrm>
            <a:off x="1077913" y="72231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证明</a:t>
            </a:r>
            <a:endParaRPr lang="zh-CN" altLang="en-US" sz="2800" b="1"/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/>
        </p:nvGraphicFramePr>
        <p:xfrm>
          <a:off x="719138" y="1298575"/>
          <a:ext cx="81661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6" name="公式" r:id="rId1" imgW="8077200" imgH="2646680" progId="Equation.3">
                  <p:embed/>
                </p:oleObj>
              </mc:Choice>
              <mc:Fallback>
                <p:oleObj name="公式" r:id="rId1" imgW="8077200" imgH="2646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1298575"/>
                        <a:ext cx="8166100" cy="270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512763" y="4306888"/>
            <a:ext cx="6321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若 </a:t>
            </a:r>
            <a:r>
              <a:rPr lang="en-US" altLang="zh-CN" sz="2800" b="1">
                <a:solidFill>
                  <a:srgbClr val="003399"/>
                </a:solidFill>
                <a:ea typeface="黑体" panose="02010609060101010101" pitchFamily="49" charset="-122"/>
              </a:rPr>
              <a:t>X,Y </a:t>
            </a:r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相互独立</a:t>
            </a:r>
            <a:r>
              <a:rPr lang="en-US" altLang="zh-CN" sz="2800" b="1"/>
              <a:t>, </a:t>
            </a:r>
            <a:r>
              <a:rPr lang="zh-CN" altLang="en-US" sz="2800" b="1"/>
              <a:t>由数学期望的性质</a:t>
            </a:r>
            <a:r>
              <a:rPr lang="en-US" altLang="zh-CN" sz="2800" b="1"/>
              <a:t>4</a:t>
            </a:r>
            <a:r>
              <a:rPr lang="zh-CN" altLang="en-US" sz="2800" b="1"/>
              <a:t>得</a:t>
            </a:r>
            <a:endParaRPr lang="zh-CN" altLang="en-US" sz="2800" b="1"/>
          </a:p>
        </p:txBody>
      </p:sp>
      <p:graphicFrame>
        <p:nvGraphicFramePr>
          <p:cNvPr id="302086" name="Object 6"/>
          <p:cNvGraphicFramePr>
            <a:graphicFrameLocks noChangeAspect="1"/>
          </p:cNvGraphicFramePr>
          <p:nvPr/>
        </p:nvGraphicFramePr>
        <p:xfrm>
          <a:off x="2465388" y="5008563"/>
          <a:ext cx="379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7" name="公式" r:id="rId3" imgW="3714750" imgH="307975" progId="Equation.3">
                  <p:embed/>
                </p:oleObj>
              </mc:Choice>
              <mc:Fallback>
                <p:oleObj name="公式" r:id="rId3" imgW="3714750" imgH="30797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5008563"/>
                        <a:ext cx="3797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7" name="Text Box 7"/>
          <p:cNvSpPr txBox="1">
            <a:spLocks noChangeArrowheads="1"/>
          </p:cNvSpPr>
          <p:nvPr/>
        </p:nvSpPr>
        <p:spPr bwMode="auto">
          <a:xfrm>
            <a:off x="441325" y="5387975"/>
            <a:ext cx="8486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此性质可以推广到有限多个相互独立的随机变量之和的情况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autoUpdateAnimBg="0"/>
      <p:bldP spid="302085" grpId="0" autoUpdateAnimBg="0"/>
      <p:bldP spid="302087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641350" y="1008063"/>
            <a:ext cx="543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6</a:t>
            </a:r>
            <a:r>
              <a:rPr lang="en-US" altLang="zh-CN" sz="2800" b="1"/>
              <a:t>   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en-US" altLang="zh-CN" sz="2800" b="1"/>
              <a:t>~</a:t>
            </a:r>
            <a:r>
              <a:rPr lang="en-US" altLang="zh-CN" sz="2800" b="1" i="1"/>
              <a:t>B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,</a:t>
            </a:r>
            <a:r>
              <a:rPr lang="en-US" altLang="zh-CN" sz="2800" b="1" i="1"/>
              <a:t>p</a:t>
            </a:r>
            <a:r>
              <a:rPr lang="en-US" altLang="zh-CN" sz="2800" b="1"/>
              <a:t>)</a:t>
            </a:r>
            <a:r>
              <a:rPr lang="zh-CN" altLang="en-US" sz="2800" b="1"/>
              <a:t>，求</a:t>
            </a:r>
            <a:r>
              <a:rPr lang="en-US" altLang="zh-CN" sz="2800" b="1"/>
              <a:t>E(X)</a:t>
            </a:r>
            <a:r>
              <a:rPr lang="zh-CN" altLang="en-US" sz="2800" b="1"/>
              <a:t>和</a:t>
            </a:r>
            <a:r>
              <a:rPr lang="en-US" altLang="zh-CN" sz="2800" b="1"/>
              <a:t>D(X).</a:t>
            </a:r>
            <a:endParaRPr lang="en-US" altLang="zh-CN" sz="2800" b="1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996950" y="3263900"/>
            <a:ext cx="7961313" cy="1238250"/>
            <a:chOff x="416" y="1409"/>
            <a:chExt cx="5015" cy="780"/>
          </a:xfrm>
        </p:grpSpPr>
        <p:sp>
          <p:nvSpPr>
            <p:cNvPr id="59404" name="Rectangle 4"/>
            <p:cNvSpPr>
              <a:spLocks noChangeArrowheads="1"/>
            </p:cNvSpPr>
            <p:nvPr/>
          </p:nvSpPr>
          <p:spPr bwMode="auto">
            <a:xfrm>
              <a:off x="416" y="1572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/>
                <a:t>若设</a:t>
              </a:r>
              <a:endParaRPr lang="zh-CN" altLang="en-US" sz="2800" b="1"/>
            </a:p>
          </p:txBody>
        </p:sp>
        <p:graphicFrame>
          <p:nvGraphicFramePr>
            <p:cNvPr id="59405" name="Object 5"/>
            <p:cNvGraphicFramePr>
              <a:graphicFrameLocks noChangeAspect="1"/>
            </p:cNvGraphicFramePr>
            <p:nvPr/>
          </p:nvGraphicFramePr>
          <p:xfrm>
            <a:off x="1010" y="1409"/>
            <a:ext cx="2903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87" name="公式" r:id="rId1" imgW="1704975" imgH="404495" progId="Equation.3">
                    <p:embed/>
                  </p:oleObj>
                </mc:Choice>
                <mc:Fallback>
                  <p:oleObj name="公式" r:id="rId1" imgW="1704975" imgH="4044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1409"/>
                          <a:ext cx="2903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6" name="Rectangle 6"/>
            <p:cNvSpPr>
              <a:spLocks noChangeArrowheads="1"/>
            </p:cNvSpPr>
            <p:nvPr/>
          </p:nvSpPr>
          <p:spPr bwMode="auto">
            <a:xfrm>
              <a:off x="4046" y="1572"/>
              <a:ext cx="13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i="1"/>
                <a:t>i</a:t>
              </a:r>
              <a:r>
                <a:rPr lang="en-US" altLang="zh-CN" sz="2800" b="1"/>
                <a:t>=1,2</a:t>
              </a:r>
              <a:r>
                <a:rPr lang="zh-CN" altLang="en-US" sz="2800" b="1"/>
                <a:t>，</a:t>
              </a:r>
              <a:r>
                <a:rPr lang="en-US" altLang="zh-CN" sz="2800" b="1"/>
                <a:t>…</a:t>
              </a:r>
              <a:r>
                <a:rPr lang="zh-CN" altLang="en-US" sz="2800" b="1"/>
                <a:t>，</a:t>
              </a:r>
              <a:r>
                <a:rPr lang="en-US" altLang="zh-CN" sz="2800" b="1" i="1"/>
                <a:t>n</a:t>
              </a:r>
              <a:endParaRPr lang="en-US" altLang="zh-CN" sz="2800"/>
            </a:p>
          </p:txBody>
        </p:sp>
      </p:grpSp>
      <p:grpSp>
        <p:nvGrpSpPr>
          <p:cNvPr id="33809" name="Group 17"/>
          <p:cNvGrpSpPr/>
          <p:nvPr/>
        </p:nvGrpSpPr>
        <p:grpSpPr bwMode="auto">
          <a:xfrm>
            <a:off x="611188" y="4581525"/>
            <a:ext cx="7200900" cy="1090613"/>
            <a:chOff x="375" y="2879"/>
            <a:chExt cx="4173" cy="687"/>
          </a:xfrm>
        </p:grpSpPr>
        <p:sp>
          <p:nvSpPr>
            <p:cNvPr id="59402" name="Text Box 8"/>
            <p:cNvSpPr txBox="1">
              <a:spLocks noChangeArrowheads="1"/>
            </p:cNvSpPr>
            <p:nvPr/>
          </p:nvSpPr>
          <p:spPr bwMode="auto">
            <a:xfrm>
              <a:off x="375" y="3036"/>
              <a:ext cx="41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/>
                <a:t> </a:t>
              </a:r>
              <a:r>
                <a:rPr lang="zh-CN" altLang="en-US" sz="2800" b="1"/>
                <a:t>则                    是</a:t>
              </a:r>
              <a:r>
                <a:rPr lang="en-US" altLang="zh-CN" sz="2800" b="1" i="1"/>
                <a:t>n</a:t>
              </a:r>
              <a:r>
                <a:rPr lang="zh-CN" altLang="en-US" sz="2800" b="1"/>
                <a:t>次试验中“成功” 的次数</a:t>
              </a:r>
              <a:endParaRPr lang="zh-CN" altLang="en-US" sz="2800" b="1"/>
            </a:p>
          </p:txBody>
        </p:sp>
        <p:graphicFrame>
          <p:nvGraphicFramePr>
            <p:cNvPr id="59403" name="Object 9"/>
            <p:cNvGraphicFramePr>
              <a:graphicFrameLocks noChangeAspect="1"/>
            </p:cNvGraphicFramePr>
            <p:nvPr/>
          </p:nvGraphicFramePr>
          <p:xfrm>
            <a:off x="703" y="2879"/>
            <a:ext cx="1097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88" name="Equation" r:id="rId3" imgW="600075" imgH="346710" progId="Equation.DSMT4">
                    <p:embed/>
                  </p:oleObj>
                </mc:Choice>
                <mc:Fallback>
                  <p:oleObj name="Equation" r:id="rId3" imgW="600075" imgH="34671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879"/>
                          <a:ext cx="1097" cy="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7" name="Rectangle 10"/>
          <p:cNvSpPr>
            <a:spLocks noChangeArrowheads="1"/>
          </p:cNvSpPr>
          <p:nvPr/>
        </p:nvSpPr>
        <p:spPr bwMode="auto">
          <a:xfrm>
            <a:off x="533400" y="228600"/>
            <a:ext cx="5719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下面我们举例说明方差性质的应用 </a:t>
            </a:r>
            <a:r>
              <a:rPr lang="en-US" altLang="zh-CN" sz="2800" b="1">
                <a:solidFill>
                  <a:srgbClr val="003399"/>
                </a:solidFill>
                <a:ea typeface="黑体" panose="02010609060101010101" pitchFamily="49" charset="-122"/>
              </a:rPr>
              <a:t>.</a:t>
            </a:r>
            <a:endParaRPr lang="en-US" altLang="zh-CN" sz="28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303115" name="Text Box 11"/>
          <p:cNvSpPr txBox="1">
            <a:spLocks noChangeArrowheads="1"/>
          </p:cNvSpPr>
          <p:nvPr/>
        </p:nvSpPr>
        <p:spPr bwMode="auto">
          <a:xfrm>
            <a:off x="1412875" y="1716088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sp>
        <p:nvSpPr>
          <p:cNvPr id="303116" name="Rectangle 12"/>
          <p:cNvSpPr>
            <a:spLocks noChangeArrowheads="1"/>
          </p:cNvSpPr>
          <p:nvPr/>
        </p:nvSpPr>
        <p:spPr bwMode="auto">
          <a:xfrm>
            <a:off x="2214563" y="1711325"/>
            <a:ext cx="1633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/>
              <a:t>X</a:t>
            </a:r>
            <a:r>
              <a:rPr lang="en-US" altLang="zh-CN" sz="2800" b="1"/>
              <a:t>~</a:t>
            </a:r>
            <a:r>
              <a:rPr lang="en-US" altLang="zh-CN" sz="2800" b="1" i="1"/>
              <a:t>B</a:t>
            </a:r>
            <a:r>
              <a:rPr lang="en-US" altLang="zh-CN" sz="2800" b="1"/>
              <a:t>(</a:t>
            </a:r>
            <a:r>
              <a:rPr lang="en-US" altLang="zh-CN" sz="2800" b="1" i="1"/>
              <a:t>n</a:t>
            </a:r>
            <a:r>
              <a:rPr lang="en-US" altLang="zh-CN" sz="2800" b="1"/>
              <a:t>,</a:t>
            </a:r>
            <a:r>
              <a:rPr lang="en-US" altLang="zh-CN" sz="2800" b="1" i="1"/>
              <a:t>p</a:t>
            </a:r>
            <a:r>
              <a:rPr lang="en-US" altLang="zh-CN" sz="2800" b="1"/>
              <a:t>),</a:t>
            </a:r>
            <a:endParaRPr lang="en-US" altLang="zh-CN" sz="2800" b="1"/>
          </a:p>
        </p:txBody>
      </p:sp>
      <p:sp>
        <p:nvSpPr>
          <p:cNvPr id="303117" name="Text Box 13"/>
          <p:cNvSpPr txBox="1">
            <a:spLocks noChangeArrowheads="1"/>
          </p:cNvSpPr>
          <p:nvPr/>
        </p:nvSpPr>
        <p:spPr bwMode="auto">
          <a:xfrm>
            <a:off x="533400" y="2473325"/>
            <a:ext cx="2322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“</a:t>
            </a:r>
            <a:r>
              <a:rPr lang="zh-CN" altLang="en-US" sz="2800" b="1"/>
              <a:t>成功” 次数 </a:t>
            </a:r>
            <a:r>
              <a:rPr lang="en-US" altLang="zh-CN" sz="2800" b="1"/>
              <a:t>. 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03118" name="Rectangle 14"/>
          <p:cNvSpPr>
            <a:spLocks noChangeArrowheads="1"/>
          </p:cNvSpPr>
          <p:nvPr/>
        </p:nvSpPr>
        <p:spPr bwMode="auto">
          <a:xfrm>
            <a:off x="4386263" y="1787525"/>
            <a:ext cx="421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则</a:t>
            </a:r>
            <a:r>
              <a:rPr lang="en-US" altLang="zh-CN" sz="2800" b="1"/>
              <a:t>X</a:t>
            </a:r>
            <a:r>
              <a:rPr lang="zh-CN" altLang="en-US" sz="2800" b="1"/>
              <a:t>表示</a:t>
            </a:r>
            <a:r>
              <a:rPr lang="en-US" altLang="zh-CN" sz="2800" b="1" i="1"/>
              <a:t>n</a:t>
            </a:r>
            <a:r>
              <a:rPr lang="zh-CN" altLang="en-US" sz="2800" b="1"/>
              <a:t>重努里试验中的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 autoUpdateAnimBg="0"/>
      <p:bldP spid="303115" grpId="0" autoUpdateAnimBg="0"/>
      <p:bldP spid="303116" grpId="0" autoUpdateAnimBg="0"/>
      <p:bldP spid="303117" grpId="0" autoUpdateAnimBg="0"/>
      <p:bldP spid="30311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542925" y="311943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于是</a:t>
            </a:r>
            <a:endParaRPr lang="zh-CN" altLang="en-US" sz="2800" b="1"/>
          </a:p>
        </p:txBody>
      </p:sp>
      <p:sp>
        <p:nvSpPr>
          <p:cNvPr id="304131" name="Rectangle 3"/>
          <p:cNvSpPr>
            <a:spLocks noChangeArrowheads="1"/>
          </p:cNvSpPr>
          <p:nvPr/>
        </p:nvSpPr>
        <p:spPr bwMode="auto">
          <a:xfrm>
            <a:off x="5764213" y="1333500"/>
            <a:ext cx="2484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i</a:t>
            </a:r>
            <a:r>
              <a:rPr lang="en-US" altLang="zh-CN" sz="3200" b="1"/>
              <a:t>=1,2</a:t>
            </a:r>
            <a:r>
              <a:rPr lang="zh-CN" altLang="en-US" sz="3200" b="1"/>
              <a:t>，</a:t>
            </a:r>
            <a:r>
              <a:rPr lang="en-US" altLang="zh-CN" sz="3200" b="1"/>
              <a:t>…</a:t>
            </a:r>
            <a:r>
              <a:rPr lang="zh-CN" altLang="en-US" sz="3200" b="1"/>
              <a:t>，</a:t>
            </a:r>
            <a:r>
              <a:rPr lang="en-US" altLang="zh-CN" sz="3200" b="1" i="1"/>
              <a:t>n</a:t>
            </a:r>
            <a:endParaRPr lang="en-US" altLang="zh-CN" sz="3200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235575" y="2773363"/>
            <a:ext cx="273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/>
              <a:t> </a:t>
            </a:r>
            <a:endParaRPr lang="en-US" altLang="zh-CN" sz="2800" b="1"/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539750" y="2239963"/>
            <a:ext cx="418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/>
              <a:t>由于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 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 </a:t>
            </a:r>
            <a:r>
              <a:rPr lang="zh-CN" altLang="zh-CN" sz="2800" b="1"/>
              <a:t>相互</a:t>
            </a:r>
            <a:r>
              <a:rPr lang="zh-CN" altLang="en-US" sz="2800" b="1"/>
              <a:t>独立</a:t>
            </a:r>
            <a:endParaRPr lang="zh-CN" altLang="en-US" sz="2800" b="1"/>
          </a:p>
        </p:txBody>
      </p:sp>
      <p:graphicFrame>
        <p:nvGraphicFramePr>
          <p:cNvPr id="304134" name="Object 6"/>
          <p:cNvGraphicFramePr>
            <a:graphicFrameLocks noChangeAspect="1"/>
          </p:cNvGraphicFramePr>
          <p:nvPr/>
        </p:nvGraphicFramePr>
        <p:xfrm>
          <a:off x="2054225" y="3875088"/>
          <a:ext cx="31686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31" name="公式" r:id="rId1" imgW="1066800" imgH="346710" progId="Equation.3">
                  <p:embed/>
                </p:oleObj>
              </mc:Choice>
              <mc:Fallback>
                <p:oleObj name="公式" r:id="rId1" imgW="1066800" imgH="3467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3875088"/>
                        <a:ext cx="316865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5" name="Rectangle 7"/>
          <p:cNvSpPr>
            <a:spLocks noChangeArrowheads="1"/>
          </p:cNvSpPr>
          <p:nvPr/>
        </p:nvSpPr>
        <p:spPr bwMode="auto">
          <a:xfrm>
            <a:off x="5049838" y="4183063"/>
            <a:ext cx="185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 </a:t>
            </a:r>
            <a:r>
              <a:rPr lang="en-US" altLang="zh-CN" sz="3200" b="1" i="1"/>
              <a:t>np</a:t>
            </a:r>
            <a:r>
              <a:rPr lang="en-US" altLang="zh-CN" sz="3200" b="1"/>
              <a:t>(1-</a:t>
            </a:r>
            <a:r>
              <a:rPr lang="en-US" altLang="zh-CN" sz="3200" b="1" i="1"/>
              <a:t> p</a:t>
            </a:r>
            <a:r>
              <a:rPr lang="en-US" altLang="zh-CN" sz="3200" b="1"/>
              <a:t>)</a:t>
            </a:r>
            <a:endParaRPr lang="en-US" altLang="zh-CN" sz="3200" b="1"/>
          </a:p>
        </p:txBody>
      </p:sp>
      <p:sp>
        <p:nvSpPr>
          <p:cNvPr id="304136" name="Rectangle 8"/>
          <p:cNvSpPr>
            <a:spLocks noChangeArrowheads="1"/>
          </p:cNvSpPr>
          <p:nvPr/>
        </p:nvSpPr>
        <p:spPr bwMode="auto">
          <a:xfrm>
            <a:off x="1457325" y="1271588"/>
            <a:ext cx="17097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E</a:t>
            </a:r>
            <a:r>
              <a:rPr lang="en-US" altLang="zh-CN" sz="3200" b="1"/>
              <a:t>(</a:t>
            </a:r>
            <a:r>
              <a:rPr lang="en-US" altLang="zh-CN" sz="3200" b="1" i="1"/>
              <a:t>X</a:t>
            </a:r>
            <a:r>
              <a:rPr lang="en-US" altLang="zh-CN" sz="3200" b="1" i="1" baseline="-25000"/>
              <a:t>i</a:t>
            </a:r>
            <a:r>
              <a:rPr lang="en-US" altLang="zh-CN" sz="3200" b="1"/>
              <a:t>)= </a:t>
            </a:r>
            <a:r>
              <a:rPr lang="en-US" altLang="zh-CN" sz="3200" b="1" i="1"/>
              <a:t>p</a:t>
            </a:r>
            <a:r>
              <a:rPr lang="en-US" altLang="zh-CN" sz="3200" b="1"/>
              <a:t>,</a:t>
            </a:r>
            <a:endParaRPr lang="en-US" altLang="zh-CN" sz="3200" b="1"/>
          </a:p>
        </p:txBody>
      </p:sp>
      <p:sp>
        <p:nvSpPr>
          <p:cNvPr id="304137" name="Rectangle 9"/>
          <p:cNvSpPr>
            <a:spLocks noChangeArrowheads="1"/>
          </p:cNvSpPr>
          <p:nvPr/>
        </p:nvSpPr>
        <p:spPr bwMode="auto">
          <a:xfrm>
            <a:off x="3136900" y="1271588"/>
            <a:ext cx="1325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 i="1"/>
              <a:t>D</a:t>
            </a:r>
            <a:r>
              <a:rPr lang="en-US" altLang="zh-CN" sz="3200" b="1"/>
              <a:t>(</a:t>
            </a:r>
            <a:r>
              <a:rPr lang="en-US" altLang="zh-CN" sz="3200" b="1" i="1"/>
              <a:t>X</a:t>
            </a:r>
            <a:r>
              <a:rPr lang="en-US" altLang="zh-CN" sz="3200" b="1" i="1" baseline="-25000"/>
              <a:t>i</a:t>
            </a:r>
            <a:r>
              <a:rPr lang="en-US" altLang="zh-CN" sz="3200" b="1"/>
              <a:t>)=</a:t>
            </a:r>
            <a:endParaRPr lang="en-US" altLang="zh-CN" sz="3200" b="1" baseline="30000"/>
          </a:p>
        </p:txBody>
      </p:sp>
      <p:sp>
        <p:nvSpPr>
          <p:cNvPr id="304138" name="Rectangle 10"/>
          <p:cNvSpPr>
            <a:spLocks noChangeArrowheads="1"/>
          </p:cNvSpPr>
          <p:nvPr/>
        </p:nvSpPr>
        <p:spPr bwMode="auto">
          <a:xfrm>
            <a:off x="4114800" y="1271588"/>
            <a:ext cx="1706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/>
              <a:t> </a:t>
            </a:r>
            <a:r>
              <a:rPr lang="en-US" altLang="zh-CN" sz="3200" b="1" i="1"/>
              <a:t>p</a:t>
            </a:r>
            <a:r>
              <a:rPr lang="en-US" altLang="zh-CN" sz="3200" b="1"/>
              <a:t>(1- </a:t>
            </a:r>
            <a:r>
              <a:rPr lang="en-US" altLang="zh-CN" sz="3200" b="1" i="1"/>
              <a:t>p</a:t>
            </a:r>
            <a:r>
              <a:rPr lang="en-US" altLang="zh-CN" sz="3200" b="1"/>
              <a:t>)  ,</a:t>
            </a:r>
            <a:endParaRPr lang="en-US" altLang="zh-CN" sz="3200" b="1"/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1524000" y="533400"/>
          <a:ext cx="398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32" name="公式" r:id="rId3" imgW="3905250" imgH="365760" progId="Equation.3">
                  <p:embed/>
                </p:oleObj>
              </mc:Choice>
              <mc:Fallback>
                <p:oleObj name="公式" r:id="rId3" imgW="3905250" imgH="3657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3400"/>
                        <a:ext cx="398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0" name="Object 12"/>
          <p:cNvGraphicFramePr>
            <a:graphicFrameLocks noChangeAspect="1"/>
          </p:cNvGraphicFramePr>
          <p:nvPr/>
        </p:nvGraphicFramePr>
        <p:xfrm>
          <a:off x="2055813" y="2887663"/>
          <a:ext cx="417512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33" name="公式" r:id="rId5" imgW="3276600" imgH="875665" progId="Equation.3">
                  <p:embed/>
                </p:oleObj>
              </mc:Choice>
              <mc:Fallback>
                <p:oleObj name="公式" r:id="rId5" imgW="3276600" imgH="8756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2887663"/>
                        <a:ext cx="4175125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1" name="Object 13"/>
          <p:cNvGraphicFramePr>
            <a:graphicFrameLocks noChangeAspect="1"/>
          </p:cNvGraphicFramePr>
          <p:nvPr/>
        </p:nvGraphicFramePr>
        <p:xfrm>
          <a:off x="687388" y="4800600"/>
          <a:ext cx="256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34" name="公式" r:id="rId7" imgW="2476500" imgH="346710" progId="Equation.3">
                  <p:embed/>
                </p:oleObj>
              </mc:Choice>
              <mc:Fallback>
                <p:oleObj name="公式" r:id="rId7" imgW="2476500" imgH="34671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800600"/>
                        <a:ext cx="2565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2" name="Object 14"/>
          <p:cNvGraphicFramePr>
            <a:graphicFrameLocks noChangeAspect="1"/>
          </p:cNvGraphicFramePr>
          <p:nvPr/>
        </p:nvGraphicFramePr>
        <p:xfrm>
          <a:off x="1547813" y="5516563"/>
          <a:ext cx="58277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35" name="公式" r:id="rId9" imgW="4229100" imgH="307975" progId="Equation.3">
                  <p:embed/>
                </p:oleObj>
              </mc:Choice>
              <mc:Fallback>
                <p:oleObj name="公式" r:id="rId9" imgW="4229100" imgH="30797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516563"/>
                        <a:ext cx="5827712" cy="504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4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4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0" grpId="0" autoUpdateAnimBg="0"/>
      <p:bldP spid="304131" grpId="0" autoUpdateAnimBg="0"/>
      <p:bldP spid="304133" grpId="0" autoUpdateAnimBg="0"/>
      <p:bldP spid="304135" grpId="0" autoUpdateAnimBg="0"/>
      <p:bldP spid="304136" grpId="0" autoUpdateAnimBg="0"/>
      <p:bldP spid="304137" grpId="0" autoUpdateAnimBg="0"/>
      <p:bldP spid="304138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914400" y="2762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7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05155" name="Object 3"/>
          <p:cNvGraphicFramePr>
            <a:graphicFrameLocks noChangeAspect="1"/>
          </p:cNvGraphicFramePr>
          <p:nvPr/>
        </p:nvGraphicFramePr>
        <p:xfrm>
          <a:off x="2133600" y="304800"/>
          <a:ext cx="459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0" name="公式" r:id="rId1" imgW="4514850" imgH="346710" progId="Equation.3">
                  <p:embed/>
                </p:oleObj>
              </mc:Choice>
              <mc:Fallback>
                <p:oleObj name="公式" r:id="rId1" imgW="4514850" imgH="346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04800"/>
                        <a:ext cx="459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977900" y="1127125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graphicFrame>
        <p:nvGraphicFramePr>
          <p:cNvPr id="305157" name="Object 5"/>
          <p:cNvGraphicFramePr>
            <a:graphicFrameLocks noChangeAspect="1"/>
          </p:cNvGraphicFramePr>
          <p:nvPr/>
        </p:nvGraphicFramePr>
        <p:xfrm>
          <a:off x="1943100" y="1214438"/>
          <a:ext cx="254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1" name="公式" r:id="rId3" imgW="2457450" imgH="346710" progId="Equation.3">
                  <p:embed/>
                </p:oleObj>
              </mc:Choice>
              <mc:Fallback>
                <p:oleObj name="公式" r:id="rId3" imgW="2457450" imgH="3467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214438"/>
                        <a:ext cx="2540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/>
          <p:cNvGraphicFramePr>
            <a:graphicFrameLocks noChangeAspect="1"/>
          </p:cNvGraphicFramePr>
          <p:nvPr/>
        </p:nvGraphicFramePr>
        <p:xfrm>
          <a:off x="1979613" y="1844675"/>
          <a:ext cx="4711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2" name="Equation" r:id="rId5" imgW="4629150" imgH="904875" progId="Equation.DSMT4">
                  <p:embed/>
                </p:oleObj>
              </mc:Choice>
              <mc:Fallback>
                <p:oleObj name="Equation" r:id="rId5" imgW="4629150" imgH="90487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844675"/>
                        <a:ext cx="4711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9" name="Text Box 7"/>
          <p:cNvSpPr txBox="1">
            <a:spLocks noChangeArrowheads="1"/>
          </p:cNvSpPr>
          <p:nvPr/>
        </p:nvSpPr>
        <p:spPr bwMode="auto">
          <a:xfrm>
            <a:off x="323850" y="32004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于是</a:t>
            </a:r>
            <a:endParaRPr lang="zh-CN" altLang="en-US" sz="2800" b="1"/>
          </a:p>
        </p:txBody>
      </p:sp>
      <p:graphicFrame>
        <p:nvGraphicFramePr>
          <p:cNvPr id="305160" name="Object 8"/>
          <p:cNvGraphicFramePr>
            <a:graphicFrameLocks noChangeAspect="1"/>
          </p:cNvGraphicFramePr>
          <p:nvPr/>
        </p:nvGraphicFramePr>
        <p:xfrm>
          <a:off x="1828800" y="2933700"/>
          <a:ext cx="5969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3" name="公式" r:id="rId7" imgW="5886450" imgH="1000760" progId="Equation.3">
                  <p:embed/>
                </p:oleObj>
              </mc:Choice>
              <mc:Fallback>
                <p:oleObj name="公式" r:id="rId7" imgW="5886450" imgH="10007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933700"/>
                        <a:ext cx="59690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1" name="Object 9"/>
          <p:cNvGraphicFramePr>
            <a:graphicFrameLocks noChangeAspect="1"/>
          </p:cNvGraphicFramePr>
          <p:nvPr/>
        </p:nvGraphicFramePr>
        <p:xfrm>
          <a:off x="1257300" y="3924300"/>
          <a:ext cx="76581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4" name="公式" r:id="rId9" imgW="7572375" imgH="1000760" progId="Equation.3">
                  <p:embed/>
                </p:oleObj>
              </mc:Choice>
              <mc:Fallback>
                <p:oleObj name="公式" r:id="rId9" imgW="7572375" imgH="10007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3924300"/>
                        <a:ext cx="76581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2" name="Object 10"/>
          <p:cNvGraphicFramePr>
            <a:graphicFrameLocks noChangeAspect="1"/>
          </p:cNvGraphicFramePr>
          <p:nvPr/>
        </p:nvGraphicFramePr>
        <p:xfrm>
          <a:off x="468313" y="5375275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5" name="公式" r:id="rId11" imgW="2400300" imgH="346710" progId="Equation.3">
                  <p:embed/>
                </p:oleObj>
              </mc:Choice>
              <mc:Fallback>
                <p:oleObj name="公式" r:id="rId11" imgW="2400300" imgH="3467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375275"/>
                        <a:ext cx="2489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3" name="Object 11"/>
          <p:cNvGraphicFramePr>
            <a:graphicFrameLocks noChangeAspect="1"/>
          </p:cNvGraphicFramePr>
          <p:nvPr/>
        </p:nvGraphicFramePr>
        <p:xfrm>
          <a:off x="3463925" y="5375275"/>
          <a:ext cx="290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86" name="公式" r:id="rId13" imgW="2819400" imgH="307975" progId="Equation.3">
                  <p:embed/>
                </p:oleObj>
              </mc:Choice>
              <mc:Fallback>
                <p:oleObj name="公式" r:id="rId13" imgW="2819400" imgH="30797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5375275"/>
                        <a:ext cx="2908300" cy="3937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 autoUpdateAnimBg="0"/>
      <p:bldP spid="30515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971550" y="215900"/>
          <a:ext cx="615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3" name="公式" r:id="rId1" imgW="6076950" imgH="760095" progId="Equation.3">
                  <p:embed/>
                </p:oleObj>
              </mc:Choice>
              <mc:Fallback>
                <p:oleObj name="公式" r:id="rId1" imgW="6076950" imgH="7600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5900"/>
                        <a:ext cx="6159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/>
          <p:cNvGraphicFramePr>
            <a:graphicFrameLocks noChangeAspect="1"/>
          </p:cNvGraphicFramePr>
          <p:nvPr/>
        </p:nvGraphicFramePr>
        <p:xfrm>
          <a:off x="2235200" y="1136650"/>
          <a:ext cx="281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4" name="公式" r:id="rId3" imgW="2733675" imgH="307975" progId="Equation.3">
                  <p:embed/>
                </p:oleObj>
              </mc:Choice>
              <mc:Fallback>
                <p:oleObj name="公式" r:id="rId3" imgW="2733675" imgH="30797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136650"/>
                        <a:ext cx="2819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0" name="Object 4"/>
          <p:cNvGraphicFramePr>
            <a:graphicFrameLocks noChangeAspect="1"/>
          </p:cNvGraphicFramePr>
          <p:nvPr/>
        </p:nvGraphicFramePr>
        <p:xfrm>
          <a:off x="990600" y="1752600"/>
          <a:ext cx="647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5" name="公式" r:id="rId5" imgW="6391275" imgH="346710" progId="Equation.3">
                  <p:embed/>
                </p:oleObj>
              </mc:Choice>
              <mc:Fallback>
                <p:oleObj name="公式" r:id="rId5" imgW="6391275" imgH="346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6477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1" name="Object 5"/>
          <p:cNvGraphicFramePr>
            <a:graphicFrameLocks noChangeAspect="1"/>
          </p:cNvGraphicFramePr>
          <p:nvPr/>
        </p:nvGraphicFramePr>
        <p:xfrm>
          <a:off x="1728788" y="2508250"/>
          <a:ext cx="5903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6" name="公式" r:id="rId7" imgW="5819775" imgH="307975" progId="Equation.3">
                  <p:embed/>
                </p:oleObj>
              </mc:Choice>
              <mc:Fallback>
                <p:oleObj name="公式" r:id="rId7" imgW="5819775" imgH="30797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2508250"/>
                        <a:ext cx="5903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2" name="Object 6"/>
          <p:cNvGraphicFramePr>
            <a:graphicFrameLocks noChangeAspect="1"/>
          </p:cNvGraphicFramePr>
          <p:nvPr/>
        </p:nvGraphicFramePr>
        <p:xfrm>
          <a:off x="1752600" y="3181350"/>
          <a:ext cx="6248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7" name="公式" r:id="rId9" imgW="6162675" imgH="384810" progId="Equation.3">
                  <p:embed/>
                </p:oleObj>
              </mc:Choice>
              <mc:Fallback>
                <p:oleObj name="公式" r:id="rId9" imgW="6162675" imgH="3848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81350"/>
                        <a:ext cx="62484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4641850" y="290830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8" name="Equation" r:id="rId11" imgW="190500" imgH="419100" progId="Equation.3">
                  <p:embed/>
                </p:oleObj>
              </mc:Choice>
              <mc:Fallback>
                <p:oleObj name="Equation" r:id="rId11" imgW="1905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290830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4" name="Object 8"/>
          <p:cNvGraphicFramePr>
            <a:graphicFrameLocks noChangeAspect="1"/>
          </p:cNvGraphicFramePr>
          <p:nvPr/>
        </p:nvGraphicFramePr>
        <p:xfrm>
          <a:off x="800100" y="3790950"/>
          <a:ext cx="3073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89" name="公式" r:id="rId13" imgW="2990850" imgH="384810" progId="Equation.3">
                  <p:embed/>
                </p:oleObj>
              </mc:Choice>
              <mc:Fallback>
                <p:oleObj name="公式" r:id="rId13" imgW="2990850" imgH="3848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3790950"/>
                        <a:ext cx="30734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5" name="Object 9"/>
          <p:cNvGraphicFramePr>
            <a:graphicFrameLocks noChangeAspect="1"/>
          </p:cNvGraphicFramePr>
          <p:nvPr/>
        </p:nvGraphicFramePr>
        <p:xfrm>
          <a:off x="3994150" y="3790950"/>
          <a:ext cx="3225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90" name="公式" r:id="rId15" imgW="3143250" imgH="384810" progId="Equation.3">
                  <p:embed/>
                </p:oleObj>
              </mc:Choice>
              <mc:Fallback>
                <p:oleObj name="公式" r:id="rId15" imgW="3143250" imgH="3848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3790950"/>
                        <a:ext cx="3225800" cy="4714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6" name="Object 10"/>
          <p:cNvGraphicFramePr>
            <a:graphicFrameLocks noChangeAspect="1"/>
          </p:cNvGraphicFramePr>
          <p:nvPr/>
        </p:nvGraphicFramePr>
        <p:xfrm>
          <a:off x="558800" y="4476750"/>
          <a:ext cx="8331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91" name="公式" r:id="rId17" imgW="8248650" imgH="1453515" progId="Equation.3">
                  <p:embed/>
                </p:oleObj>
              </mc:Choice>
              <mc:Fallback>
                <p:oleObj name="公式" r:id="rId17" imgW="8248650" imgH="14535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4476750"/>
                        <a:ext cx="8331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623888" y="661988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例如</a:t>
            </a:r>
            <a:r>
              <a:rPr lang="en-US" altLang="zh-CN" sz="2800" b="1">
                <a:solidFill>
                  <a:schemeClr val="hlink"/>
                </a:solidFill>
              </a:rPr>
              <a:t>,</a:t>
            </a:r>
            <a:endParaRPr lang="en-US" altLang="zh-CN" sz="2800" b="1">
              <a:solidFill>
                <a:schemeClr val="hlink"/>
              </a:solidFill>
            </a:endParaRPr>
          </a:p>
        </p:txBody>
      </p:sp>
      <p:graphicFrame>
        <p:nvGraphicFramePr>
          <p:cNvPr id="307203" name="Object 3"/>
          <p:cNvGraphicFramePr>
            <a:graphicFrameLocks noChangeAspect="1"/>
          </p:cNvGraphicFramePr>
          <p:nvPr/>
        </p:nvGraphicFramePr>
        <p:xfrm>
          <a:off x="1828800" y="762000"/>
          <a:ext cx="661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6" name="公式" r:id="rId1" imgW="6534150" imgH="346710" progId="Equation.3">
                  <p:embed/>
                </p:oleObj>
              </mc:Choice>
              <mc:Fallback>
                <p:oleObj name="公式" r:id="rId1" imgW="6534150" imgH="346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762000"/>
                        <a:ext cx="6616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4" name="Object 4"/>
          <p:cNvGraphicFramePr>
            <a:graphicFrameLocks noChangeAspect="1"/>
          </p:cNvGraphicFramePr>
          <p:nvPr/>
        </p:nvGraphicFramePr>
        <p:xfrm>
          <a:off x="914400" y="1285875"/>
          <a:ext cx="73152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7" name="Equation" r:id="rId3" imgW="2876550" imgH="375285" progId="Equation.3">
                  <p:embed/>
                </p:oleObj>
              </mc:Choice>
              <mc:Fallback>
                <p:oleObj name="Equation" r:id="rId3" imgW="2876550" imgH="3752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85875"/>
                        <a:ext cx="73152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5" name="Object 5"/>
          <p:cNvGraphicFramePr>
            <a:graphicFrameLocks noChangeAspect="1"/>
          </p:cNvGraphicFramePr>
          <p:nvPr/>
        </p:nvGraphicFramePr>
        <p:xfrm>
          <a:off x="855663" y="2565400"/>
          <a:ext cx="7620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8" name="公式" r:id="rId5" imgW="7534275" imgH="404495" progId="Equation.3">
                  <p:embed/>
                </p:oleObj>
              </mc:Choice>
              <mc:Fallback>
                <p:oleObj name="公式" r:id="rId5" imgW="7534275" imgH="4044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2565400"/>
                        <a:ext cx="7620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6" name="Object 6"/>
          <p:cNvGraphicFramePr>
            <a:graphicFrameLocks noChangeAspect="1"/>
          </p:cNvGraphicFramePr>
          <p:nvPr/>
        </p:nvGraphicFramePr>
        <p:xfrm>
          <a:off x="784225" y="3368675"/>
          <a:ext cx="7581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9" name="公式" r:id="rId7" imgW="7496175" imgH="923925" progId="Equation.3">
                  <p:embed/>
                </p:oleObj>
              </mc:Choice>
              <mc:Fallback>
                <p:oleObj name="公式" r:id="rId7" imgW="7496175" imgH="92392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3368675"/>
                        <a:ext cx="7581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4908550" y="34226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0" name="Equation" r:id="rId9" imgW="190500" imgH="419100" progId="Equation.3">
                  <p:embed/>
                </p:oleObj>
              </mc:Choice>
              <mc:Fallback>
                <p:oleObj name="Equation" r:id="rId9" imgW="1905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34226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8" name="Object 8"/>
          <p:cNvGraphicFramePr>
            <a:graphicFrameLocks noChangeAspect="1"/>
          </p:cNvGraphicFramePr>
          <p:nvPr/>
        </p:nvGraphicFramePr>
        <p:xfrm>
          <a:off x="873125" y="4808538"/>
          <a:ext cx="7543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1" name="公式" r:id="rId11" imgW="7458075" imgH="875665" progId="Equation.3">
                  <p:embed/>
                </p:oleObj>
              </mc:Choice>
              <mc:Fallback>
                <p:oleObj name="公式" r:id="rId11" imgW="7458075" imgH="87566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4808538"/>
                        <a:ext cx="7543800" cy="9525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495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ea typeface="黑体" panose="02010609060101010101" pitchFamily="49" charset="-122"/>
              </a:rPr>
              <a:t>四、切比雪夫不等式</a:t>
            </a:r>
            <a:endParaRPr lang="zh-CN" altLang="en-US" sz="32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sp>
        <p:nvSpPr>
          <p:cNvPr id="309251" name="Rectangle 3"/>
          <p:cNvSpPr>
            <a:spLocks noChangeArrowheads="1"/>
          </p:cNvSpPr>
          <p:nvPr/>
        </p:nvSpPr>
        <p:spPr bwMode="auto">
          <a:xfrm>
            <a:off x="639763" y="318293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或</a:t>
            </a:r>
            <a:endParaRPr lang="zh-CN" altLang="en-US" sz="2800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533400" y="4381500"/>
            <a:ext cx="7777163" cy="1758950"/>
            <a:chOff x="340" y="3048"/>
            <a:chExt cx="4899" cy="1108"/>
          </a:xfrm>
        </p:grpSpPr>
        <p:sp>
          <p:nvSpPr>
            <p:cNvPr id="66568" name="Rectangle 5"/>
            <p:cNvSpPr>
              <a:spLocks noChangeArrowheads="1"/>
            </p:cNvSpPr>
            <p:nvPr/>
          </p:nvSpPr>
          <p:spPr bwMode="auto">
            <a:xfrm>
              <a:off x="340" y="3048"/>
              <a:ext cx="4899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2800" b="1"/>
                <a:t>     </a:t>
              </a:r>
              <a:r>
                <a:rPr lang="zh-CN" altLang="en-US" sz="2800" b="1"/>
                <a:t>由切比雪夫不等式可以看出，若      越小，则事件</a:t>
              </a:r>
              <a:r>
                <a:rPr lang="en-US" altLang="zh-CN" sz="2800" b="1"/>
                <a:t>{|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)|&lt;    }</a:t>
              </a:r>
              <a:r>
                <a:rPr lang="zh-CN" altLang="zh-CN" sz="2800" b="1"/>
                <a:t>的概率越大，即</a:t>
              </a:r>
              <a:r>
                <a:rPr lang="zh-CN" altLang="en-US" sz="2800" b="1"/>
                <a:t>随机变量</a:t>
              </a:r>
              <a:r>
                <a:rPr lang="en-US" altLang="zh-CN" sz="2800" b="1" i="1"/>
                <a:t>X </a:t>
              </a:r>
              <a:r>
                <a:rPr lang="zh-CN" altLang="en-US" sz="2800" b="1"/>
                <a:t>集中在期望附近的可能性越大</a:t>
              </a:r>
              <a:r>
                <a:rPr lang="zh-CN" altLang="zh-CN" sz="2800" b="1"/>
                <a:t>.</a:t>
              </a:r>
              <a:endParaRPr lang="en-US" altLang="zh-CN" sz="2800" b="1"/>
            </a:p>
          </p:txBody>
        </p:sp>
        <p:graphicFrame>
          <p:nvGraphicFramePr>
            <p:cNvPr id="66569" name="Object 6"/>
            <p:cNvGraphicFramePr>
              <a:graphicFrameLocks noChangeAspect="1"/>
            </p:cNvGraphicFramePr>
            <p:nvPr/>
          </p:nvGraphicFramePr>
          <p:xfrm>
            <a:off x="3833" y="3067"/>
            <a:ext cx="347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1" name="公式" r:id="rId1" imgW="114300" imgH="115570" progId="Equation.3">
                    <p:embed/>
                  </p:oleObj>
                </mc:Choice>
                <mc:Fallback>
                  <p:oleObj name="公式" r:id="rId1" imgW="114300" imgH="11557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3067"/>
                          <a:ext cx="347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0" name="Object 7"/>
            <p:cNvGraphicFramePr>
              <a:graphicFrameLocks noChangeAspect="1"/>
            </p:cNvGraphicFramePr>
            <p:nvPr/>
          </p:nvGraphicFramePr>
          <p:xfrm>
            <a:off x="1816" y="3521"/>
            <a:ext cx="24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2" name="公式" r:id="rId3" imgW="38100" imgH="57785" progId="Equation.3">
                    <p:embed/>
                  </p:oleObj>
                </mc:Choice>
                <mc:Fallback>
                  <p:oleObj name="公式" r:id="rId3" imgW="38100" imgH="5778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" y="3521"/>
                          <a:ext cx="248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9256" name="Object 8"/>
          <p:cNvGraphicFramePr>
            <a:graphicFrameLocks noChangeAspect="1"/>
          </p:cNvGraphicFramePr>
          <p:nvPr/>
        </p:nvGraphicFramePr>
        <p:xfrm>
          <a:off x="1528763" y="3046413"/>
          <a:ext cx="49530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3" name="公式" r:id="rId5" imgW="1676400" imgH="337185" progId="Equation.3">
                  <p:embed/>
                </p:oleObj>
              </mc:Choice>
              <mc:Fallback>
                <p:oleObj name="公式" r:id="rId5" imgW="1676400" imgH="3371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3046413"/>
                        <a:ext cx="49530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7" name="Object 9"/>
          <p:cNvGraphicFramePr>
            <a:graphicFrameLocks noChangeAspect="1"/>
          </p:cNvGraphicFramePr>
          <p:nvPr/>
        </p:nvGraphicFramePr>
        <p:xfrm>
          <a:off x="1757363" y="2157413"/>
          <a:ext cx="4418012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4" name="公式" r:id="rId7" imgW="1485900" imgH="337185" progId="Equation.3">
                  <p:embed/>
                </p:oleObj>
              </mc:Choice>
              <mc:Fallback>
                <p:oleObj name="公式" r:id="rId7" imgW="1485900" imgH="3371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2157413"/>
                        <a:ext cx="4418012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8" name="Object 10"/>
          <p:cNvGraphicFramePr>
            <a:graphicFrameLocks noChangeAspect="1"/>
          </p:cNvGraphicFramePr>
          <p:nvPr/>
        </p:nvGraphicFramePr>
        <p:xfrm>
          <a:off x="538163" y="1243013"/>
          <a:ext cx="7391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5" name="Equation" r:id="rId9" imgW="7305675" imgH="914400" progId="Equation.3">
                  <p:embed/>
                </p:oleObj>
              </mc:Choice>
              <mc:Fallback>
                <p:oleObj name="Equation" r:id="rId9" imgW="7305675" imgH="914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1243013"/>
                        <a:ext cx="7391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0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1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Text Box 2"/>
          <p:cNvSpPr txBox="1">
            <a:spLocks noChangeArrowheads="1"/>
          </p:cNvSpPr>
          <p:nvPr/>
        </p:nvSpPr>
        <p:spPr bwMode="auto">
          <a:xfrm>
            <a:off x="558800" y="658986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证</a:t>
            </a:r>
            <a:endParaRPr lang="zh-CN" altLang="en-US" sz="2800" b="1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533400" y="44624"/>
            <a:ext cx="6345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  <a:ea typeface="黑体" panose="02010609060101010101" pitchFamily="49" charset="-122"/>
              </a:rPr>
              <a:t>我们只就连续型随机变量的情况来证明</a:t>
            </a:r>
            <a:r>
              <a:rPr lang="en-US" altLang="zh-CN" sz="2800" b="1">
                <a:solidFill>
                  <a:srgbClr val="003399"/>
                </a:solidFill>
                <a:ea typeface="黑体" panose="02010609060101010101" pitchFamily="49" charset="-122"/>
              </a:rPr>
              <a:t>.</a:t>
            </a:r>
            <a:endParaRPr lang="en-US" altLang="zh-CN" sz="2800" b="1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0276" name="Object 4"/>
          <p:cNvGraphicFramePr>
            <a:graphicFrameLocks noChangeAspect="1"/>
          </p:cNvGraphicFramePr>
          <p:nvPr/>
        </p:nvGraphicFramePr>
        <p:xfrm>
          <a:off x="1403350" y="792336"/>
          <a:ext cx="436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5" name="Equation" r:id="rId1" imgW="4286250" imgH="365760" progId="Equation.3">
                  <p:embed/>
                </p:oleObj>
              </mc:Choice>
              <mc:Fallback>
                <p:oleObj name="Equation" r:id="rId1" imgW="4286250" imgH="365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792336"/>
                        <a:ext cx="4368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7" name="Object 5"/>
          <p:cNvGraphicFramePr>
            <a:graphicFrameLocks noChangeAspect="1"/>
          </p:cNvGraphicFramePr>
          <p:nvPr/>
        </p:nvGraphicFramePr>
        <p:xfrm>
          <a:off x="2051720" y="1403201"/>
          <a:ext cx="5043875" cy="278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6" name="Equation" r:id="rId3" imgW="2514600" imgH="1366520" progId="Equation.DSMT4">
                  <p:embed/>
                </p:oleObj>
              </mc:Choice>
              <mc:Fallback>
                <p:oleObj name="Equation" r:id="rId3" imgW="2514600" imgH="13665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403201"/>
                        <a:ext cx="5043875" cy="2780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Text Box 3"/>
          <p:cNvSpPr txBox="1">
            <a:spLocks noChangeArrowheads="1"/>
          </p:cNvSpPr>
          <p:nvPr/>
        </p:nvSpPr>
        <p:spPr bwMode="auto">
          <a:xfrm>
            <a:off x="1171575" y="4328568"/>
            <a:ext cx="5068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003399"/>
                </a:solidFill>
                <a:ea typeface="黑体" panose="02010609060101010101" pitchFamily="49" charset="-122"/>
              </a:rPr>
              <a:t>也可以用</a:t>
            </a:r>
            <a:r>
              <a:rPr lang="en-US" altLang="zh-CN" sz="2800" b="1" dirty="0">
                <a:solidFill>
                  <a:srgbClr val="003399"/>
                </a:solidFill>
                <a:ea typeface="黑体" panose="02010609060101010101" pitchFamily="49" charset="-122"/>
              </a:rPr>
              <a:t>Markov</a:t>
            </a:r>
            <a:r>
              <a:rPr lang="zh-CN" altLang="en-US" sz="2800" b="1" dirty="0">
                <a:solidFill>
                  <a:srgbClr val="003399"/>
                </a:solidFill>
                <a:ea typeface="黑体" panose="02010609060101010101" pitchFamily="49" charset="-122"/>
              </a:rPr>
              <a:t>不等式来证明</a:t>
            </a:r>
            <a:r>
              <a:rPr lang="en-US" altLang="zh-CN" sz="2800" b="1" dirty="0">
                <a:solidFill>
                  <a:srgbClr val="003399"/>
                </a:solidFill>
                <a:ea typeface="黑体" panose="02010609060101010101" pitchFamily="49" charset="-122"/>
              </a:rPr>
              <a:t>.</a:t>
            </a:r>
            <a:endParaRPr lang="en-US" altLang="zh-CN" sz="2800" b="1" dirty="0">
              <a:solidFill>
                <a:srgbClr val="0033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403350" y="5022701"/>
          <a:ext cx="6096471" cy="881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7" name="Equation" r:id="rId5" imgW="77724000" imgH="10972800" progId="Equation.DSMT4">
                  <p:embed/>
                </p:oleObj>
              </mc:Choice>
              <mc:Fallback>
                <p:oleObj name="Equation" r:id="rId5" imgW="77724000" imgH="10972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22701"/>
                        <a:ext cx="6096471" cy="881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 autoUpdateAnimBg="0"/>
      <p:bldP spid="4199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08013" y="1463675"/>
            <a:ext cx="7696200" cy="1117600"/>
            <a:chOff x="385" y="1036"/>
            <a:chExt cx="4848" cy="704"/>
          </a:xfrm>
        </p:grpSpPr>
        <p:sp>
          <p:nvSpPr>
            <p:cNvPr id="68620" name="Text Box 3"/>
            <p:cNvSpPr txBox="1">
              <a:spLocks noChangeArrowheads="1"/>
            </p:cNvSpPr>
            <p:nvPr/>
          </p:nvSpPr>
          <p:spPr bwMode="auto">
            <a:xfrm>
              <a:off x="385" y="1036"/>
              <a:ext cx="4848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当方差已知时，切比雪夫不等式给出了</a:t>
              </a:r>
              <a:r>
                <a:rPr lang="en-US" altLang="zh-CN" sz="2800" b="1" i="1"/>
                <a:t>r.v</a:t>
              </a:r>
              <a:r>
                <a:rPr lang="en-US" altLang="zh-CN" sz="2800" b="1"/>
                <a:t> 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与它的期望的偏差不小于     的概率的估计式 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  <p:graphicFrame>
          <p:nvGraphicFramePr>
            <p:cNvPr id="68621" name="Object 4"/>
            <p:cNvGraphicFramePr>
              <a:graphicFrameLocks noChangeAspect="1"/>
            </p:cNvGraphicFramePr>
            <p:nvPr/>
          </p:nvGraphicFramePr>
          <p:xfrm>
            <a:off x="2472" y="1443"/>
            <a:ext cx="23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62" name="公式" r:id="rId1" imgW="38100" imgH="57785" progId="Equation.3">
                    <p:embed/>
                  </p:oleObj>
                </mc:Choice>
                <mc:Fallback>
                  <p:oleObj name="公式" r:id="rId1" imgW="38100" imgH="5778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1443"/>
                          <a:ext cx="23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/>
          <p:nvPr/>
        </p:nvGrpSpPr>
        <p:grpSpPr bwMode="auto">
          <a:xfrm>
            <a:off x="608013" y="2743200"/>
            <a:ext cx="2220912" cy="549275"/>
            <a:chOff x="1241" y="1622"/>
            <a:chExt cx="1399" cy="346"/>
          </a:xfrm>
        </p:grpSpPr>
        <p:sp>
          <p:nvSpPr>
            <p:cNvPr id="68618" name="Rectangle 6"/>
            <p:cNvSpPr>
              <a:spLocks noChangeArrowheads="1"/>
            </p:cNvSpPr>
            <p:nvPr/>
          </p:nvSpPr>
          <p:spPr bwMode="auto">
            <a:xfrm>
              <a:off x="1241" y="1622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如取</a:t>
              </a:r>
              <a:endParaRPr lang="zh-CN" altLang="en-US" sz="2800" b="1"/>
            </a:p>
          </p:txBody>
        </p:sp>
        <p:graphicFrame>
          <p:nvGraphicFramePr>
            <p:cNvPr id="68619" name="Object 7"/>
            <p:cNvGraphicFramePr>
              <a:graphicFrameLocks noChangeAspect="1"/>
            </p:cNvGraphicFramePr>
            <p:nvPr/>
          </p:nvGraphicFramePr>
          <p:xfrm>
            <a:off x="1762" y="1630"/>
            <a:ext cx="87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63" name="公式" r:id="rId3" imgW="371475" imgH="96520" progId="Equation.3">
                    <p:embed/>
                  </p:oleObj>
                </mc:Choice>
                <mc:Fallback>
                  <p:oleObj name="公式" r:id="rId3" imgW="371475" imgH="965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" y="1630"/>
                          <a:ext cx="878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1676400" y="304800"/>
          <a:ext cx="441801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64" name="公式" r:id="rId5" imgW="1485900" imgH="337185" progId="Equation.3">
                  <p:embed/>
                </p:oleObj>
              </mc:Choice>
              <mc:Fallback>
                <p:oleObj name="公式" r:id="rId5" imgW="1485900" imgH="3371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"/>
                        <a:ext cx="4418013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/>
        </p:nvGraphicFramePr>
        <p:xfrm>
          <a:off x="1295400" y="3276600"/>
          <a:ext cx="6288088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65" name="公式" r:id="rId7" imgW="2114550" imgH="337185" progId="Equation.3">
                  <p:embed/>
                </p:oleObj>
              </mc:Choice>
              <mc:Fallback>
                <p:oleObj name="公式" r:id="rId7" imgW="2114550" imgH="3371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6288088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0"/>
          <p:cNvGrpSpPr/>
          <p:nvPr/>
        </p:nvGrpSpPr>
        <p:grpSpPr bwMode="auto">
          <a:xfrm>
            <a:off x="609600" y="4471988"/>
            <a:ext cx="8135938" cy="1130300"/>
            <a:chOff x="386" y="2931"/>
            <a:chExt cx="5125" cy="712"/>
          </a:xfrm>
        </p:grpSpPr>
        <p:sp>
          <p:nvSpPr>
            <p:cNvPr id="68615" name="Rectangle 11"/>
            <p:cNvSpPr>
              <a:spLocks noChangeArrowheads="1"/>
            </p:cNvSpPr>
            <p:nvPr/>
          </p:nvSpPr>
          <p:spPr bwMode="auto">
            <a:xfrm>
              <a:off x="386" y="2931"/>
              <a:ext cx="5125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2800" b="1"/>
                <a:t> </a:t>
              </a:r>
              <a:r>
                <a:rPr lang="zh-CN" altLang="en-US" sz="2800" b="1"/>
                <a:t>可见，对任给的分布，只要期望和方差       存在，</a:t>
              </a:r>
              <a:endParaRPr lang="zh-CN" altLang="en-US" sz="2800" b="1"/>
            </a:p>
            <a:p>
              <a:pPr>
                <a:lnSpc>
                  <a:spcPct val="120000"/>
                </a:lnSpc>
              </a:pPr>
              <a:r>
                <a:rPr lang="zh-CN" altLang="en-US" sz="2800" b="1"/>
                <a:t> 则 </a:t>
              </a:r>
              <a:r>
                <a:rPr lang="en-US" altLang="zh-CN" sz="2800" b="1" i="1"/>
                <a:t>r.v X</a:t>
              </a:r>
              <a:r>
                <a:rPr lang="zh-CN" altLang="en-US" sz="2800" b="1"/>
                <a:t>取值偏离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</a:t>
              </a:r>
              <a:r>
                <a:rPr lang="zh-CN" altLang="zh-CN" sz="2800" b="1"/>
                <a:t>超过 </a:t>
              </a:r>
              <a:r>
                <a:rPr lang="zh-CN" altLang="zh-CN" sz="2800" b="1">
                  <a:solidFill>
                    <a:schemeClr val="accent2"/>
                  </a:solidFill>
                </a:rPr>
                <a:t>3</a:t>
              </a:r>
              <a:r>
                <a:rPr lang="zh-CN" altLang="zh-CN" sz="2800" b="1"/>
                <a:t>  </a:t>
              </a:r>
              <a:r>
                <a:rPr lang="en-US" altLang="zh-CN" sz="2800" b="1"/>
                <a:t>   </a:t>
              </a:r>
              <a:r>
                <a:rPr lang="zh-CN" altLang="zh-CN" sz="2800" b="1"/>
                <a:t>的概率小于</a:t>
              </a:r>
              <a:r>
                <a:rPr lang="en-US" altLang="zh-CN" sz="2800" b="1"/>
                <a:t>0.111 .</a:t>
              </a:r>
              <a:endParaRPr lang="en-US" altLang="zh-CN" sz="2800" b="1"/>
            </a:p>
          </p:txBody>
        </p:sp>
        <p:graphicFrame>
          <p:nvGraphicFramePr>
            <p:cNvPr id="68616" name="Object 12"/>
            <p:cNvGraphicFramePr>
              <a:graphicFrameLocks noChangeAspect="1"/>
            </p:cNvGraphicFramePr>
            <p:nvPr/>
          </p:nvGraphicFramePr>
          <p:xfrm>
            <a:off x="4377" y="2931"/>
            <a:ext cx="37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66" name="公式" r:id="rId9" imgW="114300" imgH="115570" progId="Equation.3">
                    <p:embed/>
                  </p:oleObj>
                </mc:Choice>
                <mc:Fallback>
                  <p:oleObj name="公式" r:id="rId9" imgW="114300" imgH="11557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2931"/>
                          <a:ext cx="372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17" name="Object 13"/>
            <p:cNvGraphicFramePr>
              <a:graphicFrameLocks noChangeAspect="1"/>
            </p:cNvGraphicFramePr>
            <p:nvPr/>
          </p:nvGraphicFramePr>
          <p:xfrm>
            <a:off x="3146" y="3385"/>
            <a:ext cx="27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67" name="公式" r:id="rId11" imgW="66675" imgH="57785" progId="Equation.3">
                    <p:embed/>
                  </p:oleObj>
                </mc:Choice>
                <mc:Fallback>
                  <p:oleObj name="公式" r:id="rId11" imgW="66675" imgH="5778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6" y="3385"/>
                          <a:ext cx="27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7848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9</a:t>
            </a:r>
            <a:r>
              <a:rPr lang="en-US" altLang="zh-CN" sz="2800" b="1"/>
              <a:t>  </a:t>
            </a:r>
            <a:r>
              <a:rPr lang="zh-CN" altLang="en-US" sz="2800" b="1"/>
              <a:t>已知正常男性成人血液中 ，每一毫升白细胞数平均是</a:t>
            </a:r>
            <a:r>
              <a:rPr lang="en-US" altLang="zh-CN" sz="2800" b="1"/>
              <a:t>7300</a:t>
            </a:r>
            <a:r>
              <a:rPr lang="zh-CN" altLang="en-US" sz="2800" b="1"/>
              <a:t>，均方差是</a:t>
            </a:r>
            <a:r>
              <a:rPr lang="en-US" altLang="zh-CN" sz="2800" b="1"/>
              <a:t>700 . </a:t>
            </a:r>
            <a:r>
              <a:rPr lang="zh-CN" altLang="en-US" sz="2800" b="1"/>
              <a:t>利用切比雪夫不等式估计每毫升白细胞数在</a:t>
            </a:r>
            <a:r>
              <a:rPr lang="en-US" altLang="zh-CN" sz="2800" b="1"/>
              <a:t>5200~9400</a:t>
            </a:r>
            <a:r>
              <a:rPr lang="zh-CN" altLang="en-US" sz="2800" b="1"/>
              <a:t>之间的概率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312323" name="Rectangle 3"/>
          <p:cNvSpPr>
            <a:spLocks noChangeArrowheads="1"/>
          </p:cNvSpPr>
          <p:nvPr/>
        </p:nvSpPr>
        <p:spPr bwMode="auto">
          <a:xfrm>
            <a:off x="1341438" y="2452688"/>
            <a:ext cx="434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解：设每毫升白细胞数为</a:t>
            </a:r>
            <a:r>
              <a:rPr lang="en-US" altLang="zh-CN" sz="2800" b="1" i="1"/>
              <a:t>X</a:t>
            </a:r>
            <a:endParaRPr lang="en-US" altLang="zh-CN" sz="2800" b="1"/>
          </a:p>
        </p:txBody>
      </p:sp>
      <p:sp>
        <p:nvSpPr>
          <p:cNvPr id="312324" name="Rectangle 4"/>
          <p:cNvSpPr>
            <a:spLocks noChangeArrowheads="1"/>
          </p:cNvSpPr>
          <p:nvPr/>
        </p:nvSpPr>
        <p:spPr bwMode="auto">
          <a:xfrm>
            <a:off x="682625" y="3125788"/>
            <a:ext cx="4916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依题意，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)=7300,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)=700</a:t>
            </a:r>
            <a:r>
              <a:rPr lang="en-US" altLang="zh-CN" sz="2800" b="1" baseline="30000"/>
              <a:t>2</a:t>
            </a:r>
            <a:endParaRPr lang="en-US" altLang="zh-CN" sz="2800" b="1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754063" y="3846513"/>
            <a:ext cx="6248400" cy="519112"/>
            <a:chOff x="384" y="2769"/>
            <a:chExt cx="3936" cy="327"/>
          </a:xfrm>
        </p:grpSpPr>
        <p:graphicFrame>
          <p:nvGraphicFramePr>
            <p:cNvPr id="69649" name="Object 6"/>
            <p:cNvGraphicFramePr>
              <a:graphicFrameLocks noChangeAspect="1"/>
            </p:cNvGraphicFramePr>
            <p:nvPr/>
          </p:nvGraphicFramePr>
          <p:xfrm>
            <a:off x="2112" y="2784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2" name="公式" r:id="rId1" imgW="38100" imgH="67310" progId="Equation.3">
                    <p:embed/>
                  </p:oleObj>
                </mc:Choice>
                <mc:Fallback>
                  <p:oleObj name="公式" r:id="rId1" imgW="38100" imgH="6731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784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50" name="Rectangle 7"/>
            <p:cNvSpPr>
              <a:spLocks noChangeArrowheads="1"/>
            </p:cNvSpPr>
            <p:nvPr/>
          </p:nvSpPr>
          <p:spPr bwMode="auto">
            <a:xfrm>
              <a:off x="384" y="2769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所求为 </a:t>
              </a:r>
              <a:r>
                <a:rPr lang="zh-CN" altLang="en-US" sz="2800" b="1" i="1"/>
                <a:t>    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P</a:t>
              </a:r>
              <a:r>
                <a:rPr lang="en-US" altLang="zh-CN" sz="2800" b="1">
                  <a:solidFill>
                    <a:schemeClr val="accent2"/>
                  </a:solidFill>
                </a:rPr>
                <a:t>(5200    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800" b="1">
                  <a:solidFill>
                    <a:schemeClr val="accent2"/>
                  </a:solidFill>
                </a:rPr>
                <a:t>      9400)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69651" name="Object 8"/>
            <p:cNvGraphicFramePr>
              <a:graphicFrameLocks noChangeAspect="1"/>
            </p:cNvGraphicFramePr>
            <p:nvPr/>
          </p:nvGraphicFramePr>
          <p:xfrm>
            <a:off x="2639" y="2784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3" name="公式" r:id="rId3" imgW="38100" imgH="67310" progId="Equation.3">
                    <p:embed/>
                  </p:oleObj>
                </mc:Choice>
                <mc:Fallback>
                  <p:oleObj name="公式" r:id="rId3" imgW="38100" imgH="6731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9" y="2784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/>
          <p:nvPr/>
        </p:nvGrpSpPr>
        <p:grpSpPr bwMode="auto">
          <a:xfrm>
            <a:off x="1371600" y="4495800"/>
            <a:ext cx="6248400" cy="519113"/>
            <a:chOff x="528" y="403"/>
            <a:chExt cx="3936" cy="327"/>
          </a:xfrm>
        </p:grpSpPr>
        <p:graphicFrame>
          <p:nvGraphicFramePr>
            <p:cNvPr id="69646" name="Object 10"/>
            <p:cNvGraphicFramePr>
              <a:graphicFrameLocks noChangeAspect="1"/>
            </p:cNvGraphicFramePr>
            <p:nvPr/>
          </p:nvGraphicFramePr>
          <p:xfrm>
            <a:off x="1488" y="431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4" name="公式" r:id="rId5" imgW="38100" imgH="67310" progId="Equation.3">
                    <p:embed/>
                  </p:oleObj>
                </mc:Choice>
                <mc:Fallback>
                  <p:oleObj name="公式" r:id="rId5" imgW="38100" imgH="6731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431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7" name="Rectangle 11"/>
            <p:cNvSpPr>
              <a:spLocks noChangeArrowheads="1"/>
            </p:cNvSpPr>
            <p:nvPr/>
          </p:nvSpPr>
          <p:spPr bwMode="auto">
            <a:xfrm>
              <a:off x="528" y="403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P(5200     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      9400)</a:t>
              </a:r>
              <a:endParaRPr lang="en-US" altLang="zh-CN" sz="2800" b="1"/>
            </a:p>
          </p:txBody>
        </p:sp>
        <p:graphicFrame>
          <p:nvGraphicFramePr>
            <p:cNvPr id="69648" name="Object 12"/>
            <p:cNvGraphicFramePr>
              <a:graphicFrameLocks noChangeAspect="1"/>
            </p:cNvGraphicFramePr>
            <p:nvPr/>
          </p:nvGraphicFramePr>
          <p:xfrm>
            <a:off x="2016" y="432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5" name="公式" r:id="rId7" imgW="38100" imgH="67310" progId="Equation.3">
                    <p:embed/>
                  </p:oleObj>
                </mc:Choice>
                <mc:Fallback>
                  <p:oleObj name="公式" r:id="rId7" imgW="38100" imgH="6731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432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/>
          <p:cNvGrpSpPr/>
          <p:nvPr/>
        </p:nvGrpSpPr>
        <p:grpSpPr bwMode="auto">
          <a:xfrm>
            <a:off x="1752600" y="5029200"/>
            <a:ext cx="6400800" cy="519113"/>
            <a:chOff x="288" y="1267"/>
            <a:chExt cx="3936" cy="327"/>
          </a:xfrm>
        </p:grpSpPr>
        <p:sp>
          <p:nvSpPr>
            <p:cNvPr id="69643" name="Rectangle 14"/>
            <p:cNvSpPr>
              <a:spLocks noChangeArrowheads="1"/>
            </p:cNvSpPr>
            <p:nvPr/>
          </p:nvSpPr>
          <p:spPr bwMode="auto">
            <a:xfrm>
              <a:off x="288" y="1267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= 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(-2100       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       2100)</a:t>
              </a:r>
              <a:endParaRPr lang="en-US" altLang="zh-CN" sz="2800" b="1"/>
            </a:p>
          </p:txBody>
        </p:sp>
        <p:graphicFrame>
          <p:nvGraphicFramePr>
            <p:cNvPr id="69644" name="Object 15"/>
            <p:cNvGraphicFramePr>
              <a:graphicFrameLocks noChangeAspect="1"/>
            </p:cNvGraphicFramePr>
            <p:nvPr/>
          </p:nvGraphicFramePr>
          <p:xfrm>
            <a:off x="2639" y="1296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6" name="公式" r:id="rId9" imgW="38100" imgH="67310" progId="Equation.3">
                    <p:embed/>
                  </p:oleObj>
                </mc:Choice>
                <mc:Fallback>
                  <p:oleObj name="公式" r:id="rId9" imgW="38100" imgH="6731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9" y="1296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5" name="Object 16"/>
            <p:cNvGraphicFramePr>
              <a:graphicFrameLocks noChangeAspect="1"/>
            </p:cNvGraphicFramePr>
            <p:nvPr/>
          </p:nvGraphicFramePr>
          <p:xfrm>
            <a:off x="1487" y="1295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7" name="公式" r:id="rId11" imgW="38100" imgH="67310" progId="Equation.3">
                    <p:embed/>
                  </p:oleObj>
                </mc:Choice>
                <mc:Fallback>
                  <p:oleObj name="公式" r:id="rId11" imgW="38100" imgH="6731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7" y="1295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/>
          <p:nvPr/>
        </p:nvGrpSpPr>
        <p:grpSpPr bwMode="auto">
          <a:xfrm>
            <a:off x="2057400" y="5562600"/>
            <a:ext cx="4114800" cy="561975"/>
            <a:chOff x="384" y="1326"/>
            <a:chExt cx="2592" cy="354"/>
          </a:xfrm>
        </p:grpSpPr>
        <p:sp>
          <p:nvSpPr>
            <p:cNvPr id="69641" name="Rectangle 18"/>
            <p:cNvSpPr>
              <a:spLocks noChangeArrowheads="1"/>
            </p:cNvSpPr>
            <p:nvPr/>
          </p:nvSpPr>
          <p:spPr bwMode="auto">
            <a:xfrm>
              <a:off x="384" y="1344"/>
              <a:ext cx="2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=  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P</a:t>
              </a:r>
              <a:r>
                <a:rPr lang="en-US" altLang="zh-CN" sz="2800" b="1">
                  <a:solidFill>
                    <a:schemeClr val="accent2"/>
                  </a:solidFill>
                </a:rPr>
                <a:t>{  |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800" b="1">
                  <a:solidFill>
                    <a:schemeClr val="accent2"/>
                  </a:solidFill>
                </a:rPr>
                <a:t>-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E</a:t>
              </a:r>
              <a:r>
                <a:rPr lang="en-US" altLang="zh-CN" sz="2800" b="1">
                  <a:solidFill>
                    <a:schemeClr val="accent2"/>
                  </a:solidFill>
                </a:rPr>
                <a:t>(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800" b="1">
                  <a:solidFill>
                    <a:schemeClr val="accent2"/>
                  </a:solidFill>
                </a:rPr>
                <a:t>)|        2100}</a:t>
              </a:r>
              <a:endParaRPr lang="en-US" altLang="zh-CN" sz="2800" b="1">
                <a:solidFill>
                  <a:schemeClr val="tx2"/>
                </a:solidFill>
              </a:endParaRPr>
            </a:p>
          </p:txBody>
        </p:sp>
        <p:graphicFrame>
          <p:nvGraphicFramePr>
            <p:cNvPr id="69642" name="Object 19"/>
            <p:cNvGraphicFramePr>
              <a:graphicFrameLocks noChangeAspect="1"/>
            </p:cNvGraphicFramePr>
            <p:nvPr/>
          </p:nvGraphicFramePr>
          <p:xfrm>
            <a:off x="1968" y="1326"/>
            <a:ext cx="194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38" name="公式" r:id="rId13" imgW="38100" imgH="67310" progId="Equation.3">
                    <p:embed/>
                  </p:oleObj>
                </mc:Choice>
                <mc:Fallback>
                  <p:oleObj name="公式" r:id="rId13" imgW="38100" imgH="6731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326"/>
                          <a:ext cx="194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utoUpdateAnimBg="0"/>
      <p:bldP spid="312324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6" name="Object 2"/>
          <p:cNvGraphicFramePr>
            <a:graphicFrameLocks noChangeAspect="1"/>
          </p:cNvGraphicFramePr>
          <p:nvPr/>
        </p:nvGraphicFramePr>
        <p:xfrm>
          <a:off x="4614863" y="2060575"/>
          <a:ext cx="21732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6" name="公式" r:id="rId1" imgW="781050" imgH="337185" progId="Equation.3">
                  <p:embed/>
                </p:oleObj>
              </mc:Choice>
              <mc:Fallback>
                <p:oleObj name="公式" r:id="rId1" imgW="781050" imgH="33718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2060575"/>
                        <a:ext cx="21732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827088" y="1196975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由切比雪夫不等式</a:t>
            </a:r>
            <a:endParaRPr lang="zh-CN" altLang="en-US" sz="2800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692150" y="2265363"/>
            <a:ext cx="6248400" cy="519112"/>
            <a:chOff x="432" y="2371"/>
            <a:chExt cx="3936" cy="327"/>
          </a:xfrm>
        </p:grpSpPr>
        <p:sp>
          <p:nvSpPr>
            <p:cNvPr id="70664" name="Rectangle 5"/>
            <p:cNvSpPr>
              <a:spLocks noChangeArrowheads="1"/>
            </p:cNvSpPr>
            <p:nvPr/>
          </p:nvSpPr>
          <p:spPr bwMode="auto">
            <a:xfrm>
              <a:off x="432" y="2371"/>
              <a:ext cx="39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  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{ |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)|     2100}</a:t>
              </a:r>
              <a:endParaRPr lang="en-US" altLang="zh-CN" sz="2800" b="1">
                <a:solidFill>
                  <a:schemeClr val="tx2"/>
                </a:solidFill>
              </a:endParaRPr>
            </a:p>
          </p:txBody>
        </p:sp>
        <p:graphicFrame>
          <p:nvGraphicFramePr>
            <p:cNvPr id="70665" name="Object 6"/>
            <p:cNvGraphicFramePr>
              <a:graphicFrameLocks noChangeAspect="1"/>
            </p:cNvGraphicFramePr>
            <p:nvPr/>
          </p:nvGraphicFramePr>
          <p:xfrm>
            <a:off x="1920" y="2400"/>
            <a:ext cx="24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827" name="公式" r:id="rId3" imgW="38100" imgH="67310" progId="Equation.3">
                    <p:embed/>
                  </p:oleObj>
                </mc:Choice>
                <mc:Fallback>
                  <p:oleObj name="公式" r:id="rId3" imgW="38100" imgH="6731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400"/>
                          <a:ext cx="24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3351" name="Object 7"/>
          <p:cNvGraphicFramePr>
            <a:graphicFrameLocks noChangeAspect="1"/>
          </p:cNvGraphicFramePr>
          <p:nvPr/>
        </p:nvGraphicFramePr>
        <p:xfrm>
          <a:off x="1092200" y="3089275"/>
          <a:ext cx="21510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8" name="公式" r:id="rId5" imgW="762000" imgH="307975" progId="Equation.3">
                  <p:embed/>
                </p:oleObj>
              </mc:Choice>
              <mc:Fallback>
                <p:oleObj name="公式" r:id="rId5" imgW="762000" imgH="30797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089275"/>
                        <a:ext cx="2151063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2" name="Object 8"/>
          <p:cNvGraphicFramePr>
            <a:graphicFrameLocks noChangeAspect="1"/>
          </p:cNvGraphicFramePr>
          <p:nvPr/>
        </p:nvGraphicFramePr>
        <p:xfrm>
          <a:off x="3149600" y="3057525"/>
          <a:ext cx="18542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29" name="公式" r:id="rId7" imgW="628650" imgH="307975" progId="Equation.3">
                  <p:embed/>
                </p:oleObj>
              </mc:Choice>
              <mc:Fallback>
                <p:oleObj name="公式" r:id="rId7" imgW="628650" imgH="30797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3057525"/>
                        <a:ext cx="18542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3" name="Rectangle 9"/>
          <p:cNvSpPr>
            <a:spLocks noChangeArrowheads="1"/>
          </p:cNvSpPr>
          <p:nvPr/>
        </p:nvSpPr>
        <p:spPr bwMode="auto">
          <a:xfrm>
            <a:off x="750888" y="4643438"/>
            <a:ext cx="7924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即估计每毫升白细胞数在</a:t>
            </a:r>
            <a:r>
              <a:rPr lang="en-US" altLang="zh-CN" sz="2800" b="1"/>
              <a:t>5200~9400</a:t>
            </a:r>
            <a:r>
              <a:rPr lang="zh-CN" altLang="en-US" sz="2800" b="1"/>
              <a:t>之间的概率不小于</a:t>
            </a:r>
            <a:r>
              <a:rPr lang="en-US" altLang="zh-CN" sz="2800" b="1"/>
              <a:t>8/9 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53" grpId="0" autoUpdateAnimBg="0"/>
    </p:bldLst>
  </p:timing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3455</Words>
  <Application>WPS 演示</Application>
  <PresentationFormat>全屏显示(4:3)</PresentationFormat>
  <Paragraphs>384</Paragraphs>
  <Slides>56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176</vt:i4>
      </vt:variant>
      <vt:variant>
        <vt:lpstr>幻灯片标题</vt:lpstr>
      </vt:variant>
      <vt:variant>
        <vt:i4>56</vt:i4>
      </vt:variant>
    </vt:vector>
  </HeadingPairs>
  <TitlesOfParts>
    <vt:vector size="244" baseType="lpstr">
      <vt:lpstr>Arial</vt:lpstr>
      <vt:lpstr>宋体</vt:lpstr>
      <vt:lpstr>Wingdings</vt:lpstr>
      <vt:lpstr>华文新魏</vt:lpstr>
      <vt:lpstr>楷体_GB2312</vt:lpstr>
      <vt:lpstr>华文彩云</vt:lpstr>
      <vt:lpstr>Times New Roman</vt:lpstr>
      <vt:lpstr>黑体</vt:lpstr>
      <vt:lpstr>新宋体</vt:lpstr>
      <vt:lpstr>微软雅黑</vt:lpstr>
      <vt:lpstr>Arial Unicode MS</vt:lpstr>
      <vt:lpstr>古瓶荷花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Equation.DSMT4</vt:lpstr>
      <vt:lpstr>Word.Document.8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 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Guest</cp:lastModifiedBy>
  <cp:revision>271</cp:revision>
  <dcterms:created xsi:type="dcterms:W3CDTF">2010-03-02T01:46:00Z</dcterms:created>
  <dcterms:modified xsi:type="dcterms:W3CDTF">2020-04-11T09:13:27Z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