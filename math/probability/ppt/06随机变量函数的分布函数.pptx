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sldIdLst>
    <p:sldId id="634" r:id="rId2"/>
    <p:sldId id="1134" r:id="rId3"/>
    <p:sldId id="1135" r:id="rId4"/>
    <p:sldId id="998" r:id="rId5"/>
    <p:sldId id="999" r:id="rId6"/>
    <p:sldId id="1000" r:id="rId7"/>
    <p:sldId id="1001" r:id="rId8"/>
    <p:sldId id="1002" r:id="rId9"/>
    <p:sldId id="1003" r:id="rId10"/>
    <p:sldId id="944" r:id="rId11"/>
    <p:sldId id="945" r:id="rId12"/>
    <p:sldId id="946" r:id="rId13"/>
    <p:sldId id="947" r:id="rId14"/>
    <p:sldId id="948" r:id="rId15"/>
    <p:sldId id="949" r:id="rId16"/>
    <p:sldId id="1073" r:id="rId17"/>
    <p:sldId id="950" r:id="rId18"/>
    <p:sldId id="1072" r:id="rId19"/>
    <p:sldId id="951" r:id="rId20"/>
    <p:sldId id="952" r:id="rId21"/>
    <p:sldId id="953" r:id="rId22"/>
    <p:sldId id="954" r:id="rId23"/>
    <p:sldId id="955" r:id="rId24"/>
    <p:sldId id="956" r:id="rId25"/>
    <p:sldId id="957" r:id="rId26"/>
    <p:sldId id="959" r:id="rId27"/>
    <p:sldId id="960" r:id="rId28"/>
    <p:sldId id="961" r:id="rId29"/>
    <p:sldId id="962" r:id="rId30"/>
    <p:sldId id="963" r:id="rId31"/>
    <p:sldId id="964" r:id="rId32"/>
    <p:sldId id="965" r:id="rId33"/>
    <p:sldId id="966" r:id="rId34"/>
    <p:sldId id="967" r:id="rId35"/>
    <p:sldId id="968" r:id="rId36"/>
    <p:sldId id="969" r:id="rId37"/>
    <p:sldId id="1004" r:id="rId38"/>
    <p:sldId id="1005" r:id="rId39"/>
    <p:sldId id="1006" r:id="rId40"/>
    <p:sldId id="1007" r:id="rId41"/>
    <p:sldId id="1008" r:id="rId42"/>
    <p:sldId id="1009" r:id="rId43"/>
    <p:sldId id="1010" r:id="rId44"/>
    <p:sldId id="1011" r:id="rId45"/>
    <p:sldId id="1012" r:id="rId46"/>
    <p:sldId id="1013" r:id="rId47"/>
    <p:sldId id="1014" r:id="rId48"/>
    <p:sldId id="1015" r:id="rId49"/>
    <p:sldId id="1016" r:id="rId50"/>
    <p:sldId id="1017" r:id="rId51"/>
    <p:sldId id="1018" r:id="rId52"/>
    <p:sldId id="1019" r:id="rId53"/>
    <p:sldId id="1020" r:id="rId54"/>
    <p:sldId id="1021" r:id="rId55"/>
    <p:sldId id="1022" r:id="rId56"/>
    <p:sldId id="1023" r:id="rId57"/>
    <p:sldId id="1024" r:id="rId58"/>
    <p:sldId id="1025" r:id="rId59"/>
    <p:sldId id="1026" r:id="rId60"/>
    <p:sldId id="1027" r:id="rId61"/>
    <p:sldId id="1028" r:id="rId62"/>
    <p:sldId id="1029" r:id="rId63"/>
    <p:sldId id="1030" r:id="rId64"/>
    <p:sldId id="1031" r:id="rId65"/>
    <p:sldId id="1032" r:id="rId66"/>
    <p:sldId id="1033" r:id="rId67"/>
    <p:sldId id="1034" r:id="rId68"/>
    <p:sldId id="1035" r:id="rId69"/>
    <p:sldId id="1036" r:id="rId70"/>
    <p:sldId id="1037" r:id="rId71"/>
    <p:sldId id="1038" r:id="rId72"/>
    <p:sldId id="1039" r:id="rId73"/>
    <p:sldId id="1040" r:id="rId74"/>
    <p:sldId id="1041" r:id="rId75"/>
    <p:sldId id="1042" r:id="rId76"/>
    <p:sldId id="958" r:id="rId7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09" d="100"/>
          <a:sy n="109" d="100"/>
        </p:scale>
        <p:origin x="114" y="1020"/>
      </p:cViewPr>
      <p:guideLst>
        <p:guide orient="horz" pos="21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CBC350-418C-4C9D-A79D-B676D32CD9DD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512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5E8FDF5-ED6D-40C6-980C-040A1453F43F}" type="slidenum">
              <a:rPr kumimoji="1" lang="en-US" altLang="zh-CN" sz="1200">
                <a:latin typeface="Times New Roman" panose="02020603050405020304" pitchFamily="18" charset="0"/>
              </a:rPr>
              <a:t>1</a:t>
            </a:fld>
            <a:endParaRPr kumimoji="1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B8C1339-16CE-4FD4-8835-94A64BBBFCB7}" type="slidenum">
              <a:rPr lang="en-US" altLang="zh-CN" sz="1200" smtClean="0"/>
              <a:t>35</a:t>
            </a:fld>
            <a:endParaRPr lang="en-US" altLang="zh-CN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C3C3F6-08A7-4DDD-BB86-953F7FED5B01}" type="slidenum">
              <a:rPr lang="en-US" altLang="zh-CN" sz="1200" smtClean="0"/>
              <a:t>36</a:t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7.emf"/><Relationship Id="rId18" Type="http://schemas.openxmlformats.org/officeDocument/2006/relationships/oleObject" Target="../embeddings/oleObject10.bin"/><Relationship Id="rId26" Type="http://schemas.openxmlformats.org/officeDocument/2006/relationships/image" Target="../media/image24.emf"/><Relationship Id="rId3" Type="http://schemas.openxmlformats.org/officeDocument/2006/relationships/image" Target="../media/image12.emf"/><Relationship Id="rId21" Type="http://schemas.openxmlformats.org/officeDocument/2006/relationships/image" Target="../media/image21.e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9.emf"/><Relationship Id="rId25" Type="http://schemas.openxmlformats.org/officeDocument/2006/relationships/oleObject" Target="../embeddings/oleObject13.bin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6.emf"/><Relationship Id="rId24" Type="http://schemas.openxmlformats.org/officeDocument/2006/relationships/image" Target="../media/image23.emf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23" Type="http://schemas.openxmlformats.org/officeDocument/2006/relationships/image" Target="../media/image22.e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20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6.e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emf"/><Relationship Id="rId18" Type="http://schemas.openxmlformats.org/officeDocument/2006/relationships/image" Target="../media/image72.emf"/><Relationship Id="rId26" Type="http://schemas.openxmlformats.org/officeDocument/2006/relationships/image" Target="../media/image80.emf"/><Relationship Id="rId3" Type="http://schemas.openxmlformats.org/officeDocument/2006/relationships/image" Target="../media/image58.emf"/><Relationship Id="rId21" Type="http://schemas.openxmlformats.org/officeDocument/2006/relationships/image" Target="../media/image75.emf"/><Relationship Id="rId34" Type="http://schemas.openxmlformats.org/officeDocument/2006/relationships/image" Target="../media/image88.emf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17" Type="http://schemas.openxmlformats.org/officeDocument/2006/relationships/image" Target="../media/image71.emf"/><Relationship Id="rId25" Type="http://schemas.openxmlformats.org/officeDocument/2006/relationships/image" Target="../media/image79.emf"/><Relationship Id="rId33" Type="http://schemas.openxmlformats.org/officeDocument/2006/relationships/image" Target="../media/image87.emf"/><Relationship Id="rId2" Type="http://schemas.openxmlformats.org/officeDocument/2006/relationships/oleObject" Target="../embeddings/oleObject19.bin"/><Relationship Id="rId16" Type="http://schemas.openxmlformats.org/officeDocument/2006/relationships/image" Target="../media/image70.emf"/><Relationship Id="rId20" Type="http://schemas.openxmlformats.org/officeDocument/2006/relationships/image" Target="../media/image74.emf"/><Relationship Id="rId29" Type="http://schemas.openxmlformats.org/officeDocument/2006/relationships/image" Target="../media/image8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24" Type="http://schemas.openxmlformats.org/officeDocument/2006/relationships/image" Target="../media/image78.emf"/><Relationship Id="rId32" Type="http://schemas.openxmlformats.org/officeDocument/2006/relationships/image" Target="../media/image86.emf"/><Relationship Id="rId5" Type="http://schemas.openxmlformats.org/officeDocument/2006/relationships/oleObject" Target="../embeddings/oleObject1.bin"/><Relationship Id="rId15" Type="http://schemas.openxmlformats.org/officeDocument/2006/relationships/image" Target="../media/image69.emf"/><Relationship Id="rId23" Type="http://schemas.openxmlformats.org/officeDocument/2006/relationships/image" Target="../media/image77.emf"/><Relationship Id="rId28" Type="http://schemas.openxmlformats.org/officeDocument/2006/relationships/image" Target="../media/image82.emf"/><Relationship Id="rId10" Type="http://schemas.openxmlformats.org/officeDocument/2006/relationships/image" Target="../media/image64.emf"/><Relationship Id="rId19" Type="http://schemas.openxmlformats.org/officeDocument/2006/relationships/image" Target="../media/image73.emf"/><Relationship Id="rId31" Type="http://schemas.openxmlformats.org/officeDocument/2006/relationships/image" Target="../media/image85.emf"/><Relationship Id="rId4" Type="http://schemas.openxmlformats.org/officeDocument/2006/relationships/image" Target="../media/image59.emf"/><Relationship Id="rId9" Type="http://schemas.openxmlformats.org/officeDocument/2006/relationships/image" Target="../media/image63.emf"/><Relationship Id="rId14" Type="http://schemas.openxmlformats.org/officeDocument/2006/relationships/image" Target="../media/image68.emf"/><Relationship Id="rId22" Type="http://schemas.openxmlformats.org/officeDocument/2006/relationships/image" Target="../media/image76.emf"/><Relationship Id="rId27" Type="http://schemas.openxmlformats.org/officeDocument/2006/relationships/image" Target="../media/image81.emf"/><Relationship Id="rId30" Type="http://schemas.openxmlformats.org/officeDocument/2006/relationships/image" Target="../media/image84.emf"/><Relationship Id="rId35" Type="http://schemas.openxmlformats.org/officeDocument/2006/relationships/image" Target="../media/image89.emf"/><Relationship Id="rId8" Type="http://schemas.openxmlformats.org/officeDocument/2006/relationships/image" Target="../media/image6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9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18" Type="http://schemas.openxmlformats.org/officeDocument/2006/relationships/image" Target="../media/image110.wmf"/><Relationship Id="rId3" Type="http://schemas.openxmlformats.org/officeDocument/2006/relationships/image" Target="../media/image96.e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17" Type="http://schemas.openxmlformats.org/officeDocument/2006/relationships/oleObject" Target="../embeddings/oleObject26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09.emf"/><Relationship Id="rId20" Type="http://schemas.openxmlformats.org/officeDocument/2006/relationships/image" Target="../media/image11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e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5" Type="http://schemas.openxmlformats.org/officeDocument/2006/relationships/image" Target="../media/image108.emf"/><Relationship Id="rId10" Type="http://schemas.openxmlformats.org/officeDocument/2006/relationships/image" Target="../media/image103.e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97.emf"/><Relationship Id="rId9" Type="http://schemas.openxmlformats.org/officeDocument/2006/relationships/image" Target="../media/image102.emf"/><Relationship Id="rId14" Type="http://schemas.openxmlformats.org/officeDocument/2006/relationships/image" Target="../media/image10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13" Type="http://schemas.openxmlformats.org/officeDocument/2006/relationships/image" Target="../media/image122.emf"/><Relationship Id="rId18" Type="http://schemas.openxmlformats.org/officeDocument/2006/relationships/oleObject" Target="../embeddings/oleObject28.bin"/><Relationship Id="rId3" Type="http://schemas.openxmlformats.org/officeDocument/2006/relationships/image" Target="../media/image112.emf"/><Relationship Id="rId7" Type="http://schemas.openxmlformats.org/officeDocument/2006/relationships/image" Target="../media/image116.emf"/><Relationship Id="rId12" Type="http://schemas.openxmlformats.org/officeDocument/2006/relationships/image" Target="../media/image121.emf"/><Relationship Id="rId17" Type="http://schemas.openxmlformats.org/officeDocument/2006/relationships/image" Target="../media/image126.e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emf"/><Relationship Id="rId11" Type="http://schemas.openxmlformats.org/officeDocument/2006/relationships/image" Target="../media/image120.emf"/><Relationship Id="rId5" Type="http://schemas.openxmlformats.org/officeDocument/2006/relationships/image" Target="../media/image114.emf"/><Relationship Id="rId15" Type="http://schemas.openxmlformats.org/officeDocument/2006/relationships/image" Target="../media/image124.emf"/><Relationship Id="rId10" Type="http://schemas.openxmlformats.org/officeDocument/2006/relationships/image" Target="../media/image119.emf"/><Relationship Id="rId19" Type="http://schemas.openxmlformats.org/officeDocument/2006/relationships/image" Target="../media/image127.wmf"/><Relationship Id="rId4" Type="http://schemas.openxmlformats.org/officeDocument/2006/relationships/image" Target="../media/image113.emf"/><Relationship Id="rId9" Type="http://schemas.openxmlformats.org/officeDocument/2006/relationships/image" Target="../media/image118.emf"/><Relationship Id="rId14" Type="http://schemas.openxmlformats.org/officeDocument/2006/relationships/image" Target="../media/image1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2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139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4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2.wmf"/><Relationship Id="rId7" Type="http://schemas.openxmlformats.org/officeDocument/2006/relationships/oleObject" Target="../embeddings/oleObject34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wmf"/><Relationship Id="rId11" Type="http://schemas.openxmlformats.org/officeDocument/2006/relationships/image" Target="../media/image153.wmf"/><Relationship Id="rId5" Type="http://schemas.openxmlformats.org/officeDocument/2006/relationships/image" Target="../media/image149.wmf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148.wmf"/><Relationship Id="rId9" Type="http://schemas.openxmlformats.org/officeDocument/2006/relationships/image" Target="../media/image152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7.emf"/><Relationship Id="rId4" Type="http://schemas.openxmlformats.org/officeDocument/2006/relationships/oleObject" Target="../embeddings/oleObject2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2.emf"/><Relationship Id="rId4" Type="http://schemas.openxmlformats.org/officeDocument/2006/relationships/image" Target="../media/image16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7" Type="http://schemas.openxmlformats.org/officeDocument/2006/relationships/image" Target="../media/image16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2.emf"/><Relationship Id="rId4" Type="http://schemas.openxmlformats.org/officeDocument/2006/relationships/image" Target="../media/image17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6.emf"/><Relationship Id="rId5" Type="http://schemas.openxmlformats.org/officeDocument/2006/relationships/image" Target="../media/image175.emf"/><Relationship Id="rId4" Type="http://schemas.openxmlformats.org/officeDocument/2006/relationships/image" Target="../media/image17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179.emf"/><Relationship Id="rId4" Type="http://schemas.openxmlformats.org/officeDocument/2006/relationships/image" Target="../media/image178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3.wmf"/><Relationship Id="rId12" Type="http://schemas.openxmlformats.org/officeDocument/2006/relationships/oleObject" Target="../embeddings/oleObject44.bin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185.wmf"/><Relationship Id="rId5" Type="http://schemas.openxmlformats.org/officeDocument/2006/relationships/image" Target="../media/image182.wmf"/><Relationship Id="rId15" Type="http://schemas.openxmlformats.org/officeDocument/2006/relationships/image" Target="../media/image187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184.wmf"/><Relationship Id="rId14" Type="http://schemas.openxmlformats.org/officeDocument/2006/relationships/oleObject" Target="../embeddings/oleObject4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13" Type="http://schemas.openxmlformats.org/officeDocument/2006/relationships/image" Target="../media/image198.emf"/><Relationship Id="rId3" Type="http://schemas.openxmlformats.org/officeDocument/2006/relationships/image" Target="../media/image188.emf"/><Relationship Id="rId7" Type="http://schemas.openxmlformats.org/officeDocument/2006/relationships/image" Target="../media/image192.emf"/><Relationship Id="rId12" Type="http://schemas.openxmlformats.org/officeDocument/2006/relationships/image" Target="../media/image19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emf"/><Relationship Id="rId11" Type="http://schemas.openxmlformats.org/officeDocument/2006/relationships/image" Target="../media/image196.emf"/><Relationship Id="rId5" Type="http://schemas.openxmlformats.org/officeDocument/2006/relationships/image" Target="../media/image190.emf"/><Relationship Id="rId10" Type="http://schemas.openxmlformats.org/officeDocument/2006/relationships/image" Target="../media/image195.emf"/><Relationship Id="rId4" Type="http://schemas.openxmlformats.org/officeDocument/2006/relationships/image" Target="../media/image189.emf"/><Relationship Id="rId9" Type="http://schemas.openxmlformats.org/officeDocument/2006/relationships/image" Target="../media/image19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7" Type="http://schemas.openxmlformats.org/officeDocument/2006/relationships/image" Target="../media/image201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47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7" Type="http://schemas.openxmlformats.org/officeDocument/2006/relationships/image" Target="../media/image204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203.wmf"/><Relationship Id="rId4" Type="http://schemas.openxmlformats.org/officeDocument/2006/relationships/oleObject" Target="../embeddings/oleObject5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2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205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emf"/><Relationship Id="rId3" Type="http://schemas.openxmlformats.org/officeDocument/2006/relationships/image" Target="../media/image206.emf"/><Relationship Id="rId7" Type="http://schemas.openxmlformats.org/officeDocument/2006/relationships/image" Target="../media/image20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emf"/><Relationship Id="rId11" Type="http://schemas.openxmlformats.org/officeDocument/2006/relationships/image" Target="../media/image213.emf"/><Relationship Id="rId5" Type="http://schemas.openxmlformats.org/officeDocument/2006/relationships/image" Target="../media/image207.emf"/><Relationship Id="rId10" Type="http://schemas.openxmlformats.org/officeDocument/2006/relationships/image" Target="../media/image212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21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5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7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emf"/><Relationship Id="rId13" Type="http://schemas.openxmlformats.org/officeDocument/2006/relationships/oleObject" Target="../embeddings/oleObject54.bin"/><Relationship Id="rId3" Type="http://schemas.openxmlformats.org/officeDocument/2006/relationships/image" Target="../media/image218.emf"/><Relationship Id="rId7" Type="http://schemas.openxmlformats.org/officeDocument/2006/relationships/image" Target="../media/image222.emf"/><Relationship Id="rId12" Type="http://schemas.openxmlformats.org/officeDocument/2006/relationships/image" Target="../media/image226.emf"/><Relationship Id="rId17" Type="http://schemas.openxmlformats.org/officeDocument/2006/relationships/image" Target="../media/image229.e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emf"/><Relationship Id="rId11" Type="http://schemas.openxmlformats.org/officeDocument/2006/relationships/image" Target="../media/image225.emf"/><Relationship Id="rId5" Type="http://schemas.openxmlformats.org/officeDocument/2006/relationships/image" Target="../media/image220.emf"/><Relationship Id="rId15" Type="http://schemas.openxmlformats.org/officeDocument/2006/relationships/oleObject" Target="../embeddings/oleObject55.bin"/><Relationship Id="rId10" Type="http://schemas.openxmlformats.org/officeDocument/2006/relationships/oleObject" Target="../embeddings/oleObject53.bin"/><Relationship Id="rId4" Type="http://schemas.openxmlformats.org/officeDocument/2006/relationships/image" Target="../media/image219.emf"/><Relationship Id="rId9" Type="http://schemas.openxmlformats.org/officeDocument/2006/relationships/image" Target="../media/image224.emf"/><Relationship Id="rId14" Type="http://schemas.openxmlformats.org/officeDocument/2006/relationships/image" Target="../media/image227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230.wmf"/><Relationship Id="rId7" Type="http://schemas.openxmlformats.org/officeDocument/2006/relationships/image" Target="../media/image232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23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emf"/><Relationship Id="rId5" Type="http://schemas.openxmlformats.org/officeDocument/2006/relationships/image" Target="../media/image237.emf"/><Relationship Id="rId4" Type="http://schemas.openxmlformats.org/officeDocument/2006/relationships/image" Target="../media/image236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3" Type="http://schemas.openxmlformats.org/officeDocument/2006/relationships/image" Target="../media/image239.wmf"/><Relationship Id="rId7" Type="http://schemas.openxmlformats.org/officeDocument/2006/relationships/image" Target="../media/image24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emf"/><Relationship Id="rId5" Type="http://schemas.openxmlformats.org/officeDocument/2006/relationships/image" Target="../media/image241.emf"/><Relationship Id="rId4" Type="http://schemas.openxmlformats.org/officeDocument/2006/relationships/image" Target="../media/image240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emf"/><Relationship Id="rId3" Type="http://schemas.openxmlformats.org/officeDocument/2006/relationships/image" Target="../media/image239.wmf"/><Relationship Id="rId7" Type="http://schemas.openxmlformats.org/officeDocument/2006/relationships/image" Target="../media/image24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246.emf"/><Relationship Id="rId4" Type="http://schemas.openxmlformats.org/officeDocument/2006/relationships/image" Target="../media/image245.emf"/><Relationship Id="rId9" Type="http://schemas.openxmlformats.org/officeDocument/2006/relationships/image" Target="../media/image249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251.wmf"/><Relationship Id="rId7" Type="http://schemas.openxmlformats.org/officeDocument/2006/relationships/image" Target="../media/image25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252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254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260.wmf"/><Relationship Id="rId3" Type="http://schemas.openxmlformats.org/officeDocument/2006/relationships/image" Target="../media/image255.wmf"/><Relationship Id="rId7" Type="http://schemas.openxmlformats.org/officeDocument/2006/relationships/image" Target="../media/image257.wmf"/><Relationship Id="rId12" Type="http://schemas.openxmlformats.org/officeDocument/2006/relationships/oleObject" Target="../embeddings/oleObject72.bin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259.wmf"/><Relationship Id="rId5" Type="http://schemas.openxmlformats.org/officeDocument/2006/relationships/image" Target="../media/image256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258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image" Target="../media/image261.emf"/><Relationship Id="rId7" Type="http://schemas.openxmlformats.org/officeDocument/2006/relationships/image" Target="../media/image26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4.emf"/><Relationship Id="rId5" Type="http://schemas.openxmlformats.org/officeDocument/2006/relationships/image" Target="../media/image263.emf"/><Relationship Id="rId4" Type="http://schemas.openxmlformats.org/officeDocument/2006/relationships/image" Target="../media/image262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emf"/><Relationship Id="rId3" Type="http://schemas.openxmlformats.org/officeDocument/2006/relationships/image" Target="../media/image235.wmf"/><Relationship Id="rId7" Type="http://schemas.openxmlformats.org/officeDocument/2006/relationships/image" Target="../media/image270.emf"/><Relationship Id="rId12" Type="http://schemas.openxmlformats.org/officeDocument/2006/relationships/image" Target="../media/image27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9.emf"/><Relationship Id="rId11" Type="http://schemas.openxmlformats.org/officeDocument/2006/relationships/image" Target="../media/image274.emf"/><Relationship Id="rId5" Type="http://schemas.openxmlformats.org/officeDocument/2006/relationships/image" Target="../media/image268.emf"/><Relationship Id="rId10" Type="http://schemas.openxmlformats.org/officeDocument/2006/relationships/image" Target="../media/image273.emf"/><Relationship Id="rId4" Type="http://schemas.openxmlformats.org/officeDocument/2006/relationships/image" Target="../media/image267.emf"/><Relationship Id="rId9" Type="http://schemas.openxmlformats.org/officeDocument/2006/relationships/image" Target="../media/image272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8.emf"/><Relationship Id="rId4" Type="http://schemas.openxmlformats.org/officeDocument/2006/relationships/image" Target="../media/image277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1.emf"/><Relationship Id="rId4" Type="http://schemas.openxmlformats.org/officeDocument/2006/relationships/image" Target="../media/image280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3" Type="http://schemas.openxmlformats.org/officeDocument/2006/relationships/image" Target="../media/image282.emf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28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75.bin"/><Relationship Id="rId5" Type="http://schemas.openxmlformats.org/officeDocument/2006/relationships/image" Target="../media/image284.wmf"/><Relationship Id="rId10" Type="http://schemas.openxmlformats.org/officeDocument/2006/relationships/image" Target="../media/image287.wmf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74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13" Type="http://schemas.openxmlformats.org/officeDocument/2006/relationships/image" Target="../media/image298.wmf"/><Relationship Id="rId18" Type="http://schemas.openxmlformats.org/officeDocument/2006/relationships/image" Target="../media/image303.wmf"/><Relationship Id="rId3" Type="http://schemas.openxmlformats.org/officeDocument/2006/relationships/image" Target="../media/image289.wmf"/><Relationship Id="rId21" Type="http://schemas.openxmlformats.org/officeDocument/2006/relationships/image" Target="../media/image305.wmf"/><Relationship Id="rId7" Type="http://schemas.openxmlformats.org/officeDocument/2006/relationships/image" Target="../media/image293.wmf"/><Relationship Id="rId12" Type="http://schemas.openxmlformats.org/officeDocument/2006/relationships/image" Target="../media/image297.wmf"/><Relationship Id="rId17" Type="http://schemas.openxmlformats.org/officeDocument/2006/relationships/image" Target="../media/image302.wmf"/><Relationship Id="rId25" Type="http://schemas.openxmlformats.org/officeDocument/2006/relationships/image" Target="../media/image307.w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301.wmf"/><Relationship Id="rId20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wmf"/><Relationship Id="rId11" Type="http://schemas.openxmlformats.org/officeDocument/2006/relationships/image" Target="../media/image296.w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291.wmf"/><Relationship Id="rId15" Type="http://schemas.openxmlformats.org/officeDocument/2006/relationships/image" Target="../media/image300.wmf"/><Relationship Id="rId23" Type="http://schemas.openxmlformats.org/officeDocument/2006/relationships/image" Target="../media/image306.wmf"/><Relationship Id="rId10" Type="http://schemas.openxmlformats.org/officeDocument/2006/relationships/image" Target="../media/image295.wmf"/><Relationship Id="rId19" Type="http://schemas.openxmlformats.org/officeDocument/2006/relationships/image" Target="../media/image304.wmf"/><Relationship Id="rId4" Type="http://schemas.openxmlformats.org/officeDocument/2006/relationships/image" Target="../media/image290.wmf"/><Relationship Id="rId9" Type="http://schemas.openxmlformats.org/officeDocument/2006/relationships/image" Target="../media/image294.wmf"/><Relationship Id="rId14" Type="http://schemas.openxmlformats.org/officeDocument/2006/relationships/image" Target="../media/image299.wmf"/><Relationship Id="rId22" Type="http://schemas.openxmlformats.org/officeDocument/2006/relationships/oleObject" Target="../embeddings/oleObject77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emf"/><Relationship Id="rId5" Type="http://schemas.openxmlformats.org/officeDocument/2006/relationships/image" Target="../media/image310.emf"/><Relationship Id="rId4" Type="http://schemas.openxmlformats.org/officeDocument/2006/relationships/image" Target="../media/image309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emf"/><Relationship Id="rId3" Type="http://schemas.openxmlformats.org/officeDocument/2006/relationships/image" Target="../media/image312.emf"/><Relationship Id="rId7" Type="http://schemas.openxmlformats.org/officeDocument/2006/relationships/image" Target="../media/image3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5.emf"/><Relationship Id="rId5" Type="http://schemas.openxmlformats.org/officeDocument/2006/relationships/image" Target="../media/image314.emf"/><Relationship Id="rId4" Type="http://schemas.openxmlformats.org/officeDocument/2006/relationships/image" Target="../media/image313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0.emf"/><Relationship Id="rId4" Type="http://schemas.openxmlformats.org/officeDocument/2006/relationships/image" Target="../media/image319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image" Target="../media/image321.wmf"/><Relationship Id="rId7" Type="http://schemas.openxmlformats.org/officeDocument/2006/relationships/image" Target="../media/image3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323.wmf"/><Relationship Id="rId4" Type="http://schemas.openxmlformats.org/officeDocument/2006/relationships/image" Target="../media/image322.wmf"/><Relationship Id="rId9" Type="http://schemas.openxmlformats.org/officeDocument/2006/relationships/image" Target="../media/image325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2583" y="1191578"/>
            <a:ext cx="8458200" cy="1524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概率论</a:t>
            </a:r>
            <a:r>
              <a:rPr lang="zh-CN" altLang="en-US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与数理统计</a:t>
            </a:r>
            <a:endParaRPr lang="zh-CN" altLang="en-US" sz="3600" b="1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330" y="3331845"/>
            <a:ext cx="7162800" cy="147701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               2019-2020</a:t>
            </a:r>
            <a:r>
              <a:rPr lang="zh-CN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学年第二学期</a:t>
            </a:r>
          </a:p>
        </p:txBody>
      </p:sp>
    </p:spTree>
  </p:cSld>
  <p:clrMapOvr>
    <a:masterClrMapping/>
  </p:clrMapOvr>
  <p:transition advTm="10000">
    <p:zoom/>
    <p:sndAc>
      <p:stSnd>
        <p:snd r:embed="rId3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autoUpdateAnimBg="0" advAuto="0"/>
      <p:bldP spid="30723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62" name="Group 2"/>
          <p:cNvGrpSpPr/>
          <p:nvPr/>
        </p:nvGrpSpPr>
        <p:grpSpPr bwMode="auto">
          <a:xfrm>
            <a:off x="5942013" y="973138"/>
            <a:ext cx="2935287" cy="1023937"/>
            <a:chOff x="3626" y="772"/>
            <a:chExt cx="1849" cy="645"/>
          </a:xfrm>
        </p:grpSpPr>
        <p:sp>
          <p:nvSpPr>
            <p:cNvPr id="23596" name="Rectangle 3"/>
            <p:cNvSpPr>
              <a:spLocks noChangeArrowheads="1"/>
            </p:cNvSpPr>
            <p:nvPr/>
          </p:nvSpPr>
          <p:spPr bwMode="auto">
            <a:xfrm>
              <a:off x="4035" y="109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连续型</a:t>
              </a:r>
            </a:p>
          </p:txBody>
        </p:sp>
        <p:sp>
          <p:nvSpPr>
            <p:cNvPr id="23597" name="Rectangle 4"/>
            <p:cNvSpPr>
              <a:spLocks noChangeArrowheads="1"/>
            </p:cNvSpPr>
            <p:nvPr/>
          </p:nvSpPr>
          <p:spPr bwMode="auto">
            <a:xfrm>
              <a:off x="3626" y="772"/>
              <a:ext cx="1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一维随机变量</a:t>
              </a:r>
              <a:r>
                <a:rPr lang="en-US" altLang="zh-CN" sz="2800" b="1" i="1"/>
                <a:t>X</a:t>
              </a:r>
            </a:p>
          </p:txBody>
        </p:sp>
      </p:grpSp>
      <p:sp>
        <p:nvSpPr>
          <p:cNvPr id="296965" name="Rectangle 5"/>
          <p:cNvSpPr>
            <a:spLocks noChangeArrowheads="1"/>
          </p:cNvSpPr>
          <p:nvPr/>
        </p:nvSpPr>
        <p:spPr bwMode="auto">
          <a:xfrm>
            <a:off x="6029325" y="3294063"/>
            <a:ext cx="292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X</a:t>
            </a:r>
            <a:r>
              <a:rPr lang="zh-CN" altLang="en-US" sz="2800" b="1" dirty="0"/>
              <a:t>的概率密度函数</a:t>
            </a:r>
          </a:p>
        </p:txBody>
      </p:sp>
      <p:graphicFrame>
        <p:nvGraphicFramePr>
          <p:cNvPr id="296966" name="Object 6"/>
          <p:cNvGraphicFramePr>
            <a:graphicFrameLocks noChangeAspect="1"/>
          </p:cNvGraphicFramePr>
          <p:nvPr/>
        </p:nvGraphicFramePr>
        <p:xfrm>
          <a:off x="6156325" y="4816475"/>
          <a:ext cx="2438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00100" imgH="259715" progId="Equation.3">
                  <p:embed/>
                </p:oleObj>
              </mc:Choice>
              <mc:Fallback>
                <p:oleObj name="公式" r:id="rId2" imgW="800100" imgH="2597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816475"/>
                        <a:ext cx="2438400" cy="91757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7" name="Object 7"/>
          <p:cNvGraphicFramePr>
            <a:graphicFrameLocks noChangeAspect="1"/>
          </p:cNvGraphicFramePr>
          <p:nvPr/>
        </p:nvGraphicFramePr>
        <p:xfrm>
          <a:off x="5867400" y="1989138"/>
          <a:ext cx="3136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57525" imgH="1222375" progId="Equation.3">
                  <p:embed/>
                </p:oleObj>
              </mc:Choice>
              <mc:Fallback>
                <p:oleObj name="公式" r:id="rId2" imgW="3057525" imgH="122237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89138"/>
                        <a:ext cx="3136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68" name="Group 8"/>
          <p:cNvGrpSpPr/>
          <p:nvPr/>
        </p:nvGrpSpPr>
        <p:grpSpPr bwMode="auto">
          <a:xfrm>
            <a:off x="6516688" y="3933825"/>
            <a:ext cx="1955800" cy="1009650"/>
            <a:chOff x="4080" y="2642"/>
            <a:chExt cx="1232" cy="636"/>
          </a:xfrm>
        </p:grpSpPr>
        <p:graphicFrame>
          <p:nvGraphicFramePr>
            <p:cNvPr id="23594" name="Object 9"/>
            <p:cNvGraphicFramePr>
              <a:graphicFrameLocks noChangeAspect="1"/>
            </p:cNvGraphicFramePr>
            <p:nvPr/>
          </p:nvGraphicFramePr>
          <p:xfrm>
            <a:off x="4083" y="2931"/>
            <a:ext cx="9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85775" imgH="125095" progId="Equation.3">
                    <p:embed/>
                  </p:oleObj>
                </mc:Choice>
                <mc:Fallback>
                  <p:oleObj name="公式" r:id="rId2" imgW="485775" imgH="12509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2931"/>
                          <a:ext cx="960" cy="347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5" name="Object 10"/>
            <p:cNvGraphicFramePr>
              <a:graphicFrameLocks noChangeAspect="1"/>
            </p:cNvGraphicFramePr>
            <p:nvPr/>
          </p:nvGraphicFramePr>
          <p:xfrm>
            <a:off x="4080" y="2642"/>
            <a:ext cx="1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76425" imgH="346710" progId="Equation.3">
                    <p:embed/>
                  </p:oleObj>
                </mc:Choice>
                <mc:Fallback>
                  <p:oleObj name="公式" r:id="rId2" imgW="1876425" imgH="34671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642"/>
                          <a:ext cx="1232" cy="264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6971" name="Text Box 11"/>
          <p:cNvSpPr txBox="1">
            <a:spLocks noChangeArrowheads="1"/>
          </p:cNvSpPr>
          <p:nvPr/>
        </p:nvSpPr>
        <p:spPr bwMode="auto">
          <a:xfrm>
            <a:off x="1173163" y="866775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</a:p>
        </p:txBody>
      </p:sp>
      <p:grpSp>
        <p:nvGrpSpPr>
          <p:cNvPr id="296972" name="Group 12"/>
          <p:cNvGrpSpPr/>
          <p:nvPr/>
        </p:nvGrpSpPr>
        <p:grpSpPr bwMode="auto">
          <a:xfrm>
            <a:off x="468313" y="908050"/>
            <a:ext cx="5038725" cy="1130300"/>
            <a:chOff x="250" y="709"/>
            <a:chExt cx="3174" cy="712"/>
          </a:xfrm>
        </p:grpSpPr>
        <p:sp>
          <p:nvSpPr>
            <p:cNvPr id="23589" name="Rectangle 13"/>
            <p:cNvSpPr>
              <a:spLocks noChangeArrowheads="1"/>
            </p:cNvSpPr>
            <p:nvPr/>
          </p:nvSpPr>
          <p:spPr bwMode="auto">
            <a:xfrm>
              <a:off x="1495" y="709"/>
              <a:ext cx="19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对于二维随机变量  </a:t>
              </a:r>
            </a:p>
          </p:txBody>
        </p:sp>
        <p:grpSp>
          <p:nvGrpSpPr>
            <p:cNvPr id="23590" name="Group 14"/>
            <p:cNvGrpSpPr/>
            <p:nvPr/>
          </p:nvGrpSpPr>
          <p:grpSpPr bwMode="auto">
            <a:xfrm>
              <a:off x="250" y="1071"/>
              <a:ext cx="2675" cy="350"/>
              <a:chOff x="250" y="1071"/>
              <a:chExt cx="2675" cy="350"/>
            </a:xfrm>
          </p:grpSpPr>
          <p:graphicFrame>
            <p:nvGraphicFramePr>
              <p:cNvPr id="23591" name="Object 15"/>
              <p:cNvGraphicFramePr>
                <a:graphicFrameLocks noChangeAspect="1"/>
              </p:cNvGraphicFramePr>
              <p:nvPr/>
            </p:nvGraphicFramePr>
            <p:xfrm>
              <a:off x="250" y="1103"/>
              <a:ext cx="6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942975" imgH="423545" progId="Equation.DSMT4">
                      <p:embed/>
                    </p:oleObj>
                  </mc:Choice>
                  <mc:Fallback>
                    <p:oleObj name="Equation" r:id="rId2" imgW="942975" imgH="423545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" y="1103"/>
                            <a:ext cx="6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2" name="Text Box 16"/>
              <p:cNvSpPr txBox="1">
                <a:spLocks noChangeArrowheads="1"/>
              </p:cNvSpPr>
              <p:nvPr/>
            </p:nvSpPr>
            <p:spPr bwMode="auto">
              <a:xfrm>
                <a:off x="884" y="1071"/>
                <a:ext cx="140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的分布函数</a:t>
                </a:r>
              </a:p>
            </p:txBody>
          </p:sp>
          <p:graphicFrame>
            <p:nvGraphicFramePr>
              <p:cNvPr id="23593" name="Object 17"/>
              <p:cNvGraphicFramePr>
                <a:graphicFrameLocks noChangeAspect="1"/>
              </p:cNvGraphicFramePr>
              <p:nvPr/>
            </p:nvGraphicFramePr>
            <p:xfrm>
              <a:off x="2085" y="1109"/>
              <a:ext cx="8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57300" imgH="423545" progId="Equation.DSMT4">
                      <p:embed/>
                    </p:oleObj>
                  </mc:Choice>
                  <mc:Fallback>
                    <p:oleObj name="Equation" r:id="rId2" imgW="1257300" imgH="423545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5" y="1109"/>
                            <a:ext cx="8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6978" name="Group 18"/>
          <p:cNvGrpSpPr/>
          <p:nvPr/>
        </p:nvGrpSpPr>
        <p:grpSpPr bwMode="auto">
          <a:xfrm>
            <a:off x="392113" y="3884613"/>
            <a:ext cx="5245100" cy="1038225"/>
            <a:chOff x="211" y="2606"/>
            <a:chExt cx="3304" cy="654"/>
          </a:xfrm>
        </p:grpSpPr>
        <p:grpSp>
          <p:nvGrpSpPr>
            <p:cNvPr id="23585" name="Group 19"/>
            <p:cNvGrpSpPr/>
            <p:nvPr/>
          </p:nvGrpSpPr>
          <p:grpSpPr bwMode="auto">
            <a:xfrm>
              <a:off x="249" y="2606"/>
              <a:ext cx="3266" cy="365"/>
              <a:chOff x="249" y="2606"/>
              <a:chExt cx="3266" cy="365"/>
            </a:xfrm>
          </p:grpSpPr>
          <p:sp>
            <p:nvSpPr>
              <p:cNvPr id="23587" name="Rectangle 20"/>
              <p:cNvSpPr>
                <a:spLocks noChangeArrowheads="1"/>
              </p:cNvSpPr>
              <p:nvPr/>
            </p:nvSpPr>
            <p:spPr bwMode="auto">
              <a:xfrm>
                <a:off x="249" y="2606"/>
                <a:ext cx="32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则称              是</a:t>
                </a:r>
                <a:r>
                  <a:rPr lang="zh-CN" altLang="en-US" sz="2800" b="1">
                    <a:solidFill>
                      <a:schemeClr val="accent2"/>
                    </a:solidFill>
                  </a:rPr>
                  <a:t>连续型的二维随</a:t>
                </a:r>
                <a:endParaRPr lang="zh-CN" altLang="en-US" sz="2800" b="1"/>
              </a:p>
            </p:txBody>
          </p:sp>
          <p:graphicFrame>
            <p:nvGraphicFramePr>
              <p:cNvPr id="23588" name="Object 21"/>
              <p:cNvGraphicFramePr>
                <a:graphicFrameLocks noChangeAspect="1"/>
              </p:cNvGraphicFramePr>
              <p:nvPr/>
            </p:nvGraphicFramePr>
            <p:xfrm>
              <a:off x="834" y="2659"/>
              <a:ext cx="6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942975" imgH="423545" progId="Equation.DSMT4">
                      <p:embed/>
                    </p:oleObj>
                  </mc:Choice>
                  <mc:Fallback>
                    <p:oleObj name="Equation" r:id="rId2" imgW="942975" imgH="42354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4" y="2659"/>
                            <a:ext cx="6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86" name="Rectangle 22"/>
            <p:cNvSpPr>
              <a:spLocks noChangeArrowheads="1"/>
            </p:cNvSpPr>
            <p:nvPr/>
          </p:nvSpPr>
          <p:spPr bwMode="auto">
            <a:xfrm>
              <a:off x="211" y="2933"/>
              <a:ext cx="9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accent2"/>
                  </a:solidFill>
                </a:rPr>
                <a:t>机变量 </a:t>
              </a:r>
              <a:r>
                <a:rPr lang="en-US" altLang="zh-CN" sz="2800" b="1"/>
                <a:t>,</a:t>
              </a:r>
            </a:p>
          </p:txBody>
        </p:sp>
      </p:grpSp>
      <p:grpSp>
        <p:nvGrpSpPr>
          <p:cNvPr id="296983" name="Group 23"/>
          <p:cNvGrpSpPr/>
          <p:nvPr/>
        </p:nvGrpSpPr>
        <p:grpSpPr bwMode="auto">
          <a:xfrm>
            <a:off x="457200" y="4419600"/>
            <a:ext cx="5181600" cy="1044575"/>
            <a:chOff x="249" y="2924"/>
            <a:chExt cx="3130" cy="632"/>
          </a:xfrm>
        </p:grpSpPr>
        <p:grpSp>
          <p:nvGrpSpPr>
            <p:cNvPr id="23579" name="Group 24"/>
            <p:cNvGrpSpPr/>
            <p:nvPr/>
          </p:nvGrpSpPr>
          <p:grpSpPr bwMode="auto">
            <a:xfrm>
              <a:off x="1020" y="2924"/>
              <a:ext cx="2359" cy="321"/>
              <a:chOff x="975" y="2924"/>
              <a:chExt cx="2359" cy="321"/>
            </a:xfrm>
          </p:grpSpPr>
          <p:graphicFrame>
            <p:nvGraphicFramePr>
              <p:cNvPr id="23583" name="Object 25"/>
              <p:cNvGraphicFramePr>
                <a:graphicFrameLocks noChangeAspect="1"/>
              </p:cNvGraphicFramePr>
              <p:nvPr/>
            </p:nvGraphicFramePr>
            <p:xfrm>
              <a:off x="1538" y="2933"/>
              <a:ext cx="752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14425" imgH="423545" progId="Equation.DSMT4">
                      <p:embed/>
                    </p:oleObj>
                  </mc:Choice>
                  <mc:Fallback>
                    <p:oleObj name="Equation" r:id="rId2" imgW="1114425" imgH="423545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8" y="2933"/>
                            <a:ext cx="752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4" name="Text Box 26"/>
              <p:cNvSpPr txBox="1">
                <a:spLocks noChangeArrowheads="1"/>
              </p:cNvSpPr>
              <p:nvPr/>
            </p:nvSpPr>
            <p:spPr bwMode="auto">
              <a:xfrm>
                <a:off x="975" y="2924"/>
                <a:ext cx="2359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函数                称为二维</a:t>
                </a:r>
              </a:p>
            </p:txBody>
          </p:sp>
        </p:grpSp>
        <p:grpSp>
          <p:nvGrpSpPr>
            <p:cNvPr id="23580" name="Group 27"/>
            <p:cNvGrpSpPr/>
            <p:nvPr/>
          </p:nvGrpSpPr>
          <p:grpSpPr bwMode="auto">
            <a:xfrm>
              <a:off x="249" y="3242"/>
              <a:ext cx="2904" cy="314"/>
              <a:chOff x="249" y="3242"/>
              <a:chExt cx="2904" cy="314"/>
            </a:xfrm>
          </p:grpSpPr>
          <p:sp>
            <p:nvSpPr>
              <p:cNvPr id="23581" name="Rectangle 28"/>
              <p:cNvSpPr>
                <a:spLocks noChangeArrowheads="1"/>
              </p:cNvSpPr>
              <p:nvPr/>
            </p:nvSpPr>
            <p:spPr bwMode="auto">
              <a:xfrm>
                <a:off x="1066" y="3242"/>
                <a:ext cx="2087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>
                    <a:solidFill>
                      <a:schemeClr val="tx2"/>
                    </a:solidFill>
                  </a:rPr>
                  <a:t>（</a:t>
                </a:r>
                <a:r>
                  <a:rPr lang="en-US" altLang="zh-CN" sz="2800" b="1" i="1">
                    <a:solidFill>
                      <a:schemeClr val="tx2"/>
                    </a:solidFill>
                  </a:rPr>
                  <a:t>X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,</a:t>
                </a:r>
                <a:r>
                  <a:rPr lang="en-US" altLang="zh-CN" sz="2800" b="1" i="1">
                    <a:solidFill>
                      <a:schemeClr val="tx2"/>
                    </a:solidFill>
                  </a:rPr>
                  <a:t>Y 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)</a:t>
                </a:r>
                <a:r>
                  <a:rPr lang="zh-CN" altLang="en-US" sz="2800" b="1">
                    <a:solidFill>
                      <a:schemeClr val="tx2"/>
                    </a:solidFill>
                  </a:rPr>
                  <a:t>的</a:t>
                </a:r>
                <a:r>
                  <a:rPr lang="zh-CN" altLang="en-US" sz="2800" b="1">
                    <a:solidFill>
                      <a:schemeClr val="accent2"/>
                    </a:solidFill>
                  </a:rPr>
                  <a:t>概率密度 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,</a:t>
                </a:r>
              </a:p>
            </p:txBody>
          </p:sp>
          <p:sp>
            <p:nvSpPr>
              <p:cNvPr id="23582" name="Rectangle 29"/>
              <p:cNvSpPr>
                <a:spLocks noChangeArrowheads="1"/>
              </p:cNvSpPr>
              <p:nvPr/>
            </p:nvSpPr>
            <p:spPr bwMode="auto">
              <a:xfrm>
                <a:off x="249" y="3242"/>
                <a:ext cx="974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随机变量</a:t>
                </a:r>
              </a:p>
            </p:txBody>
          </p:sp>
        </p:grpSp>
      </p:grpSp>
      <p:sp>
        <p:nvSpPr>
          <p:cNvPr id="296990" name="Rectangle 30"/>
          <p:cNvSpPr>
            <a:spLocks noChangeArrowheads="1"/>
          </p:cNvSpPr>
          <p:nvPr/>
        </p:nvSpPr>
        <p:spPr bwMode="auto">
          <a:xfrm>
            <a:off x="5791200" y="762000"/>
            <a:ext cx="3095625" cy="4968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>
                    <a:alpha val="38823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91" name="Text Box 31"/>
          <p:cNvSpPr txBox="1">
            <a:spLocks noChangeArrowheads="1"/>
          </p:cNvSpPr>
          <p:nvPr/>
        </p:nvSpPr>
        <p:spPr bwMode="auto">
          <a:xfrm>
            <a:off x="381000" y="152400"/>
            <a:ext cx="475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一、二维连续型随机变量</a:t>
            </a:r>
          </a:p>
        </p:txBody>
      </p:sp>
      <p:graphicFrame>
        <p:nvGraphicFramePr>
          <p:cNvPr id="296992" name="Object 32"/>
          <p:cNvGraphicFramePr>
            <a:graphicFrameLocks noChangeAspect="1"/>
          </p:cNvGraphicFramePr>
          <p:nvPr/>
        </p:nvGraphicFramePr>
        <p:xfrm>
          <a:off x="755650" y="3141663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19600" imgH="625475" progId="Equation.DSMT4">
                  <p:embed/>
                </p:oleObj>
              </mc:Choice>
              <mc:Fallback>
                <p:oleObj name="Equation" r:id="rId2" imgW="4419600" imgH="62547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141663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93" name="Group 33"/>
          <p:cNvGrpSpPr/>
          <p:nvPr/>
        </p:nvGrpSpPr>
        <p:grpSpPr bwMode="auto">
          <a:xfrm>
            <a:off x="381000" y="1447800"/>
            <a:ext cx="5114925" cy="1081088"/>
            <a:chOff x="204" y="1071"/>
            <a:chExt cx="3222" cy="681"/>
          </a:xfrm>
        </p:grpSpPr>
        <p:grpSp>
          <p:nvGrpSpPr>
            <p:cNvPr id="23575" name="Group 34"/>
            <p:cNvGrpSpPr/>
            <p:nvPr/>
          </p:nvGrpSpPr>
          <p:grpSpPr bwMode="auto">
            <a:xfrm>
              <a:off x="204" y="1421"/>
              <a:ext cx="2465" cy="331"/>
              <a:chOff x="204" y="1421"/>
              <a:chExt cx="2465" cy="331"/>
            </a:xfrm>
          </p:grpSpPr>
          <p:sp>
            <p:nvSpPr>
              <p:cNvPr id="23577" name="Text Box 35"/>
              <p:cNvSpPr txBox="1">
                <a:spLocks noChangeArrowheads="1"/>
              </p:cNvSpPr>
              <p:nvPr/>
            </p:nvSpPr>
            <p:spPr bwMode="auto">
              <a:xfrm>
                <a:off x="204" y="1421"/>
                <a:ext cx="176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存在非负的函数</a:t>
                </a:r>
              </a:p>
            </p:txBody>
          </p:sp>
          <p:graphicFrame>
            <p:nvGraphicFramePr>
              <p:cNvPr id="23578" name="Object 36"/>
              <p:cNvGraphicFramePr>
                <a:graphicFrameLocks noChangeAspect="1"/>
              </p:cNvGraphicFramePr>
              <p:nvPr/>
            </p:nvGraphicFramePr>
            <p:xfrm>
              <a:off x="1837" y="1440"/>
              <a:ext cx="832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47775" imgH="423545" progId="Equation.DSMT4">
                      <p:embed/>
                    </p:oleObj>
                  </mc:Choice>
                  <mc:Fallback>
                    <p:oleObj name="Equation" r:id="rId2" imgW="1247775" imgH="423545" progId="Equation.DSMT4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7" y="1440"/>
                            <a:ext cx="832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6" name="Rectangle 37"/>
            <p:cNvSpPr>
              <a:spLocks noChangeArrowheads="1"/>
            </p:cNvSpPr>
            <p:nvPr/>
          </p:nvSpPr>
          <p:spPr bwMode="auto">
            <a:xfrm>
              <a:off x="2860" y="1071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如果</a:t>
              </a:r>
            </a:p>
          </p:txBody>
        </p:sp>
      </p:grpSp>
      <p:grpSp>
        <p:nvGrpSpPr>
          <p:cNvPr id="296998" name="Group 38"/>
          <p:cNvGrpSpPr/>
          <p:nvPr/>
        </p:nvGrpSpPr>
        <p:grpSpPr bwMode="auto">
          <a:xfrm>
            <a:off x="381000" y="2009775"/>
            <a:ext cx="5116513" cy="1073150"/>
            <a:chOff x="204" y="1425"/>
            <a:chExt cx="3223" cy="676"/>
          </a:xfrm>
        </p:grpSpPr>
        <p:grpSp>
          <p:nvGrpSpPr>
            <p:cNvPr id="23571" name="Group 39"/>
            <p:cNvGrpSpPr/>
            <p:nvPr/>
          </p:nvGrpSpPr>
          <p:grpSpPr bwMode="auto">
            <a:xfrm>
              <a:off x="204" y="1774"/>
              <a:ext cx="1270" cy="327"/>
              <a:chOff x="204" y="1774"/>
              <a:chExt cx="1270" cy="327"/>
            </a:xfrm>
          </p:grpSpPr>
          <p:sp>
            <p:nvSpPr>
              <p:cNvPr id="23573" name="Text Box 40"/>
              <p:cNvSpPr txBox="1">
                <a:spLocks noChangeArrowheads="1"/>
              </p:cNvSpPr>
              <p:nvPr/>
            </p:nvSpPr>
            <p:spPr bwMode="auto">
              <a:xfrm>
                <a:off x="204" y="1774"/>
                <a:ext cx="127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任意        有</a:t>
                </a:r>
              </a:p>
            </p:txBody>
          </p:sp>
          <p:graphicFrame>
            <p:nvGraphicFramePr>
              <p:cNvPr id="23574" name="Object 41"/>
              <p:cNvGraphicFramePr>
                <a:graphicFrameLocks noChangeAspect="1"/>
              </p:cNvGraphicFramePr>
              <p:nvPr/>
            </p:nvGraphicFramePr>
            <p:xfrm>
              <a:off x="748" y="1869"/>
              <a:ext cx="37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523875" imgH="240665" progId="Equation.DSMT4">
                      <p:embed/>
                    </p:oleObj>
                  </mc:Choice>
                  <mc:Fallback>
                    <p:oleObj name="Equation" r:id="rId2" imgW="523875" imgH="240665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1869"/>
                            <a:ext cx="37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2" name="Rectangle 42"/>
            <p:cNvSpPr>
              <a:spLocks noChangeArrowheads="1"/>
            </p:cNvSpPr>
            <p:nvPr/>
          </p:nvSpPr>
          <p:spPr bwMode="auto">
            <a:xfrm>
              <a:off x="2636" y="1425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使对于</a:t>
              </a:r>
            </a:p>
          </p:txBody>
        </p:sp>
      </p:grpSp>
      <p:grpSp>
        <p:nvGrpSpPr>
          <p:cNvPr id="297003" name="Group 43"/>
          <p:cNvGrpSpPr/>
          <p:nvPr/>
        </p:nvGrpSpPr>
        <p:grpSpPr bwMode="auto">
          <a:xfrm>
            <a:off x="381000" y="4889500"/>
            <a:ext cx="5184775" cy="1455738"/>
            <a:chOff x="204" y="3239"/>
            <a:chExt cx="3266" cy="917"/>
          </a:xfrm>
        </p:grpSpPr>
        <p:sp>
          <p:nvSpPr>
            <p:cNvPr id="23569" name="Rectangle 44"/>
            <p:cNvSpPr>
              <a:spLocks noChangeArrowheads="1"/>
            </p:cNvSpPr>
            <p:nvPr/>
          </p:nvSpPr>
          <p:spPr bwMode="auto">
            <a:xfrm>
              <a:off x="204" y="3560"/>
              <a:ext cx="326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2"/>
                  </a:solidFill>
                </a:rPr>
                <a:t> </a:t>
              </a:r>
              <a:r>
                <a:rPr lang="zh-CN" altLang="en-US" sz="2800" b="1">
                  <a:solidFill>
                    <a:schemeClr val="tx2"/>
                  </a:solidFill>
                </a:rPr>
                <a:t>称为随机变量 </a:t>
              </a:r>
              <a:r>
                <a:rPr lang="en-US" altLang="zh-CN" sz="2800" b="1" i="1">
                  <a:solidFill>
                    <a:schemeClr val="tx2"/>
                  </a:solidFill>
                </a:rPr>
                <a:t>X </a:t>
              </a:r>
              <a:r>
                <a:rPr lang="zh-CN" altLang="en-US" sz="2800" b="1">
                  <a:solidFill>
                    <a:schemeClr val="tx2"/>
                  </a:solidFill>
                </a:rPr>
                <a:t>和 </a:t>
              </a:r>
              <a:r>
                <a:rPr lang="en-US" altLang="zh-CN" sz="2800" b="1" i="1">
                  <a:solidFill>
                    <a:schemeClr val="tx2"/>
                  </a:solidFill>
                </a:rPr>
                <a:t>Y </a:t>
              </a:r>
              <a:r>
                <a:rPr lang="zh-CN" altLang="en-US" sz="2800" b="1">
                  <a:solidFill>
                    <a:schemeClr val="tx2"/>
                  </a:solidFill>
                </a:rPr>
                <a:t>的</a:t>
              </a:r>
              <a:r>
                <a:rPr lang="zh-CN" altLang="en-US" sz="2800" b="1">
                  <a:solidFill>
                    <a:schemeClr val="accent2"/>
                  </a:solidFill>
                </a:rPr>
                <a:t>联合概</a:t>
              </a:r>
            </a:p>
            <a:p>
              <a:pPr eaLnBrk="1" hangingPunct="1"/>
              <a:r>
                <a:rPr lang="zh-CN" altLang="en-US" sz="2800" b="1">
                  <a:solidFill>
                    <a:schemeClr val="accent2"/>
                  </a:solidFill>
                </a:rPr>
                <a:t> 率密度</a:t>
              </a:r>
              <a:r>
                <a:rPr lang="en-US" altLang="zh-CN" sz="2800" b="1">
                  <a:solidFill>
                    <a:schemeClr val="tx2"/>
                  </a:solidFill>
                </a:rPr>
                <a:t>.</a:t>
              </a:r>
            </a:p>
          </p:txBody>
        </p:sp>
        <p:sp>
          <p:nvSpPr>
            <p:cNvPr id="23570" name="Rectangle 45"/>
            <p:cNvSpPr>
              <a:spLocks noChangeArrowheads="1"/>
            </p:cNvSpPr>
            <p:nvPr/>
          </p:nvSpPr>
          <p:spPr bwMode="auto">
            <a:xfrm>
              <a:off x="3016" y="3239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tx2"/>
                  </a:solidFill>
                </a:rPr>
                <a:t>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5" grpId="0" bldLvl="0" animBg="1"/>
      <p:bldP spid="296971" grpId="0" bldLvl="0" animBg="1" autoUpdateAnimBg="0"/>
      <p:bldP spid="29699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258" name="Object 2"/>
          <p:cNvGraphicFramePr>
            <a:graphicFrameLocks noChangeAspect="1"/>
          </p:cNvGraphicFramePr>
          <p:nvPr/>
        </p:nvGraphicFramePr>
        <p:xfrm>
          <a:off x="1187450" y="1524000"/>
          <a:ext cx="54959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43100" imgH="307975" progId="Equation.3">
                  <p:embed/>
                </p:oleObj>
              </mc:Choice>
              <mc:Fallback>
                <p:oleObj name="公式" r:id="rId2" imgW="1943100" imgH="30797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24000"/>
                        <a:ext cx="5495925" cy="9921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8259" name="Group 3"/>
          <p:cNvGrpSpPr/>
          <p:nvPr/>
        </p:nvGrpSpPr>
        <p:grpSpPr bwMode="auto">
          <a:xfrm>
            <a:off x="5580063" y="3230563"/>
            <a:ext cx="3095625" cy="2646362"/>
            <a:chOff x="3515" y="2035"/>
            <a:chExt cx="1950" cy="1667"/>
          </a:xfrm>
        </p:grpSpPr>
        <p:graphicFrame>
          <p:nvGraphicFramePr>
            <p:cNvPr id="25614" name="Object 4"/>
            <p:cNvGraphicFramePr>
              <a:graphicFrameLocks noChangeAspect="1"/>
            </p:cNvGraphicFramePr>
            <p:nvPr/>
          </p:nvGraphicFramePr>
          <p:xfrm>
            <a:off x="4014" y="2035"/>
            <a:ext cx="16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8100" imgH="67310" progId="Equation.3">
                    <p:embed/>
                  </p:oleObj>
                </mc:Choice>
                <mc:Fallback>
                  <p:oleObj name="公式" r:id="rId4" imgW="38100" imgH="6731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035"/>
                          <a:ext cx="16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15" name="Group 5"/>
            <p:cNvGrpSpPr/>
            <p:nvPr/>
          </p:nvGrpSpPr>
          <p:grpSpPr bwMode="auto">
            <a:xfrm>
              <a:off x="3515" y="2071"/>
              <a:ext cx="1776" cy="1392"/>
              <a:chOff x="3840" y="432"/>
              <a:chExt cx="1776" cy="1392"/>
            </a:xfrm>
          </p:grpSpPr>
          <p:sp>
            <p:nvSpPr>
              <p:cNvPr id="25641" name="Line 6"/>
              <p:cNvSpPr>
                <a:spLocks noChangeShapeType="1"/>
              </p:cNvSpPr>
              <p:nvPr/>
            </p:nvSpPr>
            <p:spPr bwMode="auto">
              <a:xfrm>
                <a:off x="4272" y="1824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42" name="Line 7"/>
              <p:cNvSpPr>
                <a:spLocks noChangeShapeType="1"/>
              </p:cNvSpPr>
              <p:nvPr/>
            </p:nvSpPr>
            <p:spPr bwMode="auto">
              <a:xfrm flipV="1">
                <a:off x="4272" y="432"/>
                <a:ext cx="0" cy="13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43" name="Line 8"/>
              <p:cNvSpPr>
                <a:spLocks noChangeShapeType="1"/>
              </p:cNvSpPr>
              <p:nvPr/>
            </p:nvSpPr>
            <p:spPr bwMode="auto">
              <a:xfrm flipH="1" flipV="1">
                <a:off x="3840" y="1200"/>
                <a:ext cx="432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5616" name="Object 9"/>
            <p:cNvGraphicFramePr>
              <a:graphicFrameLocks noChangeAspect="1"/>
            </p:cNvGraphicFramePr>
            <p:nvPr/>
          </p:nvGraphicFramePr>
          <p:xfrm>
            <a:off x="5260" y="3385"/>
            <a:ext cx="20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6675" imgH="67310" progId="Equation.3">
                    <p:embed/>
                  </p:oleObj>
                </mc:Choice>
                <mc:Fallback>
                  <p:oleObj name="公式" r:id="rId6" imgW="66675" imgH="6731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" y="3385"/>
                          <a:ext cx="205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0"/>
            <p:cNvGraphicFramePr>
              <a:graphicFrameLocks noChangeAspect="1"/>
            </p:cNvGraphicFramePr>
            <p:nvPr/>
          </p:nvGraphicFramePr>
          <p:xfrm>
            <a:off x="3563" y="2687"/>
            <a:ext cx="209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66675" imgH="86360" progId="Equation.3">
                    <p:embed/>
                  </p:oleObj>
                </mc:Choice>
                <mc:Fallback>
                  <p:oleObj name="公式" r:id="rId8" imgW="66675" imgH="863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" y="2687"/>
                          <a:ext cx="209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11"/>
            <p:cNvGraphicFramePr>
              <a:graphicFrameLocks noChangeAspect="1"/>
            </p:cNvGraphicFramePr>
            <p:nvPr/>
          </p:nvGraphicFramePr>
          <p:xfrm>
            <a:off x="3910" y="3472"/>
            <a:ext cx="18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7625" imgH="67310" progId="Equation.3">
                    <p:embed/>
                  </p:oleObj>
                </mc:Choice>
                <mc:Fallback>
                  <p:oleObj name="公式" r:id="rId10" imgW="47625" imgH="6731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3472"/>
                          <a:ext cx="18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19" name="Group 12"/>
            <p:cNvGrpSpPr/>
            <p:nvPr/>
          </p:nvGrpSpPr>
          <p:grpSpPr bwMode="auto">
            <a:xfrm>
              <a:off x="4091" y="2167"/>
              <a:ext cx="775" cy="1202"/>
              <a:chOff x="4512" y="144"/>
              <a:chExt cx="775" cy="1202"/>
            </a:xfrm>
          </p:grpSpPr>
          <p:grpSp>
            <p:nvGrpSpPr>
              <p:cNvPr id="25625" name="Group 13"/>
              <p:cNvGrpSpPr/>
              <p:nvPr/>
            </p:nvGrpSpPr>
            <p:grpSpPr bwMode="auto">
              <a:xfrm>
                <a:off x="4512" y="338"/>
                <a:ext cx="775" cy="1008"/>
                <a:chOff x="4512" y="338"/>
                <a:chExt cx="775" cy="1008"/>
              </a:xfrm>
            </p:grpSpPr>
            <p:sp>
              <p:nvSpPr>
                <p:cNvPr id="25633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752" y="674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4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5040" y="338"/>
                  <a:ext cx="0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5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519" y="1002"/>
                  <a:ext cx="240" cy="3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6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5047" y="859"/>
                  <a:ext cx="240" cy="3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7" name="Arc 18"/>
                <p:cNvSpPr/>
                <p:nvPr/>
              </p:nvSpPr>
              <p:spPr bwMode="auto">
                <a:xfrm flipV="1">
                  <a:off x="4759" y="1192"/>
                  <a:ext cx="528" cy="14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8" name="Arc 19"/>
                <p:cNvSpPr/>
                <p:nvPr/>
              </p:nvSpPr>
              <p:spPr bwMode="auto">
                <a:xfrm flipH="1">
                  <a:off x="4512" y="859"/>
                  <a:ext cx="528" cy="14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9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5280" y="480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40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4512" y="432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26" name="Group 22"/>
              <p:cNvGrpSpPr/>
              <p:nvPr/>
            </p:nvGrpSpPr>
            <p:grpSpPr bwMode="auto">
              <a:xfrm>
                <a:off x="4512" y="144"/>
                <a:ext cx="775" cy="581"/>
                <a:chOff x="4512" y="144"/>
                <a:chExt cx="775" cy="581"/>
              </a:xfrm>
            </p:grpSpPr>
            <p:sp>
              <p:nvSpPr>
                <p:cNvPr id="25627" name="Freeform 23"/>
                <p:cNvSpPr/>
                <p:nvPr/>
              </p:nvSpPr>
              <p:spPr bwMode="auto">
                <a:xfrm>
                  <a:off x="4759" y="423"/>
                  <a:ext cx="528" cy="254"/>
                </a:xfrm>
                <a:custGeom>
                  <a:avLst/>
                  <a:gdLst>
                    <a:gd name="T0" fmla="*/ 0 w 528"/>
                    <a:gd name="T1" fmla="*/ 240 h 256"/>
                    <a:gd name="T2" fmla="*/ 96 w 528"/>
                    <a:gd name="T3" fmla="*/ 104 h 256"/>
                    <a:gd name="T4" fmla="*/ 240 w 528"/>
                    <a:gd name="T5" fmla="*/ 16 h 256"/>
                    <a:gd name="T6" fmla="*/ 384 w 528"/>
                    <a:gd name="T7" fmla="*/ 16 h 256"/>
                    <a:gd name="T8" fmla="*/ 528 w 528"/>
                    <a:gd name="T9" fmla="*/ 64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28" h="256">
                      <a:moveTo>
                        <a:pt x="0" y="256"/>
                      </a:moveTo>
                      <a:cubicBezTo>
                        <a:pt x="28" y="204"/>
                        <a:pt x="56" y="152"/>
                        <a:pt x="96" y="112"/>
                      </a:cubicBezTo>
                      <a:cubicBezTo>
                        <a:pt x="136" y="72"/>
                        <a:pt x="192" y="32"/>
                        <a:pt x="240" y="16"/>
                      </a:cubicBezTo>
                      <a:cubicBezTo>
                        <a:pt x="288" y="0"/>
                        <a:pt x="336" y="8"/>
                        <a:pt x="384" y="16"/>
                      </a:cubicBezTo>
                      <a:cubicBezTo>
                        <a:pt x="432" y="24"/>
                        <a:pt x="504" y="56"/>
                        <a:pt x="528" y="64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28" name="Group 24"/>
                <p:cNvGrpSpPr/>
                <p:nvPr/>
              </p:nvGrpSpPr>
              <p:grpSpPr bwMode="auto">
                <a:xfrm>
                  <a:off x="4512" y="144"/>
                  <a:ext cx="768" cy="581"/>
                  <a:chOff x="4512" y="96"/>
                  <a:chExt cx="768" cy="581"/>
                </a:xfrm>
              </p:grpSpPr>
              <p:sp>
                <p:nvSpPr>
                  <p:cNvPr id="25629" name="Arc 25"/>
                  <p:cNvSpPr/>
                  <p:nvPr/>
                </p:nvSpPr>
                <p:spPr bwMode="auto">
                  <a:xfrm>
                    <a:off x="4519" y="439"/>
                    <a:ext cx="240" cy="23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0" name="Freeform 26"/>
                  <p:cNvSpPr/>
                  <p:nvPr/>
                </p:nvSpPr>
                <p:spPr bwMode="auto">
                  <a:xfrm>
                    <a:off x="4512" y="288"/>
                    <a:ext cx="768" cy="199"/>
                  </a:xfrm>
                  <a:custGeom>
                    <a:avLst/>
                    <a:gdLst>
                      <a:gd name="T0" fmla="*/ 0 w 768"/>
                      <a:gd name="T1" fmla="*/ 144 h 200"/>
                      <a:gd name="T2" fmla="*/ 96 w 768"/>
                      <a:gd name="T3" fmla="*/ 56 h 200"/>
                      <a:gd name="T4" fmla="*/ 240 w 768"/>
                      <a:gd name="T5" fmla="*/ 8 h 200"/>
                      <a:gd name="T6" fmla="*/ 384 w 768"/>
                      <a:gd name="T7" fmla="*/ 8 h 200"/>
                      <a:gd name="T8" fmla="*/ 480 w 768"/>
                      <a:gd name="T9" fmla="*/ 8 h 200"/>
                      <a:gd name="T10" fmla="*/ 672 w 768"/>
                      <a:gd name="T11" fmla="*/ 56 h 200"/>
                      <a:gd name="T12" fmla="*/ 768 w 768"/>
                      <a:gd name="T13" fmla="*/ 192 h 20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768" h="200">
                        <a:moveTo>
                          <a:pt x="0" y="152"/>
                        </a:moveTo>
                        <a:cubicBezTo>
                          <a:pt x="28" y="116"/>
                          <a:pt x="56" y="80"/>
                          <a:pt x="96" y="56"/>
                        </a:cubicBezTo>
                        <a:cubicBezTo>
                          <a:pt x="136" y="32"/>
                          <a:pt x="192" y="16"/>
                          <a:pt x="240" y="8"/>
                        </a:cubicBezTo>
                        <a:cubicBezTo>
                          <a:pt x="288" y="0"/>
                          <a:pt x="344" y="8"/>
                          <a:pt x="384" y="8"/>
                        </a:cubicBezTo>
                        <a:cubicBezTo>
                          <a:pt x="424" y="8"/>
                          <a:pt x="432" y="0"/>
                          <a:pt x="480" y="8"/>
                        </a:cubicBezTo>
                        <a:cubicBezTo>
                          <a:pt x="528" y="16"/>
                          <a:pt x="624" y="24"/>
                          <a:pt x="672" y="56"/>
                        </a:cubicBezTo>
                        <a:cubicBezTo>
                          <a:pt x="720" y="88"/>
                          <a:pt x="744" y="144"/>
                          <a:pt x="768" y="200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1" name="Arc 27"/>
                  <p:cNvSpPr/>
                  <p:nvPr/>
                </p:nvSpPr>
                <p:spPr bwMode="auto">
                  <a:xfrm flipH="1">
                    <a:off x="4512" y="96"/>
                    <a:ext cx="432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2" name="Arc 28"/>
                  <p:cNvSpPr/>
                  <p:nvPr/>
                </p:nvSpPr>
                <p:spPr bwMode="auto">
                  <a:xfrm>
                    <a:off x="4944" y="96"/>
                    <a:ext cx="336" cy="4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5620" name="Line 29"/>
            <p:cNvSpPr>
              <a:spLocks noChangeShapeType="1"/>
            </p:cNvSpPr>
            <p:nvPr/>
          </p:nvSpPr>
          <p:spPr bwMode="auto">
            <a:xfrm flipH="1" flipV="1">
              <a:off x="4619" y="2887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Line 30"/>
            <p:cNvSpPr>
              <a:spLocks noChangeShapeType="1"/>
            </p:cNvSpPr>
            <p:nvPr/>
          </p:nvSpPr>
          <p:spPr bwMode="auto">
            <a:xfrm flipH="1" flipV="1">
              <a:off x="4352" y="3367"/>
              <a:ext cx="48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22" name="Object 31"/>
            <p:cNvGraphicFramePr>
              <a:graphicFrameLocks noChangeAspect="1"/>
            </p:cNvGraphicFramePr>
            <p:nvPr/>
          </p:nvGraphicFramePr>
          <p:xfrm>
            <a:off x="4331" y="3472"/>
            <a:ext cx="18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7625" imgH="67310" progId="Equation.3">
                    <p:embed/>
                  </p:oleObj>
                </mc:Choice>
                <mc:Fallback>
                  <p:oleObj name="公式" r:id="rId12" imgW="47625" imgH="6731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1" y="3472"/>
                          <a:ext cx="18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3" name="Object 32"/>
            <p:cNvGraphicFramePr>
              <a:graphicFrameLocks noChangeAspect="1"/>
            </p:cNvGraphicFramePr>
            <p:nvPr/>
          </p:nvGraphicFramePr>
          <p:xfrm>
            <a:off x="4963" y="3424"/>
            <a:ext cx="18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7625" imgH="106045" progId="Equation.3">
                    <p:embed/>
                  </p:oleObj>
                </mc:Choice>
                <mc:Fallback>
                  <p:oleObj name="公式" r:id="rId14" imgW="47625" imgH="10604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3" y="3424"/>
                          <a:ext cx="18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4" name="Object 33"/>
            <p:cNvGraphicFramePr>
              <a:graphicFrameLocks noChangeAspect="1"/>
            </p:cNvGraphicFramePr>
            <p:nvPr/>
          </p:nvGraphicFramePr>
          <p:xfrm>
            <a:off x="4372" y="2948"/>
            <a:ext cx="24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85725" imgH="106045" progId="Equation.3">
                    <p:embed/>
                  </p:oleObj>
                </mc:Choice>
                <mc:Fallback>
                  <p:oleObj name="公式" r:id="rId16" imgW="85725" imgH="10604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2948"/>
                          <a:ext cx="24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8290" name="Object 34"/>
          <p:cNvGraphicFramePr>
            <a:graphicFrameLocks noChangeAspect="1"/>
          </p:cNvGraphicFramePr>
          <p:nvPr/>
        </p:nvGraphicFramePr>
        <p:xfrm>
          <a:off x="7054850" y="2828925"/>
          <a:ext cx="1355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47675" imgH="125095" progId="Equation.3">
                  <p:embed/>
                </p:oleObj>
              </mc:Choice>
              <mc:Fallback>
                <p:oleObj name="公式" r:id="rId18" imgW="447675" imgH="12509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2828925"/>
                        <a:ext cx="13557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8291" name="Group 35"/>
          <p:cNvGrpSpPr/>
          <p:nvPr/>
        </p:nvGrpSpPr>
        <p:grpSpPr bwMode="auto">
          <a:xfrm>
            <a:off x="549275" y="457200"/>
            <a:ext cx="8331200" cy="539750"/>
            <a:chOff x="346" y="572"/>
            <a:chExt cx="5248" cy="340"/>
          </a:xfrm>
        </p:grpSpPr>
        <p:sp>
          <p:nvSpPr>
            <p:cNvPr id="25611" name="Rectangle 36"/>
            <p:cNvSpPr>
              <a:spLocks noChangeArrowheads="1"/>
            </p:cNvSpPr>
            <p:nvPr/>
          </p:nvSpPr>
          <p:spPr bwMode="auto">
            <a:xfrm>
              <a:off x="346" y="572"/>
              <a:ext cx="5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000099"/>
                  </a:solidFill>
                  <a:latin typeface="宋体" panose="02010600030101010101" pitchFamily="2" charset="-122"/>
                </a:rPr>
                <a:t>4)</a:t>
              </a:r>
              <a:r>
                <a:rPr lang="en-US" altLang="zh-CN" sz="2800" b="1">
                  <a:latin typeface="宋体" panose="02010600030101010101" pitchFamily="2" charset="-122"/>
                </a:rPr>
                <a:t> </a:t>
              </a:r>
              <a:r>
                <a:rPr lang="zh-CN" altLang="en-US" sz="2800" b="1">
                  <a:latin typeface="宋体" panose="02010600030101010101" pitchFamily="2" charset="-122"/>
                </a:rPr>
                <a:t>设  是 </a:t>
              </a:r>
              <a:r>
                <a:rPr lang="zh-CN" altLang="en-US" sz="2800" b="1" i="1">
                  <a:latin typeface="宋体" panose="02010600030101010101" pitchFamily="2" charset="-122"/>
                </a:rPr>
                <a:t>   </a:t>
              </a:r>
              <a:r>
                <a:rPr lang="zh-CN" altLang="en-US" sz="2800" b="1">
                  <a:latin typeface="宋体" panose="02010600030101010101" pitchFamily="2" charset="-122"/>
                </a:rPr>
                <a:t>平面上的任意一个区域，则有                                </a:t>
              </a:r>
            </a:p>
          </p:txBody>
        </p:sp>
        <p:graphicFrame>
          <p:nvGraphicFramePr>
            <p:cNvPr id="25612" name="Object 37"/>
            <p:cNvGraphicFramePr>
              <a:graphicFrameLocks noChangeAspect="1"/>
            </p:cNvGraphicFramePr>
            <p:nvPr/>
          </p:nvGraphicFramePr>
          <p:xfrm>
            <a:off x="1428" y="642"/>
            <a:ext cx="51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38125" imgH="86360" progId="Equation.3">
                    <p:embed/>
                  </p:oleObj>
                </mc:Choice>
                <mc:Fallback>
                  <p:oleObj name="公式" r:id="rId20" imgW="238125" imgH="8636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642"/>
                          <a:ext cx="51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3" name="Object 38"/>
            <p:cNvGraphicFramePr>
              <a:graphicFrameLocks noChangeAspect="1"/>
            </p:cNvGraphicFramePr>
            <p:nvPr/>
          </p:nvGraphicFramePr>
          <p:xfrm>
            <a:off x="975" y="618"/>
            <a:ext cx="2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5725" imgH="106045" progId="Equation.3">
                    <p:embed/>
                  </p:oleObj>
                </mc:Choice>
                <mc:Fallback>
                  <p:oleObj name="公式" r:id="rId22" imgW="85725" imgH="10604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618"/>
                          <a:ext cx="2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8295" name="Group 39"/>
          <p:cNvGrpSpPr/>
          <p:nvPr/>
        </p:nvGrpSpPr>
        <p:grpSpPr bwMode="auto">
          <a:xfrm>
            <a:off x="539750" y="3048000"/>
            <a:ext cx="5372100" cy="557213"/>
            <a:chOff x="340" y="2108"/>
            <a:chExt cx="3384" cy="351"/>
          </a:xfrm>
        </p:grpSpPr>
        <p:sp>
          <p:nvSpPr>
            <p:cNvPr id="25608" name="Text Box 40"/>
            <p:cNvSpPr txBox="1">
              <a:spLocks noChangeArrowheads="1"/>
            </p:cNvSpPr>
            <p:nvPr/>
          </p:nvSpPr>
          <p:spPr bwMode="auto">
            <a:xfrm>
              <a:off x="340" y="2108"/>
              <a:ext cx="3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latin typeface="宋体" panose="02010600030101010101" pitchFamily="2" charset="-122"/>
                </a:rPr>
                <a:t>(</a:t>
              </a:r>
              <a:r>
                <a:rPr lang="zh-CN" altLang="en-US" sz="2800" b="1">
                  <a:latin typeface="宋体" panose="02010600030101010101" pitchFamily="2" charset="-122"/>
                </a:rPr>
                <a:t>表示以  为底，以曲面        </a:t>
              </a:r>
            </a:p>
          </p:txBody>
        </p:sp>
        <p:graphicFrame>
          <p:nvGraphicFramePr>
            <p:cNvPr id="25609" name="Object 41"/>
            <p:cNvGraphicFramePr>
              <a:graphicFrameLocks noChangeAspect="1"/>
            </p:cNvGraphicFramePr>
            <p:nvPr/>
          </p:nvGraphicFramePr>
          <p:xfrm>
            <a:off x="1193" y="2142"/>
            <a:ext cx="2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5725" imgH="106045" progId="Equation.3">
                    <p:embed/>
                  </p:oleObj>
                </mc:Choice>
                <mc:Fallback>
                  <p:oleObj name="公式" r:id="rId22" imgW="85725" imgH="10604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2142"/>
                          <a:ext cx="2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0" name="Object 42"/>
            <p:cNvGraphicFramePr>
              <a:graphicFrameLocks noChangeAspect="1"/>
            </p:cNvGraphicFramePr>
            <p:nvPr/>
          </p:nvGraphicFramePr>
          <p:xfrm>
            <a:off x="2741" y="2127"/>
            <a:ext cx="851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447675" imgH="125095" progId="Equation.3">
                    <p:embed/>
                  </p:oleObj>
                </mc:Choice>
                <mc:Fallback>
                  <p:oleObj name="公式" r:id="rId25" imgW="447675" imgH="12509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1" y="2127"/>
                          <a:ext cx="851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8299" name="Rectangle 43"/>
          <p:cNvSpPr>
            <a:spLocks noChangeArrowheads="1"/>
          </p:cNvSpPr>
          <p:nvPr/>
        </p:nvSpPr>
        <p:spPr bwMode="auto">
          <a:xfrm>
            <a:off x="685800" y="3933825"/>
            <a:ext cx="423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为顶面的曲顶柱体的体积</a:t>
            </a:r>
            <a:r>
              <a:rPr lang="en-US" altLang="zh-CN" sz="2800" b="1"/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2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-342900"/>
            <a:ext cx="910209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710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3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955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0215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115570"/>
            <a:ext cx="9504680" cy="6626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755650" y="1989138"/>
            <a:ext cx="7561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chemeClr val="tx2"/>
                </a:solidFill>
              </a:rPr>
              <a:t>第四节  相互独立的随机变量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AutoShape 2"/>
          <p:cNvSpPr>
            <a:spLocks noChangeArrowheads="1"/>
          </p:cNvSpPr>
          <p:nvPr/>
        </p:nvSpPr>
        <p:spPr bwMode="auto">
          <a:xfrm>
            <a:off x="749300" y="4316413"/>
            <a:ext cx="7561263" cy="1193800"/>
          </a:xfrm>
          <a:prstGeom prst="wedgeRectCallout">
            <a:avLst>
              <a:gd name="adj1" fmla="val -27472"/>
              <a:gd name="adj2" fmla="val 86171"/>
            </a:avLst>
          </a:prstGeom>
          <a:solidFill>
            <a:schemeClr val="accent1">
              <a:alpha val="74901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两事件 </a:t>
            </a:r>
            <a:r>
              <a:rPr lang="en-US" altLang="zh-CN" sz="2800" b="1" i="1"/>
              <a:t>A </a:t>
            </a:r>
            <a:r>
              <a:rPr lang="en-US" altLang="zh-CN" sz="2800" b="1"/>
              <a:t>, </a:t>
            </a:r>
            <a:r>
              <a:rPr lang="en-US" altLang="zh-CN" sz="2800" b="1" i="1"/>
              <a:t>B </a:t>
            </a:r>
            <a:r>
              <a:rPr lang="zh-CN" altLang="en-US" sz="2800" b="1"/>
              <a:t>独立的定义是：若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AB</a:t>
            </a:r>
            <a:r>
              <a:rPr lang="en-US" altLang="zh-CN" sz="2800" b="1"/>
              <a:t>)=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A</a:t>
            </a:r>
            <a:r>
              <a:rPr lang="en-US" altLang="zh-CN" sz="2800" b="1"/>
              <a:t>)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/>
              <a:t>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则称事件 </a:t>
            </a:r>
            <a:r>
              <a:rPr lang="en-US" altLang="zh-CN" sz="2800" b="1" i="1"/>
              <a:t>A </a:t>
            </a:r>
            <a:r>
              <a:rPr lang="en-US" altLang="zh-CN" sz="2800" b="1"/>
              <a:t>, </a:t>
            </a:r>
            <a:r>
              <a:rPr lang="en-US" altLang="zh-CN" sz="2800" b="1" i="1"/>
              <a:t>B </a:t>
            </a:r>
            <a:r>
              <a:rPr lang="zh-CN" altLang="en-US" sz="2800" b="1"/>
              <a:t>独立 </a:t>
            </a:r>
            <a:r>
              <a:rPr lang="en-US" altLang="zh-CN" sz="2800" b="1"/>
              <a:t>.</a:t>
            </a:r>
          </a:p>
        </p:txBody>
      </p:sp>
      <p:grpSp>
        <p:nvGrpSpPr>
          <p:cNvPr id="348163" name="Group 3"/>
          <p:cNvGrpSpPr/>
          <p:nvPr/>
        </p:nvGrpSpPr>
        <p:grpSpPr bwMode="auto">
          <a:xfrm>
            <a:off x="388938" y="1550988"/>
            <a:ext cx="7920037" cy="2362200"/>
            <a:chOff x="204" y="1160"/>
            <a:chExt cx="4989" cy="1488"/>
          </a:xfrm>
        </p:grpSpPr>
        <p:sp>
          <p:nvSpPr>
            <p:cNvPr id="49157" name="Rectangle 4"/>
            <p:cNvSpPr>
              <a:spLocks noChangeArrowheads="1"/>
            </p:cNvSpPr>
            <p:nvPr/>
          </p:nvSpPr>
          <p:spPr bwMode="auto">
            <a:xfrm>
              <a:off x="672" y="1160"/>
              <a:ext cx="4512" cy="1488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58" name="Rectangle 5"/>
            <p:cNvSpPr>
              <a:spLocks noChangeArrowheads="1"/>
            </p:cNvSpPr>
            <p:nvPr/>
          </p:nvSpPr>
          <p:spPr bwMode="auto">
            <a:xfrm>
              <a:off x="839" y="1289"/>
              <a:ext cx="3708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设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zh-CN" altLang="en-US" sz="2800" b="1">
                  <a:solidFill>
                    <a:srgbClr val="FFFF66"/>
                  </a:solidFill>
                </a:rPr>
                <a:t>是两个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r.v</a:t>
              </a:r>
              <a:r>
                <a:rPr lang="zh-CN" altLang="en-US" sz="2800" b="1">
                  <a:solidFill>
                    <a:srgbClr val="FFFF66"/>
                  </a:solidFill>
                </a:rPr>
                <a:t>，若对任意的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有</a:t>
              </a:r>
            </a:p>
          </p:txBody>
        </p:sp>
        <p:graphicFrame>
          <p:nvGraphicFramePr>
            <p:cNvPr id="49159" name="Object 6"/>
            <p:cNvGraphicFramePr>
              <a:graphicFrameLocks noChangeAspect="1"/>
            </p:cNvGraphicFramePr>
            <p:nvPr/>
          </p:nvGraphicFramePr>
          <p:xfrm>
            <a:off x="1085" y="1706"/>
            <a:ext cx="410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47900" imgH="125095" progId="Equation.3">
                    <p:embed/>
                  </p:oleObj>
                </mc:Choice>
                <mc:Fallback>
                  <p:oleObj name="公式" r:id="rId2" imgW="2247900" imgH="12509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1706"/>
                          <a:ext cx="4108" cy="358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0" name="Rectangle 7"/>
            <p:cNvSpPr>
              <a:spLocks noChangeArrowheads="1"/>
            </p:cNvSpPr>
            <p:nvPr/>
          </p:nvSpPr>
          <p:spPr bwMode="auto">
            <a:xfrm>
              <a:off x="204" y="2160"/>
              <a:ext cx="2425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66"/>
                  </a:solidFill>
                </a:rPr>
                <a:t>  </a:t>
              </a:r>
              <a:r>
                <a:rPr lang="zh-CN" altLang="en-US" sz="2800" b="1">
                  <a:solidFill>
                    <a:srgbClr val="FFFF66"/>
                  </a:solidFill>
                </a:rPr>
                <a:t>则称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 </a:t>
              </a:r>
              <a:r>
                <a:rPr lang="zh-CN" altLang="en-US" sz="2800" b="1">
                  <a:solidFill>
                    <a:srgbClr val="FFFF66"/>
                  </a:solidFill>
                </a:rPr>
                <a:t>和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 </a:t>
              </a:r>
              <a:r>
                <a:rPr lang="zh-CN" altLang="zh-CN" sz="2800" b="1">
                  <a:solidFill>
                    <a:srgbClr val="FFFF66"/>
                  </a:solidFill>
                </a:rPr>
                <a:t>相互</a:t>
              </a:r>
              <a:r>
                <a:rPr lang="zh-CN" altLang="en-US" sz="2800" b="1">
                  <a:solidFill>
                    <a:srgbClr val="FFFF66"/>
                  </a:solidFill>
                </a:rPr>
                <a:t>独立</a:t>
              </a:r>
              <a:r>
                <a:rPr lang="zh-CN" altLang="en-US" sz="2800" b="1"/>
                <a:t> </a:t>
              </a:r>
              <a:r>
                <a:rPr lang="en-US" altLang="zh-CN" sz="2800" b="1"/>
                <a:t>.</a:t>
              </a:r>
            </a:p>
          </p:txBody>
        </p:sp>
      </p:grpSp>
      <p:sp>
        <p:nvSpPr>
          <p:cNvPr id="49156" name="Text Box 8"/>
          <p:cNvSpPr txBox="1">
            <a:spLocks noChangeArrowheads="1"/>
          </p:cNvSpPr>
          <p:nvPr/>
        </p:nvSpPr>
        <p:spPr bwMode="auto">
          <a:xfrm>
            <a:off x="533400" y="685800"/>
            <a:ext cx="6337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3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一、随机变量相互独立的定义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186" name="Group 2"/>
          <p:cNvGrpSpPr/>
          <p:nvPr/>
        </p:nvGrpSpPr>
        <p:grpSpPr bwMode="auto">
          <a:xfrm>
            <a:off x="611188" y="908050"/>
            <a:ext cx="8001000" cy="3124200"/>
            <a:chOff x="480" y="432"/>
            <a:chExt cx="5040" cy="1968"/>
          </a:xfrm>
        </p:grpSpPr>
        <p:sp>
          <p:nvSpPr>
            <p:cNvPr id="50180" name="AutoShape 3"/>
            <p:cNvSpPr>
              <a:spLocks noChangeArrowheads="1"/>
            </p:cNvSpPr>
            <p:nvPr/>
          </p:nvSpPr>
          <p:spPr bwMode="auto">
            <a:xfrm>
              <a:off x="480" y="432"/>
              <a:ext cx="5040" cy="1968"/>
            </a:xfrm>
            <a:prstGeom prst="wedgeRectCallout">
              <a:avLst>
                <a:gd name="adj1" fmla="val -30972"/>
                <a:gd name="adj2" fmla="val 50102"/>
              </a:avLst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graphicFrame>
          <p:nvGraphicFramePr>
            <p:cNvPr id="50181" name="Object 4"/>
            <p:cNvGraphicFramePr>
              <a:graphicFrameLocks noChangeAspect="1"/>
            </p:cNvGraphicFramePr>
            <p:nvPr/>
          </p:nvGraphicFramePr>
          <p:xfrm>
            <a:off x="1301" y="1477"/>
            <a:ext cx="255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71600" imgH="144145" progId="Equation.3">
                    <p:embed/>
                  </p:oleObj>
                </mc:Choice>
                <mc:Fallback>
                  <p:oleObj name="公式" r:id="rId2" imgW="1371600" imgH="14414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" y="1477"/>
                          <a:ext cx="2559" cy="381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2" name="Rectangle 5"/>
            <p:cNvSpPr>
              <a:spLocks noChangeArrowheads="1"/>
            </p:cNvSpPr>
            <p:nvPr/>
          </p:nvSpPr>
          <p:spPr bwMode="auto">
            <a:xfrm>
              <a:off x="1104" y="558"/>
              <a:ext cx="1972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用分布函数表示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即</a:t>
              </a:r>
            </a:p>
          </p:txBody>
        </p:sp>
        <p:sp>
          <p:nvSpPr>
            <p:cNvPr id="50183" name="Rectangle 6"/>
            <p:cNvSpPr>
              <a:spLocks noChangeArrowheads="1"/>
            </p:cNvSpPr>
            <p:nvPr/>
          </p:nvSpPr>
          <p:spPr bwMode="auto">
            <a:xfrm>
              <a:off x="528" y="1056"/>
              <a:ext cx="4896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</a:t>
              </a:r>
              <a:r>
                <a:rPr lang="zh-CN" altLang="en-US" sz="2800" b="1">
                  <a:solidFill>
                    <a:srgbClr val="FFFF66"/>
                  </a:solidFill>
                </a:rPr>
                <a:t>设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zh-CN" altLang="en-US" sz="2800" b="1">
                  <a:solidFill>
                    <a:srgbClr val="FFFF66"/>
                  </a:solidFill>
                </a:rPr>
                <a:t>是两个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r.v.</a:t>
              </a:r>
              <a:r>
                <a:rPr lang="zh-CN" altLang="en-US" sz="2800" b="1">
                  <a:solidFill>
                    <a:srgbClr val="FFFF66"/>
                  </a:solidFill>
                </a:rPr>
                <a:t>，若对任意的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有</a:t>
              </a:r>
            </a:p>
          </p:txBody>
        </p:sp>
        <p:sp>
          <p:nvSpPr>
            <p:cNvPr id="50184" name="Rectangle 7"/>
            <p:cNvSpPr>
              <a:spLocks noChangeArrowheads="1"/>
            </p:cNvSpPr>
            <p:nvPr/>
          </p:nvSpPr>
          <p:spPr bwMode="auto">
            <a:xfrm>
              <a:off x="912" y="1950"/>
              <a:ext cx="2313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则称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 </a:t>
              </a:r>
              <a:r>
                <a:rPr lang="zh-CN" altLang="en-US" sz="2800" b="1">
                  <a:solidFill>
                    <a:srgbClr val="FFFF66"/>
                  </a:solidFill>
                </a:rPr>
                <a:t>和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 </a:t>
              </a:r>
              <a:r>
                <a:rPr lang="zh-CN" altLang="zh-CN" sz="2800" b="1">
                  <a:solidFill>
                    <a:srgbClr val="FFFF66"/>
                  </a:solidFill>
                </a:rPr>
                <a:t>相互</a:t>
              </a:r>
              <a:r>
                <a:rPr lang="zh-CN" altLang="en-US" sz="2800" b="1">
                  <a:solidFill>
                    <a:srgbClr val="FFFF66"/>
                  </a:solidFill>
                </a:rPr>
                <a:t>独立</a:t>
              </a:r>
              <a:r>
                <a:rPr lang="zh-CN" altLang="en-US" sz="2800" b="1"/>
                <a:t> </a:t>
              </a:r>
              <a:r>
                <a:rPr lang="en-US" altLang="zh-CN" sz="2800" b="1"/>
                <a:t>.</a:t>
              </a:r>
            </a:p>
          </p:txBody>
        </p:sp>
      </p:grpSp>
      <p:sp>
        <p:nvSpPr>
          <p:cNvPr id="349192" name="Rectangle 8"/>
          <p:cNvSpPr>
            <a:spLocks noChangeArrowheads="1"/>
          </p:cNvSpPr>
          <p:nvPr/>
        </p:nvSpPr>
        <p:spPr bwMode="auto">
          <a:xfrm>
            <a:off x="523875" y="4038600"/>
            <a:ext cx="8367713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</a:rPr>
              <a:t>       </a:t>
            </a:r>
            <a:r>
              <a:rPr lang="zh-CN" altLang="en-US" sz="2800" b="1"/>
              <a:t>它表明，两个</a:t>
            </a:r>
            <a:r>
              <a:rPr lang="en-US" altLang="zh-CN" sz="2800" b="1" i="1"/>
              <a:t>r.v</a:t>
            </a:r>
            <a:r>
              <a:rPr lang="zh-CN" altLang="zh-CN" sz="2800" b="1"/>
              <a:t>相互</a:t>
            </a:r>
            <a:r>
              <a:rPr lang="zh-CN" altLang="en-US" sz="2800" b="1"/>
              <a:t>独立时，它们的联合分布函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数等于两个边缘分布函数的乘积 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2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10" name="Group 2"/>
          <p:cNvGrpSpPr/>
          <p:nvPr/>
        </p:nvGrpSpPr>
        <p:grpSpPr bwMode="auto">
          <a:xfrm>
            <a:off x="531813" y="3571875"/>
            <a:ext cx="5718175" cy="590550"/>
            <a:chOff x="660" y="1950"/>
            <a:chExt cx="3602" cy="372"/>
          </a:xfrm>
        </p:grpSpPr>
        <p:graphicFrame>
          <p:nvGraphicFramePr>
            <p:cNvPr id="51213" name="Object 3"/>
            <p:cNvGraphicFramePr>
              <a:graphicFrameLocks noChangeAspect="1"/>
            </p:cNvGraphicFramePr>
            <p:nvPr/>
          </p:nvGraphicFramePr>
          <p:xfrm>
            <a:off x="1235" y="1963"/>
            <a:ext cx="89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28625" imgH="125095" progId="Equation.3">
                    <p:embed/>
                  </p:oleObj>
                </mc:Choice>
                <mc:Fallback>
                  <p:oleObj name="公式" r:id="rId2" imgW="428625" imgH="12509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" y="1963"/>
                          <a:ext cx="89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4" name="Rectangle 4"/>
            <p:cNvSpPr>
              <a:spLocks noChangeArrowheads="1"/>
            </p:cNvSpPr>
            <p:nvPr/>
          </p:nvSpPr>
          <p:spPr bwMode="auto">
            <a:xfrm>
              <a:off x="660" y="1953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其中</a:t>
              </a:r>
            </a:p>
          </p:txBody>
        </p:sp>
        <p:sp>
          <p:nvSpPr>
            <p:cNvPr id="51215" name="Rectangle 5"/>
            <p:cNvSpPr>
              <a:spLocks noChangeArrowheads="1"/>
            </p:cNvSpPr>
            <p:nvPr/>
          </p:nvSpPr>
          <p:spPr bwMode="auto">
            <a:xfrm>
              <a:off x="2060" y="1950"/>
              <a:ext cx="22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的联合密度，</a:t>
              </a:r>
            </a:p>
          </p:txBody>
        </p:sp>
      </p:grpSp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2124075" y="2276475"/>
          <a:ext cx="399256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3025" imgH="144145" progId="Equation.3">
                  <p:embed/>
                </p:oleObj>
              </mc:Choice>
              <mc:Fallback>
                <p:oleObj name="公式" r:id="rId2" imgW="1343025" imgH="1441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276475"/>
                        <a:ext cx="3992563" cy="60483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5" name="Rectangle 7"/>
          <p:cNvSpPr>
            <a:spLocks noChangeArrowheads="1"/>
          </p:cNvSpPr>
          <p:nvPr/>
        </p:nvSpPr>
        <p:spPr bwMode="auto">
          <a:xfrm>
            <a:off x="315913" y="2963863"/>
            <a:ext cx="741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</a:t>
            </a:r>
            <a:r>
              <a:rPr lang="zh-CN" altLang="en-US" sz="2800" b="1"/>
              <a:t>（即几乎处处成立），则称 </a:t>
            </a:r>
            <a:r>
              <a:rPr lang="en-US" altLang="zh-CN" sz="2800" b="1" i="1">
                <a:solidFill>
                  <a:schemeClr val="accent2"/>
                </a:solidFill>
              </a:rPr>
              <a:t>X </a:t>
            </a:r>
            <a:r>
              <a:rPr lang="zh-CN" altLang="en-US" sz="2800" b="1">
                <a:solidFill>
                  <a:schemeClr val="accent2"/>
                </a:solidFill>
              </a:rPr>
              <a:t>和 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相互</a:t>
            </a:r>
            <a:r>
              <a:rPr lang="zh-CN" altLang="en-US" sz="2800" b="1">
                <a:solidFill>
                  <a:schemeClr val="accent2"/>
                </a:solidFill>
              </a:rPr>
              <a:t>独立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</a:p>
        </p:txBody>
      </p:sp>
      <p:sp>
        <p:nvSpPr>
          <p:cNvPr id="350216" name="Rectangle 8"/>
          <p:cNvSpPr>
            <a:spLocks noChangeArrowheads="1"/>
          </p:cNvSpPr>
          <p:nvPr/>
        </p:nvSpPr>
        <p:spPr bwMode="auto">
          <a:xfrm>
            <a:off x="1360488" y="1562100"/>
            <a:ext cx="35547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对几乎所有的 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,  </a:t>
            </a:r>
            <a:r>
              <a:rPr lang="zh-CN" altLang="en-US" sz="2800" b="1"/>
              <a:t>有</a:t>
            </a:r>
          </a:p>
        </p:txBody>
      </p:sp>
      <p:sp>
        <p:nvSpPr>
          <p:cNvPr id="350217" name="Rectangle 9"/>
          <p:cNvSpPr>
            <a:spLocks noChangeArrowheads="1"/>
          </p:cNvSpPr>
          <p:nvPr/>
        </p:nvSpPr>
        <p:spPr bwMode="auto">
          <a:xfrm>
            <a:off x="609600" y="6096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</a:t>
            </a:r>
            <a:r>
              <a:rPr lang="zh-CN" altLang="en-US" sz="2800" b="1"/>
              <a:t>若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是连续型</a:t>
            </a:r>
            <a:r>
              <a:rPr lang="en-US" altLang="zh-CN" sz="2800" b="1" i="1"/>
              <a:t>r.v</a:t>
            </a:r>
            <a:r>
              <a:rPr lang="en-US" altLang="zh-CN" sz="2800" b="1"/>
              <a:t> </a:t>
            </a:r>
            <a:r>
              <a:rPr lang="zh-CN" altLang="en-US" sz="2800" b="1"/>
              <a:t>，则上述独立性的定义等价于：</a:t>
            </a:r>
          </a:p>
        </p:txBody>
      </p:sp>
      <p:grpSp>
        <p:nvGrpSpPr>
          <p:cNvPr id="350218" name="Group 10"/>
          <p:cNvGrpSpPr/>
          <p:nvPr/>
        </p:nvGrpSpPr>
        <p:grpSpPr bwMode="auto">
          <a:xfrm>
            <a:off x="531813" y="4667250"/>
            <a:ext cx="7777162" cy="1800225"/>
            <a:chOff x="521" y="3113"/>
            <a:chExt cx="4899" cy="1134"/>
          </a:xfrm>
        </p:grpSpPr>
        <p:sp>
          <p:nvSpPr>
            <p:cNvPr id="51211" name="AutoShape 11"/>
            <p:cNvSpPr>
              <a:spLocks noChangeArrowheads="1"/>
            </p:cNvSpPr>
            <p:nvPr/>
          </p:nvSpPr>
          <p:spPr bwMode="auto">
            <a:xfrm flipV="1">
              <a:off x="521" y="3294"/>
              <a:ext cx="4899" cy="726"/>
            </a:xfrm>
            <a:prstGeom prst="wedgeRoundRectCallout">
              <a:avLst>
                <a:gd name="adj1" fmla="val -30653"/>
                <a:gd name="adj2" fmla="val 53856"/>
                <a:gd name="adj3" fmla="val 16667"/>
              </a:avLst>
            </a:prstGeom>
            <a:solidFill>
              <a:schemeClr val="accent1">
                <a:alpha val="56078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/>
            </a:p>
          </p:txBody>
        </p:sp>
        <p:sp>
          <p:nvSpPr>
            <p:cNvPr id="51212" name="Rectangle 12"/>
            <p:cNvSpPr>
              <a:spLocks noChangeArrowheads="1"/>
            </p:cNvSpPr>
            <p:nvPr/>
          </p:nvSpPr>
          <p:spPr bwMode="auto">
            <a:xfrm>
              <a:off x="747" y="3113"/>
              <a:ext cx="4673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sz="2800" b="1"/>
            </a:p>
            <a:p>
              <a:pPr eaLnBrk="1" hangingPunct="1"/>
              <a:r>
                <a:rPr lang="zh-CN" altLang="en-US" sz="2800" b="1"/>
                <a:t>这里“几乎处处成立”的含义是：在平面上除去面积为 </a:t>
              </a:r>
              <a:r>
                <a:rPr lang="en-US" altLang="zh-CN" sz="2800" b="1"/>
                <a:t>0 </a:t>
              </a:r>
              <a:r>
                <a:rPr lang="zh-CN" altLang="en-US" sz="2800" b="1"/>
                <a:t>的集合外，处处成立</a:t>
              </a:r>
              <a:r>
                <a:rPr lang="en-US" altLang="zh-CN" sz="2800" b="1"/>
                <a:t>.</a:t>
              </a:r>
            </a:p>
            <a:p>
              <a:pPr eaLnBrk="1" hangingPunct="1"/>
              <a:endParaRPr lang="en-US" altLang="zh-CN" sz="2800" b="1"/>
            </a:p>
          </p:txBody>
        </p:sp>
      </p:grpSp>
      <p:grpSp>
        <p:nvGrpSpPr>
          <p:cNvPr id="350221" name="Group 13"/>
          <p:cNvGrpSpPr/>
          <p:nvPr/>
        </p:nvGrpSpPr>
        <p:grpSpPr bwMode="auto">
          <a:xfrm>
            <a:off x="458788" y="3514725"/>
            <a:ext cx="7778750" cy="1254125"/>
            <a:chOff x="430" y="2287"/>
            <a:chExt cx="4900" cy="790"/>
          </a:xfrm>
        </p:grpSpPr>
        <p:sp>
          <p:nvSpPr>
            <p:cNvPr id="51209" name="Rectangle 14"/>
            <p:cNvSpPr>
              <a:spLocks noChangeArrowheads="1"/>
            </p:cNvSpPr>
            <p:nvPr/>
          </p:nvSpPr>
          <p:spPr bwMode="auto">
            <a:xfrm>
              <a:off x="430" y="2750"/>
              <a:ext cx="3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分别是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的边缘密度和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 </a:t>
              </a:r>
              <a:r>
                <a:rPr lang="zh-CN" altLang="en-US" sz="2800" b="1"/>
                <a:t>的边缘密度 </a:t>
              </a:r>
              <a:r>
                <a:rPr lang="en-US" altLang="zh-CN" sz="2800" b="1"/>
                <a:t>.</a:t>
              </a:r>
            </a:p>
          </p:txBody>
        </p:sp>
        <p:graphicFrame>
          <p:nvGraphicFramePr>
            <p:cNvPr id="51210" name="Object 15"/>
            <p:cNvGraphicFramePr>
              <a:graphicFrameLocks noChangeAspect="1"/>
            </p:cNvGraphicFramePr>
            <p:nvPr/>
          </p:nvGraphicFramePr>
          <p:xfrm>
            <a:off x="3807" y="2287"/>
            <a:ext cx="152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790575" imgH="144145" progId="Equation.3">
                    <p:embed/>
                  </p:oleObj>
                </mc:Choice>
                <mc:Fallback>
                  <p:oleObj name="公式" r:id="rId2" imgW="790575" imgH="14414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287"/>
                          <a:ext cx="1523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5" grpId="0" bldLvl="0" animBg="1" autoUpdateAnimBg="0"/>
      <p:bldP spid="350216" grpId="0" bldLvl="0" animBg="1" autoUpdateAnimBg="0"/>
      <p:bldP spid="350217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ChangeArrowheads="1"/>
          </p:cNvSpPr>
          <p:nvPr/>
        </p:nvSpPr>
        <p:spPr bwMode="auto">
          <a:xfrm>
            <a:off x="457200" y="762000"/>
            <a:ext cx="8077200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若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是离散型 </a:t>
            </a:r>
            <a:r>
              <a:rPr lang="en-US" altLang="zh-CN" sz="2800" b="1" i="1"/>
              <a:t>r.v</a:t>
            </a:r>
            <a:r>
              <a:rPr lang="en-US" altLang="zh-CN" sz="2800" b="1"/>
              <a:t> </a:t>
            </a:r>
            <a:r>
              <a:rPr lang="zh-CN" altLang="en-US" sz="2800" b="1"/>
              <a:t>，则上述独立性的定义等价于：</a:t>
            </a:r>
          </a:p>
        </p:txBody>
      </p:sp>
      <p:graphicFrame>
        <p:nvGraphicFramePr>
          <p:cNvPr id="351235" name="Object 3"/>
          <p:cNvGraphicFramePr>
            <a:graphicFrameLocks noChangeAspect="1"/>
          </p:cNvGraphicFramePr>
          <p:nvPr/>
        </p:nvGraphicFramePr>
        <p:xfrm>
          <a:off x="1184275" y="3209925"/>
          <a:ext cx="70564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38400" imgH="163830" progId="Equation.3">
                  <p:embed/>
                </p:oleObj>
              </mc:Choice>
              <mc:Fallback>
                <p:oleObj name="公式" r:id="rId2" imgW="2438400" imgH="163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209925"/>
                        <a:ext cx="7056438" cy="676275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487363" y="4192588"/>
            <a:ext cx="3494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则称 </a:t>
            </a:r>
            <a:r>
              <a:rPr lang="en-US" altLang="zh-CN" sz="2800" b="1" i="1">
                <a:solidFill>
                  <a:schemeClr val="accent2"/>
                </a:solidFill>
              </a:rPr>
              <a:t>X 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相互</a:t>
            </a:r>
            <a:r>
              <a:rPr lang="zh-CN" altLang="en-US" sz="2800" b="1">
                <a:solidFill>
                  <a:schemeClr val="accent2"/>
                </a:solidFill>
              </a:rPr>
              <a:t>独立</a:t>
            </a:r>
            <a:r>
              <a:rPr lang="en-US" altLang="zh-CN" sz="2800" b="1"/>
              <a:t>.</a:t>
            </a:r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1219200" y="2263775"/>
            <a:ext cx="5153025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对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zh-CN" sz="2800" b="1"/>
              <a:t>的所有可能取值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),</a:t>
            </a:r>
            <a:r>
              <a:rPr lang="zh-CN" altLang="en-US" sz="2800" b="1"/>
              <a:t>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bldLvl="0" animBg="1" autoUpdateAnimBg="0"/>
      <p:bldP spid="351236" grpId="0" bldLvl="0" animBg="1" autoUpdateAnimBg="0"/>
      <p:bldP spid="351237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361950" y="1556792"/>
          <a:ext cx="8782050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058920" imgH="1494790" progId="Word.Document.8">
                  <p:embed/>
                </p:oleObj>
              </mc:Choice>
              <mc:Fallback>
                <p:oleObj name="Document" r:id="rId2" imgW="4058920" imgH="14947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1556792"/>
                        <a:ext cx="8782050" cy="324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Text Box 15"/>
          <p:cNvSpPr txBox="1">
            <a:spLocks noChangeArrowheads="1"/>
          </p:cNvSpPr>
          <p:nvPr/>
        </p:nvSpPr>
        <p:spPr bwMode="auto">
          <a:xfrm>
            <a:off x="611560" y="548680"/>
            <a:ext cx="2303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3200" b="1" dirty="0">
                <a:latin typeface="Arial" panose="020B0604020202020204" pitchFamily="34" charset="0"/>
                <a:ea typeface="黑体" panose="02010609060101010101" pitchFamily="49" charset="-122"/>
              </a:rPr>
              <a:t>二、例题</a:t>
            </a:r>
          </a:p>
        </p:txBody>
      </p:sp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31554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395536" y="1196752"/>
          <a:ext cx="8018462" cy="512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50920" imgH="2273935" progId="Word.Document.8">
                  <p:embed/>
                </p:oleObj>
              </mc:Choice>
              <mc:Fallback>
                <p:oleObj name="Document" r:id="rId2" imgW="3550920" imgH="227393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96752"/>
                        <a:ext cx="8018462" cy="512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971600" y="620688"/>
            <a:ext cx="2447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例：</a:t>
            </a:r>
            <a:r>
              <a:rPr lang="en-US" altLang="zh-CN" dirty="0"/>
              <a:t>P129  15</a:t>
            </a:r>
            <a:endParaRPr lang="zh-CN" altLang="en-US" dirty="0"/>
          </a:p>
        </p:txBody>
      </p:sp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00323155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34290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611188" y="981075"/>
          <a:ext cx="6761162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999105" imgH="2286000" progId="Word.Document.8">
                  <p:embed/>
                </p:oleObj>
              </mc:Choice>
              <mc:Fallback>
                <p:oleObj name="Document" r:id="rId2" imgW="2999105" imgH="22860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81075"/>
                        <a:ext cx="6761162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258" name="Group 2"/>
          <p:cNvGrpSpPr/>
          <p:nvPr/>
        </p:nvGrpSpPr>
        <p:grpSpPr bwMode="auto">
          <a:xfrm>
            <a:off x="611188" y="836613"/>
            <a:ext cx="5951537" cy="2463800"/>
            <a:chOff x="384" y="163"/>
            <a:chExt cx="3749" cy="1599"/>
          </a:xfrm>
        </p:grpSpPr>
        <p:sp>
          <p:nvSpPr>
            <p:cNvPr id="56332" name="Rectangle 3"/>
            <p:cNvSpPr>
              <a:spLocks noChangeArrowheads="1"/>
            </p:cNvSpPr>
            <p:nvPr/>
          </p:nvSpPr>
          <p:spPr bwMode="auto">
            <a:xfrm>
              <a:off x="384" y="163"/>
              <a:ext cx="3216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003399"/>
                  </a:solidFill>
                </a:rPr>
                <a:t>         </a:t>
              </a:r>
              <a:r>
                <a:rPr lang="zh-CN" altLang="en-US" sz="2800" b="1">
                  <a:solidFill>
                    <a:srgbClr val="003399"/>
                  </a:solidFill>
                </a:rPr>
                <a:t>例</a:t>
              </a:r>
              <a:r>
                <a:rPr lang="en-US" altLang="zh-CN" sz="2800" b="1"/>
                <a:t>  </a:t>
              </a:r>
              <a:r>
                <a:rPr lang="zh-CN" altLang="en-US" sz="2800" b="1"/>
                <a:t>设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的概率密度为</a:t>
              </a:r>
              <a:endParaRPr lang="zh-CN" altLang="en-US" sz="2800"/>
            </a:p>
          </p:txBody>
        </p:sp>
        <p:graphicFrame>
          <p:nvGraphicFramePr>
            <p:cNvPr id="56333" name="Object 4"/>
            <p:cNvGraphicFramePr>
              <a:graphicFrameLocks noChangeAspect="1"/>
            </p:cNvGraphicFramePr>
            <p:nvPr/>
          </p:nvGraphicFramePr>
          <p:xfrm>
            <a:off x="427" y="531"/>
            <a:ext cx="3706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019300" imgH="414020" progId="Equation.3">
                    <p:embed/>
                  </p:oleObj>
                </mc:Choice>
                <mc:Fallback>
                  <p:oleObj name="公式" r:id="rId2" imgW="2019300" imgH="41402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" y="531"/>
                          <a:ext cx="3706" cy="8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4" name="Rectangle 5"/>
            <p:cNvSpPr>
              <a:spLocks noChangeArrowheads="1"/>
            </p:cNvSpPr>
            <p:nvPr/>
          </p:nvSpPr>
          <p:spPr bwMode="auto">
            <a:xfrm>
              <a:off x="480" y="1425"/>
              <a:ext cx="1977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问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是否独立？</a:t>
              </a:r>
            </a:p>
          </p:txBody>
        </p:sp>
      </p:grpSp>
      <p:grpSp>
        <p:nvGrpSpPr>
          <p:cNvPr id="352262" name="Group 6"/>
          <p:cNvGrpSpPr/>
          <p:nvPr/>
        </p:nvGrpSpPr>
        <p:grpSpPr bwMode="auto">
          <a:xfrm>
            <a:off x="762000" y="3597275"/>
            <a:ext cx="4513263" cy="915988"/>
            <a:chOff x="480" y="1779"/>
            <a:chExt cx="2843" cy="577"/>
          </a:xfrm>
        </p:grpSpPr>
        <p:sp>
          <p:nvSpPr>
            <p:cNvPr id="56330" name="Rectangle 7"/>
            <p:cNvSpPr>
              <a:spLocks noChangeArrowheads="1"/>
            </p:cNvSpPr>
            <p:nvPr/>
          </p:nvSpPr>
          <p:spPr bwMode="auto">
            <a:xfrm>
              <a:off x="480" y="1908"/>
              <a:ext cx="340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hlink"/>
                  </a:solidFill>
                </a:rPr>
                <a:t>解</a:t>
              </a:r>
            </a:p>
          </p:txBody>
        </p:sp>
        <p:graphicFrame>
          <p:nvGraphicFramePr>
            <p:cNvPr id="56331" name="Object 8"/>
            <p:cNvGraphicFramePr>
              <a:graphicFrameLocks noChangeAspect="1"/>
            </p:cNvGraphicFramePr>
            <p:nvPr/>
          </p:nvGraphicFramePr>
          <p:xfrm>
            <a:off x="942" y="1779"/>
            <a:ext cx="2381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85875" imgH="259715" progId="Equation.3">
                    <p:embed/>
                  </p:oleObj>
                </mc:Choice>
                <mc:Fallback>
                  <p:oleObj name="公式" r:id="rId2" imgW="1285875" imgH="25971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1779"/>
                          <a:ext cx="2381" cy="577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2265" name="Object 9"/>
          <p:cNvGraphicFramePr>
            <a:graphicFrameLocks noChangeAspect="1"/>
          </p:cNvGraphicFramePr>
          <p:nvPr/>
        </p:nvGraphicFramePr>
        <p:xfrm>
          <a:off x="1354138" y="4645025"/>
          <a:ext cx="377983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85875" imgH="259715" progId="Equation.3">
                  <p:embed/>
                </p:oleObj>
              </mc:Choice>
              <mc:Fallback>
                <p:oleObj name="公式" r:id="rId2" imgW="1285875" imgH="25971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4645025"/>
                        <a:ext cx="3779837" cy="9159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6" name="Object 10"/>
          <p:cNvGraphicFramePr>
            <a:graphicFrameLocks noChangeAspect="1"/>
          </p:cNvGraphicFramePr>
          <p:nvPr/>
        </p:nvGraphicFramePr>
        <p:xfrm>
          <a:off x="5213350" y="3760788"/>
          <a:ext cx="13731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9100" imgH="144145" progId="Equation.3">
                  <p:embed/>
                </p:oleObj>
              </mc:Choice>
              <mc:Fallback>
                <p:oleObj name="公式" r:id="rId2" imgW="419100" imgH="14414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3760788"/>
                        <a:ext cx="1373188" cy="593725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7" name="Object 11"/>
          <p:cNvGraphicFramePr>
            <a:graphicFrameLocks noChangeAspect="1"/>
          </p:cNvGraphicFramePr>
          <p:nvPr/>
        </p:nvGraphicFramePr>
        <p:xfrm>
          <a:off x="5100638" y="4797425"/>
          <a:ext cx="11255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3375" imgH="144145" progId="Equation.3">
                  <p:embed/>
                </p:oleObj>
              </mc:Choice>
              <mc:Fallback>
                <p:oleObj name="公式" r:id="rId2" imgW="333375" imgH="14414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8" y="4797425"/>
                        <a:ext cx="1125537" cy="59531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8" name="Rectangle 12"/>
          <p:cNvSpPr>
            <a:spLocks noChangeArrowheads="1"/>
          </p:cNvSpPr>
          <p:nvPr/>
        </p:nvSpPr>
        <p:spPr bwMode="auto">
          <a:xfrm>
            <a:off x="6704013" y="3836988"/>
            <a:ext cx="137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x</a:t>
            </a:r>
            <a:r>
              <a:rPr lang="en-US" altLang="zh-CN" sz="3200" b="1"/>
              <a:t>&gt;0  </a:t>
            </a:r>
          </a:p>
        </p:txBody>
      </p:sp>
      <p:sp>
        <p:nvSpPr>
          <p:cNvPr id="352269" name="Rectangle 13"/>
          <p:cNvSpPr>
            <a:spLocks noChangeArrowheads="1"/>
          </p:cNvSpPr>
          <p:nvPr/>
        </p:nvSpPr>
        <p:spPr bwMode="auto">
          <a:xfrm>
            <a:off x="6704013" y="47926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endParaRPr lang="en-US" altLang="zh-CN" sz="3200" b="1"/>
          </a:p>
        </p:txBody>
      </p:sp>
      <p:sp>
        <p:nvSpPr>
          <p:cNvPr id="352270" name="Rectangle 14"/>
          <p:cNvSpPr>
            <a:spLocks noChangeArrowheads="1"/>
          </p:cNvSpPr>
          <p:nvPr/>
        </p:nvSpPr>
        <p:spPr bwMode="auto">
          <a:xfrm>
            <a:off x="6627813" y="4868863"/>
            <a:ext cx="831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r>
              <a:rPr lang="en-US" altLang="zh-CN" sz="2800" b="1" i="1"/>
              <a:t> </a:t>
            </a:r>
            <a:r>
              <a:rPr lang="en-US" altLang="zh-CN" sz="2800" b="1"/>
              <a:t>&gt;0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8" grpId="0" bldLvl="0" animBg="1" autoUpdateAnimBg="0"/>
      <p:bldP spid="352269" grpId="0" bldLvl="0" animBg="1" autoUpdateAnimBg="0"/>
      <p:bldP spid="352270" grpId="0" bldLvl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171575" y="8255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</a:p>
        </p:txBody>
      </p:sp>
      <p:graphicFrame>
        <p:nvGraphicFramePr>
          <p:cNvPr id="353283" name="Object 3"/>
          <p:cNvGraphicFramePr>
            <a:graphicFrameLocks noChangeAspect="1"/>
          </p:cNvGraphicFramePr>
          <p:nvPr/>
        </p:nvGraphicFramePr>
        <p:xfrm>
          <a:off x="2362200" y="609600"/>
          <a:ext cx="348932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81125" imgH="414020" progId="Equation.3">
                  <p:embed/>
                </p:oleObj>
              </mc:Choice>
              <mc:Fallback>
                <p:oleObj name="公式" r:id="rId2" imgW="1381125" imgH="4140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09600"/>
                        <a:ext cx="3489325" cy="11064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4" name="Object 4"/>
          <p:cNvGraphicFramePr>
            <a:graphicFrameLocks noChangeAspect="1"/>
          </p:cNvGraphicFramePr>
          <p:nvPr/>
        </p:nvGraphicFramePr>
        <p:xfrm>
          <a:off x="2611438" y="2193925"/>
          <a:ext cx="32400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6825" imgH="414020" progId="Equation.3">
                  <p:embed/>
                </p:oleObj>
              </mc:Choice>
              <mc:Fallback>
                <p:oleObj name="公式" r:id="rId2" imgW="1266825" imgH="4140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2193925"/>
                        <a:ext cx="3240087" cy="107791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5" name="Object 5"/>
          <p:cNvGraphicFramePr>
            <a:graphicFrameLocks noChangeAspect="1"/>
          </p:cNvGraphicFramePr>
          <p:nvPr/>
        </p:nvGraphicFramePr>
        <p:xfrm>
          <a:off x="3348038" y="4292600"/>
          <a:ext cx="34575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3025" imgH="144145" progId="Equation.3">
                  <p:embed/>
                </p:oleObj>
              </mc:Choice>
              <mc:Fallback>
                <p:oleObj name="公式" r:id="rId2" imgW="1343025" imgH="1441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292600"/>
                        <a:ext cx="34575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6" name="Rectangle 6"/>
          <p:cNvSpPr>
            <a:spLocks noChangeArrowheads="1"/>
          </p:cNvSpPr>
          <p:nvPr/>
        </p:nvSpPr>
        <p:spPr bwMode="auto">
          <a:xfrm>
            <a:off x="1100138" y="3562350"/>
            <a:ext cx="4535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可见对一切 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,  </a:t>
            </a:r>
            <a:r>
              <a:rPr lang="zh-CN" altLang="en-US" sz="2800" b="1"/>
              <a:t>均有：</a:t>
            </a:r>
          </a:p>
        </p:txBody>
      </p:sp>
      <p:sp>
        <p:nvSpPr>
          <p:cNvPr id="353287" name="Rectangle 7"/>
          <p:cNvSpPr>
            <a:spLocks noChangeArrowheads="1"/>
          </p:cNvSpPr>
          <p:nvPr/>
        </p:nvSpPr>
        <p:spPr bwMode="auto">
          <a:xfrm>
            <a:off x="1098550" y="4914900"/>
            <a:ext cx="242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en-US" altLang="zh-CN" sz="2800" b="1"/>
              <a:t>, </a:t>
            </a:r>
            <a:r>
              <a:rPr lang="en-US" altLang="zh-CN" sz="2800" b="1" i="1"/>
              <a:t>Y  </a:t>
            </a:r>
            <a:r>
              <a:rPr lang="zh-CN" altLang="en-US" sz="2800" b="1"/>
              <a:t>独立 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6" grpId="0" bldLvl="0" animBg="1" autoUpdateAnimBg="0"/>
      <p:bldP spid="353287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/>
          <p:nvPr/>
        </p:nvGrpSpPr>
        <p:grpSpPr bwMode="auto">
          <a:xfrm>
            <a:off x="611188" y="333375"/>
            <a:ext cx="7021512" cy="2449513"/>
            <a:chOff x="317" y="211"/>
            <a:chExt cx="4423" cy="1543"/>
          </a:xfrm>
        </p:grpSpPr>
        <p:sp>
          <p:nvSpPr>
            <p:cNvPr id="58379" name="Rectangle 3"/>
            <p:cNvSpPr>
              <a:spLocks noChangeArrowheads="1"/>
            </p:cNvSpPr>
            <p:nvPr/>
          </p:nvSpPr>
          <p:spPr bwMode="auto">
            <a:xfrm>
              <a:off x="668" y="211"/>
              <a:ext cx="3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</a:t>
              </a:r>
              <a:r>
                <a:rPr lang="en-US" altLang="zh-CN"/>
                <a:t> </a:t>
              </a:r>
              <a:r>
                <a:rPr lang="zh-CN" altLang="en-US" sz="2800" b="1">
                  <a:solidFill>
                    <a:srgbClr val="003399"/>
                  </a:solidFill>
                </a:rPr>
                <a:t>例</a:t>
              </a:r>
              <a:r>
                <a:rPr lang="en-US" altLang="zh-CN" sz="2800" b="1">
                  <a:solidFill>
                    <a:srgbClr val="003399"/>
                  </a:solidFill>
                </a:rPr>
                <a:t>:</a:t>
              </a:r>
              <a:r>
                <a:rPr lang="zh-CN" altLang="en-US" sz="2800" b="1"/>
                <a:t>若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的概率密度为</a:t>
              </a:r>
            </a:p>
          </p:txBody>
        </p:sp>
        <p:graphicFrame>
          <p:nvGraphicFramePr>
            <p:cNvPr id="58380" name="Object 4"/>
            <p:cNvGraphicFramePr>
              <a:graphicFrameLocks noChangeAspect="1"/>
            </p:cNvGraphicFramePr>
            <p:nvPr/>
          </p:nvGraphicFramePr>
          <p:xfrm>
            <a:off x="976" y="621"/>
            <a:ext cx="3764" cy="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028825" imgH="384810" progId="Equation.3">
                    <p:embed/>
                  </p:oleObj>
                </mc:Choice>
                <mc:Fallback>
                  <p:oleObj name="公式" r:id="rId2" imgW="2028825" imgH="38481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621"/>
                          <a:ext cx="3764" cy="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81" name="Rectangle 5"/>
            <p:cNvSpPr>
              <a:spLocks noChangeArrowheads="1"/>
            </p:cNvSpPr>
            <p:nvPr/>
          </p:nvSpPr>
          <p:spPr bwMode="auto">
            <a:xfrm>
              <a:off x="317" y="1427"/>
              <a:ext cx="14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情况又怎样？</a:t>
              </a:r>
            </a:p>
          </p:txBody>
        </p:sp>
      </p:grpSp>
      <p:sp>
        <p:nvSpPr>
          <p:cNvPr id="354310" name="Rectangle 6"/>
          <p:cNvSpPr>
            <a:spLocks noChangeArrowheads="1"/>
          </p:cNvSpPr>
          <p:nvPr/>
        </p:nvSpPr>
        <p:spPr bwMode="auto">
          <a:xfrm>
            <a:off x="1319213" y="29797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</a:t>
            </a:r>
          </a:p>
        </p:txBody>
      </p:sp>
      <p:graphicFrame>
        <p:nvGraphicFramePr>
          <p:cNvPr id="354311" name="Object 7"/>
          <p:cNvGraphicFramePr>
            <a:graphicFrameLocks noChangeAspect="1"/>
          </p:cNvGraphicFramePr>
          <p:nvPr/>
        </p:nvGraphicFramePr>
        <p:xfrm>
          <a:off x="2339975" y="2781300"/>
          <a:ext cx="441642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4475" imgH="259715" progId="Equation.3">
                  <p:embed/>
                </p:oleObj>
              </mc:Choice>
              <mc:Fallback>
                <p:oleObj name="公式" r:id="rId2" imgW="1514475" imgH="2597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81300"/>
                        <a:ext cx="441642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2" name="Object 8"/>
          <p:cNvGraphicFramePr>
            <a:graphicFrameLocks noChangeAspect="1"/>
          </p:cNvGraphicFramePr>
          <p:nvPr/>
        </p:nvGraphicFramePr>
        <p:xfrm>
          <a:off x="2400300" y="3517900"/>
          <a:ext cx="36385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28725" imgH="259715" progId="Equation.3">
                  <p:embed/>
                </p:oleObj>
              </mc:Choice>
              <mc:Fallback>
                <p:oleObj name="公式" r:id="rId2" imgW="122872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517900"/>
                        <a:ext cx="36385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3" name="Rectangle 9"/>
          <p:cNvSpPr>
            <a:spLocks noChangeArrowheads="1"/>
          </p:cNvSpPr>
          <p:nvPr/>
        </p:nvSpPr>
        <p:spPr bwMode="auto">
          <a:xfrm>
            <a:off x="7262813" y="292735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0&lt;</a:t>
            </a:r>
            <a:r>
              <a:rPr lang="en-US" altLang="zh-CN" sz="3200" b="1" i="1"/>
              <a:t>x</a:t>
            </a:r>
            <a:r>
              <a:rPr lang="en-US" altLang="zh-CN" sz="3200" b="1"/>
              <a:t>&lt;1 </a:t>
            </a:r>
          </a:p>
        </p:txBody>
      </p:sp>
      <p:sp>
        <p:nvSpPr>
          <p:cNvPr id="354314" name="Rectangle 10"/>
          <p:cNvSpPr>
            <a:spLocks noChangeArrowheads="1"/>
          </p:cNvSpPr>
          <p:nvPr/>
        </p:nvSpPr>
        <p:spPr bwMode="auto">
          <a:xfrm>
            <a:off x="7186613" y="3684588"/>
            <a:ext cx="152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0&lt;</a:t>
            </a:r>
            <a:r>
              <a:rPr lang="en-US" altLang="zh-CN" sz="3200" b="1" i="1"/>
              <a:t>y</a:t>
            </a:r>
            <a:r>
              <a:rPr lang="en-US" altLang="zh-CN" sz="3200" b="1"/>
              <a:t>&lt;1  </a:t>
            </a:r>
          </a:p>
        </p:txBody>
      </p:sp>
      <p:sp>
        <p:nvSpPr>
          <p:cNvPr id="354315" name="Rectangle 11"/>
          <p:cNvSpPr>
            <a:spLocks noChangeArrowheads="1"/>
          </p:cNvSpPr>
          <p:nvPr/>
        </p:nvSpPr>
        <p:spPr bwMode="auto">
          <a:xfrm>
            <a:off x="687388" y="454025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由于存在面积不为</a:t>
            </a:r>
            <a:r>
              <a:rPr lang="en-US" altLang="zh-CN" sz="2800" b="1"/>
              <a:t>0</a:t>
            </a:r>
            <a:r>
              <a:rPr lang="zh-CN" altLang="en-US" sz="2800" b="1"/>
              <a:t>的区域，</a:t>
            </a:r>
          </a:p>
        </p:txBody>
      </p:sp>
      <p:graphicFrame>
        <p:nvGraphicFramePr>
          <p:cNvPr id="354316" name="Object 12"/>
          <p:cNvGraphicFramePr>
            <a:graphicFrameLocks noChangeAspect="1"/>
          </p:cNvGraphicFramePr>
          <p:nvPr/>
        </p:nvGraphicFramePr>
        <p:xfrm>
          <a:off x="2627313" y="5084763"/>
          <a:ext cx="36544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62075" imgH="144145" progId="Equation.3">
                  <p:embed/>
                </p:oleObj>
              </mc:Choice>
              <mc:Fallback>
                <p:oleObj name="公式" r:id="rId2" imgW="1362075" imgH="14414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084763"/>
                        <a:ext cx="36544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7" name="Rectangle 13"/>
          <p:cNvSpPr>
            <a:spLocks noChangeArrowheads="1"/>
          </p:cNvSpPr>
          <p:nvPr/>
        </p:nvSpPr>
        <p:spPr bwMode="auto">
          <a:xfrm>
            <a:off x="646113" y="5692775"/>
            <a:ext cx="3135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不独立 </a:t>
            </a:r>
            <a:r>
              <a:rPr lang="en-US" altLang="zh-CN" sz="2800" b="1"/>
              <a:t>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10" grpId="0" bldLvl="0" animBg="1" autoUpdateAnimBg="0"/>
      <p:bldP spid="354313" grpId="0" bldLvl="0" animBg="1" autoUpdateAnimBg="0"/>
      <p:bldP spid="354314" grpId="0" bldLvl="0" animBg="1" autoUpdateAnimBg="0"/>
      <p:bldP spid="354315" grpId="0" bldLvl="0" animBg="1" autoUpdateAnimBg="0"/>
      <p:bldP spid="354317" grpId="0" bldLvl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0" y="457200"/>
            <a:ext cx="83820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r>
              <a:rPr lang="en-US" altLang="zh-CN" sz="2800" b="1"/>
              <a:t>   </a:t>
            </a:r>
            <a:r>
              <a:rPr lang="zh-CN" altLang="en-US" sz="2800" b="1"/>
              <a:t>甲乙两人约定中午</a:t>
            </a:r>
            <a:r>
              <a:rPr lang="en-US" altLang="zh-CN" sz="2800" b="1"/>
              <a:t>12</a:t>
            </a:r>
            <a:r>
              <a:rPr lang="zh-CN" altLang="en-US" sz="2800" b="1"/>
              <a:t>时</a:t>
            </a:r>
            <a:r>
              <a:rPr lang="en-US" altLang="zh-CN" sz="2800" b="1"/>
              <a:t>30</a:t>
            </a:r>
            <a:r>
              <a:rPr lang="zh-CN" altLang="en-US" sz="2800" b="1"/>
              <a:t>分在某地会面</a:t>
            </a:r>
            <a:r>
              <a:rPr lang="en-US" altLang="zh-CN" sz="2800" b="1"/>
              <a:t>.</a:t>
            </a:r>
            <a:r>
              <a:rPr lang="zh-CN" altLang="en-US" sz="2800" b="1"/>
              <a:t>如果甲来到的时间在</a:t>
            </a:r>
            <a:r>
              <a:rPr lang="en-US" altLang="zh-CN" sz="2800" b="1"/>
              <a:t>12:15</a:t>
            </a:r>
            <a:r>
              <a:rPr lang="zh-CN" altLang="en-US" sz="2800" b="1"/>
              <a:t>到</a:t>
            </a:r>
            <a:r>
              <a:rPr lang="en-US" altLang="zh-CN" sz="2800" b="1"/>
              <a:t>12:45</a:t>
            </a:r>
            <a:r>
              <a:rPr lang="zh-CN" altLang="en-US" sz="2800" b="1"/>
              <a:t>之间是均匀分布</a:t>
            </a:r>
            <a:r>
              <a:rPr lang="en-US" altLang="zh-CN" sz="2800" b="1"/>
              <a:t>. </a:t>
            </a:r>
            <a:r>
              <a:rPr lang="zh-CN" altLang="en-US" sz="2800" b="1"/>
              <a:t>乙独立地到达</a:t>
            </a:r>
            <a:r>
              <a:rPr lang="en-US" altLang="zh-CN" sz="2800" b="1"/>
              <a:t>,</a:t>
            </a:r>
            <a:r>
              <a:rPr lang="zh-CN" altLang="en-US" sz="2800" b="1"/>
              <a:t>而且到达时间在</a:t>
            </a:r>
            <a:r>
              <a:rPr lang="en-US" altLang="zh-CN" sz="2800" b="1"/>
              <a:t>12:00</a:t>
            </a:r>
            <a:r>
              <a:rPr lang="zh-CN" altLang="en-US" sz="2800" b="1"/>
              <a:t>到</a:t>
            </a:r>
            <a:r>
              <a:rPr lang="en-US" altLang="zh-CN" sz="2800" b="1"/>
              <a:t>13:00</a:t>
            </a:r>
            <a:r>
              <a:rPr lang="zh-CN" altLang="en-US" sz="2800" b="1"/>
              <a:t>之间是均匀分布</a:t>
            </a:r>
            <a:r>
              <a:rPr lang="en-US" altLang="zh-CN" sz="2800" b="1"/>
              <a:t>. </a:t>
            </a:r>
            <a:r>
              <a:rPr lang="zh-CN" altLang="en-US" sz="2800" b="1"/>
              <a:t>试求先到的人等待另一人到达的时间不超过</a:t>
            </a:r>
            <a:r>
              <a:rPr lang="en-US" altLang="zh-CN" sz="2800" b="1"/>
              <a:t>5</a:t>
            </a:r>
            <a:r>
              <a:rPr lang="zh-CN" altLang="en-US" sz="2800" b="1"/>
              <a:t>分钟的概率</a:t>
            </a:r>
            <a:r>
              <a:rPr lang="en-US" altLang="zh-CN" sz="2800" b="1"/>
              <a:t>. </a:t>
            </a:r>
            <a:r>
              <a:rPr lang="zh-CN" altLang="en-US" sz="2800" b="1"/>
              <a:t>又甲先到的概率是多少？</a:t>
            </a:r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762000" y="2819400"/>
            <a:ext cx="6173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   设</a:t>
            </a:r>
            <a:r>
              <a:rPr lang="en-US" altLang="zh-CN" sz="2800" b="1" i="1"/>
              <a:t>X</a:t>
            </a:r>
            <a:r>
              <a:rPr lang="zh-CN" altLang="en-US" sz="2800" b="1"/>
              <a:t>为甲到达时刻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zh-CN" altLang="en-US" sz="2800" b="1"/>
              <a:t>为乙到达时刻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381000" y="3429000"/>
            <a:ext cx="5449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以</a:t>
            </a:r>
            <a:r>
              <a:rPr lang="en-US" altLang="zh-CN" sz="2800" b="1"/>
              <a:t>12</a:t>
            </a:r>
            <a:r>
              <a:rPr lang="zh-CN" altLang="en-US" sz="2800" b="1"/>
              <a:t>时为起点</a:t>
            </a:r>
            <a:r>
              <a:rPr lang="en-US" altLang="zh-CN" sz="2800" b="1"/>
              <a:t>,</a:t>
            </a:r>
            <a:r>
              <a:rPr lang="zh-CN" altLang="en-US" sz="2800" b="1"/>
              <a:t>以分为单位</a:t>
            </a:r>
            <a:r>
              <a:rPr lang="en-US" altLang="zh-CN" sz="2800" b="1"/>
              <a:t>,</a:t>
            </a:r>
            <a:r>
              <a:rPr lang="zh-CN" altLang="en-US" sz="2800" b="1"/>
              <a:t>依题意</a:t>
            </a:r>
            <a:r>
              <a:rPr lang="en-US" altLang="zh-CN" sz="2800" b="1"/>
              <a:t>,</a:t>
            </a:r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1905000" y="4038600"/>
            <a:ext cx="4183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~</a:t>
            </a:r>
            <a:r>
              <a:rPr lang="en-US" altLang="zh-CN" sz="3200" b="1" i="1">
                <a:solidFill>
                  <a:schemeClr val="accent2"/>
                </a:solidFill>
              </a:rPr>
              <a:t>U</a:t>
            </a:r>
            <a:r>
              <a:rPr lang="en-US" altLang="zh-CN" sz="3200" b="1">
                <a:solidFill>
                  <a:schemeClr val="accent2"/>
                </a:solidFill>
              </a:rPr>
              <a:t>(15,45), 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~</a:t>
            </a:r>
            <a:r>
              <a:rPr lang="en-US" altLang="zh-CN" sz="3200" b="1" i="1">
                <a:solidFill>
                  <a:schemeClr val="accent2"/>
                </a:solidFill>
              </a:rPr>
              <a:t>U</a:t>
            </a:r>
            <a:r>
              <a:rPr lang="en-US" altLang="zh-CN" sz="3200" b="1">
                <a:solidFill>
                  <a:schemeClr val="accent2"/>
                </a:solidFill>
              </a:rPr>
              <a:t>(0,60)</a:t>
            </a:r>
          </a:p>
        </p:txBody>
      </p:sp>
      <p:graphicFrame>
        <p:nvGraphicFramePr>
          <p:cNvPr id="355336" name="Object 8"/>
          <p:cNvGraphicFramePr>
            <a:graphicFrameLocks noChangeAspect="1"/>
          </p:cNvGraphicFramePr>
          <p:nvPr/>
        </p:nvGraphicFramePr>
        <p:xfrm>
          <a:off x="1763713" y="4724400"/>
          <a:ext cx="4351337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300" imgH="539115" progId="Equation.3">
                  <p:embed/>
                </p:oleObj>
              </mc:Choice>
              <mc:Fallback>
                <p:oleObj name="公式" r:id="rId2" imgW="1638300" imgH="5391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724400"/>
                        <a:ext cx="4351337" cy="15430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ldLvl="0" animBg="1" autoUpdateAnimBg="0"/>
      <p:bldP spid="355331" grpId="0" bldLvl="0" animBg="1" autoUpdateAnimBg="0"/>
      <p:bldP spid="355332" grpId="0" bldLvl="0" animBg="1" autoUpdateAnimBg="0"/>
      <p:bldP spid="355333" grpId="0" bldLvl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357" name="Object 1029"/>
          <p:cNvGraphicFramePr>
            <a:graphicFrameLocks noChangeAspect="1"/>
          </p:cNvGraphicFramePr>
          <p:nvPr/>
        </p:nvGraphicFramePr>
        <p:xfrm>
          <a:off x="2555875" y="0"/>
          <a:ext cx="404495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62100" imgH="539115" progId="Equation.3">
                  <p:embed/>
                </p:oleObj>
              </mc:Choice>
              <mc:Fallback>
                <p:oleObj name="公式" r:id="rId2" imgW="1562100" imgH="539115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0"/>
                        <a:ext cx="4044950" cy="15001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8" name="Object 1030"/>
          <p:cNvGraphicFramePr>
            <a:graphicFrameLocks noChangeAspect="1"/>
          </p:cNvGraphicFramePr>
          <p:nvPr/>
        </p:nvGraphicFramePr>
        <p:xfrm>
          <a:off x="1600200" y="1511300"/>
          <a:ext cx="6577013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14600" imgH="539115" progId="Equation.3">
                  <p:embed/>
                </p:oleObj>
              </mc:Choice>
              <mc:Fallback>
                <p:oleObj name="公式" r:id="rId2" imgW="2514600" imgH="539115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11300"/>
                        <a:ext cx="6577013" cy="15430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59" name="AutoShape 1031"/>
          <p:cNvSpPr>
            <a:spLocks noChangeArrowheads="1"/>
          </p:cNvSpPr>
          <p:nvPr/>
        </p:nvSpPr>
        <p:spPr bwMode="auto">
          <a:xfrm>
            <a:off x="7543800" y="3810000"/>
            <a:ext cx="1314450" cy="990600"/>
          </a:xfrm>
          <a:prstGeom prst="wedgeRectCallout">
            <a:avLst>
              <a:gd name="adj1" fmla="val -182486"/>
              <a:gd name="adj2" fmla="val 132532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甲先到</a:t>
            </a:r>
          </a:p>
          <a:p>
            <a:pPr eaLnBrk="1" hangingPunct="1"/>
            <a:r>
              <a:rPr lang="zh-CN" altLang="en-US" sz="2800" b="1"/>
              <a:t>的概率</a:t>
            </a:r>
            <a:endParaRPr lang="zh-CN" altLang="en-US" sz="3200" b="1"/>
          </a:p>
        </p:txBody>
      </p:sp>
      <p:sp>
        <p:nvSpPr>
          <p:cNvPr id="356360" name="Rectangle 1032"/>
          <p:cNvSpPr>
            <a:spLocks noChangeArrowheads="1"/>
          </p:cNvSpPr>
          <p:nvPr/>
        </p:nvSpPr>
        <p:spPr bwMode="auto">
          <a:xfrm>
            <a:off x="901700" y="3000375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由独立性</a:t>
            </a:r>
          </a:p>
        </p:txBody>
      </p:sp>
      <p:sp>
        <p:nvSpPr>
          <p:cNvPr id="356361" name="AutoShape 1033"/>
          <p:cNvSpPr>
            <a:spLocks noChangeArrowheads="1"/>
          </p:cNvSpPr>
          <p:nvPr/>
        </p:nvSpPr>
        <p:spPr bwMode="auto">
          <a:xfrm>
            <a:off x="685800" y="3581400"/>
            <a:ext cx="5543550" cy="1152525"/>
          </a:xfrm>
          <a:prstGeom prst="wedgeRectCallout">
            <a:avLst>
              <a:gd name="adj1" fmla="val -6556"/>
              <a:gd name="adj2" fmla="val 101241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先到的人等待另一人到达的时间不</a:t>
            </a:r>
          </a:p>
          <a:p>
            <a:pPr eaLnBrk="1" hangingPunct="1"/>
            <a:r>
              <a:rPr lang="zh-CN" altLang="en-US" sz="2800" b="1"/>
              <a:t>超过</a:t>
            </a:r>
            <a:r>
              <a:rPr lang="en-US" altLang="zh-CN" sz="2800" b="1"/>
              <a:t>5</a:t>
            </a:r>
            <a:r>
              <a:rPr lang="zh-CN" altLang="en-US" sz="2800" b="1"/>
              <a:t>分钟的概率</a:t>
            </a:r>
            <a:endParaRPr lang="zh-CN" altLang="en-US" sz="3200" b="1"/>
          </a:p>
        </p:txBody>
      </p:sp>
      <p:sp>
        <p:nvSpPr>
          <p:cNvPr id="356364" name="Rectangle 1036"/>
          <p:cNvSpPr>
            <a:spLocks noChangeArrowheads="1"/>
          </p:cNvSpPr>
          <p:nvPr/>
        </p:nvSpPr>
        <p:spPr bwMode="auto">
          <a:xfrm>
            <a:off x="4356100" y="5430838"/>
            <a:ext cx="1511300" cy="519112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及</a:t>
            </a:r>
            <a:r>
              <a:rPr lang="en-US" altLang="zh-CN" b="1" i="1"/>
              <a:t>P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&lt;</a:t>
            </a:r>
            <a:r>
              <a:rPr lang="en-US" altLang="zh-CN" b="1" i="1"/>
              <a:t>Y</a:t>
            </a:r>
            <a:r>
              <a:rPr lang="en-US" altLang="zh-CN" b="1"/>
              <a:t>)</a:t>
            </a:r>
          </a:p>
        </p:txBody>
      </p:sp>
      <p:grpSp>
        <p:nvGrpSpPr>
          <p:cNvPr id="356368" name="Group 1040"/>
          <p:cNvGrpSpPr/>
          <p:nvPr/>
        </p:nvGrpSpPr>
        <p:grpSpPr bwMode="auto">
          <a:xfrm>
            <a:off x="827088" y="5373688"/>
            <a:ext cx="3328987" cy="519112"/>
            <a:chOff x="521" y="3385"/>
            <a:chExt cx="2097" cy="327"/>
          </a:xfrm>
        </p:grpSpPr>
        <p:sp>
          <p:nvSpPr>
            <p:cNvPr id="60425" name="Rectangle 1027"/>
            <p:cNvSpPr>
              <a:spLocks noChangeArrowheads="1"/>
            </p:cNvSpPr>
            <p:nvPr/>
          </p:nvSpPr>
          <p:spPr bwMode="auto">
            <a:xfrm>
              <a:off x="521" y="3385"/>
              <a:ext cx="2097" cy="3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所求为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( |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Y </a:t>
              </a:r>
              <a:r>
                <a:rPr lang="en-US" altLang="zh-CN" sz="2800" b="1"/>
                <a:t>|    5) ,</a:t>
              </a:r>
            </a:p>
          </p:txBody>
        </p:sp>
        <p:graphicFrame>
          <p:nvGraphicFramePr>
            <p:cNvPr id="60426" name="Object 1039"/>
            <p:cNvGraphicFramePr>
              <a:graphicFrameLocks noChangeAspect="1"/>
            </p:cNvGraphicFramePr>
            <p:nvPr/>
          </p:nvGraphicFramePr>
          <p:xfrm>
            <a:off x="2064" y="3430"/>
            <a:ext cx="22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7625" imgH="76835" progId="Equation.DSMT4">
                    <p:embed/>
                  </p:oleObj>
                </mc:Choice>
                <mc:Fallback>
                  <p:oleObj name="Equation" r:id="rId5" imgW="47625" imgH="76835" progId="Equation.DSMT4">
                    <p:embed/>
                    <p:pic>
                      <p:nvPicPr>
                        <p:cNvPr id="0" name="Object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430"/>
                          <a:ext cx="22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9" grpId="0" bldLvl="0" animBg="1" autoUpdateAnimBg="0"/>
      <p:bldP spid="356360" grpId="0" bldLvl="0" animBg="1" autoUpdateAnimBg="0"/>
      <p:bldP spid="356361" grpId="0" bldLvl="0" animBg="1" autoUpdateAnimBg="0"/>
      <p:bldP spid="35636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ChangeArrowheads="1"/>
          </p:cNvSpPr>
          <p:nvPr/>
        </p:nvSpPr>
        <p:spPr bwMode="auto">
          <a:xfrm>
            <a:off x="612775" y="7493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2060"/>
                </a:solidFill>
              </a:rPr>
              <a:t>解</a:t>
            </a: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/>
        </p:nvGraphicFramePr>
        <p:xfrm>
          <a:off x="1450975" y="2712085"/>
          <a:ext cx="391033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0" imgH="317500" progId="Equation.DSMT4">
                  <p:embed/>
                </p:oleObj>
              </mc:Choice>
              <mc:Fallback>
                <p:oleObj name="Equation" r:id="rId2" imgW="1219200" imgH="317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2712085"/>
                        <a:ext cx="391033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0" name="Group 4"/>
          <p:cNvGrpSpPr/>
          <p:nvPr/>
        </p:nvGrpSpPr>
        <p:grpSpPr bwMode="auto">
          <a:xfrm>
            <a:off x="1619250" y="1268413"/>
            <a:ext cx="2168525" cy="519112"/>
            <a:chOff x="1008" y="462"/>
            <a:chExt cx="1366" cy="327"/>
          </a:xfrm>
        </p:grpSpPr>
        <p:sp>
          <p:nvSpPr>
            <p:cNvPr id="61503" name="Rectangle 5"/>
            <p:cNvSpPr>
              <a:spLocks noChangeArrowheads="1"/>
            </p:cNvSpPr>
            <p:nvPr/>
          </p:nvSpPr>
          <p:spPr bwMode="auto">
            <a:xfrm>
              <a:off x="1008" y="462"/>
              <a:ext cx="1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solidFill>
                    <a:srgbClr val="002060"/>
                  </a:solidFill>
                </a:rPr>
                <a:t>P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( | </a:t>
              </a:r>
              <a:r>
                <a:rPr lang="en-US" altLang="zh-CN" sz="2800" b="1" i="1" dirty="0">
                  <a:solidFill>
                    <a:srgbClr val="002060"/>
                  </a:solidFill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-</a:t>
              </a:r>
              <a:r>
                <a:rPr lang="en-US" altLang="zh-CN" sz="2800" b="1" i="1" dirty="0">
                  <a:solidFill>
                    <a:srgbClr val="002060"/>
                  </a:solidFill>
                </a:rPr>
                <a:t>Y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|   5 ) </a:t>
              </a:r>
            </a:p>
          </p:txBody>
        </p:sp>
        <p:graphicFrame>
          <p:nvGraphicFramePr>
            <p:cNvPr id="61504" name="Object 6"/>
            <p:cNvGraphicFramePr>
              <a:graphicFrameLocks noChangeAspect="1"/>
            </p:cNvGraphicFramePr>
            <p:nvPr/>
          </p:nvGraphicFramePr>
          <p:xfrm>
            <a:off x="1837" y="507"/>
            <a:ext cx="20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7625" imgH="76835" progId="Equation.DSMT4">
                    <p:embed/>
                  </p:oleObj>
                </mc:Choice>
                <mc:Fallback>
                  <p:oleObj name="Equation" r:id="rId2" imgW="47625" imgH="7683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507"/>
                          <a:ext cx="20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583" name="Group 7"/>
          <p:cNvGrpSpPr/>
          <p:nvPr/>
        </p:nvGrpSpPr>
        <p:grpSpPr bwMode="auto">
          <a:xfrm>
            <a:off x="5378450" y="331788"/>
            <a:ext cx="3079750" cy="2955925"/>
            <a:chOff x="3403" y="144"/>
            <a:chExt cx="1988" cy="1910"/>
          </a:xfrm>
        </p:grpSpPr>
        <p:graphicFrame>
          <p:nvGraphicFramePr>
            <p:cNvPr id="61479" name="Object 8"/>
            <p:cNvGraphicFramePr>
              <a:graphicFrameLocks noChangeAspect="1"/>
            </p:cNvGraphicFramePr>
            <p:nvPr/>
          </p:nvGraphicFramePr>
          <p:xfrm>
            <a:off x="5184" y="1824"/>
            <a:ext cx="20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7625" imgH="48260" progId="Equation.3">
                    <p:embed/>
                  </p:oleObj>
                </mc:Choice>
                <mc:Fallback>
                  <p:oleObj name="公式" r:id="rId5" imgW="47625" imgH="4826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824"/>
                          <a:ext cx="20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0" name="Line 9"/>
            <p:cNvSpPr>
              <a:spLocks noChangeShapeType="1"/>
            </p:cNvSpPr>
            <p:nvPr/>
          </p:nvSpPr>
          <p:spPr bwMode="auto">
            <a:xfrm>
              <a:off x="3456" y="182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1" name="Line 10"/>
            <p:cNvSpPr>
              <a:spLocks noChangeShapeType="1"/>
            </p:cNvSpPr>
            <p:nvPr/>
          </p:nvSpPr>
          <p:spPr bwMode="auto">
            <a:xfrm flipV="1">
              <a:off x="3600" y="192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2" name="Line 11"/>
            <p:cNvSpPr>
              <a:spLocks noChangeShapeType="1"/>
            </p:cNvSpPr>
            <p:nvPr/>
          </p:nvSpPr>
          <p:spPr bwMode="auto">
            <a:xfrm>
              <a:off x="3888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3" name="Line 12"/>
            <p:cNvSpPr>
              <a:spLocks noChangeShapeType="1"/>
            </p:cNvSpPr>
            <p:nvPr/>
          </p:nvSpPr>
          <p:spPr bwMode="auto">
            <a:xfrm>
              <a:off x="4464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4" name="Line 13"/>
            <p:cNvSpPr>
              <a:spLocks noChangeShapeType="1"/>
            </p:cNvSpPr>
            <p:nvPr/>
          </p:nvSpPr>
          <p:spPr bwMode="auto">
            <a:xfrm>
              <a:off x="3888" y="6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85" name="Object 14"/>
            <p:cNvGraphicFramePr>
              <a:graphicFrameLocks noChangeAspect="1"/>
            </p:cNvGraphicFramePr>
            <p:nvPr/>
          </p:nvGraphicFramePr>
          <p:xfrm>
            <a:off x="3648" y="144"/>
            <a:ext cx="20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7625" imgH="86360" progId="Equation.3">
                    <p:embed/>
                  </p:oleObj>
                </mc:Choice>
                <mc:Fallback>
                  <p:oleObj name="公式" r:id="rId5" imgW="47625" imgH="863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44"/>
                          <a:ext cx="20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6" name="Object 15"/>
            <p:cNvGraphicFramePr>
              <a:graphicFrameLocks noChangeAspect="1"/>
            </p:cNvGraphicFramePr>
            <p:nvPr/>
          </p:nvGraphicFramePr>
          <p:xfrm>
            <a:off x="3451" y="1824"/>
            <a:ext cx="149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8100" imgH="106045" progId="Equation.3">
                    <p:embed/>
                  </p:oleObj>
                </mc:Choice>
                <mc:Fallback>
                  <p:oleObj name="公式" r:id="rId5" imgW="38100" imgH="10604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1" y="1824"/>
                          <a:ext cx="149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7" name="Object 16"/>
            <p:cNvGraphicFramePr>
              <a:graphicFrameLocks noChangeAspect="1"/>
            </p:cNvGraphicFramePr>
            <p:nvPr/>
          </p:nvGraphicFramePr>
          <p:xfrm>
            <a:off x="3800" y="1824"/>
            <a:ext cx="18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4775" imgH="106045" progId="Equation.3">
                    <p:embed/>
                  </p:oleObj>
                </mc:Choice>
                <mc:Fallback>
                  <p:oleObj name="公式" r:id="rId5" imgW="104775" imgH="10604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" y="1824"/>
                          <a:ext cx="18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8" name="Object 17"/>
            <p:cNvGraphicFramePr>
              <a:graphicFrameLocks noChangeAspect="1"/>
            </p:cNvGraphicFramePr>
            <p:nvPr/>
          </p:nvGraphicFramePr>
          <p:xfrm>
            <a:off x="4365" y="1834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5" y="1834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9" name="Object 18"/>
            <p:cNvGraphicFramePr>
              <a:graphicFrameLocks noChangeAspect="1"/>
            </p:cNvGraphicFramePr>
            <p:nvPr/>
          </p:nvGraphicFramePr>
          <p:xfrm>
            <a:off x="3405" y="1550"/>
            <a:ext cx="19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5" y="1550"/>
                          <a:ext cx="19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0" name="Object 19"/>
            <p:cNvGraphicFramePr>
              <a:graphicFrameLocks noChangeAspect="1"/>
            </p:cNvGraphicFramePr>
            <p:nvPr/>
          </p:nvGraphicFramePr>
          <p:xfrm>
            <a:off x="3408" y="576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576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1" name="Object 20"/>
            <p:cNvGraphicFramePr>
              <a:graphicFrameLocks noChangeAspect="1"/>
            </p:cNvGraphicFramePr>
            <p:nvPr/>
          </p:nvGraphicFramePr>
          <p:xfrm>
            <a:off x="3403" y="1021"/>
            <a:ext cx="206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23825" imgH="106045" progId="Equation.3">
                    <p:embed/>
                  </p:oleObj>
                </mc:Choice>
                <mc:Fallback>
                  <p:oleObj name="公式" r:id="rId5" imgW="123825" imgH="10604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021"/>
                          <a:ext cx="206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2" name="Object 21"/>
            <p:cNvGraphicFramePr>
              <a:graphicFrameLocks noChangeAspect="1"/>
            </p:cNvGraphicFramePr>
            <p:nvPr/>
          </p:nvGraphicFramePr>
          <p:xfrm>
            <a:off x="3600" y="597"/>
            <a:ext cx="96" cy="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597"/>
                          <a:ext cx="96" cy="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3" name="Object 22"/>
            <p:cNvGraphicFramePr>
              <a:graphicFrameLocks noChangeAspect="1"/>
            </p:cNvGraphicFramePr>
            <p:nvPr/>
          </p:nvGraphicFramePr>
          <p:xfrm>
            <a:off x="3600" y="1029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029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4" name="Object 23"/>
            <p:cNvGraphicFramePr>
              <a:graphicFrameLocks noChangeAspect="1"/>
            </p:cNvGraphicFramePr>
            <p:nvPr/>
          </p:nvGraphicFramePr>
          <p:xfrm>
            <a:off x="3601" y="1440"/>
            <a:ext cx="95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1440"/>
                          <a:ext cx="95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5" name="Object 24"/>
            <p:cNvGraphicFramePr>
              <a:graphicFrameLocks noChangeAspect="1"/>
            </p:cNvGraphicFramePr>
            <p:nvPr/>
          </p:nvGraphicFramePr>
          <p:xfrm>
            <a:off x="3600" y="1632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632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96" name="Line 25"/>
            <p:cNvSpPr>
              <a:spLocks noChangeShapeType="1"/>
            </p:cNvSpPr>
            <p:nvPr/>
          </p:nvSpPr>
          <p:spPr bwMode="auto">
            <a:xfrm flipH="1">
              <a:off x="3888" y="1008"/>
              <a:ext cx="576" cy="62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7" name="Line 26"/>
            <p:cNvSpPr>
              <a:spLocks noChangeShapeType="1"/>
            </p:cNvSpPr>
            <p:nvPr/>
          </p:nvSpPr>
          <p:spPr bwMode="auto">
            <a:xfrm flipH="1">
              <a:off x="3888" y="816"/>
              <a:ext cx="576" cy="624"/>
            </a:xfrm>
            <a:prstGeom prst="line">
              <a:avLst/>
            </a:prstGeom>
            <a:noFill/>
            <a:ln w="9525">
              <a:solidFill>
                <a:srgbClr val="CC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8" name="Line 27"/>
            <p:cNvSpPr>
              <a:spLocks noChangeShapeType="1"/>
            </p:cNvSpPr>
            <p:nvPr/>
          </p:nvSpPr>
          <p:spPr bwMode="auto">
            <a:xfrm flipH="1">
              <a:off x="3888" y="912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9" name="Line 28"/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0" name="Line 29"/>
            <p:cNvSpPr>
              <a:spLocks noChangeShapeType="1"/>
            </p:cNvSpPr>
            <p:nvPr/>
          </p:nvSpPr>
          <p:spPr bwMode="auto">
            <a:xfrm flipH="1">
              <a:off x="3888" y="960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501" name="Object 30"/>
            <p:cNvGraphicFramePr>
              <a:graphicFrameLocks noChangeAspect="1"/>
            </p:cNvGraphicFramePr>
            <p:nvPr/>
          </p:nvGraphicFramePr>
          <p:xfrm>
            <a:off x="4491" y="857"/>
            <a:ext cx="59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95300" imgH="115570" progId="Equation.3">
                    <p:embed/>
                  </p:oleObj>
                </mc:Choice>
                <mc:Fallback>
                  <p:oleObj name="公式" r:id="rId5" imgW="495300" imgH="11557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1" y="857"/>
                          <a:ext cx="59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2" name="Object 31"/>
            <p:cNvGraphicFramePr>
              <a:graphicFrameLocks noChangeAspect="1"/>
            </p:cNvGraphicFramePr>
            <p:nvPr/>
          </p:nvGraphicFramePr>
          <p:xfrm>
            <a:off x="4466" y="667"/>
            <a:ext cx="69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81025" imgH="115570" progId="Equation.3">
                    <p:embed/>
                  </p:oleObj>
                </mc:Choice>
                <mc:Fallback>
                  <p:oleObj name="公式" r:id="rId5" imgW="581025" imgH="11557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667"/>
                          <a:ext cx="69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8608" name="Rectangle 32"/>
          <p:cNvSpPr>
            <a:spLocks noChangeArrowheads="1"/>
          </p:cNvSpPr>
          <p:nvPr/>
        </p:nvSpPr>
        <p:spPr bwMode="auto">
          <a:xfrm>
            <a:off x="1371600" y="2001838"/>
            <a:ext cx="2652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2060"/>
                </a:solidFill>
              </a:rPr>
              <a:t>=</a:t>
            </a:r>
            <a:r>
              <a:rPr lang="en-US" altLang="zh-CN" sz="2800" b="1" i="1">
                <a:solidFill>
                  <a:srgbClr val="002060"/>
                </a:solidFill>
              </a:rPr>
              <a:t>P</a:t>
            </a:r>
            <a:r>
              <a:rPr lang="en-US" altLang="zh-CN" sz="2800" b="1">
                <a:solidFill>
                  <a:srgbClr val="002060"/>
                </a:solidFill>
              </a:rPr>
              <a:t>( -5&lt; </a:t>
            </a:r>
            <a:r>
              <a:rPr lang="en-US" altLang="zh-CN" sz="2800" b="1" i="1">
                <a:solidFill>
                  <a:srgbClr val="002060"/>
                </a:solidFill>
              </a:rPr>
              <a:t>X</a:t>
            </a:r>
            <a:r>
              <a:rPr lang="en-US" altLang="zh-CN" sz="2800" b="1">
                <a:solidFill>
                  <a:srgbClr val="002060"/>
                </a:solidFill>
              </a:rPr>
              <a:t> -</a:t>
            </a:r>
            <a:r>
              <a:rPr lang="en-US" altLang="zh-CN" sz="2800" b="1" i="1">
                <a:solidFill>
                  <a:srgbClr val="002060"/>
                </a:solidFill>
              </a:rPr>
              <a:t>Y</a:t>
            </a:r>
            <a:r>
              <a:rPr lang="en-US" altLang="zh-CN" sz="2800" b="1">
                <a:solidFill>
                  <a:srgbClr val="002060"/>
                </a:solidFill>
              </a:rPr>
              <a:t> &lt;5)</a:t>
            </a:r>
          </a:p>
        </p:txBody>
      </p:sp>
      <p:grpSp>
        <p:nvGrpSpPr>
          <p:cNvPr id="408609" name="Group 33"/>
          <p:cNvGrpSpPr/>
          <p:nvPr/>
        </p:nvGrpSpPr>
        <p:grpSpPr bwMode="auto">
          <a:xfrm>
            <a:off x="5364163" y="3276600"/>
            <a:ext cx="3155950" cy="3032125"/>
            <a:chOff x="3499" y="2122"/>
            <a:chExt cx="1988" cy="1910"/>
          </a:xfrm>
        </p:grpSpPr>
        <p:graphicFrame>
          <p:nvGraphicFramePr>
            <p:cNvPr id="61452" name="Object 34"/>
            <p:cNvGraphicFramePr>
              <a:graphicFrameLocks noChangeAspect="1"/>
            </p:cNvGraphicFramePr>
            <p:nvPr/>
          </p:nvGraphicFramePr>
          <p:xfrm>
            <a:off x="5280" y="3802"/>
            <a:ext cx="20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7625" imgH="48260" progId="Equation.3">
                    <p:embed/>
                  </p:oleObj>
                </mc:Choice>
                <mc:Fallback>
                  <p:oleObj name="公式" r:id="rId5" imgW="47625" imgH="4826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3802"/>
                          <a:ext cx="20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3" name="Line 35"/>
            <p:cNvSpPr>
              <a:spLocks noChangeShapeType="1"/>
            </p:cNvSpPr>
            <p:nvPr/>
          </p:nvSpPr>
          <p:spPr bwMode="auto">
            <a:xfrm>
              <a:off x="3552" y="380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4" name="Line 36"/>
            <p:cNvSpPr>
              <a:spLocks noChangeShapeType="1"/>
            </p:cNvSpPr>
            <p:nvPr/>
          </p:nvSpPr>
          <p:spPr bwMode="auto">
            <a:xfrm flipV="1">
              <a:off x="3696" y="2170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5" name="Line 37"/>
            <p:cNvSpPr>
              <a:spLocks noChangeShapeType="1"/>
            </p:cNvSpPr>
            <p:nvPr/>
          </p:nvSpPr>
          <p:spPr bwMode="auto">
            <a:xfrm>
              <a:off x="3984" y="260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6" name="Line 38"/>
            <p:cNvSpPr>
              <a:spLocks noChangeShapeType="1"/>
            </p:cNvSpPr>
            <p:nvPr/>
          </p:nvSpPr>
          <p:spPr bwMode="auto">
            <a:xfrm>
              <a:off x="4560" y="260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7" name="Line 39"/>
            <p:cNvSpPr>
              <a:spLocks noChangeShapeType="1"/>
            </p:cNvSpPr>
            <p:nvPr/>
          </p:nvSpPr>
          <p:spPr bwMode="auto">
            <a:xfrm>
              <a:off x="3984" y="260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58" name="Object 40"/>
            <p:cNvGraphicFramePr>
              <a:graphicFrameLocks noChangeAspect="1"/>
            </p:cNvGraphicFramePr>
            <p:nvPr/>
          </p:nvGraphicFramePr>
          <p:xfrm>
            <a:off x="3744" y="2122"/>
            <a:ext cx="20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47625" imgH="86360" progId="Equation.3">
                    <p:embed/>
                  </p:oleObj>
                </mc:Choice>
                <mc:Fallback>
                  <p:oleObj name="公式" r:id="rId5" imgW="47625" imgH="8636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22"/>
                          <a:ext cx="20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9" name="Object 41"/>
            <p:cNvGraphicFramePr>
              <a:graphicFrameLocks noChangeAspect="1"/>
            </p:cNvGraphicFramePr>
            <p:nvPr/>
          </p:nvGraphicFramePr>
          <p:xfrm>
            <a:off x="3547" y="3802"/>
            <a:ext cx="149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8100" imgH="106045" progId="Equation.3">
                    <p:embed/>
                  </p:oleObj>
                </mc:Choice>
                <mc:Fallback>
                  <p:oleObj name="公式" r:id="rId5" imgW="38100" imgH="10604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" y="3802"/>
                          <a:ext cx="149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0" name="Object 42"/>
            <p:cNvGraphicFramePr>
              <a:graphicFrameLocks noChangeAspect="1"/>
            </p:cNvGraphicFramePr>
            <p:nvPr/>
          </p:nvGraphicFramePr>
          <p:xfrm>
            <a:off x="3896" y="3802"/>
            <a:ext cx="18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4775" imgH="106045" progId="Equation.3">
                    <p:embed/>
                  </p:oleObj>
                </mc:Choice>
                <mc:Fallback>
                  <p:oleObj name="公式" r:id="rId5" imgW="104775" imgH="10604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6" y="3802"/>
                          <a:ext cx="18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1" name="Object 43"/>
            <p:cNvGraphicFramePr>
              <a:graphicFrameLocks noChangeAspect="1"/>
            </p:cNvGraphicFramePr>
            <p:nvPr/>
          </p:nvGraphicFramePr>
          <p:xfrm>
            <a:off x="4461" y="3812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1" y="3812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2" name="Object 44"/>
            <p:cNvGraphicFramePr>
              <a:graphicFrameLocks noChangeAspect="1"/>
            </p:cNvGraphicFramePr>
            <p:nvPr/>
          </p:nvGraphicFramePr>
          <p:xfrm>
            <a:off x="3501" y="3528"/>
            <a:ext cx="19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1" y="3528"/>
                          <a:ext cx="19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3" name="Object 45"/>
            <p:cNvGraphicFramePr>
              <a:graphicFrameLocks noChangeAspect="1"/>
            </p:cNvGraphicFramePr>
            <p:nvPr/>
          </p:nvGraphicFramePr>
          <p:xfrm>
            <a:off x="3504" y="2554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00" imgH="106045" progId="Equation.3">
                    <p:embed/>
                  </p:oleObj>
                </mc:Choice>
                <mc:Fallback>
                  <p:oleObj name="公式" r:id="rId5" imgW="114300" imgH="10604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54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4" name="Object 46"/>
            <p:cNvGraphicFramePr>
              <a:graphicFrameLocks noChangeAspect="1"/>
            </p:cNvGraphicFramePr>
            <p:nvPr/>
          </p:nvGraphicFramePr>
          <p:xfrm>
            <a:off x="3499" y="2999"/>
            <a:ext cx="206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23825" imgH="106045" progId="Equation.3">
                    <p:embed/>
                  </p:oleObj>
                </mc:Choice>
                <mc:Fallback>
                  <p:oleObj name="公式" r:id="rId5" imgW="123825" imgH="10604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9" y="2999"/>
                          <a:ext cx="206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5" name="Object 47"/>
            <p:cNvGraphicFramePr>
              <a:graphicFrameLocks noChangeAspect="1"/>
            </p:cNvGraphicFramePr>
            <p:nvPr/>
          </p:nvGraphicFramePr>
          <p:xfrm>
            <a:off x="3696" y="2575"/>
            <a:ext cx="96" cy="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575"/>
                          <a:ext cx="96" cy="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6" name="Object 48"/>
            <p:cNvGraphicFramePr>
              <a:graphicFrameLocks noChangeAspect="1"/>
            </p:cNvGraphicFramePr>
            <p:nvPr/>
          </p:nvGraphicFramePr>
          <p:xfrm>
            <a:off x="3696" y="3007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07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7" name="Object 49"/>
            <p:cNvGraphicFramePr>
              <a:graphicFrameLocks noChangeAspect="1"/>
            </p:cNvGraphicFramePr>
            <p:nvPr/>
          </p:nvGraphicFramePr>
          <p:xfrm>
            <a:off x="3697" y="3418"/>
            <a:ext cx="95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" y="3418"/>
                          <a:ext cx="95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8" name="Object 50"/>
            <p:cNvGraphicFramePr>
              <a:graphicFrameLocks noChangeAspect="1"/>
            </p:cNvGraphicFramePr>
            <p:nvPr/>
          </p:nvGraphicFramePr>
          <p:xfrm>
            <a:off x="3696" y="3610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25" imgH="9525" progId="Equation.3">
                    <p:embed/>
                  </p:oleObj>
                </mc:Choice>
                <mc:Fallback>
                  <p:oleObj name="公式" r:id="rId5" imgW="9525" imgH="9525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610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9" name="Object 51"/>
            <p:cNvGraphicFramePr>
              <a:graphicFrameLocks noChangeAspect="1"/>
            </p:cNvGraphicFramePr>
            <p:nvPr/>
          </p:nvGraphicFramePr>
          <p:xfrm>
            <a:off x="4560" y="2784"/>
            <a:ext cx="385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5275" imgH="86360" progId="Equation.3">
                    <p:embed/>
                  </p:oleObj>
                </mc:Choice>
                <mc:Fallback>
                  <p:oleObj name="公式" r:id="rId5" imgW="295275" imgH="8636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784"/>
                          <a:ext cx="385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70" name="Line 52"/>
            <p:cNvSpPr>
              <a:spLocks noChangeShapeType="1"/>
            </p:cNvSpPr>
            <p:nvPr/>
          </p:nvSpPr>
          <p:spPr bwMode="auto">
            <a:xfrm flipV="1">
              <a:off x="3696" y="2880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1" name="Line 53"/>
            <p:cNvSpPr>
              <a:spLocks noChangeShapeType="1"/>
            </p:cNvSpPr>
            <p:nvPr/>
          </p:nvSpPr>
          <p:spPr bwMode="auto">
            <a:xfrm flipH="1">
              <a:off x="3984" y="2592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2" name="Line 54"/>
            <p:cNvSpPr>
              <a:spLocks noChangeShapeType="1"/>
            </p:cNvSpPr>
            <p:nvPr/>
          </p:nvSpPr>
          <p:spPr bwMode="auto">
            <a:xfrm flipH="1">
              <a:off x="3984" y="2592"/>
              <a:ext cx="480" cy="48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3" name="Line 55"/>
            <p:cNvSpPr>
              <a:spLocks noChangeShapeType="1"/>
            </p:cNvSpPr>
            <p:nvPr/>
          </p:nvSpPr>
          <p:spPr bwMode="auto">
            <a:xfrm flipH="1">
              <a:off x="3984" y="2592"/>
              <a:ext cx="336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4" name="Line 56"/>
            <p:cNvSpPr>
              <a:spLocks noChangeShapeType="1"/>
            </p:cNvSpPr>
            <p:nvPr/>
          </p:nvSpPr>
          <p:spPr bwMode="auto">
            <a:xfrm flipH="1">
              <a:off x="3984" y="2592"/>
              <a:ext cx="144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5" name="Line 57"/>
            <p:cNvSpPr>
              <a:spLocks noChangeShapeType="1"/>
            </p:cNvSpPr>
            <p:nvPr/>
          </p:nvSpPr>
          <p:spPr bwMode="auto">
            <a:xfrm flipH="1">
              <a:off x="3984" y="2688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6" name="Line 58"/>
            <p:cNvSpPr>
              <a:spLocks noChangeShapeType="1"/>
            </p:cNvSpPr>
            <p:nvPr/>
          </p:nvSpPr>
          <p:spPr bwMode="auto">
            <a:xfrm flipH="1">
              <a:off x="3984" y="2784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7" name="Line 59"/>
            <p:cNvSpPr>
              <a:spLocks noChangeShapeType="1"/>
            </p:cNvSpPr>
            <p:nvPr/>
          </p:nvSpPr>
          <p:spPr bwMode="auto">
            <a:xfrm flipH="1">
              <a:off x="3984" y="2880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8" name="Line 60"/>
            <p:cNvSpPr>
              <a:spLocks noChangeShapeType="1"/>
            </p:cNvSpPr>
            <p:nvPr/>
          </p:nvSpPr>
          <p:spPr bwMode="auto">
            <a:xfrm flipH="1">
              <a:off x="3984" y="2592"/>
              <a:ext cx="24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8637" name="Rectangle 61"/>
          <p:cNvSpPr>
            <a:spLocks noChangeArrowheads="1"/>
          </p:cNvSpPr>
          <p:nvPr/>
        </p:nvSpPr>
        <p:spPr bwMode="auto">
          <a:xfrm>
            <a:off x="612775" y="5049838"/>
            <a:ext cx="1296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2060"/>
                </a:solidFill>
              </a:rPr>
              <a:t>P</a:t>
            </a:r>
            <a:r>
              <a:rPr lang="en-US" altLang="zh-CN" sz="2800" b="1">
                <a:solidFill>
                  <a:srgbClr val="002060"/>
                </a:solidFill>
              </a:rPr>
              <a:t>(</a:t>
            </a:r>
            <a:r>
              <a:rPr lang="en-US" altLang="zh-CN" sz="2800" b="1" i="1">
                <a:solidFill>
                  <a:srgbClr val="002060"/>
                </a:solidFill>
              </a:rPr>
              <a:t>X</a:t>
            </a:r>
            <a:r>
              <a:rPr lang="en-US" altLang="zh-CN" sz="2800" b="1">
                <a:solidFill>
                  <a:srgbClr val="002060"/>
                </a:solidFill>
              </a:rPr>
              <a:t>&lt;</a:t>
            </a:r>
            <a:r>
              <a:rPr lang="en-US" altLang="zh-CN" sz="2800" b="1" i="1">
                <a:solidFill>
                  <a:srgbClr val="002060"/>
                </a:solidFill>
              </a:rPr>
              <a:t>Y</a:t>
            </a:r>
            <a:r>
              <a:rPr lang="en-US" altLang="zh-CN" sz="2800" b="1">
                <a:solidFill>
                  <a:srgbClr val="002060"/>
                </a:solidFill>
              </a:rPr>
              <a:t>)</a:t>
            </a:r>
          </a:p>
        </p:txBody>
      </p:sp>
      <p:graphicFrame>
        <p:nvGraphicFramePr>
          <p:cNvPr id="408638" name="Object 62"/>
          <p:cNvGraphicFramePr>
            <a:graphicFrameLocks noChangeAspect="1"/>
          </p:cNvGraphicFramePr>
          <p:nvPr/>
        </p:nvGraphicFramePr>
        <p:xfrm>
          <a:off x="1910080" y="4771708"/>
          <a:ext cx="33147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90625" imgH="317500" progId="Equation.3">
                  <p:embed/>
                </p:oleObj>
              </mc:Choice>
              <mc:Fallback>
                <p:oleObj name="公式" r:id="rId5" imgW="1190625" imgH="3175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080" y="4771708"/>
                        <a:ext cx="33147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639" name="Object 63"/>
          <p:cNvGraphicFramePr>
            <a:graphicFrameLocks noChangeAspect="1"/>
          </p:cNvGraphicFramePr>
          <p:nvPr/>
        </p:nvGraphicFramePr>
        <p:xfrm>
          <a:off x="1979613" y="5889625"/>
          <a:ext cx="90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8675" imgH="346710" progId="Equation.DSMT4">
                  <p:embed/>
                </p:oleObj>
              </mc:Choice>
              <mc:Fallback>
                <p:oleObj name="Equation" r:id="rId5" imgW="828675" imgH="34671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889625"/>
                        <a:ext cx="901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640" name="Object 64"/>
          <p:cNvGraphicFramePr>
            <a:graphicFrameLocks noChangeAspect="1"/>
          </p:cNvGraphicFramePr>
          <p:nvPr/>
        </p:nvGraphicFramePr>
        <p:xfrm>
          <a:off x="1450975" y="3933825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09625" imgH="346710" progId="Equation.DSMT4">
                  <p:embed/>
                </p:oleObj>
              </mc:Choice>
              <mc:Fallback>
                <p:oleObj name="Equation" r:id="rId5" imgW="809625" imgH="34671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933825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0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bldLvl="0" animBg="1" autoUpdateAnimBg="0"/>
      <p:bldP spid="408608" grpId="0" bldLvl="0" animBg="1" autoUpdateAnimBg="0"/>
      <p:bldP spid="408637" grpId="0" bldLvl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1828800" y="53340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盒内有   个白球 </a:t>
            </a:r>
            <a:r>
              <a:rPr kumimoji="0" lang="en-US" altLang="zh-CN" sz="2800" b="1">
                <a:latin typeface="Arial" panose="020B0604020202020204" pitchFamily="34" charset="0"/>
              </a:rPr>
              <a:t>,    </a:t>
            </a:r>
            <a:r>
              <a:rPr kumimoji="0" lang="zh-CN" altLang="en-US" sz="2800" b="1">
                <a:latin typeface="Arial" panose="020B0604020202020204" pitchFamily="34" charset="0"/>
              </a:rPr>
              <a:t>个黑球</a:t>
            </a:r>
            <a:r>
              <a:rPr kumimoji="0" lang="en-US" altLang="zh-CN" sz="2800" b="1">
                <a:latin typeface="Arial" panose="020B0604020202020204" pitchFamily="34" charset="0"/>
              </a:rPr>
              <a:t>,</a:t>
            </a:r>
            <a:r>
              <a:rPr kumimoji="0" lang="zh-CN" altLang="en-US" sz="2800" b="1">
                <a:latin typeface="Arial" panose="020B0604020202020204" pitchFamily="34" charset="0"/>
              </a:rPr>
              <a:t>有放回地摸球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1036638" y="5334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 </a:t>
            </a:r>
            <a:r>
              <a:rPr lang="zh-CN" altLang="en-US" sz="2800" b="1"/>
              <a:t>例</a:t>
            </a:r>
            <a:r>
              <a:rPr lang="en-US" altLang="zh-CN" sz="2800" b="1"/>
              <a:t>3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388938" y="1181100"/>
            <a:ext cx="996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Arial" panose="020B0604020202020204" pitchFamily="34" charset="0"/>
              </a:rPr>
              <a:t>两次</a:t>
            </a:r>
            <a:r>
              <a:rPr kumimoji="0" lang="en-US" altLang="zh-CN" sz="2800" b="1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325563" y="1165225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设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620963" y="1670050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次摸到白球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620963" y="224631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次摸到黑球</a:t>
            </a: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2620963" y="2981325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次摸到白球</a:t>
            </a: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2620963" y="3557588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次摸到黑球</a:t>
            </a:r>
          </a:p>
        </p:txBody>
      </p:sp>
      <p:graphicFrame>
        <p:nvGraphicFramePr>
          <p:cNvPr id="62474" name="Object 12"/>
          <p:cNvGraphicFramePr>
            <a:graphicFrameLocks noChangeAspect="1"/>
          </p:cNvGraphicFramePr>
          <p:nvPr/>
        </p:nvGraphicFramePr>
        <p:xfrm>
          <a:off x="2916238" y="620713"/>
          <a:ext cx="4556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7000" imgH="139700" progId="Equation.3">
                  <p:embed/>
                </p:oleObj>
              </mc:Choice>
              <mc:Fallback>
                <p:oleObj name="公式" r:id="rId2" imgW="127000" imgH="139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620713"/>
                        <a:ext cx="4556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5" name="Object 13"/>
          <p:cNvGraphicFramePr>
            <a:graphicFrameLocks noChangeAspect="1"/>
          </p:cNvGraphicFramePr>
          <p:nvPr/>
        </p:nvGraphicFramePr>
        <p:xfrm>
          <a:off x="4500563" y="549275"/>
          <a:ext cx="5937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" imgH="139700" progId="Equation.3">
                  <p:embed/>
                </p:oleObj>
              </mc:Choice>
              <mc:Fallback>
                <p:oleObj name="公式" r:id="rId4" imgW="165100" imgH="139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49275"/>
                        <a:ext cx="5937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14"/>
          <p:cNvGraphicFramePr>
            <a:graphicFrameLocks noChangeAspect="1"/>
          </p:cNvGraphicFramePr>
          <p:nvPr/>
        </p:nvGraphicFramePr>
        <p:xfrm>
          <a:off x="1403350" y="1700213"/>
          <a:ext cx="115252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600" imgH="457200" progId="Equation.3">
                  <p:embed/>
                </p:oleObj>
              </mc:Choice>
              <mc:Fallback>
                <p:oleObj name="公式" r:id="rId6" imgW="4826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0213"/>
                        <a:ext cx="1152525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5"/>
          <p:cNvGraphicFramePr>
            <a:graphicFrameLocks noChangeAspect="1"/>
          </p:cNvGraphicFramePr>
          <p:nvPr/>
        </p:nvGraphicFramePr>
        <p:xfrm>
          <a:off x="1476375" y="2997200"/>
          <a:ext cx="106203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44500" imgH="457200" progId="Equation.3">
                  <p:embed/>
                </p:oleObj>
              </mc:Choice>
              <mc:Fallback>
                <p:oleObj name="公式" r:id="rId8" imgW="4445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97200"/>
                        <a:ext cx="1062038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395" name="Group 19"/>
          <p:cNvGrpSpPr/>
          <p:nvPr/>
        </p:nvGrpSpPr>
        <p:grpSpPr bwMode="auto">
          <a:xfrm>
            <a:off x="388938" y="4189413"/>
            <a:ext cx="7345362" cy="1671637"/>
            <a:chOff x="245" y="2639"/>
            <a:chExt cx="4627" cy="1053"/>
          </a:xfrm>
        </p:grpSpPr>
        <p:sp>
          <p:nvSpPr>
            <p:cNvPr id="62479" name="Text Box 10"/>
            <p:cNvSpPr txBox="1">
              <a:spLocks noChangeArrowheads="1"/>
            </p:cNvSpPr>
            <p:nvPr/>
          </p:nvSpPr>
          <p:spPr bwMode="auto">
            <a:xfrm>
              <a:off x="245" y="2639"/>
              <a:ext cx="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800" b="1">
                  <a:latin typeface="Arial" panose="020B0604020202020204" pitchFamily="34" charset="0"/>
                </a:rPr>
                <a:t>试求</a:t>
              </a:r>
            </a:p>
          </p:txBody>
        </p:sp>
        <p:sp>
          <p:nvSpPr>
            <p:cNvPr id="62480" name="Rectangle 11"/>
            <p:cNvSpPr>
              <a:spLocks noChangeArrowheads="1"/>
            </p:cNvSpPr>
            <p:nvPr/>
          </p:nvSpPr>
          <p:spPr bwMode="auto">
            <a:xfrm>
              <a:off x="835" y="3365"/>
              <a:ext cx="40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latin typeface="Arial" panose="020B0604020202020204" pitchFamily="34" charset="0"/>
                </a:rPr>
                <a:t>(3) </a:t>
              </a:r>
              <a:r>
                <a:rPr kumimoji="0" lang="zh-CN" altLang="en-US" sz="2800" b="1">
                  <a:latin typeface="Arial" panose="020B0604020202020204" pitchFamily="34" charset="0"/>
                </a:rPr>
                <a:t>若改为无放回摸球</a:t>
              </a:r>
              <a:r>
                <a:rPr kumimoji="0" lang="en-US" altLang="zh-CN" sz="2800" b="1">
                  <a:latin typeface="Arial" panose="020B0604020202020204" pitchFamily="34" charset="0"/>
                </a:rPr>
                <a:t>,</a:t>
              </a:r>
              <a:r>
                <a:rPr kumimoji="0" lang="zh-CN" altLang="en-US" sz="2800" b="1">
                  <a:latin typeface="Arial" panose="020B0604020202020204" pitchFamily="34" charset="0"/>
                </a:rPr>
                <a:t>解上述两个问题</a:t>
              </a:r>
              <a:r>
                <a:rPr kumimoji="0" lang="en-US" altLang="zh-CN" sz="2800" b="1">
                  <a:latin typeface="Arial" panose="020B0604020202020204" pitchFamily="34" charset="0"/>
                </a:rPr>
                <a:t>.</a:t>
              </a:r>
            </a:p>
          </p:txBody>
        </p:sp>
        <p:graphicFrame>
          <p:nvGraphicFramePr>
            <p:cNvPr id="62481" name="Object 16"/>
            <p:cNvGraphicFramePr>
              <a:graphicFrameLocks noChangeAspect="1"/>
            </p:cNvGraphicFramePr>
            <p:nvPr/>
          </p:nvGraphicFramePr>
          <p:xfrm>
            <a:off x="884" y="2704"/>
            <a:ext cx="107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11200" imgH="203200" progId="Equation.DSMT4">
                    <p:embed/>
                  </p:oleObj>
                </mc:Choice>
                <mc:Fallback>
                  <p:oleObj name="Equation" r:id="rId10" imgW="711200" imgH="203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704"/>
                          <a:ext cx="107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82" name="Object 17"/>
            <p:cNvGraphicFramePr>
              <a:graphicFrameLocks noChangeAspect="1"/>
            </p:cNvGraphicFramePr>
            <p:nvPr/>
          </p:nvGraphicFramePr>
          <p:xfrm>
            <a:off x="839" y="3022"/>
            <a:ext cx="298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81200" imgH="215900" progId="Equation.DSMT4">
                    <p:embed/>
                  </p:oleObj>
                </mc:Choice>
                <mc:Fallback>
                  <p:oleObj name="Equation" r:id="rId12" imgW="1981200" imgH="2159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022"/>
                          <a:ext cx="2981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3" name="Text Box 18"/>
            <p:cNvSpPr txBox="1">
              <a:spLocks noChangeArrowheads="1"/>
            </p:cNvSpPr>
            <p:nvPr/>
          </p:nvSpPr>
          <p:spPr bwMode="auto">
            <a:xfrm>
              <a:off x="1973" y="2649"/>
              <a:ext cx="2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800" b="1">
                  <a:latin typeface="Arial" panose="020B0604020202020204" pitchFamily="34" charset="0"/>
                </a:rPr>
                <a:t>的联合分布律；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402" name="Group 2"/>
          <p:cNvGrpSpPr/>
          <p:nvPr/>
        </p:nvGrpSpPr>
        <p:grpSpPr bwMode="auto">
          <a:xfrm>
            <a:off x="827088" y="1844675"/>
            <a:ext cx="1512887" cy="647700"/>
            <a:chOff x="385" y="1480"/>
            <a:chExt cx="953" cy="408"/>
          </a:xfrm>
        </p:grpSpPr>
        <p:sp>
          <p:nvSpPr>
            <p:cNvPr id="63537" name="Line 3"/>
            <p:cNvSpPr>
              <a:spLocks noChangeShapeType="1"/>
            </p:cNvSpPr>
            <p:nvPr/>
          </p:nvSpPr>
          <p:spPr bwMode="auto">
            <a:xfrm>
              <a:off x="385" y="1480"/>
              <a:ext cx="95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3538" name="Object 4"/>
            <p:cNvGraphicFramePr>
              <a:graphicFrameLocks noChangeAspect="1"/>
            </p:cNvGraphicFramePr>
            <p:nvPr/>
          </p:nvGraphicFramePr>
          <p:xfrm>
            <a:off x="1020" y="1525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0025" imgH="221615" progId="Equation.DSMT4">
                    <p:embed/>
                  </p:oleObj>
                </mc:Choice>
                <mc:Fallback>
                  <p:oleObj name="Equation" r:id="rId2" imgW="200025" imgH="22161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525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39" name="Object 5"/>
            <p:cNvGraphicFramePr>
              <a:graphicFrameLocks noChangeAspect="1"/>
            </p:cNvGraphicFramePr>
            <p:nvPr/>
          </p:nvGraphicFramePr>
          <p:xfrm>
            <a:off x="524" y="1661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6225" imgH="221615" progId="Equation.DSMT4">
                    <p:embed/>
                  </p:oleObj>
                </mc:Choice>
                <mc:Fallback>
                  <p:oleObj name="Equation" r:id="rId2" imgW="276225" imgH="22161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1661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3460750" y="2087563"/>
          <a:ext cx="24257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3625" imgH="317500" progId="Equation.DSMT4">
                  <p:embed/>
                </p:oleObj>
              </mc:Choice>
              <mc:Fallback>
                <p:oleObj name="Equation" r:id="rId2" imgW="2333625" imgH="317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2087563"/>
                        <a:ext cx="24257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7" name="Object 7"/>
          <p:cNvGraphicFramePr>
            <a:graphicFrameLocks noChangeAspect="1"/>
          </p:cNvGraphicFramePr>
          <p:nvPr/>
        </p:nvGraphicFramePr>
        <p:xfrm>
          <a:off x="2501900" y="3527425"/>
          <a:ext cx="431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8625" imgH="500380" progId="Equation.DSMT4">
                  <p:embed/>
                </p:oleObj>
              </mc:Choice>
              <mc:Fallback>
                <p:oleObj name="Equation" r:id="rId2" imgW="4238625" imgH="5003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527425"/>
                        <a:ext cx="431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8" name="Object 8"/>
          <p:cNvGraphicFramePr>
            <a:graphicFrameLocks noChangeAspect="1"/>
          </p:cNvGraphicFramePr>
          <p:nvPr/>
        </p:nvGraphicFramePr>
        <p:xfrm>
          <a:off x="1443038" y="446405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2425" imgH="414020" progId="Equation.DSMT4">
                  <p:embed/>
                </p:oleObj>
              </mc:Choice>
              <mc:Fallback>
                <p:oleObj name="Equation" r:id="rId2" imgW="352425" imgH="4140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464050"/>
                        <a:ext cx="3905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9" name="Object 9"/>
          <p:cNvGraphicFramePr>
            <a:graphicFrameLocks noChangeAspect="1"/>
          </p:cNvGraphicFramePr>
          <p:nvPr/>
        </p:nvGraphicFramePr>
        <p:xfrm>
          <a:off x="7785100" y="2028825"/>
          <a:ext cx="3429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" imgH="356235" progId="Equation.DSMT4">
                  <p:embed/>
                </p:oleObj>
              </mc:Choice>
              <mc:Fallback>
                <p:oleObj name="Equation" r:id="rId2" imgW="304800" imgH="3562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2028825"/>
                        <a:ext cx="3429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52" name="Group 52"/>
          <p:cNvGraphicFramePr>
            <a:graphicFrameLocks noGrp="1"/>
          </p:cNvGraphicFramePr>
          <p:nvPr/>
        </p:nvGraphicFramePr>
        <p:xfrm>
          <a:off x="827088" y="1844675"/>
          <a:ext cx="8012112" cy="3097213"/>
        </p:xfrm>
        <a:graphic>
          <a:graphicData uri="http://schemas.openxmlformats.org/drawingml/2006/table">
            <a:tbl>
              <a:tblPr/>
              <a:tblGrid>
                <a:gridCol w="15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6437" name="Object 37"/>
          <p:cNvGraphicFramePr>
            <a:graphicFrameLocks noChangeAspect="1"/>
          </p:cNvGraphicFramePr>
          <p:nvPr/>
        </p:nvGraphicFramePr>
        <p:xfrm>
          <a:off x="2501900" y="2663825"/>
          <a:ext cx="4406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33875" imgH="500380" progId="Equation.DSMT4">
                  <p:embed/>
                </p:oleObj>
              </mc:Choice>
              <mc:Fallback>
                <p:oleObj name="Equation" r:id="rId2" imgW="4333875" imgH="5003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663825"/>
                        <a:ext cx="4406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6438" name="Group 38"/>
          <p:cNvGrpSpPr/>
          <p:nvPr/>
        </p:nvGrpSpPr>
        <p:grpSpPr bwMode="auto">
          <a:xfrm>
            <a:off x="1565275" y="2808288"/>
            <a:ext cx="217488" cy="1168400"/>
            <a:chOff x="838" y="1253"/>
            <a:chExt cx="137" cy="736"/>
          </a:xfrm>
        </p:grpSpPr>
        <p:graphicFrame>
          <p:nvGraphicFramePr>
            <p:cNvPr id="63535" name="Object 39"/>
            <p:cNvGraphicFramePr>
              <a:graphicFrameLocks noChangeAspect="1"/>
            </p:cNvGraphicFramePr>
            <p:nvPr/>
          </p:nvGraphicFramePr>
          <p:xfrm>
            <a:off x="838" y="1253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3825" imgH="240665" progId="Equation.DSMT4">
                    <p:embed/>
                  </p:oleObj>
                </mc:Choice>
                <mc:Fallback>
                  <p:oleObj name="Equation" r:id="rId2" imgW="123825" imgH="240665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" y="1253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36" name="Object 40"/>
            <p:cNvGraphicFramePr>
              <a:graphicFrameLocks noChangeAspect="1"/>
            </p:cNvGraphicFramePr>
            <p:nvPr/>
          </p:nvGraphicFramePr>
          <p:xfrm>
            <a:off x="863" y="1797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775" imgH="231140" progId="Equation.DSMT4">
                    <p:embed/>
                  </p:oleObj>
                </mc:Choice>
                <mc:Fallback>
                  <p:oleObj name="Equation" r:id="rId2" imgW="104775" imgH="23114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" y="1797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41" name="Object 41"/>
          <p:cNvGraphicFramePr>
            <a:graphicFrameLocks noChangeAspect="1"/>
          </p:cNvGraphicFramePr>
          <p:nvPr/>
        </p:nvGraphicFramePr>
        <p:xfrm>
          <a:off x="2786063" y="4487863"/>
          <a:ext cx="372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48075" imgH="346710" progId="Equation.DSMT4">
                  <p:embed/>
                </p:oleObj>
              </mc:Choice>
              <mc:Fallback>
                <p:oleObj name="Equation" r:id="rId2" imgW="3648075" imgH="34671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4487863"/>
                        <a:ext cx="372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2" name="Object 42"/>
          <p:cNvGraphicFramePr>
            <a:graphicFrameLocks noChangeAspect="1"/>
          </p:cNvGraphicFramePr>
          <p:nvPr/>
        </p:nvGraphicFramePr>
        <p:xfrm>
          <a:off x="7327900" y="3613150"/>
          <a:ext cx="120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3475" imgH="346710" progId="Equation.DSMT4">
                  <p:embed/>
                </p:oleObj>
              </mc:Choice>
              <mc:Fallback>
                <p:oleObj name="Equation" r:id="rId2" imgW="1133475" imgH="34671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3613150"/>
                        <a:ext cx="120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3" name="Object 43"/>
          <p:cNvGraphicFramePr>
            <a:graphicFrameLocks noChangeAspect="1"/>
          </p:cNvGraphicFramePr>
          <p:nvPr/>
        </p:nvGraphicFramePr>
        <p:xfrm>
          <a:off x="7327900" y="2749550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0" imgH="346710" progId="Equation.DSMT4">
                  <p:embed/>
                </p:oleObj>
              </mc:Choice>
              <mc:Fallback>
                <p:oleObj name="Equation" r:id="rId2" imgW="1219200" imgH="34671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2749550"/>
                        <a:ext cx="1295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7" name="Rectangle 44"/>
          <p:cNvSpPr>
            <a:spLocks noChangeArrowheads="1"/>
          </p:cNvSpPr>
          <p:nvPr/>
        </p:nvSpPr>
        <p:spPr bwMode="auto">
          <a:xfrm>
            <a:off x="684213" y="4048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</a:t>
            </a:r>
          </a:p>
        </p:txBody>
      </p:sp>
      <p:sp>
        <p:nvSpPr>
          <p:cNvPr id="486445" name="Text Box 45"/>
          <p:cNvSpPr txBox="1">
            <a:spLocks noChangeArrowheads="1"/>
          </p:cNvSpPr>
          <p:nvPr/>
        </p:nvSpPr>
        <p:spPr bwMode="auto">
          <a:xfrm>
            <a:off x="971550" y="1125538"/>
            <a:ext cx="2376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如下表所示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86446" name="Rectangle 46"/>
          <p:cNvSpPr>
            <a:spLocks noChangeArrowheads="1"/>
          </p:cNvSpPr>
          <p:nvPr/>
        </p:nvSpPr>
        <p:spPr bwMode="auto">
          <a:xfrm>
            <a:off x="1116013" y="5084763"/>
            <a:ext cx="620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latin typeface="Arial" panose="020B0604020202020204" pitchFamily="34" charset="0"/>
              </a:rPr>
              <a:t>(2)</a:t>
            </a:r>
          </a:p>
        </p:txBody>
      </p:sp>
      <p:sp>
        <p:nvSpPr>
          <p:cNvPr id="486447" name="Text Box 47"/>
          <p:cNvSpPr txBox="1">
            <a:spLocks noChangeArrowheads="1"/>
          </p:cNvSpPr>
          <p:nvPr/>
        </p:nvSpPr>
        <p:spPr bwMode="auto">
          <a:xfrm>
            <a:off x="1835150" y="5156200"/>
            <a:ext cx="2376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由上表可知</a:t>
            </a:r>
          </a:p>
        </p:txBody>
      </p:sp>
      <p:graphicFrame>
        <p:nvGraphicFramePr>
          <p:cNvPr id="486448" name="Object 48"/>
          <p:cNvGraphicFramePr>
            <a:graphicFrameLocks noChangeAspect="1"/>
          </p:cNvGraphicFramePr>
          <p:nvPr/>
        </p:nvGraphicFramePr>
        <p:xfrm>
          <a:off x="4067175" y="5229225"/>
          <a:ext cx="15827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400" imgH="414020" progId="Equation.DSMT4">
                  <p:embed/>
                </p:oleObj>
              </mc:Choice>
              <mc:Fallback>
                <p:oleObj name="Equation" r:id="rId2" imgW="1676400" imgH="41402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29225"/>
                        <a:ext cx="15827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9" name="Object 49"/>
          <p:cNvGraphicFramePr>
            <a:graphicFrameLocks noChangeAspect="1"/>
          </p:cNvGraphicFramePr>
          <p:nvPr/>
        </p:nvGraphicFramePr>
        <p:xfrm>
          <a:off x="6011863" y="5300663"/>
          <a:ext cx="14097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423545" progId="Equation.DSMT4">
                  <p:embed/>
                </p:oleObj>
              </mc:Choice>
              <mc:Fallback>
                <p:oleObj name="Equation" r:id="rId2" imgW="1485900" imgH="423545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300663"/>
                        <a:ext cx="14097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33" name="Object 50"/>
          <p:cNvGraphicFramePr>
            <a:graphicFrameLocks noChangeAspect="1"/>
          </p:cNvGraphicFramePr>
          <p:nvPr/>
        </p:nvGraphicFramePr>
        <p:xfrm>
          <a:off x="1327150" y="609600"/>
          <a:ext cx="603726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27300" imgH="215900" progId="Equation.DSMT4">
                  <p:embed/>
                </p:oleObj>
              </mc:Choice>
              <mc:Fallback>
                <p:oleObj name="Equation" r:id="rId17" imgW="2527300" imgH="2159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609600"/>
                        <a:ext cx="603726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51" name="Object 51"/>
          <p:cNvGraphicFramePr>
            <a:graphicFrameLocks noChangeAspect="1"/>
          </p:cNvGraphicFramePr>
          <p:nvPr/>
        </p:nvGraphicFramePr>
        <p:xfrm>
          <a:off x="1106488" y="5732463"/>
          <a:ext cx="30337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269365" imgH="215900" progId="Equation.3">
                  <p:embed/>
                </p:oleObj>
              </mc:Choice>
              <mc:Fallback>
                <p:oleObj name="公式" r:id="rId19" imgW="1269365" imgH="2159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5732463"/>
                        <a:ext cx="303371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8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8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8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45" grpId="0" bldLvl="0" animBg="1" autoUpdateAnimBg="0"/>
      <p:bldP spid="486446" grpId="0" bldLvl="0" animBg="1" autoUpdateAnimBg="0"/>
      <p:bldP spid="486447" grpId="0" bldLvl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042988" y="1052513"/>
            <a:ext cx="240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表所示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487427" name="Group 3"/>
          <p:cNvGrpSpPr/>
          <p:nvPr/>
        </p:nvGrpSpPr>
        <p:grpSpPr bwMode="auto">
          <a:xfrm>
            <a:off x="755650" y="1700213"/>
            <a:ext cx="720725" cy="792162"/>
            <a:chOff x="430" y="1253"/>
            <a:chExt cx="454" cy="499"/>
          </a:xfrm>
        </p:grpSpPr>
        <p:sp>
          <p:nvSpPr>
            <p:cNvPr id="64558" name="Line 4"/>
            <p:cNvSpPr>
              <a:spLocks noChangeShapeType="1"/>
            </p:cNvSpPr>
            <p:nvPr/>
          </p:nvSpPr>
          <p:spPr bwMode="auto">
            <a:xfrm>
              <a:off x="430" y="1253"/>
              <a:ext cx="454" cy="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559" name="Object 5"/>
            <p:cNvGraphicFramePr>
              <a:graphicFrameLocks noChangeAspect="1"/>
            </p:cNvGraphicFramePr>
            <p:nvPr/>
          </p:nvGraphicFramePr>
          <p:xfrm>
            <a:off x="703" y="1298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0025" imgH="221615" progId="Equation.DSMT4">
                    <p:embed/>
                  </p:oleObj>
                </mc:Choice>
                <mc:Fallback>
                  <p:oleObj name="Equation" r:id="rId2" imgW="200025" imgH="22161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298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60" name="Object 6"/>
            <p:cNvGraphicFramePr>
              <a:graphicFrameLocks noChangeAspect="1"/>
            </p:cNvGraphicFramePr>
            <p:nvPr/>
          </p:nvGraphicFramePr>
          <p:xfrm>
            <a:off x="479" y="152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6225" imgH="221615" progId="Equation.DSMT4">
                    <p:embed/>
                  </p:oleObj>
                </mc:Choice>
                <mc:Fallback>
                  <p:oleObj name="Equation" r:id="rId2" imgW="276225" imgH="22161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" y="152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7431" name="Object 7"/>
          <p:cNvGraphicFramePr>
            <a:graphicFrameLocks noChangeAspect="1"/>
          </p:cNvGraphicFramePr>
          <p:nvPr/>
        </p:nvGraphicFramePr>
        <p:xfrm>
          <a:off x="2886075" y="1905000"/>
          <a:ext cx="31416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0" imgH="317500" progId="Equation.DSMT4">
                  <p:embed/>
                </p:oleObj>
              </mc:Choice>
              <mc:Fallback>
                <p:oleObj name="Equation" r:id="rId2" imgW="3048000" imgH="317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1905000"/>
                        <a:ext cx="31416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2" name="Object 8"/>
          <p:cNvGraphicFramePr>
            <a:graphicFrameLocks noChangeAspect="1"/>
          </p:cNvGraphicFramePr>
          <p:nvPr/>
        </p:nvGraphicFramePr>
        <p:xfrm>
          <a:off x="931863" y="5145088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2425" imgH="414020" progId="Equation.DSMT4">
                  <p:embed/>
                </p:oleObj>
              </mc:Choice>
              <mc:Fallback>
                <p:oleObj name="Equation" r:id="rId2" imgW="352425" imgH="4140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5145088"/>
                        <a:ext cx="3905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3" name="Object 9"/>
          <p:cNvGraphicFramePr>
            <a:graphicFrameLocks noChangeAspect="1"/>
          </p:cNvGraphicFramePr>
          <p:nvPr/>
        </p:nvGraphicFramePr>
        <p:xfrm>
          <a:off x="7883525" y="1846263"/>
          <a:ext cx="3444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" imgH="356235" progId="Equation.DSMT4">
                  <p:embed/>
                </p:oleObj>
              </mc:Choice>
              <mc:Fallback>
                <p:oleObj name="Equation" r:id="rId2" imgW="304800" imgH="3562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3525" y="1846263"/>
                        <a:ext cx="3444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4" name="Group 10"/>
          <p:cNvGraphicFramePr>
            <a:graphicFrameLocks noGrp="1"/>
          </p:cNvGraphicFramePr>
          <p:nvPr/>
        </p:nvGraphicFramePr>
        <p:xfrm>
          <a:off x="755650" y="1700213"/>
          <a:ext cx="7993063" cy="4176711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39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4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0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87461" name="Group 37"/>
          <p:cNvGrpSpPr/>
          <p:nvPr/>
        </p:nvGrpSpPr>
        <p:grpSpPr bwMode="auto">
          <a:xfrm>
            <a:off x="1014413" y="2890838"/>
            <a:ext cx="215900" cy="1533525"/>
            <a:chOff x="612" y="2010"/>
            <a:chExt cx="136" cy="966"/>
          </a:xfrm>
        </p:grpSpPr>
        <p:graphicFrame>
          <p:nvGraphicFramePr>
            <p:cNvPr id="64556" name="Object 38"/>
            <p:cNvGraphicFramePr>
              <a:graphicFrameLocks noChangeAspect="1"/>
            </p:cNvGraphicFramePr>
            <p:nvPr/>
          </p:nvGraphicFramePr>
          <p:xfrm>
            <a:off x="612" y="201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3825" imgH="240665" progId="Equation.DSMT4">
                    <p:embed/>
                  </p:oleObj>
                </mc:Choice>
                <mc:Fallback>
                  <p:oleObj name="Equation" r:id="rId2" imgW="123825" imgH="24066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01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57" name="Object 39"/>
            <p:cNvGraphicFramePr>
              <a:graphicFrameLocks noChangeAspect="1"/>
            </p:cNvGraphicFramePr>
            <p:nvPr/>
          </p:nvGraphicFramePr>
          <p:xfrm>
            <a:off x="636" y="2784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775" imgH="231140" progId="Equation.DSMT4">
                    <p:embed/>
                  </p:oleObj>
                </mc:Choice>
                <mc:Fallback>
                  <p:oleObj name="Equation" r:id="rId2" imgW="104775" imgH="23114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" y="2784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7464" name="Object 40"/>
          <p:cNvGraphicFramePr>
            <a:graphicFrameLocks noChangeAspect="1"/>
          </p:cNvGraphicFramePr>
          <p:nvPr/>
        </p:nvGraphicFramePr>
        <p:xfrm>
          <a:off x="7588250" y="3849688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770255" progId="Equation.DSMT4">
                  <p:embed/>
                </p:oleObj>
              </mc:Choice>
              <mc:Fallback>
                <p:oleObj name="Equation" r:id="rId2" imgW="838200" imgH="770255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0" y="3849688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5" name="Object 41"/>
          <p:cNvGraphicFramePr>
            <a:graphicFrameLocks noChangeAspect="1"/>
          </p:cNvGraphicFramePr>
          <p:nvPr/>
        </p:nvGraphicFramePr>
        <p:xfrm>
          <a:off x="7588250" y="2659063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770255" progId="Equation.DSMT4">
                  <p:embed/>
                </p:oleObj>
              </mc:Choice>
              <mc:Fallback>
                <p:oleObj name="Equation" r:id="rId2" imgW="838200" imgH="770255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0" y="2659063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6" name="Object 42"/>
          <p:cNvGraphicFramePr>
            <a:graphicFrameLocks noChangeAspect="1"/>
          </p:cNvGraphicFramePr>
          <p:nvPr/>
        </p:nvGraphicFramePr>
        <p:xfrm>
          <a:off x="1519238" y="2552700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71775" imgH="953135" progId="Equation.DSMT4">
                  <p:embed/>
                </p:oleObj>
              </mc:Choice>
              <mc:Fallback>
                <p:oleObj name="Equation" r:id="rId2" imgW="2771775" imgH="953135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2552700"/>
                        <a:ext cx="2844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7" name="Object 43"/>
          <p:cNvGraphicFramePr>
            <a:graphicFrameLocks noChangeAspect="1"/>
          </p:cNvGraphicFramePr>
          <p:nvPr/>
        </p:nvGraphicFramePr>
        <p:xfrm>
          <a:off x="2454275" y="4929188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770255" progId="Equation.DSMT4">
                  <p:embed/>
                </p:oleObj>
              </mc:Choice>
              <mc:Fallback>
                <p:oleObj name="Equation" r:id="rId2" imgW="838200" imgH="77025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4929188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8" name="Object 44"/>
          <p:cNvGraphicFramePr>
            <a:graphicFrameLocks noChangeAspect="1"/>
          </p:cNvGraphicFramePr>
          <p:nvPr/>
        </p:nvGraphicFramePr>
        <p:xfrm>
          <a:off x="5429250" y="4857750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770255" progId="Equation.DSMT4">
                  <p:embed/>
                </p:oleObj>
              </mc:Choice>
              <mc:Fallback>
                <p:oleObj name="Equation" r:id="rId2" imgW="838200" imgH="77025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4857750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9" name="Object 45"/>
          <p:cNvGraphicFramePr>
            <a:graphicFrameLocks noChangeAspect="1"/>
          </p:cNvGraphicFramePr>
          <p:nvPr/>
        </p:nvGraphicFramePr>
        <p:xfrm>
          <a:off x="4578350" y="2624138"/>
          <a:ext cx="284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71775" imgH="885825" progId="Equation.DSMT4">
                  <p:embed/>
                </p:oleObj>
              </mc:Choice>
              <mc:Fallback>
                <p:oleObj name="Equation" r:id="rId2" imgW="2771775" imgH="88582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2624138"/>
                        <a:ext cx="284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70" name="Object 46"/>
          <p:cNvGraphicFramePr>
            <a:graphicFrameLocks noChangeAspect="1"/>
          </p:cNvGraphicFramePr>
          <p:nvPr/>
        </p:nvGraphicFramePr>
        <p:xfrm>
          <a:off x="1519238" y="3760788"/>
          <a:ext cx="284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71775" imgH="885825" progId="Equation.DSMT4">
                  <p:embed/>
                </p:oleObj>
              </mc:Choice>
              <mc:Fallback>
                <p:oleObj name="Equation" r:id="rId2" imgW="2771775" imgH="88582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3760788"/>
                        <a:ext cx="284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71" name="Object 47"/>
          <p:cNvGraphicFramePr>
            <a:graphicFrameLocks noChangeAspect="1"/>
          </p:cNvGraphicFramePr>
          <p:nvPr/>
        </p:nvGraphicFramePr>
        <p:xfrm>
          <a:off x="4578350" y="3705225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71775" imgH="953135" progId="Equation.DSMT4">
                  <p:embed/>
                </p:oleObj>
              </mc:Choice>
              <mc:Fallback>
                <p:oleObj name="Equation" r:id="rId2" imgW="2771775" imgH="953135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3705225"/>
                        <a:ext cx="2844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55" name="Object 48"/>
          <p:cNvGraphicFramePr>
            <a:graphicFrameLocks noChangeAspect="1"/>
          </p:cNvGraphicFramePr>
          <p:nvPr/>
        </p:nvGraphicFramePr>
        <p:xfrm>
          <a:off x="360363" y="476250"/>
          <a:ext cx="8243887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25800" imgH="215900" progId="Equation.DSMT4">
                  <p:embed/>
                </p:oleObj>
              </mc:Choice>
              <mc:Fallback>
                <p:oleObj name="Equation" r:id="rId18" imgW="3225800" imgH="215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476250"/>
                        <a:ext cx="8243887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5"/>
          <p:cNvSpPr txBox="1">
            <a:spLocks noChangeArrowheads="1"/>
          </p:cNvSpPr>
          <p:nvPr/>
        </p:nvSpPr>
        <p:spPr bwMode="auto">
          <a:xfrm>
            <a:off x="755650" y="692150"/>
            <a:ext cx="1944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由上表知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363526" name="Object 6"/>
          <p:cNvGraphicFramePr>
            <a:graphicFrameLocks noChangeAspect="1"/>
          </p:cNvGraphicFramePr>
          <p:nvPr/>
        </p:nvGraphicFramePr>
        <p:xfrm>
          <a:off x="1676400" y="1524000"/>
          <a:ext cx="5651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72125" imgH="953135" progId="Equation.DSMT4">
                  <p:embed/>
                </p:oleObj>
              </mc:Choice>
              <mc:Fallback>
                <p:oleObj name="Equation" r:id="rId2" imgW="5572125" imgH="9531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5651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7" name="Object 7"/>
          <p:cNvGraphicFramePr>
            <a:graphicFrameLocks noChangeAspect="1"/>
          </p:cNvGraphicFramePr>
          <p:nvPr/>
        </p:nvGraphicFramePr>
        <p:xfrm>
          <a:off x="1604963" y="2781300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400" imgH="770255" progId="Equation.DSMT4">
                  <p:embed/>
                </p:oleObj>
              </mc:Choice>
              <mc:Fallback>
                <p:oleObj name="Equation" r:id="rId4" imgW="2819400" imgH="77025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2781300"/>
                        <a:ext cx="289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4667250" y="2781300"/>
          <a:ext cx="281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770255" progId="Equation.DSMT4">
                  <p:embed/>
                </p:oleObj>
              </mc:Choice>
              <mc:Fallback>
                <p:oleObj name="Equation" r:id="rId4" imgW="2743200" imgH="77025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2781300"/>
                        <a:ext cx="281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9" name="Rectangle 9"/>
          <p:cNvSpPr>
            <a:spLocks noChangeArrowheads="1"/>
          </p:cNvSpPr>
          <p:nvPr/>
        </p:nvSpPr>
        <p:spPr bwMode="auto">
          <a:xfrm>
            <a:off x="684213" y="39338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Arial" panose="020B0604020202020204" pitchFamily="34" charset="0"/>
              </a:rPr>
              <a:t>可见</a:t>
            </a:r>
          </a:p>
        </p:txBody>
      </p:sp>
      <p:graphicFrame>
        <p:nvGraphicFramePr>
          <p:cNvPr id="363530" name="Object 10"/>
          <p:cNvGraphicFramePr>
            <a:graphicFrameLocks noChangeAspect="1"/>
          </p:cNvGraphicFramePr>
          <p:nvPr/>
        </p:nvGraphicFramePr>
        <p:xfrm>
          <a:off x="1687513" y="4733925"/>
          <a:ext cx="580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24525" imgH="423545" progId="Equation.DSMT4">
                  <p:embed/>
                </p:oleObj>
              </mc:Choice>
              <mc:Fallback>
                <p:oleObj name="Equation" r:id="rId4" imgW="5724525" imgH="42354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4733925"/>
                        <a:ext cx="5803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1" name="Text Box 11"/>
          <p:cNvSpPr txBox="1">
            <a:spLocks noChangeArrowheads="1"/>
          </p:cNvSpPr>
          <p:nvPr/>
        </p:nvSpPr>
        <p:spPr bwMode="auto">
          <a:xfrm>
            <a:off x="1752600" y="5562600"/>
            <a:ext cx="425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</a:t>
            </a:r>
            <a:r>
              <a:rPr lang="en-US" altLang="zh-CN" sz="2800" b="1"/>
              <a:t>X</a:t>
            </a:r>
            <a:r>
              <a:rPr lang="zh-CN" altLang="en-US" sz="2800" b="1"/>
              <a:t>，</a:t>
            </a:r>
            <a:r>
              <a:rPr lang="en-US" altLang="zh-CN" sz="2800" b="1"/>
              <a:t>Y</a:t>
            </a:r>
            <a:r>
              <a:rPr lang="zh-CN" altLang="en-US" sz="2800" b="1"/>
              <a:t>不相互独立。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9" grpId="0" bldLvl="0" animBg="1" autoUpdateAnimBg="0"/>
      <p:bldP spid="363531" grpId="0" bldLvl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ChangeArrowheads="1"/>
          </p:cNvSpPr>
          <p:nvPr/>
        </p:nvSpPr>
        <p:spPr bwMode="auto">
          <a:xfrm>
            <a:off x="685800" y="685800"/>
            <a:ext cx="7702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例 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：设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服从单位圆上的均匀分布，概率密度为</a:t>
            </a:r>
          </a:p>
        </p:txBody>
      </p:sp>
      <p:graphicFrame>
        <p:nvGraphicFramePr>
          <p:cNvPr id="479235" name="Object 3"/>
          <p:cNvGraphicFramePr>
            <a:graphicFrameLocks noChangeAspect="1"/>
          </p:cNvGraphicFramePr>
          <p:nvPr/>
        </p:nvGraphicFramePr>
        <p:xfrm>
          <a:off x="2195513" y="1628775"/>
          <a:ext cx="3616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539115" progId="Equation.DSMT4">
                  <p:embed/>
                </p:oleObj>
              </mc:Choice>
              <mc:Fallback>
                <p:oleObj name="Equation" r:id="rId2" imgW="1638300" imgH="53911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28775"/>
                        <a:ext cx="3616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Rectangle 6"/>
          <p:cNvSpPr>
            <a:spLocks noChangeArrowheads="1"/>
          </p:cNvSpPr>
          <p:nvPr/>
        </p:nvSpPr>
        <p:spPr bwMode="auto">
          <a:xfrm>
            <a:off x="611505" y="2894330"/>
            <a:ext cx="33210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判断</a:t>
            </a:r>
            <a:r>
              <a:rPr lang="en-US" altLang="zh-CN" sz="3200" b="1"/>
              <a:t>X,Y</a:t>
            </a:r>
            <a:r>
              <a:rPr lang="zh-CN" altLang="en-US" sz="3200" b="1"/>
              <a:t>的独立性</a:t>
            </a:r>
          </a:p>
        </p:txBody>
      </p:sp>
      <p:graphicFrame>
        <p:nvGraphicFramePr>
          <p:cNvPr id="479239" name="Object 7"/>
          <p:cNvGraphicFramePr>
            <a:graphicFrameLocks noChangeAspect="1"/>
          </p:cNvGraphicFramePr>
          <p:nvPr/>
        </p:nvGraphicFramePr>
        <p:xfrm>
          <a:off x="755650" y="4797425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95575" imgH="539115" progId="Equation.3">
                  <p:embed/>
                </p:oleObj>
              </mc:Choice>
              <mc:Fallback>
                <p:oleObj name="公式" r:id="rId4" imgW="2695575" imgH="5391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1401763" y="3983038"/>
            <a:ext cx="309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  </a:t>
            </a:r>
            <a:r>
              <a:rPr lang="en-US" altLang="zh-CN" sz="2800" b="1" i="1"/>
              <a:t>X</a:t>
            </a:r>
            <a:r>
              <a:rPr lang="zh-CN" altLang="en-US" sz="2800" b="1"/>
              <a:t>的边缘密度为</a:t>
            </a:r>
          </a:p>
        </p:txBody>
      </p:sp>
      <p:sp>
        <p:nvSpPr>
          <p:cNvPr id="89095" name="Oval 9"/>
          <p:cNvSpPr>
            <a:spLocks noChangeArrowheads="1"/>
          </p:cNvSpPr>
          <p:nvPr/>
        </p:nvSpPr>
        <p:spPr bwMode="auto">
          <a:xfrm>
            <a:off x="6858000" y="37353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9096" name="Group 10"/>
          <p:cNvGrpSpPr/>
          <p:nvPr/>
        </p:nvGrpSpPr>
        <p:grpSpPr bwMode="auto">
          <a:xfrm>
            <a:off x="6369050" y="3065463"/>
            <a:ext cx="2270125" cy="1871662"/>
            <a:chOff x="4105" y="2296"/>
            <a:chExt cx="1430" cy="1179"/>
          </a:xfrm>
        </p:grpSpPr>
        <p:sp>
          <p:nvSpPr>
            <p:cNvPr id="89098" name="Line 11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Line 12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100" name="Object 13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80975" imgH="163830" progId="Equation.3">
                    <p:embed/>
                  </p:oleObj>
                </mc:Choice>
                <mc:Fallback>
                  <p:oleObj name="公式" r:id="rId4" imgW="180975" imgH="16383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1" name="Object 14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42875" imgH="163830" progId="Equation.3">
                    <p:embed/>
                  </p:oleObj>
                </mc:Choice>
                <mc:Fallback>
                  <p:oleObj name="公式" r:id="rId4" imgW="142875" imgH="16383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2" name="Object 15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80975" imgH="240665" progId="Equation.3">
                    <p:embed/>
                  </p:oleObj>
                </mc:Choice>
                <mc:Fallback>
                  <p:oleObj name="公式" r:id="rId4" imgW="180975" imgH="24066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248" name="Line 16"/>
          <p:cNvSpPr>
            <a:spLocks noChangeShapeType="1"/>
          </p:cNvSpPr>
          <p:nvPr/>
        </p:nvSpPr>
        <p:spPr bwMode="auto">
          <a:xfrm flipV="1">
            <a:off x="7662863" y="3281363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bldLvl="0" animBg="1" autoUpdateAnimBg="0"/>
      <p:bldP spid="479240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755576" y="2543772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存在面积不为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的区域，</a:t>
            </a:r>
          </a:p>
        </p:txBody>
      </p:sp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2627313" y="3252788"/>
          <a:ext cx="36544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62075" imgH="144145" progId="Equation.DSMT4">
                  <p:embed/>
                </p:oleObj>
              </mc:Choice>
              <mc:Fallback>
                <p:oleObj name="Equation" r:id="rId2" imgW="1362075" imgH="14414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52788"/>
                        <a:ext cx="36544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646113" y="3861445"/>
            <a:ext cx="3135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不独立 </a:t>
            </a:r>
            <a:r>
              <a:rPr lang="en-US" altLang="zh-CN" sz="2800" b="1"/>
              <a:t>.  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958850" y="896938"/>
          <a:ext cx="6011863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799200" imgH="15849600" progId="Equation.DSMT4">
                  <p:embed/>
                </p:oleObj>
              </mc:Choice>
              <mc:Fallback>
                <p:oleObj name="Equation" r:id="rId4" imgW="69799200" imgH="1584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896938"/>
                        <a:ext cx="6011863" cy="136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09600" y="304800"/>
            <a:ext cx="533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三、正态随机变量的独立性</a:t>
            </a:r>
          </a:p>
        </p:txBody>
      </p:sp>
      <p:graphicFrame>
        <p:nvGraphicFramePr>
          <p:cNvPr id="365572" name="Object 4"/>
          <p:cNvGraphicFramePr>
            <a:graphicFrameLocks noChangeAspect="1"/>
          </p:cNvGraphicFramePr>
          <p:nvPr/>
        </p:nvGraphicFramePr>
        <p:xfrm>
          <a:off x="468313" y="1989138"/>
          <a:ext cx="8351837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4000" imgH="1016000" progId="Equation.3">
                  <p:embed/>
                </p:oleObj>
              </mc:Choice>
              <mc:Fallback>
                <p:oleObj name="Equation" r:id="rId2" imgW="4064000" imgH="1016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989138"/>
                        <a:ext cx="8351837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5" name="Object 7"/>
          <p:cNvGraphicFramePr>
            <a:graphicFrameLocks noChangeAspect="1"/>
          </p:cNvGraphicFramePr>
          <p:nvPr/>
        </p:nvGraphicFramePr>
        <p:xfrm>
          <a:off x="1116013" y="4724400"/>
          <a:ext cx="67373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54300" imgH="533400" progId="Equation.DSMT4">
                  <p:embed/>
                </p:oleObj>
              </mc:Choice>
              <mc:Fallback>
                <p:oleObj name="Equation" r:id="rId4" imgW="26543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24400"/>
                        <a:ext cx="67373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1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300" imgH="215900" progId="Equation.3">
                  <p:embed/>
                </p:oleObj>
              </mc:Choice>
              <mc:Fallback>
                <p:oleObj name="公式" r:id="rId6" imgW="114300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2" name="Object 14"/>
          <p:cNvGraphicFramePr>
            <a:graphicFrameLocks noChangeAspect="1"/>
          </p:cNvGraphicFramePr>
          <p:nvPr/>
        </p:nvGraphicFramePr>
        <p:xfrm>
          <a:off x="450850" y="908050"/>
          <a:ext cx="757713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900" imgH="457200" progId="Equation.DSMT4">
                  <p:embed/>
                </p:oleObj>
              </mc:Choice>
              <mc:Fallback>
                <p:oleObj name="Equation" r:id="rId8" imgW="3771900" imgH="45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908050"/>
                        <a:ext cx="757713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3" name="Text Box 15"/>
          <p:cNvSpPr txBox="1">
            <a:spLocks noChangeArrowheads="1"/>
          </p:cNvSpPr>
          <p:nvPr/>
        </p:nvSpPr>
        <p:spPr bwMode="auto">
          <a:xfrm>
            <a:off x="323850" y="4221163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由前知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的边缘分布密度为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8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6595" name="Object 3"/>
          <p:cNvGraphicFramePr>
            <a:graphicFrameLocks noChangeAspect="1"/>
          </p:cNvGraphicFramePr>
          <p:nvPr/>
        </p:nvGraphicFramePr>
        <p:xfrm>
          <a:off x="1042988" y="3357563"/>
          <a:ext cx="694848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25800" imgH="533400" progId="Equation.3">
                  <p:embed/>
                </p:oleObj>
              </mc:Choice>
              <mc:Fallback>
                <p:oleObj name="公式" r:id="rId2" imgW="32258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57563"/>
                        <a:ext cx="694848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7" name="Object 5"/>
          <p:cNvGraphicFramePr>
            <a:graphicFrameLocks noChangeAspect="1"/>
          </p:cNvGraphicFramePr>
          <p:nvPr/>
        </p:nvGraphicFramePr>
        <p:xfrm>
          <a:off x="1116013" y="1125538"/>
          <a:ext cx="731520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700" imgH="533400" progId="Equation.3">
                  <p:embed/>
                </p:oleObj>
              </mc:Choice>
              <mc:Fallback>
                <p:oleObj name="公式" r:id="rId2" imgW="26797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25538"/>
                        <a:ext cx="731520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2438400" y="4697413"/>
          <a:ext cx="2709863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13765" imgH="215900" progId="Equation.3">
                  <p:embed/>
                </p:oleObj>
              </mc:Choice>
              <mc:Fallback>
                <p:oleObj name="公式" r:id="rId2" imgW="913765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97413"/>
                        <a:ext cx="2709863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0" name="Object 8"/>
          <p:cNvGraphicFramePr>
            <a:graphicFrameLocks noChangeAspect="1"/>
          </p:cNvGraphicFramePr>
          <p:nvPr/>
        </p:nvGraphicFramePr>
        <p:xfrm>
          <a:off x="762000" y="5441950"/>
          <a:ext cx="5511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2200" imgH="215900" progId="Equation.3">
                  <p:embed/>
                </p:oleObj>
              </mc:Choice>
              <mc:Fallback>
                <p:oleObj name="公式" r:id="rId2" imgW="23622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41950"/>
                        <a:ext cx="5511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6606" name="Text Box 14"/>
          <p:cNvSpPr txBox="1">
            <a:spLocks noChangeArrowheads="1"/>
          </p:cNvSpPr>
          <p:nvPr/>
        </p:nvSpPr>
        <p:spPr bwMode="auto">
          <a:xfrm>
            <a:off x="827088" y="404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的边缘分布密度为</a:t>
            </a:r>
          </a:p>
        </p:txBody>
      </p:sp>
      <p:graphicFrame>
        <p:nvGraphicFramePr>
          <p:cNvPr id="366607" name="Object 15"/>
          <p:cNvGraphicFramePr>
            <a:graphicFrameLocks noChangeAspect="1"/>
          </p:cNvGraphicFramePr>
          <p:nvPr/>
        </p:nvGraphicFramePr>
        <p:xfrm>
          <a:off x="684213" y="2708275"/>
          <a:ext cx="38163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69365" imgH="215900" progId="Equation.3">
                  <p:embed/>
                </p:oleObj>
              </mc:Choice>
              <mc:Fallback>
                <p:oleObj name="公式" r:id="rId7" imgW="1269365" imgH="215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38163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2411413" y="1484313"/>
          <a:ext cx="34972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97965" imgH="215900" progId="Equation.3">
                  <p:embed/>
                </p:oleObj>
              </mc:Choice>
              <mc:Fallback>
                <p:oleObj name="公式" r:id="rId2" imgW="1497965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484313"/>
                        <a:ext cx="34972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2" name="Object 6"/>
          <p:cNvGraphicFramePr>
            <a:graphicFrameLocks noChangeAspect="1"/>
          </p:cNvGraphicFramePr>
          <p:nvPr/>
        </p:nvGraphicFramePr>
        <p:xfrm>
          <a:off x="685800" y="3124200"/>
          <a:ext cx="558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300" imgH="203200" progId="Equation.3">
                  <p:embed/>
                </p:oleObj>
              </mc:Choice>
              <mc:Fallback>
                <p:oleObj name="公式" r:id="rId2" imgW="2413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5588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2916238" y="2205038"/>
          <a:ext cx="42973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1500" imgH="215900" progId="Equation.3">
                  <p:embed/>
                </p:oleObj>
              </mc:Choice>
              <mc:Fallback>
                <p:oleObj name="公式" r:id="rId2" imgW="18415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205038"/>
                        <a:ext cx="42973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4" name="Object 8"/>
          <p:cNvGraphicFramePr>
            <a:graphicFrameLocks noChangeAspect="1"/>
          </p:cNvGraphicFramePr>
          <p:nvPr/>
        </p:nvGraphicFramePr>
        <p:xfrm>
          <a:off x="1835150" y="2708275"/>
          <a:ext cx="52451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469900" progId="Equation.3">
                  <p:embed/>
                </p:oleObj>
              </mc:Choice>
              <mc:Fallback>
                <p:oleObj name="Equation" r:id="rId2" imgW="2247900" imgH="46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708275"/>
                        <a:ext cx="5245100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31" name="Object 15"/>
          <p:cNvGraphicFramePr>
            <a:graphicFrameLocks noChangeAspect="1"/>
          </p:cNvGraphicFramePr>
          <p:nvPr/>
        </p:nvGraphicFramePr>
        <p:xfrm>
          <a:off x="3419475" y="4005263"/>
          <a:ext cx="5486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22500" imgH="203200" progId="Equation.3">
                  <p:embed/>
                </p:oleObj>
              </mc:Choice>
              <mc:Fallback>
                <p:oleObj name="公式" r:id="rId2" imgW="2222500" imgH="20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005263"/>
                        <a:ext cx="54864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34" name="Text Box 18"/>
          <p:cNvSpPr txBox="1">
            <a:spLocks noChangeArrowheads="1"/>
          </p:cNvSpPr>
          <p:nvPr/>
        </p:nvSpPr>
        <p:spPr bwMode="auto">
          <a:xfrm>
            <a:off x="250825" y="692150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反之，如时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与</a:t>
            </a: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相互独立，则对任意的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和</a:t>
            </a: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有</a:t>
            </a:r>
          </a:p>
        </p:txBody>
      </p:sp>
      <p:sp>
        <p:nvSpPr>
          <p:cNvPr id="367635" name="Text Box 19"/>
          <p:cNvSpPr txBox="1">
            <a:spLocks noChangeArrowheads="1"/>
          </p:cNvSpPr>
          <p:nvPr/>
        </p:nvSpPr>
        <p:spPr bwMode="auto">
          <a:xfrm>
            <a:off x="539750" y="2133600"/>
            <a:ext cx="215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特别地，有</a:t>
            </a:r>
          </a:p>
        </p:txBody>
      </p:sp>
      <p:graphicFrame>
        <p:nvGraphicFramePr>
          <p:cNvPr id="367636" name="Object 20"/>
          <p:cNvGraphicFramePr>
            <a:graphicFrameLocks noChangeAspect="1"/>
          </p:cNvGraphicFramePr>
          <p:nvPr/>
        </p:nvGraphicFramePr>
        <p:xfrm>
          <a:off x="468313" y="4005263"/>
          <a:ext cx="26638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26465" imgH="215900" progId="Equation.3">
                  <p:embed/>
                </p:oleObj>
              </mc:Choice>
              <mc:Fallback>
                <p:oleObj name="公式" r:id="rId8" imgW="926465" imgH="2159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05263"/>
                        <a:ext cx="26638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37" name="Object 21"/>
          <p:cNvGraphicFramePr>
            <a:graphicFrameLocks noChangeAspect="1"/>
          </p:cNvGraphicFramePr>
          <p:nvPr/>
        </p:nvGraphicFramePr>
        <p:xfrm>
          <a:off x="396875" y="4868863"/>
          <a:ext cx="85105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33800" imgH="457200" progId="Equation.DSMT4">
                  <p:embed/>
                </p:oleObj>
              </mc:Choice>
              <mc:Fallback>
                <p:oleObj name="Equation" r:id="rId10" imgW="37338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4868863"/>
                        <a:ext cx="851058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34" grpId="0" bldLvl="0" animBg="1"/>
      <p:bldP spid="36763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5588" y="622300"/>
            <a:ext cx="3770312" cy="723900"/>
          </a:xfrm>
          <a:noFill/>
          <a:ln w="38100">
            <a:solidFill>
              <a:srgbClr val="FF0000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lang="zh-CN" altLang="en-US" sz="3300">
                <a:solidFill>
                  <a:schemeClr val="tx1"/>
                </a:solidFill>
                <a:ea typeface="楷体_GB2312" pitchFamily="49" charset="-122"/>
              </a:rPr>
              <a:t>注 意 点  </a:t>
            </a:r>
            <a:r>
              <a:rPr lang="en-US" altLang="zh-CN" sz="3300">
                <a:solidFill>
                  <a:schemeClr val="tx1"/>
                </a:solidFill>
                <a:ea typeface="楷体_GB2312" pitchFamily="49" charset="-122"/>
              </a:rPr>
              <a:t>(1)</a:t>
            </a:r>
          </a:p>
        </p:txBody>
      </p:sp>
      <p:sp>
        <p:nvSpPr>
          <p:cNvPr id="601091" name="Text Box 3"/>
          <p:cNvSpPr txBox="1">
            <a:spLocks noChangeArrowheads="1"/>
          </p:cNvSpPr>
          <p:nvPr/>
        </p:nvSpPr>
        <p:spPr bwMode="auto">
          <a:xfrm>
            <a:off x="179388" y="191611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(1)  </a:t>
            </a:r>
            <a:r>
              <a:rPr lang="en-US" altLang="zh-CN" sz="2800" b="1">
                <a:solidFill>
                  <a:srgbClr val="99FF33"/>
                </a:solidFill>
              </a:rPr>
              <a:t> 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服从矩形上的均匀分布，则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01092" name="Text Box 4"/>
          <p:cNvSpPr txBox="1">
            <a:spLocks noChangeArrowheads="1"/>
          </p:cNvSpPr>
          <p:nvPr/>
        </p:nvSpPr>
        <p:spPr bwMode="auto">
          <a:xfrm>
            <a:off x="152400" y="2636838"/>
            <a:ext cx="8991600" cy="98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(2)  </a:t>
            </a:r>
            <a:r>
              <a:rPr lang="en-US" altLang="zh-CN" sz="2800" b="1">
                <a:solidFill>
                  <a:srgbClr val="99FF33"/>
                </a:solidFill>
              </a:rPr>
              <a:t> 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服从单位圆上的均匀分布，则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ea typeface="楷体_GB2312" pitchFamily="49" charset="-122"/>
              </a:rPr>
              <a:t>不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   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u="sng">
                <a:latin typeface="楷体_GB2312" pitchFamily="49" charset="-122"/>
                <a:ea typeface="楷体_GB2312" pitchFamily="49" charset="-122"/>
              </a:rPr>
              <a:t>见前面例子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1093" name="Text Box 5"/>
          <p:cNvSpPr txBox="1">
            <a:spLocks noChangeArrowheads="1"/>
          </p:cNvSpPr>
          <p:nvPr/>
        </p:nvSpPr>
        <p:spPr bwMode="auto">
          <a:xfrm>
            <a:off x="152400" y="3886200"/>
            <a:ext cx="853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(3)   </a:t>
            </a:r>
            <a:r>
              <a:rPr lang="zh-CN" altLang="en-US" sz="2800">
                <a:ea typeface="楷体_GB2312" pitchFamily="49" charset="-122"/>
              </a:rPr>
              <a:t>联合密度 </a:t>
            </a:r>
            <a:r>
              <a:rPr lang="en-US" altLang="zh-CN" sz="2800" i="1">
                <a:ea typeface="楷体_GB2312" pitchFamily="49" charset="-122"/>
              </a:rPr>
              <a:t>f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 </a:t>
            </a:r>
            <a:r>
              <a:rPr lang="zh-CN" altLang="en-US" sz="2800">
                <a:ea typeface="楷体_GB2312" pitchFamily="49" charset="-122"/>
              </a:rPr>
              <a:t>的表达式中，若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的取值与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>
                <a:ea typeface="楷体_GB2312" pitchFamily="49" charset="-122"/>
              </a:rPr>
              <a:t>        取值有关系，则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ea typeface="楷体_GB2312" pitchFamily="49" charset="-122"/>
              </a:rPr>
              <a:t>不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0" grpId="0" bldLvl="0" animBg="1" autoUpdateAnimBg="0"/>
      <p:bldP spid="601091" grpId="0" bldLvl="0" animBg="1" autoUpdateAnimBg="0"/>
      <p:bldP spid="601092" grpId="0" bldLvl="0" animBg="1" autoUpdateAnimBg="0"/>
      <p:bldP spid="601093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noFill/>
          <a:ln w="38100">
            <a:solidFill>
              <a:srgbClr val="FF0000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lang="zh-CN" altLang="en-US" sz="3300">
                <a:solidFill>
                  <a:schemeClr val="tx1"/>
                </a:solidFill>
                <a:ea typeface="楷体_GB2312" pitchFamily="49" charset="-122"/>
              </a:rPr>
              <a:t>注 意 点  </a:t>
            </a:r>
            <a:r>
              <a:rPr lang="en-US" altLang="zh-CN" sz="3300">
                <a:solidFill>
                  <a:schemeClr val="tx1"/>
                </a:solidFill>
                <a:ea typeface="楷体_GB2312" pitchFamily="49" charset="-122"/>
              </a:rPr>
              <a:t>(2)</a:t>
            </a:r>
          </a:p>
        </p:txBody>
      </p:sp>
      <p:sp>
        <p:nvSpPr>
          <p:cNvPr id="603139" name="Text Box 3"/>
          <p:cNvSpPr txBox="1">
            <a:spLocks noChangeArrowheads="1"/>
          </p:cNvSpPr>
          <p:nvPr/>
        </p:nvSpPr>
        <p:spPr bwMode="auto">
          <a:xfrm>
            <a:off x="395288" y="2060575"/>
            <a:ext cx="8153400" cy="150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(4)  </a:t>
            </a:r>
            <a:r>
              <a:rPr lang="zh-CN" altLang="en-US" sz="2800">
                <a:ea typeface="楷体_GB2312" pitchFamily="49" charset="-122"/>
              </a:rPr>
              <a:t>若联合密度 </a:t>
            </a:r>
            <a:r>
              <a:rPr lang="en-US" altLang="zh-CN" sz="2800" i="1">
                <a:ea typeface="楷体_GB2312" pitchFamily="49" charset="-122"/>
              </a:rPr>
              <a:t>f(x,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可分离变量，即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f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= </a:t>
            </a:r>
            <a:r>
              <a:rPr lang="en-US" altLang="zh-CN" sz="2800" i="1">
                <a:ea typeface="楷体_GB2312" pitchFamily="49" charset="-122"/>
              </a:rPr>
              <a:t>g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)</a:t>
            </a:r>
            <a:r>
              <a:rPr lang="en-US" altLang="zh-CN" sz="2800" i="1">
                <a:ea typeface="楷体_GB2312" pitchFamily="49" charset="-122"/>
              </a:rPr>
              <a:t>h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>
                <a:ea typeface="楷体_GB2312" pitchFamily="49" charset="-122"/>
              </a:rPr>
              <a:t>       </a:t>
            </a:r>
            <a:r>
              <a:rPr lang="zh-CN" altLang="en-US" sz="2800">
                <a:ea typeface="楷体_GB2312" pitchFamily="49" charset="-122"/>
              </a:rPr>
              <a:t>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独立。</a:t>
            </a: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468313" y="3860800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(5)  </a:t>
            </a:r>
            <a:r>
              <a:rPr lang="zh-CN" altLang="en-US" sz="2800">
                <a:ea typeface="楷体_GB2312" pitchFamily="49" charset="-122"/>
              </a:rPr>
              <a:t>若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服从二元正态 </a:t>
            </a:r>
          </a:p>
        </p:txBody>
      </p:sp>
      <p:graphicFrame>
        <p:nvGraphicFramePr>
          <p:cNvPr id="437266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4859338" y="3860800"/>
          <a:ext cx="41052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600" imgH="163830" progId="Equation.DSMT4">
                  <p:embed/>
                </p:oleObj>
              </mc:Choice>
              <mc:Fallback>
                <p:oleObj name="Equation" r:id="rId3" imgW="1752600" imgH="163830" progId="Equation.DSMT4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860800"/>
                        <a:ext cx="41052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3144" name="Text Box 8"/>
          <p:cNvSpPr txBox="1">
            <a:spLocks noChangeArrowheads="1"/>
          </p:cNvSpPr>
          <p:nvPr/>
        </p:nvSpPr>
        <p:spPr bwMode="auto">
          <a:xfrm>
            <a:off x="1187450" y="4581525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楷体_GB2312" pitchFamily="49" charset="-122"/>
              </a:rPr>
              <a:t>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独立的充要条件是 </a:t>
            </a:r>
            <a:r>
              <a:rPr lang="zh-CN" altLang="en-US" sz="2800" i="1">
                <a:ea typeface="楷体_GB2312" pitchFamily="49" charset="-122"/>
                <a:sym typeface="Symbol" panose="05050102010706020507" pitchFamily="18" charset="2"/>
              </a:rPr>
              <a:t> </a:t>
            </a:r>
            <a:r>
              <a:rPr lang="en-US" altLang="zh-CN" sz="2800">
                <a:ea typeface="楷体_GB2312" pitchFamily="49" charset="-122"/>
                <a:sym typeface="Symbol" panose="05050102010706020507" pitchFamily="18" charset="2"/>
              </a:rPr>
              <a:t>= 0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8" grpId="0" bldLvl="0" animBg="1" autoUpdateAnimBg="0"/>
      <p:bldP spid="603139" grpId="0" bldLvl="0" animBg="1" autoUpdateAnimBg="0"/>
      <p:bldP spid="603140" grpId="0" bldLvl="0" animBg="1" autoUpdateAnimBg="0"/>
      <p:bldP spid="603144" grpId="0" build="allAtOnce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8229600" cy="2952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/>
              <a:t>离散型随机变量的条件分布</a:t>
            </a:r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/>
            <a:r>
              <a:rPr lang="zh-CN" altLang="en-US"/>
              <a:t>连续型随机变量的条件分布</a:t>
            </a:r>
          </a:p>
        </p:txBody>
      </p:sp>
      <p:sp>
        <p:nvSpPr>
          <p:cNvPr id="73731" name="Text Box 4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7772400" cy="1143000"/>
          </a:xfrm>
          <a:noFill/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/>
              <a:t>第五节  条件分布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ChangeArrowheads="1"/>
          </p:cNvSpPr>
          <p:nvPr/>
        </p:nvSpPr>
        <p:spPr bwMode="auto">
          <a:xfrm>
            <a:off x="685800" y="620713"/>
            <a:ext cx="679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在第一章中，我们介绍了条件概率的概念 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467971" name="Object 3"/>
          <p:cNvGraphicFramePr>
            <a:graphicFrameLocks noChangeAspect="1"/>
          </p:cNvGraphicFramePr>
          <p:nvPr/>
        </p:nvGraphicFramePr>
        <p:xfrm>
          <a:off x="2279650" y="1916113"/>
          <a:ext cx="3138488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14425" imgH="346710" progId="Equation.3">
                  <p:embed/>
                </p:oleObj>
              </mc:Choice>
              <mc:Fallback>
                <p:oleObj name="公式" r:id="rId2" imgW="1114425" imgH="346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916113"/>
                        <a:ext cx="3138488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677863" y="127793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在事件</a:t>
            </a:r>
            <a:r>
              <a:rPr lang="en-US" altLang="zh-CN" sz="2800" b="1" i="1"/>
              <a:t>B</a:t>
            </a:r>
            <a:r>
              <a:rPr lang="zh-CN" altLang="en-US" sz="2800" b="1"/>
              <a:t>发生的条件下事件</a:t>
            </a:r>
            <a:r>
              <a:rPr lang="en-US" altLang="zh-CN" sz="2800" b="1" i="1"/>
              <a:t>A</a:t>
            </a:r>
            <a:r>
              <a:rPr lang="zh-CN" altLang="en-US" sz="2800" b="1"/>
              <a:t>发生的条件概率</a:t>
            </a:r>
          </a:p>
        </p:txBody>
      </p:sp>
      <p:sp>
        <p:nvSpPr>
          <p:cNvPr id="467973" name="AutoShape 5"/>
          <p:cNvSpPr>
            <a:spLocks noChangeArrowheads="1"/>
          </p:cNvSpPr>
          <p:nvPr/>
        </p:nvSpPr>
        <p:spPr bwMode="auto">
          <a:xfrm>
            <a:off x="3581400" y="2906713"/>
            <a:ext cx="304800" cy="990600"/>
          </a:xfrm>
          <a:prstGeom prst="downArrow">
            <a:avLst>
              <a:gd name="adj1" fmla="val 50000"/>
              <a:gd name="adj2" fmla="val 8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7974" name="Rectangle 6"/>
          <p:cNvSpPr>
            <a:spLocks noChangeArrowheads="1"/>
          </p:cNvSpPr>
          <p:nvPr/>
        </p:nvSpPr>
        <p:spPr bwMode="auto">
          <a:xfrm>
            <a:off x="3962400" y="3416300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推广到随机变量</a:t>
            </a:r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457200" y="4202113"/>
            <a:ext cx="7924800" cy="1073150"/>
          </a:xfrm>
          <a:prstGeom prst="rect">
            <a:avLst/>
          </a:prstGeom>
          <a:solidFill>
            <a:srgbClr val="FFFF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设有两个</a:t>
            </a:r>
            <a:r>
              <a:rPr lang="en-US" altLang="zh-CN" sz="2800" b="1" i="1"/>
              <a:t>r.v X</a:t>
            </a:r>
            <a:r>
              <a:rPr lang="en-US" altLang="zh-CN" sz="2800" b="1"/>
              <a:t>,</a:t>
            </a:r>
            <a:r>
              <a:rPr lang="en-US" altLang="zh-CN" sz="2800" b="1" i="1"/>
              <a:t>Y </a:t>
            </a:r>
            <a:r>
              <a:rPr lang="zh-CN" altLang="en-US" sz="2800" b="1"/>
              <a:t>， 在给定</a:t>
            </a:r>
            <a:r>
              <a:rPr lang="en-US" altLang="zh-CN" sz="2800" b="1" i="1"/>
              <a:t>Y</a:t>
            </a:r>
            <a:r>
              <a:rPr lang="zh-CN" altLang="en-US" sz="2800" b="1"/>
              <a:t>取某个或某些值的条件下，求</a:t>
            </a:r>
            <a:r>
              <a:rPr lang="en-US" altLang="zh-CN" sz="2800" b="1" i="1"/>
              <a:t>X</a:t>
            </a:r>
            <a:r>
              <a:rPr lang="zh-CN" altLang="en-US" sz="2800" b="1"/>
              <a:t>的概率分布</a:t>
            </a:r>
            <a:r>
              <a:rPr lang="en-US" altLang="zh-CN" sz="2800" b="1"/>
              <a:t>.</a:t>
            </a:r>
          </a:p>
        </p:txBody>
      </p:sp>
      <p:sp>
        <p:nvSpPr>
          <p:cNvPr id="467976" name="Rectangle 8"/>
          <p:cNvSpPr>
            <a:spLocks noChangeArrowheads="1"/>
          </p:cNvSpPr>
          <p:nvPr/>
        </p:nvSpPr>
        <p:spPr bwMode="auto">
          <a:xfrm>
            <a:off x="1181100" y="5621338"/>
            <a:ext cx="384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这个分布就是条件分布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6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6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0" grpId="0" bldLvl="0" animBg="1" autoUpdateAnimBg="0"/>
      <p:bldP spid="467972" grpId="0" bldLvl="0" animBg="1" autoUpdateAnimBg="0"/>
      <p:bldP spid="467973" grpId="0" bldLvl="0" animBg="1"/>
      <p:bldP spid="467974" grpId="0" bldLvl="0" animBg="1" autoUpdateAnimBg="0"/>
      <p:bldP spid="467975" grpId="0" bldLvl="0" animBg="1" autoUpdateAnimBg="0"/>
      <p:bldP spid="467976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533400" y="334963"/>
            <a:ext cx="68468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一、离散型随机变量的条件分布</a:t>
            </a:r>
          </a:p>
        </p:txBody>
      </p:sp>
      <p:sp>
        <p:nvSpPr>
          <p:cNvPr id="468995" name="Rectangle 3"/>
          <p:cNvSpPr>
            <a:spLocks noChangeArrowheads="1"/>
          </p:cNvSpPr>
          <p:nvPr/>
        </p:nvSpPr>
        <p:spPr bwMode="auto">
          <a:xfrm>
            <a:off x="457200" y="10668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</a:t>
            </a:r>
            <a:r>
              <a:rPr lang="zh-CN" altLang="en-US" sz="2800" b="1"/>
              <a:t>实际上是第一章讲过的条件概率概念在另一种形式下的重复</a:t>
            </a:r>
            <a:r>
              <a:rPr lang="en-US" altLang="zh-CN" sz="2800" b="1"/>
              <a:t>.</a:t>
            </a: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463550" y="2133600"/>
            <a:ext cx="7924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>
                <a:solidFill>
                  <a:schemeClr val="accent2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en-US" altLang="zh-CN" sz="2800" b="1"/>
              <a:t>    </a:t>
            </a:r>
            <a:r>
              <a:rPr lang="zh-CN" altLang="en-US" sz="2800" b="1"/>
              <a:t>设 </a:t>
            </a:r>
            <a:r>
              <a:rPr lang="en-US" altLang="zh-CN" sz="2800" b="1"/>
              <a:t>( 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 </a:t>
            </a:r>
            <a:r>
              <a:rPr lang="en-US" altLang="zh-CN" sz="2800" b="1"/>
              <a:t>) </a:t>
            </a:r>
            <a:r>
              <a:rPr lang="zh-CN" altLang="en-US" sz="2800" b="1"/>
              <a:t>是二维离散型随机变量，对于固定的 </a:t>
            </a:r>
            <a:r>
              <a:rPr lang="en-US" altLang="zh-CN" sz="2800" b="1" i="1"/>
              <a:t>j</a:t>
            </a:r>
            <a:r>
              <a:rPr lang="zh-CN" altLang="en-US" sz="2800" b="1"/>
              <a:t>，若 </a:t>
            </a:r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Y </a:t>
            </a:r>
            <a:r>
              <a:rPr lang="en-US" altLang="zh-CN" sz="2800" b="1"/>
              <a:t>= </a:t>
            </a:r>
            <a:r>
              <a:rPr lang="en-US" altLang="zh-CN" sz="2800" b="1" i="1"/>
              <a:t>y</a:t>
            </a:r>
            <a:r>
              <a:rPr lang="en-US" altLang="zh-CN" sz="2800" b="1" i="1" baseline="-25000"/>
              <a:t>j </a:t>
            </a:r>
            <a:r>
              <a:rPr lang="en-US" altLang="zh-CN" sz="2800" b="1"/>
              <a:t>} &gt; 0</a:t>
            </a:r>
            <a:r>
              <a:rPr lang="zh-CN" altLang="en-US" sz="2800" b="1"/>
              <a:t>，则称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452438" y="4508500"/>
            <a:ext cx="7143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为</a:t>
            </a:r>
            <a:r>
              <a:rPr lang="zh-CN" altLang="en-US" sz="2800" b="1">
                <a:solidFill>
                  <a:schemeClr val="accent2"/>
                </a:solidFill>
              </a:rPr>
              <a:t>在 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en-US" altLang="zh-CN" sz="2800" b="1">
                <a:solidFill>
                  <a:schemeClr val="accent2"/>
                </a:solidFill>
              </a:rPr>
              <a:t>= 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j</a:t>
            </a:r>
            <a:r>
              <a:rPr lang="zh-CN" altLang="en-US" sz="2800" b="1">
                <a:solidFill>
                  <a:schemeClr val="accent2"/>
                </a:solidFill>
              </a:rPr>
              <a:t>条件下随机变量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的条件分布律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533400" y="3489325"/>
            <a:ext cx="2589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P{</a:t>
            </a:r>
            <a:r>
              <a:rPr lang="en-US" altLang="zh-CN" sz="2800" b="1" i="1"/>
              <a:t>X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 </a:t>
            </a:r>
            <a:r>
              <a:rPr lang="en-US" altLang="zh-CN" sz="2800" b="1"/>
              <a:t>|</a:t>
            </a:r>
            <a:r>
              <a:rPr lang="en-US" altLang="zh-CN" sz="2800" b="1" i="1"/>
              <a:t>Y</a:t>
            </a:r>
            <a:r>
              <a:rPr lang="en-US" altLang="zh-CN" sz="2800" b="1"/>
              <a:t>= </a:t>
            </a:r>
            <a:r>
              <a:rPr lang="en-US" altLang="zh-CN" sz="2800" b="1" i="1"/>
              <a:t>y</a:t>
            </a:r>
            <a:r>
              <a:rPr lang="en-US" altLang="zh-CN" sz="2800" b="1" i="1" baseline="-25000"/>
              <a:t>j </a:t>
            </a:r>
            <a:r>
              <a:rPr lang="en-US" altLang="zh-CN" sz="2800" b="1"/>
              <a:t>}=</a:t>
            </a:r>
          </a:p>
        </p:txBody>
      </p:sp>
      <p:graphicFrame>
        <p:nvGraphicFramePr>
          <p:cNvPr id="468999" name="Object 7"/>
          <p:cNvGraphicFramePr>
            <a:graphicFrameLocks noChangeAspect="1"/>
          </p:cNvGraphicFramePr>
          <p:nvPr/>
        </p:nvGraphicFramePr>
        <p:xfrm>
          <a:off x="5795963" y="3213100"/>
          <a:ext cx="10191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4325" imgH="394335" progId="Equation.3">
                  <p:embed/>
                </p:oleObj>
              </mc:Choice>
              <mc:Fallback>
                <p:oleObj name="公式" r:id="rId2" imgW="314325" imgH="3943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213100"/>
                        <a:ext cx="10191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9000" name="Rectangle 8"/>
          <p:cNvSpPr>
            <a:spLocks noChangeArrowheads="1"/>
          </p:cNvSpPr>
          <p:nvPr/>
        </p:nvSpPr>
        <p:spPr bwMode="auto">
          <a:xfrm>
            <a:off x="6804025" y="3517900"/>
            <a:ext cx="2052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，</a:t>
            </a:r>
            <a:r>
              <a:rPr lang="en-US" altLang="zh-CN" sz="3200" b="1" i="1"/>
              <a:t>i</a:t>
            </a:r>
            <a:r>
              <a:rPr lang="en-US" altLang="zh-CN" sz="3200" b="1"/>
              <a:t>=1,2, …</a:t>
            </a:r>
          </a:p>
        </p:txBody>
      </p:sp>
      <p:sp>
        <p:nvSpPr>
          <p:cNvPr id="469001" name="AutoShape 9"/>
          <p:cNvSpPr>
            <a:spLocks noChangeArrowheads="1"/>
          </p:cNvSpPr>
          <p:nvPr/>
        </p:nvSpPr>
        <p:spPr bwMode="auto">
          <a:xfrm>
            <a:off x="1981200" y="1066800"/>
            <a:ext cx="4606925" cy="1008063"/>
          </a:xfrm>
          <a:prstGeom prst="wedgeRectCallout">
            <a:avLst>
              <a:gd name="adj1" fmla="val -21708"/>
              <a:gd name="adj2" fmla="val 49370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800" b="1"/>
          </a:p>
          <a:p>
            <a:pPr algn="ctr" eaLnBrk="1" hangingPunct="1"/>
            <a:r>
              <a:rPr lang="zh-CN" altLang="en-US" sz="2800" b="1"/>
              <a:t>类似定义在 </a:t>
            </a:r>
            <a:r>
              <a:rPr lang="en-US" altLang="zh-CN" sz="2800" b="1" i="1"/>
              <a:t>X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 </a:t>
            </a:r>
            <a:r>
              <a:rPr lang="zh-CN" altLang="en-US" sz="2800" b="1"/>
              <a:t>条件下</a:t>
            </a:r>
          </a:p>
          <a:p>
            <a:pPr algn="ctr" eaLnBrk="1" hangingPunct="1"/>
            <a:r>
              <a:rPr lang="zh-CN" altLang="en-US" sz="2800" b="1"/>
              <a:t>随机变量</a:t>
            </a:r>
            <a:r>
              <a:rPr lang="en-US" altLang="zh-CN" sz="2800" b="1" i="1"/>
              <a:t>Y </a:t>
            </a:r>
            <a:r>
              <a:rPr lang="zh-CN" altLang="en-US" sz="2800" b="1"/>
              <a:t>的条件分布律</a:t>
            </a:r>
            <a:r>
              <a:rPr lang="en-US" altLang="zh-CN" sz="2800" b="1"/>
              <a:t>.</a:t>
            </a:r>
          </a:p>
          <a:p>
            <a:pPr algn="ctr" eaLnBrk="1" hangingPunct="1"/>
            <a:endParaRPr lang="en-US" altLang="zh-CN"/>
          </a:p>
        </p:txBody>
      </p:sp>
      <p:graphicFrame>
        <p:nvGraphicFramePr>
          <p:cNvPr id="469002" name="Object 10"/>
          <p:cNvGraphicFramePr>
            <a:graphicFrameLocks noChangeAspect="1"/>
          </p:cNvGraphicFramePr>
          <p:nvPr/>
        </p:nvGraphicFramePr>
        <p:xfrm>
          <a:off x="3059113" y="3141663"/>
          <a:ext cx="27940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4625" imgH="1164590" progId="Equation.DSMT4">
                  <p:embed/>
                </p:oleObj>
              </mc:Choice>
              <mc:Fallback>
                <p:oleObj name="Equation" r:id="rId4" imgW="2714625" imgH="116459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141663"/>
                        <a:ext cx="279400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9003" name="Group 11"/>
          <p:cNvGrpSpPr/>
          <p:nvPr/>
        </p:nvGrpSpPr>
        <p:grpSpPr bwMode="auto">
          <a:xfrm>
            <a:off x="828675" y="5084763"/>
            <a:ext cx="6911975" cy="1512887"/>
            <a:chOff x="522" y="3203"/>
            <a:chExt cx="4354" cy="953"/>
          </a:xfrm>
        </p:grpSpPr>
        <p:sp>
          <p:nvSpPr>
            <p:cNvPr id="75788" name="AutoShape 12"/>
            <p:cNvSpPr>
              <a:spLocks noChangeArrowheads="1"/>
            </p:cNvSpPr>
            <p:nvPr/>
          </p:nvSpPr>
          <p:spPr bwMode="auto">
            <a:xfrm>
              <a:off x="612" y="3294"/>
              <a:ext cx="4173" cy="726"/>
            </a:xfrm>
            <a:prstGeom prst="wedgeRectCallout">
              <a:avLst>
                <a:gd name="adj1" fmla="val -48181"/>
                <a:gd name="adj2" fmla="val -147106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0000">
                      <a:alpha val="5098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sz="2800" b="1"/>
            </a:p>
            <a:p>
              <a:pPr eaLnBrk="1" hangingPunct="1"/>
              <a:r>
                <a:rPr lang="en-US" altLang="zh-CN" sz="2800" b="1"/>
                <a:t>     </a:t>
              </a:r>
              <a:r>
                <a:rPr lang="zh-CN" altLang="en-US" sz="2800" b="1"/>
                <a:t>作为条件的那个</a:t>
              </a:r>
              <a:r>
                <a:rPr lang="en-US" altLang="zh-CN" sz="2800" b="1" i="1"/>
                <a:t>r.v</a:t>
              </a:r>
              <a:r>
                <a:rPr lang="en-US" altLang="zh-CN" sz="2800" b="1"/>
                <a:t>,</a:t>
              </a:r>
              <a:r>
                <a:rPr lang="zh-CN" altLang="en-US" sz="2800" b="1"/>
                <a:t>认为取值是给定的，</a:t>
              </a:r>
            </a:p>
            <a:p>
              <a:pPr eaLnBrk="1" hangingPunct="1"/>
              <a:r>
                <a:rPr lang="zh-CN" altLang="en-US" sz="2800" b="1"/>
                <a:t>在此条件下求另一</a:t>
              </a:r>
              <a:r>
                <a:rPr lang="en-US" altLang="zh-CN" sz="2800" b="1" i="1"/>
                <a:t>r.v</a:t>
              </a:r>
              <a:r>
                <a:rPr lang="zh-CN" altLang="zh-CN" sz="2800" b="1"/>
                <a:t>的概率分布</a:t>
              </a:r>
              <a:r>
                <a:rPr lang="en-US" altLang="zh-CN" sz="2800" b="1"/>
                <a:t>.</a:t>
              </a:r>
            </a:p>
            <a:p>
              <a:pPr eaLnBrk="1" hangingPunct="1"/>
              <a:endParaRPr lang="en-US" altLang="zh-CN"/>
            </a:p>
          </p:txBody>
        </p:sp>
        <p:sp>
          <p:nvSpPr>
            <p:cNvPr id="75789" name="Oval 13"/>
            <p:cNvSpPr>
              <a:spLocks noChangeArrowheads="1"/>
            </p:cNvSpPr>
            <p:nvPr/>
          </p:nvSpPr>
          <p:spPr bwMode="auto">
            <a:xfrm>
              <a:off x="522" y="3203"/>
              <a:ext cx="4354" cy="9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5" grpId="0" bldLvl="0" animBg="1" autoUpdateAnimBg="0"/>
      <p:bldP spid="468996" grpId="0" bldLvl="0" animBg="1" autoUpdateAnimBg="0"/>
      <p:bldP spid="468997" grpId="0" bldLvl="0" animBg="1" autoUpdateAnimBg="0"/>
      <p:bldP spid="468998" grpId="0" bldLvl="0" animBg="1" autoUpdateAnimBg="0"/>
      <p:bldP spid="469000" grpId="0" bldLvl="0" animBg="1" autoUpdateAnimBg="0"/>
      <p:bldP spid="469001" grpId="0" bldLvl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ChangeArrowheads="1"/>
          </p:cNvSpPr>
          <p:nvPr/>
        </p:nvSpPr>
        <p:spPr bwMode="auto">
          <a:xfrm>
            <a:off x="468313" y="1098550"/>
            <a:ext cx="80772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条件分布是一种概率分布，它具有概率分布的一切性质</a:t>
            </a:r>
            <a:r>
              <a:rPr lang="en-US" altLang="zh-CN" sz="2800" b="1"/>
              <a:t>.   </a:t>
            </a:r>
            <a:r>
              <a:rPr lang="zh-CN" altLang="en-US" sz="2800" b="1"/>
              <a:t>正如条件概率是一种概率，具有概率的一切性质</a:t>
            </a:r>
            <a:r>
              <a:rPr lang="en-US" altLang="zh-CN" sz="2800" b="1"/>
              <a:t>.</a:t>
            </a:r>
          </a:p>
        </p:txBody>
      </p:sp>
      <p:sp>
        <p:nvSpPr>
          <p:cNvPr id="470019" name="Rectangle 3"/>
          <p:cNvSpPr>
            <a:spLocks noChangeArrowheads="1"/>
          </p:cNvSpPr>
          <p:nvPr/>
        </p:nvSpPr>
        <p:spPr bwMode="auto">
          <a:xfrm>
            <a:off x="544513" y="3055938"/>
            <a:ext cx="125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例如：</a:t>
            </a:r>
          </a:p>
        </p:txBody>
      </p:sp>
      <p:sp>
        <p:nvSpPr>
          <p:cNvPr id="470020" name="Rectangle 4"/>
          <p:cNvSpPr>
            <a:spLocks noChangeArrowheads="1"/>
          </p:cNvSpPr>
          <p:nvPr/>
        </p:nvSpPr>
        <p:spPr bwMode="auto">
          <a:xfrm>
            <a:off x="5680075" y="3643313"/>
            <a:ext cx="1646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i</a:t>
            </a:r>
            <a:r>
              <a:rPr lang="en-US" altLang="zh-CN" sz="3200" b="1">
                <a:solidFill>
                  <a:schemeClr val="accent2"/>
                </a:solidFill>
              </a:rPr>
              <a:t>=1,2, …</a:t>
            </a:r>
          </a:p>
        </p:txBody>
      </p:sp>
      <p:graphicFrame>
        <p:nvGraphicFramePr>
          <p:cNvPr id="470021" name="Object 5"/>
          <p:cNvGraphicFramePr>
            <a:graphicFrameLocks noChangeAspect="1"/>
          </p:cNvGraphicFramePr>
          <p:nvPr/>
        </p:nvGraphicFramePr>
        <p:xfrm>
          <a:off x="2044700" y="3649663"/>
          <a:ext cx="3429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800" imgH="548640" progId="Equation.DSMT4">
                  <p:embed/>
                </p:oleObj>
              </mc:Choice>
              <mc:Fallback>
                <p:oleObj name="Equation" r:id="rId2" imgW="3352800" imgH="548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649663"/>
                        <a:ext cx="3429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2" name="Object 6"/>
          <p:cNvGraphicFramePr>
            <a:graphicFrameLocks noChangeAspect="1"/>
          </p:cNvGraphicFramePr>
          <p:nvPr/>
        </p:nvGraphicFramePr>
        <p:xfrm>
          <a:off x="1973263" y="4492625"/>
          <a:ext cx="3835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62375" imgH="885825" progId="Equation.DSMT4">
                  <p:embed/>
                </p:oleObj>
              </mc:Choice>
              <mc:Fallback>
                <p:oleObj name="Equation" r:id="rId2" imgW="3762375" imgH="88582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4492625"/>
                        <a:ext cx="3835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18" grpId="0" bldLvl="0" animBg="1" autoUpdateAnimBg="0"/>
      <p:bldP spid="470019" grpId="0" bldLvl="0" animBg="1" autoUpdateAnimBg="0"/>
      <p:bldP spid="470020" grpId="0" bldLvl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ChangeArrowheads="1"/>
          </p:cNvSpPr>
          <p:nvPr/>
        </p:nvSpPr>
        <p:spPr bwMode="auto">
          <a:xfrm>
            <a:off x="457200" y="2971800"/>
            <a:ext cx="80645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</a:t>
            </a:r>
            <a:r>
              <a:rPr lang="zh-CN" altLang="en-US" b="1"/>
              <a:t>解    依题意，</a:t>
            </a:r>
            <a:r>
              <a:rPr lang="en-US" altLang="zh-CN" b="1"/>
              <a:t>{</a:t>
            </a:r>
            <a:r>
              <a:rPr lang="en-US" altLang="zh-CN" b="1" i="1"/>
              <a:t>Y</a:t>
            </a:r>
            <a:r>
              <a:rPr lang="en-US" altLang="zh-CN" b="1"/>
              <a:t>=</a:t>
            </a:r>
            <a:r>
              <a:rPr lang="en-US" altLang="zh-CN" b="1" i="1"/>
              <a:t>n</a:t>
            </a:r>
            <a:r>
              <a:rPr lang="en-US" altLang="zh-CN" b="1"/>
              <a:t>} </a:t>
            </a:r>
            <a:r>
              <a:rPr lang="zh-CN" altLang="en-US" b="1"/>
              <a:t>表示在第</a:t>
            </a:r>
            <a:r>
              <a:rPr lang="en-US" altLang="zh-CN" b="1" i="1"/>
              <a:t>n</a:t>
            </a:r>
            <a:r>
              <a:rPr lang="zh-CN" altLang="en-US" b="1"/>
              <a:t>次射击时击中目</a:t>
            </a:r>
          </a:p>
          <a:p>
            <a:pPr eaLnBrk="1" hangingPunct="1"/>
            <a:r>
              <a:rPr lang="zh-CN" altLang="en-US" b="1"/>
              <a:t>标 </a:t>
            </a:r>
            <a:r>
              <a:rPr lang="en-US" altLang="zh-CN" b="1"/>
              <a:t>, </a:t>
            </a:r>
            <a:r>
              <a:rPr lang="zh-CN" altLang="en-US" b="1"/>
              <a:t>且在前</a:t>
            </a:r>
            <a:r>
              <a:rPr lang="en-US" altLang="zh-CN" b="1" i="1"/>
              <a:t>n</a:t>
            </a:r>
            <a:r>
              <a:rPr lang="en-US" altLang="zh-CN" b="1"/>
              <a:t>-1</a:t>
            </a:r>
            <a:r>
              <a:rPr lang="zh-CN" altLang="en-US" b="1"/>
              <a:t>次射击中有一次击中目标</a:t>
            </a:r>
            <a:r>
              <a:rPr lang="en-US" altLang="zh-CN" b="1"/>
              <a:t>.  </a:t>
            </a:r>
          </a:p>
        </p:txBody>
      </p:sp>
      <p:sp>
        <p:nvSpPr>
          <p:cNvPr id="471043" name="Rectangle 3"/>
          <p:cNvSpPr>
            <a:spLocks noChangeArrowheads="1"/>
          </p:cNvSpPr>
          <p:nvPr/>
        </p:nvSpPr>
        <p:spPr bwMode="auto">
          <a:xfrm>
            <a:off x="406400" y="3873500"/>
            <a:ext cx="4659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首次击中目标时射击了</a:t>
            </a:r>
            <a:r>
              <a:rPr lang="en-US" altLang="zh-CN" b="1" i="1"/>
              <a:t>m</a:t>
            </a:r>
            <a:r>
              <a:rPr lang="zh-CN" altLang="en-US" b="1"/>
              <a:t>次 </a:t>
            </a:r>
            <a:r>
              <a:rPr lang="en-US" altLang="zh-CN" b="1"/>
              <a:t>.</a:t>
            </a:r>
          </a:p>
        </p:txBody>
      </p:sp>
      <p:grpSp>
        <p:nvGrpSpPr>
          <p:cNvPr id="471044" name="Group 4"/>
          <p:cNvGrpSpPr/>
          <p:nvPr/>
        </p:nvGrpSpPr>
        <p:grpSpPr bwMode="auto">
          <a:xfrm>
            <a:off x="990600" y="4343400"/>
            <a:ext cx="6400800" cy="1874838"/>
            <a:chOff x="144" y="2736"/>
            <a:chExt cx="3216" cy="1134"/>
          </a:xfrm>
        </p:grpSpPr>
        <p:sp>
          <p:nvSpPr>
            <p:cNvPr id="77835" name="Rectangle 5"/>
            <p:cNvSpPr>
              <a:spLocks noChangeArrowheads="1"/>
            </p:cNvSpPr>
            <p:nvPr/>
          </p:nvSpPr>
          <p:spPr bwMode="auto">
            <a:xfrm>
              <a:off x="144" y="3459"/>
              <a:ext cx="632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宋体" panose="02010600030101010101" pitchFamily="2" charset="-122"/>
                </a:rPr>
                <a:t>n</a:t>
              </a:r>
              <a:r>
                <a:rPr lang="zh-CN" altLang="en-US" b="1">
                  <a:latin typeface="宋体" panose="02010600030101010101" pitchFamily="2" charset="-122"/>
                </a:rPr>
                <a:t>次射击</a:t>
              </a:r>
            </a:p>
          </p:txBody>
        </p:sp>
        <p:grpSp>
          <p:nvGrpSpPr>
            <p:cNvPr id="77836" name="Group 6"/>
            <p:cNvGrpSpPr/>
            <p:nvPr/>
          </p:nvGrpSpPr>
          <p:grpSpPr bwMode="auto">
            <a:xfrm>
              <a:off x="2898" y="3081"/>
              <a:ext cx="401" cy="789"/>
              <a:chOff x="2688" y="3216"/>
              <a:chExt cx="401" cy="789"/>
            </a:xfrm>
          </p:grpSpPr>
          <p:sp>
            <p:nvSpPr>
              <p:cNvPr id="77851" name="AutoShape 7"/>
              <p:cNvSpPr>
                <a:spLocks noChangeArrowheads="1"/>
              </p:cNvSpPr>
              <p:nvPr/>
            </p:nvSpPr>
            <p:spPr bwMode="auto">
              <a:xfrm>
                <a:off x="2910" y="3216"/>
                <a:ext cx="48" cy="528"/>
              </a:xfrm>
              <a:prstGeom prst="upArrow">
                <a:avLst>
                  <a:gd name="adj1" fmla="val 50000"/>
                  <a:gd name="adj2" fmla="val 275000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7852" name="Rectangle 8"/>
              <p:cNvSpPr>
                <a:spLocks noChangeArrowheads="1"/>
              </p:cNvSpPr>
              <p:nvPr/>
            </p:nvSpPr>
            <p:spPr bwMode="auto">
              <a:xfrm>
                <a:off x="2688" y="3729"/>
                <a:ext cx="401" cy="2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/>
                  <a:t>击中</a:t>
                </a:r>
              </a:p>
            </p:txBody>
          </p:sp>
        </p:grpSp>
        <p:sp>
          <p:nvSpPr>
            <p:cNvPr id="77837" name="Rectangle 9"/>
            <p:cNvSpPr>
              <a:spLocks noChangeArrowheads="1"/>
            </p:cNvSpPr>
            <p:nvPr/>
          </p:nvSpPr>
          <p:spPr bwMode="auto">
            <a:xfrm>
              <a:off x="432" y="2832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38" name="Rectangle 10"/>
            <p:cNvSpPr>
              <a:spLocks noChangeArrowheads="1"/>
            </p:cNvSpPr>
            <p:nvPr/>
          </p:nvSpPr>
          <p:spPr bwMode="auto">
            <a:xfrm>
              <a:off x="768" y="2832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39" name="Rectangle 11"/>
            <p:cNvSpPr>
              <a:spLocks noChangeArrowheads="1"/>
            </p:cNvSpPr>
            <p:nvPr/>
          </p:nvSpPr>
          <p:spPr bwMode="auto">
            <a:xfrm>
              <a:off x="3024" y="2832"/>
              <a:ext cx="33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40" name="Rectangle 12"/>
            <p:cNvSpPr>
              <a:spLocks noChangeArrowheads="1"/>
            </p:cNvSpPr>
            <p:nvPr/>
          </p:nvSpPr>
          <p:spPr bwMode="auto">
            <a:xfrm>
              <a:off x="780" y="2784"/>
              <a:ext cx="18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2</a:t>
              </a:r>
              <a:endParaRPr lang="en-US" altLang="zh-CN" sz="3200" b="1"/>
            </a:p>
          </p:txBody>
        </p:sp>
        <p:sp>
          <p:nvSpPr>
            <p:cNvPr id="77841" name="Rectangle 13"/>
            <p:cNvSpPr>
              <a:spLocks noChangeArrowheads="1"/>
            </p:cNvSpPr>
            <p:nvPr/>
          </p:nvSpPr>
          <p:spPr bwMode="auto">
            <a:xfrm>
              <a:off x="3036" y="2784"/>
              <a:ext cx="19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n</a:t>
              </a:r>
            </a:p>
          </p:txBody>
        </p:sp>
        <p:sp>
          <p:nvSpPr>
            <p:cNvPr id="77842" name="Rectangle 14"/>
            <p:cNvSpPr>
              <a:spLocks noChangeArrowheads="1"/>
            </p:cNvSpPr>
            <p:nvPr/>
          </p:nvSpPr>
          <p:spPr bwMode="auto">
            <a:xfrm>
              <a:off x="2592" y="2832"/>
              <a:ext cx="38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43" name="Rectangle 15"/>
            <p:cNvSpPr>
              <a:spLocks noChangeArrowheads="1"/>
            </p:cNvSpPr>
            <p:nvPr/>
          </p:nvSpPr>
          <p:spPr bwMode="auto">
            <a:xfrm>
              <a:off x="2596" y="2784"/>
              <a:ext cx="386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n- </a:t>
              </a:r>
              <a:r>
                <a:rPr lang="en-US" altLang="zh-CN" sz="2800" b="1"/>
                <a:t>1</a:t>
              </a:r>
              <a:endParaRPr lang="en-US" altLang="zh-CN" sz="2800" b="1" i="1"/>
            </a:p>
          </p:txBody>
        </p:sp>
        <p:sp>
          <p:nvSpPr>
            <p:cNvPr id="77844" name="Rectangle 16"/>
            <p:cNvSpPr>
              <a:spLocks noChangeArrowheads="1"/>
            </p:cNvSpPr>
            <p:nvPr/>
          </p:nvSpPr>
          <p:spPr bwMode="auto">
            <a:xfrm>
              <a:off x="480" y="2785"/>
              <a:ext cx="18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1</a:t>
              </a:r>
              <a:endParaRPr lang="en-US" altLang="zh-CN" sz="3200" b="1"/>
            </a:p>
          </p:txBody>
        </p:sp>
        <p:sp>
          <p:nvSpPr>
            <p:cNvPr id="77845" name="Text Box 17"/>
            <p:cNvSpPr txBox="1">
              <a:spLocks noChangeArrowheads="1"/>
            </p:cNvSpPr>
            <p:nvPr/>
          </p:nvSpPr>
          <p:spPr bwMode="auto">
            <a:xfrm>
              <a:off x="1056" y="2736"/>
              <a:ext cx="172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……………….</a:t>
              </a:r>
              <a:endParaRPr lang="en-US" altLang="zh-CN" sz="2800"/>
            </a:p>
          </p:txBody>
        </p:sp>
        <p:sp>
          <p:nvSpPr>
            <p:cNvPr id="77846" name="Rectangle 18"/>
            <p:cNvSpPr>
              <a:spLocks noChangeArrowheads="1"/>
            </p:cNvSpPr>
            <p:nvPr/>
          </p:nvSpPr>
          <p:spPr bwMode="auto">
            <a:xfrm>
              <a:off x="1344" y="2832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47" name="Rectangle 19"/>
            <p:cNvSpPr>
              <a:spLocks noChangeArrowheads="1"/>
            </p:cNvSpPr>
            <p:nvPr/>
          </p:nvSpPr>
          <p:spPr bwMode="auto">
            <a:xfrm>
              <a:off x="1344" y="2784"/>
              <a:ext cx="23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m</a:t>
              </a:r>
              <a:endParaRPr lang="en-US" altLang="zh-CN" sz="3200" b="1"/>
            </a:p>
          </p:txBody>
        </p:sp>
        <p:grpSp>
          <p:nvGrpSpPr>
            <p:cNvPr id="77848" name="Group 20"/>
            <p:cNvGrpSpPr/>
            <p:nvPr/>
          </p:nvGrpSpPr>
          <p:grpSpPr bwMode="auto">
            <a:xfrm>
              <a:off x="1218" y="3072"/>
              <a:ext cx="401" cy="790"/>
              <a:chOff x="2688" y="3216"/>
              <a:chExt cx="401" cy="790"/>
            </a:xfrm>
          </p:grpSpPr>
          <p:sp>
            <p:nvSpPr>
              <p:cNvPr id="77849" name="AutoShape 21"/>
              <p:cNvSpPr>
                <a:spLocks noChangeArrowheads="1"/>
              </p:cNvSpPr>
              <p:nvPr/>
            </p:nvSpPr>
            <p:spPr bwMode="auto">
              <a:xfrm>
                <a:off x="2910" y="3216"/>
                <a:ext cx="48" cy="528"/>
              </a:xfrm>
              <a:prstGeom prst="upArrow">
                <a:avLst>
                  <a:gd name="adj1" fmla="val 50000"/>
                  <a:gd name="adj2" fmla="val 275000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7850" name="Rectangle 22"/>
              <p:cNvSpPr>
                <a:spLocks noChangeArrowheads="1"/>
              </p:cNvSpPr>
              <p:nvPr/>
            </p:nvSpPr>
            <p:spPr bwMode="auto">
              <a:xfrm>
                <a:off x="2688" y="3729"/>
                <a:ext cx="401" cy="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/>
                  <a:t>击中</a:t>
                </a:r>
              </a:p>
            </p:txBody>
          </p:sp>
        </p:grpSp>
      </p:grpSp>
      <p:grpSp>
        <p:nvGrpSpPr>
          <p:cNvPr id="77829" name="Group 23"/>
          <p:cNvGrpSpPr/>
          <p:nvPr/>
        </p:nvGrpSpPr>
        <p:grpSpPr bwMode="auto">
          <a:xfrm>
            <a:off x="381000" y="609600"/>
            <a:ext cx="8280400" cy="2232025"/>
            <a:chOff x="340" y="297"/>
            <a:chExt cx="5216" cy="1406"/>
          </a:xfrm>
        </p:grpSpPr>
        <p:sp>
          <p:nvSpPr>
            <p:cNvPr id="77831" name="Rectangle 24"/>
            <p:cNvSpPr>
              <a:spLocks noChangeArrowheads="1"/>
            </p:cNvSpPr>
            <p:nvPr/>
          </p:nvSpPr>
          <p:spPr bwMode="auto">
            <a:xfrm>
              <a:off x="340" y="300"/>
              <a:ext cx="5216" cy="1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    </a:t>
              </a:r>
              <a:r>
                <a:rPr lang="zh-CN" altLang="en-US" sz="2800" b="1"/>
                <a:t>例 </a:t>
              </a:r>
              <a:r>
                <a:rPr lang="en-US" altLang="zh-CN" sz="2800" b="1"/>
                <a:t>2</a:t>
              </a:r>
              <a:r>
                <a:rPr lang="zh-CN" altLang="en-US" sz="2800" b="1"/>
                <a:t>一射手进行射击，击中目标的概率</a:t>
              </a:r>
            </a:p>
            <a:p>
              <a:pPr eaLnBrk="1" hangingPunct="1"/>
              <a:r>
                <a:rPr lang="zh-CN" altLang="en-US" sz="2800" b="1"/>
                <a:t>               射击进行到第二次击中目标为止</a:t>
              </a:r>
              <a:r>
                <a:rPr lang="en-US" altLang="zh-CN" sz="2800" b="1"/>
                <a:t>. </a:t>
              </a:r>
              <a:r>
                <a:rPr lang="zh-CN" altLang="en-US" sz="2800" b="1"/>
                <a:t>以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 </a:t>
              </a:r>
              <a:r>
                <a:rPr lang="zh-CN" altLang="en-US" sz="2800" b="1">
                  <a:solidFill>
                    <a:schemeClr val="accent2"/>
                  </a:solidFill>
                </a:rPr>
                <a:t>表示首次击中目标所进行的射击次数</a:t>
              </a:r>
              <a:r>
                <a:rPr lang="zh-CN" altLang="en-US" sz="2800" b="1"/>
                <a:t>，以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Y </a:t>
              </a:r>
              <a:r>
                <a:rPr lang="zh-CN" altLang="en-US" sz="2800" b="1">
                  <a:solidFill>
                    <a:schemeClr val="accent2"/>
                  </a:solidFill>
                </a:rPr>
                <a:t>表示第二次击中目标时所进行的的射击次数 </a:t>
              </a:r>
              <a:r>
                <a:rPr lang="en-US" altLang="zh-CN" sz="2800" b="1"/>
                <a:t>. </a:t>
              </a:r>
              <a:r>
                <a:rPr lang="zh-CN" altLang="en-US" sz="2800" b="1"/>
                <a:t>试求 </a:t>
              </a:r>
              <a:r>
                <a:rPr lang="en-US" altLang="zh-CN" sz="2800" b="1" i="1"/>
                <a:t>X </a:t>
              </a:r>
              <a:r>
                <a:rPr lang="zh-CN" altLang="en-US" sz="2800" b="1"/>
                <a:t>和 </a:t>
              </a:r>
              <a:r>
                <a:rPr lang="en-US" altLang="zh-CN" sz="2800" b="1" i="1"/>
                <a:t>Y </a:t>
              </a:r>
              <a:r>
                <a:rPr lang="zh-CN" altLang="en-US" sz="2800" b="1"/>
                <a:t>的联合分布及条件分布</a:t>
              </a:r>
              <a:r>
                <a:rPr lang="en-US" altLang="zh-CN" sz="2800" b="1"/>
                <a:t>.</a:t>
              </a:r>
            </a:p>
          </p:txBody>
        </p:sp>
        <p:graphicFrame>
          <p:nvGraphicFramePr>
            <p:cNvPr id="77832" name="Object 25"/>
            <p:cNvGraphicFramePr>
              <a:graphicFrameLocks noChangeAspect="1"/>
            </p:cNvGraphicFramePr>
            <p:nvPr/>
          </p:nvGraphicFramePr>
          <p:xfrm>
            <a:off x="431" y="620"/>
            <a:ext cx="6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62025" imgH="423545" progId="Equation.DSMT4">
                    <p:embed/>
                  </p:oleObj>
                </mc:Choice>
                <mc:Fallback>
                  <p:oleObj name="Equation" r:id="rId2" imgW="962025" imgH="423545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620"/>
                          <a:ext cx="6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3" name="Object 26"/>
            <p:cNvGraphicFramePr>
              <a:graphicFrameLocks noChangeAspect="1"/>
            </p:cNvGraphicFramePr>
            <p:nvPr/>
          </p:nvGraphicFramePr>
          <p:xfrm>
            <a:off x="4649" y="387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500" imgH="240665" progId="Equation.DSMT4">
                    <p:embed/>
                  </p:oleObj>
                </mc:Choice>
                <mc:Fallback>
                  <p:oleObj name="Equation" r:id="rId2" imgW="190500" imgH="240665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387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4" name="Object 27"/>
            <p:cNvGraphicFramePr>
              <a:graphicFrameLocks noChangeAspect="1"/>
            </p:cNvGraphicFramePr>
            <p:nvPr/>
          </p:nvGraphicFramePr>
          <p:xfrm>
            <a:off x="4830" y="297"/>
            <a:ext cx="60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76300" imgH="423545" progId="Equation.DSMT4">
                    <p:embed/>
                  </p:oleObj>
                </mc:Choice>
                <mc:Fallback>
                  <p:oleObj name="Equation" r:id="rId2" imgW="876300" imgH="423545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297"/>
                          <a:ext cx="60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068" name="Rectangle 28"/>
          <p:cNvSpPr>
            <a:spLocks noChangeArrowheads="1"/>
          </p:cNvSpPr>
          <p:nvPr/>
        </p:nvSpPr>
        <p:spPr bwMode="auto">
          <a:xfrm>
            <a:off x="5943600" y="3352800"/>
            <a:ext cx="1420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{</a:t>
            </a:r>
            <a:r>
              <a:rPr lang="en-US" altLang="zh-CN" b="1" i="1"/>
              <a:t>X</a:t>
            </a:r>
            <a:r>
              <a:rPr lang="en-US" altLang="zh-CN" b="1"/>
              <a:t>=</a:t>
            </a:r>
            <a:r>
              <a:rPr lang="en-US" altLang="zh-CN" b="1" i="1"/>
              <a:t>m</a:t>
            </a:r>
            <a:r>
              <a:rPr lang="en-US" altLang="zh-CN" b="1"/>
              <a:t>} </a:t>
            </a:r>
            <a:r>
              <a:rPr lang="zh-CN" altLang="en-US" b="1"/>
              <a:t>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2" grpId="0" bldLvl="0" animBg="1" autoUpdateAnimBg="0"/>
      <p:bldP spid="471043" grpId="0" bldLvl="0" animBg="1" autoUpdateAnimBg="0"/>
      <p:bldP spid="471068" grpId="0" bldLvl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ChangeArrowheads="1"/>
          </p:cNvSpPr>
          <p:nvPr/>
        </p:nvSpPr>
        <p:spPr bwMode="auto">
          <a:xfrm>
            <a:off x="1189038" y="5521325"/>
            <a:ext cx="5184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 ( </a:t>
            </a:r>
            <a:r>
              <a:rPr lang="en-US" altLang="zh-CN" sz="3200" b="1" i="1"/>
              <a:t>n</a:t>
            </a:r>
            <a:r>
              <a:rPr lang="en-US" altLang="zh-CN" sz="3200" b="1"/>
              <a:t>=2,3, …; </a:t>
            </a:r>
            <a:r>
              <a:rPr lang="en-US" altLang="zh-CN" sz="3200" b="1" i="1"/>
              <a:t>m</a:t>
            </a:r>
            <a:r>
              <a:rPr lang="en-US" altLang="zh-CN" sz="3200" b="1"/>
              <a:t>=1,2, …, </a:t>
            </a:r>
            <a:r>
              <a:rPr lang="en-US" altLang="zh-CN" sz="3200" b="1" i="1"/>
              <a:t>n</a:t>
            </a:r>
            <a:r>
              <a:rPr lang="en-US" altLang="zh-CN" sz="3200" b="1"/>
              <a:t>-1)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72067" name="Rectangle 3"/>
          <p:cNvSpPr>
            <a:spLocks noChangeArrowheads="1"/>
          </p:cNvSpPr>
          <p:nvPr/>
        </p:nvSpPr>
        <p:spPr bwMode="auto">
          <a:xfrm>
            <a:off x="1117600" y="4324350"/>
            <a:ext cx="4567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由此得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zh-CN" altLang="en-US" sz="2800" b="1"/>
              <a:t>的联合分布律为</a:t>
            </a:r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533400" y="2743200"/>
            <a:ext cx="8153400" cy="10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</a:t>
            </a:r>
            <a:r>
              <a:rPr lang="zh-CN" altLang="en-US" b="1"/>
              <a:t>由射击的独立性知，不论</a:t>
            </a:r>
            <a:r>
              <a:rPr lang="en-US" altLang="zh-CN" b="1" i="1"/>
              <a:t>m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&lt;</a:t>
            </a:r>
            <a:r>
              <a:rPr lang="en-US" altLang="zh-CN" b="1" i="1"/>
              <a:t>n</a:t>
            </a:r>
            <a:r>
              <a:rPr lang="en-US" altLang="zh-CN" b="1"/>
              <a:t>)</a:t>
            </a:r>
            <a:r>
              <a:rPr lang="zh-CN" altLang="en-US" b="1"/>
              <a:t>是多少，</a:t>
            </a:r>
            <a:r>
              <a:rPr lang="en-US" altLang="zh-CN" b="1" i="1"/>
              <a:t>P</a:t>
            </a:r>
            <a:r>
              <a:rPr lang="en-US" altLang="zh-CN" b="1"/>
              <a:t>{</a:t>
            </a:r>
            <a:r>
              <a:rPr lang="en-US" altLang="zh-CN" b="1" i="1"/>
              <a:t>X</a:t>
            </a:r>
            <a:r>
              <a:rPr lang="en-US" altLang="zh-CN" b="1"/>
              <a:t>=</a:t>
            </a:r>
            <a:r>
              <a:rPr lang="en-US" altLang="zh-CN" b="1" i="1"/>
              <a:t>m</a:t>
            </a:r>
            <a:r>
              <a:rPr lang="en-US" altLang="zh-CN" b="1"/>
              <a:t>,</a:t>
            </a:r>
            <a:r>
              <a:rPr lang="en-US" altLang="zh-CN" b="1" i="1"/>
              <a:t>Y</a:t>
            </a:r>
            <a:r>
              <a:rPr lang="en-US" altLang="zh-CN" b="1"/>
              <a:t>=</a:t>
            </a:r>
            <a:r>
              <a:rPr lang="en-US" altLang="zh-CN" b="1" i="1"/>
              <a:t>n</a:t>
            </a:r>
            <a:r>
              <a:rPr lang="en-US" altLang="zh-CN" b="1"/>
              <a:t>}</a:t>
            </a:r>
            <a:r>
              <a:rPr lang="zh-CN" altLang="en-US" b="1"/>
              <a:t>都应等于</a:t>
            </a:r>
          </a:p>
        </p:txBody>
      </p:sp>
      <p:grpSp>
        <p:nvGrpSpPr>
          <p:cNvPr id="78853" name="Group 5"/>
          <p:cNvGrpSpPr/>
          <p:nvPr/>
        </p:nvGrpSpPr>
        <p:grpSpPr bwMode="auto">
          <a:xfrm>
            <a:off x="685800" y="0"/>
            <a:ext cx="5270500" cy="1828800"/>
            <a:chOff x="144" y="2736"/>
            <a:chExt cx="3320" cy="1152"/>
          </a:xfrm>
        </p:grpSpPr>
        <p:sp>
          <p:nvSpPr>
            <p:cNvPr id="78858" name="Rectangle 6"/>
            <p:cNvSpPr>
              <a:spLocks noChangeArrowheads="1"/>
            </p:cNvSpPr>
            <p:nvPr/>
          </p:nvSpPr>
          <p:spPr bwMode="auto">
            <a:xfrm>
              <a:off x="144" y="3408"/>
              <a:ext cx="9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/>
                <a:t>n</a:t>
              </a:r>
              <a:r>
                <a:rPr lang="zh-CN" altLang="en-US" sz="2800" b="1"/>
                <a:t>次射击</a:t>
              </a:r>
            </a:p>
          </p:txBody>
        </p:sp>
        <p:grpSp>
          <p:nvGrpSpPr>
            <p:cNvPr id="78859" name="Group 7"/>
            <p:cNvGrpSpPr/>
            <p:nvPr/>
          </p:nvGrpSpPr>
          <p:grpSpPr bwMode="auto">
            <a:xfrm>
              <a:off x="2898" y="3081"/>
              <a:ext cx="566" cy="807"/>
              <a:chOff x="2688" y="3216"/>
              <a:chExt cx="566" cy="807"/>
            </a:xfrm>
          </p:grpSpPr>
          <p:sp>
            <p:nvSpPr>
              <p:cNvPr id="78874" name="AutoShape 8"/>
              <p:cNvSpPr>
                <a:spLocks noChangeArrowheads="1"/>
              </p:cNvSpPr>
              <p:nvPr/>
            </p:nvSpPr>
            <p:spPr bwMode="auto">
              <a:xfrm>
                <a:off x="2910" y="3216"/>
                <a:ext cx="48" cy="528"/>
              </a:xfrm>
              <a:prstGeom prst="upArrow">
                <a:avLst>
                  <a:gd name="adj1" fmla="val 50000"/>
                  <a:gd name="adj2" fmla="val 27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8875" name="Rectangle 9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击中</a:t>
                </a:r>
                <a:endParaRPr lang="zh-CN" altLang="en-US" sz="3200" b="1"/>
              </a:p>
            </p:txBody>
          </p:sp>
        </p:grpSp>
        <p:sp>
          <p:nvSpPr>
            <p:cNvPr id="78860" name="Rectangle 10"/>
            <p:cNvSpPr>
              <a:spLocks noChangeArrowheads="1"/>
            </p:cNvSpPr>
            <p:nvPr/>
          </p:nvSpPr>
          <p:spPr bwMode="auto">
            <a:xfrm>
              <a:off x="432" y="2832"/>
              <a:ext cx="288" cy="24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1" name="Rectangle 11"/>
            <p:cNvSpPr>
              <a:spLocks noChangeArrowheads="1"/>
            </p:cNvSpPr>
            <p:nvPr/>
          </p:nvSpPr>
          <p:spPr bwMode="auto">
            <a:xfrm>
              <a:off x="768" y="2832"/>
              <a:ext cx="288" cy="24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2" name="Rectangle 12"/>
            <p:cNvSpPr>
              <a:spLocks noChangeArrowheads="1"/>
            </p:cNvSpPr>
            <p:nvPr/>
          </p:nvSpPr>
          <p:spPr bwMode="auto">
            <a:xfrm>
              <a:off x="3024" y="2832"/>
              <a:ext cx="336" cy="24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3" name="Rectangle 13"/>
            <p:cNvSpPr>
              <a:spLocks noChangeArrowheads="1"/>
            </p:cNvSpPr>
            <p:nvPr/>
          </p:nvSpPr>
          <p:spPr bwMode="auto">
            <a:xfrm>
              <a:off x="780" y="278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EF"/>
                  </a:solidFill>
                </a:rPr>
                <a:t>2</a:t>
              </a:r>
            </a:p>
          </p:txBody>
        </p:sp>
        <p:sp>
          <p:nvSpPr>
            <p:cNvPr id="78864" name="Rectangle 14"/>
            <p:cNvSpPr>
              <a:spLocks noChangeArrowheads="1"/>
            </p:cNvSpPr>
            <p:nvPr/>
          </p:nvSpPr>
          <p:spPr bwMode="auto">
            <a:xfrm>
              <a:off x="3036" y="2784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EF"/>
                  </a:solidFill>
                </a:rPr>
                <a:t>n</a:t>
              </a:r>
            </a:p>
          </p:txBody>
        </p:sp>
        <p:sp>
          <p:nvSpPr>
            <p:cNvPr id="78865" name="Rectangle 15"/>
            <p:cNvSpPr>
              <a:spLocks noChangeArrowheads="1"/>
            </p:cNvSpPr>
            <p:nvPr/>
          </p:nvSpPr>
          <p:spPr bwMode="auto">
            <a:xfrm>
              <a:off x="2592" y="2832"/>
              <a:ext cx="384" cy="24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6" name="Rectangle 16"/>
            <p:cNvSpPr>
              <a:spLocks noChangeArrowheads="1"/>
            </p:cNvSpPr>
            <p:nvPr/>
          </p:nvSpPr>
          <p:spPr bwMode="auto">
            <a:xfrm>
              <a:off x="2596" y="2784"/>
              <a:ext cx="4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EF"/>
                  </a:solidFill>
                </a:rPr>
                <a:t>n-</a:t>
              </a:r>
              <a:r>
                <a:rPr lang="en-US" altLang="zh-CN" sz="2800" b="1">
                  <a:solidFill>
                    <a:srgbClr val="FFFFEF"/>
                  </a:solidFill>
                </a:rPr>
                <a:t>1</a:t>
              </a:r>
              <a:endParaRPr lang="en-US" altLang="zh-CN" sz="2800" b="1" i="1">
                <a:solidFill>
                  <a:srgbClr val="FFFFEF"/>
                </a:solidFill>
              </a:endParaRPr>
            </a:p>
          </p:txBody>
        </p:sp>
        <p:sp>
          <p:nvSpPr>
            <p:cNvPr id="78867" name="Rectangle 17"/>
            <p:cNvSpPr>
              <a:spLocks noChangeArrowheads="1"/>
            </p:cNvSpPr>
            <p:nvPr/>
          </p:nvSpPr>
          <p:spPr bwMode="auto">
            <a:xfrm>
              <a:off x="480" y="278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EF"/>
                  </a:solidFill>
                </a:rPr>
                <a:t>1</a:t>
              </a:r>
            </a:p>
          </p:txBody>
        </p:sp>
        <p:sp>
          <p:nvSpPr>
            <p:cNvPr id="78868" name="Text Box 18"/>
            <p:cNvSpPr txBox="1">
              <a:spLocks noChangeArrowheads="1"/>
            </p:cNvSpPr>
            <p:nvPr/>
          </p:nvSpPr>
          <p:spPr bwMode="auto">
            <a:xfrm>
              <a:off x="1056" y="2736"/>
              <a:ext cx="17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……………….</a:t>
              </a:r>
              <a:endParaRPr lang="en-US" altLang="zh-CN" sz="2800"/>
            </a:p>
          </p:txBody>
        </p:sp>
        <p:sp>
          <p:nvSpPr>
            <p:cNvPr id="78869" name="Rectangle 19"/>
            <p:cNvSpPr>
              <a:spLocks noChangeArrowheads="1"/>
            </p:cNvSpPr>
            <p:nvPr/>
          </p:nvSpPr>
          <p:spPr bwMode="auto">
            <a:xfrm>
              <a:off x="1344" y="2832"/>
              <a:ext cx="288" cy="24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70" name="Rectangle 20"/>
            <p:cNvSpPr>
              <a:spLocks noChangeArrowheads="1"/>
            </p:cNvSpPr>
            <p:nvPr/>
          </p:nvSpPr>
          <p:spPr bwMode="auto">
            <a:xfrm>
              <a:off x="1344" y="2784"/>
              <a:ext cx="2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EF"/>
                  </a:solidFill>
                </a:rPr>
                <a:t>m</a:t>
              </a:r>
            </a:p>
          </p:txBody>
        </p:sp>
        <p:grpSp>
          <p:nvGrpSpPr>
            <p:cNvPr id="78871" name="Group 21"/>
            <p:cNvGrpSpPr/>
            <p:nvPr/>
          </p:nvGrpSpPr>
          <p:grpSpPr bwMode="auto">
            <a:xfrm>
              <a:off x="1218" y="3072"/>
              <a:ext cx="566" cy="807"/>
              <a:chOff x="2688" y="3216"/>
              <a:chExt cx="566" cy="807"/>
            </a:xfrm>
          </p:grpSpPr>
          <p:sp>
            <p:nvSpPr>
              <p:cNvPr id="78872" name="AutoShape 22"/>
              <p:cNvSpPr>
                <a:spLocks noChangeArrowheads="1"/>
              </p:cNvSpPr>
              <p:nvPr/>
            </p:nvSpPr>
            <p:spPr bwMode="auto">
              <a:xfrm>
                <a:off x="2910" y="3216"/>
                <a:ext cx="48" cy="528"/>
              </a:xfrm>
              <a:prstGeom prst="upArrow">
                <a:avLst>
                  <a:gd name="adj1" fmla="val 50000"/>
                  <a:gd name="adj2" fmla="val 27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8873" name="Rectangle 23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击中</a:t>
                </a:r>
                <a:endParaRPr lang="zh-CN" altLang="en-US" sz="3200" b="1"/>
              </a:p>
            </p:txBody>
          </p:sp>
        </p:grpSp>
      </p:grpSp>
      <p:sp>
        <p:nvSpPr>
          <p:cNvPr id="472088" name="Rectangle 24"/>
          <p:cNvSpPr>
            <a:spLocks noChangeArrowheads="1"/>
          </p:cNvSpPr>
          <p:nvPr/>
        </p:nvSpPr>
        <p:spPr bwMode="auto">
          <a:xfrm>
            <a:off x="762000" y="2057400"/>
            <a:ext cx="4022725" cy="519113"/>
          </a:xfrm>
          <a:prstGeom prst="rect">
            <a:avLst/>
          </a:prstGeom>
          <a:solidFill>
            <a:srgbClr val="FFFF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每次击中目标的概率为 </a:t>
            </a:r>
            <a:r>
              <a:rPr lang="en-US" altLang="zh-CN" sz="2800" b="1" i="1"/>
              <a:t>p</a:t>
            </a:r>
            <a:endParaRPr lang="en-US" altLang="zh-CN" sz="3200" b="1" i="1"/>
          </a:p>
        </p:txBody>
      </p:sp>
      <p:sp>
        <p:nvSpPr>
          <p:cNvPr id="472089" name="Rectangle 25"/>
          <p:cNvSpPr>
            <a:spLocks noChangeArrowheads="1"/>
          </p:cNvSpPr>
          <p:nvPr/>
        </p:nvSpPr>
        <p:spPr bwMode="auto">
          <a:xfrm>
            <a:off x="5334000" y="2057400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m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n</a:t>
            </a:r>
            <a:r>
              <a:rPr lang="en-US" altLang="zh-CN" sz="2800" b="1"/>
              <a:t>}=</a:t>
            </a:r>
            <a:r>
              <a:rPr lang="zh-CN" altLang="en-US" sz="2800" b="1"/>
              <a:t>？</a:t>
            </a:r>
          </a:p>
        </p:txBody>
      </p:sp>
      <p:graphicFrame>
        <p:nvGraphicFramePr>
          <p:cNvPr id="472090" name="Object 26"/>
          <p:cNvGraphicFramePr>
            <a:graphicFrameLocks noChangeAspect="1"/>
          </p:cNvGraphicFramePr>
          <p:nvPr/>
        </p:nvGraphicFramePr>
        <p:xfrm>
          <a:off x="1828800" y="3657600"/>
          <a:ext cx="4724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48200" imgH="500380" progId="Equation.DSMT4">
                  <p:embed/>
                </p:oleObj>
              </mc:Choice>
              <mc:Fallback>
                <p:oleObj name="Equation" r:id="rId2" imgW="4648200" imgH="5003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657600"/>
                        <a:ext cx="4724400" cy="5715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1" name="Object 27"/>
          <p:cNvGraphicFramePr>
            <a:graphicFrameLocks noChangeAspect="1"/>
          </p:cNvGraphicFramePr>
          <p:nvPr/>
        </p:nvGraphicFramePr>
        <p:xfrm>
          <a:off x="1981200" y="4953000"/>
          <a:ext cx="4724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48200" imgH="500380" progId="Equation.DSMT4">
                  <p:embed/>
                </p:oleObj>
              </mc:Choice>
              <mc:Fallback>
                <p:oleObj name="Equation" r:id="rId2" imgW="4648200" imgH="5003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953000"/>
                        <a:ext cx="4724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6" grpId="0" bldLvl="0" animBg="1" autoUpdateAnimBg="0"/>
      <p:bldP spid="472067" grpId="0" bldLvl="0" animBg="1" autoUpdateAnimBg="0"/>
      <p:bldP spid="472068" grpId="0" bldLvl="0" animBg="1" autoUpdateAnimBg="0"/>
      <p:bldP spid="472088" grpId="0" bldLvl="0" animBg="1" autoUpdateAnimBg="0"/>
      <p:bldP spid="472089" grpId="0" bldLvl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ChangeArrowheads="1"/>
          </p:cNvSpPr>
          <p:nvPr/>
        </p:nvSpPr>
        <p:spPr bwMode="auto">
          <a:xfrm>
            <a:off x="304800" y="381000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</a:t>
            </a:r>
            <a:r>
              <a:rPr lang="zh-CN" altLang="en-US" sz="2800" b="1"/>
              <a:t>为求条件分布，先求边缘分布</a:t>
            </a:r>
            <a:r>
              <a:rPr lang="en-US" altLang="zh-CN" sz="2800" b="1"/>
              <a:t>.</a:t>
            </a:r>
          </a:p>
        </p:txBody>
      </p:sp>
      <p:sp>
        <p:nvSpPr>
          <p:cNvPr id="473091" name="Rectangle 3"/>
          <p:cNvSpPr>
            <a:spLocks noChangeArrowheads="1"/>
          </p:cNvSpPr>
          <p:nvPr/>
        </p:nvSpPr>
        <p:spPr bwMode="auto">
          <a:xfrm>
            <a:off x="838200" y="1028700"/>
            <a:ext cx="3278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X</a:t>
            </a:r>
            <a:r>
              <a:rPr lang="zh-CN" altLang="zh-CN" sz="2800" b="1"/>
              <a:t>的</a:t>
            </a:r>
            <a:r>
              <a:rPr lang="zh-CN" altLang="en-US" sz="2800" b="1"/>
              <a:t>边缘分布律是：</a:t>
            </a:r>
          </a:p>
        </p:txBody>
      </p:sp>
      <p:sp>
        <p:nvSpPr>
          <p:cNvPr id="473092" name="Rectangle 4"/>
          <p:cNvSpPr>
            <a:spLocks noChangeArrowheads="1"/>
          </p:cNvSpPr>
          <p:nvPr/>
        </p:nvSpPr>
        <p:spPr bwMode="auto">
          <a:xfrm>
            <a:off x="3059113" y="5473700"/>
            <a:ext cx="2665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tx2"/>
                </a:solidFill>
              </a:rPr>
              <a:t>( </a:t>
            </a:r>
            <a:r>
              <a:rPr lang="en-US" altLang="zh-CN" sz="3200" b="1" i="1">
                <a:solidFill>
                  <a:schemeClr val="tx2"/>
                </a:solidFill>
              </a:rPr>
              <a:t>m</a:t>
            </a:r>
            <a:r>
              <a:rPr lang="en-US" altLang="zh-CN" sz="3200" b="1">
                <a:solidFill>
                  <a:schemeClr val="tx2"/>
                </a:solidFill>
              </a:rPr>
              <a:t>=1,2, … )</a:t>
            </a:r>
          </a:p>
        </p:txBody>
      </p:sp>
      <p:graphicFrame>
        <p:nvGraphicFramePr>
          <p:cNvPr id="473093" name="Object 5"/>
          <p:cNvGraphicFramePr>
            <a:graphicFrameLocks noChangeAspect="1"/>
          </p:cNvGraphicFramePr>
          <p:nvPr/>
        </p:nvGraphicFramePr>
        <p:xfrm>
          <a:off x="1009650" y="2938463"/>
          <a:ext cx="338455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7275" imgH="356235" progId="Equation.3">
                  <p:embed/>
                </p:oleObj>
              </mc:Choice>
              <mc:Fallback>
                <p:oleObj name="公式" r:id="rId2" imgW="1057275" imgH="3562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2938463"/>
                        <a:ext cx="338455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4" name="Object 6"/>
          <p:cNvGraphicFramePr>
            <a:graphicFrameLocks noChangeAspect="1"/>
          </p:cNvGraphicFramePr>
          <p:nvPr/>
        </p:nvGraphicFramePr>
        <p:xfrm>
          <a:off x="4283075" y="3008313"/>
          <a:ext cx="338455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7275" imgH="356235" progId="Equation.3">
                  <p:embed/>
                </p:oleObj>
              </mc:Choice>
              <mc:Fallback>
                <p:oleObj name="公式" r:id="rId2" imgW="1057275" imgH="3562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3008313"/>
                        <a:ext cx="338455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5" name="Object 7"/>
          <p:cNvGraphicFramePr>
            <a:graphicFrameLocks noChangeAspect="1"/>
          </p:cNvGraphicFramePr>
          <p:nvPr/>
        </p:nvGraphicFramePr>
        <p:xfrm>
          <a:off x="989013" y="4151313"/>
          <a:ext cx="315595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81075" imgH="375285" progId="Equation.3">
                  <p:embed/>
                </p:oleObj>
              </mc:Choice>
              <mc:Fallback>
                <p:oleObj name="公式" r:id="rId2" imgW="981075" imgH="3752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4151313"/>
                        <a:ext cx="3155950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6" name="Object 8"/>
          <p:cNvGraphicFramePr>
            <a:graphicFrameLocks noChangeAspect="1"/>
          </p:cNvGraphicFramePr>
          <p:nvPr/>
        </p:nvGraphicFramePr>
        <p:xfrm>
          <a:off x="4057650" y="4500563"/>
          <a:ext cx="24717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52475" imgH="154305" progId="Equation.3">
                  <p:embed/>
                </p:oleObj>
              </mc:Choice>
              <mc:Fallback>
                <p:oleObj name="公式" r:id="rId2" imgW="752475" imgH="15430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4500563"/>
                        <a:ext cx="24717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7" name="Object 9"/>
          <p:cNvGraphicFramePr>
            <a:graphicFrameLocks noChangeAspect="1"/>
          </p:cNvGraphicFramePr>
          <p:nvPr/>
        </p:nvGraphicFramePr>
        <p:xfrm>
          <a:off x="1377950" y="1836738"/>
          <a:ext cx="5207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33975" imgH="885825" progId="Equation.DSMT4">
                  <p:embed/>
                </p:oleObj>
              </mc:Choice>
              <mc:Fallback>
                <p:oleObj name="Equation" r:id="rId2" imgW="5133975" imgH="88582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836738"/>
                        <a:ext cx="5207000" cy="9525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0" grpId="0" bldLvl="0" animBg="1" autoUpdateAnimBg="0"/>
      <p:bldP spid="473091" grpId="0" bldLvl="0" animBg="1" autoUpdateAnimBg="0"/>
      <p:bldP spid="473092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ChangeArrowheads="1"/>
          </p:cNvSpPr>
          <p:nvPr/>
        </p:nvSpPr>
        <p:spPr bwMode="auto">
          <a:xfrm>
            <a:off x="742950" y="476250"/>
            <a:ext cx="3259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Y</a:t>
            </a:r>
            <a:r>
              <a:rPr lang="zh-CN" altLang="zh-CN" sz="2800" b="1"/>
              <a:t>的</a:t>
            </a:r>
            <a:r>
              <a:rPr lang="zh-CN" altLang="en-US" sz="2800" b="1"/>
              <a:t>边缘分布律是：</a:t>
            </a:r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auto">
          <a:xfrm>
            <a:off x="4687888" y="4848225"/>
            <a:ext cx="2808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tx2"/>
                </a:solidFill>
              </a:rPr>
              <a:t>( </a:t>
            </a:r>
            <a:r>
              <a:rPr lang="en-US" altLang="zh-CN" sz="3200" b="1" i="1">
                <a:solidFill>
                  <a:schemeClr val="tx2"/>
                </a:solidFill>
              </a:rPr>
              <a:t>n </a:t>
            </a:r>
            <a:r>
              <a:rPr lang="en-US" altLang="zh-CN" sz="3200" b="1">
                <a:solidFill>
                  <a:schemeClr val="tx2"/>
                </a:solidFill>
              </a:rPr>
              <a:t>= 2,3, … )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aphicFrame>
        <p:nvGraphicFramePr>
          <p:cNvPr id="474116" name="Object 4"/>
          <p:cNvGraphicFramePr>
            <a:graphicFrameLocks noChangeAspect="1"/>
          </p:cNvGraphicFramePr>
          <p:nvPr/>
        </p:nvGraphicFramePr>
        <p:xfrm>
          <a:off x="2673350" y="2333625"/>
          <a:ext cx="323215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0125" imgH="356235" progId="Equation.3">
                  <p:embed/>
                </p:oleObj>
              </mc:Choice>
              <mc:Fallback>
                <p:oleObj name="公式" r:id="rId2" imgW="1000125" imgH="3562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333625"/>
                        <a:ext cx="323215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7" name="Object 5"/>
          <p:cNvGraphicFramePr>
            <a:graphicFrameLocks noChangeAspect="1"/>
          </p:cNvGraphicFramePr>
          <p:nvPr/>
        </p:nvGraphicFramePr>
        <p:xfrm>
          <a:off x="2763838" y="3857625"/>
          <a:ext cx="3762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1100" imgH="154305" progId="Equation.3">
                  <p:embed/>
                </p:oleObj>
              </mc:Choice>
              <mc:Fallback>
                <p:oleObj name="公式" r:id="rId2" imgW="1181100" imgH="1543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3857625"/>
                        <a:ext cx="37623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8" name="Object 6"/>
          <p:cNvGraphicFramePr>
            <a:graphicFrameLocks noChangeAspect="1"/>
          </p:cNvGraphicFramePr>
          <p:nvPr/>
        </p:nvGraphicFramePr>
        <p:xfrm>
          <a:off x="1447800" y="1295400"/>
          <a:ext cx="4775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5825" imgH="885825" progId="Equation.DSMT4">
                  <p:embed/>
                </p:oleObj>
              </mc:Choice>
              <mc:Fallback>
                <p:oleObj name="Equation" r:id="rId2" imgW="4695825" imgH="88582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95400"/>
                        <a:ext cx="4775200" cy="9525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bldLvl="0" animBg="1" autoUpdateAnimBg="0"/>
      <p:bldP spid="474115" grpId="0" bldLvl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985838" y="19685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/>
              <a:t>于是可求得</a:t>
            </a:r>
            <a:r>
              <a:rPr lang="zh-CN" altLang="en-US" sz="2800" b="1"/>
              <a:t>：</a:t>
            </a:r>
          </a:p>
        </p:txBody>
      </p:sp>
      <p:graphicFrame>
        <p:nvGraphicFramePr>
          <p:cNvPr id="475139" name="Object 3"/>
          <p:cNvGraphicFramePr>
            <a:graphicFrameLocks noChangeAspect="1"/>
          </p:cNvGraphicFramePr>
          <p:nvPr/>
        </p:nvGraphicFramePr>
        <p:xfrm>
          <a:off x="1309688" y="3560763"/>
          <a:ext cx="38862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9200" imgH="375285" progId="Equation.3">
                  <p:embed/>
                </p:oleObj>
              </mc:Choice>
              <mc:Fallback>
                <p:oleObj name="公式" r:id="rId2" imgW="1219200" imgH="3752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3560763"/>
                        <a:ext cx="38862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40" name="Object 4"/>
          <p:cNvGraphicFramePr>
            <a:graphicFrameLocks noChangeAspect="1"/>
          </p:cNvGraphicFramePr>
          <p:nvPr/>
        </p:nvGraphicFramePr>
        <p:xfrm>
          <a:off x="1300163" y="4892675"/>
          <a:ext cx="155733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7200" imgH="317500" progId="Equation.3">
                  <p:embed/>
                </p:oleObj>
              </mc:Choice>
              <mc:Fallback>
                <p:oleObj name="公式" r:id="rId2" imgW="457200" imgH="317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4892675"/>
                        <a:ext cx="155733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1" name="Rectangle 5"/>
          <p:cNvSpPr>
            <a:spLocks noChangeArrowheads="1"/>
          </p:cNvSpPr>
          <p:nvPr/>
        </p:nvSpPr>
        <p:spPr bwMode="auto">
          <a:xfrm>
            <a:off x="914400" y="914400"/>
            <a:ext cx="2635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</a:rPr>
              <a:t>当</a:t>
            </a:r>
            <a:r>
              <a:rPr lang="en-US" altLang="zh-CN" sz="2800" b="1" i="1">
                <a:solidFill>
                  <a:schemeClr val="tx2"/>
                </a:solidFill>
              </a:rPr>
              <a:t>n</a:t>
            </a:r>
            <a:r>
              <a:rPr lang="en-US" altLang="zh-CN" sz="2800" b="1">
                <a:solidFill>
                  <a:schemeClr val="tx2"/>
                </a:solidFill>
              </a:rPr>
              <a:t>=2,3, …</a:t>
            </a:r>
            <a:r>
              <a:rPr lang="zh-CN" altLang="en-US" sz="2800" b="1">
                <a:solidFill>
                  <a:schemeClr val="tx2"/>
                </a:solidFill>
              </a:rPr>
              <a:t>时，</a:t>
            </a:r>
          </a:p>
        </p:txBody>
      </p:sp>
      <p:sp>
        <p:nvSpPr>
          <p:cNvPr id="475142" name="Rectangle 6"/>
          <p:cNvSpPr>
            <a:spLocks noChangeArrowheads="1"/>
          </p:cNvSpPr>
          <p:nvPr/>
        </p:nvSpPr>
        <p:spPr bwMode="auto">
          <a:xfrm>
            <a:off x="3748088" y="5207000"/>
            <a:ext cx="297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tx2"/>
                </a:solidFill>
              </a:rPr>
              <a:t>m</a:t>
            </a:r>
            <a:r>
              <a:rPr lang="en-US" altLang="zh-CN" sz="3200" b="1">
                <a:solidFill>
                  <a:schemeClr val="tx2"/>
                </a:solidFill>
              </a:rPr>
              <a:t>=1,2, …,</a:t>
            </a:r>
            <a:r>
              <a:rPr lang="en-US" altLang="zh-CN" sz="3200" b="1" i="1">
                <a:solidFill>
                  <a:schemeClr val="tx2"/>
                </a:solidFill>
              </a:rPr>
              <a:t>n</a:t>
            </a:r>
            <a:r>
              <a:rPr lang="en-US" altLang="zh-CN" sz="3200" b="1">
                <a:solidFill>
                  <a:schemeClr val="tx2"/>
                </a:solidFill>
              </a:rPr>
              <a:t>-1</a:t>
            </a:r>
          </a:p>
        </p:txBody>
      </p:sp>
      <p:graphicFrame>
        <p:nvGraphicFramePr>
          <p:cNvPr id="475143" name="Object 7"/>
          <p:cNvGraphicFramePr>
            <a:graphicFrameLocks noChangeAspect="1"/>
          </p:cNvGraphicFramePr>
          <p:nvPr/>
        </p:nvGraphicFramePr>
        <p:xfrm>
          <a:off x="1346200" y="2343150"/>
          <a:ext cx="3468688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2525" imgH="346710" progId="Equation.3">
                  <p:embed/>
                </p:oleObj>
              </mc:Choice>
              <mc:Fallback>
                <p:oleObj name="公式" r:id="rId2" imgW="1152525" imgH="3467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343150"/>
                        <a:ext cx="3468688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4" name="AutoShape 8"/>
          <p:cNvSpPr>
            <a:spLocks noChangeArrowheads="1"/>
          </p:cNvSpPr>
          <p:nvPr/>
        </p:nvSpPr>
        <p:spPr bwMode="auto">
          <a:xfrm>
            <a:off x="6019800" y="990600"/>
            <a:ext cx="1600200" cy="536575"/>
          </a:xfrm>
          <a:prstGeom prst="wedgeRoundRectCallout">
            <a:avLst>
              <a:gd name="adj1" fmla="val -133431"/>
              <a:gd name="adj2" fmla="val 215088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联合分布</a:t>
            </a:r>
            <a:endParaRPr lang="zh-CN" altLang="en-US"/>
          </a:p>
        </p:txBody>
      </p:sp>
      <p:sp>
        <p:nvSpPr>
          <p:cNvPr id="475145" name="AutoShape 9"/>
          <p:cNvSpPr>
            <a:spLocks noChangeArrowheads="1"/>
          </p:cNvSpPr>
          <p:nvPr/>
        </p:nvSpPr>
        <p:spPr bwMode="auto">
          <a:xfrm>
            <a:off x="5791200" y="2743200"/>
            <a:ext cx="1600200" cy="685800"/>
          </a:xfrm>
          <a:prstGeom prst="wedgeRoundRectCallout">
            <a:avLst>
              <a:gd name="adj1" fmla="val -155755"/>
              <a:gd name="adj2" fmla="val 40509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边缘分布</a:t>
            </a:r>
            <a:endParaRPr lang="zh-CN" altLang="en-US"/>
          </a:p>
        </p:txBody>
      </p:sp>
      <p:graphicFrame>
        <p:nvGraphicFramePr>
          <p:cNvPr id="475146" name="Object 10"/>
          <p:cNvGraphicFramePr>
            <a:graphicFrameLocks noChangeAspect="1"/>
          </p:cNvGraphicFramePr>
          <p:nvPr/>
        </p:nvGraphicFramePr>
        <p:xfrm>
          <a:off x="1562100" y="1608138"/>
          <a:ext cx="2514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0" imgH="471805" progId="Equation.DSMT4">
                  <p:embed/>
                </p:oleObj>
              </mc:Choice>
              <mc:Fallback>
                <p:oleObj name="Equation" r:id="rId2" imgW="2438400" imgH="47180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1608138"/>
                        <a:ext cx="2514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8" grpId="0" bldLvl="0" animBg="1" autoUpdateAnimBg="0"/>
      <p:bldP spid="475141" grpId="0" bldLvl="0" animBg="1" autoUpdateAnimBg="0"/>
      <p:bldP spid="475142" grpId="0" bldLvl="0" animBg="1" autoUpdateAnimBg="0"/>
      <p:bldP spid="475144" grpId="0" bldLvl="0" animBg="1" autoUpdateAnimBg="0"/>
      <p:bldP spid="475145" grpId="0" bldLvl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ChangeArrowheads="1"/>
          </p:cNvSpPr>
          <p:nvPr/>
        </p:nvSpPr>
        <p:spPr bwMode="auto">
          <a:xfrm>
            <a:off x="4864100" y="4711700"/>
            <a:ext cx="312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tx2"/>
                </a:solidFill>
              </a:rPr>
              <a:t>n</a:t>
            </a:r>
            <a:r>
              <a:rPr lang="en-US" altLang="zh-CN" sz="3200" b="1">
                <a:solidFill>
                  <a:schemeClr val="tx2"/>
                </a:solidFill>
              </a:rPr>
              <a:t>=</a:t>
            </a:r>
            <a:r>
              <a:rPr lang="en-US" altLang="zh-CN" sz="3200" b="1" i="1">
                <a:solidFill>
                  <a:schemeClr val="tx2"/>
                </a:solidFill>
              </a:rPr>
              <a:t>m</a:t>
            </a:r>
            <a:r>
              <a:rPr lang="en-US" altLang="zh-CN" sz="3200" b="1">
                <a:solidFill>
                  <a:schemeClr val="tx2"/>
                </a:solidFill>
              </a:rPr>
              <a:t>+1,</a:t>
            </a:r>
            <a:r>
              <a:rPr lang="en-US" altLang="zh-CN" sz="3200" b="1" i="1">
                <a:solidFill>
                  <a:schemeClr val="tx2"/>
                </a:solidFill>
              </a:rPr>
              <a:t>m</a:t>
            </a:r>
            <a:r>
              <a:rPr lang="en-US" altLang="zh-CN" sz="3200" b="1">
                <a:solidFill>
                  <a:schemeClr val="tx2"/>
                </a:solidFill>
              </a:rPr>
              <a:t>+2, …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76163" name="Rectangle 3"/>
          <p:cNvSpPr>
            <a:spLocks noChangeArrowheads="1"/>
          </p:cNvSpPr>
          <p:nvPr/>
        </p:nvSpPr>
        <p:spPr bwMode="auto">
          <a:xfrm>
            <a:off x="825500" y="2794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chemeClr val="tx2"/>
                </a:solidFill>
              </a:rPr>
              <a:t>当</a:t>
            </a:r>
            <a:r>
              <a:rPr lang="en-US" altLang="zh-CN" sz="2800" b="1" i="1">
                <a:solidFill>
                  <a:schemeClr val="tx2"/>
                </a:solidFill>
              </a:rPr>
              <a:t>m</a:t>
            </a:r>
            <a:r>
              <a:rPr lang="en-US" altLang="zh-CN" sz="2800" b="1">
                <a:solidFill>
                  <a:schemeClr val="tx2"/>
                </a:solidFill>
              </a:rPr>
              <a:t>=1,2, …</a:t>
            </a:r>
            <a:r>
              <a:rPr lang="zh-CN" altLang="en-US" sz="2800" b="1">
                <a:solidFill>
                  <a:schemeClr val="tx2"/>
                </a:solidFill>
              </a:rPr>
              <a:t>时，</a:t>
            </a:r>
          </a:p>
        </p:txBody>
      </p:sp>
      <p:graphicFrame>
        <p:nvGraphicFramePr>
          <p:cNvPr id="476164" name="Object 4"/>
          <p:cNvGraphicFramePr>
            <a:graphicFrameLocks noChangeAspect="1"/>
          </p:cNvGraphicFramePr>
          <p:nvPr/>
        </p:nvGraphicFramePr>
        <p:xfrm>
          <a:off x="1511300" y="1824038"/>
          <a:ext cx="3468688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2525" imgH="346710" progId="Equation.3">
                  <p:embed/>
                </p:oleObj>
              </mc:Choice>
              <mc:Fallback>
                <p:oleObj name="公式" r:id="rId2" imgW="1152525" imgH="346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1824038"/>
                        <a:ext cx="3468688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5" name="Object 5"/>
          <p:cNvGraphicFramePr>
            <a:graphicFrameLocks noChangeAspect="1"/>
          </p:cNvGraphicFramePr>
          <p:nvPr/>
        </p:nvGraphicFramePr>
        <p:xfrm>
          <a:off x="1435100" y="3111500"/>
          <a:ext cx="277653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47725" imgH="375285" progId="Equation.3">
                  <p:embed/>
                </p:oleObj>
              </mc:Choice>
              <mc:Fallback>
                <p:oleObj name="公式" r:id="rId2" imgW="847725" imgH="3752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3111500"/>
                        <a:ext cx="2776538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6" name="Object 6"/>
          <p:cNvGraphicFramePr>
            <a:graphicFrameLocks noChangeAspect="1"/>
          </p:cNvGraphicFramePr>
          <p:nvPr/>
        </p:nvGraphicFramePr>
        <p:xfrm>
          <a:off x="1485900" y="4635500"/>
          <a:ext cx="29289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04875" imgH="154305" progId="Equation.3">
                  <p:embed/>
                </p:oleObj>
              </mc:Choice>
              <mc:Fallback>
                <p:oleObj name="公式" r:id="rId2" imgW="904875" imgH="1543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635500"/>
                        <a:ext cx="29289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7" name="Object 7"/>
          <p:cNvGraphicFramePr>
            <a:graphicFrameLocks noChangeAspect="1"/>
          </p:cNvGraphicFramePr>
          <p:nvPr/>
        </p:nvGraphicFramePr>
        <p:xfrm>
          <a:off x="1692275" y="1062038"/>
          <a:ext cx="30956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66165" imgH="203200" progId="Equation.3">
                  <p:embed/>
                </p:oleObj>
              </mc:Choice>
              <mc:Fallback>
                <p:oleObj name="公式" r:id="rId6" imgW="10661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062038"/>
                        <a:ext cx="30956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2" grpId="0" bldLvl="0" animBg="1" autoUpdateAnimBg="0"/>
      <p:bldP spid="476163" grpId="0" bldLvl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657225" y="1036638"/>
            <a:ext cx="72278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二、连续型随机变量的条件分布</a:t>
            </a:r>
          </a:p>
        </p:txBody>
      </p:sp>
      <p:sp>
        <p:nvSpPr>
          <p:cNvPr id="477187" name="Rectangle 3"/>
          <p:cNvSpPr>
            <a:spLocks noChangeArrowheads="1"/>
          </p:cNvSpPr>
          <p:nvPr/>
        </p:nvSpPr>
        <p:spPr bwMode="auto">
          <a:xfrm>
            <a:off x="611188" y="2006600"/>
            <a:ext cx="7543800" cy="239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5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设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zh-CN" sz="2800" b="1"/>
              <a:t>是二维</a:t>
            </a:r>
            <a:r>
              <a:rPr lang="zh-CN" altLang="en-US" sz="2800" b="1"/>
              <a:t>连续型</a:t>
            </a:r>
            <a:r>
              <a:rPr lang="en-US" altLang="zh-CN" sz="2800" b="1" i="1"/>
              <a:t>r.v</a:t>
            </a:r>
            <a:r>
              <a:rPr lang="zh-CN" altLang="en-US" sz="2800" b="1" i="1"/>
              <a:t>，</a:t>
            </a:r>
            <a:r>
              <a:rPr lang="zh-CN" altLang="en-US" sz="2800" b="1"/>
              <a:t>由于对任意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,        </a:t>
            </a:r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}=0, </a:t>
            </a:r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y</a:t>
            </a:r>
            <a:r>
              <a:rPr lang="en-US" altLang="zh-CN" sz="2800" b="1"/>
              <a:t>}=0 </a:t>
            </a:r>
            <a:r>
              <a:rPr lang="zh-CN" altLang="en-US" sz="2800" b="1"/>
              <a:t>，所以不能直接用条件概率公式得到条件分布，下面我们给出条件概率密度的定义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 bldLvl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5619" name="Object 3"/>
          <p:cNvGraphicFramePr>
            <a:graphicFrameLocks noChangeAspect="1"/>
          </p:cNvGraphicFramePr>
          <p:nvPr/>
        </p:nvGraphicFramePr>
        <p:xfrm>
          <a:off x="971550" y="692150"/>
          <a:ext cx="77930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700" imgH="215900" progId="Equation.DSMT4">
                  <p:embed/>
                </p:oleObj>
              </mc:Choice>
              <mc:Fallback>
                <p:oleObj name="Equation" r:id="rId2" imgW="3314700" imgH="215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692150"/>
                        <a:ext cx="779303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0" name="Object 4"/>
          <p:cNvGraphicFramePr>
            <a:graphicFrameLocks noChangeAspect="1"/>
          </p:cNvGraphicFramePr>
          <p:nvPr/>
        </p:nvGraphicFramePr>
        <p:xfrm>
          <a:off x="1035050" y="1268413"/>
          <a:ext cx="37020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800" imgH="228600" progId="Equation.DSMT4">
                  <p:embed/>
                </p:oleObj>
              </mc:Choice>
              <mc:Fallback>
                <p:oleObj name="Equation" r:id="rId4" imgW="1574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1268413"/>
                        <a:ext cx="37020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1" name="Object 5"/>
          <p:cNvGraphicFramePr>
            <a:graphicFrameLocks noChangeAspect="1"/>
          </p:cNvGraphicFramePr>
          <p:nvPr/>
        </p:nvGraphicFramePr>
        <p:xfrm>
          <a:off x="900113" y="1844675"/>
          <a:ext cx="764381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95700" imgH="546100" progId="Equation.DSMT4">
                  <p:embed/>
                </p:oleObj>
              </mc:Choice>
              <mc:Fallback>
                <p:oleObj name="Equation" r:id="rId6" imgW="3695700" imgH="546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844675"/>
                        <a:ext cx="764381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2" name="Object 6"/>
          <p:cNvGraphicFramePr>
            <a:graphicFrameLocks noChangeAspect="1"/>
          </p:cNvGraphicFramePr>
          <p:nvPr/>
        </p:nvGraphicFramePr>
        <p:xfrm>
          <a:off x="571500" y="3068638"/>
          <a:ext cx="63658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65400" imgH="215900" progId="Equation.DSMT4">
                  <p:embed/>
                </p:oleObj>
              </mc:Choice>
              <mc:Fallback>
                <p:oleObj name="Equation" r:id="rId8" imgW="2565400" imgH="215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068638"/>
                        <a:ext cx="63658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3" name="Object 7"/>
          <p:cNvGraphicFramePr>
            <a:graphicFrameLocks noChangeAspect="1"/>
          </p:cNvGraphicFramePr>
          <p:nvPr/>
        </p:nvGraphicFramePr>
        <p:xfrm>
          <a:off x="641350" y="3716338"/>
          <a:ext cx="650716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1300" imgH="254000" progId="Equation.DSMT4">
                  <p:embed/>
                </p:oleObj>
              </mc:Choice>
              <mc:Fallback>
                <p:oleObj name="Equation" r:id="rId10" imgW="27813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3716338"/>
                        <a:ext cx="6507163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4" name="Object 8"/>
          <p:cNvGraphicFramePr>
            <a:graphicFrameLocks noChangeAspect="1"/>
          </p:cNvGraphicFramePr>
          <p:nvPr/>
        </p:nvGraphicFramePr>
        <p:xfrm>
          <a:off x="611188" y="4292600"/>
          <a:ext cx="1800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99465" imgH="203200" progId="Equation.3">
                  <p:embed/>
                </p:oleObj>
              </mc:Choice>
              <mc:Fallback>
                <p:oleObj name="公式" r:id="rId12" imgW="799465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292600"/>
                        <a:ext cx="18002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5" name="Object 9"/>
          <p:cNvGraphicFramePr>
            <a:graphicFrameLocks noChangeAspect="1"/>
          </p:cNvGraphicFramePr>
          <p:nvPr/>
        </p:nvGraphicFramePr>
        <p:xfrm>
          <a:off x="1954213" y="4876800"/>
          <a:ext cx="45196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30400" imgH="431800" progId="Equation.DSMT4">
                  <p:embed/>
                </p:oleObj>
              </mc:Choice>
              <mc:Fallback>
                <p:oleObj name="Equation" r:id="rId14" imgW="19304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4876800"/>
                        <a:ext cx="451961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210" name="Object 2"/>
          <p:cNvGraphicFramePr>
            <a:graphicFrameLocks noChangeAspect="1"/>
          </p:cNvGraphicFramePr>
          <p:nvPr/>
        </p:nvGraphicFramePr>
        <p:xfrm>
          <a:off x="2743200" y="3048000"/>
          <a:ext cx="36068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57300" imgH="356235" progId="Equation.3">
                  <p:embed/>
                </p:oleObj>
              </mc:Choice>
              <mc:Fallback>
                <p:oleObj name="公式" r:id="rId2" imgW="1257300" imgH="3562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48000"/>
                        <a:ext cx="3606800" cy="1166813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8211" name="Group 3"/>
          <p:cNvGrpSpPr/>
          <p:nvPr/>
        </p:nvGrpSpPr>
        <p:grpSpPr bwMode="auto">
          <a:xfrm>
            <a:off x="519113" y="192088"/>
            <a:ext cx="6105525" cy="542925"/>
            <a:chOff x="1529" y="270"/>
            <a:chExt cx="3846" cy="342"/>
          </a:xfrm>
        </p:grpSpPr>
        <p:sp>
          <p:nvSpPr>
            <p:cNvPr id="86042" name="Rectangle 4"/>
            <p:cNvSpPr>
              <a:spLocks noChangeArrowheads="1"/>
            </p:cNvSpPr>
            <p:nvPr/>
          </p:nvSpPr>
          <p:spPr bwMode="auto">
            <a:xfrm>
              <a:off x="1529" y="270"/>
              <a:ext cx="30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</a:t>
              </a:r>
              <a:r>
                <a:rPr lang="zh-CN" altLang="en-US" sz="2800" b="1"/>
                <a:t>设 </a:t>
              </a:r>
              <a:r>
                <a:rPr lang="en-US" altLang="zh-CN" sz="2800" b="1"/>
                <a:t>X </a:t>
              </a:r>
              <a:r>
                <a:rPr lang="zh-CN" altLang="en-US" sz="2800" b="1"/>
                <a:t>和 </a:t>
              </a:r>
              <a:r>
                <a:rPr lang="en-US" altLang="zh-CN" sz="2800" b="1"/>
                <a:t>Y </a:t>
              </a:r>
              <a:r>
                <a:rPr lang="zh-CN" altLang="en-US" sz="2800" b="1"/>
                <a:t>的联合概率密度为</a:t>
              </a:r>
            </a:p>
          </p:txBody>
        </p:sp>
        <p:graphicFrame>
          <p:nvGraphicFramePr>
            <p:cNvPr id="86043" name="Object 5"/>
            <p:cNvGraphicFramePr>
              <a:graphicFrameLocks noChangeAspect="1"/>
            </p:cNvGraphicFramePr>
            <p:nvPr/>
          </p:nvGraphicFramePr>
          <p:xfrm>
            <a:off x="4543" y="300"/>
            <a:ext cx="83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47775" imgH="423545" progId="Equation.DSMT4">
                    <p:embed/>
                  </p:oleObj>
                </mc:Choice>
                <mc:Fallback>
                  <p:oleObj name="Equation" r:id="rId2" imgW="1247775" imgH="42354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3" y="300"/>
                          <a:ext cx="83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8214" name="Group 6"/>
          <p:cNvGrpSpPr/>
          <p:nvPr/>
        </p:nvGrpSpPr>
        <p:grpSpPr bwMode="auto">
          <a:xfrm>
            <a:off x="71438" y="944563"/>
            <a:ext cx="6408737" cy="566737"/>
            <a:chOff x="295" y="659"/>
            <a:chExt cx="4037" cy="357"/>
          </a:xfrm>
        </p:grpSpPr>
        <p:sp>
          <p:nvSpPr>
            <p:cNvPr id="86038" name="Rectangle 7"/>
            <p:cNvSpPr>
              <a:spLocks noChangeArrowheads="1"/>
            </p:cNvSpPr>
            <p:nvPr/>
          </p:nvSpPr>
          <p:spPr bwMode="auto">
            <a:xfrm>
              <a:off x="295" y="665"/>
              <a:ext cx="40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       </a:t>
              </a:r>
              <a:r>
                <a:rPr lang="zh-CN" altLang="en-US" sz="2800" b="1"/>
                <a:t>关于    的边缘概率密度为            </a:t>
              </a:r>
              <a:r>
                <a:rPr lang="en-US" altLang="zh-CN" sz="2800" b="1"/>
                <a:t>,</a:t>
              </a:r>
            </a:p>
          </p:txBody>
        </p:sp>
        <p:graphicFrame>
          <p:nvGraphicFramePr>
            <p:cNvPr id="86039" name="Object 8"/>
            <p:cNvGraphicFramePr>
              <a:graphicFrameLocks noChangeAspect="1"/>
            </p:cNvGraphicFramePr>
            <p:nvPr/>
          </p:nvGraphicFramePr>
          <p:xfrm>
            <a:off x="3515" y="659"/>
            <a:ext cx="60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5825" imgH="423545" progId="Equation.DSMT4">
                    <p:embed/>
                  </p:oleObj>
                </mc:Choice>
                <mc:Fallback>
                  <p:oleObj name="Equation" r:id="rId2" imgW="885825" imgH="42354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659"/>
                          <a:ext cx="60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040" name="Object 9"/>
            <p:cNvGraphicFramePr>
              <a:graphicFrameLocks noChangeAspect="1"/>
            </p:cNvGraphicFramePr>
            <p:nvPr/>
          </p:nvGraphicFramePr>
          <p:xfrm>
            <a:off x="340" y="704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42975" imgH="423545" progId="Equation.DSMT4">
                    <p:embed/>
                  </p:oleObj>
                </mc:Choice>
                <mc:Fallback>
                  <p:oleObj name="Equation" r:id="rId2" imgW="942975" imgH="42354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704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041" name="Object 10"/>
            <p:cNvGraphicFramePr>
              <a:graphicFrameLocks noChangeAspect="1"/>
            </p:cNvGraphicFramePr>
            <p:nvPr/>
          </p:nvGraphicFramePr>
          <p:xfrm>
            <a:off x="1519" y="750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0025" imgH="221615" progId="Equation.DSMT4">
                    <p:embed/>
                  </p:oleObj>
                </mc:Choice>
                <mc:Fallback>
                  <p:oleObj name="Equation" r:id="rId2" imgW="200025" imgH="22161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750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8219" name="Group 11"/>
          <p:cNvGrpSpPr/>
          <p:nvPr/>
        </p:nvGrpSpPr>
        <p:grpSpPr bwMode="auto">
          <a:xfrm>
            <a:off x="0" y="1412875"/>
            <a:ext cx="8351838" cy="1462088"/>
            <a:chOff x="250" y="976"/>
            <a:chExt cx="5261" cy="921"/>
          </a:xfrm>
        </p:grpSpPr>
        <p:grpSp>
          <p:nvGrpSpPr>
            <p:cNvPr id="86031" name="Group 12"/>
            <p:cNvGrpSpPr/>
            <p:nvPr/>
          </p:nvGrpSpPr>
          <p:grpSpPr bwMode="auto">
            <a:xfrm>
              <a:off x="431" y="976"/>
              <a:ext cx="5080" cy="640"/>
              <a:chOff x="431" y="976"/>
              <a:chExt cx="5080" cy="640"/>
            </a:xfrm>
          </p:grpSpPr>
          <p:sp>
            <p:nvSpPr>
              <p:cNvPr id="86035" name="Rectangle 13"/>
              <p:cNvSpPr>
                <a:spLocks noChangeArrowheads="1"/>
              </p:cNvSpPr>
              <p:nvPr/>
            </p:nvSpPr>
            <p:spPr bwMode="auto">
              <a:xfrm>
                <a:off x="431" y="1058"/>
                <a:ext cx="50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/>
                  <a:t>   </a:t>
                </a:r>
                <a:r>
                  <a:rPr lang="en-US" altLang="zh-CN" sz="2800" b="1" i="1"/>
                  <a:t>    </a:t>
                </a:r>
                <a:r>
                  <a:rPr lang="en-US" altLang="zh-CN" sz="2800" b="1"/>
                  <a:t>                    </a:t>
                </a:r>
                <a:r>
                  <a:rPr lang="zh-CN" altLang="en-US" sz="2800" b="1"/>
                  <a:t>则                  为在            的条件下 </a:t>
                </a:r>
              </a:p>
            </p:txBody>
          </p:sp>
          <p:graphicFrame>
            <p:nvGraphicFramePr>
              <p:cNvPr id="86036" name="Object 14"/>
              <p:cNvGraphicFramePr>
                <a:graphicFrameLocks noChangeAspect="1"/>
              </p:cNvGraphicFramePr>
              <p:nvPr/>
            </p:nvGraphicFramePr>
            <p:xfrm>
              <a:off x="2472" y="976"/>
              <a:ext cx="792" cy="6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81100" imgH="953135" progId="Equation.DSMT4">
                      <p:embed/>
                    </p:oleObj>
                  </mc:Choice>
                  <mc:Fallback>
                    <p:oleObj name="Equation" r:id="rId2" imgW="1181100" imgH="953135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2" y="976"/>
                            <a:ext cx="792" cy="6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037" name="Object 15"/>
              <p:cNvGraphicFramePr>
                <a:graphicFrameLocks noChangeAspect="1"/>
              </p:cNvGraphicFramePr>
              <p:nvPr/>
            </p:nvGraphicFramePr>
            <p:xfrm>
              <a:off x="3833" y="1112"/>
              <a:ext cx="54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790575" imgH="307975" progId="Equation.DSMT4">
                      <p:embed/>
                    </p:oleObj>
                  </mc:Choice>
                  <mc:Fallback>
                    <p:oleObj name="Equation" r:id="rId2" imgW="790575" imgH="307975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3" y="1112"/>
                            <a:ext cx="54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6032" name="Group 16"/>
            <p:cNvGrpSpPr/>
            <p:nvPr/>
          </p:nvGrpSpPr>
          <p:grpSpPr bwMode="auto">
            <a:xfrm>
              <a:off x="250" y="1570"/>
              <a:ext cx="2086" cy="327"/>
              <a:chOff x="250" y="1570"/>
              <a:chExt cx="2086" cy="327"/>
            </a:xfrm>
          </p:grpSpPr>
          <p:sp>
            <p:nvSpPr>
              <p:cNvPr id="86033" name="Text Box 17"/>
              <p:cNvSpPr txBox="1">
                <a:spLocks noChangeArrowheads="1"/>
              </p:cNvSpPr>
              <p:nvPr/>
            </p:nvSpPr>
            <p:spPr bwMode="auto">
              <a:xfrm>
                <a:off x="250" y="1570"/>
                <a:ext cx="208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     </a:t>
                </a:r>
                <a:r>
                  <a:rPr lang="zh-CN" altLang="en-US" sz="2800" b="1"/>
                  <a:t>的</a:t>
                </a:r>
                <a:r>
                  <a:rPr lang="zh-CN" altLang="en-US" sz="2800" b="1">
                    <a:solidFill>
                      <a:srgbClr val="003399"/>
                    </a:solidFill>
                  </a:rPr>
                  <a:t>条件概率密度</a:t>
                </a:r>
                <a:r>
                  <a:rPr lang="en-US" altLang="zh-CN" sz="2800" b="1">
                    <a:solidFill>
                      <a:srgbClr val="003399"/>
                    </a:solidFill>
                  </a:rPr>
                  <a:t>.</a:t>
                </a:r>
              </a:p>
            </p:txBody>
          </p:sp>
          <p:graphicFrame>
            <p:nvGraphicFramePr>
              <p:cNvPr id="86034" name="Object 18"/>
              <p:cNvGraphicFramePr>
                <a:graphicFrameLocks noChangeAspect="1"/>
              </p:cNvGraphicFramePr>
              <p:nvPr/>
            </p:nvGraphicFramePr>
            <p:xfrm>
              <a:off x="340" y="1667"/>
              <a:ext cx="22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76225" imgH="221615" progId="Equation.DSMT4">
                      <p:embed/>
                    </p:oleObj>
                  </mc:Choice>
                  <mc:Fallback>
                    <p:oleObj name="Equation" r:id="rId2" imgW="276225" imgH="221615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" y="1667"/>
                            <a:ext cx="22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8227" name="Text Box 19"/>
          <p:cNvSpPr txBox="1">
            <a:spLocks noChangeArrowheads="1"/>
          </p:cNvSpPr>
          <p:nvPr/>
        </p:nvSpPr>
        <p:spPr bwMode="auto">
          <a:xfrm>
            <a:off x="3095625" y="2390775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记为</a:t>
            </a:r>
          </a:p>
        </p:txBody>
      </p:sp>
      <p:grpSp>
        <p:nvGrpSpPr>
          <p:cNvPr id="478228" name="Group 20"/>
          <p:cNvGrpSpPr/>
          <p:nvPr/>
        </p:nvGrpSpPr>
        <p:grpSpPr bwMode="auto">
          <a:xfrm>
            <a:off x="144463" y="927100"/>
            <a:ext cx="8064500" cy="1166813"/>
            <a:chOff x="340" y="654"/>
            <a:chExt cx="5080" cy="735"/>
          </a:xfrm>
        </p:grpSpPr>
        <p:sp>
          <p:nvSpPr>
            <p:cNvPr id="86026" name="Rectangle 21"/>
            <p:cNvSpPr>
              <a:spLocks noChangeArrowheads="1"/>
            </p:cNvSpPr>
            <p:nvPr/>
          </p:nvSpPr>
          <p:spPr bwMode="auto">
            <a:xfrm>
              <a:off x="4179" y="654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若对于固定</a:t>
              </a:r>
            </a:p>
          </p:txBody>
        </p:sp>
        <p:grpSp>
          <p:nvGrpSpPr>
            <p:cNvPr id="86027" name="Group 22"/>
            <p:cNvGrpSpPr/>
            <p:nvPr/>
          </p:nvGrpSpPr>
          <p:grpSpPr bwMode="auto">
            <a:xfrm>
              <a:off x="340" y="1062"/>
              <a:ext cx="1598" cy="327"/>
              <a:chOff x="340" y="1062"/>
              <a:chExt cx="1598" cy="327"/>
            </a:xfrm>
          </p:grpSpPr>
          <p:graphicFrame>
            <p:nvGraphicFramePr>
              <p:cNvPr id="86028" name="Object 23"/>
              <p:cNvGraphicFramePr>
                <a:graphicFrameLocks noChangeAspect="1"/>
              </p:cNvGraphicFramePr>
              <p:nvPr/>
            </p:nvGraphicFramePr>
            <p:xfrm>
              <a:off x="930" y="1067"/>
              <a:ext cx="100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4000" imgH="423545" progId="Equation.DSMT4">
                      <p:embed/>
                    </p:oleObj>
                  </mc:Choice>
                  <mc:Fallback>
                    <p:oleObj name="Equation" r:id="rId2" imgW="1524000" imgH="423545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0" y="1067"/>
                            <a:ext cx="100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029" name="Object 24"/>
              <p:cNvGraphicFramePr>
                <a:graphicFrameLocks noChangeAspect="1"/>
              </p:cNvGraphicFramePr>
              <p:nvPr/>
            </p:nvGraphicFramePr>
            <p:xfrm>
              <a:off x="657" y="1162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80975" imgH="240665" progId="Equation.DSMT4">
                      <p:embed/>
                    </p:oleObj>
                  </mc:Choice>
                  <mc:Fallback>
                    <p:oleObj name="Equation" r:id="rId2" imgW="180975" imgH="240665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7" y="1162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030" name="Rectangle 25"/>
              <p:cNvSpPr>
                <a:spLocks noChangeArrowheads="1"/>
              </p:cNvSpPr>
              <p:nvPr/>
            </p:nvSpPr>
            <p:spPr bwMode="auto">
              <a:xfrm>
                <a:off x="340" y="1062"/>
                <a:ext cx="6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的    </a:t>
                </a:r>
                <a:r>
                  <a:rPr lang="en-US" altLang="zh-CN" sz="2800" b="1"/>
                  <a:t>,</a:t>
                </a:r>
              </a:p>
            </p:txBody>
          </p:sp>
        </p:grpSp>
      </p:grpSp>
      <p:graphicFrame>
        <p:nvGraphicFramePr>
          <p:cNvPr id="478234" name="Object 26"/>
          <p:cNvGraphicFramePr>
            <a:graphicFrameLocks noChangeAspect="1"/>
          </p:cNvGraphicFramePr>
          <p:nvPr/>
        </p:nvGraphicFramePr>
        <p:xfrm>
          <a:off x="2743200" y="4953000"/>
          <a:ext cx="35306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57300" imgH="356235" progId="Equation.3">
                  <p:embed/>
                </p:oleObj>
              </mc:Choice>
              <mc:Fallback>
                <p:oleObj name="公式" r:id="rId2" imgW="1257300" imgH="35623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53000"/>
                        <a:ext cx="35306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5" name="Text Box 27"/>
          <p:cNvSpPr txBox="1">
            <a:spLocks noChangeArrowheads="1"/>
          </p:cNvSpPr>
          <p:nvPr/>
        </p:nvSpPr>
        <p:spPr bwMode="auto">
          <a:xfrm>
            <a:off x="457200" y="44196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类似地</a:t>
            </a:r>
            <a:r>
              <a:rPr lang="en-US" altLang="zh-CN" sz="2800" b="1"/>
              <a:t>,</a:t>
            </a:r>
            <a:r>
              <a:rPr lang="zh-CN" altLang="en-US" sz="2800" b="1"/>
              <a:t>可以定义在</a:t>
            </a:r>
            <a:r>
              <a:rPr lang="en-US" altLang="zh-CN" sz="2800" b="1"/>
              <a:t>X=x</a:t>
            </a:r>
            <a:r>
              <a:rPr lang="zh-CN" altLang="en-US" sz="2800" b="1"/>
              <a:t>的条件下</a:t>
            </a:r>
            <a:r>
              <a:rPr lang="en-US" altLang="zh-CN" sz="2800" b="1"/>
              <a:t>Y</a:t>
            </a:r>
            <a:r>
              <a:rPr lang="zh-CN" altLang="en-US" sz="2800" b="1"/>
              <a:t>的条件概率密度为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7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27" grpId="0" bldLvl="0" animBg="1" autoUpdateAnimBg="0"/>
      <p:bldP spid="478235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4" name="Text Box 4"/>
          <p:cNvSpPr txBox="1">
            <a:spLocks noChangeArrowheads="1"/>
          </p:cNvSpPr>
          <p:nvPr/>
        </p:nvSpPr>
        <p:spPr bwMode="auto">
          <a:xfrm>
            <a:off x="250825" y="1412875"/>
            <a:ext cx="935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例 </a:t>
            </a:r>
          </a:p>
        </p:txBody>
      </p:sp>
      <p:graphicFrame>
        <p:nvGraphicFramePr>
          <p:cNvPr id="496645" name="Object 5"/>
          <p:cNvGraphicFramePr>
            <a:graphicFrameLocks noChangeAspect="1"/>
          </p:cNvGraphicFramePr>
          <p:nvPr/>
        </p:nvGraphicFramePr>
        <p:xfrm>
          <a:off x="900113" y="1412875"/>
          <a:ext cx="778827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500" imgH="482600" progId="Equation.DSMT4">
                  <p:embed/>
                </p:oleObj>
              </mc:Choice>
              <mc:Fallback>
                <p:oleObj name="Equation" r:id="rId2" imgW="3365500" imgH="482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12875"/>
                        <a:ext cx="7788275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6" name="Object 6"/>
          <p:cNvGraphicFramePr>
            <a:graphicFrameLocks noChangeAspect="1"/>
          </p:cNvGraphicFramePr>
          <p:nvPr/>
        </p:nvGraphicFramePr>
        <p:xfrm>
          <a:off x="1476375" y="2636838"/>
          <a:ext cx="45497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431800" progId="Equation.DSMT4">
                  <p:embed/>
                </p:oleObj>
              </mc:Choice>
              <mc:Fallback>
                <p:oleObj name="Equation" r:id="rId4" imgW="19431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636838"/>
                        <a:ext cx="45497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6" name="Object 2"/>
          <p:cNvGraphicFramePr>
            <a:graphicFrameLocks noChangeAspect="1"/>
          </p:cNvGraphicFramePr>
          <p:nvPr/>
        </p:nvGraphicFramePr>
        <p:xfrm>
          <a:off x="314325" y="3700463"/>
          <a:ext cx="85788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0800" imgH="558800" progId="Equation.DSMT4">
                  <p:embed/>
                </p:oleObj>
              </mc:Choice>
              <mc:Fallback>
                <p:oleObj name="Equation" r:id="rId6" imgW="3860800" imgH="558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" y="3700463"/>
                        <a:ext cx="857885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667" name="Object 3"/>
          <p:cNvGraphicFramePr>
            <a:graphicFrameLocks noChangeAspect="1"/>
          </p:cNvGraphicFramePr>
          <p:nvPr/>
        </p:nvGraphicFramePr>
        <p:xfrm>
          <a:off x="762000" y="1570038"/>
          <a:ext cx="78422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203200" progId="Equation.DSMT4">
                  <p:embed/>
                </p:oleObj>
              </mc:Choice>
              <mc:Fallback>
                <p:oleObj name="Equation" r:id="rId2" imgW="36576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70038"/>
                        <a:ext cx="78422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8" name="Object 4"/>
          <p:cNvGraphicFramePr>
            <a:graphicFrameLocks noChangeAspect="1"/>
          </p:cNvGraphicFramePr>
          <p:nvPr/>
        </p:nvGraphicFramePr>
        <p:xfrm>
          <a:off x="2301875" y="2276475"/>
          <a:ext cx="46577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500" imgH="482600" progId="Equation.DSMT4">
                  <p:embed/>
                </p:oleObj>
              </mc:Choice>
              <mc:Fallback>
                <p:oleObj name="Equation" r:id="rId4" imgW="20955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2276475"/>
                        <a:ext cx="465772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69" name="Object 5"/>
          <p:cNvGraphicFramePr>
            <a:graphicFrameLocks noChangeAspect="1"/>
          </p:cNvGraphicFramePr>
          <p:nvPr/>
        </p:nvGraphicFramePr>
        <p:xfrm>
          <a:off x="812800" y="4633913"/>
          <a:ext cx="43386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200" imgH="254000" progId="Equation.DSMT4">
                  <p:embed/>
                </p:oleObj>
              </mc:Choice>
              <mc:Fallback>
                <p:oleObj name="Equation" r:id="rId6" imgW="1854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4633913"/>
                        <a:ext cx="43386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755650" y="3573463"/>
            <a:ext cx="7848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其中第一个参数是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的线性函数，第二个参数与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无关，此结论在一些统计问题中很重要。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ChangeArrowheads="1"/>
          </p:cNvSpPr>
          <p:nvPr/>
        </p:nvSpPr>
        <p:spPr bwMode="auto">
          <a:xfrm>
            <a:off x="685800" y="685800"/>
            <a:ext cx="7702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 </a:t>
            </a:r>
            <a:r>
              <a:rPr lang="en-US" altLang="zh-CN" sz="2800" b="1"/>
              <a:t>3</a:t>
            </a:r>
            <a:r>
              <a:rPr lang="zh-CN" altLang="en-US" sz="2800" b="1"/>
              <a:t>：设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服从单位圆上的均匀分布，概率密度为</a:t>
            </a:r>
          </a:p>
        </p:txBody>
      </p:sp>
      <p:graphicFrame>
        <p:nvGraphicFramePr>
          <p:cNvPr id="479235" name="Object 3"/>
          <p:cNvGraphicFramePr>
            <a:graphicFrameLocks noChangeAspect="1"/>
          </p:cNvGraphicFramePr>
          <p:nvPr/>
        </p:nvGraphicFramePr>
        <p:xfrm>
          <a:off x="2195513" y="1628775"/>
          <a:ext cx="3616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300" imgH="539115" progId="Equation.3">
                  <p:embed/>
                </p:oleObj>
              </mc:Choice>
              <mc:Fallback>
                <p:oleObj name="公式" r:id="rId2" imgW="1638300" imgH="5391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28775"/>
                        <a:ext cx="3616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9236" name="Group 4"/>
          <p:cNvGrpSpPr/>
          <p:nvPr/>
        </p:nvGrpSpPr>
        <p:grpSpPr bwMode="auto">
          <a:xfrm>
            <a:off x="611188" y="2889250"/>
            <a:ext cx="2293937" cy="657225"/>
            <a:chOff x="3744" y="690"/>
            <a:chExt cx="1445" cy="414"/>
          </a:xfrm>
        </p:grpSpPr>
        <p:graphicFrame>
          <p:nvGraphicFramePr>
            <p:cNvPr id="89103" name="Object 5"/>
            <p:cNvGraphicFramePr>
              <a:graphicFrameLocks noChangeAspect="1"/>
            </p:cNvGraphicFramePr>
            <p:nvPr/>
          </p:nvGraphicFramePr>
          <p:xfrm>
            <a:off x="4033" y="691"/>
            <a:ext cx="1156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00075" imgH="163830" progId="Equation.3">
                    <p:embed/>
                  </p:oleObj>
                </mc:Choice>
                <mc:Fallback>
                  <p:oleObj name="公式" r:id="rId2" imgW="600075" imgH="16383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691"/>
                          <a:ext cx="1156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04" name="Rectangle 6"/>
            <p:cNvSpPr>
              <a:spLocks noChangeArrowheads="1"/>
            </p:cNvSpPr>
            <p:nvPr/>
          </p:nvSpPr>
          <p:spPr bwMode="auto">
            <a:xfrm>
              <a:off x="3744" y="690"/>
              <a:ext cx="37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/>
                <a:t>求</a:t>
              </a:r>
            </a:p>
          </p:txBody>
        </p:sp>
      </p:grpSp>
      <p:graphicFrame>
        <p:nvGraphicFramePr>
          <p:cNvPr id="479239" name="Object 7"/>
          <p:cNvGraphicFramePr>
            <a:graphicFrameLocks noChangeAspect="1"/>
          </p:cNvGraphicFramePr>
          <p:nvPr/>
        </p:nvGraphicFramePr>
        <p:xfrm>
          <a:off x="755650" y="4797425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95575" imgH="539115" progId="Equation.3">
                  <p:embed/>
                </p:oleObj>
              </mc:Choice>
              <mc:Fallback>
                <p:oleObj name="公式" r:id="rId2" imgW="2695575" imgH="5391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1401763" y="3983038"/>
            <a:ext cx="309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  </a:t>
            </a:r>
            <a:r>
              <a:rPr lang="en-US" altLang="zh-CN" sz="2800" b="1" i="1"/>
              <a:t>X</a:t>
            </a:r>
            <a:r>
              <a:rPr lang="zh-CN" altLang="en-US" sz="2800" b="1"/>
              <a:t>的边缘密度为</a:t>
            </a:r>
          </a:p>
        </p:txBody>
      </p:sp>
      <p:sp>
        <p:nvSpPr>
          <p:cNvPr id="89095" name="Oval 9"/>
          <p:cNvSpPr>
            <a:spLocks noChangeArrowheads="1"/>
          </p:cNvSpPr>
          <p:nvPr/>
        </p:nvSpPr>
        <p:spPr bwMode="auto">
          <a:xfrm>
            <a:off x="6858000" y="37353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9096" name="Group 10"/>
          <p:cNvGrpSpPr/>
          <p:nvPr/>
        </p:nvGrpSpPr>
        <p:grpSpPr bwMode="auto">
          <a:xfrm>
            <a:off x="6369050" y="3065463"/>
            <a:ext cx="2270125" cy="1871662"/>
            <a:chOff x="4105" y="2296"/>
            <a:chExt cx="1430" cy="1179"/>
          </a:xfrm>
        </p:grpSpPr>
        <p:sp>
          <p:nvSpPr>
            <p:cNvPr id="89098" name="Line 11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Line 12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100" name="Object 13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0975" imgH="163830" progId="Equation.3">
                    <p:embed/>
                  </p:oleObj>
                </mc:Choice>
                <mc:Fallback>
                  <p:oleObj name="公式" r:id="rId2" imgW="180975" imgH="16383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1" name="Object 14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2875" imgH="163830" progId="Equation.3">
                    <p:embed/>
                  </p:oleObj>
                </mc:Choice>
                <mc:Fallback>
                  <p:oleObj name="公式" r:id="rId2" imgW="142875" imgH="16383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2" name="Object 15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0975" imgH="240665" progId="Equation.3">
                    <p:embed/>
                  </p:oleObj>
                </mc:Choice>
                <mc:Fallback>
                  <p:oleObj name="公式" r:id="rId2" imgW="180975" imgH="24066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248" name="Line 16"/>
          <p:cNvSpPr>
            <a:spLocks noChangeShapeType="1"/>
          </p:cNvSpPr>
          <p:nvPr/>
        </p:nvSpPr>
        <p:spPr bwMode="auto">
          <a:xfrm flipV="1">
            <a:off x="7662863" y="3281363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bldLvl="0" animBg="1" autoUpdateAnimBg="0"/>
      <p:bldP spid="479240" grpId="0" bldLvl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Text Box 2"/>
          <p:cNvSpPr txBox="1">
            <a:spLocks noChangeArrowheads="1"/>
          </p:cNvSpPr>
          <p:nvPr/>
        </p:nvSpPr>
        <p:spPr bwMode="auto">
          <a:xfrm>
            <a:off x="755576" y="1837530"/>
            <a:ext cx="2466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当</a:t>
            </a:r>
            <a:r>
              <a:rPr lang="en-US" altLang="zh-CN" sz="2800" b="1" dirty="0">
                <a:solidFill>
                  <a:schemeClr val="accent2"/>
                </a:solidFill>
              </a:rPr>
              <a:t>|</a:t>
            </a:r>
            <a:r>
              <a:rPr lang="en-US" altLang="zh-CN" sz="2800" b="1" i="1" dirty="0">
                <a:solidFill>
                  <a:schemeClr val="accent2"/>
                </a:solidFill>
              </a:rPr>
              <a:t>x</a:t>
            </a:r>
            <a:r>
              <a:rPr lang="en-US" altLang="zh-CN" sz="2800" b="1" dirty="0">
                <a:solidFill>
                  <a:schemeClr val="accent2"/>
                </a:solidFill>
              </a:rPr>
              <a:t>|&lt;1</a:t>
            </a:r>
            <a:r>
              <a:rPr lang="zh-CN" altLang="en-US" sz="2800" b="1" dirty="0"/>
              <a:t>时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有</a:t>
            </a:r>
          </a:p>
        </p:txBody>
      </p:sp>
      <p:graphicFrame>
        <p:nvGraphicFramePr>
          <p:cNvPr id="480259" name="Object 3"/>
          <p:cNvGraphicFramePr>
            <a:graphicFrameLocks noChangeAspect="1"/>
          </p:cNvGraphicFramePr>
          <p:nvPr/>
        </p:nvGraphicFramePr>
        <p:xfrm>
          <a:off x="1400447" y="2565320"/>
          <a:ext cx="30019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28725" imgH="356235" progId="Equation.3">
                  <p:embed/>
                </p:oleObj>
              </mc:Choice>
              <mc:Fallback>
                <p:oleObj name="公式" r:id="rId2" imgW="1228725" imgH="3562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447" y="2565320"/>
                        <a:ext cx="300196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0" name="Object 4"/>
          <p:cNvGraphicFramePr>
            <a:graphicFrameLocks noChangeAspect="1"/>
          </p:cNvGraphicFramePr>
          <p:nvPr/>
        </p:nvGraphicFramePr>
        <p:xfrm>
          <a:off x="930022" y="3542192"/>
          <a:ext cx="243840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84810" progId="Equation.DSMT4">
                  <p:embed/>
                </p:oleObj>
              </mc:Choice>
              <mc:Fallback>
                <p:oleObj name="Equation" r:id="rId4" imgW="914400" imgH="38481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022" y="3542192"/>
                        <a:ext cx="2438400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1" name="Object 5"/>
          <p:cNvGraphicFramePr>
            <a:graphicFrameLocks noChangeAspect="1"/>
          </p:cNvGraphicFramePr>
          <p:nvPr/>
        </p:nvGraphicFramePr>
        <p:xfrm>
          <a:off x="3404141" y="3617599"/>
          <a:ext cx="17843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14375" imgH="356235" progId="Equation.3">
                  <p:embed/>
                </p:oleObj>
              </mc:Choice>
              <mc:Fallback>
                <p:oleObj name="公式" r:id="rId2" imgW="714375" imgH="3562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141" y="3617599"/>
                        <a:ext cx="17843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2" name="Object 6"/>
          <p:cNvGraphicFramePr>
            <a:graphicFrameLocks noChangeAspect="1"/>
          </p:cNvGraphicFramePr>
          <p:nvPr/>
        </p:nvGraphicFramePr>
        <p:xfrm>
          <a:off x="1475656" y="5085184"/>
          <a:ext cx="32400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0175" imgH="192405" progId="Equation.3">
                  <p:embed/>
                </p:oleObj>
              </mc:Choice>
              <mc:Fallback>
                <p:oleObj name="公式" r:id="rId2" imgW="1400175" imgH="1924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5085184"/>
                        <a:ext cx="32400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9" name="Oval 7"/>
          <p:cNvSpPr>
            <a:spLocks noChangeArrowheads="1"/>
          </p:cNvSpPr>
          <p:nvPr/>
        </p:nvSpPr>
        <p:spPr bwMode="auto">
          <a:xfrm>
            <a:off x="6172200" y="32781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0120" name="Group 8"/>
          <p:cNvGrpSpPr/>
          <p:nvPr/>
        </p:nvGrpSpPr>
        <p:grpSpPr bwMode="auto">
          <a:xfrm>
            <a:off x="5683250" y="2608263"/>
            <a:ext cx="2270125" cy="1871662"/>
            <a:chOff x="4105" y="2296"/>
            <a:chExt cx="1430" cy="1179"/>
          </a:xfrm>
        </p:grpSpPr>
        <p:sp>
          <p:nvSpPr>
            <p:cNvPr id="90123" name="Line 9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4" name="Line 10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0125" name="Object 11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0975" imgH="163830" progId="Equation.3">
                    <p:embed/>
                  </p:oleObj>
                </mc:Choice>
                <mc:Fallback>
                  <p:oleObj name="公式" r:id="rId2" imgW="180975" imgH="16383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26" name="Object 12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2875" imgH="163830" progId="Equation.3">
                    <p:embed/>
                  </p:oleObj>
                </mc:Choice>
                <mc:Fallback>
                  <p:oleObj name="公式" r:id="rId2" imgW="142875" imgH="16383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27" name="Object 13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0975" imgH="240665" progId="Equation.3">
                    <p:embed/>
                  </p:oleObj>
                </mc:Choice>
                <mc:Fallback>
                  <p:oleObj name="公式" r:id="rId2" imgW="180975" imgH="24066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0270" name="Line 14"/>
          <p:cNvSpPr>
            <a:spLocks noChangeShapeType="1"/>
          </p:cNvSpPr>
          <p:nvPr/>
        </p:nvSpPr>
        <p:spPr bwMode="auto">
          <a:xfrm flipV="1">
            <a:off x="6977063" y="2824163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22" name="Object 15"/>
          <p:cNvGraphicFramePr>
            <a:graphicFrameLocks noChangeAspect="1"/>
          </p:cNvGraphicFramePr>
          <p:nvPr/>
        </p:nvGraphicFramePr>
        <p:xfrm>
          <a:off x="1219200" y="457200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95575" imgH="539115" progId="Equation.3">
                  <p:embed/>
                </p:oleObj>
              </mc:Choice>
              <mc:Fallback>
                <p:oleObj name="公式" r:id="rId2" imgW="2695575" imgH="53911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57200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8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 bldLvl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539750" y="2770188"/>
          <a:ext cx="19748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0075" imgH="163830" progId="Equation.3">
                  <p:embed/>
                </p:oleObj>
              </mc:Choice>
              <mc:Fallback>
                <p:oleObj name="公式" r:id="rId2" imgW="600075" imgH="1638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70188"/>
                        <a:ext cx="19748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2420938" y="2300288"/>
          <a:ext cx="5808662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52675" imgH="587375" progId="Equation.3">
                  <p:embed/>
                </p:oleObj>
              </mc:Choice>
              <mc:Fallback>
                <p:oleObj name="公式" r:id="rId2" imgW="2352675" imgH="58737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2300288"/>
                        <a:ext cx="5808662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611188" y="1693863"/>
            <a:ext cx="2682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即 当 </a:t>
            </a:r>
            <a:r>
              <a:rPr lang="en-US" altLang="zh-CN" sz="2800" b="1">
                <a:solidFill>
                  <a:schemeClr val="accent2"/>
                </a:solidFill>
              </a:rPr>
              <a:t>|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|&lt;1 </a:t>
            </a:r>
            <a:r>
              <a:rPr lang="zh-CN" altLang="en-US" sz="2800" b="1"/>
              <a:t>时</a:t>
            </a:r>
            <a:r>
              <a:rPr lang="en-US" altLang="zh-CN" sz="2800" b="1"/>
              <a:t>,</a:t>
            </a:r>
            <a:r>
              <a:rPr lang="zh-CN" altLang="en-US" sz="2800" b="1"/>
              <a:t>有</a:t>
            </a:r>
          </a:p>
        </p:txBody>
      </p:sp>
      <p:sp>
        <p:nvSpPr>
          <p:cNvPr id="481285" name="AutoShape 5"/>
          <p:cNvSpPr>
            <a:spLocks noChangeArrowheads="1"/>
          </p:cNvSpPr>
          <p:nvPr/>
        </p:nvSpPr>
        <p:spPr bwMode="auto">
          <a:xfrm>
            <a:off x="4572000" y="1095375"/>
            <a:ext cx="2743200" cy="676275"/>
          </a:xfrm>
          <a:prstGeom prst="wedgeRoundRectCallout">
            <a:avLst>
              <a:gd name="adj1" fmla="val -98671"/>
              <a:gd name="adj2" fmla="val 56806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X</a:t>
            </a:r>
            <a:r>
              <a:rPr lang="zh-CN" altLang="zh-CN" b="1"/>
              <a:t>作为已知变量</a:t>
            </a:r>
            <a:endParaRPr lang="zh-CN" altLang="en-US" b="1"/>
          </a:p>
        </p:txBody>
      </p:sp>
      <p:sp>
        <p:nvSpPr>
          <p:cNvPr id="481286" name="AutoShape 6"/>
          <p:cNvSpPr>
            <a:spLocks noChangeArrowheads="1"/>
          </p:cNvSpPr>
          <p:nvPr/>
        </p:nvSpPr>
        <p:spPr bwMode="auto">
          <a:xfrm>
            <a:off x="5003800" y="4846638"/>
            <a:ext cx="3048000" cy="598487"/>
          </a:xfrm>
          <a:prstGeom prst="wedgeRoundRectCallout">
            <a:avLst>
              <a:gd name="adj1" fmla="val 17343"/>
              <a:gd name="adj2" fmla="val -218699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这里是</a:t>
            </a:r>
            <a:r>
              <a:rPr lang="en-US" altLang="zh-CN" b="1" i="1"/>
              <a:t>y</a:t>
            </a:r>
            <a:r>
              <a:rPr lang="zh-CN" altLang="en-US" b="1"/>
              <a:t>的取值范围</a:t>
            </a:r>
          </a:p>
        </p:txBody>
      </p:sp>
      <p:sp>
        <p:nvSpPr>
          <p:cNvPr id="481287" name="AutoShape 7"/>
          <p:cNvSpPr>
            <a:spLocks noChangeArrowheads="1"/>
          </p:cNvSpPr>
          <p:nvPr/>
        </p:nvSpPr>
        <p:spPr bwMode="auto">
          <a:xfrm>
            <a:off x="1620838" y="4364038"/>
            <a:ext cx="2303462" cy="990600"/>
          </a:xfrm>
          <a:prstGeom prst="wedgeRoundRectCallout">
            <a:avLst>
              <a:gd name="adj1" fmla="val -76602"/>
              <a:gd name="adj2" fmla="val -139421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X</a:t>
            </a:r>
            <a:r>
              <a:rPr lang="zh-CN" altLang="en-US" b="1"/>
              <a:t>已知的条件下</a:t>
            </a:r>
          </a:p>
          <a:p>
            <a:pPr eaLnBrk="1" hangingPunct="1"/>
            <a:r>
              <a:rPr lang="en-US" altLang="zh-CN" b="1" i="1"/>
              <a:t>Y </a:t>
            </a:r>
            <a:r>
              <a:rPr lang="zh-CN" altLang="en-US" b="1"/>
              <a:t>的条件密度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bldLvl="0" animBg="1" autoUpdateAnimBg="0"/>
      <p:bldP spid="481286" grpId="0" bldLvl="0" animBg="1" autoUpdateAnimBg="0"/>
      <p:bldP spid="481287" grpId="0" bldLvl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Text Box 2"/>
          <p:cNvSpPr txBox="1">
            <a:spLocks noChangeArrowheads="1"/>
          </p:cNvSpPr>
          <p:nvPr/>
        </p:nvSpPr>
        <p:spPr bwMode="auto">
          <a:xfrm>
            <a:off x="304800" y="609600"/>
            <a:ext cx="861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accent2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en-US" altLang="zh-CN" sz="2800" b="1"/>
              <a:t>  </a:t>
            </a:r>
            <a:r>
              <a:rPr lang="zh-CN" altLang="en-US" sz="2800" b="1"/>
              <a:t>设数 </a:t>
            </a:r>
            <a:r>
              <a:rPr lang="en-US" altLang="zh-CN" sz="2800" b="1" i="1"/>
              <a:t>X </a:t>
            </a:r>
            <a:r>
              <a:rPr lang="zh-CN" altLang="en-US" sz="2800" b="1"/>
              <a:t>在区间 </a:t>
            </a:r>
            <a:r>
              <a:rPr lang="en-US" altLang="zh-CN" sz="2800" b="1"/>
              <a:t>(0,1) </a:t>
            </a:r>
            <a:r>
              <a:rPr lang="zh-CN" altLang="en-US" sz="2800" b="1"/>
              <a:t>均匀分布，当观察到 </a:t>
            </a:r>
            <a:r>
              <a:rPr lang="en-US" altLang="zh-CN" sz="2800" b="1" i="1"/>
              <a:t>X=x</a:t>
            </a:r>
            <a:endParaRPr lang="en-US" altLang="zh-CN" sz="2800" b="1"/>
          </a:p>
          <a:p>
            <a:pPr eaLnBrk="1" hangingPunct="1"/>
            <a:r>
              <a:rPr lang="en-US" altLang="zh-CN" sz="2800" b="1"/>
              <a:t>(0&lt;</a:t>
            </a:r>
            <a:r>
              <a:rPr lang="en-US" altLang="zh-CN" sz="2800" b="1" i="1"/>
              <a:t>x</a:t>
            </a:r>
            <a:r>
              <a:rPr lang="en-US" altLang="zh-CN" sz="2800" b="1"/>
              <a:t>&lt;1)</a:t>
            </a:r>
            <a:r>
              <a:rPr lang="zh-CN" altLang="en-US" sz="2800" b="1"/>
              <a:t>时，数</a:t>
            </a:r>
            <a:r>
              <a:rPr lang="en-US" altLang="zh-CN" sz="2800" b="1" i="1"/>
              <a:t>Y</a:t>
            </a:r>
            <a:r>
              <a:rPr lang="zh-CN" altLang="en-US" sz="2800" b="1"/>
              <a:t>在区间</a:t>
            </a:r>
            <a:r>
              <a:rPr lang="en-US" altLang="zh-CN" sz="2800" b="1"/>
              <a:t>(</a:t>
            </a:r>
            <a:r>
              <a:rPr lang="en-US" altLang="zh-CN" sz="2800" i="1"/>
              <a:t>x</a:t>
            </a:r>
            <a:r>
              <a:rPr lang="en-US" altLang="zh-CN" sz="2800" b="1"/>
              <a:t>,1)</a:t>
            </a:r>
            <a:r>
              <a:rPr lang="zh-CN" altLang="en-US" sz="2800" b="1"/>
              <a:t>上随机地取值 </a:t>
            </a:r>
            <a:r>
              <a:rPr lang="en-US" altLang="zh-CN" sz="2800" b="1"/>
              <a:t>.</a:t>
            </a:r>
            <a:r>
              <a:rPr lang="zh-CN" altLang="en-US" sz="2800" b="1"/>
              <a:t>求 </a:t>
            </a:r>
            <a:r>
              <a:rPr lang="en-US" altLang="zh-CN" sz="2800" b="1" i="1"/>
              <a:t>Y  </a:t>
            </a:r>
            <a:r>
              <a:rPr lang="zh-CN" altLang="en-US" sz="2800" b="1"/>
              <a:t>的概率密度</a:t>
            </a:r>
            <a:r>
              <a:rPr lang="en-US" altLang="zh-CN" sz="2800" b="1"/>
              <a:t>.</a:t>
            </a:r>
          </a:p>
        </p:txBody>
      </p:sp>
      <p:sp>
        <p:nvSpPr>
          <p:cNvPr id="482307" name="Rectangle 3"/>
          <p:cNvSpPr>
            <a:spLocks noChangeArrowheads="1"/>
          </p:cNvSpPr>
          <p:nvPr/>
        </p:nvSpPr>
        <p:spPr bwMode="auto">
          <a:xfrm>
            <a:off x="1100138" y="2060848"/>
            <a:ext cx="4527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解  依题意，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具有概率密度</a:t>
            </a:r>
          </a:p>
        </p:txBody>
      </p:sp>
      <p:graphicFrame>
        <p:nvGraphicFramePr>
          <p:cNvPr id="482308" name="Object 4"/>
          <p:cNvGraphicFramePr>
            <a:graphicFrameLocks noChangeAspect="1"/>
          </p:cNvGraphicFramePr>
          <p:nvPr/>
        </p:nvGraphicFramePr>
        <p:xfrm>
          <a:off x="1973263" y="2562498"/>
          <a:ext cx="367982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33500" imgH="384810" progId="Equation.3">
                  <p:embed/>
                </p:oleObj>
              </mc:Choice>
              <mc:Fallback>
                <p:oleObj name="公式" r:id="rId2" imgW="1333500" imgH="3848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2562498"/>
                        <a:ext cx="3679825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09" name="Text Box 5"/>
          <p:cNvSpPr txBox="1">
            <a:spLocks noChangeArrowheads="1"/>
          </p:cNvSpPr>
          <p:nvPr/>
        </p:nvSpPr>
        <p:spPr bwMode="auto">
          <a:xfrm>
            <a:off x="323850" y="3765823"/>
            <a:ext cx="8208963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zh-CN" altLang="en-US" sz="2800" b="1"/>
              <a:t>对于任意给定的值 </a:t>
            </a:r>
            <a:r>
              <a:rPr lang="en-US" altLang="zh-CN" sz="2800" b="1" i="1"/>
              <a:t>x </a:t>
            </a:r>
            <a:r>
              <a:rPr lang="en-US" altLang="zh-CN" sz="2800" b="1"/>
              <a:t>(0&lt;</a:t>
            </a:r>
            <a:r>
              <a:rPr lang="en-US" altLang="zh-CN" sz="2800" b="1" i="1"/>
              <a:t>x</a:t>
            </a:r>
            <a:r>
              <a:rPr lang="en-US" altLang="zh-CN" sz="2800" b="1"/>
              <a:t>&lt;1)</a:t>
            </a:r>
            <a:r>
              <a:rPr lang="zh-CN" altLang="en-US" sz="2800" b="1"/>
              <a:t>，在</a:t>
            </a:r>
            <a:r>
              <a:rPr lang="en-US" altLang="zh-CN" sz="2800" b="1" i="1"/>
              <a:t>X=x </a:t>
            </a:r>
            <a:r>
              <a:rPr lang="zh-CN" altLang="en-US" sz="2800" b="1"/>
              <a:t>的条件下，</a:t>
            </a:r>
            <a:r>
              <a:rPr lang="en-US" altLang="zh-CN" sz="2800" b="1" i="1"/>
              <a:t>Y</a:t>
            </a:r>
            <a:r>
              <a:rPr lang="zh-CN" altLang="en-US" sz="2800" b="1"/>
              <a:t>的条件概率密度为</a:t>
            </a:r>
          </a:p>
        </p:txBody>
      </p:sp>
      <p:graphicFrame>
        <p:nvGraphicFramePr>
          <p:cNvPr id="482310" name="Object 6"/>
          <p:cNvGraphicFramePr>
            <a:graphicFrameLocks noChangeAspect="1"/>
          </p:cNvGraphicFramePr>
          <p:nvPr/>
        </p:nvGraphicFramePr>
        <p:xfrm>
          <a:off x="1619672" y="4643710"/>
          <a:ext cx="4981575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28825" imgH="539115" progId="Equation.3">
                  <p:embed/>
                </p:oleObj>
              </mc:Choice>
              <mc:Fallback>
                <p:oleObj name="公式" r:id="rId2" imgW="2028825" imgH="5391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643710"/>
                        <a:ext cx="4981575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 bldLvl="0" animBg="1" autoUpdateAnimBg="0"/>
      <p:bldP spid="482307" grpId="0" bldLvl="0" animBg="1" autoUpdateAnimBg="0"/>
      <p:bldP spid="482309" grpId="0" bldLvl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 i="1"/>
              <a:t>X </a:t>
            </a:r>
            <a:r>
              <a:rPr lang="zh-CN" altLang="en-US" sz="2800" b="1"/>
              <a:t>和</a:t>
            </a:r>
            <a:r>
              <a:rPr lang="en-US" altLang="zh-CN" sz="2800" b="1" i="1"/>
              <a:t>Y </a:t>
            </a:r>
            <a:r>
              <a:rPr lang="zh-CN" altLang="en-US" sz="2800" b="1"/>
              <a:t>的联合密度为       </a:t>
            </a:r>
          </a:p>
        </p:txBody>
      </p:sp>
      <p:graphicFrame>
        <p:nvGraphicFramePr>
          <p:cNvPr id="483331" name="Object 3"/>
          <p:cNvGraphicFramePr>
            <a:graphicFrameLocks noChangeAspect="1"/>
          </p:cNvGraphicFramePr>
          <p:nvPr/>
        </p:nvGraphicFramePr>
        <p:xfrm>
          <a:off x="982663" y="1255713"/>
          <a:ext cx="4510087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90675" imgH="163830" progId="Equation.3">
                  <p:embed/>
                </p:oleObj>
              </mc:Choice>
              <mc:Fallback>
                <p:oleObj name="公式" r:id="rId2" imgW="1590675" imgH="163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1255713"/>
                        <a:ext cx="4510087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2" name="Object 4"/>
          <p:cNvGraphicFramePr>
            <a:graphicFrameLocks noChangeAspect="1"/>
          </p:cNvGraphicFramePr>
          <p:nvPr/>
        </p:nvGraphicFramePr>
        <p:xfrm>
          <a:off x="2362200" y="1905000"/>
          <a:ext cx="3276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19225" imgH="539115" progId="Equation.3">
                  <p:embed/>
                </p:oleObj>
              </mc:Choice>
              <mc:Fallback>
                <p:oleObj name="公式" r:id="rId2" imgW="1419225" imgH="5391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905000"/>
                        <a:ext cx="32766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3" name="Text Box 5"/>
          <p:cNvSpPr txBox="1">
            <a:spLocks noChangeArrowheads="1"/>
          </p:cNvSpPr>
          <p:nvPr/>
        </p:nvSpPr>
        <p:spPr bwMode="auto">
          <a:xfrm>
            <a:off x="304800" y="3289300"/>
            <a:ext cx="425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于是得</a:t>
            </a:r>
            <a:r>
              <a:rPr lang="en-US" altLang="zh-CN" sz="2800" b="1" i="1"/>
              <a:t>Y</a:t>
            </a:r>
            <a:r>
              <a:rPr lang="zh-CN" altLang="en-US" sz="2800" b="1"/>
              <a:t>的概率密度为</a:t>
            </a:r>
          </a:p>
        </p:txBody>
      </p:sp>
      <p:graphicFrame>
        <p:nvGraphicFramePr>
          <p:cNvPr id="483334" name="Object 6"/>
          <p:cNvGraphicFramePr>
            <a:graphicFrameLocks noChangeAspect="1"/>
          </p:cNvGraphicFramePr>
          <p:nvPr/>
        </p:nvGraphicFramePr>
        <p:xfrm>
          <a:off x="1087438" y="3886200"/>
          <a:ext cx="35941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4925" imgH="259715" progId="Equation.3">
                  <p:embed/>
                </p:oleObj>
              </mc:Choice>
              <mc:Fallback>
                <p:oleObj name="公式" r:id="rId2" imgW="1304925" imgH="2597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3886200"/>
                        <a:ext cx="35941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5" name="Object 7"/>
          <p:cNvGraphicFramePr>
            <a:graphicFrameLocks noChangeAspect="1"/>
          </p:cNvGraphicFramePr>
          <p:nvPr/>
        </p:nvGraphicFramePr>
        <p:xfrm>
          <a:off x="2133600" y="4724400"/>
          <a:ext cx="591185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90775" imgH="539115" progId="Equation.3">
                  <p:embed/>
                </p:oleObj>
              </mc:Choice>
              <mc:Fallback>
                <p:oleObj name="公式" r:id="rId2" imgW="2390775" imgH="5391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724400"/>
                        <a:ext cx="591185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6" name="AutoShape 8"/>
          <p:cNvSpPr>
            <a:spLocks noChangeArrowheads="1"/>
          </p:cNvSpPr>
          <p:nvPr/>
        </p:nvSpPr>
        <p:spPr bwMode="auto">
          <a:xfrm>
            <a:off x="6324600" y="457200"/>
            <a:ext cx="2286000" cy="1447800"/>
          </a:xfrm>
          <a:prstGeom prst="wedgeRoundRectCallout">
            <a:avLst>
              <a:gd name="adj1" fmla="val -83056"/>
              <a:gd name="adj2" fmla="val 44190"/>
              <a:gd name="adj3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b="1"/>
              <a:t>已知边缘密度、</a:t>
            </a:r>
          </a:p>
          <a:p>
            <a:pPr algn="ctr" eaLnBrk="1" hangingPunct="1"/>
            <a:r>
              <a:rPr lang="zh-CN" altLang="zh-CN" b="1"/>
              <a:t>条件密度，求</a:t>
            </a:r>
          </a:p>
          <a:p>
            <a:pPr algn="ctr" eaLnBrk="1" hangingPunct="1"/>
            <a:r>
              <a:rPr lang="zh-CN" altLang="zh-CN" b="1"/>
              <a:t>联合密度</a:t>
            </a:r>
            <a:endParaRPr lang="zh-CN" altLang="en-US" b="1"/>
          </a:p>
        </p:txBody>
      </p:sp>
      <p:sp>
        <p:nvSpPr>
          <p:cNvPr id="93193" name="Line 9"/>
          <p:cNvSpPr>
            <a:spLocks noChangeShapeType="1"/>
          </p:cNvSpPr>
          <p:nvPr/>
        </p:nvSpPr>
        <p:spPr bwMode="auto">
          <a:xfrm>
            <a:off x="6291263" y="3986213"/>
            <a:ext cx="172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4" name="Line 10"/>
          <p:cNvSpPr>
            <a:spLocks noChangeShapeType="1"/>
          </p:cNvSpPr>
          <p:nvPr/>
        </p:nvSpPr>
        <p:spPr bwMode="auto">
          <a:xfrm flipV="1">
            <a:off x="6651625" y="2328863"/>
            <a:ext cx="0" cy="2520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95" name="Object 11"/>
          <p:cNvGraphicFramePr>
            <a:graphicFrameLocks noChangeAspect="1"/>
          </p:cNvGraphicFramePr>
          <p:nvPr/>
        </p:nvGraphicFramePr>
        <p:xfrm>
          <a:off x="7983538" y="405765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0975" imgH="163830" progId="Equation.3">
                  <p:embed/>
                </p:oleObj>
              </mc:Choice>
              <mc:Fallback>
                <p:oleObj name="公式" r:id="rId2" imgW="180975" imgH="16383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8" y="405765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12"/>
          <p:cNvGraphicFramePr>
            <a:graphicFrameLocks noChangeAspect="1"/>
          </p:cNvGraphicFramePr>
          <p:nvPr/>
        </p:nvGraphicFramePr>
        <p:xfrm>
          <a:off x="6651625" y="398462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875" imgH="163830" progId="Equation.3">
                  <p:embed/>
                </p:oleObj>
              </mc:Choice>
              <mc:Fallback>
                <p:oleObj name="公式" r:id="rId2" imgW="142875" imgH="1638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3984625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7" name="Object 13"/>
          <p:cNvGraphicFramePr>
            <a:graphicFrameLocks noChangeAspect="1"/>
          </p:cNvGraphicFramePr>
          <p:nvPr/>
        </p:nvGraphicFramePr>
        <p:xfrm>
          <a:off x="6724650" y="2112963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0975" imgH="240665" progId="Equation.3">
                  <p:embed/>
                </p:oleObj>
              </mc:Choice>
              <mc:Fallback>
                <p:oleObj name="公式" r:id="rId2" imgW="180975" imgH="24066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2112963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8" name="Oval 14"/>
          <p:cNvSpPr>
            <a:spLocks noChangeArrowheads="1"/>
          </p:cNvSpPr>
          <p:nvPr/>
        </p:nvSpPr>
        <p:spPr bwMode="auto">
          <a:xfrm>
            <a:off x="6580188" y="3624263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9" name="Oval 15"/>
          <p:cNvSpPr>
            <a:spLocks noChangeArrowheads="1"/>
          </p:cNvSpPr>
          <p:nvPr/>
        </p:nvSpPr>
        <p:spPr bwMode="auto">
          <a:xfrm>
            <a:off x="6580188" y="4475163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0" name="Line 16"/>
          <p:cNvSpPr>
            <a:spLocks noChangeShapeType="1"/>
          </p:cNvSpPr>
          <p:nvPr/>
        </p:nvSpPr>
        <p:spPr bwMode="auto">
          <a:xfrm flipH="1">
            <a:off x="5932488" y="3697288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01" name="Object 17"/>
          <p:cNvGraphicFramePr>
            <a:graphicFrameLocks noChangeAspect="1"/>
          </p:cNvGraphicFramePr>
          <p:nvPr/>
        </p:nvGraphicFramePr>
        <p:xfrm>
          <a:off x="6364288" y="3408363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0975" imgH="240665" progId="Equation.3">
                  <p:embed/>
                </p:oleObj>
              </mc:Choice>
              <mc:Fallback>
                <p:oleObj name="公式" r:id="rId10" imgW="180975" imgH="24066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288" y="3408363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2" name="Object 18"/>
          <p:cNvGraphicFramePr>
            <a:graphicFrameLocks noChangeAspect="1"/>
          </p:cNvGraphicFramePr>
          <p:nvPr/>
        </p:nvGraphicFramePr>
        <p:xfrm>
          <a:off x="6723063" y="4344988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0975" imgH="240665" progId="Equation.3">
                  <p:embed/>
                </p:oleObj>
              </mc:Choice>
              <mc:Fallback>
                <p:oleObj name="公式" r:id="rId10" imgW="180975" imgH="24066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3" y="4344988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3" name="Oval 19"/>
          <p:cNvSpPr>
            <a:spLocks noChangeArrowheads="1"/>
          </p:cNvSpPr>
          <p:nvPr/>
        </p:nvSpPr>
        <p:spPr bwMode="auto">
          <a:xfrm>
            <a:off x="6580188" y="3913188"/>
            <a:ext cx="85725" cy="85725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4" name="Line 20"/>
          <p:cNvSpPr>
            <a:spLocks noChangeShapeType="1"/>
          </p:cNvSpPr>
          <p:nvPr/>
        </p:nvSpPr>
        <p:spPr bwMode="auto">
          <a:xfrm flipV="1">
            <a:off x="6291263" y="2833688"/>
            <a:ext cx="144145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05" name="Object 21"/>
          <p:cNvGraphicFramePr>
            <a:graphicFrameLocks noChangeAspect="1"/>
          </p:cNvGraphicFramePr>
          <p:nvPr/>
        </p:nvGraphicFramePr>
        <p:xfrm>
          <a:off x="7613650" y="2617788"/>
          <a:ext cx="838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62000" imgH="240665" progId="Equation.3">
                  <p:embed/>
                </p:oleObj>
              </mc:Choice>
              <mc:Fallback>
                <p:oleObj name="公式" r:id="rId13" imgW="762000" imgH="24066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617788"/>
                        <a:ext cx="838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6" name="AutoShape 22"/>
          <p:cNvSpPr>
            <a:spLocks noChangeArrowheads="1"/>
          </p:cNvSpPr>
          <p:nvPr/>
        </p:nvSpPr>
        <p:spPr bwMode="auto">
          <a:xfrm rot="5400000">
            <a:off x="6615907" y="3228181"/>
            <a:ext cx="792162" cy="720725"/>
          </a:xfrm>
          <a:prstGeom prst="rtTriangle">
            <a:avLst/>
          </a:prstGeom>
          <a:solidFill>
            <a:schemeClr val="accent1">
              <a:alpha val="65097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7" name="Oval 23"/>
          <p:cNvSpPr>
            <a:spLocks noChangeArrowheads="1"/>
          </p:cNvSpPr>
          <p:nvPr/>
        </p:nvSpPr>
        <p:spPr bwMode="auto">
          <a:xfrm>
            <a:off x="6580188" y="3121025"/>
            <a:ext cx="85725" cy="8572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3208" name="Object 24"/>
          <p:cNvGraphicFramePr>
            <a:graphicFrameLocks noChangeAspect="1"/>
          </p:cNvGraphicFramePr>
          <p:nvPr/>
        </p:nvGraphicFramePr>
        <p:xfrm>
          <a:off x="6364288" y="2905125"/>
          <a:ext cx="177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04775" imgH="231140" progId="Equation.3">
                  <p:embed/>
                </p:oleObj>
              </mc:Choice>
              <mc:Fallback>
                <p:oleObj name="公式" r:id="rId15" imgW="104775" imgH="2311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288" y="2905125"/>
                        <a:ext cx="177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9" name="Oval 25"/>
          <p:cNvSpPr>
            <a:spLocks noChangeArrowheads="1"/>
          </p:cNvSpPr>
          <p:nvPr/>
        </p:nvSpPr>
        <p:spPr bwMode="auto">
          <a:xfrm>
            <a:off x="6580188" y="2760663"/>
            <a:ext cx="85725" cy="8572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3210" name="Object 26"/>
          <p:cNvGraphicFramePr>
            <a:graphicFrameLocks noChangeAspect="1"/>
          </p:cNvGraphicFramePr>
          <p:nvPr/>
        </p:nvGraphicFramePr>
        <p:xfrm>
          <a:off x="6651625" y="2689225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0975" imgH="240665" progId="Equation.3">
                  <p:embed/>
                </p:oleObj>
              </mc:Choice>
              <mc:Fallback>
                <p:oleObj name="公式" r:id="rId10" imgW="180975" imgH="24066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2689225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1" name="Line 27"/>
          <p:cNvSpPr>
            <a:spLocks noChangeShapeType="1"/>
          </p:cNvSpPr>
          <p:nvPr/>
        </p:nvSpPr>
        <p:spPr bwMode="auto">
          <a:xfrm>
            <a:off x="6940550" y="369728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2" name="Oval 28"/>
          <p:cNvSpPr>
            <a:spLocks noChangeArrowheads="1"/>
          </p:cNvSpPr>
          <p:nvPr/>
        </p:nvSpPr>
        <p:spPr bwMode="auto">
          <a:xfrm>
            <a:off x="6926263" y="3898900"/>
            <a:ext cx="85725" cy="85725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0" grpId="0" bldLvl="0" animBg="1" autoUpdateAnimBg="0"/>
      <p:bldP spid="483333" grpId="0" bldLvl="0" animBg="1" autoUpdateAnimBg="0"/>
      <p:bldP spid="483336" grpId="0" bldLvl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838200" y="685800"/>
            <a:ext cx="6508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第六节 两个随机变量的函数的分布</a:t>
            </a:r>
          </a:p>
        </p:txBody>
      </p:sp>
      <p:sp>
        <p:nvSpPr>
          <p:cNvPr id="373769" name="Text Box 9"/>
          <p:cNvSpPr txBox="1">
            <a:spLocks noChangeArrowheads="1"/>
          </p:cNvSpPr>
          <p:nvPr/>
        </p:nvSpPr>
        <p:spPr bwMode="auto">
          <a:xfrm>
            <a:off x="762000" y="2147888"/>
            <a:ext cx="7315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/>
              <a:t>          </a:t>
            </a:r>
            <a:r>
              <a:rPr lang="zh-CN" altLang="en-US" sz="2800" b="1"/>
              <a:t>在第二章中，我们讨论了一维随机变量函数的分布，现在我们进一步讨论</a:t>
            </a:r>
            <a:r>
              <a:rPr lang="en-US" altLang="zh-CN" sz="2800" b="1"/>
              <a:t>:</a:t>
            </a:r>
            <a:endParaRPr lang="en-US" altLang="zh-CN" sz="2800">
              <a:solidFill>
                <a:schemeClr val="tx2"/>
              </a:solidFill>
            </a:endParaRPr>
          </a:p>
        </p:txBody>
      </p:sp>
      <p:sp>
        <p:nvSpPr>
          <p:cNvPr id="373770" name="Rectangle 10"/>
          <p:cNvSpPr>
            <a:spLocks noChangeArrowheads="1"/>
          </p:cNvSpPr>
          <p:nvPr/>
        </p:nvSpPr>
        <p:spPr bwMode="auto">
          <a:xfrm>
            <a:off x="1066800" y="3748088"/>
            <a:ext cx="7561263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en-US" sz="2800" b="1">
                <a:solidFill>
                  <a:schemeClr val="tx2"/>
                </a:solidFill>
              </a:rPr>
              <a:t>当随机变量 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, 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zh-CN" altLang="en-US" sz="2800" b="1">
                <a:solidFill>
                  <a:schemeClr val="tx2"/>
                </a:solidFill>
              </a:rPr>
              <a:t>的联合分布已知时，如何求出它们的函数</a:t>
            </a:r>
          </a:p>
          <a:p>
            <a:pPr algn="ctr">
              <a:lnSpc>
                <a:spcPct val="110000"/>
              </a:lnSpc>
            </a:pPr>
            <a:r>
              <a:rPr lang="en-US" altLang="zh-CN" sz="2800" b="1" i="1">
                <a:solidFill>
                  <a:schemeClr val="tx2"/>
                </a:solidFill>
              </a:rPr>
              <a:t>Z </a:t>
            </a:r>
            <a:r>
              <a:rPr lang="en-US" altLang="zh-CN" sz="2800" b="1">
                <a:solidFill>
                  <a:schemeClr val="tx2"/>
                </a:solidFill>
              </a:rPr>
              <a:t>= </a:t>
            </a:r>
            <a:r>
              <a:rPr lang="en-US" altLang="zh-CN" sz="2800" b="1" i="1">
                <a:solidFill>
                  <a:schemeClr val="tx2"/>
                </a:solidFill>
              </a:rPr>
              <a:t>g </a:t>
            </a:r>
            <a:r>
              <a:rPr lang="en-US" altLang="zh-CN" sz="2800" b="1">
                <a:solidFill>
                  <a:schemeClr val="tx2"/>
                </a:solidFill>
              </a:rPr>
              <a:t>( 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, 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en-US" altLang="zh-CN" sz="2800" b="1">
                <a:solidFill>
                  <a:schemeClr val="tx2"/>
                </a:solidFill>
              </a:rPr>
              <a:t>)   </a:t>
            </a:r>
          </a:p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tx2"/>
                </a:solidFill>
              </a:rPr>
              <a:t>的分布</a:t>
            </a:r>
            <a:r>
              <a:rPr lang="en-US" altLang="zh-CN" sz="2800" b="1">
                <a:solidFill>
                  <a:schemeClr val="tx2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7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9" grpId="0" autoUpdateAnimBg="0"/>
      <p:bldP spid="373770" grpId="0" bldLvl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7" name="Text Box 3"/>
          <p:cNvSpPr txBox="1">
            <a:spLocks noChangeArrowheads="1"/>
          </p:cNvSpPr>
          <p:nvPr/>
        </p:nvSpPr>
        <p:spPr bwMode="auto">
          <a:xfrm>
            <a:off x="900113" y="981075"/>
            <a:ext cx="2233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）离散型</a:t>
            </a:r>
          </a:p>
        </p:txBody>
      </p:sp>
      <p:graphicFrame>
        <p:nvGraphicFramePr>
          <p:cNvPr id="523268" name="Object 4"/>
          <p:cNvGraphicFramePr>
            <a:graphicFrameLocks noChangeAspect="1"/>
          </p:cNvGraphicFramePr>
          <p:nvPr/>
        </p:nvGraphicFramePr>
        <p:xfrm>
          <a:off x="769938" y="2239963"/>
          <a:ext cx="77771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57500" imgH="215900" progId="Equation.3">
                  <p:embed/>
                </p:oleObj>
              </mc:Choice>
              <mc:Fallback>
                <p:oleObj name="公式" r:id="rId2" imgW="28575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239963"/>
                        <a:ext cx="777716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9" name="Object 5"/>
          <p:cNvGraphicFramePr>
            <a:graphicFrameLocks noChangeAspect="1"/>
          </p:cNvGraphicFramePr>
          <p:nvPr/>
        </p:nvGraphicFramePr>
        <p:xfrm>
          <a:off x="1511300" y="3016250"/>
          <a:ext cx="6030913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241300" progId="Equation.DSMT4">
                  <p:embed/>
                </p:oleObj>
              </mc:Choice>
              <mc:Fallback>
                <p:oleObj name="Equation" r:id="rId4" imgW="22860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016250"/>
                        <a:ext cx="6030913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70" name="Object 6"/>
          <p:cNvGraphicFramePr>
            <a:graphicFrameLocks noChangeAspect="1"/>
          </p:cNvGraphicFramePr>
          <p:nvPr/>
        </p:nvGraphicFramePr>
        <p:xfrm>
          <a:off x="542925" y="3711575"/>
          <a:ext cx="86010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13100" imgH="215900" progId="Equation.3">
                  <p:embed/>
                </p:oleObj>
              </mc:Choice>
              <mc:Fallback>
                <p:oleObj name="公式" r:id="rId6" imgW="32131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3711575"/>
                        <a:ext cx="86010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71" name="Object 7"/>
          <p:cNvGraphicFramePr>
            <a:graphicFrameLocks noChangeAspect="1"/>
          </p:cNvGraphicFramePr>
          <p:nvPr/>
        </p:nvGraphicFramePr>
        <p:xfrm>
          <a:off x="1701800" y="4397375"/>
          <a:ext cx="59340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900" imgH="279400" progId="Equation.DSMT4">
                  <p:embed/>
                </p:oleObj>
              </mc:Choice>
              <mc:Fallback>
                <p:oleObj name="Equation" r:id="rId8" imgW="22479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4397375"/>
                        <a:ext cx="593407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72" name="Object 8"/>
          <p:cNvGraphicFramePr>
            <a:graphicFrameLocks noChangeAspect="1"/>
          </p:cNvGraphicFramePr>
          <p:nvPr/>
        </p:nvGraphicFramePr>
        <p:xfrm>
          <a:off x="958850" y="5102225"/>
          <a:ext cx="69389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800" imgH="241300" progId="Equation.DSMT4">
                  <p:embed/>
                </p:oleObj>
              </mc:Choice>
              <mc:Fallback>
                <p:oleObj name="Equation" r:id="rId10" imgW="25908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5102225"/>
                        <a:ext cx="69389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Text Box 2"/>
          <p:cNvSpPr txBox="1">
            <a:spLocks noChangeArrowheads="1"/>
          </p:cNvSpPr>
          <p:nvPr/>
        </p:nvSpPr>
        <p:spPr bwMode="auto">
          <a:xfrm>
            <a:off x="450850" y="958850"/>
            <a:ext cx="81534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zh-CN" sz="2800" b="1">
                <a:solidFill>
                  <a:srgbClr val="CCFFFF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en-US" altLang="zh-CN" sz="2800" b="1"/>
              <a:t>    </a:t>
            </a:r>
            <a:r>
              <a:rPr lang="zh-CN" altLang="en-US" sz="2800" b="1"/>
              <a:t>若 </a:t>
            </a:r>
            <a:r>
              <a:rPr lang="en-US" altLang="zh-CN" sz="2800" b="1" i="1"/>
              <a:t>X</a:t>
            </a:r>
            <a:r>
              <a:rPr lang="zh-CN" altLang="en-US" sz="2800" b="1"/>
              <a:t>、</a:t>
            </a:r>
            <a:r>
              <a:rPr lang="en-US" altLang="zh-CN" sz="2800" b="1" i="1"/>
              <a:t>Y </a:t>
            </a:r>
            <a:r>
              <a:rPr lang="zh-CN" altLang="en-US" sz="2800" b="1"/>
              <a:t>独立，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/>
              <a:t>)=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k </a:t>
            </a:r>
            <a:r>
              <a:rPr lang="en-US" altLang="zh-CN" sz="2800" b="1"/>
              <a:t>, </a:t>
            </a:r>
            <a:r>
              <a:rPr lang="en-US" altLang="zh-CN" sz="2800" b="1" i="1"/>
              <a:t>k</a:t>
            </a:r>
            <a:r>
              <a:rPr lang="en-US" altLang="zh-CN" sz="2800" b="1"/>
              <a:t>=0 , 1 , 2 ,…,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/>
              <a:t>)=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k </a:t>
            </a:r>
            <a:r>
              <a:rPr lang="en-US" altLang="zh-CN" sz="2800" b="1"/>
              <a:t>, </a:t>
            </a:r>
            <a:r>
              <a:rPr lang="en-US" altLang="zh-CN" sz="2800" b="1" i="1"/>
              <a:t>k</a:t>
            </a:r>
            <a:r>
              <a:rPr lang="en-US" altLang="zh-CN" sz="2800" b="1"/>
              <a:t>=0,1,2,… ,</a:t>
            </a:r>
            <a:r>
              <a:rPr lang="zh-CN" altLang="zh-CN" sz="2800" b="1"/>
              <a:t>求</a:t>
            </a:r>
            <a:r>
              <a:rPr lang="zh-CN" altLang="en-US" sz="2800" b="1"/>
              <a:t> 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 </a:t>
            </a:r>
            <a:r>
              <a:rPr lang="zh-CN" altLang="zh-CN" sz="2800" b="1"/>
              <a:t>的概率函数.</a:t>
            </a:r>
            <a:endParaRPr lang="en-US" altLang="zh-CN" sz="2800" b="1"/>
          </a:p>
        </p:txBody>
      </p:sp>
      <p:grpSp>
        <p:nvGrpSpPr>
          <p:cNvPr id="375811" name="Group 3"/>
          <p:cNvGrpSpPr/>
          <p:nvPr/>
        </p:nvGrpSpPr>
        <p:grpSpPr bwMode="auto">
          <a:xfrm>
            <a:off x="1171575" y="2225675"/>
            <a:ext cx="5410200" cy="595313"/>
            <a:chOff x="288" y="1516"/>
            <a:chExt cx="3408" cy="375"/>
          </a:xfrm>
        </p:grpSpPr>
        <p:graphicFrame>
          <p:nvGraphicFramePr>
            <p:cNvPr id="97289" name="Object 4"/>
            <p:cNvGraphicFramePr>
              <a:graphicFrameLocks noChangeAspect="1"/>
            </p:cNvGraphicFramePr>
            <p:nvPr/>
          </p:nvGraphicFramePr>
          <p:xfrm>
            <a:off x="2844" y="1756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00" imgH="215900" progId="Equation.3">
                    <p:embed/>
                  </p:oleObj>
                </mc:Choice>
                <mc:Fallback>
                  <p:oleObj name="公式" r:id="rId2" imgW="114300" imgH="215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1756"/>
                          <a:ext cx="7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90" name="Rectangle 5"/>
            <p:cNvSpPr>
              <a:spLocks noChangeArrowheads="1"/>
            </p:cNvSpPr>
            <p:nvPr/>
          </p:nvSpPr>
          <p:spPr bwMode="auto">
            <a:xfrm>
              <a:off x="288" y="1516"/>
              <a:ext cx="3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解  </a:t>
              </a:r>
            </a:p>
          </p:txBody>
        </p:sp>
        <p:graphicFrame>
          <p:nvGraphicFramePr>
            <p:cNvPr id="97291" name="Object 6"/>
            <p:cNvGraphicFramePr>
              <a:graphicFrameLocks noChangeAspect="1"/>
            </p:cNvGraphicFramePr>
            <p:nvPr/>
          </p:nvGraphicFramePr>
          <p:xfrm>
            <a:off x="921" y="1536"/>
            <a:ext cx="2736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24000" imgH="125095" progId="Equation.3">
                    <p:embed/>
                  </p:oleObj>
                </mc:Choice>
                <mc:Fallback>
                  <p:oleObj name="公式" r:id="rId2" imgW="1524000" imgH="12509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1536"/>
                          <a:ext cx="2736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5815" name="Object 7"/>
          <p:cNvGraphicFramePr>
            <a:graphicFrameLocks noChangeAspect="1"/>
          </p:cNvGraphicFramePr>
          <p:nvPr/>
        </p:nvGraphicFramePr>
        <p:xfrm>
          <a:off x="2938463" y="3852863"/>
          <a:ext cx="4481512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1625" imgH="356235" progId="Equation.3">
                  <p:embed/>
                </p:oleObj>
              </mc:Choice>
              <mc:Fallback>
                <p:oleObj name="公式" r:id="rId2" imgW="1571625" imgH="3562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3852863"/>
                        <a:ext cx="4481512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6" name="Text Box 8"/>
          <p:cNvSpPr txBox="1">
            <a:spLocks noChangeArrowheads="1"/>
          </p:cNvSpPr>
          <p:nvPr/>
        </p:nvSpPr>
        <p:spPr bwMode="auto">
          <a:xfrm>
            <a:off x="2889250" y="5049838"/>
            <a:ext cx="4114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/>
              <a:t>=</a:t>
            </a:r>
            <a:r>
              <a:rPr lang="en-US" altLang="zh-CN" sz="3200" b="1" i="1"/>
              <a:t>a</a:t>
            </a:r>
            <a:r>
              <a:rPr lang="en-US" altLang="zh-CN" sz="3200" b="1" baseline="-25000"/>
              <a:t>0</a:t>
            </a:r>
            <a:r>
              <a:rPr lang="en-US" altLang="zh-CN" sz="3200" b="1" i="1"/>
              <a:t>b</a:t>
            </a:r>
            <a:r>
              <a:rPr lang="en-US" altLang="zh-CN" sz="3200" b="1" i="1" baseline="-25000"/>
              <a:t>r</a:t>
            </a:r>
            <a:r>
              <a:rPr lang="en-US" altLang="zh-CN" sz="3200" b="1"/>
              <a:t>+</a:t>
            </a:r>
            <a:r>
              <a:rPr lang="en-US" altLang="zh-CN" sz="3200" b="1" i="1"/>
              <a:t>a</a:t>
            </a:r>
            <a:r>
              <a:rPr lang="en-US" altLang="zh-CN" sz="3200" b="1" baseline="-25000"/>
              <a:t>1</a:t>
            </a:r>
            <a:r>
              <a:rPr lang="en-US" altLang="zh-CN" sz="3200" b="1" i="1"/>
              <a:t>b</a:t>
            </a:r>
            <a:r>
              <a:rPr lang="en-US" altLang="zh-CN" sz="3200" b="1" i="1" baseline="-25000"/>
              <a:t>r</a:t>
            </a:r>
            <a:r>
              <a:rPr lang="en-US" altLang="zh-CN" sz="3200" b="1" baseline="-25000"/>
              <a:t>-1</a:t>
            </a:r>
            <a:r>
              <a:rPr lang="en-US" altLang="zh-CN" sz="3200" b="1"/>
              <a:t>+…+</a:t>
            </a:r>
            <a:r>
              <a:rPr lang="en-US" altLang="zh-CN" sz="3200" b="1" i="1"/>
              <a:t>a</a:t>
            </a:r>
            <a:r>
              <a:rPr lang="en-US" altLang="zh-CN" sz="3200" b="1" i="1" baseline="-25000"/>
              <a:t>r</a:t>
            </a:r>
            <a:r>
              <a:rPr lang="en-US" altLang="zh-CN" sz="3200" b="1" i="1"/>
              <a:t>b</a:t>
            </a:r>
            <a:r>
              <a:rPr lang="en-US" altLang="zh-CN" sz="3200" b="1" baseline="-25000"/>
              <a:t>0</a:t>
            </a:r>
            <a:r>
              <a:rPr lang="en-US" altLang="zh-CN" sz="3200" b="1"/>
              <a:t>           </a:t>
            </a:r>
          </a:p>
        </p:txBody>
      </p:sp>
      <p:graphicFrame>
        <p:nvGraphicFramePr>
          <p:cNvPr id="375817" name="Object 9"/>
          <p:cNvGraphicFramePr>
            <a:graphicFrameLocks noChangeAspect="1"/>
          </p:cNvGraphicFramePr>
          <p:nvPr/>
        </p:nvGraphicFramePr>
        <p:xfrm>
          <a:off x="2965450" y="2786063"/>
          <a:ext cx="40322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700" imgH="356235" progId="Equation.3">
                  <p:embed/>
                </p:oleObj>
              </mc:Choice>
              <mc:Fallback>
                <p:oleObj name="公式" r:id="rId2" imgW="1409700" imgH="3562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2786063"/>
                        <a:ext cx="4032250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8" name="AutoShape 10"/>
          <p:cNvSpPr>
            <a:spLocks noChangeArrowheads="1"/>
          </p:cNvSpPr>
          <p:nvPr/>
        </p:nvSpPr>
        <p:spPr bwMode="auto">
          <a:xfrm>
            <a:off x="533400" y="5054600"/>
            <a:ext cx="1828800" cy="647700"/>
          </a:xfrm>
          <a:prstGeom prst="wedgeRoundRectCallout">
            <a:avLst>
              <a:gd name="adj1" fmla="val 85940"/>
              <a:gd name="adj2" fmla="val -131616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由独立性</a:t>
            </a:r>
          </a:p>
        </p:txBody>
      </p:sp>
      <p:sp>
        <p:nvSpPr>
          <p:cNvPr id="375819" name="Rectangle 11"/>
          <p:cNvSpPr>
            <a:spLocks noChangeArrowheads="1"/>
          </p:cNvSpPr>
          <p:nvPr/>
        </p:nvSpPr>
        <p:spPr bwMode="auto">
          <a:xfrm>
            <a:off x="6851650" y="5049838"/>
            <a:ext cx="1997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>
                <a:solidFill>
                  <a:schemeClr val="tx2"/>
                </a:solidFill>
              </a:rPr>
              <a:t>r</a:t>
            </a:r>
            <a:r>
              <a:rPr lang="en-US" altLang="zh-CN" sz="3200" b="1">
                <a:solidFill>
                  <a:schemeClr val="tx2"/>
                </a:solidFill>
              </a:rPr>
              <a:t>=0,1,2,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 autoUpdateAnimBg="0"/>
      <p:bldP spid="375816" grpId="0" bldLvl="0" animBg="1" autoUpdateAnimBg="0"/>
      <p:bldP spid="375818" grpId="0" bldLvl="0" animBg="1" autoUpdateAnimBg="0"/>
      <p:bldP spid="375819" grpId="0" bldLvl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4572000" y="3286125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6125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4572000" y="3286125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6125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1100138" y="1819275"/>
            <a:ext cx="2297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解   </a:t>
            </a:r>
            <a:r>
              <a:rPr lang="zh-CN" altLang="en-US" sz="2800" b="1">
                <a:solidFill>
                  <a:schemeClr val="accent2"/>
                </a:solidFill>
              </a:rPr>
              <a:t>依题意</a:t>
            </a:r>
            <a:r>
              <a:rPr lang="zh-CN" altLang="en-US" sz="2800" b="1">
                <a:solidFill>
                  <a:srgbClr val="FFFF99"/>
                </a:solidFill>
              </a:rPr>
              <a:t>           </a:t>
            </a: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1801813" y="5002213"/>
          <a:ext cx="539750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09775" imgH="356235" progId="Equation.3">
                  <p:embed/>
                </p:oleObj>
              </mc:Choice>
              <mc:Fallback>
                <p:oleObj name="公式" r:id="rId2" imgW="2009775" imgH="3562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5002213"/>
                        <a:ext cx="5397500" cy="1116012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381000" y="685800"/>
            <a:ext cx="8337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FF99"/>
                </a:solidFill>
              </a:rPr>
              <a:t>        </a:t>
            </a:r>
            <a:r>
              <a:rPr lang="zh-CN" altLang="en-US" sz="2800" b="1"/>
              <a:t>例</a:t>
            </a:r>
            <a:r>
              <a:rPr lang="en-US" altLang="zh-CN" sz="2800" b="1"/>
              <a:t>2  </a:t>
            </a:r>
            <a:r>
              <a:rPr lang="zh-CN" altLang="en-US" sz="2800" b="1"/>
              <a:t>若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相互独立</a:t>
            </a:r>
            <a:r>
              <a:rPr lang="en-US" altLang="zh-CN" sz="2800" b="1"/>
              <a:t>,</a:t>
            </a:r>
            <a:r>
              <a:rPr lang="zh-CN" altLang="en-US" sz="2800" b="1"/>
              <a:t>它们分别服从参数为</a:t>
            </a:r>
          </a:p>
          <a:p>
            <a:r>
              <a:rPr lang="zh-CN" altLang="en-US" sz="2800" b="1"/>
              <a:t>的泊松分布</a:t>
            </a:r>
            <a:r>
              <a:rPr lang="en-US" altLang="zh-CN" sz="2800" b="1"/>
              <a:t>, </a:t>
            </a:r>
            <a:r>
              <a:rPr lang="zh-CN" altLang="en-US" sz="2800" b="1"/>
              <a:t>证明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服从参数为</a:t>
            </a:r>
          </a:p>
        </p:txBody>
      </p:sp>
      <p:sp>
        <p:nvSpPr>
          <p:cNvPr id="376839" name="Rectangle 7"/>
          <p:cNvSpPr>
            <a:spLocks noChangeArrowheads="1"/>
          </p:cNvSpPr>
          <p:nvPr/>
        </p:nvSpPr>
        <p:spPr bwMode="auto">
          <a:xfrm>
            <a:off x="452438" y="449897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于是</a:t>
            </a:r>
          </a:p>
        </p:txBody>
      </p:sp>
      <p:sp>
        <p:nvSpPr>
          <p:cNvPr id="376840" name="Rectangle 8"/>
          <p:cNvSpPr>
            <a:spLocks noChangeArrowheads="1"/>
          </p:cNvSpPr>
          <p:nvPr/>
        </p:nvSpPr>
        <p:spPr bwMode="auto">
          <a:xfrm>
            <a:off x="5113338" y="2660650"/>
            <a:ext cx="2662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i </a:t>
            </a:r>
            <a:r>
              <a:rPr lang="en-US" altLang="zh-CN" sz="3200" b="1"/>
              <a:t>= 0 , 1 , 2 , …</a:t>
            </a:r>
          </a:p>
        </p:txBody>
      </p:sp>
      <p:sp>
        <p:nvSpPr>
          <p:cNvPr id="376841" name="Rectangle 9"/>
          <p:cNvSpPr>
            <a:spLocks noChangeArrowheads="1"/>
          </p:cNvSpPr>
          <p:nvPr/>
        </p:nvSpPr>
        <p:spPr bwMode="auto">
          <a:xfrm>
            <a:off x="5062538" y="3805238"/>
            <a:ext cx="2662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j </a:t>
            </a:r>
            <a:r>
              <a:rPr lang="en-US" altLang="zh-CN" sz="3200" b="1"/>
              <a:t>= 0 , 1 , 2 , …</a:t>
            </a:r>
          </a:p>
        </p:txBody>
      </p:sp>
      <p:graphicFrame>
        <p:nvGraphicFramePr>
          <p:cNvPr id="376842" name="Object 10"/>
          <p:cNvGraphicFramePr>
            <a:graphicFrameLocks noChangeAspect="1"/>
          </p:cNvGraphicFramePr>
          <p:nvPr/>
        </p:nvGraphicFramePr>
        <p:xfrm>
          <a:off x="1868488" y="2376488"/>
          <a:ext cx="304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76325" imgH="384810" progId="Equation.3">
                  <p:embed/>
                </p:oleObj>
              </mc:Choice>
              <mc:Fallback>
                <p:oleObj name="公式" r:id="rId2" imgW="1076325" imgH="3848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2376488"/>
                        <a:ext cx="3048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3" name="Object 11"/>
          <p:cNvGraphicFramePr>
            <a:graphicFrameLocks noChangeAspect="1"/>
          </p:cNvGraphicFramePr>
          <p:nvPr/>
        </p:nvGraphicFramePr>
        <p:xfrm>
          <a:off x="1812925" y="3527425"/>
          <a:ext cx="30321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5375" imgH="384810" progId="Equation.3">
                  <p:embed/>
                </p:oleObj>
              </mc:Choice>
              <mc:Fallback>
                <p:oleObj name="公式" r:id="rId2" imgW="1095375" imgH="3848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527425"/>
                        <a:ext cx="303212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6" name="Object 12"/>
          <p:cNvGraphicFramePr>
            <a:graphicFrameLocks noChangeAspect="1"/>
          </p:cNvGraphicFramePr>
          <p:nvPr/>
        </p:nvGraphicFramePr>
        <p:xfrm>
          <a:off x="8094663" y="754063"/>
          <a:ext cx="71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8175" imgH="356235" progId="Equation.DSMT4">
                  <p:embed/>
                </p:oleObj>
              </mc:Choice>
              <mc:Fallback>
                <p:oleObj name="Equation" r:id="rId2" imgW="638175" imgH="35623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4663" y="754063"/>
                        <a:ext cx="71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7" name="Object 13"/>
          <p:cNvGraphicFramePr>
            <a:graphicFrameLocks noChangeAspect="1"/>
          </p:cNvGraphicFramePr>
          <p:nvPr/>
        </p:nvGraphicFramePr>
        <p:xfrm>
          <a:off x="6008688" y="1222375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47725" imgH="356235" progId="Equation.DSMT4">
                  <p:embed/>
                </p:oleObj>
              </mc:Choice>
              <mc:Fallback>
                <p:oleObj name="Equation" r:id="rId2" imgW="847725" imgH="35623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1222375"/>
                        <a:ext cx="927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8" name="Rectangle 14"/>
          <p:cNvSpPr>
            <a:spLocks noChangeArrowheads="1"/>
          </p:cNvSpPr>
          <p:nvPr/>
        </p:nvSpPr>
        <p:spPr bwMode="auto">
          <a:xfrm>
            <a:off x="6869113" y="1171575"/>
            <a:ext cx="2058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的泊松分布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6" grpId="0" bldLvl="0" animBg="1" autoUpdateAnimBg="0"/>
      <p:bldP spid="376839" grpId="0" bldLvl="0" animBg="1" autoUpdateAnimBg="0"/>
      <p:bldP spid="376840" grpId="0" bldLvl="0" animBg="1" autoUpdateAnimBg="0"/>
      <p:bldP spid="376841" grpId="0" bldLvl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4570413" y="26733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26733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" name="Object 3"/>
          <p:cNvGraphicFramePr>
            <a:graphicFrameLocks noChangeAspect="1"/>
          </p:cNvGraphicFramePr>
          <p:nvPr/>
        </p:nvGraphicFramePr>
        <p:xfrm>
          <a:off x="4570413" y="2673350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2673350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1219200" y="304800"/>
          <a:ext cx="5399088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09775" imgH="356235" progId="Equation.3">
                  <p:embed/>
                </p:oleObj>
              </mc:Choice>
              <mc:Fallback>
                <p:oleObj name="公式" r:id="rId2" imgW="2009775" imgH="3562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4800"/>
                        <a:ext cx="5399088" cy="111601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1" name="Object 5"/>
          <p:cNvGraphicFramePr>
            <a:graphicFrameLocks noChangeAspect="1"/>
          </p:cNvGraphicFramePr>
          <p:nvPr/>
        </p:nvGraphicFramePr>
        <p:xfrm>
          <a:off x="2814638" y="1531938"/>
          <a:ext cx="35814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4925" imgH="375285" progId="Equation.3">
                  <p:embed/>
                </p:oleObj>
              </mc:Choice>
              <mc:Fallback>
                <p:oleObj name="公式" r:id="rId2" imgW="1304925" imgH="3752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1531938"/>
                        <a:ext cx="3581400" cy="11493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2" name="Object 6"/>
          <p:cNvGraphicFramePr>
            <a:graphicFrameLocks noChangeAspect="1"/>
          </p:cNvGraphicFramePr>
          <p:nvPr/>
        </p:nvGraphicFramePr>
        <p:xfrm>
          <a:off x="2824163" y="2755900"/>
          <a:ext cx="417036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3525" imgH="375285" progId="Equation.DSMT4">
                  <p:embed/>
                </p:oleObj>
              </mc:Choice>
              <mc:Fallback>
                <p:oleObj name="Equation" r:id="rId6" imgW="1533525" imgH="37528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2755900"/>
                        <a:ext cx="4170362" cy="11493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3" name="Object 7"/>
          <p:cNvGraphicFramePr>
            <a:graphicFrameLocks noChangeAspect="1"/>
          </p:cNvGraphicFramePr>
          <p:nvPr/>
        </p:nvGraphicFramePr>
        <p:xfrm>
          <a:off x="2832100" y="3898900"/>
          <a:ext cx="3252788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1100" imgH="346710" progId="Equation.3">
                  <p:embed/>
                </p:oleObj>
              </mc:Choice>
              <mc:Fallback>
                <p:oleObj name="公式" r:id="rId2" imgW="1181100" imgH="3467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898900"/>
                        <a:ext cx="3252788" cy="108743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864" name="Rectangle 8"/>
          <p:cNvSpPr>
            <a:spLocks noChangeArrowheads="1"/>
          </p:cNvSpPr>
          <p:nvPr/>
        </p:nvSpPr>
        <p:spPr bwMode="auto">
          <a:xfrm>
            <a:off x="6316663" y="4171950"/>
            <a:ext cx="2200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>
                <a:solidFill>
                  <a:schemeClr val="tx2"/>
                </a:solidFill>
              </a:rPr>
              <a:t>r </a:t>
            </a:r>
            <a:r>
              <a:rPr lang="en-US" altLang="zh-CN" sz="3200" b="1">
                <a:solidFill>
                  <a:schemeClr val="tx2"/>
                </a:solidFill>
              </a:rPr>
              <a:t>= 0 , 1 , …</a:t>
            </a:r>
            <a:endParaRPr lang="en-US" altLang="zh-CN" sz="3200" b="1">
              <a:solidFill>
                <a:srgbClr val="FFFF99"/>
              </a:solidFill>
            </a:endParaRPr>
          </a:p>
        </p:txBody>
      </p:sp>
      <p:grpSp>
        <p:nvGrpSpPr>
          <p:cNvPr id="377865" name="Group 9"/>
          <p:cNvGrpSpPr/>
          <p:nvPr/>
        </p:nvGrpSpPr>
        <p:grpSpPr bwMode="auto">
          <a:xfrm>
            <a:off x="666750" y="5114925"/>
            <a:ext cx="5486400" cy="519113"/>
            <a:chOff x="768" y="3342"/>
            <a:chExt cx="3456" cy="327"/>
          </a:xfrm>
        </p:grpSpPr>
        <p:sp>
          <p:nvSpPr>
            <p:cNvPr id="99338" name="Rectangle 10"/>
            <p:cNvSpPr>
              <a:spLocks noChangeArrowheads="1"/>
            </p:cNvSpPr>
            <p:nvPr/>
          </p:nvSpPr>
          <p:spPr bwMode="auto">
            <a:xfrm>
              <a:off x="768" y="3342"/>
              <a:ext cx="34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即</a:t>
              </a:r>
              <a:r>
                <a:rPr lang="en-US" altLang="zh-CN" sz="2800" b="1" i="1"/>
                <a:t>Z</a:t>
              </a:r>
              <a:r>
                <a:rPr lang="zh-CN" altLang="en-US" sz="2800" b="1"/>
                <a:t>服从参数为            的泊松分布</a:t>
              </a:r>
              <a:r>
                <a:rPr lang="en-US" altLang="zh-CN" sz="2800" b="1"/>
                <a:t>.</a:t>
              </a:r>
            </a:p>
          </p:txBody>
        </p:sp>
        <p:graphicFrame>
          <p:nvGraphicFramePr>
            <p:cNvPr id="99339" name="Object 11"/>
            <p:cNvGraphicFramePr>
              <a:graphicFrameLocks noChangeAspect="1"/>
            </p:cNvGraphicFramePr>
            <p:nvPr/>
          </p:nvGraphicFramePr>
          <p:xfrm>
            <a:off x="2336" y="3385"/>
            <a:ext cx="58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47725" imgH="356235" progId="Equation.DSMT4">
                    <p:embed/>
                  </p:oleObj>
                </mc:Choice>
                <mc:Fallback>
                  <p:oleObj name="Equation" r:id="rId2" imgW="847725" imgH="35623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385"/>
                          <a:ext cx="58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4" grpId="0" bldLvl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460" name="Group 4"/>
          <p:cNvGrpSpPr/>
          <p:nvPr/>
        </p:nvGrpSpPr>
        <p:grpSpPr bwMode="auto">
          <a:xfrm>
            <a:off x="827088" y="617538"/>
            <a:ext cx="5602287" cy="579437"/>
            <a:chOff x="385" y="797"/>
            <a:chExt cx="3529" cy="365"/>
          </a:xfrm>
        </p:grpSpPr>
        <p:sp>
          <p:nvSpPr>
            <p:cNvPr id="403461" name="Rectangle 5"/>
            <p:cNvSpPr>
              <a:spLocks noChangeArrowheads="1"/>
            </p:cNvSpPr>
            <p:nvPr/>
          </p:nvSpPr>
          <p:spPr bwMode="auto">
            <a:xfrm>
              <a:off x="385" y="797"/>
              <a:ext cx="352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3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设      的联合分布律为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100380" name="Object 6"/>
            <p:cNvGraphicFramePr>
              <a:graphicFrameLocks noChangeAspect="1"/>
            </p:cNvGraphicFramePr>
            <p:nvPr/>
          </p:nvGraphicFramePr>
          <p:xfrm>
            <a:off x="1202" y="845"/>
            <a:ext cx="68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31800" imgH="203200" progId="Equation.DSMT4">
                    <p:embed/>
                  </p:oleObj>
                </mc:Choice>
                <mc:Fallback>
                  <p:oleObj name="Equation" r:id="rId2" imgW="431800" imgH="203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845"/>
                          <a:ext cx="68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3463" name="Group 7"/>
          <p:cNvGraphicFramePr>
            <a:graphicFrameLocks noGrp="1"/>
          </p:cNvGraphicFramePr>
          <p:nvPr/>
        </p:nvGraphicFramePr>
        <p:xfrm>
          <a:off x="1835150" y="1511300"/>
          <a:ext cx="5537200" cy="2109787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02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3486" name="Text Box 30"/>
          <p:cNvSpPr txBox="1">
            <a:spLocks noChangeArrowheads="1"/>
          </p:cNvSpPr>
          <p:nvPr/>
        </p:nvSpPr>
        <p:spPr bwMode="auto">
          <a:xfrm>
            <a:off x="939800" y="4494213"/>
            <a:ext cx="782955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Arial" panose="020B0604020202020204" pitchFamily="34" charset="0"/>
              </a:rPr>
              <a:t>分别求出（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X+Y</a:t>
            </a:r>
            <a:r>
              <a:rPr kumimoji="0" lang="zh-CN" altLang="en-US" sz="2800" b="1">
                <a:latin typeface="Arial" panose="020B0604020202020204" pitchFamily="34" charset="0"/>
              </a:rPr>
              <a:t>；（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X-Y</a:t>
            </a:r>
            <a:r>
              <a:rPr kumimoji="0" lang="zh-CN" altLang="en-US" sz="2800" b="1">
                <a:latin typeface="Arial" panose="020B0604020202020204" pitchFamily="34" charset="0"/>
              </a:rPr>
              <a:t>；（</a:t>
            </a:r>
            <a:r>
              <a:rPr kumimoji="0" lang="en-US" altLang="zh-CN" sz="2800" b="1">
                <a:latin typeface="Arial" panose="020B0604020202020204" pitchFamily="34" charset="0"/>
              </a:rPr>
              <a:t>3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</a:t>
            </a:r>
            <a:r>
              <a:rPr kumimoji="0" lang="en-US" altLang="zh-CN" sz="2800" b="1" baseline="30000">
                <a:latin typeface="Arial" panose="020B0604020202020204" pitchFamily="34" charset="0"/>
              </a:rPr>
              <a:t>2</a:t>
            </a:r>
            <a:r>
              <a:rPr kumimoji="0" lang="en-US" altLang="zh-CN" sz="2800" b="1">
                <a:latin typeface="Arial" panose="020B0604020202020204" pitchFamily="34" charset="0"/>
              </a:rPr>
              <a:t>+Y-2</a:t>
            </a:r>
            <a:r>
              <a:rPr kumimoji="0" lang="zh-CN" altLang="en-US" sz="2800" b="1">
                <a:latin typeface="Arial" panose="020B0604020202020204" pitchFamily="34" charset="0"/>
              </a:rPr>
              <a:t>的</a:t>
            </a:r>
          </a:p>
          <a:p>
            <a:pPr eaLnBrk="1" hangingPunct="1">
              <a:lnSpc>
                <a:spcPct val="150000"/>
              </a:lnSpc>
            </a:pPr>
            <a:r>
              <a:rPr kumimoji="0" lang="zh-CN" altLang="en-US" sz="2800" b="1">
                <a:latin typeface="Arial" panose="020B0604020202020204" pitchFamily="34" charset="0"/>
              </a:rPr>
              <a:t>分布律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86" grpId="0" bldLvl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4" name="Rectangle 4"/>
          <p:cNvSpPr>
            <a:spLocks noChangeArrowheads="1"/>
          </p:cNvSpPr>
          <p:nvPr/>
        </p:nvSpPr>
        <p:spPr bwMode="auto">
          <a:xfrm>
            <a:off x="611188" y="404813"/>
            <a:ext cx="7470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  </a:t>
            </a:r>
            <a:r>
              <a:rPr lang="zh-CN" altLang="en-US" sz="2800" b="1">
                <a:latin typeface="宋体" panose="02010600030101010101" pitchFamily="2" charset="-122"/>
              </a:rPr>
              <a:t>由（</a:t>
            </a:r>
            <a:r>
              <a:rPr lang="en-US" altLang="zh-CN" sz="2800" b="1">
                <a:latin typeface="宋体" panose="02010600030101010101" pitchFamily="2" charset="-122"/>
              </a:rPr>
              <a:t>X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>
                <a:latin typeface="宋体" panose="02010600030101010101" pitchFamily="2" charset="-122"/>
              </a:rPr>
              <a:t>Y</a:t>
            </a:r>
            <a:r>
              <a:rPr lang="zh-CN" altLang="en-US" sz="2800" b="1">
                <a:latin typeface="宋体" panose="02010600030101010101" pitchFamily="2" charset="-122"/>
              </a:rPr>
              <a:t>）的联合分布列可得如下表格  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404485" name="Group 5"/>
          <p:cNvGraphicFramePr>
            <a:graphicFrameLocks noGrp="1"/>
          </p:cNvGraphicFramePr>
          <p:nvPr/>
        </p:nvGraphicFramePr>
        <p:xfrm>
          <a:off x="533400" y="1371600"/>
          <a:ext cx="7961313" cy="3813176"/>
        </p:xfrm>
        <a:graphic>
          <a:graphicData uri="http://schemas.openxmlformats.org/drawingml/2006/table">
            <a:tbl>
              <a:tblPr/>
              <a:tblGrid>
                <a:gridCol w="111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2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7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(0,-1)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(1,-1)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4535" name="Object 55"/>
          <p:cNvGraphicFramePr>
            <a:graphicFrameLocks noChangeAspect="1"/>
          </p:cNvGraphicFramePr>
          <p:nvPr/>
        </p:nvGraphicFramePr>
        <p:xfrm>
          <a:off x="609600" y="1600200"/>
          <a:ext cx="9350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800" imgH="203200" progId="Equation.DSMT4">
                  <p:embed/>
                </p:oleObj>
              </mc:Choice>
              <mc:Fallback>
                <p:oleObj name="Equation" r:id="rId2" imgW="431800" imgH="2032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9350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6" name="Object 56"/>
          <p:cNvGraphicFramePr>
            <a:graphicFrameLocks noChangeAspect="1"/>
          </p:cNvGraphicFramePr>
          <p:nvPr/>
        </p:nvGraphicFramePr>
        <p:xfrm>
          <a:off x="685800" y="3276600"/>
          <a:ext cx="8794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5765" imgH="165100" progId="Equation.DSMT4">
                  <p:embed/>
                </p:oleObj>
              </mc:Choice>
              <mc:Fallback>
                <p:oleObj name="Equation" r:id="rId4" imgW="405765" imgH="165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87947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7" name="Object 57"/>
          <p:cNvGraphicFramePr>
            <a:graphicFrameLocks noChangeAspect="1"/>
          </p:cNvGraphicFramePr>
          <p:nvPr/>
        </p:nvGraphicFramePr>
        <p:xfrm>
          <a:off x="685800" y="3962400"/>
          <a:ext cx="8794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5765" imgH="165100" progId="Equation.DSMT4">
                  <p:embed/>
                </p:oleObj>
              </mc:Choice>
              <mc:Fallback>
                <p:oleObj name="Equation" r:id="rId6" imgW="405765" imgH="1651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8794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8" name="Object 58"/>
          <p:cNvGraphicFramePr>
            <a:graphicFrameLocks noChangeAspect="1"/>
          </p:cNvGraphicFramePr>
          <p:nvPr/>
        </p:nvGraphicFramePr>
        <p:xfrm>
          <a:off x="539750" y="4652963"/>
          <a:ext cx="10429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190500" progId="Equation.DSMT4">
                  <p:embed/>
                </p:oleObj>
              </mc:Choice>
              <mc:Fallback>
                <p:oleObj name="Equation" r:id="rId8" imgW="685800" imgH="1905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652963"/>
                        <a:ext cx="10429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ldLvl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8" name="Rectangle 4"/>
          <p:cNvSpPr>
            <a:spLocks noChangeArrowheads="1"/>
          </p:cNvSpPr>
          <p:nvPr/>
        </p:nvSpPr>
        <p:spPr bwMode="auto">
          <a:xfrm>
            <a:off x="611188" y="404813"/>
            <a:ext cx="4625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  </a:t>
            </a:r>
            <a:r>
              <a:rPr lang="zh-CN" altLang="en-US" sz="2800" b="1">
                <a:latin typeface="宋体" panose="02010600030101010101" pitchFamily="2" charset="-122"/>
              </a:rPr>
              <a:t>得所求的各分布列为  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405509" name="Group 5"/>
          <p:cNvGraphicFramePr>
            <a:graphicFrameLocks noGrp="1"/>
          </p:cNvGraphicFramePr>
          <p:nvPr/>
        </p:nvGraphicFramePr>
        <p:xfrm>
          <a:off x="685800" y="1143000"/>
          <a:ext cx="7448550" cy="1438276"/>
        </p:xfrm>
        <a:graphic>
          <a:graphicData uri="http://schemas.openxmlformats.org/drawingml/2006/table">
            <a:tbl>
              <a:tblPr/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X+Y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5532" name="Group 28"/>
          <p:cNvGraphicFramePr>
            <a:graphicFrameLocks noGrp="1"/>
          </p:cNvGraphicFramePr>
          <p:nvPr/>
        </p:nvGraphicFramePr>
        <p:xfrm>
          <a:off x="685800" y="2895600"/>
          <a:ext cx="7467600" cy="1312863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1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X-Y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5555" name="Group 51"/>
          <p:cNvGraphicFramePr>
            <a:graphicFrameLocks noGrp="1"/>
          </p:cNvGraphicFramePr>
          <p:nvPr/>
        </p:nvGraphicFramePr>
        <p:xfrm>
          <a:off x="685800" y="4495800"/>
          <a:ext cx="7467600" cy="1293813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9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+Y-2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8" grpId="0" bldLvl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32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连续型</a:t>
            </a:r>
          </a:p>
        </p:txBody>
      </p:sp>
      <p:graphicFrame>
        <p:nvGraphicFramePr>
          <p:cNvPr id="524291" name="Object 3"/>
          <p:cNvGraphicFramePr>
            <a:graphicFrameLocks noChangeAspect="1"/>
          </p:cNvGraphicFramePr>
          <p:nvPr/>
        </p:nvGraphicFramePr>
        <p:xfrm>
          <a:off x="1116013" y="2708275"/>
          <a:ext cx="26098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0" imgH="215900" progId="Equation.3">
                  <p:embed/>
                </p:oleObj>
              </mc:Choice>
              <mc:Fallback>
                <p:oleObj name="公式" r:id="rId2" imgW="11430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08275"/>
                        <a:ext cx="26098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2" name="Object 4"/>
          <p:cNvGraphicFramePr>
            <a:graphicFrameLocks noChangeAspect="1"/>
          </p:cNvGraphicFramePr>
          <p:nvPr/>
        </p:nvGraphicFramePr>
        <p:xfrm>
          <a:off x="3736975" y="2665413"/>
          <a:ext cx="26114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54000" progId="Equation.DSMT4">
                  <p:embed/>
                </p:oleObj>
              </mc:Choice>
              <mc:Fallback>
                <p:oleObj name="Equation" r:id="rId4" imgW="11430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2665413"/>
                        <a:ext cx="261143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3" name="Object 5"/>
          <p:cNvGraphicFramePr>
            <a:graphicFrameLocks noChangeAspect="1"/>
          </p:cNvGraphicFramePr>
          <p:nvPr/>
        </p:nvGraphicFramePr>
        <p:xfrm>
          <a:off x="4113213" y="3573463"/>
          <a:ext cx="28622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700" imgH="393700" progId="Equation.DSMT4">
                  <p:embed/>
                </p:oleObj>
              </mc:Choice>
              <mc:Fallback>
                <p:oleObj name="Equation" r:id="rId6" imgW="12827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3573463"/>
                        <a:ext cx="286226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890588" y="1341438"/>
            <a:ext cx="7751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设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是二维连续型随机变量，其联合概率密度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762000" y="19018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为  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5076825" y="1916113"/>
            <a:ext cx="2058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分布函数为 </a:t>
            </a:r>
          </a:p>
        </p:txBody>
      </p:sp>
      <p:sp>
        <p:nvSpPr>
          <p:cNvPr id="524297" name="Text Box 9"/>
          <p:cNvSpPr txBox="1">
            <a:spLocks noChangeArrowheads="1"/>
          </p:cNvSpPr>
          <p:nvPr/>
        </p:nvSpPr>
        <p:spPr bwMode="auto">
          <a:xfrm>
            <a:off x="2700338" y="191611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则</a:t>
            </a:r>
          </a:p>
        </p:txBody>
      </p:sp>
      <p:graphicFrame>
        <p:nvGraphicFramePr>
          <p:cNvPr id="524298" name="Object 10"/>
          <p:cNvGraphicFramePr>
            <a:graphicFrameLocks noChangeAspect="1"/>
          </p:cNvGraphicFramePr>
          <p:nvPr/>
        </p:nvGraphicFramePr>
        <p:xfrm>
          <a:off x="1331913" y="1916113"/>
          <a:ext cx="1073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8000" imgH="203200" progId="Equation.DSMT4">
                  <p:embed/>
                </p:oleObj>
              </mc:Choice>
              <mc:Fallback>
                <p:oleObj name="Equation" r:id="rId8" imgW="5080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6113"/>
                        <a:ext cx="10731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9" name="Object 11"/>
          <p:cNvGraphicFramePr>
            <a:graphicFrameLocks noChangeAspect="1"/>
          </p:cNvGraphicFramePr>
          <p:nvPr/>
        </p:nvGraphicFramePr>
        <p:xfrm>
          <a:off x="3432175" y="1989138"/>
          <a:ext cx="17176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165" imgH="203200" progId="Equation.DSMT4">
                  <p:embed/>
                </p:oleObj>
              </mc:Choice>
              <mc:Fallback>
                <p:oleObj name="Equation" r:id="rId10" imgW="812165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989138"/>
                        <a:ext cx="17176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00" name="Object 12"/>
          <p:cNvGraphicFramePr>
            <a:graphicFrameLocks noChangeAspect="1"/>
          </p:cNvGraphicFramePr>
          <p:nvPr/>
        </p:nvGraphicFramePr>
        <p:xfrm>
          <a:off x="1619250" y="3573463"/>
          <a:ext cx="24479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79500" imgH="368300" progId="Equation.3">
                  <p:embed/>
                </p:oleObj>
              </mc:Choice>
              <mc:Fallback>
                <p:oleObj name="公式" r:id="rId12" imgW="10795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73463"/>
                        <a:ext cx="24479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4" grpId="0" autoUpdateAnimBg="0"/>
      <p:bldP spid="524295" grpId="0" autoUpdateAnimBg="0"/>
      <p:bldP spid="524296" grpId="0" autoUpdateAnimBg="0"/>
      <p:bldP spid="52429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4"/>
          <p:cNvSpPr txBox="1">
            <a:spLocks noChangeArrowheads="1"/>
          </p:cNvSpPr>
          <p:nvPr/>
        </p:nvSpPr>
        <p:spPr bwMode="auto">
          <a:xfrm>
            <a:off x="533400" y="609600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en-US" altLang="zh-CN" sz="2800" b="1">
                <a:solidFill>
                  <a:srgbClr val="CCFFFF"/>
                </a:solidFill>
              </a:rPr>
              <a:t>   </a:t>
            </a:r>
            <a:r>
              <a:rPr lang="en-US" altLang="zh-CN" sz="2800" b="1"/>
              <a:t>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zh-CN" altLang="zh-CN" sz="2800" b="1"/>
              <a:t>的联合密度为 </a:t>
            </a:r>
            <a:r>
              <a:rPr lang="en-US" altLang="zh-CN" sz="2800" b="1" i="1"/>
              <a:t>f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, </a:t>
            </a:r>
            <a:r>
              <a:rPr lang="zh-CN" altLang="en-US" sz="2800" b="1"/>
              <a:t>求 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 </a:t>
            </a:r>
            <a:r>
              <a:rPr lang="zh-CN" altLang="en-US" sz="2800" b="1"/>
              <a:t>的概率密度</a:t>
            </a:r>
            <a:r>
              <a:rPr lang="en-US" altLang="zh-CN" sz="2800" b="1"/>
              <a:t>.</a:t>
            </a:r>
            <a:r>
              <a:rPr lang="zh-CN" altLang="zh-CN" sz="2800" b="1"/>
              <a:t>   </a:t>
            </a:r>
            <a:endParaRPr lang="en-US" altLang="zh-CN" sz="2800" b="1"/>
          </a:p>
        </p:txBody>
      </p:sp>
      <p:graphicFrame>
        <p:nvGraphicFramePr>
          <p:cNvPr id="406533" name="Object 5"/>
          <p:cNvGraphicFramePr>
            <a:graphicFrameLocks noChangeAspect="1"/>
          </p:cNvGraphicFramePr>
          <p:nvPr/>
        </p:nvGraphicFramePr>
        <p:xfrm>
          <a:off x="2881313" y="3724275"/>
          <a:ext cx="2928937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0125" imgH="317500" progId="Equation.3">
                  <p:embed/>
                </p:oleObj>
              </mc:Choice>
              <mc:Fallback>
                <p:oleObj name="公式" r:id="rId2" imgW="1000125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3724275"/>
                        <a:ext cx="2928937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4" name="Rectangle 6"/>
          <p:cNvSpPr>
            <a:spLocks noChangeArrowheads="1"/>
          </p:cNvSpPr>
          <p:nvPr/>
        </p:nvSpPr>
        <p:spPr bwMode="auto">
          <a:xfrm>
            <a:off x="471488" y="4732338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这里积分区域 </a:t>
            </a:r>
            <a:r>
              <a:rPr lang="en-US" altLang="zh-CN" sz="2800" b="1" i="1">
                <a:solidFill>
                  <a:schemeClr val="tx2"/>
                </a:solidFill>
              </a:rPr>
              <a:t>D</a:t>
            </a:r>
            <a:r>
              <a:rPr lang="en-US" altLang="zh-CN" sz="2800" b="1">
                <a:solidFill>
                  <a:schemeClr val="tx2"/>
                </a:solidFill>
              </a:rPr>
              <a:t>={(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>
                <a:solidFill>
                  <a:schemeClr val="tx2"/>
                </a:solidFill>
              </a:rPr>
              <a:t>): </a:t>
            </a:r>
            <a:r>
              <a:rPr lang="en-US" altLang="zh-CN" sz="2800" b="1" i="1">
                <a:solidFill>
                  <a:schemeClr val="tx2"/>
                </a:solidFill>
              </a:rPr>
              <a:t>x+y</a:t>
            </a:r>
            <a:r>
              <a:rPr lang="en-US" altLang="zh-CN" sz="2800" b="1">
                <a:solidFill>
                  <a:schemeClr val="tx2"/>
                </a:solidFill>
              </a:rPr>
              <a:t> ≤</a:t>
            </a:r>
            <a:r>
              <a:rPr lang="en-US" altLang="zh-CN" sz="2800" b="1" i="1">
                <a:solidFill>
                  <a:schemeClr val="tx2"/>
                </a:solidFill>
              </a:rPr>
              <a:t>z</a:t>
            </a:r>
            <a:r>
              <a:rPr lang="en-US" altLang="zh-CN" sz="2800" b="1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406535" name="Rectangle 7"/>
          <p:cNvSpPr>
            <a:spLocks noChangeArrowheads="1"/>
          </p:cNvSpPr>
          <p:nvPr/>
        </p:nvSpPr>
        <p:spPr bwMode="auto">
          <a:xfrm>
            <a:off x="1273175" y="18335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解</a:t>
            </a:r>
          </a:p>
        </p:txBody>
      </p:sp>
      <p:sp>
        <p:nvSpPr>
          <p:cNvPr id="406536" name="Rectangle 8"/>
          <p:cNvSpPr>
            <a:spLocks noChangeArrowheads="1"/>
          </p:cNvSpPr>
          <p:nvPr/>
        </p:nvSpPr>
        <p:spPr bwMode="auto">
          <a:xfrm>
            <a:off x="1773238" y="1905000"/>
            <a:ext cx="352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的分布函数是</a:t>
            </a:r>
            <a:r>
              <a:rPr lang="en-US" altLang="zh-CN" sz="2800" b="1"/>
              <a:t>:</a:t>
            </a:r>
          </a:p>
        </p:txBody>
      </p:sp>
      <p:graphicFrame>
        <p:nvGraphicFramePr>
          <p:cNvPr id="406537" name="Object 9"/>
          <p:cNvGraphicFramePr>
            <a:graphicFrameLocks noChangeAspect="1"/>
          </p:cNvGraphicFramePr>
          <p:nvPr/>
        </p:nvGraphicFramePr>
        <p:xfrm>
          <a:off x="2065338" y="2552700"/>
          <a:ext cx="2705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23545" progId="Equation.DSMT4">
                  <p:embed/>
                </p:oleObj>
              </mc:Choice>
              <mc:Fallback>
                <p:oleObj name="Equation" r:id="rId2" imgW="2628900" imgH="42354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2552700"/>
                        <a:ext cx="2705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8" name="Object 10"/>
          <p:cNvGraphicFramePr>
            <a:graphicFrameLocks noChangeAspect="1"/>
          </p:cNvGraphicFramePr>
          <p:nvPr/>
        </p:nvGraphicFramePr>
        <p:xfrm>
          <a:off x="2970213" y="3138488"/>
          <a:ext cx="2336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57425" imgH="423545" progId="Equation.DSMT4">
                  <p:embed/>
                </p:oleObj>
              </mc:Choice>
              <mc:Fallback>
                <p:oleObj name="Equation" r:id="rId2" imgW="2257425" imgH="42354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3138488"/>
                        <a:ext cx="2336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9" name="Rectangle 11"/>
          <p:cNvSpPr>
            <a:spLocks noChangeArrowheads="1"/>
          </p:cNvSpPr>
          <p:nvPr/>
        </p:nvSpPr>
        <p:spPr bwMode="auto">
          <a:xfrm>
            <a:off x="409575" y="5289550"/>
            <a:ext cx="626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tx2"/>
                </a:solidFill>
              </a:rPr>
              <a:t>它</a:t>
            </a:r>
            <a:r>
              <a:rPr lang="zh-CN" altLang="zh-CN" sz="2800" b="1">
                <a:solidFill>
                  <a:schemeClr val="tx2"/>
                </a:solidFill>
              </a:rPr>
              <a:t>是直线</a:t>
            </a:r>
            <a:r>
              <a:rPr lang="zh-CN" altLang="en-US" sz="2800" b="1">
                <a:solidFill>
                  <a:schemeClr val="tx2"/>
                </a:solidFill>
              </a:rPr>
              <a:t> </a:t>
            </a:r>
            <a:r>
              <a:rPr lang="en-US" altLang="zh-CN" sz="2800" b="1" i="1">
                <a:solidFill>
                  <a:schemeClr val="tx2"/>
                </a:solidFill>
              </a:rPr>
              <a:t>x+y</a:t>
            </a:r>
            <a:r>
              <a:rPr lang="en-US" altLang="zh-CN" sz="2800" b="1">
                <a:solidFill>
                  <a:schemeClr val="tx2"/>
                </a:solidFill>
              </a:rPr>
              <a:t> =</a:t>
            </a:r>
            <a:r>
              <a:rPr lang="en-US" altLang="zh-CN" sz="2800" b="1" i="1">
                <a:solidFill>
                  <a:schemeClr val="tx2"/>
                </a:solidFill>
              </a:rPr>
              <a:t>z </a:t>
            </a:r>
            <a:r>
              <a:rPr lang="zh-CN" altLang="en-US" sz="2800" b="1">
                <a:solidFill>
                  <a:schemeClr val="tx2"/>
                </a:solidFill>
              </a:rPr>
              <a:t>及其左下方的半平面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406540" name="Group 12"/>
          <p:cNvGrpSpPr/>
          <p:nvPr/>
        </p:nvGrpSpPr>
        <p:grpSpPr bwMode="auto">
          <a:xfrm>
            <a:off x="5954713" y="1833563"/>
            <a:ext cx="2786062" cy="2778125"/>
            <a:chOff x="3742" y="1389"/>
            <a:chExt cx="1755" cy="1750"/>
          </a:xfrm>
        </p:grpSpPr>
        <p:sp>
          <p:nvSpPr>
            <p:cNvPr id="104459" name="Line 13"/>
            <p:cNvSpPr>
              <a:spLocks noChangeShapeType="1"/>
            </p:cNvSpPr>
            <p:nvPr/>
          </p:nvSpPr>
          <p:spPr bwMode="auto">
            <a:xfrm>
              <a:off x="3989" y="2386"/>
              <a:ext cx="1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0" name="Line 14"/>
            <p:cNvSpPr>
              <a:spLocks noChangeShapeType="1"/>
            </p:cNvSpPr>
            <p:nvPr/>
          </p:nvSpPr>
          <p:spPr bwMode="auto">
            <a:xfrm flipH="1" flipV="1">
              <a:off x="4212" y="1616"/>
              <a:ext cx="3" cy="10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1" name="Line 15"/>
            <p:cNvSpPr>
              <a:spLocks noChangeShapeType="1"/>
            </p:cNvSpPr>
            <p:nvPr/>
          </p:nvSpPr>
          <p:spPr bwMode="auto">
            <a:xfrm flipH="1" flipV="1">
              <a:off x="3742" y="1389"/>
              <a:ext cx="1497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62" name="Object 16"/>
            <p:cNvGraphicFramePr>
              <a:graphicFrameLocks noChangeAspect="1"/>
            </p:cNvGraphicFramePr>
            <p:nvPr/>
          </p:nvGraphicFramePr>
          <p:xfrm>
            <a:off x="4649" y="2931"/>
            <a:ext cx="84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6825" imgH="259715" progId="Equation.DSMT4">
                    <p:embed/>
                  </p:oleObj>
                </mc:Choice>
                <mc:Fallback>
                  <p:oleObj name="Equation" r:id="rId2" imgW="1266825" imgH="25971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2931"/>
                          <a:ext cx="848" cy="20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3" name="AutoShape 17"/>
            <p:cNvGraphicFramePr>
              <a:graphicFrameLocks noChangeAspect="1"/>
            </p:cNvGraphicFramePr>
            <p:nvPr/>
          </p:nvGraphicFramePr>
          <p:xfrm>
            <a:off x="5169" y="2326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DSMT4">
                    <p:embed/>
                  </p:oleObj>
                </mc:Choice>
                <mc:Fallback>
                  <p:oleObj name="Equation" r:id="rId2" imgW="0" imgH="0" progId="Equation.DSMT4">
                    <p:embed/>
                    <p:pic>
                      <p:nvPicPr>
                        <p:cNvPr id="0" name="AutoShap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2326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4" name="Object 18"/>
            <p:cNvGraphicFramePr>
              <a:graphicFrameLocks noChangeAspect="1"/>
            </p:cNvGraphicFramePr>
            <p:nvPr/>
          </p:nvGraphicFramePr>
          <p:xfrm>
            <a:off x="4121" y="1389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975" imgH="240665" progId="Equation.DSMT4">
                    <p:embed/>
                  </p:oleObj>
                </mc:Choice>
                <mc:Fallback>
                  <p:oleObj name="Equation" r:id="rId2" imgW="180975" imgH="24066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1389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5" name="Object 19"/>
            <p:cNvGraphicFramePr>
              <a:graphicFrameLocks noChangeAspect="1"/>
            </p:cNvGraphicFramePr>
            <p:nvPr/>
          </p:nvGraphicFramePr>
          <p:xfrm>
            <a:off x="4059" y="2387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3825" imgH="240665" progId="Equation.DSMT4">
                    <p:embed/>
                  </p:oleObj>
                </mc:Choice>
                <mc:Fallback>
                  <p:oleObj name="Equation" r:id="rId2" imgW="123825" imgH="24066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387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66" name="AutoShape 20"/>
            <p:cNvSpPr>
              <a:spLocks noChangeArrowheads="1"/>
            </p:cNvSpPr>
            <p:nvPr/>
          </p:nvSpPr>
          <p:spPr bwMode="auto">
            <a:xfrm>
              <a:off x="3982" y="1629"/>
              <a:ext cx="1075" cy="1075"/>
            </a:xfrm>
            <a:prstGeom prst="rtTriangle">
              <a:avLst/>
            </a:prstGeom>
            <a:solidFill>
              <a:srgbClr val="FF6600">
                <a:alpha val="59999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4" grpId="0" bldLvl="0" animBg="1" autoUpdateAnimBg="0"/>
      <p:bldP spid="406535" grpId="0" bldLvl="0" animBg="1" autoUpdateAnimBg="0"/>
      <p:bldP spid="406536" grpId="0" bldLvl="0" animBg="1" autoUpdateAnimBg="0"/>
      <p:bldP spid="406539" grpId="0" bldLvl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4" name="Object 2"/>
          <p:cNvGraphicFramePr>
            <a:graphicFrameLocks noChangeAspect="1"/>
          </p:cNvGraphicFramePr>
          <p:nvPr/>
        </p:nvGraphicFramePr>
        <p:xfrm>
          <a:off x="4351338" y="2860675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860675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07" name="Rectangle 3"/>
          <p:cNvSpPr>
            <a:spLocks noChangeArrowheads="1"/>
          </p:cNvSpPr>
          <p:nvPr/>
        </p:nvSpPr>
        <p:spPr bwMode="auto">
          <a:xfrm>
            <a:off x="1588" y="1228725"/>
            <a:ext cx="325437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</a:t>
            </a:r>
            <a:r>
              <a:rPr lang="zh-CN" altLang="en-US" sz="2800" b="1"/>
              <a:t>化成累次积分</a:t>
            </a:r>
            <a:r>
              <a:rPr lang="en-US" altLang="zh-CN" sz="2800" b="1"/>
              <a:t>,</a:t>
            </a:r>
            <a:r>
              <a:rPr lang="zh-CN" altLang="en-US" sz="2800" b="1"/>
              <a:t>得</a:t>
            </a:r>
          </a:p>
        </p:txBody>
      </p:sp>
      <p:graphicFrame>
        <p:nvGraphicFramePr>
          <p:cNvPr id="379908" name="Object 4"/>
          <p:cNvGraphicFramePr>
            <a:graphicFrameLocks noChangeAspect="1"/>
          </p:cNvGraphicFramePr>
          <p:nvPr/>
        </p:nvGraphicFramePr>
        <p:xfrm>
          <a:off x="1208088" y="304800"/>
          <a:ext cx="41370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800" imgH="337185" progId="Equation.3">
                  <p:embed/>
                </p:oleObj>
              </mc:Choice>
              <mc:Fallback>
                <p:oleObj name="公式" r:id="rId2" imgW="1447800" imgH="337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088" y="304800"/>
                        <a:ext cx="4137025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09" name="Object 5"/>
          <p:cNvGraphicFramePr>
            <a:graphicFrameLocks noChangeAspect="1"/>
          </p:cNvGraphicFramePr>
          <p:nvPr/>
        </p:nvGraphicFramePr>
        <p:xfrm>
          <a:off x="923925" y="1801813"/>
          <a:ext cx="49974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62125" imgH="259715" progId="Equation.3">
                  <p:embed/>
                </p:oleObj>
              </mc:Choice>
              <mc:Fallback>
                <p:oleObj name="公式" r:id="rId2" imgW="1762125" imgH="2597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1801813"/>
                        <a:ext cx="49974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0" name="Rectangle 6"/>
          <p:cNvSpPr>
            <a:spLocks noChangeArrowheads="1"/>
          </p:cNvSpPr>
          <p:nvPr/>
        </p:nvSpPr>
        <p:spPr bwMode="auto">
          <a:xfrm>
            <a:off x="0" y="2770188"/>
            <a:ext cx="844073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</a:t>
            </a:r>
            <a:r>
              <a:rPr lang="zh-CN" altLang="en-US" sz="2800" b="1"/>
              <a:t>固定</a:t>
            </a:r>
            <a:r>
              <a:rPr lang="en-US" altLang="zh-CN" sz="2800" b="1" i="1"/>
              <a:t>z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en-US" altLang="zh-CN" sz="2800" b="1"/>
              <a:t>,</a:t>
            </a:r>
            <a:r>
              <a:rPr lang="zh-CN" altLang="en-US" sz="2800" b="1"/>
              <a:t>对方括号内的积分作变量代换</a:t>
            </a:r>
            <a:r>
              <a:rPr lang="en-US" altLang="zh-CN" sz="2800" b="1"/>
              <a:t>, </a:t>
            </a:r>
            <a:r>
              <a:rPr lang="zh-CN" altLang="en-US" sz="2800" b="1"/>
              <a:t>令 </a:t>
            </a:r>
            <a:r>
              <a:rPr lang="en-US" altLang="zh-CN" sz="2800" b="1" i="1">
                <a:solidFill>
                  <a:schemeClr val="accent2"/>
                </a:solidFill>
              </a:rPr>
              <a:t>x=u-y</a:t>
            </a:r>
            <a:r>
              <a:rPr lang="en-US" altLang="zh-CN" sz="2800" b="1"/>
              <a:t>,</a:t>
            </a:r>
            <a:r>
              <a:rPr lang="zh-CN" altLang="en-US" sz="2800" b="1"/>
              <a:t>得</a:t>
            </a:r>
          </a:p>
        </p:txBody>
      </p:sp>
      <p:graphicFrame>
        <p:nvGraphicFramePr>
          <p:cNvPr id="379911" name="Object 7"/>
          <p:cNvGraphicFramePr>
            <a:graphicFrameLocks noChangeAspect="1"/>
          </p:cNvGraphicFramePr>
          <p:nvPr/>
        </p:nvGraphicFramePr>
        <p:xfrm>
          <a:off x="1384300" y="3560763"/>
          <a:ext cx="54451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33575" imgH="259715" progId="Equation.3">
                  <p:embed/>
                </p:oleObj>
              </mc:Choice>
              <mc:Fallback>
                <p:oleObj name="公式" r:id="rId2" imgW="1933575" imgH="2597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560763"/>
                        <a:ext cx="54451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8"/>
          <p:cNvGraphicFramePr>
            <a:graphicFrameLocks noChangeAspect="1"/>
          </p:cNvGraphicFramePr>
          <p:nvPr/>
        </p:nvGraphicFramePr>
        <p:xfrm>
          <a:off x="2406650" y="4786313"/>
          <a:ext cx="43783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33525" imgH="259715" progId="Equation.3">
                  <p:embed/>
                </p:oleObj>
              </mc:Choice>
              <mc:Fallback>
                <p:oleObj name="公式" r:id="rId2" imgW="153352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4786313"/>
                        <a:ext cx="43783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3" name="AutoShape 9"/>
          <p:cNvSpPr>
            <a:spLocks noChangeArrowheads="1"/>
          </p:cNvSpPr>
          <p:nvPr/>
        </p:nvSpPr>
        <p:spPr bwMode="auto">
          <a:xfrm>
            <a:off x="6827838" y="4568825"/>
            <a:ext cx="1828800" cy="576263"/>
          </a:xfrm>
          <a:prstGeom prst="wedgeRoundRectCallout">
            <a:avLst>
              <a:gd name="adj1" fmla="val -132292"/>
              <a:gd name="adj2" fmla="val -88292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变量代换</a:t>
            </a:r>
          </a:p>
        </p:txBody>
      </p:sp>
      <p:sp>
        <p:nvSpPr>
          <p:cNvPr id="379914" name="AutoShape 10"/>
          <p:cNvSpPr>
            <a:spLocks noChangeArrowheads="1"/>
          </p:cNvSpPr>
          <p:nvPr/>
        </p:nvSpPr>
        <p:spPr bwMode="auto">
          <a:xfrm>
            <a:off x="231775" y="5649913"/>
            <a:ext cx="2286000" cy="576262"/>
          </a:xfrm>
          <a:prstGeom prst="wedgeRoundRectCallout">
            <a:avLst>
              <a:gd name="adj1" fmla="val 81806"/>
              <a:gd name="adj2" fmla="val -3705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交换积分次序</a:t>
            </a:r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V="1">
            <a:off x="4913313" y="1790700"/>
            <a:ext cx="3117850" cy="42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4" name="Line 12"/>
          <p:cNvSpPr>
            <a:spLocks noChangeShapeType="1"/>
          </p:cNvSpPr>
          <p:nvPr/>
        </p:nvSpPr>
        <p:spPr bwMode="auto">
          <a:xfrm flipH="1" flipV="1">
            <a:off x="6523038" y="568325"/>
            <a:ext cx="4762" cy="167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5" name="Line 13"/>
          <p:cNvSpPr>
            <a:spLocks noChangeShapeType="1"/>
          </p:cNvSpPr>
          <p:nvPr/>
        </p:nvSpPr>
        <p:spPr bwMode="auto">
          <a:xfrm flipH="1" flipV="1">
            <a:off x="5776913" y="207963"/>
            <a:ext cx="2376487" cy="2376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7288213" y="2552700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6825" imgH="259715" progId="Equation.DSMT4">
                  <p:embed/>
                </p:oleObj>
              </mc:Choice>
              <mc:Fallback>
                <p:oleObj name="Equation" r:id="rId2" imgW="1266825" imgH="25971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213" y="2552700"/>
                        <a:ext cx="1346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8042275" y="169545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975" imgH="163830" progId="Equation.DSMT4">
                  <p:embed/>
                </p:oleObj>
              </mc:Choice>
              <mc:Fallback>
                <p:oleObj name="Equation" r:id="rId2" imgW="180975" imgH="163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2275" y="169545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6378575" y="207963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975" imgH="240665" progId="Equation.DSMT4">
                  <p:embed/>
                </p:oleObj>
              </mc:Choice>
              <mc:Fallback>
                <p:oleObj name="Equation" r:id="rId2" imgW="180975" imgH="24066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575" y="207963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/>
        </p:nvGraphicFramePr>
        <p:xfrm>
          <a:off x="6280150" y="1792288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825" imgH="240665" progId="Equation.DSMT4">
                  <p:embed/>
                </p:oleObj>
              </mc:Choice>
              <mc:Fallback>
                <p:oleObj name="Equation" r:id="rId2" imgW="123825" imgH="24066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1792288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0" name="AutoShape 18"/>
          <p:cNvSpPr>
            <a:spLocks noChangeArrowheads="1"/>
          </p:cNvSpPr>
          <p:nvPr/>
        </p:nvSpPr>
        <p:spPr bwMode="auto">
          <a:xfrm>
            <a:off x="6157913" y="609600"/>
            <a:ext cx="1706562" cy="1706563"/>
          </a:xfrm>
          <a:prstGeom prst="rtTriangle">
            <a:avLst/>
          </a:prstGeom>
          <a:solidFill>
            <a:srgbClr val="FF9900">
              <a:alpha val="5999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5491" name="Group 19"/>
          <p:cNvGrpSpPr/>
          <p:nvPr/>
        </p:nvGrpSpPr>
        <p:grpSpPr bwMode="auto">
          <a:xfrm>
            <a:off x="6208713" y="1074738"/>
            <a:ext cx="358775" cy="361950"/>
            <a:chOff x="4014" y="775"/>
            <a:chExt cx="226" cy="228"/>
          </a:xfrm>
        </p:grpSpPr>
        <p:sp>
          <p:nvSpPr>
            <p:cNvPr id="105495" name="Oval 20"/>
            <p:cNvSpPr>
              <a:spLocks noChangeArrowheads="1"/>
            </p:cNvSpPr>
            <p:nvPr/>
          </p:nvSpPr>
          <p:spPr bwMode="auto">
            <a:xfrm>
              <a:off x="4195" y="958"/>
              <a:ext cx="45" cy="45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5496" name="Object 21"/>
            <p:cNvGraphicFramePr>
              <a:graphicFrameLocks noChangeAspect="1"/>
            </p:cNvGraphicFramePr>
            <p:nvPr/>
          </p:nvGraphicFramePr>
          <p:xfrm>
            <a:off x="4014" y="775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975" imgH="240665" progId="Equation.DSMT4">
                    <p:embed/>
                  </p:oleObj>
                </mc:Choice>
                <mc:Fallback>
                  <p:oleObj name="Equation" r:id="rId2" imgW="180975" imgH="240665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775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492" name="Line 22"/>
          <p:cNvSpPr>
            <a:spLocks noChangeShapeType="1"/>
          </p:cNvSpPr>
          <p:nvPr/>
        </p:nvSpPr>
        <p:spPr bwMode="auto">
          <a:xfrm>
            <a:off x="5776913" y="1401763"/>
            <a:ext cx="1655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93" name="Line 23"/>
          <p:cNvSpPr>
            <a:spLocks noChangeShapeType="1"/>
          </p:cNvSpPr>
          <p:nvPr/>
        </p:nvSpPr>
        <p:spPr bwMode="auto">
          <a:xfrm flipH="1">
            <a:off x="4408488" y="1400175"/>
            <a:ext cx="2592387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4" name="Oval 24"/>
          <p:cNvSpPr>
            <a:spLocks noChangeArrowheads="1"/>
          </p:cNvSpPr>
          <p:nvPr/>
        </p:nvSpPr>
        <p:spPr bwMode="auto">
          <a:xfrm>
            <a:off x="6929438" y="1362075"/>
            <a:ext cx="71437" cy="71438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7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ldLvl="0" animBg="1" autoUpdateAnimBg="0"/>
      <p:bldP spid="379910" grpId="0" bldLvl="0" animBg="1" autoUpdateAnimBg="0"/>
      <p:bldP spid="379913" grpId="0" bldLvl="0" animBg="1" autoUpdateAnimBg="0"/>
      <p:bldP spid="379914" grpId="0" bldLvl="0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Text Box 2"/>
          <p:cNvSpPr txBox="1">
            <a:spLocks noChangeArrowheads="1"/>
          </p:cNvSpPr>
          <p:nvPr/>
        </p:nvSpPr>
        <p:spPr bwMode="auto">
          <a:xfrm>
            <a:off x="357188" y="1230313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由概率</a:t>
            </a:r>
            <a:r>
              <a:rPr lang="zh-CN" altLang="zh-CN" sz="2800" b="1"/>
              <a:t>密度与分布函数的关系,  即得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的概率密度为</a:t>
            </a:r>
            <a:r>
              <a:rPr lang="en-US" altLang="zh-CN" sz="2800" b="1"/>
              <a:t>:</a:t>
            </a:r>
            <a:r>
              <a:rPr lang="zh-CN" altLang="zh-CN" sz="2800" b="1"/>
              <a:t>  </a:t>
            </a:r>
            <a:endParaRPr lang="en-US" altLang="zh-CN" sz="2800" b="1"/>
          </a:p>
        </p:txBody>
      </p:sp>
      <p:sp>
        <p:nvSpPr>
          <p:cNvPr id="380931" name="Text Box 3"/>
          <p:cNvSpPr txBox="1">
            <a:spLocks noChangeArrowheads="1"/>
          </p:cNvSpPr>
          <p:nvPr/>
        </p:nvSpPr>
        <p:spPr bwMode="auto">
          <a:xfrm>
            <a:off x="357188" y="3484563"/>
            <a:ext cx="5262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由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zh-CN" altLang="en-US" sz="2800" b="1"/>
              <a:t>的对称性</a:t>
            </a:r>
            <a:r>
              <a:rPr lang="en-US" altLang="zh-CN" sz="2800" b="1"/>
              <a:t>, 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Z </a:t>
            </a:r>
            <a:r>
              <a:rPr lang="en-US" altLang="zh-CN" sz="2800" b="1"/>
              <a:t>(</a:t>
            </a:r>
            <a:r>
              <a:rPr lang="en-US" altLang="zh-CN" sz="2800" b="1" i="1"/>
              <a:t>z</a:t>
            </a:r>
            <a:r>
              <a:rPr lang="en-US" altLang="zh-CN" sz="2800" b="1"/>
              <a:t>)</a:t>
            </a:r>
            <a:r>
              <a:rPr lang="zh-CN" altLang="en-US" sz="2800" b="1"/>
              <a:t>又可写成 </a:t>
            </a:r>
            <a:endParaRPr lang="zh-CN" altLang="en-US" sz="2800"/>
          </a:p>
        </p:txBody>
      </p:sp>
      <p:graphicFrame>
        <p:nvGraphicFramePr>
          <p:cNvPr id="380932" name="Object 4"/>
          <p:cNvGraphicFramePr>
            <a:graphicFrameLocks noChangeAspect="1"/>
          </p:cNvGraphicFramePr>
          <p:nvPr/>
        </p:nvGraphicFramePr>
        <p:xfrm>
          <a:off x="1331913" y="2317750"/>
          <a:ext cx="55848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81200" imgH="259715" progId="Equation.3">
                  <p:embed/>
                </p:oleObj>
              </mc:Choice>
              <mc:Fallback>
                <p:oleObj name="公式" r:id="rId2" imgW="1981200" imgH="2597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317750"/>
                        <a:ext cx="5584825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292100" y="4970463"/>
            <a:ext cx="867568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>
                <a:solidFill>
                  <a:schemeClr val="tx2"/>
                </a:solidFill>
              </a:rPr>
              <a:t>以上两式即是</a:t>
            </a:r>
            <a:r>
              <a:rPr lang="zh-CN" altLang="zh-CN" sz="2800" b="1">
                <a:solidFill>
                  <a:schemeClr val="accent2"/>
                </a:solidFill>
              </a:rPr>
              <a:t>两个随机变量和的概率密度的一般公式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380934" name="Object 6"/>
          <p:cNvGraphicFramePr>
            <a:graphicFrameLocks noChangeAspect="1"/>
          </p:cNvGraphicFramePr>
          <p:nvPr/>
        </p:nvGraphicFramePr>
        <p:xfrm>
          <a:off x="1295400" y="4038600"/>
          <a:ext cx="56562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09775" imgH="259715" progId="Equation.3">
                  <p:embed/>
                </p:oleObj>
              </mc:Choice>
              <mc:Fallback>
                <p:oleObj name="公式" r:id="rId2" imgW="2009775" imgH="2597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038600"/>
                        <a:ext cx="5656263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8"/>
          <p:cNvGraphicFramePr>
            <a:graphicFrameLocks noChangeAspect="1"/>
          </p:cNvGraphicFramePr>
          <p:nvPr/>
        </p:nvGraphicFramePr>
        <p:xfrm>
          <a:off x="1143000" y="228600"/>
          <a:ext cx="54467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33575" imgH="259715" progId="Equation.3">
                  <p:embed/>
                </p:oleObj>
              </mc:Choice>
              <mc:Fallback>
                <p:oleObj name="公式" r:id="rId2" imgW="193357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"/>
                        <a:ext cx="544671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8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0" grpId="0" autoUpdateAnimBg="0"/>
      <p:bldP spid="380931" grpId="0" bldLvl="0" animBg="1" autoUpdateAnimBg="0"/>
      <p:bldP spid="380933" grpId="0" bldLvl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Text Box 2"/>
          <p:cNvSpPr txBox="1">
            <a:spLocks noChangeArrowheads="1"/>
          </p:cNvSpPr>
          <p:nvPr/>
        </p:nvSpPr>
        <p:spPr bwMode="auto">
          <a:xfrm>
            <a:off x="381000" y="609600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chemeClr val="accent2"/>
                </a:solidFill>
              </a:rPr>
              <a:t>特别地</a:t>
            </a:r>
            <a:r>
              <a:rPr lang="zh-CN" altLang="en-US" sz="2800" b="1"/>
              <a:t>，当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独立，设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关于 </a:t>
            </a:r>
            <a:r>
              <a:rPr lang="en-US" altLang="zh-CN" sz="2800" b="1" i="1"/>
              <a:t>X </a:t>
            </a:r>
            <a:r>
              <a:rPr lang="en-US" altLang="zh-CN" sz="2800" b="1"/>
              <a:t>, </a:t>
            </a:r>
            <a:r>
              <a:rPr lang="en-US" altLang="zh-CN" sz="2800" b="1" i="1"/>
              <a:t>Y </a:t>
            </a:r>
            <a:r>
              <a:rPr lang="zh-CN" altLang="en-US" sz="2800" b="1"/>
              <a:t>的边缘密度分别为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,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Y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 ,  </a:t>
            </a:r>
            <a:r>
              <a:rPr lang="zh-CN" altLang="en-US" sz="2800" b="1"/>
              <a:t>则上述两式化为</a:t>
            </a:r>
            <a:r>
              <a:rPr lang="en-US" altLang="zh-CN" sz="2800" b="1"/>
              <a:t>:</a:t>
            </a:r>
            <a:r>
              <a:rPr lang="zh-CN" altLang="zh-CN" sz="2800" b="1"/>
              <a:t>  </a:t>
            </a:r>
            <a:endParaRPr lang="en-US" altLang="zh-CN" sz="2800" b="1"/>
          </a:p>
        </p:txBody>
      </p:sp>
      <p:graphicFrame>
        <p:nvGraphicFramePr>
          <p:cNvPr id="381955" name="Object 3"/>
          <p:cNvGraphicFramePr>
            <a:graphicFrameLocks noChangeAspect="1"/>
          </p:cNvGraphicFramePr>
          <p:nvPr/>
        </p:nvGraphicFramePr>
        <p:xfrm>
          <a:off x="1897063" y="2166938"/>
          <a:ext cx="496411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52600" imgH="259715" progId="Equation.3">
                  <p:embed/>
                </p:oleObj>
              </mc:Choice>
              <mc:Fallback>
                <p:oleObj name="公式" r:id="rId2" imgW="1752600" imgH="2597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2166938"/>
                        <a:ext cx="4964112" cy="893762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6" name="Object 4"/>
          <p:cNvGraphicFramePr>
            <a:graphicFrameLocks noChangeAspect="1"/>
          </p:cNvGraphicFramePr>
          <p:nvPr/>
        </p:nvGraphicFramePr>
        <p:xfrm>
          <a:off x="1930400" y="3136900"/>
          <a:ext cx="48958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4025" imgH="259715" progId="Equation.3">
                  <p:embed/>
                </p:oleObj>
              </mc:Choice>
              <mc:Fallback>
                <p:oleObj name="公式" r:id="rId2" imgW="1724025" imgH="2597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136900"/>
                        <a:ext cx="4895850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58" name="Rectangle 6"/>
          <p:cNvSpPr>
            <a:spLocks noChangeArrowheads="1"/>
          </p:cNvSpPr>
          <p:nvPr/>
        </p:nvSpPr>
        <p:spPr bwMode="auto">
          <a:xfrm>
            <a:off x="307975" y="5257800"/>
            <a:ext cx="70834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下面我们用</a:t>
            </a:r>
            <a:r>
              <a:rPr lang="zh-CN" altLang="zh-CN" sz="2800" b="1">
                <a:solidFill>
                  <a:schemeClr val="tx2"/>
                </a:solidFill>
              </a:rPr>
              <a:t>卷积公式来求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的概率密度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381959" name="Object 7"/>
          <p:cNvGraphicFramePr>
            <a:graphicFrameLocks noChangeAspect="1"/>
          </p:cNvGraphicFramePr>
          <p:nvPr/>
        </p:nvGraphicFramePr>
        <p:xfrm>
          <a:off x="1643063" y="2667000"/>
          <a:ext cx="393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325" imgH="933450" progId="Equation.DSMT4">
                  <p:embed/>
                </p:oleObj>
              </mc:Choice>
              <mc:Fallback>
                <p:oleObj name="Equation" r:id="rId2" imgW="314325" imgH="93345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2667000"/>
                        <a:ext cx="393700" cy="10033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60" name="AutoShape 8"/>
          <p:cNvSpPr>
            <a:spLocks noChangeArrowheads="1"/>
          </p:cNvSpPr>
          <p:nvPr/>
        </p:nvSpPr>
        <p:spPr bwMode="auto">
          <a:xfrm>
            <a:off x="523875" y="4246563"/>
            <a:ext cx="1871663" cy="649287"/>
          </a:xfrm>
          <a:prstGeom prst="wedgeRectCallout">
            <a:avLst>
              <a:gd name="adj1" fmla="val 17005"/>
              <a:gd name="adj2" fmla="val -1233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>
                <a:solidFill>
                  <a:schemeClr val="tx2"/>
                </a:solidFill>
              </a:rPr>
              <a:t>卷积公式</a:t>
            </a:r>
            <a:endParaRPr lang="zh-CN" altLang="en-US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 autoUpdateAnimBg="0"/>
      <p:bldP spid="381958" grpId="0" bldLvl="0" animBg="1" autoUpdateAnimBg="0"/>
      <p:bldP spid="381960" grpId="0" bldLvl="0" animBg="1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533400" y="228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  <a:ea typeface="黑体" panose="02010609060101010101" pitchFamily="49" charset="-122"/>
              </a:rPr>
              <a:t>例 </a:t>
            </a:r>
            <a:r>
              <a:rPr lang="en-US" altLang="zh-CN" b="1">
                <a:solidFill>
                  <a:schemeClr val="accent2"/>
                </a:solidFill>
                <a:ea typeface="黑体" panose="02010609060101010101" pitchFamily="49" charset="-122"/>
              </a:rPr>
              <a:t>5</a:t>
            </a:r>
          </a:p>
        </p:txBody>
      </p:sp>
      <p:graphicFrame>
        <p:nvGraphicFramePr>
          <p:cNvPr id="401411" name="Object 3"/>
          <p:cNvGraphicFramePr>
            <a:graphicFrameLocks noChangeAspect="1"/>
          </p:cNvGraphicFramePr>
          <p:nvPr/>
        </p:nvGraphicFramePr>
        <p:xfrm>
          <a:off x="533400" y="1828800"/>
          <a:ext cx="6096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925" imgH="125095" progId="Equation.3">
                  <p:embed/>
                </p:oleObj>
              </mc:Choice>
              <mc:Fallback>
                <p:oleObj name="公式" r:id="rId2" imgW="161925" imgH="1250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28800"/>
                        <a:ext cx="609600" cy="515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2" name="Object 4"/>
          <p:cNvGraphicFramePr>
            <a:graphicFrameLocks noChangeAspect="1"/>
          </p:cNvGraphicFramePr>
          <p:nvPr/>
        </p:nvGraphicFramePr>
        <p:xfrm>
          <a:off x="533400" y="762000"/>
          <a:ext cx="80772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68700" imgH="457200" progId="Equation.3">
                  <p:embed/>
                </p:oleObj>
              </mc:Choice>
              <mc:Fallback>
                <p:oleObj name="公式" r:id="rId2" imgW="35687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62000"/>
                        <a:ext cx="80772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3" name="Object 5"/>
          <p:cNvGraphicFramePr>
            <a:graphicFrameLocks noChangeAspect="1"/>
          </p:cNvGraphicFramePr>
          <p:nvPr/>
        </p:nvGraphicFramePr>
        <p:xfrm>
          <a:off x="558800" y="2362200"/>
          <a:ext cx="2133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26465" imgH="203200" progId="Equation.3">
                  <p:embed/>
                </p:oleObj>
              </mc:Choice>
              <mc:Fallback>
                <p:oleObj name="公式" r:id="rId2" imgW="926465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362200"/>
                        <a:ext cx="21336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4" name="Object 6"/>
          <p:cNvGraphicFramePr>
            <a:graphicFrameLocks noChangeAspect="1"/>
          </p:cNvGraphicFramePr>
          <p:nvPr/>
        </p:nvGraphicFramePr>
        <p:xfrm>
          <a:off x="1219200" y="2895600"/>
          <a:ext cx="26844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33500" imgH="457200" progId="Equation.3">
                  <p:embed/>
                </p:oleObj>
              </mc:Choice>
              <mc:Fallback>
                <p:oleObj name="公式" r:id="rId2" imgW="13335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0"/>
                        <a:ext cx="26844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5" name="Object 7"/>
          <p:cNvGraphicFramePr>
            <a:graphicFrameLocks noChangeAspect="1"/>
          </p:cNvGraphicFramePr>
          <p:nvPr/>
        </p:nvGraphicFramePr>
        <p:xfrm>
          <a:off x="4800600" y="2895600"/>
          <a:ext cx="26844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33500" imgH="457200" progId="Equation.3">
                  <p:embed/>
                </p:oleObj>
              </mc:Choice>
              <mc:Fallback>
                <p:oleObj name="公式" r:id="rId7" imgW="13335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895600"/>
                        <a:ext cx="26844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6" name="Object 8"/>
          <p:cNvGraphicFramePr>
            <a:graphicFrameLocks noChangeAspect="1"/>
          </p:cNvGraphicFramePr>
          <p:nvPr/>
        </p:nvGraphicFramePr>
        <p:xfrm>
          <a:off x="546100" y="4138613"/>
          <a:ext cx="74549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149600" imgH="215900" progId="Equation.3">
                  <p:embed/>
                </p:oleObj>
              </mc:Choice>
              <mc:Fallback>
                <p:oleObj name="公式" r:id="rId9" imgW="31496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4138613"/>
                        <a:ext cx="74549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7" name="Object 9"/>
          <p:cNvGraphicFramePr>
            <a:graphicFrameLocks noChangeAspect="1"/>
          </p:cNvGraphicFramePr>
          <p:nvPr/>
        </p:nvGraphicFramePr>
        <p:xfrm>
          <a:off x="838200" y="4665663"/>
          <a:ext cx="41036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76400" imgH="469900" progId="Equation.DSMT4">
                  <p:embed/>
                </p:oleObj>
              </mc:Choice>
              <mc:Fallback>
                <p:oleObj name="Equation" r:id="rId11" imgW="16764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65663"/>
                        <a:ext cx="41036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387" name="Group 3"/>
          <p:cNvGrpSpPr/>
          <p:nvPr/>
        </p:nvGrpSpPr>
        <p:grpSpPr bwMode="auto">
          <a:xfrm>
            <a:off x="838200" y="2025650"/>
            <a:ext cx="5232400" cy="557213"/>
            <a:chOff x="448" y="2016"/>
            <a:chExt cx="3296" cy="351"/>
          </a:xfrm>
        </p:grpSpPr>
        <p:graphicFrame>
          <p:nvGraphicFramePr>
            <p:cNvPr id="109612" name="Object 4"/>
            <p:cNvGraphicFramePr>
              <a:graphicFrameLocks noChangeAspect="1"/>
            </p:cNvGraphicFramePr>
            <p:nvPr/>
          </p:nvGraphicFramePr>
          <p:xfrm>
            <a:off x="448" y="2016"/>
            <a:ext cx="223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95400" imgH="203200" progId="Equation.3">
                    <p:embed/>
                  </p:oleObj>
                </mc:Choice>
                <mc:Fallback>
                  <p:oleObj name="公式" r:id="rId2" imgW="12954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016"/>
                          <a:ext cx="2238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613" name="Object 5"/>
            <p:cNvGraphicFramePr>
              <a:graphicFrameLocks noChangeAspect="1"/>
            </p:cNvGraphicFramePr>
            <p:nvPr/>
          </p:nvGraphicFramePr>
          <p:xfrm>
            <a:off x="2889" y="2016"/>
            <a:ext cx="85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09600" imgH="215900" progId="Equation.3">
                    <p:embed/>
                  </p:oleObj>
                </mc:Choice>
                <mc:Fallback>
                  <p:oleObj name="公式" r:id="rId2" imgW="609600" imgH="215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2016"/>
                          <a:ext cx="85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390" name="Group 6"/>
          <p:cNvGrpSpPr/>
          <p:nvPr/>
        </p:nvGrpSpPr>
        <p:grpSpPr bwMode="auto">
          <a:xfrm>
            <a:off x="838200" y="2482850"/>
            <a:ext cx="5715000" cy="1254125"/>
            <a:chOff x="432" y="2330"/>
            <a:chExt cx="3600" cy="790"/>
          </a:xfrm>
        </p:grpSpPr>
        <p:graphicFrame>
          <p:nvGraphicFramePr>
            <p:cNvPr id="109608" name="Object 7"/>
            <p:cNvGraphicFramePr>
              <a:graphicFrameLocks noChangeAspect="1"/>
            </p:cNvGraphicFramePr>
            <p:nvPr/>
          </p:nvGraphicFramePr>
          <p:xfrm>
            <a:off x="432" y="2544"/>
            <a:ext cx="168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39165" imgH="203200" progId="Equation.3">
                    <p:embed/>
                  </p:oleObj>
                </mc:Choice>
                <mc:Fallback>
                  <p:oleObj name="公式" r:id="rId2" imgW="939165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544"/>
                          <a:ext cx="168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9609" name="Group 8"/>
            <p:cNvGrpSpPr/>
            <p:nvPr/>
          </p:nvGrpSpPr>
          <p:grpSpPr bwMode="auto">
            <a:xfrm>
              <a:off x="2319" y="2330"/>
              <a:ext cx="1713" cy="790"/>
              <a:chOff x="1311" y="2976"/>
              <a:chExt cx="1713" cy="790"/>
            </a:xfrm>
          </p:grpSpPr>
          <p:graphicFrame>
            <p:nvGraphicFramePr>
              <p:cNvPr id="109610" name="Object 9"/>
              <p:cNvGraphicFramePr>
                <a:graphicFrameLocks noChangeAspect="1"/>
              </p:cNvGraphicFramePr>
              <p:nvPr/>
            </p:nvGraphicFramePr>
            <p:xfrm>
              <a:off x="1311" y="2976"/>
              <a:ext cx="1233" cy="7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736600" imgH="469900" progId="Equation.3">
                      <p:embed/>
                    </p:oleObj>
                  </mc:Choice>
                  <mc:Fallback>
                    <p:oleObj name="公式" r:id="rId2" imgW="736600" imgH="4699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1" y="2976"/>
                            <a:ext cx="1233" cy="7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611" name="Object 10"/>
              <p:cNvGraphicFramePr>
                <a:graphicFrameLocks noChangeAspect="1"/>
              </p:cNvGraphicFramePr>
              <p:nvPr/>
            </p:nvGraphicFramePr>
            <p:xfrm>
              <a:off x="2592" y="3277"/>
              <a:ext cx="432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241300" imgH="127000" progId="Equation.3">
                      <p:embed/>
                    </p:oleObj>
                  </mc:Choice>
                  <mc:Fallback>
                    <p:oleObj name="公式" r:id="rId2" imgW="241300" imgH="1270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3277"/>
                            <a:ext cx="432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00398" name="Object 14"/>
          <p:cNvGraphicFramePr>
            <a:graphicFrameLocks noChangeAspect="1"/>
          </p:cNvGraphicFramePr>
          <p:nvPr/>
        </p:nvGraphicFramePr>
        <p:xfrm>
          <a:off x="1066800" y="44450"/>
          <a:ext cx="48768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400" imgH="469900" progId="Equation.3">
                  <p:embed/>
                </p:oleObj>
              </mc:Choice>
              <mc:Fallback>
                <p:oleObj name="公式" r:id="rId2" imgW="16764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450"/>
                        <a:ext cx="48768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0400" name="Group 16"/>
          <p:cNvGrpSpPr/>
          <p:nvPr/>
        </p:nvGrpSpPr>
        <p:grpSpPr bwMode="auto">
          <a:xfrm>
            <a:off x="6477000" y="908050"/>
            <a:ext cx="2667000" cy="2514600"/>
            <a:chOff x="3984" y="960"/>
            <a:chExt cx="1680" cy="1584"/>
          </a:xfrm>
        </p:grpSpPr>
        <p:sp>
          <p:nvSpPr>
            <p:cNvPr id="109582" name="Line 17"/>
            <p:cNvSpPr>
              <a:spLocks noChangeShapeType="1"/>
            </p:cNvSpPr>
            <p:nvPr/>
          </p:nvSpPr>
          <p:spPr bwMode="auto">
            <a:xfrm>
              <a:off x="3984" y="2112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3" name="Line 18"/>
            <p:cNvSpPr>
              <a:spLocks noChangeShapeType="1"/>
            </p:cNvSpPr>
            <p:nvPr/>
          </p:nvSpPr>
          <p:spPr bwMode="auto">
            <a:xfrm flipV="1">
              <a:off x="4320" y="960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4" name="Line 19"/>
            <p:cNvSpPr>
              <a:spLocks noChangeShapeType="1"/>
            </p:cNvSpPr>
            <p:nvPr/>
          </p:nvSpPr>
          <p:spPr bwMode="auto">
            <a:xfrm>
              <a:off x="4752" y="96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5" name="Line 20"/>
            <p:cNvSpPr>
              <a:spLocks noChangeShapeType="1"/>
            </p:cNvSpPr>
            <p:nvPr/>
          </p:nvSpPr>
          <p:spPr bwMode="auto">
            <a:xfrm flipV="1">
              <a:off x="4176" y="1248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6" name="Line 21"/>
            <p:cNvSpPr>
              <a:spLocks noChangeShapeType="1"/>
            </p:cNvSpPr>
            <p:nvPr/>
          </p:nvSpPr>
          <p:spPr bwMode="auto">
            <a:xfrm flipV="1">
              <a:off x="4128" y="1056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9587" name="Object 22"/>
            <p:cNvGraphicFramePr>
              <a:graphicFrameLocks noChangeAspect="1"/>
            </p:cNvGraphicFramePr>
            <p:nvPr/>
          </p:nvGraphicFramePr>
          <p:xfrm>
            <a:off x="5449" y="2160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00" imgH="127000" progId="Equation.3">
                    <p:embed/>
                  </p:oleObj>
                </mc:Choice>
                <mc:Fallback>
                  <p:oleObj name="公式" r:id="rId2" imgW="114300" imgH="1270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2160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8" name="Object 23"/>
            <p:cNvGraphicFramePr>
              <a:graphicFrameLocks noChangeAspect="1"/>
            </p:cNvGraphicFramePr>
            <p:nvPr/>
          </p:nvGraphicFramePr>
          <p:xfrm>
            <a:off x="4153" y="960"/>
            <a:ext cx="16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00" imgH="114300" progId="Equation.3">
                    <p:embed/>
                  </p:oleObj>
                </mc:Choice>
                <mc:Fallback>
                  <p:oleObj name="公式" r:id="rId2" imgW="114300" imgH="1143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960"/>
                          <a:ext cx="16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9" name="Object 24"/>
            <p:cNvGraphicFramePr>
              <a:graphicFrameLocks noChangeAspect="1"/>
            </p:cNvGraphicFramePr>
            <p:nvPr/>
          </p:nvGraphicFramePr>
          <p:xfrm>
            <a:off x="5136" y="1200"/>
            <a:ext cx="528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95300" imgH="152400" progId="Equation.3">
                    <p:embed/>
                  </p:oleObj>
                </mc:Choice>
                <mc:Fallback>
                  <p:oleObj name="公式" r:id="rId2" imgW="495300" imgH="1524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200"/>
                          <a:ext cx="528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0" name="Object 25"/>
            <p:cNvGraphicFramePr>
              <a:graphicFrameLocks noChangeAspect="1"/>
            </p:cNvGraphicFramePr>
            <p:nvPr/>
          </p:nvGraphicFramePr>
          <p:xfrm>
            <a:off x="4944" y="960"/>
            <a:ext cx="528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82600" imgH="152400" progId="Equation.3">
                    <p:embed/>
                  </p:oleObj>
                </mc:Choice>
                <mc:Fallback>
                  <p:oleObj name="公式" r:id="rId2" imgW="482600" imgH="1524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60"/>
                          <a:ext cx="528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1" name="Object 26"/>
            <p:cNvGraphicFramePr>
              <a:graphicFrameLocks noChangeAspect="1"/>
            </p:cNvGraphicFramePr>
            <p:nvPr/>
          </p:nvGraphicFramePr>
          <p:xfrm>
            <a:off x="4357" y="2160"/>
            <a:ext cx="10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00" imgH="152400" progId="Equation.3">
                    <p:embed/>
                  </p:oleObj>
                </mc:Choice>
                <mc:Fallback>
                  <p:oleObj name="公式" r:id="rId2" imgW="114300" imgH="1524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160"/>
                          <a:ext cx="10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2" name="Object 27"/>
            <p:cNvGraphicFramePr>
              <a:graphicFrameLocks noChangeAspect="1"/>
            </p:cNvGraphicFramePr>
            <p:nvPr/>
          </p:nvGraphicFramePr>
          <p:xfrm>
            <a:off x="4793" y="2168"/>
            <a:ext cx="8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8900" imgH="139700" progId="Equation.3">
                    <p:embed/>
                  </p:oleObj>
                </mc:Choice>
                <mc:Fallback>
                  <p:oleObj name="公式" r:id="rId2" imgW="88900" imgH="1397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3" y="2168"/>
                          <a:ext cx="8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3" name="Object 28"/>
            <p:cNvGraphicFramePr>
              <a:graphicFrameLocks noChangeAspect="1"/>
            </p:cNvGraphicFramePr>
            <p:nvPr/>
          </p:nvGraphicFramePr>
          <p:xfrm>
            <a:off x="4224" y="1584"/>
            <a:ext cx="8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8900" imgH="139700" progId="Equation.3">
                    <p:embed/>
                  </p:oleObj>
                </mc:Choice>
                <mc:Fallback>
                  <p:oleObj name="公式" r:id="rId2" imgW="88900" imgH="1397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584"/>
                          <a:ext cx="8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94" name="Line 29"/>
            <p:cNvSpPr>
              <a:spLocks noChangeShapeType="1"/>
            </p:cNvSpPr>
            <p:nvPr/>
          </p:nvSpPr>
          <p:spPr bwMode="auto">
            <a:xfrm>
              <a:off x="4320" y="16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5" name="Line 30"/>
            <p:cNvSpPr>
              <a:spLocks noChangeShapeType="1"/>
            </p:cNvSpPr>
            <p:nvPr/>
          </p:nvSpPr>
          <p:spPr bwMode="auto">
            <a:xfrm>
              <a:off x="4320" y="1968"/>
              <a:ext cx="9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6" name="Line 31"/>
            <p:cNvSpPr>
              <a:spLocks noChangeShapeType="1"/>
            </p:cNvSpPr>
            <p:nvPr/>
          </p:nvSpPr>
          <p:spPr bwMode="auto">
            <a:xfrm>
              <a:off x="4320" y="1824"/>
              <a:ext cx="288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7" name="Line 32"/>
            <p:cNvSpPr>
              <a:spLocks noChangeShapeType="1"/>
            </p:cNvSpPr>
            <p:nvPr/>
          </p:nvSpPr>
          <p:spPr bwMode="auto">
            <a:xfrm>
              <a:off x="4320" y="1728"/>
              <a:ext cx="384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8" name="Line 33"/>
            <p:cNvSpPr>
              <a:spLocks noChangeShapeType="1"/>
            </p:cNvSpPr>
            <p:nvPr/>
          </p:nvSpPr>
          <p:spPr bwMode="auto">
            <a:xfrm>
              <a:off x="4320" y="1872"/>
              <a:ext cx="240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9" name="Line 34"/>
            <p:cNvSpPr>
              <a:spLocks noChangeShapeType="1"/>
            </p:cNvSpPr>
            <p:nvPr/>
          </p:nvSpPr>
          <p:spPr bwMode="auto">
            <a:xfrm>
              <a:off x="4320" y="1776"/>
              <a:ext cx="33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0" name="Line 35"/>
            <p:cNvSpPr>
              <a:spLocks noChangeShapeType="1"/>
            </p:cNvSpPr>
            <p:nvPr/>
          </p:nvSpPr>
          <p:spPr bwMode="auto">
            <a:xfrm>
              <a:off x="4320" y="1920"/>
              <a:ext cx="192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1" name="Line 36"/>
            <p:cNvSpPr>
              <a:spLocks noChangeShapeType="1"/>
            </p:cNvSpPr>
            <p:nvPr/>
          </p:nvSpPr>
          <p:spPr bwMode="auto">
            <a:xfrm>
              <a:off x="4320" y="2016"/>
              <a:ext cx="9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2" name="Line 37"/>
            <p:cNvSpPr>
              <a:spLocks noChangeShapeType="1"/>
            </p:cNvSpPr>
            <p:nvPr/>
          </p:nvSpPr>
          <p:spPr bwMode="auto">
            <a:xfrm>
              <a:off x="4416" y="1968"/>
              <a:ext cx="48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3" name="Line 38"/>
            <p:cNvSpPr>
              <a:spLocks noChangeShapeType="1"/>
            </p:cNvSpPr>
            <p:nvPr/>
          </p:nvSpPr>
          <p:spPr bwMode="auto">
            <a:xfrm>
              <a:off x="4656" y="1344"/>
              <a:ext cx="0" cy="336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4" name="Line 39"/>
            <p:cNvSpPr>
              <a:spLocks noChangeShapeType="1"/>
            </p:cNvSpPr>
            <p:nvPr/>
          </p:nvSpPr>
          <p:spPr bwMode="auto">
            <a:xfrm>
              <a:off x="4560" y="1440"/>
              <a:ext cx="0" cy="24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5" name="Line 40"/>
            <p:cNvSpPr>
              <a:spLocks noChangeShapeType="1"/>
            </p:cNvSpPr>
            <p:nvPr/>
          </p:nvSpPr>
          <p:spPr bwMode="auto">
            <a:xfrm>
              <a:off x="4464" y="1536"/>
              <a:ext cx="0" cy="144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6" name="Line 41"/>
            <p:cNvSpPr>
              <a:spLocks noChangeShapeType="1"/>
            </p:cNvSpPr>
            <p:nvPr/>
          </p:nvSpPr>
          <p:spPr bwMode="auto">
            <a:xfrm flipH="1">
              <a:off x="4080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9607" name="Object 42"/>
            <p:cNvGraphicFramePr>
              <a:graphicFrameLocks noChangeAspect="1"/>
            </p:cNvGraphicFramePr>
            <p:nvPr/>
          </p:nvGraphicFramePr>
          <p:xfrm>
            <a:off x="4176" y="1248"/>
            <a:ext cx="11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00" imgH="139700" progId="Equation.3">
                    <p:embed/>
                  </p:oleObj>
                </mc:Choice>
                <mc:Fallback>
                  <p:oleObj name="公式" r:id="rId2" imgW="114300" imgH="1397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1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27" name="Group 43"/>
          <p:cNvGrpSpPr/>
          <p:nvPr/>
        </p:nvGrpSpPr>
        <p:grpSpPr bwMode="auto">
          <a:xfrm>
            <a:off x="838200" y="3397250"/>
            <a:ext cx="5527675" cy="1165225"/>
            <a:chOff x="454" y="2866"/>
            <a:chExt cx="3482" cy="734"/>
          </a:xfrm>
        </p:grpSpPr>
        <p:graphicFrame>
          <p:nvGraphicFramePr>
            <p:cNvPr id="109579" name="Object 44"/>
            <p:cNvGraphicFramePr>
              <a:graphicFrameLocks noChangeAspect="1"/>
            </p:cNvGraphicFramePr>
            <p:nvPr/>
          </p:nvGraphicFramePr>
          <p:xfrm>
            <a:off x="2039" y="2866"/>
            <a:ext cx="120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774065" imgH="469900" progId="Equation.3">
                    <p:embed/>
                  </p:oleObj>
                </mc:Choice>
                <mc:Fallback>
                  <p:oleObj name="公式" r:id="rId2" imgW="774065" imgH="4699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9" y="2866"/>
                          <a:ext cx="120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0" name="Object 45"/>
            <p:cNvGraphicFramePr>
              <a:graphicFrameLocks noChangeAspect="1"/>
            </p:cNvGraphicFramePr>
            <p:nvPr/>
          </p:nvGraphicFramePr>
          <p:xfrm>
            <a:off x="3264" y="3102"/>
            <a:ext cx="67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43865" imgH="165100" progId="Equation.3">
                    <p:embed/>
                  </p:oleObj>
                </mc:Choice>
                <mc:Fallback>
                  <p:oleObj name="公式" r:id="rId2" imgW="443865" imgH="1651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102"/>
                          <a:ext cx="67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1" name="Object 46"/>
            <p:cNvGraphicFramePr>
              <a:graphicFrameLocks noChangeAspect="1"/>
            </p:cNvGraphicFramePr>
            <p:nvPr/>
          </p:nvGraphicFramePr>
          <p:xfrm>
            <a:off x="454" y="3058"/>
            <a:ext cx="156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39165" imgH="203200" progId="Equation.3">
                    <p:embed/>
                  </p:oleObj>
                </mc:Choice>
                <mc:Fallback>
                  <p:oleObj name="公式" r:id="rId2" imgW="939165" imgH="2032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3058"/>
                          <a:ext cx="1562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0431" name="Object 47"/>
          <p:cNvGraphicFramePr>
            <a:graphicFrameLocks noChangeAspect="1"/>
          </p:cNvGraphicFramePr>
          <p:nvPr/>
        </p:nvGraphicFramePr>
        <p:xfrm>
          <a:off x="914400" y="4552950"/>
          <a:ext cx="3352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393700" progId="Equation.3">
                  <p:embed/>
                </p:oleObj>
              </mc:Choice>
              <mc:Fallback>
                <p:oleObj name="公式" r:id="rId2" imgW="1371600" imgH="3937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552950"/>
                        <a:ext cx="3352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5" name="Object 51"/>
          <p:cNvGraphicFramePr>
            <a:graphicFrameLocks noChangeAspect="1"/>
          </p:cNvGraphicFramePr>
          <p:nvPr/>
        </p:nvGraphicFramePr>
        <p:xfrm>
          <a:off x="1219200" y="1263650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45465" imgH="177800" progId="Equation.3">
                  <p:embed/>
                </p:oleObj>
              </mc:Choice>
              <mc:Fallback>
                <p:oleObj name="Equation" r:id="rId20" imgW="545465" imgH="1778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63650"/>
                        <a:ext cx="1600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6" name="Object 52"/>
          <p:cNvGraphicFramePr>
            <a:graphicFrameLocks noChangeAspect="1"/>
          </p:cNvGraphicFramePr>
          <p:nvPr/>
        </p:nvGraphicFramePr>
        <p:xfrm>
          <a:off x="3657600" y="1263650"/>
          <a:ext cx="21955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48665" imgH="177800" progId="Equation.3">
                  <p:embed/>
                </p:oleObj>
              </mc:Choice>
              <mc:Fallback>
                <p:oleObj name="Equation" r:id="rId22" imgW="748665" imgH="1778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263650"/>
                        <a:ext cx="21955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7" name="Object 53"/>
          <p:cNvGraphicFramePr>
            <a:graphicFrameLocks noChangeAspect="1"/>
          </p:cNvGraphicFramePr>
          <p:nvPr/>
        </p:nvGraphicFramePr>
        <p:xfrm>
          <a:off x="4343400" y="4159250"/>
          <a:ext cx="3962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85900" imgH="1143000" progId="Equation.DSMT4">
                  <p:embed/>
                </p:oleObj>
              </mc:Choice>
              <mc:Fallback>
                <p:oleObj name="Equation" r:id="rId24" imgW="1485900" imgH="11430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159250"/>
                        <a:ext cx="39624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323850" y="307975"/>
            <a:ext cx="8280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6</a:t>
            </a:r>
            <a:r>
              <a:rPr lang="en-US" altLang="zh-CN" sz="2800" b="1">
                <a:solidFill>
                  <a:srgbClr val="CCFFFF"/>
                </a:solidFill>
              </a:rPr>
              <a:t>   </a:t>
            </a:r>
            <a:r>
              <a:rPr lang="zh-CN" altLang="en-US" sz="2800" b="1">
                <a:solidFill>
                  <a:schemeClr val="tx2"/>
                </a:solidFill>
              </a:rPr>
              <a:t>若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zh-CN" altLang="en-US" sz="2800" b="1">
                <a:solidFill>
                  <a:schemeClr val="tx2"/>
                </a:solidFill>
              </a:rPr>
              <a:t>和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zh-CN" altLang="en-US" sz="2800" b="1">
                <a:solidFill>
                  <a:schemeClr val="tx2"/>
                </a:solidFill>
              </a:rPr>
              <a:t>是两个相互</a:t>
            </a:r>
            <a:r>
              <a:rPr lang="zh-CN" altLang="zh-CN" sz="2800" b="1">
                <a:solidFill>
                  <a:schemeClr val="tx2"/>
                </a:solidFill>
              </a:rPr>
              <a:t>独立</a:t>
            </a:r>
            <a:r>
              <a:rPr lang="zh-CN" altLang="en-US" sz="2800" b="1">
                <a:solidFill>
                  <a:schemeClr val="tx2"/>
                </a:solidFill>
              </a:rPr>
              <a:t>的随机变量 </a:t>
            </a:r>
            <a:r>
              <a:rPr lang="zh-CN" altLang="zh-CN" sz="2800" b="1">
                <a:solidFill>
                  <a:schemeClr val="tx2"/>
                </a:solidFill>
              </a:rPr>
              <a:t>,</a:t>
            </a:r>
            <a:r>
              <a:rPr lang="en-US" altLang="zh-CN" sz="2800" b="1">
                <a:solidFill>
                  <a:schemeClr val="tx2"/>
                </a:solidFill>
              </a:rPr>
              <a:t> </a:t>
            </a:r>
            <a:r>
              <a:rPr lang="zh-CN" altLang="zh-CN" sz="2800" b="1">
                <a:solidFill>
                  <a:schemeClr val="tx2"/>
                </a:solidFill>
              </a:rPr>
              <a:t>具有相同的分布</a:t>
            </a:r>
            <a:r>
              <a:rPr lang="zh-CN" altLang="en-US" sz="2800" b="1">
                <a:solidFill>
                  <a:schemeClr val="tx2"/>
                </a:solidFill>
              </a:rPr>
              <a:t> </a:t>
            </a:r>
            <a:r>
              <a:rPr lang="en-US" altLang="zh-CN" sz="2800" b="1" i="1">
                <a:solidFill>
                  <a:schemeClr val="tx2"/>
                </a:solidFill>
              </a:rPr>
              <a:t>N</a:t>
            </a:r>
            <a:r>
              <a:rPr lang="en-US" altLang="zh-CN" sz="2800" b="1">
                <a:solidFill>
                  <a:schemeClr val="tx2"/>
                </a:solidFill>
              </a:rPr>
              <a:t>(0,1) , </a:t>
            </a:r>
            <a:r>
              <a:rPr lang="zh-CN" altLang="en-US" sz="2800" b="1">
                <a:solidFill>
                  <a:schemeClr val="tx2"/>
                </a:solidFill>
              </a:rPr>
              <a:t>求 </a:t>
            </a:r>
            <a:r>
              <a:rPr lang="en-US" altLang="zh-CN" sz="2800" b="1" i="1">
                <a:solidFill>
                  <a:schemeClr val="tx2"/>
                </a:solidFill>
              </a:rPr>
              <a:t>Z=X+Y </a:t>
            </a:r>
            <a:r>
              <a:rPr lang="zh-CN" altLang="en-US" sz="2800" b="1">
                <a:solidFill>
                  <a:schemeClr val="tx2"/>
                </a:solidFill>
              </a:rPr>
              <a:t>的概率密度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382979" name="Object 3"/>
          <p:cNvGraphicFramePr>
            <a:graphicFrameLocks noChangeAspect="1"/>
          </p:cNvGraphicFramePr>
          <p:nvPr/>
        </p:nvGraphicFramePr>
        <p:xfrm>
          <a:off x="1157288" y="1412875"/>
          <a:ext cx="499903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62125" imgH="259715" progId="Equation.3">
                  <p:embed/>
                </p:oleObj>
              </mc:Choice>
              <mc:Fallback>
                <p:oleObj name="公式" r:id="rId2" imgW="1762125" imgH="2597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1412875"/>
                        <a:ext cx="499903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323850" y="1557338"/>
            <a:ext cx="2814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解  </a:t>
            </a:r>
            <a:endParaRPr lang="zh-CN" altLang="en-US" sz="2800"/>
          </a:p>
        </p:txBody>
      </p:sp>
      <p:graphicFrame>
        <p:nvGraphicFramePr>
          <p:cNvPr id="382981" name="Object 5"/>
          <p:cNvGraphicFramePr>
            <a:graphicFrameLocks noChangeAspect="1"/>
          </p:cNvGraphicFramePr>
          <p:nvPr/>
        </p:nvGraphicFramePr>
        <p:xfrm>
          <a:off x="2252663" y="2363788"/>
          <a:ext cx="3403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4225" imgH="923925" progId="Equation.DSMT4">
                  <p:embed/>
                </p:oleObj>
              </mc:Choice>
              <mc:Fallback>
                <p:oleObj name="Equation" r:id="rId2" imgW="3324225" imgH="9239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2363788"/>
                        <a:ext cx="3403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2" name="Object 6"/>
          <p:cNvGraphicFramePr>
            <a:graphicFrameLocks noChangeAspect="1"/>
          </p:cNvGraphicFramePr>
          <p:nvPr/>
        </p:nvGraphicFramePr>
        <p:xfrm>
          <a:off x="2327275" y="4510088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875665" progId="Equation.DSMT4">
                  <p:embed/>
                </p:oleObj>
              </mc:Choice>
              <mc:Fallback>
                <p:oleObj name="Equation" r:id="rId2" imgW="3124200" imgH="87566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4510088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3" name="Object 7"/>
          <p:cNvGraphicFramePr>
            <a:graphicFrameLocks noChangeAspect="1"/>
          </p:cNvGraphicFramePr>
          <p:nvPr/>
        </p:nvGraphicFramePr>
        <p:xfrm>
          <a:off x="2168525" y="3429000"/>
          <a:ext cx="345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81375" imgH="875665" progId="Equation.DSMT4">
                  <p:embed/>
                </p:oleObj>
              </mc:Choice>
              <mc:Fallback>
                <p:oleObj name="Equation" r:id="rId2" imgW="3381375" imgH="87566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3429000"/>
                        <a:ext cx="3454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0" grpId="0" bldLvl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/>
          <p:cNvGraphicFramePr>
            <a:graphicFrameLocks noChangeAspect="1"/>
          </p:cNvGraphicFramePr>
          <p:nvPr/>
        </p:nvGraphicFramePr>
        <p:xfrm>
          <a:off x="2801938" y="300038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875665" progId="Equation.DSMT4">
                  <p:embed/>
                </p:oleObj>
              </mc:Choice>
              <mc:Fallback>
                <p:oleObj name="Equation" r:id="rId2" imgW="3124200" imgH="87566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300038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4003" name="Group 3"/>
          <p:cNvGrpSpPr/>
          <p:nvPr/>
        </p:nvGrpSpPr>
        <p:grpSpPr bwMode="auto">
          <a:xfrm>
            <a:off x="1344613" y="1455738"/>
            <a:ext cx="2082800" cy="838200"/>
            <a:chOff x="612" y="1253"/>
            <a:chExt cx="1312" cy="528"/>
          </a:xfrm>
        </p:grpSpPr>
        <p:sp>
          <p:nvSpPr>
            <p:cNvPr id="111626" name="Text Box 4"/>
            <p:cNvSpPr txBox="1">
              <a:spLocks noChangeArrowheads="1"/>
            </p:cNvSpPr>
            <p:nvPr/>
          </p:nvSpPr>
          <p:spPr bwMode="auto">
            <a:xfrm>
              <a:off x="612" y="1344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令</a:t>
              </a:r>
            </a:p>
          </p:txBody>
        </p:sp>
        <p:graphicFrame>
          <p:nvGraphicFramePr>
            <p:cNvPr id="111627" name="Object 5"/>
            <p:cNvGraphicFramePr>
              <a:graphicFrameLocks noChangeAspect="1"/>
            </p:cNvGraphicFramePr>
            <p:nvPr/>
          </p:nvGraphicFramePr>
          <p:xfrm>
            <a:off x="1020" y="1253"/>
            <a:ext cx="9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62075" imgH="770255" progId="Equation.DSMT4">
                    <p:embed/>
                  </p:oleObj>
                </mc:Choice>
                <mc:Fallback>
                  <p:oleObj name="Equation" r:id="rId2" imgW="1362075" imgH="77025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253"/>
                          <a:ext cx="90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06" name="Text Box 6"/>
          <p:cNvSpPr txBox="1">
            <a:spLocks noChangeArrowheads="1"/>
          </p:cNvSpPr>
          <p:nvPr/>
        </p:nvSpPr>
        <p:spPr bwMode="auto">
          <a:xfrm>
            <a:off x="3505200" y="1600200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得</a:t>
            </a:r>
          </a:p>
        </p:txBody>
      </p:sp>
      <p:graphicFrame>
        <p:nvGraphicFramePr>
          <p:cNvPr id="384007" name="Object 7"/>
          <p:cNvGraphicFramePr>
            <a:graphicFrameLocks noChangeAspect="1"/>
          </p:cNvGraphicFramePr>
          <p:nvPr/>
        </p:nvGraphicFramePr>
        <p:xfrm>
          <a:off x="1992313" y="2820988"/>
          <a:ext cx="1219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23545" progId="Equation.DSMT4">
                  <p:embed/>
                </p:oleObj>
              </mc:Choice>
              <mc:Fallback>
                <p:oleObj name="Equation" r:id="rId2" imgW="1143000" imgH="42354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820988"/>
                        <a:ext cx="1219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8" name="Object 8"/>
          <p:cNvGraphicFramePr>
            <a:graphicFrameLocks noChangeAspect="1"/>
          </p:cNvGraphicFramePr>
          <p:nvPr/>
        </p:nvGraphicFramePr>
        <p:xfrm>
          <a:off x="3203575" y="2565400"/>
          <a:ext cx="2362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875665" progId="Equation.DSMT4">
                  <p:embed/>
                </p:oleObj>
              </mc:Choice>
              <mc:Fallback>
                <p:oleObj name="Equation" r:id="rId2" imgW="2286000" imgH="87566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565400"/>
                        <a:ext cx="2362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9" name="Object 9"/>
          <p:cNvGraphicFramePr>
            <a:graphicFrameLocks noChangeAspect="1"/>
          </p:cNvGraphicFramePr>
          <p:nvPr/>
        </p:nvGraphicFramePr>
        <p:xfrm>
          <a:off x="5635625" y="2532063"/>
          <a:ext cx="2044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71675" imgH="875665" progId="Equation.DSMT4">
                  <p:embed/>
                </p:oleObj>
              </mc:Choice>
              <mc:Fallback>
                <p:oleObj name="Equation" r:id="rId2" imgW="1971675" imgH="87566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2532063"/>
                        <a:ext cx="2044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0" name="Object 10"/>
          <p:cNvGraphicFramePr>
            <a:graphicFrameLocks noChangeAspect="1"/>
          </p:cNvGraphicFramePr>
          <p:nvPr/>
        </p:nvGraphicFramePr>
        <p:xfrm>
          <a:off x="3052763" y="3548063"/>
          <a:ext cx="2755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6525" imgH="1155065" progId="Equation.DSMT4">
                  <p:embed/>
                </p:oleObj>
              </mc:Choice>
              <mc:Fallback>
                <p:oleObj name="Equation" r:id="rId2" imgW="2676525" imgH="115506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3548063"/>
                        <a:ext cx="2755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11" name="Rectangle 11"/>
          <p:cNvSpPr>
            <a:spLocks noChangeArrowheads="1"/>
          </p:cNvSpPr>
          <p:nvPr/>
        </p:nvSpPr>
        <p:spPr bwMode="auto">
          <a:xfrm>
            <a:off x="673100" y="5113338"/>
            <a:ext cx="5414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chemeClr val="tx2"/>
                </a:solidFill>
              </a:rPr>
              <a:t>可见 </a:t>
            </a:r>
            <a:r>
              <a:rPr lang="en-US" altLang="zh-CN" sz="2800" b="1" i="1">
                <a:solidFill>
                  <a:schemeClr val="tx2"/>
                </a:solidFill>
              </a:rPr>
              <a:t>Z=X+Y </a:t>
            </a:r>
            <a:r>
              <a:rPr lang="zh-CN" altLang="en-US" sz="2800" b="1">
                <a:solidFill>
                  <a:schemeClr val="tx2"/>
                </a:solidFill>
              </a:rPr>
              <a:t>服从正态分布 </a:t>
            </a:r>
            <a:r>
              <a:rPr lang="en-US" altLang="zh-CN" sz="2800" b="1" i="1">
                <a:solidFill>
                  <a:schemeClr val="tx2"/>
                </a:solidFill>
              </a:rPr>
              <a:t>N</a:t>
            </a:r>
            <a:r>
              <a:rPr lang="en-US" altLang="zh-CN" sz="2800" b="1">
                <a:solidFill>
                  <a:schemeClr val="tx2"/>
                </a:solidFill>
              </a:rPr>
              <a:t>(0,2).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6" grpId="0" bldLvl="0" animBg="1" autoUpdateAnimBg="0"/>
      <p:bldP spid="384011" grpId="0" bldLvl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ChangeArrowheads="1"/>
          </p:cNvSpPr>
          <p:nvPr/>
        </p:nvSpPr>
        <p:spPr bwMode="auto">
          <a:xfrm>
            <a:off x="1116013" y="4068763"/>
            <a:ext cx="403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用类似的方法可以证明</a:t>
            </a:r>
            <a:r>
              <a:rPr lang="en-US" altLang="zh-CN" sz="2800" b="1"/>
              <a:t>: 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85027" name="Object 3"/>
          <p:cNvGraphicFramePr>
            <a:graphicFrameLocks noChangeAspect="1"/>
          </p:cNvGraphicFramePr>
          <p:nvPr/>
        </p:nvGraphicFramePr>
        <p:xfrm>
          <a:off x="938213" y="4754563"/>
          <a:ext cx="54340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90725" imgH="154305" progId="Equation.3">
                  <p:embed/>
                </p:oleObj>
              </mc:Choice>
              <mc:Fallback>
                <p:oleObj name="公式" r:id="rId2" imgW="1990725" imgH="15430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754563"/>
                        <a:ext cx="543401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28" name="Text Box 4"/>
          <p:cNvSpPr txBox="1">
            <a:spLocks noChangeArrowheads="1"/>
          </p:cNvSpPr>
          <p:nvPr/>
        </p:nvSpPr>
        <p:spPr bwMode="auto">
          <a:xfrm>
            <a:off x="754063" y="28495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 </a:t>
            </a:r>
            <a:r>
              <a:rPr lang="zh-CN" altLang="en-US" sz="2800" b="1"/>
              <a:t>若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 </a:t>
            </a:r>
            <a:r>
              <a:rPr lang="zh-CN" altLang="zh-CN" sz="2800" b="1"/>
              <a:t>独立,</a:t>
            </a:r>
            <a:endParaRPr lang="en-US" altLang="zh-CN" sz="2800" b="1"/>
          </a:p>
        </p:txBody>
      </p:sp>
      <p:graphicFrame>
        <p:nvGraphicFramePr>
          <p:cNvPr id="385029" name="Object 5"/>
          <p:cNvGraphicFramePr>
            <a:graphicFrameLocks noChangeAspect="1"/>
          </p:cNvGraphicFramePr>
          <p:nvPr/>
        </p:nvGraphicFramePr>
        <p:xfrm>
          <a:off x="3563938" y="2882900"/>
          <a:ext cx="48974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38325" imgH="154305" progId="Equation.3">
                  <p:embed/>
                </p:oleObj>
              </mc:Choice>
              <mc:Fallback>
                <p:oleObj name="公式" r:id="rId2" imgW="1838325" imgH="1543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882900"/>
                        <a:ext cx="48974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30" name="Text Box 6"/>
          <p:cNvSpPr txBox="1">
            <a:spLocks noChangeArrowheads="1"/>
          </p:cNvSpPr>
          <p:nvPr/>
        </p:nvSpPr>
        <p:spPr bwMode="auto">
          <a:xfrm>
            <a:off x="323850" y="33829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结论又如何呢</a:t>
            </a:r>
            <a:r>
              <a:rPr lang="en-US" altLang="zh-CN" sz="2800" b="1"/>
              <a:t>?    </a:t>
            </a:r>
          </a:p>
        </p:txBody>
      </p:sp>
      <p:sp>
        <p:nvSpPr>
          <p:cNvPr id="385032" name="Rectangle 8"/>
          <p:cNvSpPr>
            <a:spLocks noChangeArrowheads="1"/>
          </p:cNvSpPr>
          <p:nvPr/>
        </p:nvSpPr>
        <p:spPr bwMode="auto">
          <a:xfrm>
            <a:off x="468313" y="1331913"/>
            <a:ext cx="8280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FF00"/>
                </a:solidFill>
              </a:rPr>
              <a:t>       </a:t>
            </a:r>
            <a:r>
              <a:rPr lang="zh-CN" altLang="en-US" sz="2800" b="1">
                <a:solidFill>
                  <a:schemeClr val="accent2"/>
                </a:solidFill>
              </a:rPr>
              <a:t>若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独立</a:t>
            </a:r>
            <a:r>
              <a:rPr lang="zh-CN" altLang="en-US" sz="2800" b="1">
                <a:solidFill>
                  <a:schemeClr val="accent2"/>
                </a:solidFill>
              </a:rPr>
              <a:t> </a:t>
            </a:r>
            <a:r>
              <a:rPr lang="zh-CN" altLang="zh-CN" sz="2800" b="1">
                <a:solidFill>
                  <a:schemeClr val="accent2"/>
                </a:solidFill>
              </a:rPr>
              <a:t>,</a:t>
            </a: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r>
              <a:rPr lang="zh-CN" altLang="zh-CN" sz="2800" b="1">
                <a:solidFill>
                  <a:schemeClr val="accent2"/>
                </a:solidFill>
              </a:rPr>
              <a:t>具有相同的分布</a:t>
            </a:r>
            <a:r>
              <a:rPr lang="zh-CN" altLang="en-US" sz="2800" b="1">
                <a:solidFill>
                  <a:schemeClr val="accent2"/>
                </a:solidFill>
              </a:rPr>
              <a:t>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(0,1) , </a:t>
            </a:r>
            <a:r>
              <a:rPr lang="zh-CN" altLang="en-US" sz="2800" b="1">
                <a:solidFill>
                  <a:schemeClr val="accent2"/>
                </a:solidFill>
              </a:rPr>
              <a:t>则</a:t>
            </a:r>
            <a:r>
              <a:rPr lang="en-US" altLang="zh-CN" sz="2800" b="1" i="1">
                <a:solidFill>
                  <a:schemeClr val="accent2"/>
                </a:solidFill>
              </a:rPr>
              <a:t>Z=X+Y </a:t>
            </a:r>
            <a:r>
              <a:rPr lang="zh-CN" altLang="en-US" sz="2800" b="1">
                <a:solidFill>
                  <a:schemeClr val="accent2"/>
                </a:solidFill>
              </a:rPr>
              <a:t>服从正态分布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(0,2).</a:t>
            </a:r>
          </a:p>
        </p:txBody>
      </p:sp>
      <p:graphicFrame>
        <p:nvGraphicFramePr>
          <p:cNvPr id="112648" name="Object 9"/>
          <p:cNvGraphicFramePr>
            <a:graphicFrameLocks noChangeAspect="1"/>
          </p:cNvGraphicFramePr>
          <p:nvPr/>
        </p:nvGraphicFramePr>
        <p:xfrm>
          <a:off x="803275" y="938213"/>
          <a:ext cx="3079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925" imgH="317500" progId="Equation.DSMT4">
                  <p:embed/>
                </p:oleObj>
              </mc:Choice>
              <mc:Fallback>
                <p:oleObj name="Equation" r:id="rId2" imgW="161925" imgH="317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938213"/>
                        <a:ext cx="3079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bldLvl="0" animBg="1" autoUpdateAnimBg="0"/>
      <p:bldP spid="385028" grpId="0" bldLvl="0" animBg="1" autoUpdateAnimBg="0"/>
      <p:bldP spid="385030" grpId="0" bldLvl="0" animBg="1" autoUpdateAnimBg="0"/>
      <p:bldP spid="385032" grpId="0" bldLvl="0" animBg="1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Text Box 2"/>
          <p:cNvSpPr txBox="1">
            <a:spLocks noChangeArrowheads="1"/>
          </p:cNvSpPr>
          <p:nvPr/>
        </p:nvSpPr>
        <p:spPr bwMode="auto">
          <a:xfrm>
            <a:off x="-147638" y="1069975"/>
            <a:ext cx="89042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>
                <a:solidFill>
                  <a:schemeClr val="tx2"/>
                </a:solidFill>
              </a:rPr>
              <a:t>       </a:t>
            </a:r>
            <a:r>
              <a:rPr lang="zh-CN" altLang="zh-CN" sz="2800" b="1">
                <a:solidFill>
                  <a:schemeClr val="accent2"/>
                </a:solidFill>
              </a:rPr>
              <a:t>有限个独立正态变量的线性组合仍然服从正态分布</a:t>
            </a:r>
            <a:r>
              <a:rPr lang="zh-CN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304800" y="395288"/>
            <a:ext cx="3427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更一般地</a:t>
            </a:r>
            <a:r>
              <a:rPr lang="en-US" altLang="zh-CN" sz="2800" b="1"/>
              <a:t>,  </a:t>
            </a:r>
            <a:r>
              <a:rPr lang="zh-CN" altLang="zh-CN" sz="2800" b="1"/>
              <a:t>可以证明:</a:t>
            </a:r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905000" y="2757488"/>
          <a:ext cx="27432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4100" imgH="241300" progId="Equation.3">
                  <p:embed/>
                </p:oleObj>
              </mc:Choice>
              <mc:Fallback>
                <p:oleObj name="公式" r:id="rId2" imgW="1054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757488"/>
                        <a:ext cx="27432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1066800" y="1995488"/>
          <a:ext cx="67976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57500" imgH="228600" progId="Equation.3">
                  <p:embed/>
                </p:oleObj>
              </mc:Choice>
              <mc:Fallback>
                <p:oleObj name="公式" r:id="rId2" imgW="2857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95488"/>
                        <a:ext cx="67976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6" name="Object 8"/>
          <p:cNvGraphicFramePr>
            <a:graphicFrameLocks noChangeAspect="1"/>
          </p:cNvGraphicFramePr>
          <p:nvPr/>
        </p:nvGraphicFramePr>
        <p:xfrm>
          <a:off x="1066800" y="3671888"/>
          <a:ext cx="5562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97100" imgH="228600" progId="Equation.3">
                  <p:embed/>
                </p:oleObj>
              </mc:Choice>
              <mc:Fallback>
                <p:oleObj name="公式" r:id="rId2" imgW="2197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71888"/>
                        <a:ext cx="55626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7" name="Object 9"/>
          <p:cNvGraphicFramePr>
            <a:graphicFrameLocks noChangeAspect="1"/>
          </p:cNvGraphicFramePr>
          <p:nvPr/>
        </p:nvGraphicFramePr>
        <p:xfrm>
          <a:off x="6629400" y="3367088"/>
          <a:ext cx="2286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31800" progId="Equation.3">
                  <p:embed/>
                </p:oleObj>
              </mc:Choice>
              <mc:Fallback>
                <p:oleObj name="Equation" r:id="rId6" imgW="9144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67088"/>
                        <a:ext cx="2286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8" name="Object 10"/>
          <p:cNvGraphicFramePr>
            <a:graphicFrameLocks noChangeAspect="1"/>
          </p:cNvGraphicFramePr>
          <p:nvPr/>
        </p:nvGraphicFramePr>
        <p:xfrm>
          <a:off x="1447800" y="4510088"/>
          <a:ext cx="571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55800" imgH="457200" progId="Equation.3">
                  <p:embed/>
                </p:oleObj>
              </mc:Choice>
              <mc:Fallback>
                <p:oleObj name="Equation" r:id="rId8" imgW="19558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10088"/>
                        <a:ext cx="5715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0" grpId="0" bldLvl="0" animBg="1" autoUpdateAnimBg="0"/>
      <p:bldP spid="386051" grpId="0" bldLvl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7445" y="1171575"/>
            <a:ext cx="68491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本周作业：</a:t>
            </a:r>
          </a:p>
          <a:p>
            <a:r>
              <a:rPr lang="en-US" altLang="zh-CN">
                <a:sym typeface="+mn-ea"/>
              </a:rPr>
              <a:t>  2, 3, 4, 5, 7, 8, 13, 14,     15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17</a:t>
            </a:r>
          </a:p>
          <a:p>
            <a:r>
              <a:rPr lang="zh-CN" altLang="en-US">
                <a:sym typeface="+mn-ea"/>
              </a:rPr>
              <a:t>补充题：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 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， 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， </a:t>
            </a:r>
            <a:r>
              <a:rPr lang="en-US" altLang="zh-CN">
                <a:sym typeface="+mn-ea"/>
              </a:rPr>
              <a:t>6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47</TotalTime>
  <Words>2553</Words>
  <Application>Microsoft Office PowerPoint</Application>
  <PresentationFormat>全屏显示(4:3)</PresentationFormat>
  <Paragraphs>359</Paragraphs>
  <Slides>76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76</vt:i4>
      </vt:variant>
    </vt:vector>
  </HeadingPairs>
  <TitlesOfParts>
    <vt:vector size="88" baseType="lpstr">
      <vt:lpstr>黑体</vt:lpstr>
      <vt:lpstr>华文彩云</vt:lpstr>
      <vt:lpstr>华文新魏</vt:lpstr>
      <vt:lpstr>楷体_GB2312</vt:lpstr>
      <vt:lpstr>宋体</vt:lpstr>
      <vt:lpstr>Arial</vt:lpstr>
      <vt:lpstr>Times New Roman</vt:lpstr>
      <vt:lpstr>Wingdings</vt:lpstr>
      <vt:lpstr>古瓶荷花</vt:lpstr>
      <vt:lpstr>公式</vt:lpstr>
      <vt:lpstr>Equation</vt:lpstr>
      <vt:lpstr>Document</vt:lpstr>
      <vt:lpstr> 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 意 点  (1)</vt:lpstr>
      <vt:lpstr>注 意 点  (2)</vt:lpstr>
      <vt:lpstr>第五节  条件分布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(2)连续型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chuangxia hai</cp:lastModifiedBy>
  <cp:revision>263</cp:revision>
  <dcterms:created xsi:type="dcterms:W3CDTF">2010-03-02T01:46:00Z</dcterms:created>
  <dcterms:modified xsi:type="dcterms:W3CDTF">2025-08-19T17:38:07Z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