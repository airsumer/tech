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wmf" ContentType="image/x-wmf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34" r:id="rId3"/>
    <p:sldId id="1312" r:id="rId5"/>
    <p:sldId id="1024" r:id="rId6"/>
    <p:sldId id="1029" r:id="rId7"/>
    <p:sldId id="1030" r:id="rId8"/>
    <p:sldId id="1031" r:id="rId9"/>
    <p:sldId id="1032" r:id="rId10"/>
    <p:sldId id="1033" r:id="rId11"/>
    <p:sldId id="1034" r:id="rId12"/>
    <p:sldId id="1035" r:id="rId13"/>
    <p:sldId id="1036" r:id="rId14"/>
    <p:sldId id="1037" r:id="rId15"/>
    <p:sldId id="1038" r:id="rId16"/>
    <p:sldId id="1039" r:id="rId17"/>
    <p:sldId id="1040" r:id="rId18"/>
    <p:sldId id="1041" r:id="rId19"/>
    <p:sldId id="1042" r:id="rId20"/>
    <p:sldId id="1234" r:id="rId21"/>
    <p:sldId id="1235" r:id="rId22"/>
    <p:sldId id="1264" r:id="rId23"/>
    <p:sldId id="1236" r:id="rId24"/>
    <p:sldId id="1237" r:id="rId25"/>
    <p:sldId id="1240" r:id="rId26"/>
    <p:sldId id="1241" r:id="rId27"/>
    <p:sldId id="1242" r:id="rId28"/>
    <p:sldId id="1243" r:id="rId29"/>
    <p:sldId id="1265" r:id="rId30"/>
    <p:sldId id="1266" r:id="rId31"/>
    <p:sldId id="1246" r:id="rId32"/>
    <p:sldId id="1247" r:id="rId33"/>
    <p:sldId id="1248" r:id="rId34"/>
    <p:sldId id="1249" r:id="rId35"/>
    <p:sldId id="1250" r:id="rId36"/>
    <p:sldId id="1251" r:id="rId37"/>
    <p:sldId id="1252" r:id="rId38"/>
    <p:sldId id="1253" r:id="rId39"/>
    <p:sldId id="1254" r:id="rId40"/>
    <p:sldId id="1262" r:id="rId41"/>
    <p:sldId id="1263" r:id="rId42"/>
    <p:sldId id="1255" r:id="rId43"/>
    <p:sldId id="1256" r:id="rId44"/>
    <p:sldId id="1257" r:id="rId45"/>
    <p:sldId id="1258" r:id="rId46"/>
    <p:sldId id="1267" r:id="rId47"/>
    <p:sldId id="1268" r:id="rId48"/>
    <p:sldId id="1269" r:id="rId49"/>
    <p:sldId id="1259" r:id="rId50"/>
    <p:sldId id="1260" r:id="rId51"/>
    <p:sldId id="1261" r:id="rId52"/>
    <p:sldId id="1271" r:id="rId53"/>
    <p:sldId id="1272" r:id="rId54"/>
    <p:sldId id="1273" r:id="rId55"/>
    <p:sldId id="1274" r:id="rId56"/>
    <p:sldId id="1275" r:id="rId57"/>
    <p:sldId id="1276" r:id="rId58"/>
    <p:sldId id="1277" r:id="rId59"/>
    <p:sldId id="1278" r:id="rId60"/>
    <p:sldId id="1279" r:id="rId61"/>
    <p:sldId id="1280" r:id="rId62"/>
    <p:sldId id="1281" r:id="rId63"/>
    <p:sldId id="1282" r:id="rId64"/>
    <p:sldId id="1283" r:id="rId65"/>
    <p:sldId id="1284" r:id="rId66"/>
    <p:sldId id="1285" r:id="rId67"/>
    <p:sldId id="1286" r:id="rId68"/>
    <p:sldId id="1287" r:id="rId69"/>
    <p:sldId id="1288" r:id="rId7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5F4FC"/>
    <a:srgbClr val="F8F8F8"/>
    <a:srgbClr val="FFCCFF"/>
    <a:srgbClr val="CCFFFF"/>
    <a:srgbClr val="C1643F"/>
    <a:srgbClr val="336600"/>
    <a:srgbClr val="99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8" autoAdjust="0"/>
    <p:restoredTop sz="94660"/>
  </p:normalViewPr>
  <p:slideViewPr>
    <p:cSldViewPr>
      <p:cViewPr varScale="1">
        <p:scale>
          <a:sx n="114" d="100"/>
          <a:sy n="114" d="100"/>
        </p:scale>
        <p:origin x="1958" y="91"/>
      </p:cViewPr>
      <p:guideLst>
        <p:guide orient="horz" pos="214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.emf"/><Relationship Id="rId8" Type="http://schemas.openxmlformats.org/officeDocument/2006/relationships/image" Target="../media/image26.emf"/><Relationship Id="rId7" Type="http://schemas.openxmlformats.org/officeDocument/2006/relationships/image" Target="../media/image25.emf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0" Type="http://schemas.openxmlformats.org/officeDocument/2006/relationships/image" Target="../media/image28.emf"/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8.vml.rels><?xml version="1.0" encoding="UTF-8" standalone="yes"?>
<Relationships xmlns="http://schemas.openxmlformats.org/package/2006/relationships"><Relationship Id="rId7" Type="http://schemas.openxmlformats.org/officeDocument/2006/relationships/image" Target="../media/image41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e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49.wmf"/><Relationship Id="rId8" Type="http://schemas.openxmlformats.org/officeDocument/2006/relationships/image" Target="../media/image48.wmf"/><Relationship Id="rId7" Type="http://schemas.openxmlformats.org/officeDocument/2006/relationships/image" Target="../media/image47.wmf"/><Relationship Id="rId6" Type="http://schemas.openxmlformats.org/officeDocument/2006/relationships/image" Target="../media/image41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Relationship Id="rId3" Type="http://schemas.openxmlformats.org/officeDocument/2006/relationships/image" Target="../media/image44.wmf"/><Relationship Id="rId20" Type="http://schemas.openxmlformats.org/officeDocument/2006/relationships/image" Target="../media/image60.wmf"/><Relationship Id="rId2" Type="http://schemas.openxmlformats.org/officeDocument/2006/relationships/image" Target="../media/image43.wmf"/><Relationship Id="rId19" Type="http://schemas.openxmlformats.org/officeDocument/2006/relationships/image" Target="../media/image59.wmf"/><Relationship Id="rId18" Type="http://schemas.openxmlformats.org/officeDocument/2006/relationships/image" Target="../media/image58.wmf"/><Relationship Id="rId17" Type="http://schemas.openxmlformats.org/officeDocument/2006/relationships/image" Target="../media/image57.wmf"/><Relationship Id="rId16" Type="http://schemas.openxmlformats.org/officeDocument/2006/relationships/image" Target="../media/image56.wmf"/><Relationship Id="rId15" Type="http://schemas.openxmlformats.org/officeDocument/2006/relationships/image" Target="../media/image55.wmf"/><Relationship Id="rId14" Type="http://schemas.openxmlformats.org/officeDocument/2006/relationships/image" Target="../media/image54.wmf"/><Relationship Id="rId13" Type="http://schemas.openxmlformats.org/officeDocument/2006/relationships/image" Target="../media/image53.wmf"/><Relationship Id="rId12" Type="http://schemas.openxmlformats.org/officeDocument/2006/relationships/image" Target="../media/image52.wmf"/><Relationship Id="rId11" Type="http://schemas.openxmlformats.org/officeDocument/2006/relationships/image" Target="../media/image51.wmf"/><Relationship Id="rId10" Type="http://schemas.openxmlformats.org/officeDocument/2006/relationships/image" Target="../media/image50.wmf"/><Relationship Id="rId1" Type="http://schemas.openxmlformats.org/officeDocument/2006/relationships/image" Target="../media/image42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64.emf"/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image" Target="../media/image61.emf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70.emf"/><Relationship Id="rId5" Type="http://schemas.openxmlformats.org/officeDocument/2006/relationships/image" Target="../media/image69.emf"/><Relationship Id="rId4" Type="http://schemas.openxmlformats.org/officeDocument/2006/relationships/image" Target="../media/image68.emf"/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image" Target="../media/image65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72.emf"/><Relationship Id="rId1" Type="http://schemas.openxmlformats.org/officeDocument/2006/relationships/image" Target="../media/image71.emf"/></Relationships>
</file>

<file path=ppt/drawings/_rels/vmlDrawing13.vml.rels><?xml version="1.0" encoding="UTF-8" standalone="yes"?>
<Relationships xmlns="http://schemas.openxmlformats.org/package/2006/relationships"><Relationship Id="rId5" Type="http://schemas.openxmlformats.org/officeDocument/2006/relationships/image" Target="../media/image78.wmf"/><Relationship Id="rId4" Type="http://schemas.openxmlformats.org/officeDocument/2006/relationships/image" Target="../media/image77.wmf"/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83.emf"/><Relationship Id="rId4" Type="http://schemas.openxmlformats.org/officeDocument/2006/relationships/image" Target="../media/image82.wmf"/><Relationship Id="rId3" Type="http://schemas.openxmlformats.org/officeDocument/2006/relationships/image" Target="../media/image81.wmf"/><Relationship Id="rId2" Type="http://schemas.openxmlformats.org/officeDocument/2006/relationships/image" Target="../media/image80.emf"/><Relationship Id="rId1" Type="http://schemas.openxmlformats.org/officeDocument/2006/relationships/image" Target="../media/image79.wmf"/></Relationships>
</file>

<file path=ppt/drawings/_rels/vmlDrawing15.vml.rels><?xml version="1.0" encoding="UTF-8" standalone="yes"?>
<Relationships xmlns="http://schemas.openxmlformats.org/package/2006/relationships"><Relationship Id="rId5" Type="http://schemas.openxmlformats.org/officeDocument/2006/relationships/image" Target="../media/image88.wmf"/><Relationship Id="rId4" Type="http://schemas.openxmlformats.org/officeDocument/2006/relationships/image" Target="../media/image87.wmf"/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wmf"/></Relationships>
</file>

<file path=ppt/drawings/_rels/vmlDrawing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96.wmf"/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7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wmf"/></Relationships>
</file>

<file path=ppt/drawings/_rels/vmlDrawing2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2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2.wmf"/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26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3.wmf"/><Relationship Id="rId4" Type="http://schemas.openxmlformats.org/officeDocument/2006/relationships/image" Target="../media/image122.wmf"/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/Relationships>
</file>

<file path=ppt/drawings/_rels/vmlDrawing27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8.emf"/><Relationship Id="rId4" Type="http://schemas.openxmlformats.org/officeDocument/2006/relationships/image" Target="../media/image127.wmf"/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28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2.wmf"/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/Relationships>
</file>

<file path=ppt/drawings/_rels/vmlDrawing29.vml.rels><?xml version="1.0" encoding="UTF-8" standalone="yes"?>
<Relationships xmlns="http://schemas.openxmlformats.org/package/2006/relationships"><Relationship Id="rId6" Type="http://schemas.openxmlformats.org/officeDocument/2006/relationships/image" Target="../media/image138.wmf"/><Relationship Id="rId5" Type="http://schemas.openxmlformats.org/officeDocument/2006/relationships/image" Target="../media/image137.wmf"/><Relationship Id="rId4" Type="http://schemas.openxmlformats.org/officeDocument/2006/relationships/image" Target="../media/image136.wmf"/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7" Type="http://schemas.openxmlformats.org/officeDocument/2006/relationships/image" Target="../media/image145.wmf"/><Relationship Id="rId6" Type="http://schemas.openxmlformats.org/officeDocument/2006/relationships/image" Target="../media/image144.wmf"/><Relationship Id="rId5" Type="http://schemas.openxmlformats.org/officeDocument/2006/relationships/image" Target="../media/image143.wmf"/><Relationship Id="rId4" Type="http://schemas.openxmlformats.org/officeDocument/2006/relationships/image" Target="../media/image142.wmf"/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31.vml.rels><?xml version="1.0" encoding="UTF-8" standalone="yes"?>
<Relationships xmlns="http://schemas.openxmlformats.org/package/2006/relationships"><Relationship Id="rId5" Type="http://schemas.openxmlformats.org/officeDocument/2006/relationships/image" Target="../media/image78.wmf"/><Relationship Id="rId4" Type="http://schemas.openxmlformats.org/officeDocument/2006/relationships/image" Target="../media/image77.wmf"/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3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1.wmf"/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2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emf"/><Relationship Id="rId2" Type="http://schemas.openxmlformats.org/officeDocument/2006/relationships/image" Target="../media/image154.emf"/><Relationship Id="rId1" Type="http://schemas.openxmlformats.org/officeDocument/2006/relationships/image" Target="../media/image153.e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emf"/><Relationship Id="rId1" Type="http://schemas.openxmlformats.org/officeDocument/2006/relationships/image" Target="../media/image156.e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emf"/><Relationship Id="rId1" Type="http://schemas.openxmlformats.org/officeDocument/2006/relationships/image" Target="../media/image161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3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4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/Relationships>
</file>

<file path=ppt/drawings/_rels/vmlDrawing40.vml.rels><?xml version="1.0" encoding="UTF-8" standalone="yes"?>
<Relationships xmlns="http://schemas.openxmlformats.org/package/2006/relationships"><Relationship Id="rId4" Type="http://schemas.openxmlformats.org/officeDocument/2006/relationships/image" Target="../media/image173.emf"/><Relationship Id="rId3" Type="http://schemas.openxmlformats.org/officeDocument/2006/relationships/image" Target="../media/image172.emf"/><Relationship Id="rId2" Type="http://schemas.openxmlformats.org/officeDocument/2006/relationships/image" Target="../media/image171.emf"/><Relationship Id="rId1" Type="http://schemas.openxmlformats.org/officeDocument/2006/relationships/image" Target="../media/image170.emf"/></Relationships>
</file>

<file path=ppt/drawings/_rels/vmlDrawing4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77.wmf"/><Relationship Id="rId3" Type="http://schemas.openxmlformats.org/officeDocument/2006/relationships/image" Target="../media/image176.wmf"/><Relationship Id="rId2" Type="http://schemas.openxmlformats.org/officeDocument/2006/relationships/image" Target="../media/image175.wmf"/><Relationship Id="rId1" Type="http://schemas.openxmlformats.org/officeDocument/2006/relationships/image" Target="../media/image174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8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emf"/><Relationship Id="rId7" Type="http://schemas.openxmlformats.org/officeDocument/2006/relationships/image" Target="../media/image185.emf"/><Relationship Id="rId6" Type="http://schemas.openxmlformats.org/officeDocument/2006/relationships/image" Target="../media/image184.emf"/><Relationship Id="rId5" Type="http://schemas.openxmlformats.org/officeDocument/2006/relationships/image" Target="../media/image183.emf"/><Relationship Id="rId4" Type="http://schemas.openxmlformats.org/officeDocument/2006/relationships/image" Target="../media/image182.emf"/><Relationship Id="rId3" Type="http://schemas.openxmlformats.org/officeDocument/2006/relationships/image" Target="../media/image181.emf"/><Relationship Id="rId2" Type="http://schemas.openxmlformats.org/officeDocument/2006/relationships/image" Target="../media/image180.emf"/><Relationship Id="rId1" Type="http://schemas.openxmlformats.org/officeDocument/2006/relationships/image" Target="../media/image179.e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emf"/><Relationship Id="rId2" Type="http://schemas.openxmlformats.org/officeDocument/2006/relationships/image" Target="../media/image188.emf"/><Relationship Id="rId1" Type="http://schemas.openxmlformats.org/officeDocument/2006/relationships/image" Target="../media/image187.emf"/></Relationships>
</file>

<file path=ppt/drawings/_rels/vmlDrawing4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93.wmf"/><Relationship Id="rId3" Type="http://schemas.openxmlformats.org/officeDocument/2006/relationships/image" Target="../media/image192.wmf"/><Relationship Id="rId2" Type="http://schemas.openxmlformats.org/officeDocument/2006/relationships/image" Target="../media/image191.wmf"/><Relationship Id="rId1" Type="http://schemas.openxmlformats.org/officeDocument/2006/relationships/image" Target="../media/image190.wmf"/></Relationships>
</file>

<file path=ppt/drawings/_rels/vmlDrawing46.vml.rels><?xml version="1.0" encoding="UTF-8" standalone="yes"?>
<Relationships xmlns="http://schemas.openxmlformats.org/package/2006/relationships"><Relationship Id="rId6" Type="http://schemas.openxmlformats.org/officeDocument/2006/relationships/image" Target="../media/image198.wmf"/><Relationship Id="rId5" Type="http://schemas.openxmlformats.org/officeDocument/2006/relationships/image" Target="../media/image197.wmf"/><Relationship Id="rId4" Type="http://schemas.openxmlformats.org/officeDocument/2006/relationships/image" Target="../media/image196.wmf"/><Relationship Id="rId3" Type="http://schemas.openxmlformats.org/officeDocument/2006/relationships/image" Target="../media/image195.wmf"/><Relationship Id="rId2" Type="http://schemas.openxmlformats.org/officeDocument/2006/relationships/image" Target="../media/image173.emf"/><Relationship Id="rId1" Type="http://schemas.openxmlformats.org/officeDocument/2006/relationships/image" Target="../media/image194.w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emf"/><Relationship Id="rId1" Type="http://schemas.openxmlformats.org/officeDocument/2006/relationships/image" Target="../media/image199.emf"/></Relationships>
</file>

<file path=ppt/drawings/_rels/vmlDrawing48.vml.rels><?xml version="1.0" encoding="UTF-8" standalone="yes"?>
<Relationships xmlns="http://schemas.openxmlformats.org/package/2006/relationships"><Relationship Id="rId4" Type="http://schemas.openxmlformats.org/officeDocument/2006/relationships/image" Target="../media/image204.emf"/><Relationship Id="rId3" Type="http://schemas.openxmlformats.org/officeDocument/2006/relationships/image" Target="../media/image203.emf"/><Relationship Id="rId2" Type="http://schemas.openxmlformats.org/officeDocument/2006/relationships/image" Target="../media/image202.emf"/><Relationship Id="rId1" Type="http://schemas.openxmlformats.org/officeDocument/2006/relationships/image" Target="../media/image20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167392BE-B871-4C5A-9552-69260FEFB88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1CBC350-418C-4C9D-A79D-B676D32CD9DD}" type="slidenum">
              <a:rPr lang="en-US" altLang="zh-CN" smtClean="0"/>
            </a:fld>
            <a:endParaRPr lang="en-US" altLang="zh-CN"/>
          </a:p>
        </p:txBody>
      </p:sp>
      <p:sp>
        <p:nvSpPr>
          <p:cNvPr id="5123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05E8FDF5-ED6D-40C6-980C-040A1453F43F}" type="slidenum">
              <a:rPr kumimoji="1" lang="en-US" altLang="zh-CN" sz="1200">
                <a:latin typeface="Times New Roman" panose="02020603050405020304" pitchFamily="18" charset="0"/>
              </a:rPr>
            </a:fld>
            <a:endParaRPr kumimoji="1"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1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3962400" y="1066800"/>
            <a:ext cx="4648200" cy="1981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7763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3962400" y="3657600"/>
            <a:ext cx="4572000" cy="1676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01625" y="607695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0769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07695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D9E9C5-D3B2-4B1A-8859-AA2D215D977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F9407-972C-4568-B451-653AE087F08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83A3F-6855-4B5E-9608-775CF40574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1375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DDAC7-2EEA-4D0D-8662-9D209C9EB1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9177A-2807-46F9-860A-C7611B4D6A8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0A165-E460-4AAF-9FFA-46E44F4E46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2040AB-5746-4111-A488-4E98BFA2370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0C76E4-12B9-4F43-AF51-3986CCA9927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FD30B-895A-4AF2-AE09-B4A62D89DCD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2630E0-BCA3-4404-B8EC-237505EF63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0363" y="685800"/>
            <a:ext cx="2135187" cy="5181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85800"/>
            <a:ext cx="6256338" cy="5181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CCACC-D8C8-4D43-85D5-D752EED8C07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685800"/>
            <a:ext cx="8543925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E890A-976C-42A5-A759-9BF3BCBD652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6858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4800" y="1981200"/>
            <a:ext cx="854075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0198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19800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0198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b="0"/>
            </a:lvl1pPr>
          </a:lstStyle>
          <a:p>
            <a:pPr>
              <a:defRPr/>
            </a:pPr>
            <a:fld id="{330F0EE5-09C0-453D-9C30-AE90C8ECFEC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w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3.wmf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7.wmf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.wmf"/><Relationship Id="rId11" Type="http://schemas.openxmlformats.org/officeDocument/2006/relationships/oleObject" Target="../embeddings/oleObject11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.bin"/><Relationship Id="rId8" Type="http://schemas.openxmlformats.org/officeDocument/2006/relationships/image" Target="../media/image16.e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4.e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3.emf"/><Relationship Id="rId15" Type="http://schemas.openxmlformats.org/officeDocument/2006/relationships/vmlDrawing" Target="../drawings/vmlDrawing4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8.emf"/><Relationship Id="rId12" Type="http://schemas.openxmlformats.org/officeDocument/2006/relationships/oleObject" Target="../embeddings/oleObject18.bin"/><Relationship Id="rId11" Type="http://schemas.openxmlformats.org/officeDocument/2006/relationships/image" Target="../media/image17.emf"/><Relationship Id="rId10" Type="http://schemas.openxmlformats.org/officeDocument/2006/relationships/oleObject" Target="../embeddings/oleObject17.bin"/><Relationship Id="rId1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image" Target="../media/image22.e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21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0.emf"/><Relationship Id="rId3" Type="http://schemas.openxmlformats.org/officeDocument/2006/relationships/oleObject" Target="../embeddings/oleObject20.bin"/><Relationship Id="rId22" Type="http://schemas.openxmlformats.org/officeDocument/2006/relationships/vmlDrawing" Target="../drawings/vmlDrawing5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28.emf"/><Relationship Id="rId2" Type="http://schemas.openxmlformats.org/officeDocument/2006/relationships/image" Target="../media/image19.wmf"/><Relationship Id="rId19" Type="http://schemas.openxmlformats.org/officeDocument/2006/relationships/oleObject" Target="../embeddings/oleObject28.bin"/><Relationship Id="rId18" Type="http://schemas.openxmlformats.org/officeDocument/2006/relationships/image" Target="../media/image27.emf"/><Relationship Id="rId17" Type="http://schemas.openxmlformats.org/officeDocument/2006/relationships/oleObject" Target="../embeddings/oleObject27.bin"/><Relationship Id="rId16" Type="http://schemas.openxmlformats.org/officeDocument/2006/relationships/image" Target="../media/image26.emf"/><Relationship Id="rId15" Type="http://schemas.openxmlformats.org/officeDocument/2006/relationships/oleObject" Target="../embeddings/oleObject26.bin"/><Relationship Id="rId14" Type="http://schemas.openxmlformats.org/officeDocument/2006/relationships/image" Target="../media/image25.emf"/><Relationship Id="rId13" Type="http://schemas.openxmlformats.org/officeDocument/2006/relationships/oleObject" Target="../embeddings/oleObject25.bin"/><Relationship Id="rId12" Type="http://schemas.openxmlformats.org/officeDocument/2006/relationships/image" Target="../media/image24.emf"/><Relationship Id="rId11" Type="http://schemas.openxmlformats.org/officeDocument/2006/relationships/oleObject" Target="../embeddings/oleObject24.bin"/><Relationship Id="rId10" Type="http://schemas.openxmlformats.org/officeDocument/2006/relationships/image" Target="../media/image23.emf"/><Relationship Id="rId1" Type="http://schemas.openxmlformats.org/officeDocument/2006/relationships/oleObject" Target="../embeddings/oleObject1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1.e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0.e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29.emf"/><Relationship Id="rId1" Type="http://schemas.openxmlformats.org/officeDocument/2006/relationships/oleObject" Target="../embeddings/oleObject29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3.e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32.emf"/><Relationship Id="rId1" Type="http://schemas.openxmlformats.org/officeDocument/2006/relationships/oleObject" Target="../embeddings/oleObject32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38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6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35.emf"/><Relationship Id="rId16" Type="http://schemas.openxmlformats.org/officeDocument/2006/relationships/vmlDrawing" Target="../drawings/vmlDrawing8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41.wmf"/><Relationship Id="rId13" Type="http://schemas.openxmlformats.org/officeDocument/2006/relationships/oleObject" Target="../embeddings/oleObject41.bin"/><Relationship Id="rId12" Type="http://schemas.openxmlformats.org/officeDocument/2006/relationships/image" Target="../media/image40.wmf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39.wmf"/><Relationship Id="rId1" Type="http://schemas.openxmlformats.org/officeDocument/2006/relationships/oleObject" Target="../embeddings/oleObject35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.bin"/><Relationship Id="rId8" Type="http://schemas.openxmlformats.org/officeDocument/2006/relationships/image" Target="../media/image45.wmf"/><Relationship Id="rId7" Type="http://schemas.openxmlformats.org/officeDocument/2006/relationships/oleObject" Target="../embeddings/oleObject45.bin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4.bin"/><Relationship Id="rId43" Type="http://schemas.openxmlformats.org/officeDocument/2006/relationships/vmlDrawing" Target="../drawings/vmlDrawing9.vml"/><Relationship Id="rId42" Type="http://schemas.openxmlformats.org/officeDocument/2006/relationships/slideLayout" Target="../slideLayouts/slideLayout7.xml"/><Relationship Id="rId41" Type="http://schemas.openxmlformats.org/officeDocument/2006/relationships/image" Target="../media/image60.wmf"/><Relationship Id="rId40" Type="http://schemas.openxmlformats.org/officeDocument/2006/relationships/oleObject" Target="../embeddings/oleObject62.bin"/><Relationship Id="rId4" Type="http://schemas.openxmlformats.org/officeDocument/2006/relationships/image" Target="../media/image43.wmf"/><Relationship Id="rId39" Type="http://schemas.openxmlformats.org/officeDocument/2006/relationships/image" Target="../media/image59.wmf"/><Relationship Id="rId38" Type="http://schemas.openxmlformats.org/officeDocument/2006/relationships/oleObject" Target="../embeddings/oleObject61.bin"/><Relationship Id="rId37" Type="http://schemas.openxmlformats.org/officeDocument/2006/relationships/image" Target="../media/image58.wmf"/><Relationship Id="rId36" Type="http://schemas.openxmlformats.org/officeDocument/2006/relationships/oleObject" Target="../embeddings/oleObject60.bin"/><Relationship Id="rId35" Type="http://schemas.openxmlformats.org/officeDocument/2006/relationships/image" Target="../media/image57.wmf"/><Relationship Id="rId34" Type="http://schemas.openxmlformats.org/officeDocument/2006/relationships/oleObject" Target="../embeddings/oleObject59.bin"/><Relationship Id="rId33" Type="http://schemas.openxmlformats.org/officeDocument/2006/relationships/image" Target="../media/image56.wmf"/><Relationship Id="rId32" Type="http://schemas.openxmlformats.org/officeDocument/2006/relationships/oleObject" Target="../embeddings/oleObject58.bin"/><Relationship Id="rId31" Type="http://schemas.openxmlformats.org/officeDocument/2006/relationships/image" Target="../media/image55.wmf"/><Relationship Id="rId30" Type="http://schemas.openxmlformats.org/officeDocument/2006/relationships/oleObject" Target="../embeddings/oleObject57.bin"/><Relationship Id="rId3" Type="http://schemas.openxmlformats.org/officeDocument/2006/relationships/oleObject" Target="../embeddings/oleObject43.bin"/><Relationship Id="rId29" Type="http://schemas.openxmlformats.org/officeDocument/2006/relationships/image" Target="../media/image54.wmf"/><Relationship Id="rId28" Type="http://schemas.openxmlformats.org/officeDocument/2006/relationships/oleObject" Target="../embeddings/oleObject56.bin"/><Relationship Id="rId27" Type="http://schemas.openxmlformats.org/officeDocument/2006/relationships/image" Target="../media/image53.wmf"/><Relationship Id="rId26" Type="http://schemas.openxmlformats.org/officeDocument/2006/relationships/oleObject" Target="../embeddings/oleObject55.bin"/><Relationship Id="rId25" Type="http://schemas.openxmlformats.org/officeDocument/2006/relationships/oleObject" Target="../embeddings/oleObject54.bin"/><Relationship Id="rId24" Type="http://schemas.openxmlformats.org/officeDocument/2006/relationships/image" Target="../media/image52.wmf"/><Relationship Id="rId23" Type="http://schemas.openxmlformats.org/officeDocument/2006/relationships/oleObject" Target="../embeddings/oleObject53.bin"/><Relationship Id="rId22" Type="http://schemas.openxmlformats.org/officeDocument/2006/relationships/image" Target="../media/image51.wmf"/><Relationship Id="rId21" Type="http://schemas.openxmlformats.org/officeDocument/2006/relationships/oleObject" Target="../embeddings/oleObject52.bin"/><Relationship Id="rId20" Type="http://schemas.openxmlformats.org/officeDocument/2006/relationships/image" Target="../media/image50.wmf"/><Relationship Id="rId2" Type="http://schemas.openxmlformats.org/officeDocument/2006/relationships/image" Target="../media/image42.wmf"/><Relationship Id="rId19" Type="http://schemas.openxmlformats.org/officeDocument/2006/relationships/oleObject" Target="../embeddings/oleObject51.bin"/><Relationship Id="rId18" Type="http://schemas.openxmlformats.org/officeDocument/2006/relationships/image" Target="../media/image49.wmf"/><Relationship Id="rId17" Type="http://schemas.openxmlformats.org/officeDocument/2006/relationships/oleObject" Target="../embeddings/oleObject50.bin"/><Relationship Id="rId16" Type="http://schemas.openxmlformats.org/officeDocument/2006/relationships/image" Target="../media/image48.wmf"/><Relationship Id="rId15" Type="http://schemas.openxmlformats.org/officeDocument/2006/relationships/oleObject" Target="../embeddings/oleObject49.bin"/><Relationship Id="rId14" Type="http://schemas.openxmlformats.org/officeDocument/2006/relationships/image" Target="../media/image47.wmf"/><Relationship Id="rId13" Type="http://schemas.openxmlformats.org/officeDocument/2006/relationships/oleObject" Target="../embeddings/oleObject48.bin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47.bin"/><Relationship Id="rId10" Type="http://schemas.openxmlformats.org/officeDocument/2006/relationships/image" Target="../media/image46.wmf"/><Relationship Id="rId1" Type="http://schemas.openxmlformats.org/officeDocument/2006/relationships/oleObject" Target="../embeddings/oleObject42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4.emf"/><Relationship Id="rId7" Type="http://schemas.openxmlformats.org/officeDocument/2006/relationships/oleObject" Target="../embeddings/oleObject66.bin"/><Relationship Id="rId6" Type="http://schemas.openxmlformats.org/officeDocument/2006/relationships/image" Target="../media/image63.e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62.e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61.emf"/><Relationship Id="rId10" Type="http://schemas.openxmlformats.org/officeDocument/2006/relationships/vmlDrawing" Target="../drawings/vmlDrawing10.vml"/><Relationship Id="rId1" Type="http://schemas.openxmlformats.org/officeDocument/2006/relationships/oleObject" Target="../embeddings/oleObject63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1.bin"/><Relationship Id="rId8" Type="http://schemas.openxmlformats.org/officeDocument/2006/relationships/image" Target="../media/image68.emf"/><Relationship Id="rId7" Type="http://schemas.openxmlformats.org/officeDocument/2006/relationships/oleObject" Target="../embeddings/oleObject70.bin"/><Relationship Id="rId6" Type="http://schemas.openxmlformats.org/officeDocument/2006/relationships/image" Target="../media/image67.e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66.emf"/><Relationship Id="rId3" Type="http://schemas.openxmlformats.org/officeDocument/2006/relationships/oleObject" Target="../embeddings/oleObject68.bin"/><Relationship Id="rId2" Type="http://schemas.openxmlformats.org/officeDocument/2006/relationships/image" Target="../media/image65.emf"/><Relationship Id="rId14" Type="http://schemas.openxmlformats.org/officeDocument/2006/relationships/vmlDrawing" Target="../drawings/vmlDrawing11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70.emf"/><Relationship Id="rId11" Type="http://schemas.openxmlformats.org/officeDocument/2006/relationships/oleObject" Target="../embeddings/oleObject72.bin"/><Relationship Id="rId10" Type="http://schemas.openxmlformats.org/officeDocument/2006/relationships/image" Target="../media/image69.emf"/><Relationship Id="rId1" Type="http://schemas.openxmlformats.org/officeDocument/2006/relationships/oleObject" Target="../embeddings/oleObject6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3.e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72.emf"/><Relationship Id="rId3" Type="http://schemas.openxmlformats.org/officeDocument/2006/relationships/oleObject" Target="../embeddings/oleObject74.bin"/><Relationship Id="rId2" Type="http://schemas.openxmlformats.org/officeDocument/2006/relationships/image" Target="../media/image71.emf"/><Relationship Id="rId1" Type="http://schemas.openxmlformats.org/officeDocument/2006/relationships/oleObject" Target="../embeddings/oleObject73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0.bin"/><Relationship Id="rId8" Type="http://schemas.openxmlformats.org/officeDocument/2006/relationships/image" Target="../media/image77.wmf"/><Relationship Id="rId7" Type="http://schemas.openxmlformats.org/officeDocument/2006/relationships/oleObject" Target="../embeddings/oleObject79.bin"/><Relationship Id="rId6" Type="http://schemas.openxmlformats.org/officeDocument/2006/relationships/image" Target="../media/image76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75.wmf"/><Relationship Id="rId3" Type="http://schemas.openxmlformats.org/officeDocument/2006/relationships/oleObject" Target="../embeddings/oleObject77.bin"/><Relationship Id="rId2" Type="http://schemas.openxmlformats.org/officeDocument/2006/relationships/image" Target="../media/image74.wmf"/><Relationship Id="rId12" Type="http://schemas.openxmlformats.org/officeDocument/2006/relationships/vmlDrawing" Target="../drawings/vmlDrawing13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78.wmf"/><Relationship Id="rId1" Type="http://schemas.openxmlformats.org/officeDocument/2006/relationships/oleObject" Target="../embeddings/oleObject76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5.bin"/><Relationship Id="rId8" Type="http://schemas.openxmlformats.org/officeDocument/2006/relationships/image" Target="../media/image82.wmf"/><Relationship Id="rId7" Type="http://schemas.openxmlformats.org/officeDocument/2006/relationships/oleObject" Target="../embeddings/oleObject84.bin"/><Relationship Id="rId6" Type="http://schemas.openxmlformats.org/officeDocument/2006/relationships/image" Target="../media/image81.w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80.emf"/><Relationship Id="rId3" Type="http://schemas.openxmlformats.org/officeDocument/2006/relationships/oleObject" Target="../embeddings/oleObject82.bin"/><Relationship Id="rId2" Type="http://schemas.openxmlformats.org/officeDocument/2006/relationships/image" Target="../media/image79.wmf"/><Relationship Id="rId12" Type="http://schemas.openxmlformats.org/officeDocument/2006/relationships/vmlDrawing" Target="../drawings/vmlDrawing1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83.emf"/><Relationship Id="rId1" Type="http://schemas.openxmlformats.org/officeDocument/2006/relationships/oleObject" Target="../embeddings/oleObject81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0.bin"/><Relationship Id="rId8" Type="http://schemas.openxmlformats.org/officeDocument/2006/relationships/image" Target="../media/image87.wmf"/><Relationship Id="rId7" Type="http://schemas.openxmlformats.org/officeDocument/2006/relationships/oleObject" Target="../embeddings/oleObject89.bin"/><Relationship Id="rId6" Type="http://schemas.openxmlformats.org/officeDocument/2006/relationships/image" Target="../media/image86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85.wmf"/><Relationship Id="rId3" Type="http://schemas.openxmlformats.org/officeDocument/2006/relationships/oleObject" Target="../embeddings/oleObject87.bin"/><Relationship Id="rId2" Type="http://schemas.openxmlformats.org/officeDocument/2006/relationships/image" Target="../media/image84.wmf"/><Relationship Id="rId12" Type="http://schemas.openxmlformats.org/officeDocument/2006/relationships/vmlDrawing" Target="../drawings/vmlDrawing15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88.wmf"/><Relationship Id="rId1" Type="http://schemas.openxmlformats.org/officeDocument/2006/relationships/oleObject" Target="../embeddings/oleObject86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9.jpe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6.vml"/><Relationship Id="rId6" Type="http://schemas.openxmlformats.org/officeDocument/2006/relationships/slideLayout" Target="../slideLayouts/slideLayout2.xml"/><Relationship Id="rId5" Type="http://schemas.openxmlformats.org/officeDocument/2006/relationships/hyperlink" Target="11&#24180;&#35838;&#20214;/11&#24180;&#27010;&#29575;&#32479;&#35745;/Local%20Settings/Temp/HZ$D.163.2562/&#21271;&#20132;&#22823;%20&#27010;&#29575;/&#30446;%20&#24405;.ppt#-1,6,&#27809;&#26377;&#24187;&#28783;&#29255;&#26631;&#39064;" TargetMode="External"/><Relationship Id="rId4" Type="http://schemas.openxmlformats.org/officeDocument/2006/relationships/image" Target="../media/image91.wmf"/><Relationship Id="rId3" Type="http://schemas.openxmlformats.org/officeDocument/2006/relationships/oleObject" Target="../embeddings/oleObject92.bin"/><Relationship Id="rId2" Type="http://schemas.openxmlformats.org/officeDocument/2006/relationships/image" Target="../media/image90.wmf"/><Relationship Id="rId1" Type="http://schemas.openxmlformats.org/officeDocument/2006/relationships/oleObject" Target="../embeddings/oleObject91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2.wmf"/><Relationship Id="rId1" Type="http://schemas.openxmlformats.org/officeDocument/2006/relationships/oleObject" Target="../embeddings/oleObject93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96.wmf"/><Relationship Id="rId7" Type="http://schemas.openxmlformats.org/officeDocument/2006/relationships/oleObject" Target="../embeddings/oleObject97.bin"/><Relationship Id="rId6" Type="http://schemas.openxmlformats.org/officeDocument/2006/relationships/image" Target="../media/image95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94.w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93.wmf"/><Relationship Id="rId10" Type="http://schemas.openxmlformats.org/officeDocument/2006/relationships/vmlDrawing" Target="../drawings/vmlDrawing18.vml"/><Relationship Id="rId1" Type="http://schemas.openxmlformats.org/officeDocument/2006/relationships/oleObject" Target="../embeddings/oleObject94.bin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7.wmf"/><Relationship Id="rId1" Type="http://schemas.openxmlformats.org/officeDocument/2006/relationships/oleObject" Target="../embeddings/oleObject98.bin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9.wmf"/><Relationship Id="rId3" Type="http://schemas.openxmlformats.org/officeDocument/2006/relationships/oleObject" Target="../embeddings/oleObject100.bin"/><Relationship Id="rId2" Type="http://schemas.openxmlformats.org/officeDocument/2006/relationships/image" Target="../media/image98.wmf"/><Relationship Id="rId1" Type="http://schemas.openxmlformats.org/officeDocument/2006/relationships/oleObject" Target="../embeddings/oleObject99.bin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0.wmf"/><Relationship Id="rId1" Type="http://schemas.openxmlformats.org/officeDocument/2006/relationships/oleObject" Target="../embeddings/oleObject101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2.jpe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6.bin"/><Relationship Id="rId8" Type="http://schemas.openxmlformats.org/officeDocument/2006/relationships/image" Target="../media/image106.wmf"/><Relationship Id="rId7" Type="http://schemas.openxmlformats.org/officeDocument/2006/relationships/oleObject" Target="../embeddings/oleObject105.bin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04.wmf"/><Relationship Id="rId3" Type="http://schemas.openxmlformats.org/officeDocument/2006/relationships/oleObject" Target="../embeddings/oleObject103.bin"/><Relationship Id="rId2" Type="http://schemas.openxmlformats.org/officeDocument/2006/relationships/image" Target="../media/image103.wmf"/><Relationship Id="rId14" Type="http://schemas.openxmlformats.org/officeDocument/2006/relationships/vmlDrawing" Target="../drawings/vmlDrawing22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08.wmf"/><Relationship Id="rId11" Type="http://schemas.openxmlformats.org/officeDocument/2006/relationships/oleObject" Target="../embeddings/oleObject107.bin"/><Relationship Id="rId10" Type="http://schemas.openxmlformats.org/officeDocument/2006/relationships/image" Target="../media/image107.wmf"/><Relationship Id="rId1" Type="http://schemas.openxmlformats.org/officeDocument/2006/relationships/oleObject" Target="../embeddings/oleObject102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2.wmf"/><Relationship Id="rId7" Type="http://schemas.openxmlformats.org/officeDocument/2006/relationships/oleObject" Target="../embeddings/oleObject111.bin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10.wmf"/><Relationship Id="rId3" Type="http://schemas.openxmlformats.org/officeDocument/2006/relationships/oleObject" Target="../embeddings/oleObject109.bin"/><Relationship Id="rId2" Type="http://schemas.openxmlformats.org/officeDocument/2006/relationships/image" Target="../media/image109.wmf"/><Relationship Id="rId10" Type="http://schemas.openxmlformats.org/officeDocument/2006/relationships/vmlDrawing" Target="../drawings/vmlDrawing23.vml"/><Relationship Id="rId1" Type="http://schemas.openxmlformats.org/officeDocument/2006/relationships/oleObject" Target="../embeddings/oleObject108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114.wmf"/><Relationship Id="rId3" Type="http://schemas.openxmlformats.org/officeDocument/2006/relationships/oleObject" Target="../embeddings/oleObject113.bin"/><Relationship Id="rId2" Type="http://schemas.openxmlformats.org/officeDocument/2006/relationships/image" Target="../media/image113.wmf"/><Relationship Id="rId1" Type="http://schemas.openxmlformats.org/officeDocument/2006/relationships/oleObject" Target="../embeddings/oleObject11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17.wmf"/><Relationship Id="rId3" Type="http://schemas.openxmlformats.org/officeDocument/2006/relationships/oleObject" Target="../embeddings/oleObject116.bin"/><Relationship Id="rId2" Type="http://schemas.openxmlformats.org/officeDocument/2006/relationships/image" Target="../media/image116.wmf"/><Relationship Id="rId1" Type="http://schemas.openxmlformats.org/officeDocument/2006/relationships/oleObject" Target="../embeddings/oleObject115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2.bin"/><Relationship Id="rId8" Type="http://schemas.openxmlformats.org/officeDocument/2006/relationships/image" Target="../media/image122.wmf"/><Relationship Id="rId7" Type="http://schemas.openxmlformats.org/officeDocument/2006/relationships/oleObject" Target="../embeddings/oleObject121.bin"/><Relationship Id="rId6" Type="http://schemas.openxmlformats.org/officeDocument/2006/relationships/image" Target="../media/image121.wmf"/><Relationship Id="rId5" Type="http://schemas.openxmlformats.org/officeDocument/2006/relationships/oleObject" Target="../embeddings/oleObject120.bin"/><Relationship Id="rId4" Type="http://schemas.openxmlformats.org/officeDocument/2006/relationships/image" Target="../media/image120.wmf"/><Relationship Id="rId3" Type="http://schemas.openxmlformats.org/officeDocument/2006/relationships/oleObject" Target="../embeddings/oleObject119.bin"/><Relationship Id="rId2" Type="http://schemas.openxmlformats.org/officeDocument/2006/relationships/image" Target="../media/image119.wmf"/><Relationship Id="rId12" Type="http://schemas.openxmlformats.org/officeDocument/2006/relationships/vmlDrawing" Target="../drawings/vmlDrawing26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3.wmf"/><Relationship Id="rId1" Type="http://schemas.openxmlformats.org/officeDocument/2006/relationships/oleObject" Target="../embeddings/oleObject118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7.bin"/><Relationship Id="rId8" Type="http://schemas.openxmlformats.org/officeDocument/2006/relationships/image" Target="../media/image127.wmf"/><Relationship Id="rId7" Type="http://schemas.openxmlformats.org/officeDocument/2006/relationships/oleObject" Target="../embeddings/oleObject126.bin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25.bin"/><Relationship Id="rId4" Type="http://schemas.openxmlformats.org/officeDocument/2006/relationships/image" Target="../media/image125.wmf"/><Relationship Id="rId3" Type="http://schemas.openxmlformats.org/officeDocument/2006/relationships/oleObject" Target="../embeddings/oleObject124.bin"/><Relationship Id="rId2" Type="http://schemas.openxmlformats.org/officeDocument/2006/relationships/image" Target="../media/image124.wmf"/><Relationship Id="rId12" Type="http://schemas.openxmlformats.org/officeDocument/2006/relationships/vmlDrawing" Target="../drawings/vmlDrawing27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8.emf"/><Relationship Id="rId1" Type="http://schemas.openxmlformats.org/officeDocument/2006/relationships/oleObject" Target="../embeddings/oleObject123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32.wmf"/><Relationship Id="rId7" Type="http://schemas.openxmlformats.org/officeDocument/2006/relationships/oleObject" Target="../embeddings/oleObject131.bin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30.wmf"/><Relationship Id="rId3" Type="http://schemas.openxmlformats.org/officeDocument/2006/relationships/oleObject" Target="../embeddings/oleObject129.bin"/><Relationship Id="rId2" Type="http://schemas.openxmlformats.org/officeDocument/2006/relationships/image" Target="../media/image129.wmf"/><Relationship Id="rId10" Type="http://schemas.openxmlformats.org/officeDocument/2006/relationships/vmlDrawing" Target="../drawings/vmlDrawing28.vml"/><Relationship Id="rId1" Type="http://schemas.openxmlformats.org/officeDocument/2006/relationships/oleObject" Target="../embeddings/oleObject128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6.bin"/><Relationship Id="rId8" Type="http://schemas.openxmlformats.org/officeDocument/2006/relationships/image" Target="../media/image136.wmf"/><Relationship Id="rId7" Type="http://schemas.openxmlformats.org/officeDocument/2006/relationships/oleObject" Target="../embeddings/oleObject135.bin"/><Relationship Id="rId6" Type="http://schemas.openxmlformats.org/officeDocument/2006/relationships/image" Target="../media/image135.wmf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134.wmf"/><Relationship Id="rId3" Type="http://schemas.openxmlformats.org/officeDocument/2006/relationships/oleObject" Target="../embeddings/oleObject133.bin"/><Relationship Id="rId2" Type="http://schemas.openxmlformats.org/officeDocument/2006/relationships/image" Target="../media/image133.wmf"/><Relationship Id="rId14" Type="http://schemas.openxmlformats.org/officeDocument/2006/relationships/vmlDrawing" Target="../drawings/vmlDrawing29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38.wmf"/><Relationship Id="rId11" Type="http://schemas.openxmlformats.org/officeDocument/2006/relationships/oleObject" Target="../embeddings/oleObject137.bin"/><Relationship Id="rId10" Type="http://schemas.openxmlformats.org/officeDocument/2006/relationships/image" Target="../media/image137.wmf"/><Relationship Id="rId1" Type="http://schemas.openxmlformats.org/officeDocument/2006/relationships/oleObject" Target="../embeddings/oleObject132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2.bin"/><Relationship Id="rId8" Type="http://schemas.openxmlformats.org/officeDocument/2006/relationships/image" Target="../media/image142.wmf"/><Relationship Id="rId7" Type="http://schemas.openxmlformats.org/officeDocument/2006/relationships/oleObject" Target="../embeddings/oleObject141.bin"/><Relationship Id="rId6" Type="http://schemas.openxmlformats.org/officeDocument/2006/relationships/image" Target="../media/image141.wmf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40.wmf"/><Relationship Id="rId3" Type="http://schemas.openxmlformats.org/officeDocument/2006/relationships/oleObject" Target="../embeddings/oleObject139.bin"/><Relationship Id="rId2" Type="http://schemas.openxmlformats.org/officeDocument/2006/relationships/image" Target="../media/image139.wmf"/><Relationship Id="rId18" Type="http://schemas.openxmlformats.org/officeDocument/2006/relationships/vmlDrawing" Target="../drawings/vmlDrawing30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46.wmf"/><Relationship Id="rId15" Type="http://schemas.openxmlformats.org/officeDocument/2006/relationships/oleObject" Target="../embeddings/oleObject145.bin"/><Relationship Id="rId14" Type="http://schemas.openxmlformats.org/officeDocument/2006/relationships/image" Target="../media/image145.wmf"/><Relationship Id="rId13" Type="http://schemas.openxmlformats.org/officeDocument/2006/relationships/oleObject" Target="../embeddings/oleObject144.bin"/><Relationship Id="rId12" Type="http://schemas.openxmlformats.org/officeDocument/2006/relationships/image" Target="../media/image144.wmf"/><Relationship Id="rId11" Type="http://schemas.openxmlformats.org/officeDocument/2006/relationships/oleObject" Target="../embeddings/oleObject143.bin"/><Relationship Id="rId10" Type="http://schemas.openxmlformats.org/officeDocument/2006/relationships/image" Target="../media/image143.wmf"/><Relationship Id="rId1" Type="http://schemas.openxmlformats.org/officeDocument/2006/relationships/oleObject" Target="../embeddings/oleObject138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0.bin"/><Relationship Id="rId8" Type="http://schemas.openxmlformats.org/officeDocument/2006/relationships/image" Target="../media/image77.wmf"/><Relationship Id="rId7" Type="http://schemas.openxmlformats.org/officeDocument/2006/relationships/oleObject" Target="../embeddings/oleObject149.bin"/><Relationship Id="rId6" Type="http://schemas.openxmlformats.org/officeDocument/2006/relationships/image" Target="../media/image76.w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75.wmf"/><Relationship Id="rId3" Type="http://schemas.openxmlformats.org/officeDocument/2006/relationships/oleObject" Target="../embeddings/oleObject147.bin"/><Relationship Id="rId2" Type="http://schemas.openxmlformats.org/officeDocument/2006/relationships/image" Target="../media/image74.wmf"/><Relationship Id="rId12" Type="http://schemas.openxmlformats.org/officeDocument/2006/relationships/vmlDrawing" Target="../drawings/vmlDrawing31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78.wmf"/><Relationship Id="rId1" Type="http://schemas.openxmlformats.org/officeDocument/2006/relationships/oleObject" Target="../embeddings/oleObject146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7.jpe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51.wmf"/><Relationship Id="rId7" Type="http://schemas.openxmlformats.org/officeDocument/2006/relationships/oleObject" Target="../embeddings/oleObject154.bin"/><Relationship Id="rId6" Type="http://schemas.openxmlformats.org/officeDocument/2006/relationships/image" Target="../media/image150.wmf"/><Relationship Id="rId5" Type="http://schemas.openxmlformats.org/officeDocument/2006/relationships/oleObject" Target="../embeddings/oleObject153.bin"/><Relationship Id="rId4" Type="http://schemas.openxmlformats.org/officeDocument/2006/relationships/image" Target="../media/image149.wmf"/><Relationship Id="rId3" Type="http://schemas.openxmlformats.org/officeDocument/2006/relationships/oleObject" Target="../embeddings/oleObject152.bin"/><Relationship Id="rId2" Type="http://schemas.openxmlformats.org/officeDocument/2006/relationships/image" Target="../media/image148.wmf"/><Relationship Id="rId10" Type="http://schemas.openxmlformats.org/officeDocument/2006/relationships/vmlDrawing" Target="../drawings/vmlDrawing32.vml"/><Relationship Id="rId1" Type="http://schemas.openxmlformats.org/officeDocument/2006/relationships/oleObject" Target="../embeddings/oleObject151.bin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2.wmf"/><Relationship Id="rId1" Type="http://schemas.openxmlformats.org/officeDocument/2006/relationships/oleObject" Target="../embeddings/oleObject155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55.emf"/><Relationship Id="rId5" Type="http://schemas.openxmlformats.org/officeDocument/2006/relationships/oleObject" Target="../embeddings/oleObject158.bin"/><Relationship Id="rId4" Type="http://schemas.openxmlformats.org/officeDocument/2006/relationships/image" Target="../media/image154.emf"/><Relationship Id="rId3" Type="http://schemas.openxmlformats.org/officeDocument/2006/relationships/oleObject" Target="../embeddings/oleObject157.bin"/><Relationship Id="rId2" Type="http://schemas.openxmlformats.org/officeDocument/2006/relationships/image" Target="../media/image153.emf"/><Relationship Id="rId1" Type="http://schemas.openxmlformats.org/officeDocument/2006/relationships/oleObject" Target="../embeddings/oleObject156.bin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7.emf"/><Relationship Id="rId3" Type="http://schemas.openxmlformats.org/officeDocument/2006/relationships/oleObject" Target="../embeddings/oleObject160.bin"/><Relationship Id="rId2" Type="http://schemas.openxmlformats.org/officeDocument/2006/relationships/image" Target="../media/image156.emf"/><Relationship Id="rId1" Type="http://schemas.openxmlformats.org/officeDocument/2006/relationships/oleObject" Target="../embeddings/oleObject159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8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9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0.jpeg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2.emf"/><Relationship Id="rId3" Type="http://schemas.openxmlformats.org/officeDocument/2006/relationships/oleObject" Target="../embeddings/oleObject162.bin"/><Relationship Id="rId2" Type="http://schemas.openxmlformats.org/officeDocument/2006/relationships/image" Target="../media/image161.emf"/><Relationship Id="rId1" Type="http://schemas.openxmlformats.org/officeDocument/2006/relationships/oleObject" Target="../embeddings/oleObject161.bin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3.emf"/><Relationship Id="rId1" Type="http://schemas.openxmlformats.org/officeDocument/2006/relationships/oleObject" Target="../embeddings/oleObject163.bin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4.emf"/><Relationship Id="rId1" Type="http://schemas.openxmlformats.org/officeDocument/2006/relationships/oleObject" Target="../embeddings/oleObject164.bin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5.GI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slide" Target="slide29.xml"/><Relationship Id="rId6" Type="http://schemas.openxmlformats.org/officeDocument/2006/relationships/slide" Target="slide19.xml"/><Relationship Id="rId5" Type="http://schemas.openxmlformats.org/officeDocument/2006/relationships/slide" Target="slide10.xml"/><Relationship Id="rId4" Type="http://schemas.openxmlformats.org/officeDocument/2006/relationships/audio" Target="../media/audio2.wav"/><Relationship Id="rId3" Type="http://schemas.openxmlformats.org/officeDocument/2006/relationships/slide" Target="slide7.xml"/><Relationship Id="rId2" Type="http://schemas.openxmlformats.org/officeDocument/2006/relationships/image" Target="../media/image166.GIF"/><Relationship Id="rId1" Type="http://schemas.openxmlformats.org/officeDocument/2006/relationships/slide" Target="slide4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9.w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68.wmf"/><Relationship Id="rId3" Type="http://schemas.openxmlformats.org/officeDocument/2006/relationships/oleObject" Target="../embeddings/oleObject166.bin"/><Relationship Id="rId2" Type="http://schemas.openxmlformats.org/officeDocument/2006/relationships/image" Target="../media/image167.wmf"/><Relationship Id="rId1" Type="http://schemas.openxmlformats.org/officeDocument/2006/relationships/oleObject" Target="../embeddings/oleObject165.bin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73.emf"/><Relationship Id="rId7" Type="http://schemas.openxmlformats.org/officeDocument/2006/relationships/oleObject" Target="../embeddings/oleObject171.bin"/><Relationship Id="rId6" Type="http://schemas.openxmlformats.org/officeDocument/2006/relationships/image" Target="../media/image172.emf"/><Relationship Id="rId5" Type="http://schemas.openxmlformats.org/officeDocument/2006/relationships/oleObject" Target="../embeddings/oleObject170.bin"/><Relationship Id="rId4" Type="http://schemas.openxmlformats.org/officeDocument/2006/relationships/image" Target="../media/image171.emf"/><Relationship Id="rId3" Type="http://schemas.openxmlformats.org/officeDocument/2006/relationships/oleObject" Target="../embeddings/oleObject169.bin"/><Relationship Id="rId2" Type="http://schemas.openxmlformats.org/officeDocument/2006/relationships/image" Target="../media/image170.emf"/><Relationship Id="rId10" Type="http://schemas.openxmlformats.org/officeDocument/2006/relationships/vmlDrawing" Target="../drawings/vmlDrawing40.vml"/><Relationship Id="rId1" Type="http://schemas.openxmlformats.org/officeDocument/2006/relationships/oleObject" Target="../embeddings/oleObject168.bin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77.wmf"/><Relationship Id="rId7" Type="http://schemas.openxmlformats.org/officeDocument/2006/relationships/oleObject" Target="../embeddings/oleObject175.bin"/><Relationship Id="rId6" Type="http://schemas.openxmlformats.org/officeDocument/2006/relationships/image" Target="../media/image176.wmf"/><Relationship Id="rId5" Type="http://schemas.openxmlformats.org/officeDocument/2006/relationships/oleObject" Target="../embeddings/oleObject174.bin"/><Relationship Id="rId4" Type="http://schemas.openxmlformats.org/officeDocument/2006/relationships/image" Target="../media/image175.wmf"/><Relationship Id="rId3" Type="http://schemas.openxmlformats.org/officeDocument/2006/relationships/oleObject" Target="../embeddings/oleObject173.bin"/><Relationship Id="rId2" Type="http://schemas.openxmlformats.org/officeDocument/2006/relationships/image" Target="../media/image174.wmf"/><Relationship Id="rId10" Type="http://schemas.openxmlformats.org/officeDocument/2006/relationships/vmlDrawing" Target="../drawings/vmlDrawing41.vml"/><Relationship Id="rId1" Type="http://schemas.openxmlformats.org/officeDocument/2006/relationships/oleObject" Target="../embeddings/oleObject172.bin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8.wmf"/><Relationship Id="rId1" Type="http://schemas.openxmlformats.org/officeDocument/2006/relationships/oleObject" Target="../embeddings/oleObject176.bin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1.bin"/><Relationship Id="rId8" Type="http://schemas.openxmlformats.org/officeDocument/2006/relationships/image" Target="../media/image182.emf"/><Relationship Id="rId7" Type="http://schemas.openxmlformats.org/officeDocument/2006/relationships/oleObject" Target="../embeddings/oleObject180.bin"/><Relationship Id="rId6" Type="http://schemas.openxmlformats.org/officeDocument/2006/relationships/image" Target="../media/image181.emf"/><Relationship Id="rId5" Type="http://schemas.openxmlformats.org/officeDocument/2006/relationships/oleObject" Target="../embeddings/oleObject179.bin"/><Relationship Id="rId4" Type="http://schemas.openxmlformats.org/officeDocument/2006/relationships/image" Target="../media/image180.emf"/><Relationship Id="rId3" Type="http://schemas.openxmlformats.org/officeDocument/2006/relationships/oleObject" Target="../embeddings/oleObject178.bin"/><Relationship Id="rId2" Type="http://schemas.openxmlformats.org/officeDocument/2006/relationships/image" Target="../media/image179.emf"/><Relationship Id="rId18" Type="http://schemas.openxmlformats.org/officeDocument/2006/relationships/vmlDrawing" Target="../drawings/vmlDrawing43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86.emf"/><Relationship Id="rId15" Type="http://schemas.openxmlformats.org/officeDocument/2006/relationships/oleObject" Target="../embeddings/oleObject184.bin"/><Relationship Id="rId14" Type="http://schemas.openxmlformats.org/officeDocument/2006/relationships/image" Target="../media/image185.emf"/><Relationship Id="rId13" Type="http://schemas.openxmlformats.org/officeDocument/2006/relationships/oleObject" Target="../embeddings/oleObject183.bin"/><Relationship Id="rId12" Type="http://schemas.openxmlformats.org/officeDocument/2006/relationships/image" Target="../media/image184.emf"/><Relationship Id="rId11" Type="http://schemas.openxmlformats.org/officeDocument/2006/relationships/oleObject" Target="../embeddings/oleObject182.bin"/><Relationship Id="rId10" Type="http://schemas.openxmlformats.org/officeDocument/2006/relationships/image" Target="../media/image183.emf"/><Relationship Id="rId1" Type="http://schemas.openxmlformats.org/officeDocument/2006/relationships/oleObject" Target="../embeddings/oleObject177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89.emf"/><Relationship Id="rId5" Type="http://schemas.openxmlformats.org/officeDocument/2006/relationships/oleObject" Target="../embeddings/oleObject187.bin"/><Relationship Id="rId4" Type="http://schemas.openxmlformats.org/officeDocument/2006/relationships/image" Target="../media/image188.emf"/><Relationship Id="rId3" Type="http://schemas.openxmlformats.org/officeDocument/2006/relationships/oleObject" Target="../embeddings/oleObject186.bin"/><Relationship Id="rId2" Type="http://schemas.openxmlformats.org/officeDocument/2006/relationships/image" Target="../media/image187.emf"/><Relationship Id="rId1" Type="http://schemas.openxmlformats.org/officeDocument/2006/relationships/oleObject" Target="../embeddings/oleObject185.bin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93.wmf"/><Relationship Id="rId7" Type="http://schemas.openxmlformats.org/officeDocument/2006/relationships/oleObject" Target="../embeddings/oleObject191.bin"/><Relationship Id="rId6" Type="http://schemas.openxmlformats.org/officeDocument/2006/relationships/image" Target="../media/image192.wmf"/><Relationship Id="rId5" Type="http://schemas.openxmlformats.org/officeDocument/2006/relationships/oleObject" Target="../embeddings/oleObject190.bin"/><Relationship Id="rId4" Type="http://schemas.openxmlformats.org/officeDocument/2006/relationships/image" Target="../media/image191.wmf"/><Relationship Id="rId3" Type="http://schemas.openxmlformats.org/officeDocument/2006/relationships/oleObject" Target="../embeddings/oleObject189.bin"/><Relationship Id="rId2" Type="http://schemas.openxmlformats.org/officeDocument/2006/relationships/image" Target="../media/image190.wmf"/><Relationship Id="rId10" Type="http://schemas.openxmlformats.org/officeDocument/2006/relationships/vmlDrawing" Target="../drawings/vmlDrawing45.vml"/><Relationship Id="rId1" Type="http://schemas.openxmlformats.org/officeDocument/2006/relationships/oleObject" Target="../embeddings/oleObject188.bin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6.bin"/><Relationship Id="rId8" Type="http://schemas.openxmlformats.org/officeDocument/2006/relationships/image" Target="../media/image196.wmf"/><Relationship Id="rId7" Type="http://schemas.openxmlformats.org/officeDocument/2006/relationships/oleObject" Target="../embeddings/oleObject195.bin"/><Relationship Id="rId6" Type="http://schemas.openxmlformats.org/officeDocument/2006/relationships/image" Target="../media/image195.wmf"/><Relationship Id="rId5" Type="http://schemas.openxmlformats.org/officeDocument/2006/relationships/oleObject" Target="../embeddings/oleObject194.bin"/><Relationship Id="rId4" Type="http://schemas.openxmlformats.org/officeDocument/2006/relationships/image" Target="../media/image173.emf"/><Relationship Id="rId3" Type="http://schemas.openxmlformats.org/officeDocument/2006/relationships/oleObject" Target="../embeddings/oleObject193.bin"/><Relationship Id="rId2" Type="http://schemas.openxmlformats.org/officeDocument/2006/relationships/image" Target="../media/image194.wmf"/><Relationship Id="rId14" Type="http://schemas.openxmlformats.org/officeDocument/2006/relationships/vmlDrawing" Target="../drawings/vmlDrawing46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98.wmf"/><Relationship Id="rId11" Type="http://schemas.openxmlformats.org/officeDocument/2006/relationships/oleObject" Target="../embeddings/oleObject197.bin"/><Relationship Id="rId10" Type="http://schemas.openxmlformats.org/officeDocument/2006/relationships/image" Target="../media/image197.wmf"/><Relationship Id="rId1" Type="http://schemas.openxmlformats.org/officeDocument/2006/relationships/oleObject" Target="../embeddings/oleObject192.bin"/></Relationships>
</file>

<file path=ppt/slides/_rels/slide6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0.emf"/><Relationship Id="rId3" Type="http://schemas.openxmlformats.org/officeDocument/2006/relationships/oleObject" Target="../embeddings/oleObject199.bin"/><Relationship Id="rId2" Type="http://schemas.openxmlformats.org/officeDocument/2006/relationships/image" Target="../media/image199.emf"/><Relationship Id="rId1" Type="http://schemas.openxmlformats.org/officeDocument/2006/relationships/oleObject" Target="../embeddings/oleObject198.bin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04.emf"/><Relationship Id="rId7" Type="http://schemas.openxmlformats.org/officeDocument/2006/relationships/oleObject" Target="../embeddings/oleObject203.bin"/><Relationship Id="rId6" Type="http://schemas.openxmlformats.org/officeDocument/2006/relationships/image" Target="../media/image203.emf"/><Relationship Id="rId5" Type="http://schemas.openxmlformats.org/officeDocument/2006/relationships/oleObject" Target="../embeddings/oleObject202.bin"/><Relationship Id="rId4" Type="http://schemas.openxmlformats.org/officeDocument/2006/relationships/image" Target="../media/image202.emf"/><Relationship Id="rId3" Type="http://schemas.openxmlformats.org/officeDocument/2006/relationships/oleObject" Target="../embeddings/oleObject201.bin"/><Relationship Id="rId2" Type="http://schemas.openxmlformats.org/officeDocument/2006/relationships/image" Target="../media/image201.emf"/><Relationship Id="rId10" Type="http://schemas.openxmlformats.org/officeDocument/2006/relationships/vmlDrawing" Target="../drawings/vmlDrawing48.vml"/><Relationship Id="rId1" Type="http://schemas.openxmlformats.org/officeDocument/2006/relationships/oleObject" Target="../embeddings/oleObject200.bin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5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6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42583" y="1191578"/>
            <a:ext cx="8458200" cy="15240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altLang="zh-CN" sz="7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zh-CN" sz="7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概率论</a:t>
            </a:r>
            <a:r>
              <a:rPr lang="zh-CN" altLang="en-US" sz="7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与数理统计</a:t>
            </a:r>
            <a:endParaRPr lang="zh-CN" altLang="en-US" sz="3600" b="1">
              <a:solidFill>
                <a:schemeClr val="fol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116330" y="3331845"/>
            <a:ext cx="7162800" cy="147701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ea typeface="华文彩云" panose="02010800040101010101" pitchFamily="2" charset="-122"/>
              </a:rPr>
              <a:t>               2019-2020</a:t>
            </a:r>
            <a:r>
              <a:rPr lang="zh-CN" altLang="zh-CN" sz="2800" b="1" dirty="0">
                <a:solidFill>
                  <a:schemeClr val="tx2"/>
                </a:solidFill>
                <a:ea typeface="华文彩云" panose="02010800040101010101" pitchFamily="2" charset="-122"/>
              </a:rPr>
              <a:t>学年第二学期</a:t>
            </a:r>
            <a:endParaRPr lang="zh-CN" altLang="zh-CN" sz="2800" b="1" dirty="0">
              <a:solidFill>
                <a:schemeClr val="tx2"/>
              </a:solidFill>
              <a:ea typeface="华文彩云" panose="02010800040101010101" pitchFamily="2" charset="-122"/>
            </a:endParaRPr>
          </a:p>
        </p:txBody>
      </p:sp>
    </p:spTree>
  </p:cSld>
  <p:clrMapOvr>
    <a:masterClrMapping/>
  </p:clrMapOvr>
  <p:transition advTm="10000">
    <p:zoom/>
    <p:sndAc>
      <p:stSnd>
        <p:snd r:embed="rId1" name="TYP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dvAuto="0" autoUpdateAnimBg="0" build="p"/>
      <p:bldP spid="30723" grpId="0" autoUpdateAnimBg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3202149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0" y="-690880"/>
            <a:ext cx="87757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838200" y="685800"/>
            <a:ext cx="6508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第六节 两个随机变量的函数的分布</a:t>
            </a:r>
            <a:endParaRPr lang="zh-CN" altLang="en-US" sz="32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373769" name="Text Box 9"/>
          <p:cNvSpPr txBox="1">
            <a:spLocks noChangeArrowheads="1"/>
          </p:cNvSpPr>
          <p:nvPr/>
        </p:nvSpPr>
        <p:spPr bwMode="auto">
          <a:xfrm>
            <a:off x="762000" y="2147888"/>
            <a:ext cx="7315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/>
              <a:t>          </a:t>
            </a:r>
            <a:r>
              <a:rPr lang="zh-CN" altLang="en-US" sz="2800" b="1"/>
              <a:t>在第二章中，我们讨论了一维随机变量函数的分布，现在我们进一步讨论</a:t>
            </a:r>
            <a:r>
              <a:rPr lang="en-US" altLang="zh-CN" sz="2800" b="1"/>
              <a:t>:</a:t>
            </a:r>
            <a:endParaRPr lang="en-US" altLang="zh-CN" sz="2800">
              <a:solidFill>
                <a:schemeClr val="tx2"/>
              </a:solidFill>
            </a:endParaRPr>
          </a:p>
        </p:txBody>
      </p:sp>
      <p:sp>
        <p:nvSpPr>
          <p:cNvPr id="373770" name="Rectangle 10"/>
          <p:cNvSpPr>
            <a:spLocks noChangeArrowheads="1"/>
          </p:cNvSpPr>
          <p:nvPr/>
        </p:nvSpPr>
        <p:spPr bwMode="auto">
          <a:xfrm>
            <a:off x="1066800" y="3748088"/>
            <a:ext cx="7561263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b="1">
                <a:solidFill>
                  <a:schemeClr val="tx2"/>
                </a:solidFill>
              </a:rPr>
              <a:t>       </a:t>
            </a:r>
            <a:r>
              <a:rPr lang="zh-CN" altLang="en-US" sz="2800" b="1">
                <a:solidFill>
                  <a:schemeClr val="tx2"/>
                </a:solidFill>
              </a:rPr>
              <a:t>当随机变量 </a:t>
            </a:r>
            <a:r>
              <a:rPr lang="en-US" altLang="zh-CN" sz="2800" b="1" i="1">
                <a:solidFill>
                  <a:schemeClr val="tx2"/>
                </a:solidFill>
              </a:rPr>
              <a:t>X</a:t>
            </a:r>
            <a:r>
              <a:rPr lang="en-US" altLang="zh-CN" sz="2800" b="1">
                <a:solidFill>
                  <a:schemeClr val="tx2"/>
                </a:solidFill>
              </a:rPr>
              <a:t>, </a:t>
            </a:r>
            <a:r>
              <a:rPr lang="en-US" altLang="zh-CN" sz="2800" b="1" i="1">
                <a:solidFill>
                  <a:schemeClr val="tx2"/>
                </a:solidFill>
              </a:rPr>
              <a:t>Y </a:t>
            </a:r>
            <a:r>
              <a:rPr lang="zh-CN" altLang="en-US" sz="2800" b="1">
                <a:solidFill>
                  <a:schemeClr val="tx2"/>
                </a:solidFill>
              </a:rPr>
              <a:t>的联合分布已知时，如何求出它们的函数</a:t>
            </a:r>
            <a:endParaRPr lang="zh-CN" altLang="en-US" sz="2800" b="1">
              <a:solidFill>
                <a:schemeClr val="tx2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altLang="zh-CN" sz="2800" b="1" i="1">
                <a:solidFill>
                  <a:schemeClr val="tx2"/>
                </a:solidFill>
              </a:rPr>
              <a:t>Z </a:t>
            </a:r>
            <a:r>
              <a:rPr lang="en-US" altLang="zh-CN" sz="2800" b="1">
                <a:solidFill>
                  <a:schemeClr val="tx2"/>
                </a:solidFill>
              </a:rPr>
              <a:t>= </a:t>
            </a:r>
            <a:r>
              <a:rPr lang="en-US" altLang="zh-CN" sz="2800" b="1" i="1">
                <a:solidFill>
                  <a:schemeClr val="tx2"/>
                </a:solidFill>
              </a:rPr>
              <a:t>g </a:t>
            </a:r>
            <a:r>
              <a:rPr lang="en-US" altLang="zh-CN" sz="2800" b="1">
                <a:solidFill>
                  <a:schemeClr val="tx2"/>
                </a:solidFill>
              </a:rPr>
              <a:t>( </a:t>
            </a:r>
            <a:r>
              <a:rPr lang="en-US" altLang="zh-CN" sz="2800" b="1" i="1">
                <a:solidFill>
                  <a:schemeClr val="tx2"/>
                </a:solidFill>
              </a:rPr>
              <a:t>X</a:t>
            </a:r>
            <a:r>
              <a:rPr lang="en-US" altLang="zh-CN" sz="2800" b="1">
                <a:solidFill>
                  <a:schemeClr val="tx2"/>
                </a:solidFill>
              </a:rPr>
              <a:t>, </a:t>
            </a:r>
            <a:r>
              <a:rPr lang="en-US" altLang="zh-CN" sz="2800" b="1" i="1">
                <a:solidFill>
                  <a:schemeClr val="tx2"/>
                </a:solidFill>
              </a:rPr>
              <a:t>Y </a:t>
            </a:r>
            <a:r>
              <a:rPr lang="en-US" altLang="zh-CN" sz="2800" b="1">
                <a:solidFill>
                  <a:schemeClr val="tx2"/>
                </a:solidFill>
              </a:rPr>
              <a:t>)   </a:t>
            </a:r>
            <a:endParaRPr lang="en-US" altLang="zh-CN" sz="2800" b="1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2800" b="1">
                <a:solidFill>
                  <a:schemeClr val="tx2"/>
                </a:solidFill>
              </a:rPr>
              <a:t>的分布</a:t>
            </a:r>
            <a:r>
              <a:rPr lang="en-US" altLang="zh-CN" sz="2800" b="1">
                <a:solidFill>
                  <a:schemeClr val="tx2"/>
                </a:solidFill>
              </a:rPr>
              <a:t>?</a:t>
            </a:r>
            <a:endParaRPr lang="en-US" altLang="zh-CN" sz="2800" b="1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3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3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73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9" grpId="0" autoUpdateAnimBg="0"/>
      <p:bldP spid="373770" grpId="0" bldLvl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460" name="Group 4"/>
          <p:cNvGrpSpPr/>
          <p:nvPr/>
        </p:nvGrpSpPr>
        <p:grpSpPr bwMode="auto">
          <a:xfrm>
            <a:off x="827088" y="617538"/>
            <a:ext cx="5602287" cy="579437"/>
            <a:chOff x="385" y="797"/>
            <a:chExt cx="3529" cy="365"/>
          </a:xfrm>
        </p:grpSpPr>
        <p:sp>
          <p:nvSpPr>
            <p:cNvPr id="403461" name="Rectangle 5"/>
            <p:cNvSpPr>
              <a:spLocks noChangeArrowheads="1"/>
            </p:cNvSpPr>
            <p:nvPr/>
          </p:nvSpPr>
          <p:spPr bwMode="auto">
            <a:xfrm>
              <a:off x="385" y="797"/>
              <a:ext cx="3529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eaLnBrk="1" hangingPunct="1">
                <a:defRPr/>
              </a:pPr>
              <a:r>
                <a:rPr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例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3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设      的联合分布律为  </a:t>
              </a:r>
              <a:r>
                <a:rPr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</a:t>
              </a:r>
              <a:endPara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</p:txBody>
        </p:sp>
        <p:graphicFrame>
          <p:nvGraphicFramePr>
            <p:cNvPr id="100380" name="Object 6"/>
            <p:cNvGraphicFramePr>
              <a:graphicFrameLocks noChangeAspect="1"/>
            </p:cNvGraphicFramePr>
            <p:nvPr/>
          </p:nvGraphicFramePr>
          <p:xfrm>
            <a:off x="1202" y="845"/>
            <a:ext cx="68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404" name="Equation" r:id="rId1" imgW="431800" imgH="203200" progId="Equation.DSMT4">
                    <p:embed/>
                  </p:oleObj>
                </mc:Choice>
                <mc:Fallback>
                  <p:oleObj name="Equation" r:id="rId1" imgW="431800" imgH="2032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845"/>
                          <a:ext cx="68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3463" name="Group 7"/>
          <p:cNvGraphicFramePr>
            <a:graphicFrameLocks noGrp="1"/>
          </p:cNvGraphicFramePr>
          <p:nvPr/>
        </p:nvGraphicFramePr>
        <p:xfrm>
          <a:off x="1835150" y="1511300"/>
          <a:ext cx="5537200" cy="2109787"/>
        </p:xfrm>
        <a:graphic>
          <a:graphicData uri="http://schemas.openxmlformats.org/drawingml/2006/table">
            <a:tbl>
              <a:tblPr/>
              <a:tblGrid>
                <a:gridCol w="1319213"/>
                <a:gridCol w="1404937"/>
                <a:gridCol w="1406525"/>
                <a:gridCol w="1406525"/>
              </a:tblGrid>
              <a:tr h="10302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Y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97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97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3486" name="Text Box 30"/>
          <p:cNvSpPr txBox="1">
            <a:spLocks noChangeArrowheads="1"/>
          </p:cNvSpPr>
          <p:nvPr/>
        </p:nvSpPr>
        <p:spPr bwMode="auto">
          <a:xfrm>
            <a:off x="939800" y="4494213"/>
            <a:ext cx="7829550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800" b="1">
                <a:latin typeface="Arial" panose="020B0604020202020204" pitchFamily="34" charset="0"/>
              </a:rPr>
              <a:t>分别求出（</a:t>
            </a:r>
            <a:r>
              <a:rPr kumimoji="0" lang="en-US" altLang="zh-CN" sz="2800" b="1">
                <a:latin typeface="Arial" panose="020B0604020202020204" pitchFamily="34" charset="0"/>
              </a:rPr>
              <a:t>1</a:t>
            </a:r>
            <a:r>
              <a:rPr kumimoji="0" lang="zh-CN" altLang="en-US" sz="2800" b="1">
                <a:latin typeface="Arial" panose="020B0604020202020204" pitchFamily="34" charset="0"/>
              </a:rPr>
              <a:t>）</a:t>
            </a:r>
            <a:r>
              <a:rPr kumimoji="0" lang="en-US" altLang="zh-CN" sz="2800" b="1">
                <a:latin typeface="Arial" panose="020B0604020202020204" pitchFamily="34" charset="0"/>
              </a:rPr>
              <a:t>X+Y</a:t>
            </a:r>
            <a:r>
              <a:rPr kumimoji="0" lang="zh-CN" altLang="en-US" sz="2800" b="1">
                <a:latin typeface="Arial" panose="020B0604020202020204" pitchFamily="34" charset="0"/>
              </a:rPr>
              <a:t>；（</a:t>
            </a:r>
            <a:r>
              <a:rPr kumimoji="0" lang="en-US" altLang="zh-CN" sz="2800" b="1">
                <a:latin typeface="Arial" panose="020B0604020202020204" pitchFamily="34" charset="0"/>
              </a:rPr>
              <a:t>2</a:t>
            </a:r>
            <a:r>
              <a:rPr kumimoji="0" lang="zh-CN" altLang="en-US" sz="2800" b="1">
                <a:latin typeface="Arial" panose="020B0604020202020204" pitchFamily="34" charset="0"/>
              </a:rPr>
              <a:t>）</a:t>
            </a:r>
            <a:r>
              <a:rPr kumimoji="0" lang="en-US" altLang="zh-CN" sz="2800" b="1">
                <a:latin typeface="Arial" panose="020B0604020202020204" pitchFamily="34" charset="0"/>
              </a:rPr>
              <a:t>X-Y</a:t>
            </a:r>
            <a:r>
              <a:rPr kumimoji="0" lang="zh-CN" altLang="en-US" sz="2800" b="1">
                <a:latin typeface="Arial" panose="020B0604020202020204" pitchFamily="34" charset="0"/>
              </a:rPr>
              <a:t>；（</a:t>
            </a:r>
            <a:r>
              <a:rPr kumimoji="0" lang="en-US" altLang="zh-CN" sz="2800" b="1">
                <a:latin typeface="Arial" panose="020B0604020202020204" pitchFamily="34" charset="0"/>
              </a:rPr>
              <a:t>3</a:t>
            </a:r>
            <a:r>
              <a:rPr kumimoji="0" lang="zh-CN" altLang="en-US" sz="2800" b="1">
                <a:latin typeface="Arial" panose="020B0604020202020204" pitchFamily="34" charset="0"/>
              </a:rPr>
              <a:t>）</a:t>
            </a:r>
            <a:r>
              <a:rPr kumimoji="0" lang="en-US" altLang="zh-CN" sz="2800" b="1">
                <a:latin typeface="Arial" panose="020B0604020202020204" pitchFamily="34" charset="0"/>
              </a:rPr>
              <a:t>X</a:t>
            </a:r>
            <a:r>
              <a:rPr kumimoji="0" lang="en-US" altLang="zh-CN" sz="2800" b="1" baseline="30000">
                <a:latin typeface="Arial" panose="020B0604020202020204" pitchFamily="34" charset="0"/>
              </a:rPr>
              <a:t>2</a:t>
            </a:r>
            <a:r>
              <a:rPr kumimoji="0" lang="en-US" altLang="zh-CN" sz="2800" b="1">
                <a:latin typeface="Arial" panose="020B0604020202020204" pitchFamily="34" charset="0"/>
              </a:rPr>
              <a:t>+Y-2</a:t>
            </a:r>
            <a:r>
              <a:rPr kumimoji="0" lang="zh-CN" altLang="en-US" sz="2800" b="1">
                <a:latin typeface="Arial" panose="020B0604020202020204" pitchFamily="34" charset="0"/>
              </a:rPr>
              <a:t>的</a:t>
            </a:r>
            <a:endParaRPr kumimoji="0" lang="zh-CN" altLang="en-US" sz="2800" b="1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0" lang="zh-CN" altLang="en-US" sz="2800" b="1">
                <a:latin typeface="Arial" panose="020B0604020202020204" pitchFamily="34" charset="0"/>
              </a:rPr>
              <a:t>分布律</a:t>
            </a:r>
            <a:endParaRPr kumimoji="0" lang="zh-CN" altLang="en-US" sz="28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86" grpId="0" bldLvl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4" name="Rectangle 4"/>
          <p:cNvSpPr>
            <a:spLocks noChangeArrowheads="1"/>
          </p:cNvSpPr>
          <p:nvPr/>
        </p:nvSpPr>
        <p:spPr bwMode="auto">
          <a:xfrm>
            <a:off x="611188" y="404813"/>
            <a:ext cx="74707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eaLnBrk="1" hangingPunct="1">
              <a:defRPr/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解  </a:t>
            </a:r>
            <a:r>
              <a:rPr lang="zh-CN" altLang="en-US" sz="2800" b="1">
                <a:latin typeface="宋体" panose="02010600030101010101" pitchFamily="2" charset="-122"/>
              </a:rPr>
              <a:t>由（</a:t>
            </a:r>
            <a:r>
              <a:rPr lang="en-US" altLang="zh-CN" sz="2800" b="1">
                <a:latin typeface="宋体" panose="02010600030101010101" pitchFamily="2" charset="-122"/>
              </a:rPr>
              <a:t>X</a:t>
            </a:r>
            <a:r>
              <a:rPr lang="zh-CN" altLang="en-US" sz="2800" b="1">
                <a:latin typeface="宋体" panose="02010600030101010101" pitchFamily="2" charset="-122"/>
              </a:rPr>
              <a:t>，</a:t>
            </a:r>
            <a:r>
              <a:rPr lang="en-US" altLang="zh-CN" sz="2800" b="1">
                <a:latin typeface="宋体" panose="02010600030101010101" pitchFamily="2" charset="-122"/>
              </a:rPr>
              <a:t>Y</a:t>
            </a:r>
            <a:r>
              <a:rPr lang="zh-CN" altLang="en-US" sz="2800" b="1">
                <a:latin typeface="宋体" panose="02010600030101010101" pitchFamily="2" charset="-122"/>
              </a:rPr>
              <a:t>）的联合分布列可得如下表格   </a:t>
            </a:r>
            <a:endParaRPr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graphicFrame>
        <p:nvGraphicFramePr>
          <p:cNvPr id="404485" name="Group 5"/>
          <p:cNvGraphicFramePr>
            <a:graphicFrameLocks noGrp="1"/>
          </p:cNvGraphicFramePr>
          <p:nvPr/>
        </p:nvGraphicFramePr>
        <p:xfrm>
          <a:off x="533400" y="1371600"/>
          <a:ext cx="7961313" cy="3813176"/>
        </p:xfrm>
        <a:graphic>
          <a:graphicData uri="http://schemas.openxmlformats.org/drawingml/2006/table">
            <a:tbl>
              <a:tblPr/>
              <a:tblGrid>
                <a:gridCol w="1111250"/>
                <a:gridCol w="1112838"/>
                <a:gridCol w="1111250"/>
                <a:gridCol w="1112837"/>
                <a:gridCol w="1112838"/>
                <a:gridCol w="1200150"/>
                <a:gridCol w="1200150"/>
              </a:tblGrid>
              <a:tr h="887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(0,-2)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(0,-1)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(0,1)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(1,-2)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(1,-1)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(1,1)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9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概率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9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9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-4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04535" name="Object 55"/>
          <p:cNvGraphicFramePr>
            <a:graphicFrameLocks noChangeAspect="1"/>
          </p:cNvGraphicFramePr>
          <p:nvPr/>
        </p:nvGraphicFramePr>
        <p:xfrm>
          <a:off x="609600" y="1600200"/>
          <a:ext cx="9350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25" name="Equation" r:id="rId1" imgW="431800" imgH="203200" progId="Equation.DSMT4">
                  <p:embed/>
                </p:oleObj>
              </mc:Choice>
              <mc:Fallback>
                <p:oleObj name="Equation" r:id="rId1" imgW="431800" imgH="203200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00200"/>
                        <a:ext cx="93503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36" name="Object 56"/>
          <p:cNvGraphicFramePr>
            <a:graphicFrameLocks noChangeAspect="1"/>
          </p:cNvGraphicFramePr>
          <p:nvPr/>
        </p:nvGraphicFramePr>
        <p:xfrm>
          <a:off x="685800" y="3276600"/>
          <a:ext cx="87947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26" name="Equation" r:id="rId3" imgW="405765" imgH="165100" progId="Equation.DSMT4">
                  <p:embed/>
                </p:oleObj>
              </mc:Choice>
              <mc:Fallback>
                <p:oleObj name="Equation" r:id="rId3" imgW="405765" imgH="1651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276600"/>
                        <a:ext cx="879475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37" name="Object 57"/>
          <p:cNvGraphicFramePr>
            <a:graphicFrameLocks noChangeAspect="1"/>
          </p:cNvGraphicFramePr>
          <p:nvPr/>
        </p:nvGraphicFramePr>
        <p:xfrm>
          <a:off x="685800" y="3962400"/>
          <a:ext cx="8794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27" name="Equation" r:id="rId5" imgW="405765" imgH="165100" progId="Equation.DSMT4">
                  <p:embed/>
                </p:oleObj>
              </mc:Choice>
              <mc:Fallback>
                <p:oleObj name="Equation" r:id="rId5" imgW="405765" imgH="165100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962400"/>
                        <a:ext cx="8794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38" name="Object 58"/>
          <p:cNvGraphicFramePr>
            <a:graphicFrameLocks noChangeAspect="1"/>
          </p:cNvGraphicFramePr>
          <p:nvPr/>
        </p:nvGraphicFramePr>
        <p:xfrm>
          <a:off x="539750" y="4652963"/>
          <a:ext cx="104298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28" name="Equation" r:id="rId7" imgW="685800" imgH="190500" progId="Equation.DSMT4">
                  <p:embed/>
                </p:oleObj>
              </mc:Choice>
              <mc:Fallback>
                <p:oleObj name="Equation" r:id="rId7" imgW="685800" imgH="19050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652963"/>
                        <a:ext cx="104298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4" grpId="0" bldLvl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8" name="Rectangle 4"/>
          <p:cNvSpPr>
            <a:spLocks noChangeArrowheads="1"/>
          </p:cNvSpPr>
          <p:nvPr/>
        </p:nvSpPr>
        <p:spPr bwMode="auto">
          <a:xfrm>
            <a:off x="611188" y="404813"/>
            <a:ext cx="4625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eaLnBrk="1" hangingPunct="1">
              <a:defRPr/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解  </a:t>
            </a:r>
            <a:r>
              <a:rPr lang="zh-CN" altLang="en-US" sz="2800" b="1">
                <a:latin typeface="宋体" panose="02010600030101010101" pitchFamily="2" charset="-122"/>
              </a:rPr>
              <a:t>得所求的各分布列为   </a:t>
            </a:r>
            <a:endParaRPr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graphicFrame>
        <p:nvGraphicFramePr>
          <p:cNvPr id="405509" name="Group 5"/>
          <p:cNvGraphicFramePr>
            <a:graphicFrameLocks noGrp="1"/>
          </p:cNvGraphicFramePr>
          <p:nvPr/>
        </p:nvGraphicFramePr>
        <p:xfrm>
          <a:off x="685800" y="1143000"/>
          <a:ext cx="7448550" cy="1438276"/>
        </p:xfrm>
        <a:graphic>
          <a:graphicData uri="http://schemas.openxmlformats.org/drawingml/2006/table">
            <a:tbl>
              <a:tblPr/>
              <a:tblGrid>
                <a:gridCol w="1158875"/>
                <a:gridCol w="1323975"/>
                <a:gridCol w="1239838"/>
                <a:gridCol w="1241425"/>
                <a:gridCol w="1243012"/>
                <a:gridCol w="1241425"/>
              </a:tblGrid>
              <a:tr h="719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X+Y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9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概率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05532" name="Group 28"/>
          <p:cNvGraphicFramePr>
            <a:graphicFrameLocks noGrp="1"/>
          </p:cNvGraphicFramePr>
          <p:nvPr/>
        </p:nvGraphicFramePr>
        <p:xfrm>
          <a:off x="685800" y="2895600"/>
          <a:ext cx="7467600" cy="1312863"/>
        </p:xfrm>
        <a:graphic>
          <a:graphicData uri="http://schemas.openxmlformats.org/drawingml/2006/table">
            <a:tbl>
              <a:tblPr/>
              <a:tblGrid>
                <a:gridCol w="1008063"/>
                <a:gridCol w="1116012"/>
                <a:gridCol w="1062038"/>
                <a:gridCol w="1063625"/>
                <a:gridCol w="1062037"/>
                <a:gridCol w="2155825"/>
              </a:tblGrid>
              <a:tr h="661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X-Y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0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概率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05555" name="Group 51"/>
          <p:cNvGraphicFramePr>
            <a:graphicFrameLocks noGrp="1"/>
          </p:cNvGraphicFramePr>
          <p:nvPr/>
        </p:nvGraphicFramePr>
        <p:xfrm>
          <a:off x="685800" y="4495800"/>
          <a:ext cx="7467600" cy="1293813"/>
        </p:xfrm>
        <a:graphic>
          <a:graphicData uri="http://schemas.openxmlformats.org/drawingml/2006/table">
            <a:tbl>
              <a:tblPr/>
              <a:tblGrid>
                <a:gridCol w="1536700"/>
                <a:gridCol w="1031875"/>
                <a:gridCol w="1284288"/>
                <a:gridCol w="1282700"/>
                <a:gridCol w="1282700"/>
                <a:gridCol w="1049337"/>
              </a:tblGrid>
              <a:tr h="642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+Y-2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-4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0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概率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8" grpId="0" bldLvl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3048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en-US" altLang="zh-CN" sz="32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zh-CN" altLang="en-US" sz="32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连续型</a:t>
            </a:r>
            <a:endParaRPr lang="zh-CN" altLang="en-US" sz="3200">
              <a:solidFill>
                <a:srgbClr val="0000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24291" name="Object 3"/>
          <p:cNvGraphicFramePr>
            <a:graphicFrameLocks noChangeAspect="1"/>
          </p:cNvGraphicFramePr>
          <p:nvPr/>
        </p:nvGraphicFramePr>
        <p:xfrm>
          <a:off x="1116013" y="2708275"/>
          <a:ext cx="26098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75" name="公式" r:id="rId1" imgW="1143000" imgH="215900" progId="Equation.3">
                  <p:embed/>
                </p:oleObj>
              </mc:Choice>
              <mc:Fallback>
                <p:oleObj name="公式" r:id="rId1" imgW="1143000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708275"/>
                        <a:ext cx="260985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292" name="Object 4"/>
          <p:cNvGraphicFramePr>
            <a:graphicFrameLocks noChangeAspect="1"/>
          </p:cNvGraphicFramePr>
          <p:nvPr/>
        </p:nvGraphicFramePr>
        <p:xfrm>
          <a:off x="3736975" y="2665413"/>
          <a:ext cx="261143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76" name="Equation" r:id="rId3" imgW="1143000" imgH="254000" progId="Equation.DSMT4">
                  <p:embed/>
                </p:oleObj>
              </mc:Choice>
              <mc:Fallback>
                <p:oleObj name="Equation" r:id="rId3" imgW="1143000" imgH="25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6975" y="2665413"/>
                        <a:ext cx="2611438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293" name="Object 5"/>
          <p:cNvGraphicFramePr>
            <a:graphicFrameLocks noChangeAspect="1"/>
          </p:cNvGraphicFramePr>
          <p:nvPr/>
        </p:nvGraphicFramePr>
        <p:xfrm>
          <a:off x="4113213" y="3573463"/>
          <a:ext cx="2862262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77" name="Equation" r:id="rId5" imgW="1282700" imgH="393700" progId="Equation.DSMT4">
                  <p:embed/>
                </p:oleObj>
              </mc:Choice>
              <mc:Fallback>
                <p:oleObj name="Equation" r:id="rId5" imgW="1282700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3213" y="3573463"/>
                        <a:ext cx="2862262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4294" name="Text Box 6"/>
          <p:cNvSpPr txBox="1">
            <a:spLocks noChangeArrowheads="1"/>
          </p:cNvSpPr>
          <p:nvPr/>
        </p:nvSpPr>
        <p:spPr bwMode="auto">
          <a:xfrm>
            <a:off x="890588" y="1341438"/>
            <a:ext cx="77517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设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/>
              <a:t>)</a:t>
            </a:r>
            <a:r>
              <a:rPr lang="zh-CN" altLang="en-US" sz="2800" b="1"/>
              <a:t>是二维连续型随机变量，其联合概率密度</a:t>
            </a:r>
            <a:endParaRPr lang="zh-CN" altLang="en-US" sz="2800" b="1"/>
          </a:p>
        </p:txBody>
      </p:sp>
      <p:sp>
        <p:nvSpPr>
          <p:cNvPr id="524295" name="Text Box 7"/>
          <p:cNvSpPr txBox="1">
            <a:spLocks noChangeArrowheads="1"/>
          </p:cNvSpPr>
          <p:nvPr/>
        </p:nvSpPr>
        <p:spPr bwMode="auto">
          <a:xfrm>
            <a:off x="762000" y="1901825"/>
            <a:ext cx="719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为  </a:t>
            </a:r>
            <a:endParaRPr lang="zh-CN" altLang="en-US" sz="2800" b="1"/>
          </a:p>
        </p:txBody>
      </p:sp>
      <p:sp>
        <p:nvSpPr>
          <p:cNvPr id="524296" name="Text Box 8"/>
          <p:cNvSpPr txBox="1">
            <a:spLocks noChangeArrowheads="1"/>
          </p:cNvSpPr>
          <p:nvPr/>
        </p:nvSpPr>
        <p:spPr bwMode="auto">
          <a:xfrm>
            <a:off x="5076825" y="1916113"/>
            <a:ext cx="2058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分布函数为 </a:t>
            </a:r>
            <a:endParaRPr lang="zh-CN" altLang="en-US" sz="2800" b="1"/>
          </a:p>
        </p:txBody>
      </p:sp>
      <p:sp>
        <p:nvSpPr>
          <p:cNvPr id="524297" name="Text Box 9"/>
          <p:cNvSpPr txBox="1">
            <a:spLocks noChangeArrowheads="1"/>
          </p:cNvSpPr>
          <p:nvPr/>
        </p:nvSpPr>
        <p:spPr bwMode="auto">
          <a:xfrm>
            <a:off x="2700338" y="1916113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则</a:t>
            </a:r>
            <a:endParaRPr lang="zh-CN" altLang="en-US" sz="2800" b="1"/>
          </a:p>
        </p:txBody>
      </p:sp>
      <p:graphicFrame>
        <p:nvGraphicFramePr>
          <p:cNvPr id="524298" name="Object 10"/>
          <p:cNvGraphicFramePr>
            <a:graphicFrameLocks noChangeAspect="1"/>
          </p:cNvGraphicFramePr>
          <p:nvPr/>
        </p:nvGraphicFramePr>
        <p:xfrm>
          <a:off x="1331913" y="1916113"/>
          <a:ext cx="10731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78" name="Equation" r:id="rId7" imgW="508000" imgH="203200" progId="Equation.DSMT4">
                  <p:embed/>
                </p:oleObj>
              </mc:Choice>
              <mc:Fallback>
                <p:oleObj name="Equation" r:id="rId7" imgW="508000" imgH="203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916113"/>
                        <a:ext cx="10731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299" name="Object 11"/>
          <p:cNvGraphicFramePr>
            <a:graphicFrameLocks noChangeAspect="1"/>
          </p:cNvGraphicFramePr>
          <p:nvPr/>
        </p:nvGraphicFramePr>
        <p:xfrm>
          <a:off x="3432175" y="1989138"/>
          <a:ext cx="17176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79" name="Equation" r:id="rId9" imgW="812165" imgH="203200" progId="Equation.DSMT4">
                  <p:embed/>
                </p:oleObj>
              </mc:Choice>
              <mc:Fallback>
                <p:oleObj name="Equation" r:id="rId9" imgW="812165" imgH="203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1989138"/>
                        <a:ext cx="17176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300" name="Object 12"/>
          <p:cNvGraphicFramePr>
            <a:graphicFrameLocks noChangeAspect="1"/>
          </p:cNvGraphicFramePr>
          <p:nvPr/>
        </p:nvGraphicFramePr>
        <p:xfrm>
          <a:off x="1619250" y="3573463"/>
          <a:ext cx="24479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80" name="公式" r:id="rId11" imgW="1079500" imgH="368300" progId="Equation.3">
                  <p:embed/>
                </p:oleObj>
              </mc:Choice>
              <mc:Fallback>
                <p:oleObj name="公式" r:id="rId11" imgW="1079500" imgH="368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573463"/>
                        <a:ext cx="2447925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4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4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4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2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4294" grpId="0" autoUpdateAnimBg="0"/>
      <p:bldP spid="524295" grpId="0" autoUpdateAnimBg="0"/>
      <p:bldP spid="524296" grpId="0" autoUpdateAnimBg="0"/>
      <p:bldP spid="52429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ext Box 4"/>
          <p:cNvSpPr txBox="1">
            <a:spLocks noChangeArrowheads="1"/>
          </p:cNvSpPr>
          <p:nvPr/>
        </p:nvSpPr>
        <p:spPr bwMode="auto">
          <a:xfrm>
            <a:off x="533400" y="609600"/>
            <a:ext cx="822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</a:rPr>
              <a:t>        </a:t>
            </a:r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4</a:t>
            </a:r>
            <a:r>
              <a:rPr lang="en-US" altLang="zh-CN" sz="2800" b="1">
                <a:solidFill>
                  <a:srgbClr val="CCFFFF"/>
                </a:solidFill>
              </a:rPr>
              <a:t>   </a:t>
            </a:r>
            <a:r>
              <a:rPr lang="en-US" altLang="zh-CN" sz="2800" b="1"/>
              <a:t> </a:t>
            </a:r>
            <a:r>
              <a:rPr lang="zh-CN" altLang="en-US" sz="2800" b="1"/>
              <a:t>设</a:t>
            </a:r>
            <a:r>
              <a:rPr lang="en-US" altLang="zh-CN" sz="2800" b="1" i="1"/>
              <a:t>X</a:t>
            </a:r>
            <a:r>
              <a:rPr lang="zh-CN" altLang="en-US" sz="2800" b="1"/>
              <a:t>和</a:t>
            </a:r>
            <a:r>
              <a:rPr lang="en-US" altLang="zh-CN" sz="2800" b="1" i="1"/>
              <a:t>Y</a:t>
            </a:r>
            <a:r>
              <a:rPr lang="zh-CN" altLang="zh-CN" sz="2800" b="1"/>
              <a:t>的联合密度为 </a:t>
            </a:r>
            <a:r>
              <a:rPr lang="en-US" altLang="zh-CN" sz="2800" b="1" i="1"/>
              <a:t>f 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/>
              <a:t>) , </a:t>
            </a:r>
            <a:r>
              <a:rPr lang="zh-CN" altLang="en-US" sz="2800" b="1"/>
              <a:t>求 </a:t>
            </a:r>
            <a:r>
              <a:rPr lang="en-US" altLang="zh-CN" sz="2800" b="1" i="1"/>
              <a:t>Z</a:t>
            </a:r>
            <a:r>
              <a:rPr lang="en-US" altLang="zh-CN" sz="2800" b="1"/>
              <a:t>=</a:t>
            </a:r>
            <a:r>
              <a:rPr lang="en-US" altLang="zh-CN" sz="2800" b="1" i="1"/>
              <a:t>X</a:t>
            </a:r>
            <a:r>
              <a:rPr lang="en-US" altLang="zh-CN" sz="2800" b="1"/>
              <a:t>+</a:t>
            </a:r>
            <a:r>
              <a:rPr lang="en-US" altLang="zh-CN" sz="2800" b="1" i="1"/>
              <a:t>Y </a:t>
            </a:r>
            <a:r>
              <a:rPr lang="zh-CN" altLang="en-US" sz="2800" b="1"/>
              <a:t>的概率密度</a:t>
            </a:r>
            <a:r>
              <a:rPr lang="en-US" altLang="zh-CN" sz="2800" b="1"/>
              <a:t>.</a:t>
            </a:r>
            <a:r>
              <a:rPr lang="zh-CN" altLang="zh-CN" sz="2800" b="1"/>
              <a:t>   </a:t>
            </a:r>
            <a:endParaRPr lang="en-US" altLang="zh-CN" sz="2800" b="1"/>
          </a:p>
        </p:txBody>
      </p:sp>
      <p:graphicFrame>
        <p:nvGraphicFramePr>
          <p:cNvPr id="406533" name="Object 5"/>
          <p:cNvGraphicFramePr>
            <a:graphicFrameLocks noChangeAspect="1"/>
          </p:cNvGraphicFramePr>
          <p:nvPr/>
        </p:nvGraphicFramePr>
        <p:xfrm>
          <a:off x="2881313" y="3724275"/>
          <a:ext cx="2928937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28" name="公式" r:id="rId1" imgW="1000125" imgH="317500" progId="Equation.3">
                  <p:embed/>
                </p:oleObj>
              </mc:Choice>
              <mc:Fallback>
                <p:oleObj name="公式" r:id="rId1" imgW="1000125" imgH="317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3" y="3724275"/>
                        <a:ext cx="2928937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6534" name="Rectangle 6"/>
          <p:cNvSpPr>
            <a:spLocks noChangeArrowheads="1"/>
          </p:cNvSpPr>
          <p:nvPr/>
        </p:nvSpPr>
        <p:spPr bwMode="auto">
          <a:xfrm>
            <a:off x="471488" y="4732338"/>
            <a:ext cx="601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</a:rPr>
              <a:t>这里积分区域 </a:t>
            </a:r>
            <a:r>
              <a:rPr lang="en-US" altLang="zh-CN" sz="2800" b="1" i="1">
                <a:solidFill>
                  <a:schemeClr val="tx2"/>
                </a:solidFill>
              </a:rPr>
              <a:t>D</a:t>
            </a:r>
            <a:r>
              <a:rPr lang="en-US" altLang="zh-CN" sz="2800" b="1">
                <a:solidFill>
                  <a:schemeClr val="tx2"/>
                </a:solidFill>
              </a:rPr>
              <a:t>={(</a:t>
            </a:r>
            <a:r>
              <a:rPr lang="en-US" altLang="zh-CN" sz="2800" b="1" i="1"/>
              <a:t>x</a:t>
            </a:r>
            <a:r>
              <a:rPr lang="en-US" altLang="zh-CN" sz="2800" b="1"/>
              <a:t>, </a:t>
            </a:r>
            <a:r>
              <a:rPr lang="en-US" altLang="zh-CN" sz="2800" b="1" i="1"/>
              <a:t>y</a:t>
            </a:r>
            <a:r>
              <a:rPr lang="en-US" altLang="zh-CN" sz="2800" b="1">
                <a:solidFill>
                  <a:schemeClr val="tx2"/>
                </a:solidFill>
              </a:rPr>
              <a:t>): </a:t>
            </a:r>
            <a:r>
              <a:rPr lang="en-US" altLang="zh-CN" sz="2800" b="1" i="1">
                <a:solidFill>
                  <a:schemeClr val="tx2"/>
                </a:solidFill>
              </a:rPr>
              <a:t>x+y</a:t>
            </a:r>
            <a:r>
              <a:rPr lang="en-US" altLang="zh-CN" sz="2800" b="1">
                <a:solidFill>
                  <a:schemeClr val="tx2"/>
                </a:solidFill>
              </a:rPr>
              <a:t> ≤</a:t>
            </a:r>
            <a:r>
              <a:rPr lang="en-US" altLang="zh-CN" sz="2800" b="1" i="1">
                <a:solidFill>
                  <a:schemeClr val="tx2"/>
                </a:solidFill>
              </a:rPr>
              <a:t>z</a:t>
            </a:r>
            <a:r>
              <a:rPr lang="en-US" altLang="zh-CN" sz="2800" b="1">
                <a:solidFill>
                  <a:schemeClr val="tx2"/>
                </a:solidFill>
              </a:rPr>
              <a:t>}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sp>
        <p:nvSpPr>
          <p:cNvPr id="406535" name="Rectangle 7"/>
          <p:cNvSpPr>
            <a:spLocks noChangeArrowheads="1"/>
          </p:cNvSpPr>
          <p:nvPr/>
        </p:nvSpPr>
        <p:spPr bwMode="auto">
          <a:xfrm>
            <a:off x="1273175" y="183356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/>
              <a:t>解</a:t>
            </a:r>
            <a:endParaRPr lang="zh-CN" altLang="en-US" sz="2800" b="1"/>
          </a:p>
        </p:txBody>
      </p:sp>
      <p:sp>
        <p:nvSpPr>
          <p:cNvPr id="406536" name="Rectangle 8"/>
          <p:cNvSpPr>
            <a:spLocks noChangeArrowheads="1"/>
          </p:cNvSpPr>
          <p:nvPr/>
        </p:nvSpPr>
        <p:spPr bwMode="auto">
          <a:xfrm>
            <a:off x="1773238" y="1905000"/>
            <a:ext cx="3524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800" b="1" i="1"/>
              <a:t>Z</a:t>
            </a:r>
            <a:r>
              <a:rPr lang="en-US" altLang="zh-CN" sz="2800" b="1"/>
              <a:t>=</a:t>
            </a:r>
            <a:r>
              <a:rPr lang="en-US" altLang="zh-CN" sz="2800" b="1" i="1"/>
              <a:t>X</a:t>
            </a:r>
            <a:r>
              <a:rPr lang="en-US" altLang="zh-CN" sz="2800" b="1"/>
              <a:t>+</a:t>
            </a:r>
            <a:r>
              <a:rPr lang="en-US" altLang="zh-CN" sz="2800" b="1" i="1"/>
              <a:t>Y</a:t>
            </a:r>
            <a:r>
              <a:rPr lang="zh-CN" altLang="en-US" sz="2800" b="1"/>
              <a:t>的分布函数是</a:t>
            </a:r>
            <a:r>
              <a:rPr lang="en-US" altLang="zh-CN" sz="2800" b="1"/>
              <a:t>:</a:t>
            </a:r>
            <a:endParaRPr lang="en-US" altLang="zh-CN" sz="2800" b="1"/>
          </a:p>
        </p:txBody>
      </p:sp>
      <p:graphicFrame>
        <p:nvGraphicFramePr>
          <p:cNvPr id="406537" name="Object 9"/>
          <p:cNvGraphicFramePr>
            <a:graphicFrameLocks noChangeAspect="1"/>
          </p:cNvGraphicFramePr>
          <p:nvPr/>
        </p:nvGraphicFramePr>
        <p:xfrm>
          <a:off x="2065338" y="2552700"/>
          <a:ext cx="2705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29" name="Equation" r:id="rId3" imgW="2628900" imgH="423545" progId="Equation.DSMT4">
                  <p:embed/>
                </p:oleObj>
              </mc:Choice>
              <mc:Fallback>
                <p:oleObj name="Equation" r:id="rId3" imgW="2628900" imgH="42354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8" y="2552700"/>
                        <a:ext cx="27051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38" name="Object 10"/>
          <p:cNvGraphicFramePr>
            <a:graphicFrameLocks noChangeAspect="1"/>
          </p:cNvGraphicFramePr>
          <p:nvPr/>
        </p:nvGraphicFramePr>
        <p:xfrm>
          <a:off x="2970213" y="3138488"/>
          <a:ext cx="2336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30" name="Equation" r:id="rId5" imgW="2257425" imgH="423545" progId="Equation.DSMT4">
                  <p:embed/>
                </p:oleObj>
              </mc:Choice>
              <mc:Fallback>
                <p:oleObj name="Equation" r:id="rId5" imgW="2257425" imgH="42354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0213" y="3138488"/>
                        <a:ext cx="23368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6539" name="Rectangle 11"/>
          <p:cNvSpPr>
            <a:spLocks noChangeArrowheads="1"/>
          </p:cNvSpPr>
          <p:nvPr/>
        </p:nvSpPr>
        <p:spPr bwMode="auto">
          <a:xfrm>
            <a:off x="409575" y="5289550"/>
            <a:ext cx="6264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chemeClr val="tx2"/>
                </a:solidFill>
              </a:rPr>
              <a:t>它</a:t>
            </a:r>
            <a:r>
              <a:rPr lang="zh-CN" altLang="zh-CN" sz="2800" b="1">
                <a:solidFill>
                  <a:schemeClr val="tx2"/>
                </a:solidFill>
              </a:rPr>
              <a:t>是直线</a:t>
            </a:r>
            <a:r>
              <a:rPr lang="zh-CN" altLang="en-US" sz="2800" b="1">
                <a:solidFill>
                  <a:schemeClr val="tx2"/>
                </a:solidFill>
              </a:rPr>
              <a:t> </a:t>
            </a:r>
            <a:r>
              <a:rPr lang="en-US" altLang="zh-CN" sz="2800" b="1" i="1">
                <a:solidFill>
                  <a:schemeClr val="tx2"/>
                </a:solidFill>
              </a:rPr>
              <a:t>x+y</a:t>
            </a:r>
            <a:r>
              <a:rPr lang="en-US" altLang="zh-CN" sz="2800" b="1">
                <a:solidFill>
                  <a:schemeClr val="tx2"/>
                </a:solidFill>
              </a:rPr>
              <a:t> =</a:t>
            </a:r>
            <a:r>
              <a:rPr lang="en-US" altLang="zh-CN" sz="2800" b="1" i="1">
                <a:solidFill>
                  <a:schemeClr val="tx2"/>
                </a:solidFill>
              </a:rPr>
              <a:t>z </a:t>
            </a:r>
            <a:r>
              <a:rPr lang="zh-CN" altLang="en-US" sz="2800" b="1">
                <a:solidFill>
                  <a:schemeClr val="tx2"/>
                </a:solidFill>
              </a:rPr>
              <a:t>及其左下方的半平面</a:t>
            </a:r>
            <a:r>
              <a:rPr lang="en-US" altLang="zh-CN" sz="2800" b="1">
                <a:solidFill>
                  <a:schemeClr val="tx2"/>
                </a:solidFill>
              </a:rPr>
              <a:t>.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grpSp>
        <p:nvGrpSpPr>
          <p:cNvPr id="406540" name="Group 12"/>
          <p:cNvGrpSpPr/>
          <p:nvPr/>
        </p:nvGrpSpPr>
        <p:grpSpPr bwMode="auto">
          <a:xfrm>
            <a:off x="5954713" y="1833563"/>
            <a:ext cx="2786062" cy="2778125"/>
            <a:chOff x="3742" y="1389"/>
            <a:chExt cx="1755" cy="1750"/>
          </a:xfrm>
        </p:grpSpPr>
        <p:sp>
          <p:nvSpPr>
            <p:cNvPr id="104459" name="Line 13"/>
            <p:cNvSpPr>
              <a:spLocks noChangeShapeType="1"/>
            </p:cNvSpPr>
            <p:nvPr/>
          </p:nvSpPr>
          <p:spPr bwMode="auto">
            <a:xfrm>
              <a:off x="3989" y="2386"/>
              <a:ext cx="11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60" name="Line 14"/>
            <p:cNvSpPr>
              <a:spLocks noChangeShapeType="1"/>
            </p:cNvSpPr>
            <p:nvPr/>
          </p:nvSpPr>
          <p:spPr bwMode="auto">
            <a:xfrm flipH="1" flipV="1">
              <a:off x="4212" y="1616"/>
              <a:ext cx="3" cy="10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61" name="Line 15"/>
            <p:cNvSpPr>
              <a:spLocks noChangeShapeType="1"/>
            </p:cNvSpPr>
            <p:nvPr/>
          </p:nvSpPr>
          <p:spPr bwMode="auto">
            <a:xfrm flipH="1" flipV="1">
              <a:off x="3742" y="1389"/>
              <a:ext cx="1497" cy="14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4462" name="Object 16"/>
            <p:cNvGraphicFramePr>
              <a:graphicFrameLocks noChangeAspect="1"/>
            </p:cNvGraphicFramePr>
            <p:nvPr/>
          </p:nvGraphicFramePr>
          <p:xfrm>
            <a:off x="4649" y="2931"/>
            <a:ext cx="848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631" name="Equation" r:id="rId7" imgW="1266825" imgH="259715" progId="Equation.DSMT4">
                    <p:embed/>
                  </p:oleObj>
                </mc:Choice>
                <mc:Fallback>
                  <p:oleObj name="Equation" r:id="rId7" imgW="1266825" imgH="259715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9" y="2931"/>
                          <a:ext cx="848" cy="20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463" name="AutoShape 17"/>
            <p:cNvGraphicFramePr>
              <a:graphicFrameLocks noChangeAspect="1"/>
            </p:cNvGraphicFramePr>
            <p:nvPr/>
          </p:nvGraphicFramePr>
          <p:xfrm>
            <a:off x="5169" y="2326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632" name="Equation" r:id="rId9" imgW="0" imgH="0" progId="Equation.DSMT4">
                    <p:embed/>
                  </p:oleObj>
                </mc:Choice>
                <mc:Fallback>
                  <p:oleObj name="Equation" r:id="rId9" imgW="0" imgH="0" progId="Equation.DSMT4">
                    <p:embed/>
                    <p:pic>
                      <p:nvPicPr>
                        <p:cNvPr id="0" name="AutoShap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9" y="2326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464" name="Object 18"/>
            <p:cNvGraphicFramePr>
              <a:graphicFrameLocks noChangeAspect="1"/>
            </p:cNvGraphicFramePr>
            <p:nvPr/>
          </p:nvGraphicFramePr>
          <p:xfrm>
            <a:off x="4121" y="1389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633" name="Equation" r:id="rId10" imgW="180975" imgH="240665" progId="Equation.DSMT4">
                    <p:embed/>
                  </p:oleObj>
                </mc:Choice>
                <mc:Fallback>
                  <p:oleObj name="Equation" r:id="rId10" imgW="180975" imgH="240665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1" y="1389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465" name="Object 19"/>
            <p:cNvGraphicFramePr>
              <a:graphicFrameLocks noChangeAspect="1"/>
            </p:cNvGraphicFramePr>
            <p:nvPr/>
          </p:nvGraphicFramePr>
          <p:xfrm>
            <a:off x="4059" y="2387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634" name="Equation" r:id="rId12" imgW="123825" imgH="240665" progId="Equation.DSMT4">
                    <p:embed/>
                  </p:oleObj>
                </mc:Choice>
                <mc:Fallback>
                  <p:oleObj name="Equation" r:id="rId12" imgW="123825" imgH="240665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2387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466" name="AutoShape 20"/>
            <p:cNvSpPr>
              <a:spLocks noChangeArrowheads="1"/>
            </p:cNvSpPr>
            <p:nvPr/>
          </p:nvSpPr>
          <p:spPr bwMode="auto">
            <a:xfrm>
              <a:off x="3982" y="1629"/>
              <a:ext cx="1075" cy="1075"/>
            </a:xfrm>
            <a:prstGeom prst="rtTriangle">
              <a:avLst/>
            </a:prstGeom>
            <a:solidFill>
              <a:srgbClr val="FF6600">
                <a:alpha val="59999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6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6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6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06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0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6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4" grpId="0" bldLvl="0" animBg="1" autoUpdateAnimBg="0"/>
      <p:bldP spid="406535" grpId="0" bldLvl="0" animBg="1" autoUpdateAnimBg="0"/>
      <p:bldP spid="406536" grpId="0" bldLvl="0" animBg="1" autoUpdateAnimBg="0"/>
      <p:bldP spid="406539" grpId="0" bldLvl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474" name="Object 2"/>
          <p:cNvGraphicFramePr>
            <a:graphicFrameLocks noChangeAspect="1"/>
          </p:cNvGraphicFramePr>
          <p:nvPr/>
        </p:nvGraphicFramePr>
        <p:xfrm>
          <a:off x="4351338" y="2860675"/>
          <a:ext cx="112712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27" name="公式" r:id="rId1" imgW="114300" imgH="215900" progId="Equation.3">
                  <p:embed/>
                </p:oleObj>
              </mc:Choice>
              <mc:Fallback>
                <p:oleObj name="公式" r:id="rId1" imgW="114300" imgH="215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338" y="2860675"/>
                        <a:ext cx="112712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907" name="Rectangle 3"/>
          <p:cNvSpPr>
            <a:spLocks noChangeArrowheads="1"/>
          </p:cNvSpPr>
          <p:nvPr/>
        </p:nvSpPr>
        <p:spPr bwMode="auto">
          <a:xfrm>
            <a:off x="1588" y="1228725"/>
            <a:ext cx="3254375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     </a:t>
            </a:r>
            <a:r>
              <a:rPr lang="zh-CN" altLang="en-US" sz="2800" b="1"/>
              <a:t>化成累次积分</a:t>
            </a:r>
            <a:r>
              <a:rPr lang="en-US" altLang="zh-CN" sz="2800" b="1"/>
              <a:t>,</a:t>
            </a:r>
            <a:r>
              <a:rPr lang="zh-CN" altLang="en-US" sz="2800" b="1"/>
              <a:t>得</a:t>
            </a:r>
            <a:endParaRPr lang="zh-CN" altLang="en-US" sz="2800" b="1"/>
          </a:p>
        </p:txBody>
      </p:sp>
      <p:graphicFrame>
        <p:nvGraphicFramePr>
          <p:cNvPr id="379908" name="Object 4"/>
          <p:cNvGraphicFramePr>
            <a:graphicFrameLocks noChangeAspect="1"/>
          </p:cNvGraphicFramePr>
          <p:nvPr/>
        </p:nvGraphicFramePr>
        <p:xfrm>
          <a:off x="1208088" y="304800"/>
          <a:ext cx="4137025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28" name="公式" r:id="rId3" imgW="1447800" imgH="337185" progId="Equation.3">
                  <p:embed/>
                </p:oleObj>
              </mc:Choice>
              <mc:Fallback>
                <p:oleObj name="公式" r:id="rId3" imgW="1447800" imgH="3371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8088" y="304800"/>
                        <a:ext cx="4137025" cy="109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09" name="Object 5"/>
          <p:cNvGraphicFramePr>
            <a:graphicFrameLocks noChangeAspect="1"/>
          </p:cNvGraphicFramePr>
          <p:nvPr/>
        </p:nvGraphicFramePr>
        <p:xfrm>
          <a:off x="923925" y="1801813"/>
          <a:ext cx="49974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29" name="公式" r:id="rId5" imgW="1762125" imgH="259715" progId="Equation.3">
                  <p:embed/>
                </p:oleObj>
              </mc:Choice>
              <mc:Fallback>
                <p:oleObj name="公式" r:id="rId5" imgW="1762125" imgH="25971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25" y="1801813"/>
                        <a:ext cx="499745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910" name="Rectangle 6"/>
          <p:cNvSpPr>
            <a:spLocks noChangeArrowheads="1"/>
          </p:cNvSpPr>
          <p:nvPr/>
        </p:nvSpPr>
        <p:spPr bwMode="auto">
          <a:xfrm>
            <a:off x="0" y="2770188"/>
            <a:ext cx="8440738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     </a:t>
            </a:r>
            <a:r>
              <a:rPr lang="zh-CN" altLang="en-US" sz="2800" b="1"/>
              <a:t>固定</a:t>
            </a:r>
            <a:r>
              <a:rPr lang="en-US" altLang="zh-CN" sz="2800" b="1" i="1"/>
              <a:t>z</a:t>
            </a:r>
            <a:r>
              <a:rPr lang="zh-CN" altLang="en-US" sz="2800" b="1"/>
              <a:t>和</a:t>
            </a:r>
            <a:r>
              <a:rPr lang="en-US" altLang="zh-CN" sz="2800" b="1" i="1"/>
              <a:t>y</a:t>
            </a:r>
            <a:r>
              <a:rPr lang="en-US" altLang="zh-CN" sz="2800" b="1"/>
              <a:t>,</a:t>
            </a:r>
            <a:r>
              <a:rPr lang="zh-CN" altLang="en-US" sz="2800" b="1"/>
              <a:t>对方括号内的积分作变量代换</a:t>
            </a:r>
            <a:r>
              <a:rPr lang="en-US" altLang="zh-CN" sz="2800" b="1"/>
              <a:t>, </a:t>
            </a:r>
            <a:r>
              <a:rPr lang="zh-CN" altLang="en-US" sz="2800" b="1"/>
              <a:t>令 </a:t>
            </a:r>
            <a:r>
              <a:rPr lang="en-US" altLang="zh-CN" sz="2800" b="1" i="1">
                <a:solidFill>
                  <a:schemeClr val="accent2"/>
                </a:solidFill>
              </a:rPr>
              <a:t>x=u-y</a:t>
            </a:r>
            <a:r>
              <a:rPr lang="en-US" altLang="zh-CN" sz="2800" b="1"/>
              <a:t>,</a:t>
            </a:r>
            <a:r>
              <a:rPr lang="zh-CN" altLang="en-US" sz="2800" b="1"/>
              <a:t>得</a:t>
            </a:r>
            <a:endParaRPr lang="zh-CN" altLang="en-US" sz="2800" b="1"/>
          </a:p>
        </p:txBody>
      </p:sp>
      <p:graphicFrame>
        <p:nvGraphicFramePr>
          <p:cNvPr id="379911" name="Object 7"/>
          <p:cNvGraphicFramePr>
            <a:graphicFrameLocks noChangeAspect="1"/>
          </p:cNvGraphicFramePr>
          <p:nvPr/>
        </p:nvGraphicFramePr>
        <p:xfrm>
          <a:off x="1384300" y="3560763"/>
          <a:ext cx="544512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30" name="公式" r:id="rId7" imgW="1933575" imgH="259715" progId="Equation.3">
                  <p:embed/>
                </p:oleObj>
              </mc:Choice>
              <mc:Fallback>
                <p:oleObj name="公式" r:id="rId7" imgW="1933575" imgH="2597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300" y="3560763"/>
                        <a:ext cx="544512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2" name="Object 8"/>
          <p:cNvGraphicFramePr>
            <a:graphicFrameLocks noChangeAspect="1"/>
          </p:cNvGraphicFramePr>
          <p:nvPr/>
        </p:nvGraphicFramePr>
        <p:xfrm>
          <a:off x="2406650" y="4786313"/>
          <a:ext cx="437832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31" name="公式" r:id="rId9" imgW="1533525" imgH="259715" progId="Equation.3">
                  <p:embed/>
                </p:oleObj>
              </mc:Choice>
              <mc:Fallback>
                <p:oleObj name="公式" r:id="rId9" imgW="1533525" imgH="25971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0" y="4786313"/>
                        <a:ext cx="437832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913" name="AutoShape 9"/>
          <p:cNvSpPr>
            <a:spLocks noChangeArrowheads="1"/>
          </p:cNvSpPr>
          <p:nvPr/>
        </p:nvSpPr>
        <p:spPr bwMode="auto">
          <a:xfrm>
            <a:off x="6827838" y="4568825"/>
            <a:ext cx="1828800" cy="576263"/>
          </a:xfrm>
          <a:prstGeom prst="wedgeRoundRectCallout">
            <a:avLst>
              <a:gd name="adj1" fmla="val -132292"/>
              <a:gd name="adj2" fmla="val -88292"/>
              <a:gd name="adj3" fmla="val 16667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变量代换</a:t>
            </a:r>
            <a:endParaRPr lang="zh-CN" altLang="en-US" sz="2800" b="1"/>
          </a:p>
        </p:txBody>
      </p:sp>
      <p:sp>
        <p:nvSpPr>
          <p:cNvPr id="379914" name="AutoShape 10"/>
          <p:cNvSpPr>
            <a:spLocks noChangeArrowheads="1"/>
          </p:cNvSpPr>
          <p:nvPr/>
        </p:nvSpPr>
        <p:spPr bwMode="auto">
          <a:xfrm>
            <a:off x="231775" y="5649913"/>
            <a:ext cx="2286000" cy="576262"/>
          </a:xfrm>
          <a:prstGeom prst="wedgeRoundRectCallout">
            <a:avLst>
              <a:gd name="adj1" fmla="val 81806"/>
              <a:gd name="adj2" fmla="val -3705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交换积分次序</a:t>
            </a:r>
            <a:endParaRPr lang="zh-CN" altLang="en-US" sz="2800" b="1"/>
          </a:p>
        </p:txBody>
      </p:sp>
      <p:sp>
        <p:nvSpPr>
          <p:cNvPr id="105483" name="Line 11"/>
          <p:cNvSpPr>
            <a:spLocks noChangeShapeType="1"/>
          </p:cNvSpPr>
          <p:nvPr/>
        </p:nvSpPr>
        <p:spPr bwMode="auto">
          <a:xfrm flipV="1">
            <a:off x="4913313" y="1790700"/>
            <a:ext cx="3117850" cy="428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4" name="Line 12"/>
          <p:cNvSpPr>
            <a:spLocks noChangeShapeType="1"/>
          </p:cNvSpPr>
          <p:nvPr/>
        </p:nvSpPr>
        <p:spPr bwMode="auto">
          <a:xfrm flipH="1" flipV="1">
            <a:off x="6523038" y="568325"/>
            <a:ext cx="4762" cy="1679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5" name="Line 13"/>
          <p:cNvSpPr>
            <a:spLocks noChangeShapeType="1"/>
          </p:cNvSpPr>
          <p:nvPr/>
        </p:nvSpPr>
        <p:spPr bwMode="auto">
          <a:xfrm flipH="1" flipV="1">
            <a:off x="5776913" y="207963"/>
            <a:ext cx="2376487" cy="23764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5486" name="Object 14"/>
          <p:cNvGraphicFramePr>
            <a:graphicFrameLocks noChangeAspect="1"/>
          </p:cNvGraphicFramePr>
          <p:nvPr/>
        </p:nvGraphicFramePr>
        <p:xfrm>
          <a:off x="7288213" y="2552700"/>
          <a:ext cx="1346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32" name="Equation" r:id="rId11" imgW="1266825" imgH="259715" progId="Equation.DSMT4">
                  <p:embed/>
                </p:oleObj>
              </mc:Choice>
              <mc:Fallback>
                <p:oleObj name="Equation" r:id="rId11" imgW="1266825" imgH="25971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8213" y="2552700"/>
                        <a:ext cx="1346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7" name="Object 15"/>
          <p:cNvGraphicFramePr>
            <a:graphicFrameLocks noChangeAspect="1"/>
          </p:cNvGraphicFramePr>
          <p:nvPr/>
        </p:nvGraphicFramePr>
        <p:xfrm>
          <a:off x="8042275" y="1695450"/>
          <a:ext cx="254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33" name="Equation" r:id="rId13" imgW="180975" imgH="163830" progId="Equation.DSMT4">
                  <p:embed/>
                </p:oleObj>
              </mc:Choice>
              <mc:Fallback>
                <p:oleObj name="Equation" r:id="rId13" imgW="180975" imgH="16383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2275" y="1695450"/>
                        <a:ext cx="254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8" name="Object 16"/>
          <p:cNvGraphicFramePr>
            <a:graphicFrameLocks noChangeAspect="1"/>
          </p:cNvGraphicFramePr>
          <p:nvPr/>
        </p:nvGraphicFramePr>
        <p:xfrm>
          <a:off x="6378575" y="207963"/>
          <a:ext cx="25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34" name="Equation" r:id="rId15" imgW="180975" imgH="240665" progId="Equation.DSMT4">
                  <p:embed/>
                </p:oleObj>
              </mc:Choice>
              <mc:Fallback>
                <p:oleObj name="Equation" r:id="rId15" imgW="180975" imgH="240665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8575" y="207963"/>
                        <a:ext cx="254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9" name="Object 17"/>
          <p:cNvGraphicFramePr>
            <a:graphicFrameLocks noChangeAspect="1"/>
          </p:cNvGraphicFramePr>
          <p:nvPr/>
        </p:nvGraphicFramePr>
        <p:xfrm>
          <a:off x="6280150" y="1792288"/>
          <a:ext cx="203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35" name="Equation" r:id="rId17" imgW="123825" imgH="240665" progId="Equation.DSMT4">
                  <p:embed/>
                </p:oleObj>
              </mc:Choice>
              <mc:Fallback>
                <p:oleObj name="Equation" r:id="rId17" imgW="123825" imgH="24066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0150" y="1792288"/>
                        <a:ext cx="203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90" name="AutoShape 18"/>
          <p:cNvSpPr>
            <a:spLocks noChangeArrowheads="1"/>
          </p:cNvSpPr>
          <p:nvPr/>
        </p:nvSpPr>
        <p:spPr bwMode="auto">
          <a:xfrm>
            <a:off x="6157913" y="609600"/>
            <a:ext cx="1706562" cy="1706563"/>
          </a:xfrm>
          <a:prstGeom prst="rtTriangle">
            <a:avLst/>
          </a:prstGeom>
          <a:solidFill>
            <a:srgbClr val="FF9900">
              <a:alpha val="59999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05491" name="Group 19"/>
          <p:cNvGrpSpPr/>
          <p:nvPr/>
        </p:nvGrpSpPr>
        <p:grpSpPr bwMode="auto">
          <a:xfrm>
            <a:off x="6208713" y="1074738"/>
            <a:ext cx="358775" cy="361950"/>
            <a:chOff x="4014" y="775"/>
            <a:chExt cx="226" cy="228"/>
          </a:xfrm>
        </p:grpSpPr>
        <p:sp>
          <p:nvSpPr>
            <p:cNvPr id="105495" name="Oval 20"/>
            <p:cNvSpPr>
              <a:spLocks noChangeArrowheads="1"/>
            </p:cNvSpPr>
            <p:nvPr/>
          </p:nvSpPr>
          <p:spPr bwMode="auto">
            <a:xfrm>
              <a:off x="4195" y="958"/>
              <a:ext cx="45" cy="45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05496" name="Object 21"/>
            <p:cNvGraphicFramePr>
              <a:graphicFrameLocks noChangeAspect="1"/>
            </p:cNvGraphicFramePr>
            <p:nvPr/>
          </p:nvGraphicFramePr>
          <p:xfrm>
            <a:off x="4014" y="775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736" name="Equation" r:id="rId19" imgW="180975" imgH="240665" progId="Equation.DSMT4">
                    <p:embed/>
                  </p:oleObj>
                </mc:Choice>
                <mc:Fallback>
                  <p:oleObj name="Equation" r:id="rId19" imgW="180975" imgH="240665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775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5492" name="Line 22"/>
          <p:cNvSpPr>
            <a:spLocks noChangeShapeType="1"/>
          </p:cNvSpPr>
          <p:nvPr/>
        </p:nvSpPr>
        <p:spPr bwMode="auto">
          <a:xfrm>
            <a:off x="5776913" y="1401763"/>
            <a:ext cx="16557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93" name="Line 23"/>
          <p:cNvSpPr>
            <a:spLocks noChangeShapeType="1"/>
          </p:cNvSpPr>
          <p:nvPr/>
        </p:nvSpPr>
        <p:spPr bwMode="auto">
          <a:xfrm flipH="1">
            <a:off x="4408488" y="1400175"/>
            <a:ext cx="2592387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4" name="Oval 24"/>
          <p:cNvSpPr>
            <a:spLocks noChangeArrowheads="1"/>
          </p:cNvSpPr>
          <p:nvPr/>
        </p:nvSpPr>
        <p:spPr bwMode="auto">
          <a:xfrm>
            <a:off x="6929438" y="1362075"/>
            <a:ext cx="71437" cy="71438"/>
          </a:xfrm>
          <a:prstGeom prst="ellipse">
            <a:avLst/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9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7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9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9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79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7" grpId="0" bldLvl="0" animBg="1" autoUpdateAnimBg="0"/>
      <p:bldP spid="379910" grpId="0" bldLvl="0" animBg="1" autoUpdateAnimBg="0"/>
      <p:bldP spid="379913" grpId="0" bldLvl="0" animBg="1" autoUpdateAnimBg="0"/>
      <p:bldP spid="379914" grpId="0" bldLvl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Text Box 2"/>
          <p:cNvSpPr txBox="1">
            <a:spLocks noChangeArrowheads="1"/>
          </p:cNvSpPr>
          <p:nvPr/>
        </p:nvSpPr>
        <p:spPr bwMode="auto">
          <a:xfrm>
            <a:off x="357188" y="1230313"/>
            <a:ext cx="8229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由概率</a:t>
            </a:r>
            <a:r>
              <a:rPr lang="zh-CN" altLang="zh-CN" sz="2800" b="1"/>
              <a:t>密度与分布函数的关系,  即得</a:t>
            </a:r>
            <a:r>
              <a:rPr lang="en-US" altLang="zh-CN" sz="2800" b="1" i="1"/>
              <a:t>Z</a:t>
            </a:r>
            <a:r>
              <a:rPr lang="en-US" altLang="zh-CN" sz="2800" b="1"/>
              <a:t>=</a:t>
            </a:r>
            <a:r>
              <a:rPr lang="en-US" altLang="zh-CN" sz="2800" b="1" i="1"/>
              <a:t>X</a:t>
            </a:r>
            <a:r>
              <a:rPr lang="en-US" altLang="zh-CN" sz="2800" b="1"/>
              <a:t>+</a:t>
            </a:r>
            <a:r>
              <a:rPr lang="en-US" altLang="zh-CN" sz="2800" b="1" i="1"/>
              <a:t>Y</a:t>
            </a:r>
            <a:r>
              <a:rPr lang="zh-CN" altLang="en-US" sz="2800" b="1"/>
              <a:t>的概率密度为</a:t>
            </a:r>
            <a:r>
              <a:rPr lang="en-US" altLang="zh-CN" sz="2800" b="1"/>
              <a:t>:</a:t>
            </a:r>
            <a:r>
              <a:rPr lang="zh-CN" altLang="zh-CN" sz="2800" b="1"/>
              <a:t>  </a:t>
            </a:r>
            <a:endParaRPr lang="en-US" altLang="zh-CN" sz="2800" b="1"/>
          </a:p>
        </p:txBody>
      </p:sp>
      <p:sp>
        <p:nvSpPr>
          <p:cNvPr id="380931" name="Text Box 3"/>
          <p:cNvSpPr txBox="1">
            <a:spLocks noChangeArrowheads="1"/>
          </p:cNvSpPr>
          <p:nvPr/>
        </p:nvSpPr>
        <p:spPr bwMode="auto">
          <a:xfrm>
            <a:off x="357188" y="3484563"/>
            <a:ext cx="52625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由</a:t>
            </a:r>
            <a:r>
              <a:rPr lang="en-US" altLang="zh-CN" sz="2800" b="1" i="1"/>
              <a:t>X</a:t>
            </a:r>
            <a:r>
              <a:rPr lang="zh-CN" altLang="en-US" sz="2800" b="1"/>
              <a:t>和</a:t>
            </a:r>
            <a:r>
              <a:rPr lang="en-US" altLang="zh-CN" sz="2800" b="1" i="1"/>
              <a:t>Y</a:t>
            </a:r>
            <a:r>
              <a:rPr lang="zh-CN" altLang="en-US" sz="2800" b="1"/>
              <a:t>的对称性</a:t>
            </a:r>
            <a:r>
              <a:rPr lang="en-US" altLang="zh-CN" sz="2800" b="1"/>
              <a:t>,  </a:t>
            </a:r>
            <a:r>
              <a:rPr lang="en-US" altLang="zh-CN" sz="2800" b="1" i="1"/>
              <a:t>f</a:t>
            </a:r>
            <a:r>
              <a:rPr lang="en-US" altLang="zh-CN" sz="2800" b="1" i="1" baseline="-25000"/>
              <a:t>Z </a:t>
            </a:r>
            <a:r>
              <a:rPr lang="en-US" altLang="zh-CN" sz="2800" b="1"/>
              <a:t>(</a:t>
            </a:r>
            <a:r>
              <a:rPr lang="en-US" altLang="zh-CN" sz="2800" b="1" i="1"/>
              <a:t>z</a:t>
            </a:r>
            <a:r>
              <a:rPr lang="en-US" altLang="zh-CN" sz="2800" b="1"/>
              <a:t>)</a:t>
            </a:r>
            <a:r>
              <a:rPr lang="zh-CN" altLang="en-US" sz="2800" b="1"/>
              <a:t>又可写成 </a:t>
            </a:r>
            <a:endParaRPr lang="zh-CN" altLang="en-US" sz="2800"/>
          </a:p>
        </p:txBody>
      </p:sp>
      <p:graphicFrame>
        <p:nvGraphicFramePr>
          <p:cNvPr id="380932" name="Object 4"/>
          <p:cNvGraphicFramePr>
            <a:graphicFrameLocks noChangeAspect="1"/>
          </p:cNvGraphicFramePr>
          <p:nvPr/>
        </p:nvGraphicFramePr>
        <p:xfrm>
          <a:off x="1331913" y="2317750"/>
          <a:ext cx="5584825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73" name="公式" r:id="rId1" imgW="1981200" imgH="259715" progId="Equation.3">
                  <p:embed/>
                </p:oleObj>
              </mc:Choice>
              <mc:Fallback>
                <p:oleObj name="公式" r:id="rId1" imgW="1981200" imgH="2597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317750"/>
                        <a:ext cx="5584825" cy="893763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0933" name="Rectangle 5"/>
          <p:cNvSpPr>
            <a:spLocks noChangeArrowheads="1"/>
          </p:cNvSpPr>
          <p:nvPr/>
        </p:nvSpPr>
        <p:spPr bwMode="auto">
          <a:xfrm>
            <a:off x="292100" y="4970463"/>
            <a:ext cx="8675688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zh-CN" sz="2800" b="1">
                <a:solidFill>
                  <a:schemeClr val="tx2"/>
                </a:solidFill>
              </a:rPr>
              <a:t>以上两式即是</a:t>
            </a:r>
            <a:r>
              <a:rPr lang="zh-CN" altLang="zh-CN" sz="2800" b="1">
                <a:solidFill>
                  <a:schemeClr val="accent2"/>
                </a:solidFill>
              </a:rPr>
              <a:t>两个随机变量和的概率密度的一般公式</a:t>
            </a:r>
            <a:r>
              <a:rPr lang="en-US" altLang="zh-CN" sz="2800" b="1">
                <a:solidFill>
                  <a:schemeClr val="tx2"/>
                </a:solidFill>
              </a:rPr>
              <a:t>.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graphicFrame>
        <p:nvGraphicFramePr>
          <p:cNvPr id="380934" name="Object 6"/>
          <p:cNvGraphicFramePr>
            <a:graphicFrameLocks noChangeAspect="1"/>
          </p:cNvGraphicFramePr>
          <p:nvPr/>
        </p:nvGraphicFramePr>
        <p:xfrm>
          <a:off x="1295400" y="4038600"/>
          <a:ext cx="5656263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74" name="公式" r:id="rId3" imgW="2009775" imgH="259715" progId="Equation.3">
                  <p:embed/>
                </p:oleObj>
              </mc:Choice>
              <mc:Fallback>
                <p:oleObj name="公式" r:id="rId3" imgW="2009775" imgH="25971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038600"/>
                        <a:ext cx="5656263" cy="893763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3" name="Object 8"/>
          <p:cNvGraphicFramePr>
            <a:graphicFrameLocks noChangeAspect="1"/>
          </p:cNvGraphicFramePr>
          <p:nvPr/>
        </p:nvGraphicFramePr>
        <p:xfrm>
          <a:off x="1143000" y="228600"/>
          <a:ext cx="5446713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75" name="公式" r:id="rId5" imgW="1933575" imgH="259715" progId="Equation.3">
                  <p:embed/>
                </p:oleObj>
              </mc:Choice>
              <mc:Fallback>
                <p:oleObj name="公式" r:id="rId5" imgW="1933575" imgH="25971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28600"/>
                        <a:ext cx="5446713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80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0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0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0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80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0" grpId="0" autoUpdateAnimBg="0"/>
      <p:bldP spid="380931" grpId="0" bldLvl="0" animBg="1" autoUpdateAnimBg="0"/>
      <p:bldP spid="380933" grpId="0" bldLvl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Text Box 2"/>
          <p:cNvSpPr txBox="1">
            <a:spLocks noChangeArrowheads="1"/>
          </p:cNvSpPr>
          <p:nvPr/>
        </p:nvSpPr>
        <p:spPr bwMode="auto">
          <a:xfrm>
            <a:off x="381000" y="609600"/>
            <a:ext cx="8229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/>
              <a:t> </a:t>
            </a:r>
            <a:r>
              <a:rPr lang="zh-CN" altLang="en-US" sz="2800" b="1">
                <a:solidFill>
                  <a:schemeClr val="accent2"/>
                </a:solidFill>
              </a:rPr>
              <a:t>特别地</a:t>
            </a:r>
            <a:r>
              <a:rPr lang="zh-CN" altLang="en-US" sz="2800" b="1"/>
              <a:t>，当 </a:t>
            </a:r>
            <a:r>
              <a:rPr lang="en-US" altLang="zh-CN" sz="2800" b="1" i="1"/>
              <a:t>X </a:t>
            </a:r>
            <a:r>
              <a:rPr lang="zh-CN" altLang="en-US" sz="2800" b="1"/>
              <a:t>和 </a:t>
            </a:r>
            <a:r>
              <a:rPr lang="en-US" altLang="zh-CN" sz="2800" b="1" i="1"/>
              <a:t>Y </a:t>
            </a:r>
            <a:r>
              <a:rPr lang="zh-CN" altLang="en-US" sz="2800" b="1"/>
              <a:t>独立，设 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/>
              <a:t>) </a:t>
            </a:r>
            <a:r>
              <a:rPr lang="zh-CN" altLang="en-US" sz="2800" b="1"/>
              <a:t>关于 </a:t>
            </a:r>
            <a:r>
              <a:rPr lang="en-US" altLang="zh-CN" sz="2800" b="1" i="1"/>
              <a:t>X </a:t>
            </a:r>
            <a:r>
              <a:rPr lang="en-US" altLang="zh-CN" sz="2800" b="1"/>
              <a:t>, </a:t>
            </a:r>
            <a:r>
              <a:rPr lang="en-US" altLang="zh-CN" sz="2800" b="1" i="1"/>
              <a:t>Y </a:t>
            </a:r>
            <a:r>
              <a:rPr lang="zh-CN" altLang="en-US" sz="2800" b="1"/>
              <a:t>的边缘密度分别为 </a:t>
            </a:r>
            <a:r>
              <a:rPr lang="en-US" altLang="zh-CN" sz="2800" b="1" i="1"/>
              <a:t>f</a:t>
            </a:r>
            <a:r>
              <a:rPr lang="en-US" altLang="zh-CN" sz="2800" b="1" i="1" baseline="-25000"/>
              <a:t>X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 , </a:t>
            </a:r>
            <a:r>
              <a:rPr lang="en-US" altLang="zh-CN" sz="2800" b="1" i="1"/>
              <a:t>f</a:t>
            </a:r>
            <a:r>
              <a:rPr lang="en-US" altLang="zh-CN" sz="2800" b="1" i="1" baseline="-25000"/>
              <a:t>Y</a:t>
            </a:r>
            <a:r>
              <a:rPr lang="en-US" altLang="zh-CN" sz="2800" b="1"/>
              <a:t>(</a:t>
            </a:r>
            <a:r>
              <a:rPr lang="en-US" altLang="zh-CN" sz="2800" b="1" i="1"/>
              <a:t>y</a:t>
            </a:r>
            <a:r>
              <a:rPr lang="en-US" altLang="zh-CN" sz="2800" b="1"/>
              <a:t>) ,  </a:t>
            </a:r>
            <a:r>
              <a:rPr lang="zh-CN" altLang="en-US" sz="2800" b="1"/>
              <a:t>则上述两式化为</a:t>
            </a:r>
            <a:r>
              <a:rPr lang="en-US" altLang="zh-CN" sz="2800" b="1"/>
              <a:t>:</a:t>
            </a:r>
            <a:r>
              <a:rPr lang="zh-CN" altLang="zh-CN" sz="2800" b="1"/>
              <a:t>  </a:t>
            </a:r>
            <a:endParaRPr lang="en-US" altLang="zh-CN" sz="2800" b="1"/>
          </a:p>
        </p:txBody>
      </p:sp>
      <p:graphicFrame>
        <p:nvGraphicFramePr>
          <p:cNvPr id="381955" name="Object 3"/>
          <p:cNvGraphicFramePr>
            <a:graphicFrameLocks noChangeAspect="1"/>
          </p:cNvGraphicFramePr>
          <p:nvPr/>
        </p:nvGraphicFramePr>
        <p:xfrm>
          <a:off x="1897063" y="2166938"/>
          <a:ext cx="4964112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97" name="公式" r:id="rId1" imgW="1752600" imgH="259715" progId="Equation.3">
                  <p:embed/>
                </p:oleObj>
              </mc:Choice>
              <mc:Fallback>
                <p:oleObj name="公式" r:id="rId1" imgW="1752600" imgH="2597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7063" y="2166938"/>
                        <a:ext cx="4964112" cy="893762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56" name="Object 4"/>
          <p:cNvGraphicFramePr>
            <a:graphicFrameLocks noChangeAspect="1"/>
          </p:cNvGraphicFramePr>
          <p:nvPr/>
        </p:nvGraphicFramePr>
        <p:xfrm>
          <a:off x="1930400" y="3136900"/>
          <a:ext cx="489585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98" name="公式" r:id="rId3" imgW="1724025" imgH="259715" progId="Equation.3">
                  <p:embed/>
                </p:oleObj>
              </mc:Choice>
              <mc:Fallback>
                <p:oleObj name="公式" r:id="rId3" imgW="1724025" imgH="2597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3136900"/>
                        <a:ext cx="4895850" cy="893763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1958" name="Rectangle 6"/>
          <p:cNvSpPr>
            <a:spLocks noChangeArrowheads="1"/>
          </p:cNvSpPr>
          <p:nvPr/>
        </p:nvSpPr>
        <p:spPr bwMode="auto">
          <a:xfrm>
            <a:off x="307975" y="5257800"/>
            <a:ext cx="7083425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下面我们用</a:t>
            </a:r>
            <a:r>
              <a:rPr lang="zh-CN" altLang="zh-CN" sz="2800" b="1">
                <a:solidFill>
                  <a:schemeClr val="tx2"/>
                </a:solidFill>
              </a:rPr>
              <a:t>卷积公式来求</a:t>
            </a:r>
            <a:r>
              <a:rPr lang="en-US" altLang="zh-CN" sz="2800" b="1" i="1"/>
              <a:t>Z</a:t>
            </a:r>
            <a:r>
              <a:rPr lang="en-US" altLang="zh-CN" sz="2800" b="1"/>
              <a:t>=</a:t>
            </a:r>
            <a:r>
              <a:rPr lang="en-US" altLang="zh-CN" sz="2800" b="1" i="1"/>
              <a:t>X</a:t>
            </a:r>
            <a:r>
              <a:rPr lang="en-US" altLang="zh-CN" sz="2800" b="1"/>
              <a:t>+</a:t>
            </a:r>
            <a:r>
              <a:rPr lang="en-US" altLang="zh-CN" sz="2800" b="1" i="1"/>
              <a:t>Y</a:t>
            </a:r>
            <a:r>
              <a:rPr lang="zh-CN" altLang="en-US" sz="2800" b="1"/>
              <a:t>的概率密度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graphicFrame>
        <p:nvGraphicFramePr>
          <p:cNvPr id="381959" name="Object 7"/>
          <p:cNvGraphicFramePr>
            <a:graphicFrameLocks noChangeAspect="1"/>
          </p:cNvGraphicFramePr>
          <p:nvPr/>
        </p:nvGraphicFramePr>
        <p:xfrm>
          <a:off x="1643063" y="2667000"/>
          <a:ext cx="3937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99" name="Equation" r:id="rId5" imgW="314325" imgH="933450" progId="Equation.DSMT4">
                  <p:embed/>
                </p:oleObj>
              </mc:Choice>
              <mc:Fallback>
                <p:oleObj name="Equation" r:id="rId5" imgW="314325" imgH="93345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2667000"/>
                        <a:ext cx="393700" cy="1003300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1960" name="AutoShape 8"/>
          <p:cNvSpPr>
            <a:spLocks noChangeArrowheads="1"/>
          </p:cNvSpPr>
          <p:nvPr/>
        </p:nvSpPr>
        <p:spPr bwMode="auto">
          <a:xfrm>
            <a:off x="523875" y="4246563"/>
            <a:ext cx="1871663" cy="649287"/>
          </a:xfrm>
          <a:prstGeom prst="wedgeRectCallout">
            <a:avLst>
              <a:gd name="adj1" fmla="val 17005"/>
              <a:gd name="adj2" fmla="val -12335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zh-CN" sz="2800" b="1">
                <a:solidFill>
                  <a:schemeClr val="tx2"/>
                </a:solidFill>
              </a:rPr>
              <a:t>卷积公式</a:t>
            </a:r>
            <a:endParaRPr lang="zh-CN" altLang="en-US" sz="2800" b="1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8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81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8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54" grpId="0" autoUpdateAnimBg="0"/>
      <p:bldP spid="381958" grpId="0" bldLvl="0" animBg="1" autoUpdateAnimBg="0"/>
      <p:bldP spid="381960" grpId="0" bldLvl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533400" y="228600"/>
            <a:ext cx="914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accent2"/>
                </a:solidFill>
                <a:ea typeface="黑体" panose="02010609060101010101" pitchFamily="49" charset="-122"/>
              </a:rPr>
              <a:t>例 </a:t>
            </a:r>
            <a:r>
              <a:rPr lang="en-US" altLang="zh-CN" b="1">
                <a:solidFill>
                  <a:schemeClr val="accent2"/>
                </a:solidFill>
                <a:ea typeface="黑体" panose="02010609060101010101" pitchFamily="49" charset="-122"/>
              </a:rPr>
              <a:t>5</a:t>
            </a:r>
            <a:endParaRPr lang="en-US" altLang="zh-CN" b="1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401411" name="Object 3"/>
          <p:cNvGraphicFramePr>
            <a:graphicFrameLocks noChangeAspect="1"/>
          </p:cNvGraphicFramePr>
          <p:nvPr/>
        </p:nvGraphicFramePr>
        <p:xfrm>
          <a:off x="533400" y="1828800"/>
          <a:ext cx="6096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15" name="公式" r:id="rId1" imgW="161925" imgH="125095" progId="Equation.3">
                  <p:embed/>
                </p:oleObj>
              </mc:Choice>
              <mc:Fallback>
                <p:oleObj name="公式" r:id="rId1" imgW="161925" imgH="12509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828800"/>
                        <a:ext cx="609600" cy="5159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12" name="Object 4"/>
          <p:cNvGraphicFramePr>
            <a:graphicFrameLocks noChangeAspect="1"/>
          </p:cNvGraphicFramePr>
          <p:nvPr/>
        </p:nvGraphicFramePr>
        <p:xfrm>
          <a:off x="533400" y="762000"/>
          <a:ext cx="80772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16" name="公式" r:id="rId3" imgW="3568700" imgH="457200" progId="Equation.3">
                  <p:embed/>
                </p:oleObj>
              </mc:Choice>
              <mc:Fallback>
                <p:oleObj name="公式" r:id="rId3" imgW="35687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762000"/>
                        <a:ext cx="8077200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13" name="Object 5"/>
          <p:cNvGraphicFramePr>
            <a:graphicFrameLocks noChangeAspect="1"/>
          </p:cNvGraphicFramePr>
          <p:nvPr/>
        </p:nvGraphicFramePr>
        <p:xfrm>
          <a:off x="558800" y="2362200"/>
          <a:ext cx="21336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17" name="公式" r:id="rId5" imgW="926465" imgH="203200" progId="Equation.3">
                  <p:embed/>
                </p:oleObj>
              </mc:Choice>
              <mc:Fallback>
                <p:oleObj name="公式" r:id="rId5" imgW="926465" imgH="203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2362200"/>
                        <a:ext cx="21336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14" name="Object 6"/>
          <p:cNvGraphicFramePr>
            <a:graphicFrameLocks noChangeAspect="1"/>
          </p:cNvGraphicFramePr>
          <p:nvPr/>
        </p:nvGraphicFramePr>
        <p:xfrm>
          <a:off x="1219200" y="2895600"/>
          <a:ext cx="2684463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18" name="公式" r:id="rId7" imgW="1333500" imgH="457200" progId="Equation.3">
                  <p:embed/>
                </p:oleObj>
              </mc:Choice>
              <mc:Fallback>
                <p:oleObj name="公式" r:id="rId7" imgW="13335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895600"/>
                        <a:ext cx="2684463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15" name="Object 7"/>
          <p:cNvGraphicFramePr>
            <a:graphicFrameLocks noChangeAspect="1"/>
          </p:cNvGraphicFramePr>
          <p:nvPr/>
        </p:nvGraphicFramePr>
        <p:xfrm>
          <a:off x="4800600" y="2895600"/>
          <a:ext cx="2684463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19" name="公式" r:id="rId9" imgW="1333500" imgH="457200" progId="Equation.3">
                  <p:embed/>
                </p:oleObj>
              </mc:Choice>
              <mc:Fallback>
                <p:oleObj name="公式" r:id="rId9" imgW="13335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895600"/>
                        <a:ext cx="2684463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16" name="Object 8"/>
          <p:cNvGraphicFramePr>
            <a:graphicFrameLocks noChangeAspect="1"/>
          </p:cNvGraphicFramePr>
          <p:nvPr/>
        </p:nvGraphicFramePr>
        <p:xfrm>
          <a:off x="546100" y="4138613"/>
          <a:ext cx="74549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20" name="公式" r:id="rId11" imgW="3149600" imgH="215900" progId="Equation.3">
                  <p:embed/>
                </p:oleObj>
              </mc:Choice>
              <mc:Fallback>
                <p:oleObj name="公式" r:id="rId11" imgW="3149600" imgH="215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4138613"/>
                        <a:ext cx="7454900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17" name="Object 9"/>
          <p:cNvGraphicFramePr>
            <a:graphicFrameLocks noChangeAspect="1"/>
          </p:cNvGraphicFramePr>
          <p:nvPr/>
        </p:nvGraphicFramePr>
        <p:xfrm>
          <a:off x="838200" y="4665663"/>
          <a:ext cx="4103688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21" name="Equation" r:id="rId13" imgW="1676400" imgH="469900" progId="Equation.DSMT4">
                  <p:embed/>
                </p:oleObj>
              </mc:Choice>
              <mc:Fallback>
                <p:oleObj name="Equation" r:id="rId13" imgW="1676400" imgH="4699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665663"/>
                        <a:ext cx="4103688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387" name="Group 3"/>
          <p:cNvGrpSpPr/>
          <p:nvPr/>
        </p:nvGrpSpPr>
        <p:grpSpPr bwMode="auto">
          <a:xfrm>
            <a:off x="838200" y="2025650"/>
            <a:ext cx="5232400" cy="557213"/>
            <a:chOff x="448" y="2016"/>
            <a:chExt cx="3296" cy="351"/>
          </a:xfrm>
        </p:grpSpPr>
        <p:graphicFrame>
          <p:nvGraphicFramePr>
            <p:cNvPr id="109612" name="Object 4"/>
            <p:cNvGraphicFramePr>
              <a:graphicFrameLocks noChangeAspect="1"/>
            </p:cNvGraphicFramePr>
            <p:nvPr/>
          </p:nvGraphicFramePr>
          <p:xfrm>
            <a:off x="448" y="2016"/>
            <a:ext cx="2238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97" name="公式" r:id="rId1" imgW="1295400" imgH="203200" progId="Equation.3">
                    <p:embed/>
                  </p:oleObj>
                </mc:Choice>
                <mc:Fallback>
                  <p:oleObj name="公式" r:id="rId1" imgW="1295400" imgH="203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" y="2016"/>
                          <a:ext cx="2238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613" name="Object 5"/>
            <p:cNvGraphicFramePr>
              <a:graphicFrameLocks noChangeAspect="1"/>
            </p:cNvGraphicFramePr>
            <p:nvPr/>
          </p:nvGraphicFramePr>
          <p:xfrm>
            <a:off x="2889" y="2016"/>
            <a:ext cx="855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98" name="公式" r:id="rId3" imgW="609600" imgH="215900" progId="Equation.3">
                    <p:embed/>
                  </p:oleObj>
                </mc:Choice>
                <mc:Fallback>
                  <p:oleObj name="公式" r:id="rId3" imgW="609600" imgH="2159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9" y="2016"/>
                          <a:ext cx="855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0390" name="Group 6"/>
          <p:cNvGrpSpPr/>
          <p:nvPr/>
        </p:nvGrpSpPr>
        <p:grpSpPr bwMode="auto">
          <a:xfrm>
            <a:off x="838200" y="2482850"/>
            <a:ext cx="5715000" cy="1254125"/>
            <a:chOff x="432" y="2330"/>
            <a:chExt cx="3600" cy="790"/>
          </a:xfrm>
        </p:grpSpPr>
        <p:graphicFrame>
          <p:nvGraphicFramePr>
            <p:cNvPr id="109608" name="Object 7"/>
            <p:cNvGraphicFramePr>
              <a:graphicFrameLocks noChangeAspect="1"/>
            </p:cNvGraphicFramePr>
            <p:nvPr/>
          </p:nvGraphicFramePr>
          <p:xfrm>
            <a:off x="432" y="2544"/>
            <a:ext cx="1680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99" name="公式" r:id="rId5" imgW="939165" imgH="203200" progId="Equation.3">
                    <p:embed/>
                  </p:oleObj>
                </mc:Choice>
                <mc:Fallback>
                  <p:oleObj name="公式" r:id="rId5" imgW="939165" imgH="203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2544"/>
                          <a:ext cx="1680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9609" name="Group 8"/>
            <p:cNvGrpSpPr/>
            <p:nvPr/>
          </p:nvGrpSpPr>
          <p:grpSpPr bwMode="auto">
            <a:xfrm>
              <a:off x="2319" y="2330"/>
              <a:ext cx="1713" cy="790"/>
              <a:chOff x="1311" y="2976"/>
              <a:chExt cx="1713" cy="790"/>
            </a:xfrm>
          </p:grpSpPr>
          <p:graphicFrame>
            <p:nvGraphicFramePr>
              <p:cNvPr id="109610" name="Object 9"/>
              <p:cNvGraphicFramePr>
                <a:graphicFrameLocks noChangeAspect="1"/>
              </p:cNvGraphicFramePr>
              <p:nvPr/>
            </p:nvGraphicFramePr>
            <p:xfrm>
              <a:off x="1311" y="2976"/>
              <a:ext cx="1233" cy="7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0100" name="公式" r:id="rId7" imgW="736600" imgH="469900" progId="Equation.3">
                      <p:embed/>
                    </p:oleObj>
                  </mc:Choice>
                  <mc:Fallback>
                    <p:oleObj name="公式" r:id="rId7" imgW="736600" imgH="4699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11" y="2976"/>
                            <a:ext cx="1233" cy="7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9611" name="Object 10"/>
              <p:cNvGraphicFramePr>
                <a:graphicFrameLocks noChangeAspect="1"/>
              </p:cNvGraphicFramePr>
              <p:nvPr/>
            </p:nvGraphicFramePr>
            <p:xfrm>
              <a:off x="2592" y="3277"/>
              <a:ext cx="432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0101" name="公式" r:id="rId9" imgW="241300" imgH="127000" progId="Equation.3">
                      <p:embed/>
                    </p:oleObj>
                  </mc:Choice>
                  <mc:Fallback>
                    <p:oleObj name="公式" r:id="rId9" imgW="241300" imgH="12700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92" y="3277"/>
                            <a:ext cx="432" cy="2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400398" name="Object 14"/>
          <p:cNvGraphicFramePr>
            <a:graphicFrameLocks noChangeAspect="1"/>
          </p:cNvGraphicFramePr>
          <p:nvPr/>
        </p:nvGraphicFramePr>
        <p:xfrm>
          <a:off x="1066800" y="44450"/>
          <a:ext cx="487680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02" name="公式" r:id="rId11" imgW="1676400" imgH="469900" progId="Equation.3">
                  <p:embed/>
                </p:oleObj>
              </mc:Choice>
              <mc:Fallback>
                <p:oleObj name="公式" r:id="rId11" imgW="1676400" imgH="4699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4450"/>
                        <a:ext cx="4876800" cy="130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0400" name="Group 16"/>
          <p:cNvGrpSpPr/>
          <p:nvPr/>
        </p:nvGrpSpPr>
        <p:grpSpPr bwMode="auto">
          <a:xfrm>
            <a:off x="6477000" y="908050"/>
            <a:ext cx="2667000" cy="2514600"/>
            <a:chOff x="3984" y="960"/>
            <a:chExt cx="1680" cy="1584"/>
          </a:xfrm>
        </p:grpSpPr>
        <p:sp>
          <p:nvSpPr>
            <p:cNvPr id="109582" name="Line 17"/>
            <p:cNvSpPr>
              <a:spLocks noChangeShapeType="1"/>
            </p:cNvSpPr>
            <p:nvPr/>
          </p:nvSpPr>
          <p:spPr bwMode="auto">
            <a:xfrm>
              <a:off x="3984" y="2112"/>
              <a:ext cx="1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83" name="Line 18"/>
            <p:cNvSpPr>
              <a:spLocks noChangeShapeType="1"/>
            </p:cNvSpPr>
            <p:nvPr/>
          </p:nvSpPr>
          <p:spPr bwMode="auto">
            <a:xfrm flipV="1">
              <a:off x="4320" y="960"/>
              <a:ext cx="0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84" name="Line 19"/>
            <p:cNvSpPr>
              <a:spLocks noChangeShapeType="1"/>
            </p:cNvSpPr>
            <p:nvPr/>
          </p:nvSpPr>
          <p:spPr bwMode="auto">
            <a:xfrm>
              <a:off x="4752" y="960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85" name="Line 20"/>
            <p:cNvSpPr>
              <a:spLocks noChangeShapeType="1"/>
            </p:cNvSpPr>
            <p:nvPr/>
          </p:nvSpPr>
          <p:spPr bwMode="auto">
            <a:xfrm flipV="1">
              <a:off x="4176" y="1248"/>
              <a:ext cx="100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86" name="Line 21"/>
            <p:cNvSpPr>
              <a:spLocks noChangeShapeType="1"/>
            </p:cNvSpPr>
            <p:nvPr/>
          </p:nvSpPr>
          <p:spPr bwMode="auto">
            <a:xfrm flipV="1">
              <a:off x="4128" y="1056"/>
              <a:ext cx="816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9587" name="Object 22"/>
            <p:cNvGraphicFramePr>
              <a:graphicFrameLocks noChangeAspect="1"/>
            </p:cNvGraphicFramePr>
            <p:nvPr/>
          </p:nvGraphicFramePr>
          <p:xfrm>
            <a:off x="5449" y="2160"/>
            <a:ext cx="129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103" name="公式" r:id="rId13" imgW="114300" imgH="127000" progId="Equation.3">
                    <p:embed/>
                  </p:oleObj>
                </mc:Choice>
                <mc:Fallback>
                  <p:oleObj name="公式" r:id="rId13" imgW="114300" imgH="1270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9" y="2160"/>
                          <a:ext cx="129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88" name="Object 23"/>
            <p:cNvGraphicFramePr>
              <a:graphicFrameLocks noChangeAspect="1"/>
            </p:cNvGraphicFramePr>
            <p:nvPr/>
          </p:nvGraphicFramePr>
          <p:xfrm>
            <a:off x="4153" y="960"/>
            <a:ext cx="167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104" name="公式" r:id="rId15" imgW="114300" imgH="114300" progId="Equation.3">
                    <p:embed/>
                  </p:oleObj>
                </mc:Choice>
                <mc:Fallback>
                  <p:oleObj name="公式" r:id="rId15" imgW="114300" imgH="1143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3" y="960"/>
                          <a:ext cx="167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89" name="Object 24"/>
            <p:cNvGraphicFramePr>
              <a:graphicFrameLocks noChangeAspect="1"/>
            </p:cNvGraphicFramePr>
            <p:nvPr/>
          </p:nvGraphicFramePr>
          <p:xfrm>
            <a:off x="5136" y="1200"/>
            <a:ext cx="528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105" name="公式" r:id="rId17" imgW="495300" imgH="152400" progId="Equation.3">
                    <p:embed/>
                  </p:oleObj>
                </mc:Choice>
                <mc:Fallback>
                  <p:oleObj name="公式" r:id="rId17" imgW="495300" imgH="1524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1200"/>
                          <a:ext cx="528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90" name="Object 25"/>
            <p:cNvGraphicFramePr>
              <a:graphicFrameLocks noChangeAspect="1"/>
            </p:cNvGraphicFramePr>
            <p:nvPr/>
          </p:nvGraphicFramePr>
          <p:xfrm>
            <a:off x="4944" y="960"/>
            <a:ext cx="528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106" name="公式" r:id="rId19" imgW="482600" imgH="152400" progId="Equation.3">
                    <p:embed/>
                  </p:oleObj>
                </mc:Choice>
                <mc:Fallback>
                  <p:oleObj name="公式" r:id="rId19" imgW="482600" imgH="1524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960"/>
                          <a:ext cx="528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91" name="Object 26"/>
            <p:cNvGraphicFramePr>
              <a:graphicFrameLocks noChangeAspect="1"/>
            </p:cNvGraphicFramePr>
            <p:nvPr/>
          </p:nvGraphicFramePr>
          <p:xfrm>
            <a:off x="4357" y="2160"/>
            <a:ext cx="107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107" name="公式" r:id="rId21" imgW="114300" imgH="152400" progId="Equation.3">
                    <p:embed/>
                  </p:oleObj>
                </mc:Choice>
                <mc:Fallback>
                  <p:oleObj name="公式" r:id="rId21" imgW="114300" imgH="15240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7" y="2160"/>
                          <a:ext cx="107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92" name="Object 27"/>
            <p:cNvGraphicFramePr>
              <a:graphicFrameLocks noChangeAspect="1"/>
            </p:cNvGraphicFramePr>
            <p:nvPr/>
          </p:nvGraphicFramePr>
          <p:xfrm>
            <a:off x="4793" y="2168"/>
            <a:ext cx="85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108" name="公式" r:id="rId23" imgW="88900" imgH="139700" progId="Equation.3">
                    <p:embed/>
                  </p:oleObj>
                </mc:Choice>
                <mc:Fallback>
                  <p:oleObj name="公式" r:id="rId23" imgW="88900" imgH="1397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3" y="2168"/>
                          <a:ext cx="85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93" name="Object 28"/>
            <p:cNvGraphicFramePr>
              <a:graphicFrameLocks noChangeAspect="1"/>
            </p:cNvGraphicFramePr>
            <p:nvPr/>
          </p:nvGraphicFramePr>
          <p:xfrm>
            <a:off x="4224" y="1584"/>
            <a:ext cx="85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109" name="公式" r:id="rId25" imgW="88900" imgH="139700" progId="Equation.3">
                    <p:embed/>
                  </p:oleObj>
                </mc:Choice>
                <mc:Fallback>
                  <p:oleObj name="公式" r:id="rId25" imgW="88900" imgH="1397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584"/>
                          <a:ext cx="85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594" name="Line 29"/>
            <p:cNvSpPr>
              <a:spLocks noChangeShapeType="1"/>
            </p:cNvSpPr>
            <p:nvPr/>
          </p:nvSpPr>
          <p:spPr bwMode="auto">
            <a:xfrm>
              <a:off x="4320" y="168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95" name="Line 30"/>
            <p:cNvSpPr>
              <a:spLocks noChangeShapeType="1"/>
            </p:cNvSpPr>
            <p:nvPr/>
          </p:nvSpPr>
          <p:spPr bwMode="auto">
            <a:xfrm>
              <a:off x="4320" y="1968"/>
              <a:ext cx="96" cy="0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96" name="Line 31"/>
            <p:cNvSpPr>
              <a:spLocks noChangeShapeType="1"/>
            </p:cNvSpPr>
            <p:nvPr/>
          </p:nvSpPr>
          <p:spPr bwMode="auto">
            <a:xfrm>
              <a:off x="4320" y="1824"/>
              <a:ext cx="288" cy="0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97" name="Line 32"/>
            <p:cNvSpPr>
              <a:spLocks noChangeShapeType="1"/>
            </p:cNvSpPr>
            <p:nvPr/>
          </p:nvSpPr>
          <p:spPr bwMode="auto">
            <a:xfrm>
              <a:off x="4320" y="1728"/>
              <a:ext cx="384" cy="0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98" name="Line 33"/>
            <p:cNvSpPr>
              <a:spLocks noChangeShapeType="1"/>
            </p:cNvSpPr>
            <p:nvPr/>
          </p:nvSpPr>
          <p:spPr bwMode="auto">
            <a:xfrm>
              <a:off x="4320" y="1872"/>
              <a:ext cx="240" cy="0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99" name="Line 34"/>
            <p:cNvSpPr>
              <a:spLocks noChangeShapeType="1"/>
            </p:cNvSpPr>
            <p:nvPr/>
          </p:nvSpPr>
          <p:spPr bwMode="auto">
            <a:xfrm>
              <a:off x="4320" y="1776"/>
              <a:ext cx="336" cy="0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00" name="Line 35"/>
            <p:cNvSpPr>
              <a:spLocks noChangeShapeType="1"/>
            </p:cNvSpPr>
            <p:nvPr/>
          </p:nvSpPr>
          <p:spPr bwMode="auto">
            <a:xfrm>
              <a:off x="4320" y="1920"/>
              <a:ext cx="192" cy="0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01" name="Line 36"/>
            <p:cNvSpPr>
              <a:spLocks noChangeShapeType="1"/>
            </p:cNvSpPr>
            <p:nvPr/>
          </p:nvSpPr>
          <p:spPr bwMode="auto">
            <a:xfrm>
              <a:off x="4320" y="2016"/>
              <a:ext cx="96" cy="0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02" name="Line 37"/>
            <p:cNvSpPr>
              <a:spLocks noChangeShapeType="1"/>
            </p:cNvSpPr>
            <p:nvPr/>
          </p:nvSpPr>
          <p:spPr bwMode="auto">
            <a:xfrm>
              <a:off x="4416" y="1968"/>
              <a:ext cx="48" cy="0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03" name="Line 38"/>
            <p:cNvSpPr>
              <a:spLocks noChangeShapeType="1"/>
            </p:cNvSpPr>
            <p:nvPr/>
          </p:nvSpPr>
          <p:spPr bwMode="auto">
            <a:xfrm>
              <a:off x="4656" y="1344"/>
              <a:ext cx="0" cy="336"/>
            </a:xfrm>
            <a:prstGeom prst="line">
              <a:avLst/>
            </a:prstGeom>
            <a:noFill/>
            <a:ln w="9525">
              <a:solidFill>
                <a:srgbClr val="CC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04" name="Line 39"/>
            <p:cNvSpPr>
              <a:spLocks noChangeShapeType="1"/>
            </p:cNvSpPr>
            <p:nvPr/>
          </p:nvSpPr>
          <p:spPr bwMode="auto">
            <a:xfrm>
              <a:off x="4560" y="1440"/>
              <a:ext cx="0" cy="240"/>
            </a:xfrm>
            <a:prstGeom prst="line">
              <a:avLst/>
            </a:prstGeom>
            <a:noFill/>
            <a:ln w="9525">
              <a:solidFill>
                <a:srgbClr val="CC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05" name="Line 40"/>
            <p:cNvSpPr>
              <a:spLocks noChangeShapeType="1"/>
            </p:cNvSpPr>
            <p:nvPr/>
          </p:nvSpPr>
          <p:spPr bwMode="auto">
            <a:xfrm>
              <a:off x="4464" y="1536"/>
              <a:ext cx="0" cy="144"/>
            </a:xfrm>
            <a:prstGeom prst="line">
              <a:avLst/>
            </a:prstGeom>
            <a:noFill/>
            <a:ln w="9525">
              <a:solidFill>
                <a:srgbClr val="CC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06" name="Line 41"/>
            <p:cNvSpPr>
              <a:spLocks noChangeShapeType="1"/>
            </p:cNvSpPr>
            <p:nvPr/>
          </p:nvSpPr>
          <p:spPr bwMode="auto">
            <a:xfrm flipH="1">
              <a:off x="4080" y="124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9607" name="Object 42"/>
            <p:cNvGraphicFramePr>
              <a:graphicFrameLocks noChangeAspect="1"/>
            </p:cNvGraphicFramePr>
            <p:nvPr/>
          </p:nvGraphicFramePr>
          <p:xfrm>
            <a:off x="4176" y="1248"/>
            <a:ext cx="11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110" name="公式" r:id="rId26" imgW="114300" imgH="139700" progId="Equation.3">
                    <p:embed/>
                  </p:oleObj>
                </mc:Choice>
                <mc:Fallback>
                  <p:oleObj name="公式" r:id="rId26" imgW="114300" imgH="1397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248"/>
                          <a:ext cx="11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0427" name="Group 43"/>
          <p:cNvGrpSpPr/>
          <p:nvPr/>
        </p:nvGrpSpPr>
        <p:grpSpPr bwMode="auto">
          <a:xfrm>
            <a:off x="838200" y="3397250"/>
            <a:ext cx="5527675" cy="1165225"/>
            <a:chOff x="454" y="2866"/>
            <a:chExt cx="3482" cy="734"/>
          </a:xfrm>
        </p:grpSpPr>
        <p:graphicFrame>
          <p:nvGraphicFramePr>
            <p:cNvPr id="109579" name="Object 44"/>
            <p:cNvGraphicFramePr>
              <a:graphicFrameLocks noChangeAspect="1"/>
            </p:cNvGraphicFramePr>
            <p:nvPr/>
          </p:nvGraphicFramePr>
          <p:xfrm>
            <a:off x="2039" y="2866"/>
            <a:ext cx="1201" cy="7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111" name="公式" r:id="rId28" imgW="774065" imgH="469900" progId="Equation.3">
                    <p:embed/>
                  </p:oleObj>
                </mc:Choice>
                <mc:Fallback>
                  <p:oleObj name="公式" r:id="rId28" imgW="774065" imgH="4699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9" y="2866"/>
                          <a:ext cx="1201" cy="7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80" name="Object 45"/>
            <p:cNvGraphicFramePr>
              <a:graphicFrameLocks noChangeAspect="1"/>
            </p:cNvGraphicFramePr>
            <p:nvPr/>
          </p:nvGraphicFramePr>
          <p:xfrm>
            <a:off x="3264" y="3102"/>
            <a:ext cx="672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112" name="公式" r:id="rId30" imgW="443865" imgH="165100" progId="Equation.3">
                    <p:embed/>
                  </p:oleObj>
                </mc:Choice>
                <mc:Fallback>
                  <p:oleObj name="公式" r:id="rId30" imgW="443865" imgH="1651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3102"/>
                          <a:ext cx="672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81" name="Object 46"/>
            <p:cNvGraphicFramePr>
              <a:graphicFrameLocks noChangeAspect="1"/>
            </p:cNvGraphicFramePr>
            <p:nvPr/>
          </p:nvGraphicFramePr>
          <p:xfrm>
            <a:off x="454" y="3058"/>
            <a:ext cx="1562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113" name="公式" r:id="rId32" imgW="939165" imgH="203200" progId="Equation.3">
                    <p:embed/>
                  </p:oleObj>
                </mc:Choice>
                <mc:Fallback>
                  <p:oleObj name="公式" r:id="rId32" imgW="939165" imgH="20320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" y="3058"/>
                          <a:ext cx="1562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0431" name="Object 47"/>
          <p:cNvGraphicFramePr>
            <a:graphicFrameLocks noChangeAspect="1"/>
          </p:cNvGraphicFramePr>
          <p:nvPr/>
        </p:nvGraphicFramePr>
        <p:xfrm>
          <a:off x="914400" y="4552950"/>
          <a:ext cx="335280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14" name="公式" r:id="rId34" imgW="1371600" imgH="393700" progId="Equation.3">
                  <p:embed/>
                </p:oleObj>
              </mc:Choice>
              <mc:Fallback>
                <p:oleObj name="公式" r:id="rId34" imgW="1371600" imgH="39370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552950"/>
                        <a:ext cx="335280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435" name="Object 51"/>
          <p:cNvGraphicFramePr>
            <a:graphicFrameLocks noChangeAspect="1"/>
          </p:cNvGraphicFramePr>
          <p:nvPr/>
        </p:nvGraphicFramePr>
        <p:xfrm>
          <a:off x="1219200" y="1263650"/>
          <a:ext cx="1600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15" name="Equation" r:id="rId36" imgW="545465" imgH="177800" progId="Equation.3">
                  <p:embed/>
                </p:oleObj>
              </mc:Choice>
              <mc:Fallback>
                <p:oleObj name="Equation" r:id="rId36" imgW="545465" imgH="1778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263650"/>
                        <a:ext cx="1600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436" name="Object 52"/>
          <p:cNvGraphicFramePr>
            <a:graphicFrameLocks noChangeAspect="1"/>
          </p:cNvGraphicFramePr>
          <p:nvPr/>
        </p:nvGraphicFramePr>
        <p:xfrm>
          <a:off x="3657600" y="1263650"/>
          <a:ext cx="21955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16" name="Equation" r:id="rId38" imgW="748665" imgH="177800" progId="Equation.3">
                  <p:embed/>
                </p:oleObj>
              </mc:Choice>
              <mc:Fallback>
                <p:oleObj name="Equation" r:id="rId38" imgW="748665" imgH="17780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263650"/>
                        <a:ext cx="21955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437" name="Object 53"/>
          <p:cNvGraphicFramePr>
            <a:graphicFrameLocks noChangeAspect="1"/>
          </p:cNvGraphicFramePr>
          <p:nvPr/>
        </p:nvGraphicFramePr>
        <p:xfrm>
          <a:off x="4343400" y="4159250"/>
          <a:ext cx="39624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17" name="Equation" r:id="rId40" imgW="1485900" imgH="1143000" progId="Equation.DSMT4">
                  <p:embed/>
                </p:oleObj>
              </mc:Choice>
              <mc:Fallback>
                <p:oleObj name="Equation" r:id="rId40" imgW="1485900" imgH="114300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159250"/>
                        <a:ext cx="39624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0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0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00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0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0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0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0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0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0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0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00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0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00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ChangeArrowheads="1"/>
          </p:cNvSpPr>
          <p:nvPr/>
        </p:nvSpPr>
        <p:spPr bwMode="auto">
          <a:xfrm>
            <a:off x="323850" y="307975"/>
            <a:ext cx="82804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CCFFFF"/>
                </a:solidFill>
              </a:rPr>
              <a:t>         </a:t>
            </a:r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6</a:t>
            </a:r>
            <a:r>
              <a:rPr lang="en-US" altLang="zh-CN" sz="2800" b="1">
                <a:solidFill>
                  <a:srgbClr val="CCFFFF"/>
                </a:solidFill>
              </a:rPr>
              <a:t>   </a:t>
            </a:r>
            <a:r>
              <a:rPr lang="zh-CN" altLang="en-US" sz="2800" b="1">
                <a:solidFill>
                  <a:schemeClr val="tx2"/>
                </a:solidFill>
              </a:rPr>
              <a:t>若</a:t>
            </a:r>
            <a:r>
              <a:rPr lang="en-US" altLang="zh-CN" sz="2800" b="1" i="1">
                <a:solidFill>
                  <a:schemeClr val="tx2"/>
                </a:solidFill>
              </a:rPr>
              <a:t>X</a:t>
            </a:r>
            <a:r>
              <a:rPr lang="zh-CN" altLang="en-US" sz="2800" b="1">
                <a:solidFill>
                  <a:schemeClr val="tx2"/>
                </a:solidFill>
              </a:rPr>
              <a:t>和</a:t>
            </a:r>
            <a:r>
              <a:rPr lang="en-US" altLang="zh-CN" sz="2800" b="1" i="1">
                <a:solidFill>
                  <a:schemeClr val="tx2"/>
                </a:solidFill>
              </a:rPr>
              <a:t>Y </a:t>
            </a:r>
            <a:r>
              <a:rPr lang="zh-CN" altLang="en-US" sz="2800" b="1">
                <a:solidFill>
                  <a:schemeClr val="tx2"/>
                </a:solidFill>
              </a:rPr>
              <a:t>是两个相互</a:t>
            </a:r>
            <a:r>
              <a:rPr lang="zh-CN" altLang="zh-CN" sz="2800" b="1">
                <a:solidFill>
                  <a:schemeClr val="tx2"/>
                </a:solidFill>
              </a:rPr>
              <a:t>独立</a:t>
            </a:r>
            <a:r>
              <a:rPr lang="zh-CN" altLang="en-US" sz="2800" b="1">
                <a:solidFill>
                  <a:schemeClr val="tx2"/>
                </a:solidFill>
              </a:rPr>
              <a:t>的随机变量 </a:t>
            </a:r>
            <a:r>
              <a:rPr lang="zh-CN" altLang="zh-CN" sz="2800" b="1">
                <a:solidFill>
                  <a:schemeClr val="tx2"/>
                </a:solidFill>
              </a:rPr>
              <a:t>,</a:t>
            </a:r>
            <a:r>
              <a:rPr lang="en-US" altLang="zh-CN" sz="2800" b="1">
                <a:solidFill>
                  <a:schemeClr val="tx2"/>
                </a:solidFill>
              </a:rPr>
              <a:t> </a:t>
            </a:r>
            <a:r>
              <a:rPr lang="zh-CN" altLang="zh-CN" sz="2800" b="1">
                <a:solidFill>
                  <a:schemeClr val="tx2"/>
                </a:solidFill>
              </a:rPr>
              <a:t>具有相同的分布</a:t>
            </a:r>
            <a:r>
              <a:rPr lang="zh-CN" altLang="en-US" sz="2800" b="1">
                <a:solidFill>
                  <a:schemeClr val="tx2"/>
                </a:solidFill>
              </a:rPr>
              <a:t> </a:t>
            </a:r>
            <a:r>
              <a:rPr lang="en-US" altLang="zh-CN" sz="2800" b="1" i="1">
                <a:solidFill>
                  <a:schemeClr val="tx2"/>
                </a:solidFill>
              </a:rPr>
              <a:t>N</a:t>
            </a:r>
            <a:r>
              <a:rPr lang="en-US" altLang="zh-CN" sz="2800" b="1">
                <a:solidFill>
                  <a:schemeClr val="tx2"/>
                </a:solidFill>
              </a:rPr>
              <a:t>(0,1) , </a:t>
            </a:r>
            <a:r>
              <a:rPr lang="zh-CN" altLang="en-US" sz="2800" b="1">
                <a:solidFill>
                  <a:schemeClr val="tx2"/>
                </a:solidFill>
              </a:rPr>
              <a:t>求 </a:t>
            </a:r>
            <a:r>
              <a:rPr lang="en-US" altLang="zh-CN" sz="2800" b="1" i="1">
                <a:solidFill>
                  <a:schemeClr val="tx2"/>
                </a:solidFill>
              </a:rPr>
              <a:t>Z=X+Y </a:t>
            </a:r>
            <a:r>
              <a:rPr lang="zh-CN" altLang="en-US" sz="2800" b="1">
                <a:solidFill>
                  <a:schemeClr val="tx2"/>
                </a:solidFill>
              </a:rPr>
              <a:t>的概率密度</a:t>
            </a:r>
            <a:r>
              <a:rPr lang="en-US" altLang="zh-CN" sz="2800" b="1">
                <a:solidFill>
                  <a:schemeClr val="tx2"/>
                </a:solidFill>
              </a:rPr>
              <a:t>.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graphicFrame>
        <p:nvGraphicFramePr>
          <p:cNvPr id="382979" name="Object 3"/>
          <p:cNvGraphicFramePr>
            <a:graphicFrameLocks noChangeAspect="1"/>
          </p:cNvGraphicFramePr>
          <p:nvPr/>
        </p:nvGraphicFramePr>
        <p:xfrm>
          <a:off x="1157288" y="1412875"/>
          <a:ext cx="4999037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2" name="公式" r:id="rId1" imgW="1762125" imgH="259715" progId="Equation.3">
                  <p:embed/>
                </p:oleObj>
              </mc:Choice>
              <mc:Fallback>
                <p:oleObj name="公式" r:id="rId1" imgW="1762125" imgH="2597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288" y="1412875"/>
                        <a:ext cx="4999037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2980" name="Text Box 4"/>
          <p:cNvSpPr txBox="1">
            <a:spLocks noChangeArrowheads="1"/>
          </p:cNvSpPr>
          <p:nvPr/>
        </p:nvSpPr>
        <p:spPr bwMode="auto">
          <a:xfrm>
            <a:off x="323850" y="1557338"/>
            <a:ext cx="28146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解  </a:t>
            </a:r>
            <a:endParaRPr lang="zh-CN" altLang="en-US" sz="2800"/>
          </a:p>
        </p:txBody>
      </p:sp>
      <p:graphicFrame>
        <p:nvGraphicFramePr>
          <p:cNvPr id="382981" name="Object 5"/>
          <p:cNvGraphicFramePr>
            <a:graphicFrameLocks noChangeAspect="1"/>
          </p:cNvGraphicFramePr>
          <p:nvPr/>
        </p:nvGraphicFramePr>
        <p:xfrm>
          <a:off x="2252663" y="2363788"/>
          <a:ext cx="3403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3" name="Equation" r:id="rId3" imgW="3324225" imgH="923925" progId="Equation.DSMT4">
                  <p:embed/>
                </p:oleObj>
              </mc:Choice>
              <mc:Fallback>
                <p:oleObj name="Equation" r:id="rId3" imgW="3324225" imgH="92392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663" y="2363788"/>
                        <a:ext cx="34036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2" name="Object 6"/>
          <p:cNvGraphicFramePr>
            <a:graphicFrameLocks noChangeAspect="1"/>
          </p:cNvGraphicFramePr>
          <p:nvPr/>
        </p:nvGraphicFramePr>
        <p:xfrm>
          <a:off x="2327275" y="4510088"/>
          <a:ext cx="3200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4" name="Equation" r:id="rId5" imgW="3124200" imgH="875665" progId="Equation.DSMT4">
                  <p:embed/>
                </p:oleObj>
              </mc:Choice>
              <mc:Fallback>
                <p:oleObj name="Equation" r:id="rId5" imgW="3124200" imgH="87566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275" y="4510088"/>
                        <a:ext cx="3200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3" name="Object 7"/>
          <p:cNvGraphicFramePr>
            <a:graphicFrameLocks noChangeAspect="1"/>
          </p:cNvGraphicFramePr>
          <p:nvPr/>
        </p:nvGraphicFramePr>
        <p:xfrm>
          <a:off x="2168525" y="3429000"/>
          <a:ext cx="3454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95" name="Equation" r:id="rId7" imgW="3381375" imgH="875665" progId="Equation.DSMT4">
                  <p:embed/>
                </p:oleObj>
              </mc:Choice>
              <mc:Fallback>
                <p:oleObj name="Equation" r:id="rId7" imgW="3381375" imgH="87566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5" y="3429000"/>
                        <a:ext cx="3454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2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82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2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2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80" grpId="0" bldLvl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618" name="Object 2"/>
          <p:cNvGraphicFramePr>
            <a:graphicFrameLocks noChangeAspect="1"/>
          </p:cNvGraphicFramePr>
          <p:nvPr/>
        </p:nvGraphicFramePr>
        <p:xfrm>
          <a:off x="2801938" y="300038"/>
          <a:ext cx="3200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66" name="Equation" r:id="rId1" imgW="3124200" imgH="875665" progId="Equation.DSMT4">
                  <p:embed/>
                </p:oleObj>
              </mc:Choice>
              <mc:Fallback>
                <p:oleObj name="Equation" r:id="rId1" imgW="3124200" imgH="87566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300038"/>
                        <a:ext cx="3200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4003" name="Group 3"/>
          <p:cNvGrpSpPr/>
          <p:nvPr/>
        </p:nvGrpSpPr>
        <p:grpSpPr bwMode="auto">
          <a:xfrm>
            <a:off x="1344613" y="1455738"/>
            <a:ext cx="2082800" cy="838200"/>
            <a:chOff x="612" y="1253"/>
            <a:chExt cx="1312" cy="528"/>
          </a:xfrm>
        </p:grpSpPr>
        <p:sp>
          <p:nvSpPr>
            <p:cNvPr id="111626" name="Text Box 4"/>
            <p:cNvSpPr txBox="1">
              <a:spLocks noChangeArrowheads="1"/>
            </p:cNvSpPr>
            <p:nvPr/>
          </p:nvSpPr>
          <p:spPr bwMode="auto">
            <a:xfrm>
              <a:off x="612" y="1344"/>
              <a:ext cx="3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/>
                <a:t>令</a:t>
              </a:r>
              <a:endParaRPr lang="zh-CN" altLang="en-US" sz="2800" b="1"/>
            </a:p>
          </p:txBody>
        </p:sp>
        <p:graphicFrame>
          <p:nvGraphicFramePr>
            <p:cNvPr id="111627" name="Object 5"/>
            <p:cNvGraphicFramePr>
              <a:graphicFrameLocks noChangeAspect="1"/>
            </p:cNvGraphicFramePr>
            <p:nvPr/>
          </p:nvGraphicFramePr>
          <p:xfrm>
            <a:off x="1020" y="1253"/>
            <a:ext cx="90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767" name="Equation" r:id="rId3" imgW="1362075" imgH="770255" progId="Equation.DSMT4">
                    <p:embed/>
                  </p:oleObj>
                </mc:Choice>
                <mc:Fallback>
                  <p:oleObj name="Equation" r:id="rId3" imgW="1362075" imgH="770255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1253"/>
                          <a:ext cx="904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4006" name="Text Box 6"/>
          <p:cNvSpPr txBox="1">
            <a:spLocks noChangeArrowheads="1"/>
          </p:cNvSpPr>
          <p:nvPr/>
        </p:nvSpPr>
        <p:spPr bwMode="auto">
          <a:xfrm>
            <a:off x="3505200" y="1600200"/>
            <a:ext cx="576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得</a:t>
            </a:r>
            <a:endParaRPr lang="zh-CN" altLang="en-US" sz="2800" b="1"/>
          </a:p>
        </p:txBody>
      </p:sp>
      <p:graphicFrame>
        <p:nvGraphicFramePr>
          <p:cNvPr id="384007" name="Object 7"/>
          <p:cNvGraphicFramePr>
            <a:graphicFrameLocks noChangeAspect="1"/>
          </p:cNvGraphicFramePr>
          <p:nvPr/>
        </p:nvGraphicFramePr>
        <p:xfrm>
          <a:off x="1992313" y="2820988"/>
          <a:ext cx="1219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68" name="Equation" r:id="rId5" imgW="1143000" imgH="423545" progId="Equation.DSMT4">
                  <p:embed/>
                </p:oleObj>
              </mc:Choice>
              <mc:Fallback>
                <p:oleObj name="Equation" r:id="rId5" imgW="1143000" imgH="42354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2820988"/>
                        <a:ext cx="1219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08" name="Object 8"/>
          <p:cNvGraphicFramePr>
            <a:graphicFrameLocks noChangeAspect="1"/>
          </p:cNvGraphicFramePr>
          <p:nvPr/>
        </p:nvGraphicFramePr>
        <p:xfrm>
          <a:off x="3203575" y="2565400"/>
          <a:ext cx="2362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69" name="Equation" r:id="rId7" imgW="2286000" imgH="875665" progId="Equation.DSMT4">
                  <p:embed/>
                </p:oleObj>
              </mc:Choice>
              <mc:Fallback>
                <p:oleObj name="Equation" r:id="rId7" imgW="2286000" imgH="87566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2565400"/>
                        <a:ext cx="23622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09" name="Object 9"/>
          <p:cNvGraphicFramePr>
            <a:graphicFrameLocks noChangeAspect="1"/>
          </p:cNvGraphicFramePr>
          <p:nvPr/>
        </p:nvGraphicFramePr>
        <p:xfrm>
          <a:off x="5635625" y="2532063"/>
          <a:ext cx="2044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70" name="Equation" r:id="rId9" imgW="1971675" imgH="875665" progId="Equation.DSMT4">
                  <p:embed/>
                </p:oleObj>
              </mc:Choice>
              <mc:Fallback>
                <p:oleObj name="Equation" r:id="rId9" imgW="1971675" imgH="87566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25" y="2532063"/>
                        <a:ext cx="2044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10" name="Object 10"/>
          <p:cNvGraphicFramePr>
            <a:graphicFrameLocks noChangeAspect="1"/>
          </p:cNvGraphicFramePr>
          <p:nvPr/>
        </p:nvGraphicFramePr>
        <p:xfrm>
          <a:off x="3052763" y="3548063"/>
          <a:ext cx="27559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71" name="Equation" r:id="rId11" imgW="2676525" imgH="1155065" progId="Equation.DSMT4">
                  <p:embed/>
                </p:oleObj>
              </mc:Choice>
              <mc:Fallback>
                <p:oleObj name="Equation" r:id="rId11" imgW="2676525" imgH="115506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763" y="3548063"/>
                        <a:ext cx="27559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4011" name="Rectangle 11"/>
          <p:cNvSpPr>
            <a:spLocks noChangeArrowheads="1"/>
          </p:cNvSpPr>
          <p:nvPr/>
        </p:nvSpPr>
        <p:spPr bwMode="auto">
          <a:xfrm>
            <a:off x="673100" y="5113338"/>
            <a:ext cx="54149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>
                <a:solidFill>
                  <a:schemeClr val="tx2"/>
                </a:solidFill>
              </a:rPr>
              <a:t>可见 </a:t>
            </a:r>
            <a:r>
              <a:rPr lang="en-US" altLang="zh-CN" sz="2800" b="1" i="1">
                <a:solidFill>
                  <a:schemeClr val="tx2"/>
                </a:solidFill>
              </a:rPr>
              <a:t>Z=X+Y </a:t>
            </a:r>
            <a:r>
              <a:rPr lang="zh-CN" altLang="en-US" sz="2800" b="1">
                <a:solidFill>
                  <a:schemeClr val="tx2"/>
                </a:solidFill>
              </a:rPr>
              <a:t>服从正态分布 </a:t>
            </a:r>
            <a:r>
              <a:rPr lang="en-US" altLang="zh-CN" sz="2800" b="1" i="1">
                <a:solidFill>
                  <a:schemeClr val="tx2"/>
                </a:solidFill>
              </a:rPr>
              <a:t>N</a:t>
            </a:r>
            <a:r>
              <a:rPr lang="en-US" altLang="zh-CN" sz="2800" b="1">
                <a:solidFill>
                  <a:schemeClr val="tx2"/>
                </a:solidFill>
              </a:rPr>
              <a:t>(0,2).</a:t>
            </a:r>
            <a:endParaRPr lang="en-US" altLang="zh-CN" sz="2800" b="1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4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4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4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4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4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4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6" grpId="0" bldLvl="0" animBg="1" autoUpdateAnimBg="0"/>
      <p:bldP spid="384011" grpId="0" bldLvl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ChangeArrowheads="1"/>
          </p:cNvSpPr>
          <p:nvPr/>
        </p:nvSpPr>
        <p:spPr bwMode="auto">
          <a:xfrm>
            <a:off x="1116013" y="4068763"/>
            <a:ext cx="4032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用类似的方法可以证明</a:t>
            </a:r>
            <a:r>
              <a:rPr lang="en-US" altLang="zh-CN" sz="2800" b="1"/>
              <a:t>:  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graphicFrame>
        <p:nvGraphicFramePr>
          <p:cNvPr id="385027" name="Object 3"/>
          <p:cNvGraphicFramePr>
            <a:graphicFrameLocks noChangeAspect="1"/>
          </p:cNvGraphicFramePr>
          <p:nvPr/>
        </p:nvGraphicFramePr>
        <p:xfrm>
          <a:off x="938213" y="4754563"/>
          <a:ext cx="543401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8" name="公式" r:id="rId1" imgW="1990725" imgH="154305" progId="Equation.3">
                  <p:embed/>
                </p:oleObj>
              </mc:Choice>
              <mc:Fallback>
                <p:oleObj name="公式" r:id="rId1" imgW="1990725" imgH="15430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213" y="4754563"/>
                        <a:ext cx="5434012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28" name="Text Box 4"/>
          <p:cNvSpPr txBox="1">
            <a:spLocks noChangeArrowheads="1"/>
          </p:cNvSpPr>
          <p:nvPr/>
        </p:nvSpPr>
        <p:spPr bwMode="auto">
          <a:xfrm>
            <a:off x="754063" y="2849563"/>
            <a:ext cx="342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     </a:t>
            </a:r>
            <a:r>
              <a:rPr lang="zh-CN" altLang="en-US" sz="2800" b="1"/>
              <a:t>若</a:t>
            </a:r>
            <a:r>
              <a:rPr lang="en-US" altLang="zh-CN" sz="2800" b="1" i="1"/>
              <a:t>X</a:t>
            </a:r>
            <a:r>
              <a:rPr lang="zh-CN" altLang="en-US" sz="2800" b="1"/>
              <a:t>和</a:t>
            </a:r>
            <a:r>
              <a:rPr lang="en-US" altLang="zh-CN" sz="2800" b="1" i="1"/>
              <a:t>Y </a:t>
            </a:r>
            <a:r>
              <a:rPr lang="zh-CN" altLang="zh-CN" sz="2800" b="1"/>
              <a:t>独立,</a:t>
            </a:r>
            <a:endParaRPr lang="en-US" altLang="zh-CN" sz="2800" b="1"/>
          </a:p>
        </p:txBody>
      </p:sp>
      <p:graphicFrame>
        <p:nvGraphicFramePr>
          <p:cNvPr id="385029" name="Object 5"/>
          <p:cNvGraphicFramePr>
            <a:graphicFrameLocks noChangeAspect="1"/>
          </p:cNvGraphicFramePr>
          <p:nvPr/>
        </p:nvGraphicFramePr>
        <p:xfrm>
          <a:off x="3563938" y="2882900"/>
          <a:ext cx="4897437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9" name="公式" r:id="rId3" imgW="1838325" imgH="154305" progId="Equation.3">
                  <p:embed/>
                </p:oleObj>
              </mc:Choice>
              <mc:Fallback>
                <p:oleObj name="公式" r:id="rId3" imgW="1838325" imgH="15430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882900"/>
                        <a:ext cx="4897437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30" name="Text Box 6"/>
          <p:cNvSpPr txBox="1">
            <a:spLocks noChangeArrowheads="1"/>
          </p:cNvSpPr>
          <p:nvPr/>
        </p:nvSpPr>
        <p:spPr bwMode="auto">
          <a:xfrm>
            <a:off x="323850" y="3382963"/>
            <a:ext cx="342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 </a:t>
            </a:r>
            <a:r>
              <a:rPr lang="zh-CN" altLang="en-US" sz="2800" b="1"/>
              <a:t>结论又如何呢</a:t>
            </a:r>
            <a:r>
              <a:rPr lang="en-US" altLang="zh-CN" sz="2800" b="1"/>
              <a:t>?    </a:t>
            </a:r>
            <a:endParaRPr lang="en-US" altLang="zh-CN" sz="2800" b="1"/>
          </a:p>
        </p:txBody>
      </p:sp>
      <p:sp>
        <p:nvSpPr>
          <p:cNvPr id="385032" name="Rectangle 8"/>
          <p:cNvSpPr>
            <a:spLocks noChangeArrowheads="1"/>
          </p:cNvSpPr>
          <p:nvPr/>
        </p:nvSpPr>
        <p:spPr bwMode="auto">
          <a:xfrm>
            <a:off x="468313" y="1331913"/>
            <a:ext cx="82804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00FF00"/>
                </a:solidFill>
              </a:rPr>
              <a:t>       </a:t>
            </a:r>
            <a:r>
              <a:rPr lang="zh-CN" altLang="en-US" sz="2800" b="1">
                <a:solidFill>
                  <a:schemeClr val="accent2"/>
                </a:solidFill>
              </a:rPr>
              <a:t>若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zh-CN" altLang="en-US" sz="2800" b="1">
                <a:solidFill>
                  <a:schemeClr val="accent2"/>
                </a:solidFill>
              </a:rPr>
              <a:t>和</a:t>
            </a:r>
            <a:r>
              <a:rPr lang="en-US" altLang="zh-CN" sz="2800" b="1" i="1">
                <a:solidFill>
                  <a:schemeClr val="accent2"/>
                </a:solidFill>
              </a:rPr>
              <a:t>Y </a:t>
            </a:r>
            <a:r>
              <a:rPr lang="zh-CN" altLang="zh-CN" sz="2800" b="1">
                <a:solidFill>
                  <a:schemeClr val="accent2"/>
                </a:solidFill>
              </a:rPr>
              <a:t>独立</a:t>
            </a:r>
            <a:r>
              <a:rPr lang="zh-CN" altLang="en-US" sz="2800" b="1">
                <a:solidFill>
                  <a:schemeClr val="accent2"/>
                </a:solidFill>
              </a:rPr>
              <a:t> </a:t>
            </a:r>
            <a:r>
              <a:rPr lang="zh-CN" altLang="zh-CN" sz="2800" b="1">
                <a:solidFill>
                  <a:schemeClr val="accent2"/>
                </a:solidFill>
              </a:rPr>
              <a:t>,</a:t>
            </a:r>
            <a:r>
              <a:rPr lang="en-US" altLang="zh-CN" sz="2800" b="1">
                <a:solidFill>
                  <a:schemeClr val="accent2"/>
                </a:solidFill>
              </a:rPr>
              <a:t> </a:t>
            </a:r>
            <a:r>
              <a:rPr lang="zh-CN" altLang="zh-CN" sz="2800" b="1">
                <a:solidFill>
                  <a:schemeClr val="accent2"/>
                </a:solidFill>
              </a:rPr>
              <a:t>具有相同的分布</a:t>
            </a:r>
            <a:r>
              <a:rPr lang="zh-CN" altLang="en-US" sz="2800" b="1">
                <a:solidFill>
                  <a:schemeClr val="accent2"/>
                </a:solidFill>
              </a:rPr>
              <a:t> </a:t>
            </a:r>
            <a:r>
              <a:rPr lang="en-US" altLang="zh-CN" sz="2800" b="1" i="1">
                <a:solidFill>
                  <a:schemeClr val="accent2"/>
                </a:solidFill>
              </a:rPr>
              <a:t>N</a:t>
            </a:r>
            <a:r>
              <a:rPr lang="en-US" altLang="zh-CN" sz="2800" b="1">
                <a:solidFill>
                  <a:schemeClr val="accent2"/>
                </a:solidFill>
              </a:rPr>
              <a:t>(0,1) , </a:t>
            </a:r>
            <a:r>
              <a:rPr lang="zh-CN" altLang="en-US" sz="2800" b="1">
                <a:solidFill>
                  <a:schemeClr val="accent2"/>
                </a:solidFill>
              </a:rPr>
              <a:t>则</a:t>
            </a:r>
            <a:r>
              <a:rPr lang="en-US" altLang="zh-CN" sz="2800" b="1" i="1">
                <a:solidFill>
                  <a:schemeClr val="accent2"/>
                </a:solidFill>
              </a:rPr>
              <a:t>Z=X+Y </a:t>
            </a:r>
            <a:r>
              <a:rPr lang="zh-CN" altLang="en-US" sz="2800" b="1">
                <a:solidFill>
                  <a:schemeClr val="accent2"/>
                </a:solidFill>
              </a:rPr>
              <a:t>服从正态分布 </a:t>
            </a:r>
            <a:r>
              <a:rPr lang="en-US" altLang="zh-CN" sz="2800" b="1" i="1">
                <a:solidFill>
                  <a:schemeClr val="accent2"/>
                </a:solidFill>
              </a:rPr>
              <a:t>N</a:t>
            </a:r>
            <a:r>
              <a:rPr lang="en-US" altLang="zh-CN" sz="2800" b="1">
                <a:solidFill>
                  <a:schemeClr val="accent2"/>
                </a:solidFill>
              </a:rPr>
              <a:t>(0,2).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graphicFrame>
        <p:nvGraphicFramePr>
          <p:cNvPr id="112648" name="Object 9"/>
          <p:cNvGraphicFramePr>
            <a:graphicFrameLocks noChangeAspect="1"/>
          </p:cNvGraphicFramePr>
          <p:nvPr/>
        </p:nvGraphicFramePr>
        <p:xfrm>
          <a:off x="803275" y="938213"/>
          <a:ext cx="3079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0" name="Equation" r:id="rId5" imgW="161925" imgH="317500" progId="Equation.DSMT4">
                  <p:embed/>
                </p:oleObj>
              </mc:Choice>
              <mc:Fallback>
                <p:oleObj name="Equation" r:id="rId5" imgW="161925" imgH="317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938213"/>
                        <a:ext cx="30797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5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5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5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5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5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5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5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26" grpId="0" bldLvl="0" animBg="1" autoUpdateAnimBg="0"/>
      <p:bldP spid="385028" grpId="0" bldLvl="0" animBg="1" autoUpdateAnimBg="0"/>
      <p:bldP spid="385030" grpId="0" bldLvl="0" animBg="1" autoUpdateAnimBg="0"/>
      <p:bldP spid="385032" grpId="0" bldLvl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Text Box 2"/>
          <p:cNvSpPr txBox="1">
            <a:spLocks noChangeArrowheads="1"/>
          </p:cNvSpPr>
          <p:nvPr/>
        </p:nvSpPr>
        <p:spPr bwMode="auto">
          <a:xfrm>
            <a:off x="-147638" y="1069975"/>
            <a:ext cx="89042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zh-CN" sz="2800" b="1">
                <a:solidFill>
                  <a:schemeClr val="tx2"/>
                </a:solidFill>
              </a:rPr>
              <a:t>       </a:t>
            </a:r>
            <a:r>
              <a:rPr lang="zh-CN" altLang="zh-CN" sz="2800" b="1">
                <a:solidFill>
                  <a:schemeClr val="accent2"/>
                </a:solidFill>
              </a:rPr>
              <a:t>有限个独立正态变量的线性组合仍然服从正态分布</a:t>
            </a:r>
            <a:r>
              <a:rPr lang="zh-CN" altLang="zh-CN" sz="2800" b="1">
                <a:solidFill>
                  <a:schemeClr val="tx2"/>
                </a:solidFill>
              </a:rPr>
              <a:t>.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sp>
        <p:nvSpPr>
          <p:cNvPr id="386051" name="Rectangle 3"/>
          <p:cNvSpPr>
            <a:spLocks noChangeArrowheads="1"/>
          </p:cNvSpPr>
          <p:nvPr/>
        </p:nvSpPr>
        <p:spPr bwMode="auto">
          <a:xfrm>
            <a:off x="304800" y="395288"/>
            <a:ext cx="34274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更一般地</a:t>
            </a:r>
            <a:r>
              <a:rPr lang="en-US" altLang="zh-CN" sz="2800" b="1"/>
              <a:t>,  </a:t>
            </a:r>
            <a:r>
              <a:rPr lang="zh-CN" altLang="zh-CN" sz="2800" b="1"/>
              <a:t>可以证明:</a:t>
            </a:r>
            <a:endParaRPr lang="zh-CN" altLang="zh-CN" sz="2800" b="1"/>
          </a:p>
        </p:txBody>
      </p:sp>
      <p:graphicFrame>
        <p:nvGraphicFramePr>
          <p:cNvPr id="386052" name="Object 4"/>
          <p:cNvGraphicFramePr>
            <a:graphicFrameLocks noChangeAspect="1"/>
          </p:cNvGraphicFramePr>
          <p:nvPr/>
        </p:nvGraphicFramePr>
        <p:xfrm>
          <a:off x="1905000" y="2757488"/>
          <a:ext cx="27432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88" name="公式" r:id="rId1" imgW="1054100" imgH="241300" progId="Equation.3">
                  <p:embed/>
                </p:oleObj>
              </mc:Choice>
              <mc:Fallback>
                <p:oleObj name="公式" r:id="rId1" imgW="10541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757488"/>
                        <a:ext cx="274320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3" name="Object 5"/>
          <p:cNvGraphicFramePr>
            <a:graphicFrameLocks noChangeAspect="1"/>
          </p:cNvGraphicFramePr>
          <p:nvPr/>
        </p:nvGraphicFramePr>
        <p:xfrm>
          <a:off x="1066800" y="1995488"/>
          <a:ext cx="67976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89" name="公式" r:id="rId3" imgW="2857500" imgH="228600" progId="Equation.3">
                  <p:embed/>
                </p:oleObj>
              </mc:Choice>
              <mc:Fallback>
                <p:oleObj name="公式" r:id="rId3" imgW="28575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995488"/>
                        <a:ext cx="679767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6" name="Object 8"/>
          <p:cNvGraphicFramePr>
            <a:graphicFrameLocks noChangeAspect="1"/>
          </p:cNvGraphicFramePr>
          <p:nvPr/>
        </p:nvGraphicFramePr>
        <p:xfrm>
          <a:off x="1066800" y="3671888"/>
          <a:ext cx="55626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90" name="公式" r:id="rId5" imgW="2197100" imgH="228600" progId="Equation.3">
                  <p:embed/>
                </p:oleObj>
              </mc:Choice>
              <mc:Fallback>
                <p:oleObj name="公式" r:id="rId5" imgW="21971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671888"/>
                        <a:ext cx="55626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7" name="Object 9"/>
          <p:cNvGraphicFramePr>
            <a:graphicFrameLocks noChangeAspect="1"/>
          </p:cNvGraphicFramePr>
          <p:nvPr/>
        </p:nvGraphicFramePr>
        <p:xfrm>
          <a:off x="6629400" y="3367088"/>
          <a:ext cx="2286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91" name="Equation" r:id="rId7" imgW="914400" imgH="431800" progId="Equation.3">
                  <p:embed/>
                </p:oleObj>
              </mc:Choice>
              <mc:Fallback>
                <p:oleObj name="Equation" r:id="rId7" imgW="9144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367088"/>
                        <a:ext cx="22860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8" name="Object 10"/>
          <p:cNvGraphicFramePr>
            <a:graphicFrameLocks noChangeAspect="1"/>
          </p:cNvGraphicFramePr>
          <p:nvPr/>
        </p:nvGraphicFramePr>
        <p:xfrm>
          <a:off x="1447800" y="4510088"/>
          <a:ext cx="57150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92" name="Equation" r:id="rId9" imgW="1955800" imgH="457200" progId="Equation.3">
                  <p:embed/>
                </p:oleObj>
              </mc:Choice>
              <mc:Fallback>
                <p:oleObj name="Equation" r:id="rId9" imgW="195580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510088"/>
                        <a:ext cx="57150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8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8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6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6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6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86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0" grpId="0" bldLvl="0" animBg="1" autoUpdateAnimBg="0"/>
      <p:bldP spid="386051" grpId="0" bldLvl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900113" y="260350"/>
            <a:ext cx="19812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66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u="sng">
                <a:solidFill>
                  <a:srgbClr val="FF0066"/>
                </a:solidFill>
              </a:rPr>
              <a:t>补充结论</a:t>
            </a:r>
            <a:r>
              <a:rPr lang="zh-CN" altLang="en-US" sz="2800" b="1">
                <a:solidFill>
                  <a:srgbClr val="FF0066"/>
                </a:solidFill>
              </a:rPr>
              <a:t>：</a:t>
            </a:r>
            <a:endParaRPr lang="zh-CN" altLang="en-US" sz="2800" b="1">
              <a:solidFill>
                <a:srgbClr val="FF0066"/>
              </a:solidFill>
            </a:endParaRPr>
          </a:p>
        </p:txBody>
      </p:sp>
      <p:graphicFrame>
        <p:nvGraphicFramePr>
          <p:cNvPr id="580611" name="Object 3"/>
          <p:cNvGraphicFramePr>
            <a:graphicFrameLocks noChangeAspect="1"/>
          </p:cNvGraphicFramePr>
          <p:nvPr/>
        </p:nvGraphicFramePr>
        <p:xfrm>
          <a:off x="900113" y="2276475"/>
          <a:ext cx="3744912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53" name="公式" r:id="rId1" imgW="1104900" imgH="203200" progId="Equation.3">
                  <p:embed/>
                </p:oleObj>
              </mc:Choice>
              <mc:Fallback>
                <p:oleObj name="公式" r:id="rId1" imgW="1104900" imgH="203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276475"/>
                        <a:ext cx="3744912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0612" name="Object 4"/>
          <p:cNvGraphicFramePr>
            <a:graphicFrameLocks noChangeAspect="1"/>
          </p:cNvGraphicFramePr>
          <p:nvPr/>
        </p:nvGraphicFramePr>
        <p:xfrm>
          <a:off x="539750" y="2708275"/>
          <a:ext cx="8353425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54" name="Equation" r:id="rId3" imgW="2562225" imgH="384810" progId="Equation.DSMT4">
                  <p:embed/>
                </p:oleObj>
              </mc:Choice>
              <mc:Fallback>
                <p:oleObj name="Equation" r:id="rId3" imgW="2562225" imgH="38481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708275"/>
                        <a:ext cx="8353425" cy="144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4933" name="Group 5"/>
          <p:cNvGrpSpPr/>
          <p:nvPr/>
        </p:nvGrpSpPr>
        <p:grpSpPr bwMode="auto">
          <a:xfrm>
            <a:off x="0" y="981075"/>
            <a:ext cx="8801100" cy="1152525"/>
            <a:chOff x="192" y="960"/>
            <a:chExt cx="5419" cy="689"/>
          </a:xfrm>
        </p:grpSpPr>
        <p:graphicFrame>
          <p:nvGraphicFramePr>
            <p:cNvPr id="124936" name="Object 6"/>
            <p:cNvGraphicFramePr>
              <a:graphicFrameLocks noChangeAspect="1"/>
            </p:cNvGraphicFramePr>
            <p:nvPr/>
          </p:nvGraphicFramePr>
          <p:xfrm>
            <a:off x="821" y="960"/>
            <a:ext cx="4790" cy="6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055" name="Equation" r:id="rId5" imgW="3429000" imgH="508000" progId="Equation.DSMT4">
                    <p:embed/>
                  </p:oleObj>
                </mc:Choice>
                <mc:Fallback>
                  <p:oleObj name="Equation" r:id="rId5" imgW="3429000" imgH="5080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1" y="960"/>
                          <a:ext cx="4790" cy="6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937" name="Text Box 7"/>
            <p:cNvSpPr txBox="1">
              <a:spLocks noChangeArrowheads="1"/>
            </p:cNvSpPr>
            <p:nvPr/>
          </p:nvSpPr>
          <p:spPr bwMode="auto">
            <a:xfrm>
              <a:off x="192" y="960"/>
              <a:ext cx="768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>
                <a:solidFill>
                  <a:srgbClr val="FF0066"/>
                </a:solidFill>
              </a:endParaRPr>
            </a:p>
          </p:txBody>
        </p:sp>
      </p:grpSp>
      <p:graphicFrame>
        <p:nvGraphicFramePr>
          <p:cNvPr id="580616" name="Object 8"/>
          <p:cNvGraphicFramePr>
            <a:graphicFrameLocks noChangeAspect="1"/>
          </p:cNvGraphicFramePr>
          <p:nvPr/>
        </p:nvGraphicFramePr>
        <p:xfrm>
          <a:off x="755650" y="4149725"/>
          <a:ext cx="3182938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56" name="公式" r:id="rId7" imgW="965200" imgH="203200" progId="Equation.3">
                  <p:embed/>
                </p:oleObj>
              </mc:Choice>
              <mc:Fallback>
                <p:oleObj name="公式" r:id="rId7" imgW="965200" imgH="203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149725"/>
                        <a:ext cx="3182938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0617" name="Object 9"/>
          <p:cNvGraphicFramePr>
            <a:graphicFrameLocks noChangeAspect="1"/>
          </p:cNvGraphicFramePr>
          <p:nvPr/>
        </p:nvGraphicFramePr>
        <p:xfrm>
          <a:off x="900113" y="4868863"/>
          <a:ext cx="8243887" cy="149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57" name="公式" r:id="rId9" imgW="2514600" imgH="394335" progId="Equation.3">
                  <p:embed/>
                </p:oleObj>
              </mc:Choice>
              <mc:Fallback>
                <p:oleObj name="公式" r:id="rId9" imgW="2514600" imgH="39433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868863"/>
                        <a:ext cx="8243887" cy="149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0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0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798513" y="1154113"/>
            <a:ext cx="4191000" cy="457200"/>
          </a:xfrm>
        </p:spPr>
        <p:txBody>
          <a:bodyPr/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</a:rPr>
              <a:t>连续型随机变量商的分布</a:t>
            </a:r>
            <a:endParaRPr lang="zh-CN" altLang="en-US" sz="2800">
              <a:solidFill>
                <a:schemeClr val="tx1"/>
              </a:solidFill>
            </a:endParaRPr>
          </a:p>
        </p:txBody>
      </p:sp>
      <p:graphicFrame>
        <p:nvGraphicFramePr>
          <p:cNvPr id="44441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755650" y="1989138"/>
          <a:ext cx="7924800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76" name="公式" r:id="rId1" imgW="3314700" imgH="457200" progId="Equation.3">
                  <p:embed/>
                </p:oleObj>
              </mc:Choice>
              <mc:Fallback>
                <p:oleObj name="公式" r:id="rId1" imgW="33147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989138"/>
                        <a:ext cx="7924800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0" name="Object 4"/>
          <p:cNvGraphicFramePr>
            <a:graphicFrameLocks noChangeAspect="1"/>
          </p:cNvGraphicFramePr>
          <p:nvPr/>
        </p:nvGraphicFramePr>
        <p:xfrm>
          <a:off x="3300413" y="2438400"/>
          <a:ext cx="203358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77" name="公式" r:id="rId3" imgW="850265" imgH="393700" progId="Equation.3">
                  <p:embed/>
                </p:oleObj>
              </mc:Choice>
              <mc:Fallback>
                <p:oleObj name="公式" r:id="rId3" imgW="850265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0413" y="2438400"/>
                        <a:ext cx="203358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57" name="Rectangle 5"/>
          <p:cNvSpPr>
            <a:spLocks noChangeArrowheads="1"/>
          </p:cNvSpPr>
          <p:nvPr/>
        </p:nvSpPr>
        <p:spPr bwMode="auto">
          <a:xfrm>
            <a:off x="971550" y="333375"/>
            <a:ext cx="2590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商的分布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44422" name="Object 6"/>
          <p:cNvGraphicFramePr>
            <a:graphicFrameLocks noChangeAspect="1"/>
          </p:cNvGraphicFramePr>
          <p:nvPr/>
        </p:nvGraphicFramePr>
        <p:xfrm>
          <a:off x="1547813" y="3213100"/>
          <a:ext cx="4537075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78" name="公式" r:id="rId5" imgW="1562100" imgH="469900" progId="Equation.3">
                  <p:embed/>
                </p:oleObj>
              </mc:Choice>
              <mc:Fallback>
                <p:oleObj name="公式" r:id="rId5" imgW="1562100" imgH="469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213100"/>
                        <a:ext cx="4537075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3" name="Object 7"/>
          <p:cNvGraphicFramePr>
            <a:graphicFrameLocks noChangeAspect="1"/>
          </p:cNvGraphicFramePr>
          <p:nvPr/>
        </p:nvGraphicFramePr>
        <p:xfrm>
          <a:off x="684213" y="4652963"/>
          <a:ext cx="8066087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79" name="公式" r:id="rId7" imgW="3060700" imgH="215900" progId="Equation.3">
                  <p:embed/>
                </p:oleObj>
              </mc:Choice>
              <mc:Fallback>
                <p:oleObj name="公式" r:id="rId7" imgW="3060700" imgH="215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652963"/>
                        <a:ext cx="8066087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4" name="Object 8"/>
          <p:cNvGraphicFramePr>
            <a:graphicFrameLocks noChangeAspect="1"/>
          </p:cNvGraphicFramePr>
          <p:nvPr/>
        </p:nvGraphicFramePr>
        <p:xfrm>
          <a:off x="1763713" y="5013325"/>
          <a:ext cx="5051425" cy="138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80" name="公式" r:id="rId9" imgW="1714500" imgH="469900" progId="Equation.3">
                  <p:embed/>
                </p:oleObj>
              </mc:Choice>
              <mc:Fallback>
                <p:oleObj name="公式" r:id="rId9" imgW="1714500" imgH="469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013325"/>
                        <a:ext cx="5051425" cy="138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4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4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4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18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微信图片_2020033015223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22225" y="135890"/>
            <a:ext cx="9189085" cy="64204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405" y="935355"/>
            <a:ext cx="4023995" cy="765175"/>
          </a:xfrm>
        </p:spPr>
        <p:txBody>
          <a:bodyPr/>
          <a:lstStyle/>
          <a:p>
            <a:pPr eaLnBrk="1" hangingPunct="1"/>
            <a:r>
              <a:rPr lang="zh-CN" altLang="en-US" sz="3200">
                <a:solidFill>
                  <a:schemeClr val="tx1"/>
                </a:solidFill>
                <a:ea typeface="隶书" panose="02010509060101010101" pitchFamily="49" charset="-122"/>
              </a:rPr>
              <a:t>此类题的解题步骤</a:t>
            </a:r>
            <a:endParaRPr lang="zh-CN" altLang="en-US" sz="3200">
              <a:solidFill>
                <a:schemeClr val="tx1"/>
              </a:solidFill>
            </a:endParaRPr>
          </a:p>
        </p:txBody>
      </p:sp>
      <p:graphicFrame>
        <p:nvGraphicFramePr>
          <p:cNvPr id="445443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258888" y="1916113"/>
          <a:ext cx="6913562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29" name="Equation" r:id="rId1" imgW="1905000" imgH="393700" progId="Equation.DSMT4">
                  <p:embed/>
                </p:oleObj>
              </mc:Choice>
              <mc:Fallback>
                <p:oleObj name="Equation" r:id="rId1" imgW="1905000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916113"/>
                        <a:ext cx="6913562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44" name="Object 4"/>
          <p:cNvGraphicFramePr>
            <a:graphicFrameLocks noChangeAspect="1"/>
          </p:cNvGraphicFramePr>
          <p:nvPr/>
        </p:nvGraphicFramePr>
        <p:xfrm>
          <a:off x="1258888" y="3357563"/>
          <a:ext cx="65532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30" name="公式" r:id="rId3" imgW="1905000" imgH="393700" progId="Equation.3">
                  <p:embed/>
                </p:oleObj>
              </mc:Choice>
              <mc:Fallback>
                <p:oleObj name="公式" r:id="rId3" imgW="1905000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357563"/>
                        <a:ext cx="6553200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1" name="AutoShape 6">
            <a:hlinkClick r:id="rId5" action="ppaction://hlinkpres?slideindex=6&amp;slidetitle=没有幻灯片标题" highlightClick="1"/>
          </p:cNvPr>
          <p:cNvSpPr>
            <a:spLocks noChangeArrowheads="1"/>
          </p:cNvSpPr>
          <p:nvPr/>
        </p:nvSpPr>
        <p:spPr bwMode="auto">
          <a:xfrm>
            <a:off x="6934200" y="6345238"/>
            <a:ext cx="381000" cy="228600"/>
          </a:xfrm>
          <a:prstGeom prst="actionButtonHome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6982" name="Text Box 7"/>
          <p:cNvSpPr txBox="1">
            <a:spLocks noChangeArrowheads="1"/>
          </p:cNvSpPr>
          <p:nvPr/>
        </p:nvSpPr>
        <p:spPr bwMode="auto">
          <a:xfrm>
            <a:off x="7315200" y="6232525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ea typeface="隶书" panose="02010509060101010101" pitchFamily="49" charset="-122"/>
                <a:hlinkClick r:id="rId5" action="ppaction://hlinkpres?slideindex=6&amp;slidetitle=没有幻灯片标题"/>
              </a:rPr>
              <a:t>返回主目录</a:t>
            </a:r>
            <a:endParaRPr lang="zh-CN" altLang="en-US" sz="2000"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5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5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5794" name="Object 2"/>
          <p:cNvGraphicFramePr>
            <a:graphicFrameLocks noChangeAspect="1"/>
          </p:cNvGraphicFramePr>
          <p:nvPr/>
        </p:nvGraphicFramePr>
        <p:xfrm>
          <a:off x="1071563" y="2071688"/>
          <a:ext cx="6764337" cy="291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27" name="Equation" r:id="rId1" imgW="5600700" imgH="3009900" progId="Equation.DSMT4">
                  <p:embed/>
                </p:oleObj>
              </mc:Choice>
              <mc:Fallback>
                <p:oleObj name="Equation" r:id="rId1" imgW="5600700" imgH="30099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2071688"/>
                        <a:ext cx="6764337" cy="291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5797" name="Text Box 5"/>
          <p:cNvSpPr txBox="1">
            <a:spLocks noChangeArrowheads="1"/>
          </p:cNvSpPr>
          <p:nvPr/>
        </p:nvSpPr>
        <p:spPr bwMode="auto">
          <a:xfrm>
            <a:off x="0" y="692150"/>
            <a:ext cx="47529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200" b="1"/>
              <a:t>  </a:t>
            </a:r>
            <a:r>
              <a:rPr lang="zh-CN" altLang="en-US" sz="3200" b="1"/>
              <a:t>积分转换法</a:t>
            </a:r>
            <a:endParaRPr lang="zh-CN" altLang="en-US" sz="32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797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3554" name="Object 2"/>
          <p:cNvGraphicFramePr>
            <a:graphicFrameLocks noChangeAspect="1"/>
          </p:cNvGraphicFramePr>
          <p:nvPr/>
        </p:nvGraphicFramePr>
        <p:xfrm>
          <a:off x="900113" y="1916113"/>
          <a:ext cx="7993062" cy="432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70" name="Equation" r:id="rId1" imgW="3937000" imgH="2120900" progId="Equation.DSMT4">
                  <p:embed/>
                </p:oleObj>
              </mc:Choice>
              <mc:Fallback>
                <p:oleObj name="Equation" r:id="rId1" imgW="3937000" imgH="21209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916113"/>
                        <a:ext cx="7993062" cy="432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5" name="Object 3"/>
          <p:cNvGraphicFramePr>
            <a:graphicFrameLocks noChangeAspect="1"/>
          </p:cNvGraphicFramePr>
          <p:nvPr/>
        </p:nvGraphicFramePr>
        <p:xfrm>
          <a:off x="3740150" y="973138"/>
          <a:ext cx="184150" cy="24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71" name="Equation" r:id="rId3" imgW="152400" imgH="254000" progId="Equation.DSMT4">
                  <p:embed/>
                </p:oleObj>
              </mc:Choice>
              <mc:Fallback>
                <p:oleObj name="Equation" r:id="rId3" imgW="152400" imgH="254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0150" y="973138"/>
                        <a:ext cx="184150" cy="24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556" name="Object 4"/>
          <p:cNvGraphicFramePr>
            <a:graphicFrameLocks noChangeAspect="1"/>
          </p:cNvGraphicFramePr>
          <p:nvPr/>
        </p:nvGraphicFramePr>
        <p:xfrm>
          <a:off x="684213" y="476250"/>
          <a:ext cx="7100887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72" name="Equation" r:id="rId5" imgW="3403600" imgH="215900" progId="Equation.DSMT4">
                  <p:embed/>
                </p:oleObj>
              </mc:Choice>
              <mc:Fallback>
                <p:oleObj name="Equation" r:id="rId5" imgW="3403600" imgH="215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76250"/>
                        <a:ext cx="7100887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557" name="Object 5"/>
          <p:cNvGraphicFramePr>
            <a:graphicFrameLocks noChangeAspect="1"/>
          </p:cNvGraphicFramePr>
          <p:nvPr/>
        </p:nvGraphicFramePr>
        <p:xfrm>
          <a:off x="2051050" y="1125538"/>
          <a:ext cx="3762375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73" name="Equation" r:id="rId7" imgW="1854200" imgH="254000" progId="Equation.DSMT4">
                  <p:embed/>
                </p:oleObj>
              </mc:Choice>
              <mc:Fallback>
                <p:oleObj name="Equation" r:id="rId7" imgW="18542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125538"/>
                        <a:ext cx="3762375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4578" name="Object 2"/>
          <p:cNvGraphicFramePr>
            <a:graphicFrameLocks noChangeAspect="1"/>
          </p:cNvGraphicFramePr>
          <p:nvPr/>
        </p:nvGraphicFramePr>
        <p:xfrm>
          <a:off x="971550" y="1484313"/>
          <a:ext cx="6553200" cy="245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22" name="Equation" r:id="rId1" imgW="1917700" imgH="990600" progId="Equation.DSMT4">
                  <p:embed/>
                </p:oleObj>
              </mc:Choice>
              <mc:Fallback>
                <p:oleObj name="Equation" r:id="rId1" imgW="1917700" imgH="990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484313"/>
                        <a:ext cx="6553200" cy="245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4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4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3858" name="Object 2"/>
          <p:cNvGraphicFramePr>
            <a:graphicFrameLocks noChangeAspect="1"/>
          </p:cNvGraphicFramePr>
          <p:nvPr/>
        </p:nvGraphicFramePr>
        <p:xfrm>
          <a:off x="750888" y="1557338"/>
          <a:ext cx="824706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4" name="Equation" r:id="rId1" imgW="6223000" imgH="342900" progId="Equation.DSMT4">
                  <p:embed/>
                </p:oleObj>
              </mc:Choice>
              <mc:Fallback>
                <p:oleObj name="Equation" r:id="rId1" imgW="6223000" imgH="3429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8" y="1557338"/>
                        <a:ext cx="8247062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3859" name="Text Box 3"/>
          <p:cNvSpPr txBox="1">
            <a:spLocks noChangeArrowheads="1"/>
          </p:cNvSpPr>
          <p:nvPr/>
        </p:nvSpPr>
        <p:spPr bwMode="auto">
          <a:xfrm>
            <a:off x="611188" y="2246313"/>
            <a:ext cx="6178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均为</a:t>
            </a:r>
            <a:r>
              <a:rPr lang="zh-CN" altLang="en-US" sz="2800" b="1"/>
              <a:t>随机变量</a:t>
            </a:r>
            <a:r>
              <a:rPr lang="zh-CN" altLang="en-US" b="1"/>
              <a:t>，也构成了一个二维随机向量</a:t>
            </a:r>
            <a:endParaRPr lang="zh-CN" altLang="en-US" b="1"/>
          </a:p>
        </p:txBody>
      </p:sp>
      <p:sp>
        <p:nvSpPr>
          <p:cNvPr id="633861" name="Text Box 5"/>
          <p:cNvSpPr txBox="1">
            <a:spLocks noChangeArrowheads="1"/>
          </p:cNvSpPr>
          <p:nvPr/>
        </p:nvSpPr>
        <p:spPr bwMode="auto">
          <a:xfrm>
            <a:off x="611188" y="484188"/>
            <a:ext cx="47529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/>
              <a:t>三    随机向量的变换</a:t>
            </a:r>
            <a:endParaRPr lang="zh-CN" altLang="en-US" sz="3200" b="1"/>
          </a:p>
        </p:txBody>
      </p:sp>
      <p:grpSp>
        <p:nvGrpSpPr>
          <p:cNvPr id="3" name="组合 2"/>
          <p:cNvGrpSpPr/>
          <p:nvPr/>
        </p:nvGrpSpPr>
        <p:grpSpPr bwMode="auto">
          <a:xfrm>
            <a:off x="539750" y="3017838"/>
            <a:ext cx="5048250" cy="523875"/>
            <a:chOff x="539750" y="3017838"/>
            <a:chExt cx="5048177" cy="523220"/>
          </a:xfrm>
        </p:grpSpPr>
        <p:sp>
          <p:nvSpPr>
            <p:cNvPr id="133126" name="Text Box 4"/>
            <p:cNvSpPr txBox="1">
              <a:spLocks noChangeArrowheads="1"/>
            </p:cNvSpPr>
            <p:nvPr/>
          </p:nvSpPr>
          <p:spPr bwMode="auto">
            <a:xfrm>
              <a:off x="539750" y="3017838"/>
              <a:ext cx="504817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下面求              的联合密度函数</a:t>
              </a:r>
              <a:endParaRPr lang="zh-CN" altLang="en-US" sz="2800" b="1"/>
            </a:p>
          </p:txBody>
        </p:sp>
        <p:graphicFrame>
          <p:nvGraphicFramePr>
            <p:cNvPr id="133127" name="Object 2"/>
            <p:cNvGraphicFramePr>
              <a:graphicFrameLocks noChangeAspect="1"/>
            </p:cNvGraphicFramePr>
            <p:nvPr/>
          </p:nvGraphicFramePr>
          <p:xfrm>
            <a:off x="1763688" y="3061166"/>
            <a:ext cx="1109858" cy="4798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75" name="Equation" r:id="rId3" imgW="761365" imgH="330200" progId="Equation.DSMT4">
                    <p:embed/>
                  </p:oleObj>
                </mc:Choice>
                <mc:Fallback>
                  <p:oleObj name="Equation" r:id="rId3" imgW="761365" imgH="3302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3061166"/>
                          <a:ext cx="1109858" cy="4798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3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3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3859" grpId="0" bldLvl="0" animBg="1"/>
      <p:bldP spid="633861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882" name="Object 2"/>
          <p:cNvGraphicFramePr>
            <a:graphicFrameLocks noChangeAspect="1"/>
          </p:cNvGraphicFramePr>
          <p:nvPr/>
        </p:nvGraphicFramePr>
        <p:xfrm>
          <a:off x="684213" y="1196975"/>
          <a:ext cx="7453312" cy="467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71" name="Equation" r:id="rId1" imgW="6172200" imgH="4826000" progId="Equation.DSMT4">
                  <p:embed/>
                </p:oleObj>
              </mc:Choice>
              <mc:Fallback>
                <p:oleObj name="Equation" r:id="rId1" imgW="6172200" imgH="4826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196975"/>
                        <a:ext cx="7453312" cy="467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883" name="Text Box 3"/>
          <p:cNvSpPr txBox="1">
            <a:spLocks noChangeArrowheads="1"/>
          </p:cNvSpPr>
          <p:nvPr/>
        </p:nvSpPr>
        <p:spPr bwMode="auto">
          <a:xfrm>
            <a:off x="0" y="188913"/>
            <a:ext cx="47529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/>
              <a:t>积分转换法</a:t>
            </a:r>
            <a:endParaRPr lang="zh-CN" altLang="en-US" sz="32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883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3301531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3301532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0" name="Text Box 2"/>
          <p:cNvSpPr txBox="1">
            <a:spLocks noChangeArrowheads="1"/>
          </p:cNvSpPr>
          <p:nvPr/>
        </p:nvSpPr>
        <p:spPr bwMode="auto">
          <a:xfrm>
            <a:off x="395288" y="620713"/>
            <a:ext cx="7921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FF0000"/>
                </a:solidFill>
              </a:rPr>
              <a:t>例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graphicFrame>
        <p:nvGraphicFramePr>
          <p:cNvPr id="642051" name="Object 3"/>
          <p:cNvGraphicFramePr>
            <a:graphicFrameLocks noChangeAspect="1"/>
          </p:cNvGraphicFramePr>
          <p:nvPr/>
        </p:nvGraphicFramePr>
        <p:xfrm>
          <a:off x="908050" y="673100"/>
          <a:ext cx="81280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63" name="公式" r:id="rId1" imgW="2933700" imgH="215900" progId="Equation.3">
                  <p:embed/>
                </p:oleObj>
              </mc:Choice>
              <mc:Fallback>
                <p:oleObj name="公式" r:id="rId1" imgW="2933700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673100"/>
                        <a:ext cx="8128000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52" name="Object 4"/>
          <p:cNvGraphicFramePr>
            <a:graphicFrameLocks noChangeAspect="1"/>
          </p:cNvGraphicFramePr>
          <p:nvPr/>
        </p:nvGraphicFramePr>
        <p:xfrm>
          <a:off x="971550" y="1416050"/>
          <a:ext cx="186055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64" name="公式" r:id="rId3" imgW="698500" imgH="203200" progId="Equation.3">
                  <p:embed/>
                </p:oleObj>
              </mc:Choice>
              <mc:Fallback>
                <p:oleObj name="公式" r:id="rId3" imgW="6985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416050"/>
                        <a:ext cx="186055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53" name="Object 5"/>
          <p:cNvGraphicFramePr>
            <a:graphicFrameLocks noChangeAspect="1"/>
          </p:cNvGraphicFramePr>
          <p:nvPr/>
        </p:nvGraphicFramePr>
        <p:xfrm>
          <a:off x="2411413" y="2063750"/>
          <a:ext cx="3783012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65" name="公式" r:id="rId5" imgW="1282700" imgH="482600" progId="Equation.3">
                  <p:embed/>
                </p:oleObj>
              </mc:Choice>
              <mc:Fallback>
                <p:oleObj name="公式" r:id="rId5" imgW="12827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063750"/>
                        <a:ext cx="3783012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54" name="Object 6"/>
          <p:cNvGraphicFramePr>
            <a:graphicFrameLocks noChangeAspect="1"/>
          </p:cNvGraphicFramePr>
          <p:nvPr/>
        </p:nvGraphicFramePr>
        <p:xfrm>
          <a:off x="523875" y="3362325"/>
          <a:ext cx="10953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66" name="Equation" r:id="rId7" imgW="393700" imgH="203200" progId="Equation.DSMT4">
                  <p:embed/>
                </p:oleObj>
              </mc:Choice>
              <mc:Fallback>
                <p:oleObj name="Equation" r:id="rId7" imgW="393700" imgH="203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" y="3362325"/>
                        <a:ext cx="109537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55" name="Object 7"/>
          <p:cNvGraphicFramePr>
            <a:graphicFrameLocks noChangeAspect="1"/>
          </p:cNvGraphicFramePr>
          <p:nvPr/>
        </p:nvGraphicFramePr>
        <p:xfrm>
          <a:off x="827088" y="3857625"/>
          <a:ext cx="8091487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67" name="Equation" r:id="rId9" imgW="3136900" imgH="381000" progId="Equation.DSMT4">
                  <p:embed/>
                </p:oleObj>
              </mc:Choice>
              <mc:Fallback>
                <p:oleObj name="Equation" r:id="rId9" imgW="3136900" imgH="381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857625"/>
                        <a:ext cx="8091487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56" name="Object 8"/>
          <p:cNvGraphicFramePr>
            <a:graphicFrameLocks noChangeAspect="1"/>
          </p:cNvGraphicFramePr>
          <p:nvPr/>
        </p:nvGraphicFramePr>
        <p:xfrm>
          <a:off x="971550" y="4943475"/>
          <a:ext cx="45180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68" name="公式" r:id="rId11" imgW="1701800" imgH="215900" progId="Equation.3">
                  <p:embed/>
                </p:oleObj>
              </mc:Choice>
              <mc:Fallback>
                <p:oleObj name="公式" r:id="rId11" imgW="1701800" imgH="215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943475"/>
                        <a:ext cx="4518025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050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4" name="Text Box 2"/>
          <p:cNvSpPr txBox="1">
            <a:spLocks noChangeArrowheads="1"/>
          </p:cNvSpPr>
          <p:nvPr/>
        </p:nvSpPr>
        <p:spPr bwMode="auto">
          <a:xfrm>
            <a:off x="220663" y="549275"/>
            <a:ext cx="12969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="1"/>
              <a:t>解</a:t>
            </a:r>
            <a:endParaRPr lang="zh-CN" altLang="en-US" sz="3600" b="1"/>
          </a:p>
        </p:txBody>
      </p:sp>
      <p:graphicFrame>
        <p:nvGraphicFramePr>
          <p:cNvPr id="643075" name="Object 3"/>
          <p:cNvGraphicFramePr>
            <a:graphicFrameLocks noChangeAspect="1"/>
          </p:cNvGraphicFramePr>
          <p:nvPr/>
        </p:nvGraphicFramePr>
        <p:xfrm>
          <a:off x="1085850" y="693738"/>
          <a:ext cx="805815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0" name="公式" r:id="rId1" imgW="3035300" imgH="215900" progId="Equation.3">
                  <p:embed/>
                </p:oleObj>
              </mc:Choice>
              <mc:Fallback>
                <p:oleObj name="公式" r:id="rId1" imgW="3035300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693738"/>
                        <a:ext cx="8058150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076" name="Object 4"/>
          <p:cNvGraphicFramePr>
            <a:graphicFrameLocks noChangeAspect="1"/>
          </p:cNvGraphicFramePr>
          <p:nvPr/>
        </p:nvGraphicFramePr>
        <p:xfrm>
          <a:off x="654050" y="1557338"/>
          <a:ext cx="8623300" cy="124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1" name="Equation" r:id="rId3" imgW="3340100" imgH="482600" progId="Equation.DSMT4">
                  <p:embed/>
                </p:oleObj>
              </mc:Choice>
              <mc:Fallback>
                <p:oleObj name="Equation" r:id="rId3" imgW="3340100" imgH="482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" y="1557338"/>
                        <a:ext cx="8623300" cy="1246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077" name="Object 5"/>
          <p:cNvGraphicFramePr>
            <a:graphicFrameLocks noChangeAspect="1"/>
          </p:cNvGraphicFramePr>
          <p:nvPr/>
        </p:nvGraphicFramePr>
        <p:xfrm>
          <a:off x="785813" y="2997200"/>
          <a:ext cx="2417762" cy="168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2" name="公式" r:id="rId5" imgW="837565" imgH="584200" progId="Equation.3">
                  <p:embed/>
                </p:oleObj>
              </mc:Choice>
              <mc:Fallback>
                <p:oleObj name="公式" r:id="rId5" imgW="837565" imgH="584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997200"/>
                        <a:ext cx="2417762" cy="168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3078" name="Text Box 6"/>
          <p:cNvSpPr txBox="1">
            <a:spLocks noChangeArrowheads="1"/>
          </p:cNvSpPr>
          <p:nvPr/>
        </p:nvSpPr>
        <p:spPr bwMode="auto">
          <a:xfrm>
            <a:off x="3533775" y="3644900"/>
            <a:ext cx="2305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因此得</a:t>
            </a:r>
            <a:endParaRPr lang="zh-CN" altLang="en-US" sz="2800" b="1"/>
          </a:p>
        </p:txBody>
      </p:sp>
      <p:graphicFrame>
        <p:nvGraphicFramePr>
          <p:cNvPr id="643079" name="Object 7"/>
          <p:cNvGraphicFramePr>
            <a:graphicFrameLocks noChangeAspect="1"/>
          </p:cNvGraphicFramePr>
          <p:nvPr/>
        </p:nvGraphicFramePr>
        <p:xfrm>
          <a:off x="5765800" y="3286125"/>
          <a:ext cx="2225675" cy="236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3" name="公式" r:id="rId7" imgW="812165" imgH="862965" progId="Equation.3">
                  <p:embed/>
                </p:oleObj>
              </mc:Choice>
              <mc:Fallback>
                <p:oleObj name="公式" r:id="rId7" imgW="812165" imgH="86296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5800" y="3286125"/>
                        <a:ext cx="2225675" cy="236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074" grpId="0" bldLvl="0" animBg="1"/>
      <p:bldP spid="643078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4099" name="Object 3"/>
          <p:cNvGraphicFramePr>
            <a:graphicFrameLocks noChangeAspect="1"/>
          </p:cNvGraphicFramePr>
          <p:nvPr/>
        </p:nvGraphicFramePr>
        <p:xfrm>
          <a:off x="225425" y="476250"/>
          <a:ext cx="8259763" cy="295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38" name="Equation" r:id="rId1" imgW="3263900" imgH="1168400" progId="Equation.DSMT4">
                  <p:embed/>
                </p:oleObj>
              </mc:Choice>
              <mc:Fallback>
                <p:oleObj name="Equation" r:id="rId1" imgW="3263900" imgH="1168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" y="476250"/>
                        <a:ext cx="8259763" cy="295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4100" name="Object 4"/>
          <p:cNvGraphicFramePr>
            <a:graphicFrameLocks noChangeAspect="1"/>
          </p:cNvGraphicFramePr>
          <p:nvPr/>
        </p:nvGraphicFramePr>
        <p:xfrm>
          <a:off x="5973763" y="3933825"/>
          <a:ext cx="3170237" cy="163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39" name="公式" r:id="rId3" imgW="837565" imgH="431800" progId="Equation.3">
                  <p:embed/>
                </p:oleObj>
              </mc:Choice>
              <mc:Fallback>
                <p:oleObj name="公式" r:id="rId3" imgW="837565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3763" y="3933825"/>
                        <a:ext cx="3170237" cy="163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4102" name="Object 6"/>
          <p:cNvGraphicFramePr>
            <a:graphicFrameLocks noChangeAspect="1"/>
          </p:cNvGraphicFramePr>
          <p:nvPr/>
        </p:nvGraphicFramePr>
        <p:xfrm>
          <a:off x="468313" y="3644900"/>
          <a:ext cx="5583237" cy="224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40" name="公式" r:id="rId5" imgW="2145665" imgH="862965" progId="Equation.3">
                  <p:embed/>
                </p:oleObj>
              </mc:Choice>
              <mc:Fallback>
                <p:oleObj name="公式" r:id="rId5" imgW="2145665" imgH="86296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644900"/>
                        <a:ext cx="5583237" cy="224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4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22" name="Object 2"/>
          <p:cNvGraphicFramePr>
            <a:graphicFrameLocks noChangeAspect="1"/>
          </p:cNvGraphicFramePr>
          <p:nvPr/>
        </p:nvGraphicFramePr>
        <p:xfrm>
          <a:off x="695325" y="620713"/>
          <a:ext cx="576262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63" name="公式" r:id="rId1" imgW="1943100" imgH="215900" progId="Equation.3">
                  <p:embed/>
                </p:oleObj>
              </mc:Choice>
              <mc:Fallback>
                <p:oleObj name="公式" r:id="rId1" imgW="1943100" imgH="215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620713"/>
                        <a:ext cx="5762625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23" name="Object 3"/>
          <p:cNvGraphicFramePr>
            <a:graphicFrameLocks noChangeAspect="1"/>
          </p:cNvGraphicFramePr>
          <p:nvPr/>
        </p:nvGraphicFramePr>
        <p:xfrm>
          <a:off x="225425" y="1700213"/>
          <a:ext cx="8716963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64" name="Equation" r:id="rId3" imgW="3517900" imgH="482600" progId="Equation.DSMT4">
                  <p:embed/>
                </p:oleObj>
              </mc:Choice>
              <mc:Fallback>
                <p:oleObj name="Equation" r:id="rId3" imgW="3517900" imgH="482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" y="1700213"/>
                        <a:ext cx="8716963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24" name="Object 4"/>
          <p:cNvGraphicFramePr>
            <a:graphicFrameLocks noChangeAspect="1"/>
          </p:cNvGraphicFramePr>
          <p:nvPr/>
        </p:nvGraphicFramePr>
        <p:xfrm>
          <a:off x="1428750" y="3746500"/>
          <a:ext cx="6516688" cy="176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65" name="Equation" r:id="rId5" imgW="2628900" imgH="711200" progId="Equation.DSMT4">
                  <p:embed/>
                </p:oleObj>
              </mc:Choice>
              <mc:Fallback>
                <p:oleObj name="Equation" r:id="rId5" imgW="2628900" imgH="71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3746500"/>
                        <a:ext cx="6516688" cy="176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25" name="Text Box 5"/>
          <p:cNvSpPr txBox="1">
            <a:spLocks noChangeArrowheads="1"/>
          </p:cNvSpPr>
          <p:nvPr/>
        </p:nvSpPr>
        <p:spPr bwMode="auto">
          <a:xfrm>
            <a:off x="409575" y="3373438"/>
            <a:ext cx="14398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/>
              <a:t>即</a:t>
            </a:r>
            <a:endParaRPr lang="zh-CN" altLang="en-US" sz="32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25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6146" name="Object 2"/>
          <p:cNvGraphicFramePr>
            <a:graphicFrameLocks noChangeAspect="1"/>
          </p:cNvGraphicFramePr>
          <p:nvPr/>
        </p:nvGraphicFramePr>
        <p:xfrm>
          <a:off x="655638" y="1268413"/>
          <a:ext cx="8397875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34" name="Equation" r:id="rId1" imgW="3644900" imgH="457200" progId="Equation.DSMT4">
                  <p:embed/>
                </p:oleObj>
              </mc:Choice>
              <mc:Fallback>
                <p:oleObj name="Equation" r:id="rId1" imgW="3644900" imgH="457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8" y="1268413"/>
                        <a:ext cx="8397875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147" name="Object 3"/>
          <p:cNvGraphicFramePr>
            <a:graphicFrameLocks noChangeAspect="1"/>
          </p:cNvGraphicFramePr>
          <p:nvPr/>
        </p:nvGraphicFramePr>
        <p:xfrm>
          <a:off x="646113" y="458788"/>
          <a:ext cx="6843712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35" name="Equation" r:id="rId3" imgW="2387600" imgH="228600" progId="Equation.DSMT4">
                  <p:embed/>
                </p:oleObj>
              </mc:Choice>
              <mc:Fallback>
                <p:oleObj name="Equation" r:id="rId3" imgW="23876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3" y="458788"/>
                        <a:ext cx="6843712" cy="65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148" name="Object 4"/>
          <p:cNvGraphicFramePr>
            <a:graphicFrameLocks noChangeAspect="1"/>
          </p:cNvGraphicFramePr>
          <p:nvPr/>
        </p:nvGraphicFramePr>
        <p:xfrm>
          <a:off x="1116013" y="4149725"/>
          <a:ext cx="4881562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36" name="Equation" r:id="rId5" imgW="2095500" imgH="254000" progId="Equation.DSMT4">
                  <p:embed/>
                </p:oleObj>
              </mc:Choice>
              <mc:Fallback>
                <p:oleObj name="Equation" r:id="rId5" imgW="2095500" imgH="25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149725"/>
                        <a:ext cx="4881562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149" name="Object 5"/>
          <p:cNvGraphicFramePr>
            <a:graphicFrameLocks noChangeAspect="1"/>
          </p:cNvGraphicFramePr>
          <p:nvPr/>
        </p:nvGraphicFramePr>
        <p:xfrm>
          <a:off x="747713" y="2636838"/>
          <a:ext cx="8027987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37" name="Equation" r:id="rId7" imgW="3860800" imgH="457200" progId="Equation.DSMT4">
                  <p:embed/>
                </p:oleObj>
              </mc:Choice>
              <mc:Fallback>
                <p:oleObj name="Equation" r:id="rId7" imgW="38608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3" y="2636838"/>
                        <a:ext cx="8027987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692275" y="4868863"/>
          <a:ext cx="360997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38" name="Equation" r:id="rId9" imgW="1549400" imgH="228600" progId="Equation.DSMT4">
                  <p:embed/>
                </p:oleObj>
              </mc:Choice>
              <mc:Fallback>
                <p:oleObj name="Equation" r:id="rId9" imgW="15494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868863"/>
                        <a:ext cx="360997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ChangeArrowheads="1"/>
          </p:cNvSpPr>
          <p:nvPr/>
        </p:nvSpPr>
        <p:spPr bwMode="auto">
          <a:xfrm>
            <a:off x="457200" y="381000"/>
            <a:ext cx="7575550" cy="66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3399"/>
                </a:solidFill>
              </a:rPr>
              <a:t>七、一般</a:t>
            </a:r>
            <a:r>
              <a:rPr lang="en-US" altLang="zh-CN" sz="2800" b="1">
                <a:solidFill>
                  <a:srgbClr val="003399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800" b="1">
                <a:solidFill>
                  <a:srgbClr val="003399"/>
                </a:solidFill>
              </a:rPr>
              <a:t>维随机变量的一些概念和结果</a:t>
            </a:r>
            <a:endParaRPr lang="zh-CN" altLang="en-US" sz="2800" b="1">
              <a:solidFill>
                <a:srgbClr val="003399"/>
              </a:solidFill>
            </a:endParaRPr>
          </a:p>
        </p:txBody>
      </p:sp>
      <p:graphicFrame>
        <p:nvGraphicFramePr>
          <p:cNvPr id="651270" name="Object 6"/>
          <p:cNvGraphicFramePr>
            <a:graphicFrameLocks noChangeAspect="1"/>
          </p:cNvGraphicFramePr>
          <p:nvPr/>
        </p:nvGraphicFramePr>
        <p:xfrm>
          <a:off x="611188" y="3573463"/>
          <a:ext cx="76962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65" name="Equation" r:id="rId1" imgW="3289300" imgH="965200" progId="Equation.DSMT4">
                  <p:embed/>
                </p:oleObj>
              </mc:Choice>
              <mc:Fallback>
                <p:oleObj name="Equation" r:id="rId1" imgW="3289300" imgH="965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573463"/>
                        <a:ext cx="76962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1272" name="Text Box 8"/>
          <p:cNvSpPr txBox="1">
            <a:spLocks noChangeArrowheads="1"/>
          </p:cNvSpPr>
          <p:nvPr/>
        </p:nvSpPr>
        <p:spPr bwMode="auto">
          <a:xfrm>
            <a:off x="152400" y="3581400"/>
            <a:ext cx="3051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3399"/>
                </a:solidFill>
              </a:rPr>
              <a:t>2</a:t>
            </a:r>
            <a:r>
              <a:rPr lang="zh-CN" altLang="en-US"/>
              <a:t>、</a:t>
            </a:r>
            <a:endParaRPr lang="zh-CN" altLang="en-US"/>
          </a:p>
        </p:txBody>
      </p:sp>
      <p:sp>
        <p:nvSpPr>
          <p:cNvPr id="142341" name="Text Box 7"/>
          <p:cNvSpPr txBox="1">
            <a:spLocks noChangeArrowheads="1"/>
          </p:cNvSpPr>
          <p:nvPr/>
        </p:nvSpPr>
        <p:spPr bwMode="auto">
          <a:xfrm>
            <a:off x="250825" y="1196975"/>
            <a:ext cx="2187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3399"/>
                </a:solidFill>
              </a:rPr>
              <a:t>1</a:t>
            </a:r>
            <a:r>
              <a:rPr lang="zh-CN" altLang="en-US"/>
              <a:t>、</a:t>
            </a:r>
            <a:endParaRPr lang="zh-CN" altLang="en-US"/>
          </a:p>
        </p:txBody>
      </p:sp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323850" y="1125538"/>
            <a:ext cx="1439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0000FF"/>
                </a:solidFill>
              </a:rPr>
              <a:t>定义</a:t>
            </a:r>
            <a:endParaRPr lang="zh-CN" altLang="en-US" sz="2800">
              <a:solidFill>
                <a:srgbClr val="0000FF"/>
              </a:solidFill>
            </a:endParaRPr>
          </a:p>
        </p:txBody>
      </p:sp>
      <p:graphicFrame>
        <p:nvGraphicFramePr>
          <p:cNvPr id="142343" name="Object 8"/>
          <p:cNvGraphicFramePr>
            <a:graphicFrameLocks noChangeAspect="1"/>
          </p:cNvGraphicFramePr>
          <p:nvPr/>
        </p:nvGraphicFramePr>
        <p:xfrm>
          <a:off x="5607050" y="1654175"/>
          <a:ext cx="30924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66" name="Equation" r:id="rId3" imgW="1524000" imgH="228600" progId="Equation.DSMT4">
                  <p:embed/>
                </p:oleObj>
              </mc:Choice>
              <mc:Fallback>
                <p:oleObj name="Equation" r:id="rId3" imgW="15240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7050" y="1654175"/>
                        <a:ext cx="30924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51295" name="Group 31"/>
          <p:cNvGrpSpPr/>
          <p:nvPr/>
        </p:nvGrpSpPr>
        <p:grpSpPr bwMode="auto">
          <a:xfrm>
            <a:off x="1116013" y="1700213"/>
            <a:ext cx="7629525" cy="1731962"/>
            <a:chOff x="719" y="1069"/>
            <a:chExt cx="4806" cy="1091"/>
          </a:xfrm>
        </p:grpSpPr>
        <p:sp>
          <p:nvSpPr>
            <p:cNvPr id="142345" name="Text Box 5"/>
            <p:cNvSpPr txBox="1">
              <a:spLocks noChangeArrowheads="1"/>
            </p:cNvSpPr>
            <p:nvPr/>
          </p:nvSpPr>
          <p:spPr bwMode="auto">
            <a:xfrm>
              <a:off x="916" y="1669"/>
              <a:ext cx="1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1"/>
                </a:buClr>
                <a:buSzPct val="80000"/>
              </a:pPr>
              <a:r>
                <a:rPr kumimoji="0" lang="en-US" altLang="zh-CN">
                  <a:solidFill>
                    <a:srgbClr val="000066"/>
                  </a:solidFill>
                  <a:latin typeface="Arial" panose="020B0604020202020204" pitchFamily="34" charset="0"/>
                </a:rPr>
                <a:t> </a:t>
              </a:r>
              <a:endParaRPr kumimoji="0" lang="en-US" altLang="zh-CN">
                <a:solidFill>
                  <a:srgbClr val="000066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42346" name="Object 7"/>
            <p:cNvGraphicFramePr>
              <a:graphicFrameLocks noChangeAspect="1"/>
            </p:cNvGraphicFramePr>
            <p:nvPr/>
          </p:nvGraphicFramePr>
          <p:xfrm>
            <a:off x="2203" y="1069"/>
            <a:ext cx="162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467" name="Equation" r:id="rId5" imgW="114300" imgH="177800" progId="Equation.DSMT4">
                    <p:embed/>
                  </p:oleObj>
                </mc:Choice>
                <mc:Fallback>
                  <p:oleObj name="Equation" r:id="rId5" imgW="114300" imgH="1778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3" y="1069"/>
                          <a:ext cx="162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2347" name="Text Box 9"/>
            <p:cNvSpPr txBox="1">
              <a:spLocks noChangeArrowheads="1"/>
            </p:cNvSpPr>
            <p:nvPr/>
          </p:nvSpPr>
          <p:spPr bwMode="auto">
            <a:xfrm>
              <a:off x="719" y="1438"/>
              <a:ext cx="4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/>
                <a:t>是定义在这个概率空间上的</a:t>
              </a:r>
              <a:r>
                <a:rPr lang="en-US" altLang="zh-CN" sz="2800"/>
                <a:t>n</a:t>
              </a:r>
              <a:r>
                <a:rPr lang="zh-CN" altLang="en-US" sz="2800"/>
                <a:t>个随机变量，称</a:t>
              </a:r>
              <a:endParaRPr lang="zh-CN" altLang="en-US" sz="2800"/>
            </a:p>
          </p:txBody>
        </p:sp>
        <p:graphicFrame>
          <p:nvGraphicFramePr>
            <p:cNvPr id="142348" name="Object 10"/>
            <p:cNvGraphicFramePr>
              <a:graphicFrameLocks noChangeAspect="1"/>
            </p:cNvGraphicFramePr>
            <p:nvPr/>
          </p:nvGraphicFramePr>
          <p:xfrm>
            <a:off x="719" y="1813"/>
            <a:ext cx="4806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468" name="Equation" r:id="rId7" imgW="3162300" imgH="228600" progId="Equation.DSMT4">
                    <p:embed/>
                  </p:oleObj>
                </mc:Choice>
                <mc:Fallback>
                  <p:oleObj name="Equation" r:id="rId7" imgW="3162300" imgH="2286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" y="1813"/>
                          <a:ext cx="4806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2349" name="Object 1"/>
            <p:cNvGraphicFramePr>
              <a:graphicFrameLocks noChangeAspect="1"/>
            </p:cNvGraphicFramePr>
            <p:nvPr/>
          </p:nvGraphicFramePr>
          <p:xfrm>
            <a:off x="930" y="1071"/>
            <a:ext cx="2966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469" name="文档" r:id="rId9" imgW="2654935" imgH="427990" progId="Word.Document.8">
                    <p:embed/>
                  </p:oleObj>
                </mc:Choice>
                <mc:Fallback>
                  <p:oleObj name="文档" r:id="rId9" imgW="2654935" imgH="427990" progId="Word.Document.8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1071"/>
                          <a:ext cx="2966" cy="4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5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5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5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1272" grpId="0" bldLvl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2290" name="Object 2"/>
          <p:cNvGraphicFramePr>
            <a:graphicFrameLocks noChangeAspect="1"/>
          </p:cNvGraphicFramePr>
          <p:nvPr/>
        </p:nvGraphicFramePr>
        <p:xfrm>
          <a:off x="539750" y="765175"/>
          <a:ext cx="83058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3" name="Equation" r:id="rId1" imgW="4305300" imgH="1016000" progId="Equation.DSMT4">
                  <p:embed/>
                </p:oleObj>
              </mc:Choice>
              <mc:Fallback>
                <p:oleObj name="Equation" r:id="rId1" imgW="4305300" imgH="1016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765175"/>
                        <a:ext cx="83058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2292" name="Text Box 4"/>
          <p:cNvSpPr txBox="1">
            <a:spLocks noChangeArrowheads="1"/>
          </p:cNvSpPr>
          <p:nvPr/>
        </p:nvSpPr>
        <p:spPr bwMode="auto">
          <a:xfrm>
            <a:off x="152400" y="685800"/>
            <a:ext cx="2187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3399"/>
                </a:solidFill>
              </a:rPr>
              <a:t>3</a:t>
            </a:r>
            <a:r>
              <a:rPr lang="zh-CN" altLang="en-US"/>
              <a:t>、</a:t>
            </a:r>
            <a:endParaRPr lang="zh-CN" altLang="en-US"/>
          </a:p>
        </p:txBody>
      </p:sp>
      <p:grpSp>
        <p:nvGrpSpPr>
          <p:cNvPr id="652325" name="Group 37"/>
          <p:cNvGrpSpPr/>
          <p:nvPr/>
        </p:nvGrpSpPr>
        <p:grpSpPr bwMode="auto">
          <a:xfrm>
            <a:off x="250825" y="3429000"/>
            <a:ext cx="8424863" cy="1655763"/>
            <a:chOff x="158" y="2160"/>
            <a:chExt cx="5307" cy="1043"/>
          </a:xfrm>
        </p:grpSpPr>
        <p:sp>
          <p:nvSpPr>
            <p:cNvPr id="143365" name="Text Box 5"/>
            <p:cNvSpPr txBox="1">
              <a:spLocks noChangeArrowheads="1"/>
            </p:cNvSpPr>
            <p:nvPr/>
          </p:nvSpPr>
          <p:spPr bwMode="auto">
            <a:xfrm>
              <a:off x="158" y="2160"/>
              <a:ext cx="35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003399"/>
                  </a:solidFill>
                </a:rPr>
                <a:t>4</a:t>
              </a:r>
              <a:r>
                <a:rPr lang="zh-CN" altLang="en-US"/>
                <a:t>、连续型随机向量的概率密度</a:t>
              </a:r>
              <a:endParaRPr lang="zh-CN" altLang="en-US"/>
            </a:p>
          </p:txBody>
        </p:sp>
        <p:graphicFrame>
          <p:nvGraphicFramePr>
            <p:cNvPr id="143366" name="Object 31"/>
            <p:cNvGraphicFramePr>
              <a:graphicFrameLocks noChangeAspect="1"/>
            </p:cNvGraphicFramePr>
            <p:nvPr/>
          </p:nvGraphicFramePr>
          <p:xfrm>
            <a:off x="793" y="2820"/>
            <a:ext cx="4491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64" name="Equation" r:id="rId3" imgW="4775200" imgH="508000" progId="Equation.DSMT4">
                    <p:embed/>
                  </p:oleObj>
                </mc:Choice>
                <mc:Fallback>
                  <p:oleObj name="Equation" r:id="rId3" imgW="4775200" imgH="50800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2820"/>
                          <a:ext cx="4491" cy="3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367" name="Text Box 32"/>
            <p:cNvSpPr txBox="1">
              <a:spLocks noChangeArrowheads="1"/>
            </p:cNvSpPr>
            <p:nvPr/>
          </p:nvSpPr>
          <p:spPr bwMode="auto">
            <a:xfrm>
              <a:off x="295" y="2432"/>
              <a:ext cx="15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若存在非负函数</a:t>
              </a:r>
              <a:endParaRPr lang="zh-CN" altLang="en-US"/>
            </a:p>
          </p:txBody>
        </p:sp>
        <p:graphicFrame>
          <p:nvGraphicFramePr>
            <p:cNvPr id="143368" name="Object 33"/>
            <p:cNvGraphicFramePr>
              <a:graphicFrameLocks noChangeAspect="1"/>
            </p:cNvGraphicFramePr>
            <p:nvPr/>
          </p:nvGraphicFramePr>
          <p:xfrm>
            <a:off x="1701" y="2478"/>
            <a:ext cx="149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65" name="Equation" r:id="rId5" imgW="1752600" imgH="330200" progId="Equation.DSMT4">
                    <p:embed/>
                  </p:oleObj>
                </mc:Choice>
                <mc:Fallback>
                  <p:oleObj name="Equation" r:id="rId5" imgW="1752600" imgH="3302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1" y="2478"/>
                          <a:ext cx="149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369" name="Text Box 35"/>
            <p:cNvSpPr txBox="1">
              <a:spLocks noChangeArrowheads="1"/>
            </p:cNvSpPr>
            <p:nvPr/>
          </p:nvSpPr>
          <p:spPr bwMode="auto">
            <a:xfrm>
              <a:off x="2879" y="2432"/>
              <a:ext cx="167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/>
                <a:t>使得对于任意实数</a:t>
              </a:r>
              <a:endParaRPr lang="zh-CN" altLang="en-US"/>
            </a:p>
          </p:txBody>
        </p:sp>
        <p:graphicFrame>
          <p:nvGraphicFramePr>
            <p:cNvPr id="143370" name="Object 36"/>
            <p:cNvGraphicFramePr>
              <a:graphicFrameLocks noChangeAspect="1"/>
            </p:cNvGraphicFramePr>
            <p:nvPr/>
          </p:nvGraphicFramePr>
          <p:xfrm>
            <a:off x="4513" y="2478"/>
            <a:ext cx="952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66" name="Equation" r:id="rId7" imgW="939165" imgH="330200" progId="Equation.DSMT4">
                    <p:embed/>
                  </p:oleObj>
                </mc:Choice>
                <mc:Fallback>
                  <p:oleObj name="Equation" r:id="rId7" imgW="939165" imgH="330200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2478"/>
                          <a:ext cx="952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2292" grpId="0" bldLvl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ChangeArrowheads="1"/>
          </p:cNvSpPr>
          <p:nvPr/>
        </p:nvSpPr>
        <p:spPr bwMode="auto">
          <a:xfrm>
            <a:off x="323850" y="377825"/>
            <a:ext cx="8534400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/>
              <a:t>  </a:t>
            </a:r>
            <a:r>
              <a:rPr lang="zh-CN" altLang="en-US" sz="2800" b="1"/>
              <a:t>边缘分布</a:t>
            </a:r>
            <a:endParaRPr lang="zh-CN" altLang="en-US" sz="2800" b="1"/>
          </a:p>
          <a:p>
            <a:pPr eaLnBrk="1" hangingPunct="1">
              <a:spcBef>
                <a:spcPct val="2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		</a:t>
            </a:r>
            <a:endParaRPr lang="zh-CN" altLang="en-US" sz="2800">
              <a:latin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endParaRPr lang="zh-CN" altLang="en-US" sz="2800">
              <a:latin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	 </a:t>
            </a:r>
            <a:endParaRPr lang="en-US" altLang="zh-CN" sz="2800">
              <a:latin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    如：</a:t>
            </a:r>
            <a:endParaRPr lang="zh-CN" altLang="en-US" sz="2800">
              <a:latin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endParaRPr lang="en-US" altLang="zh-CN" sz="2800">
              <a:latin typeface="宋体" panose="02010600030101010101" pitchFamily="2" charset="-122"/>
            </a:endParaRPr>
          </a:p>
        </p:txBody>
      </p:sp>
      <p:graphicFrame>
        <p:nvGraphicFramePr>
          <p:cNvPr id="144387" name="Object 3"/>
          <p:cNvGraphicFramePr>
            <a:graphicFrameLocks noChangeAspect="1"/>
          </p:cNvGraphicFramePr>
          <p:nvPr/>
        </p:nvGraphicFramePr>
        <p:xfrm>
          <a:off x="1447800" y="1030288"/>
          <a:ext cx="70104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32" name="Equation" r:id="rId1" imgW="2971800" imgH="254000" progId="Equation.DSMT4">
                  <p:embed/>
                </p:oleObj>
              </mc:Choice>
              <mc:Fallback>
                <p:oleObj name="Equation" r:id="rId1" imgW="2971800" imgH="254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030288"/>
                        <a:ext cx="701040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16" name="Object 4"/>
          <p:cNvGraphicFramePr>
            <a:graphicFrameLocks noChangeAspect="1"/>
          </p:cNvGraphicFramePr>
          <p:nvPr/>
        </p:nvGraphicFramePr>
        <p:xfrm>
          <a:off x="1905000" y="2590800"/>
          <a:ext cx="4725988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33" name="Equation" r:id="rId3" imgW="1663700" imgH="241300" progId="Equation.DSMT4">
                  <p:embed/>
                </p:oleObj>
              </mc:Choice>
              <mc:Fallback>
                <p:oleObj name="Equation" r:id="rId3" imgW="16637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590800"/>
                        <a:ext cx="4725988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89" name="Object 5"/>
          <p:cNvGraphicFramePr>
            <a:graphicFrameLocks noChangeAspect="1"/>
          </p:cNvGraphicFramePr>
          <p:nvPr/>
        </p:nvGraphicFramePr>
        <p:xfrm>
          <a:off x="1524000" y="1676400"/>
          <a:ext cx="7086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34" name="Equation" r:id="rId5" imgW="3898900" imgH="254000" progId="Equation.DSMT4">
                  <p:embed/>
                </p:oleObj>
              </mc:Choice>
              <mc:Fallback>
                <p:oleObj name="Equation" r:id="rId5" imgW="38989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676400"/>
                        <a:ext cx="7086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18" name="Object 6"/>
          <p:cNvGraphicFramePr>
            <a:graphicFrameLocks noChangeAspect="1"/>
          </p:cNvGraphicFramePr>
          <p:nvPr/>
        </p:nvGraphicFramePr>
        <p:xfrm>
          <a:off x="1828800" y="3352800"/>
          <a:ext cx="4800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35" name="Equation" r:id="rId7" imgW="2082800" imgH="241300" progId="Equation.DSMT4">
                  <p:embed/>
                </p:oleObj>
              </mc:Choice>
              <mc:Fallback>
                <p:oleObj name="Equation" r:id="rId7" imgW="2082800" imgH="24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352800"/>
                        <a:ext cx="4800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19" name="Object 7"/>
          <p:cNvGraphicFramePr>
            <a:graphicFrameLocks noChangeAspect="1"/>
          </p:cNvGraphicFramePr>
          <p:nvPr/>
        </p:nvGraphicFramePr>
        <p:xfrm>
          <a:off x="1752600" y="4114800"/>
          <a:ext cx="601980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36" name="Equation" r:id="rId9" imgW="2857500" imgH="330200" progId="Equation.DSMT4">
                  <p:embed/>
                </p:oleObj>
              </mc:Choice>
              <mc:Fallback>
                <p:oleObj name="Equation" r:id="rId9" imgW="2857500" imgH="330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114800"/>
                        <a:ext cx="6019800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20" name="Object 8"/>
          <p:cNvGraphicFramePr>
            <a:graphicFrameLocks noChangeAspect="1"/>
          </p:cNvGraphicFramePr>
          <p:nvPr/>
        </p:nvGraphicFramePr>
        <p:xfrm>
          <a:off x="1676400" y="5181600"/>
          <a:ext cx="6248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37" name="Equation" r:id="rId11" imgW="3251200" imgH="330200" progId="Equation.DSMT4">
                  <p:embed/>
                </p:oleObj>
              </mc:Choice>
              <mc:Fallback>
                <p:oleObj name="Equation" r:id="rId11" imgW="3251200" imgH="330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181600"/>
                        <a:ext cx="62484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93" name="Text Box 9"/>
          <p:cNvSpPr txBox="1">
            <a:spLocks noChangeArrowheads="1"/>
          </p:cNvSpPr>
          <p:nvPr/>
        </p:nvSpPr>
        <p:spPr bwMode="auto">
          <a:xfrm>
            <a:off x="192088" y="377825"/>
            <a:ext cx="3121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3399"/>
                </a:solidFill>
              </a:rPr>
              <a:t>5</a:t>
            </a:r>
            <a:r>
              <a:rPr lang="zh-CN" altLang="en-US"/>
              <a:t>、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ChangeArrowheads="1"/>
          </p:cNvSpPr>
          <p:nvPr/>
        </p:nvSpPr>
        <p:spPr bwMode="auto">
          <a:xfrm>
            <a:off x="468313" y="404813"/>
            <a:ext cx="8245475" cy="5761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相互独立</a:t>
            </a:r>
            <a:endParaRPr lang="zh-CN" altLang="en-US" sz="28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zh-CN" altLang="en-US" sz="28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zh-CN" altLang="en-US" sz="28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 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graphicFrame>
        <p:nvGraphicFramePr>
          <p:cNvPr id="654339" name="Object 3"/>
          <p:cNvGraphicFramePr>
            <a:graphicFrameLocks noChangeAspect="1"/>
          </p:cNvGraphicFramePr>
          <p:nvPr/>
        </p:nvGraphicFramePr>
        <p:xfrm>
          <a:off x="900113" y="862013"/>
          <a:ext cx="7412037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04" name="Equation" r:id="rId1" imgW="3276600" imgH="482600" progId="Equation.DSMT4">
                  <p:embed/>
                </p:oleObj>
              </mc:Choice>
              <mc:Fallback>
                <p:oleObj name="Equation" r:id="rId1" imgW="3276600" imgH="482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862013"/>
                        <a:ext cx="7412037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4340" name="Object 4"/>
          <p:cNvGraphicFramePr>
            <a:graphicFrameLocks noChangeAspect="1"/>
          </p:cNvGraphicFramePr>
          <p:nvPr/>
        </p:nvGraphicFramePr>
        <p:xfrm>
          <a:off x="971550" y="2060575"/>
          <a:ext cx="481488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05" name="Equation" r:id="rId3" imgW="2070100" imgH="228600" progId="Equation.DSMT4">
                  <p:embed/>
                </p:oleObj>
              </mc:Choice>
              <mc:Fallback>
                <p:oleObj name="Equation" r:id="rId3" imgW="20701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060575"/>
                        <a:ext cx="481488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4341" name="Object 5"/>
          <p:cNvGraphicFramePr>
            <a:graphicFrameLocks noChangeAspect="1"/>
          </p:cNvGraphicFramePr>
          <p:nvPr/>
        </p:nvGraphicFramePr>
        <p:xfrm>
          <a:off x="914400" y="2514600"/>
          <a:ext cx="5105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06" name="Equation" r:id="rId5" imgW="2616200" imgH="254000" progId="Equation.DSMT4">
                  <p:embed/>
                </p:oleObj>
              </mc:Choice>
              <mc:Fallback>
                <p:oleObj name="Equation" r:id="rId5" imgW="26162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514600"/>
                        <a:ext cx="5105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4342" name="Object 6"/>
          <p:cNvGraphicFramePr>
            <a:graphicFrameLocks noChangeAspect="1"/>
          </p:cNvGraphicFramePr>
          <p:nvPr/>
        </p:nvGraphicFramePr>
        <p:xfrm>
          <a:off x="1371600" y="3200400"/>
          <a:ext cx="64770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07" name="Equation" r:id="rId7" imgW="3035300" imgH="254000" progId="Equation.DSMT4">
                  <p:embed/>
                </p:oleObj>
              </mc:Choice>
              <mc:Fallback>
                <p:oleObj name="Equation" r:id="rId7" imgW="3035300" imgH="254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200400"/>
                        <a:ext cx="647700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4343" name="Object 7"/>
          <p:cNvGraphicFramePr>
            <a:graphicFrameLocks noChangeAspect="1"/>
          </p:cNvGraphicFramePr>
          <p:nvPr/>
        </p:nvGraphicFramePr>
        <p:xfrm>
          <a:off x="1371600" y="3810000"/>
          <a:ext cx="64008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08" name="Equation" r:id="rId9" imgW="2717800" imgH="254000" progId="Equation.DSMT4">
                  <p:embed/>
                </p:oleObj>
              </mc:Choice>
              <mc:Fallback>
                <p:oleObj name="Equation" r:id="rId9" imgW="2717800" imgH="254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810000"/>
                        <a:ext cx="640080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4344" name="Object 8"/>
          <p:cNvGraphicFramePr>
            <a:graphicFrameLocks noChangeAspect="1"/>
          </p:cNvGraphicFramePr>
          <p:nvPr/>
        </p:nvGraphicFramePr>
        <p:xfrm>
          <a:off x="457200" y="4495800"/>
          <a:ext cx="813752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09" name="Equation" r:id="rId11" imgW="4292600" imgH="254000" progId="Equation.DSMT4">
                  <p:embed/>
                </p:oleObj>
              </mc:Choice>
              <mc:Fallback>
                <p:oleObj name="Equation" r:id="rId11" imgW="4292600" imgH="254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495800"/>
                        <a:ext cx="813752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4345" name="Object 9"/>
          <p:cNvGraphicFramePr>
            <a:graphicFrameLocks noChangeAspect="1"/>
          </p:cNvGraphicFramePr>
          <p:nvPr/>
        </p:nvGraphicFramePr>
        <p:xfrm>
          <a:off x="838200" y="5029200"/>
          <a:ext cx="78708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10" name="Equation" r:id="rId13" imgW="3898900" imgH="228600" progId="Equation.DSMT4">
                  <p:embed/>
                </p:oleObj>
              </mc:Choice>
              <mc:Fallback>
                <p:oleObj name="Equation" r:id="rId13" imgW="38989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029200"/>
                        <a:ext cx="78708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4346" name="Object 10"/>
          <p:cNvGraphicFramePr>
            <a:graphicFrameLocks noChangeAspect="1"/>
          </p:cNvGraphicFramePr>
          <p:nvPr/>
        </p:nvGraphicFramePr>
        <p:xfrm>
          <a:off x="1295400" y="5638800"/>
          <a:ext cx="574516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11" name="Equation" r:id="rId15" imgW="2857500" imgH="254000" progId="Equation.DSMT4">
                  <p:embed/>
                </p:oleObj>
              </mc:Choice>
              <mc:Fallback>
                <p:oleObj name="Equation" r:id="rId15" imgW="2857500" imgH="254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638800"/>
                        <a:ext cx="574516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9" name="Text Box 11"/>
          <p:cNvSpPr txBox="1">
            <a:spLocks noChangeArrowheads="1"/>
          </p:cNvSpPr>
          <p:nvPr/>
        </p:nvSpPr>
        <p:spPr bwMode="auto">
          <a:xfrm>
            <a:off x="228600" y="381000"/>
            <a:ext cx="2327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3399"/>
                </a:solidFill>
              </a:rPr>
              <a:t>6</a:t>
            </a:r>
            <a:r>
              <a:rPr lang="zh-CN" altLang="en-US"/>
              <a:t>、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5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5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5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5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5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5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5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54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54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5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5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Text Box 2"/>
          <p:cNvSpPr txBox="1">
            <a:spLocks noChangeArrowheads="1"/>
          </p:cNvSpPr>
          <p:nvPr/>
        </p:nvSpPr>
        <p:spPr bwMode="auto">
          <a:xfrm>
            <a:off x="-147638" y="1069975"/>
            <a:ext cx="89042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zh-CN" sz="2800" b="1">
                <a:solidFill>
                  <a:schemeClr val="tx2"/>
                </a:solidFill>
              </a:rPr>
              <a:t>       </a:t>
            </a:r>
            <a:r>
              <a:rPr lang="zh-CN" altLang="zh-CN" sz="2800" b="1">
                <a:solidFill>
                  <a:schemeClr val="accent2"/>
                </a:solidFill>
              </a:rPr>
              <a:t>有限个独立正态变量的线性组合仍然服从正态分布</a:t>
            </a:r>
            <a:r>
              <a:rPr lang="zh-CN" altLang="zh-CN" sz="2800" b="1">
                <a:solidFill>
                  <a:schemeClr val="tx2"/>
                </a:solidFill>
              </a:rPr>
              <a:t>.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graphicFrame>
        <p:nvGraphicFramePr>
          <p:cNvPr id="386052" name="Object 4"/>
          <p:cNvGraphicFramePr>
            <a:graphicFrameLocks noChangeAspect="1"/>
          </p:cNvGraphicFramePr>
          <p:nvPr/>
        </p:nvGraphicFramePr>
        <p:xfrm>
          <a:off x="1905000" y="2757488"/>
          <a:ext cx="27432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88" name="公式" r:id="rId1" imgW="1054100" imgH="241300" progId="Equation.3">
                  <p:embed/>
                </p:oleObj>
              </mc:Choice>
              <mc:Fallback>
                <p:oleObj name="公式" r:id="rId1" imgW="10541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757488"/>
                        <a:ext cx="274320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3" name="Object 5"/>
          <p:cNvGraphicFramePr>
            <a:graphicFrameLocks noChangeAspect="1"/>
          </p:cNvGraphicFramePr>
          <p:nvPr/>
        </p:nvGraphicFramePr>
        <p:xfrm>
          <a:off x="1066800" y="1995488"/>
          <a:ext cx="67976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89" name="公式" r:id="rId3" imgW="2857500" imgH="228600" progId="Equation.3">
                  <p:embed/>
                </p:oleObj>
              </mc:Choice>
              <mc:Fallback>
                <p:oleObj name="公式" r:id="rId3" imgW="28575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995488"/>
                        <a:ext cx="679767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6" name="Object 8"/>
          <p:cNvGraphicFramePr>
            <a:graphicFrameLocks noChangeAspect="1"/>
          </p:cNvGraphicFramePr>
          <p:nvPr/>
        </p:nvGraphicFramePr>
        <p:xfrm>
          <a:off x="1066800" y="3671888"/>
          <a:ext cx="55626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90" name="公式" r:id="rId5" imgW="2197100" imgH="228600" progId="Equation.3">
                  <p:embed/>
                </p:oleObj>
              </mc:Choice>
              <mc:Fallback>
                <p:oleObj name="公式" r:id="rId5" imgW="21971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671888"/>
                        <a:ext cx="55626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7" name="Object 9"/>
          <p:cNvGraphicFramePr>
            <a:graphicFrameLocks noChangeAspect="1"/>
          </p:cNvGraphicFramePr>
          <p:nvPr/>
        </p:nvGraphicFramePr>
        <p:xfrm>
          <a:off x="6629400" y="3367088"/>
          <a:ext cx="2286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91" name="Equation" r:id="rId7" imgW="914400" imgH="431800" progId="Equation.3">
                  <p:embed/>
                </p:oleObj>
              </mc:Choice>
              <mc:Fallback>
                <p:oleObj name="Equation" r:id="rId7" imgW="9144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367088"/>
                        <a:ext cx="22860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8" name="Object 10"/>
          <p:cNvGraphicFramePr>
            <a:graphicFrameLocks noChangeAspect="1"/>
          </p:cNvGraphicFramePr>
          <p:nvPr/>
        </p:nvGraphicFramePr>
        <p:xfrm>
          <a:off x="1447800" y="4510088"/>
          <a:ext cx="57150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92" name="Equation" r:id="rId9" imgW="1955800" imgH="457200" progId="Equation.3">
                  <p:embed/>
                </p:oleObj>
              </mc:Choice>
              <mc:Fallback>
                <p:oleObj name="Equation" r:id="rId9" imgW="195580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510088"/>
                        <a:ext cx="57150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8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6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6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6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86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0" grpId="0" bldLvl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3301517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ChangeArrowheads="1"/>
          </p:cNvSpPr>
          <p:nvPr/>
        </p:nvSpPr>
        <p:spPr bwMode="auto">
          <a:xfrm>
            <a:off x="395288" y="620713"/>
            <a:ext cx="8275637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27405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35075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4338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3200">
                <a:latin typeface="宋体" panose="02010600030101010101" pitchFamily="2" charset="-122"/>
              </a:rPr>
              <a:t>定理</a:t>
            </a:r>
            <a:r>
              <a:rPr lang="en-US" altLang="zh-CN" sz="3200">
                <a:latin typeface="宋体" panose="02010600030101010101" pitchFamily="2" charset="-122"/>
              </a:rPr>
              <a:t>1</a:t>
            </a:r>
            <a:r>
              <a:rPr lang="zh-CN" altLang="en-US" sz="3200">
                <a:latin typeface="宋体" panose="02010600030101010101" pitchFamily="2" charset="-122"/>
              </a:rPr>
              <a:t>：</a:t>
            </a:r>
            <a:endParaRPr lang="zh-CN" altLang="en-US" sz="3200">
              <a:latin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3200">
                <a:latin typeface="宋体" panose="02010600030101010101" pitchFamily="2" charset="-122"/>
              </a:rPr>
              <a:t>	</a:t>
            </a:r>
            <a:endParaRPr lang="zh-CN" altLang="en-US" sz="3200">
              <a:latin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endParaRPr lang="zh-CN" altLang="en-US" sz="3200">
              <a:latin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zh-CN" altLang="en-US" sz="3200">
              <a:latin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endParaRPr lang="zh-CN" altLang="en-US" sz="3200">
              <a:latin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endParaRPr lang="en-US" altLang="zh-CN" sz="3200">
              <a:latin typeface="宋体" panose="02010600030101010101" pitchFamily="2" charset="-122"/>
            </a:endParaRPr>
          </a:p>
        </p:txBody>
      </p:sp>
      <p:graphicFrame>
        <p:nvGraphicFramePr>
          <p:cNvPr id="655363" name="Object 3"/>
          <p:cNvGraphicFramePr>
            <a:graphicFrameLocks noChangeAspect="1"/>
          </p:cNvGraphicFramePr>
          <p:nvPr/>
        </p:nvGraphicFramePr>
        <p:xfrm>
          <a:off x="1258888" y="1700213"/>
          <a:ext cx="62007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32" name="Equation" r:id="rId1" imgW="2832100" imgH="254000" progId="Equation.DSMT4">
                  <p:embed/>
                </p:oleObj>
              </mc:Choice>
              <mc:Fallback>
                <p:oleObj name="Equation" r:id="rId1" imgW="2832100" imgH="254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700213"/>
                        <a:ext cx="62007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64" name="Object 4"/>
          <p:cNvGraphicFramePr>
            <a:graphicFrameLocks noChangeAspect="1"/>
          </p:cNvGraphicFramePr>
          <p:nvPr/>
        </p:nvGraphicFramePr>
        <p:xfrm>
          <a:off x="1295400" y="2590800"/>
          <a:ext cx="65373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33" name="Equation" r:id="rId3" imgW="3086100" imgH="254000" progId="Equation.DSMT4">
                  <p:embed/>
                </p:oleObj>
              </mc:Choice>
              <mc:Fallback>
                <p:oleObj name="Equation" r:id="rId3" imgW="3086100" imgH="25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590800"/>
                        <a:ext cx="65373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65" name="Object 5"/>
          <p:cNvGraphicFramePr>
            <a:graphicFrameLocks noChangeAspect="1"/>
          </p:cNvGraphicFramePr>
          <p:nvPr/>
        </p:nvGraphicFramePr>
        <p:xfrm>
          <a:off x="1403350" y="4076700"/>
          <a:ext cx="69342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34" name="Equation" r:id="rId5" imgW="3060700" imgH="254000" progId="Equation.DSMT4">
                  <p:embed/>
                </p:oleObj>
              </mc:Choice>
              <mc:Fallback>
                <p:oleObj name="Equation" r:id="rId5" imgW="30607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076700"/>
                        <a:ext cx="69342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66" name="Object 6"/>
          <p:cNvGraphicFramePr>
            <a:graphicFrameLocks noChangeAspect="1"/>
          </p:cNvGraphicFramePr>
          <p:nvPr/>
        </p:nvGraphicFramePr>
        <p:xfrm>
          <a:off x="1403350" y="5013325"/>
          <a:ext cx="678180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35" name="Equation" r:id="rId7" imgW="3022600" imgH="254000" progId="Equation.DSMT4">
                  <p:embed/>
                </p:oleObj>
              </mc:Choice>
              <mc:Fallback>
                <p:oleObj name="Equation" r:id="rId7" imgW="3022600" imgH="254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013325"/>
                        <a:ext cx="6781800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68" name="Rectangle 8"/>
          <p:cNvSpPr>
            <a:spLocks noChangeArrowheads="1"/>
          </p:cNvSpPr>
          <p:nvPr/>
        </p:nvSpPr>
        <p:spPr bwMode="auto">
          <a:xfrm>
            <a:off x="395288" y="3357563"/>
            <a:ext cx="8275637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27405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35075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4338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3200">
                <a:latin typeface="宋体" panose="02010600030101010101" pitchFamily="2" charset="-122"/>
              </a:rPr>
              <a:t>定理</a:t>
            </a:r>
            <a:r>
              <a:rPr lang="en-US" altLang="zh-CN" sz="3200">
                <a:latin typeface="宋体" panose="02010600030101010101" pitchFamily="2" charset="-122"/>
              </a:rPr>
              <a:t>2</a:t>
            </a:r>
            <a:r>
              <a:rPr lang="zh-CN" altLang="en-US" sz="3200">
                <a:latin typeface="宋体" panose="02010600030101010101" pitchFamily="2" charset="-122"/>
              </a:rPr>
              <a:t>：</a:t>
            </a:r>
            <a:endParaRPr lang="zh-CN" altLang="en-US" sz="3200">
              <a:latin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3200">
                <a:latin typeface="宋体" panose="02010600030101010101" pitchFamily="2" charset="-122"/>
              </a:rPr>
              <a:t>	</a:t>
            </a:r>
            <a:endParaRPr lang="zh-CN" altLang="en-US" sz="3200">
              <a:latin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endParaRPr lang="zh-CN" altLang="en-US" sz="3200">
              <a:latin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zh-CN" altLang="en-US" sz="3200">
              <a:latin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endParaRPr lang="zh-CN" altLang="en-US" sz="3200">
              <a:latin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endParaRPr lang="en-US" altLang="zh-CN" sz="32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5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5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5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68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8434" name="Object 2"/>
          <p:cNvGraphicFramePr>
            <a:graphicFrameLocks noChangeAspect="1"/>
          </p:cNvGraphicFramePr>
          <p:nvPr/>
        </p:nvGraphicFramePr>
        <p:xfrm>
          <a:off x="468313" y="1844675"/>
          <a:ext cx="8207375" cy="389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84" name="Equation" r:id="rId1" imgW="6692900" imgH="3048000" progId="Equation.DSMT4">
                  <p:embed/>
                </p:oleObj>
              </mc:Choice>
              <mc:Fallback>
                <p:oleObj name="Equation" r:id="rId1" imgW="6692900" imgH="3048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844675"/>
                        <a:ext cx="8207375" cy="389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8435" name="Text Box 3"/>
          <p:cNvSpPr txBox="1">
            <a:spLocks noChangeArrowheads="1"/>
          </p:cNvSpPr>
          <p:nvPr/>
        </p:nvSpPr>
        <p:spPr bwMode="auto">
          <a:xfrm>
            <a:off x="34925" y="908050"/>
            <a:ext cx="38893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200" b="1"/>
              <a:t>  </a:t>
            </a:r>
            <a:r>
              <a:rPr lang="zh-CN" altLang="en-US" sz="3200" b="1"/>
              <a:t>积分转换法</a:t>
            </a:r>
            <a:endParaRPr lang="zh-CN" altLang="en-US" sz="3200" b="1"/>
          </a:p>
        </p:txBody>
      </p:sp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827088" y="115888"/>
            <a:ext cx="5080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多个随机变量的函数的分布</a:t>
            </a:r>
            <a:endParaRPr lang="zh-CN" altLang="en-US" sz="32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8435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ext Box 2"/>
          <p:cNvSpPr txBox="1">
            <a:spLocks noChangeArrowheads="1"/>
          </p:cNvSpPr>
          <p:nvPr/>
        </p:nvSpPr>
        <p:spPr bwMode="auto">
          <a:xfrm>
            <a:off x="457200" y="457200"/>
            <a:ext cx="8215313" cy="107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chemeClr val="tx2"/>
                </a:solidFill>
              </a:rPr>
              <a:t>        </a:t>
            </a:r>
            <a:r>
              <a:rPr lang="zh-CN" altLang="en-US" sz="2800" b="1">
                <a:solidFill>
                  <a:schemeClr val="tx2"/>
                </a:solidFill>
              </a:rPr>
              <a:t>设 </a:t>
            </a:r>
            <a:r>
              <a:rPr lang="en-US" altLang="zh-CN" sz="2800" b="1" i="1">
                <a:solidFill>
                  <a:schemeClr val="tx2"/>
                </a:solidFill>
              </a:rPr>
              <a:t>X</a:t>
            </a:r>
            <a:r>
              <a:rPr lang="en-US" altLang="zh-CN" sz="2800" b="1" baseline="-25000">
                <a:solidFill>
                  <a:schemeClr val="tx2"/>
                </a:solidFill>
              </a:rPr>
              <a:t>1</a:t>
            </a:r>
            <a:r>
              <a:rPr lang="en-US" altLang="zh-CN" sz="2800" b="1">
                <a:solidFill>
                  <a:schemeClr val="tx2"/>
                </a:solidFill>
              </a:rPr>
              <a:t>,…,</a:t>
            </a:r>
            <a:r>
              <a:rPr lang="en-US" altLang="zh-CN" sz="2800" b="1" i="1">
                <a:solidFill>
                  <a:schemeClr val="tx2"/>
                </a:solidFill>
              </a:rPr>
              <a:t>X</a:t>
            </a:r>
            <a:r>
              <a:rPr lang="en-US" altLang="zh-CN" sz="2800" b="1" i="1" baseline="-25000">
                <a:solidFill>
                  <a:schemeClr val="tx2"/>
                </a:solidFill>
              </a:rPr>
              <a:t>n </a:t>
            </a:r>
            <a:r>
              <a:rPr lang="zh-CN" altLang="en-US" sz="2800" b="1">
                <a:solidFill>
                  <a:schemeClr val="tx2"/>
                </a:solidFill>
              </a:rPr>
              <a:t>是 </a:t>
            </a:r>
            <a:r>
              <a:rPr lang="en-US" altLang="zh-CN" sz="2800" b="1" i="1">
                <a:solidFill>
                  <a:schemeClr val="tx2"/>
                </a:solidFill>
              </a:rPr>
              <a:t>n </a:t>
            </a:r>
            <a:r>
              <a:rPr lang="zh-CN" altLang="en-US" sz="2800" b="1">
                <a:solidFill>
                  <a:schemeClr val="tx2"/>
                </a:solidFill>
              </a:rPr>
              <a:t>个相互独立的随机变量</a:t>
            </a:r>
            <a:r>
              <a:rPr lang="en-US" altLang="zh-CN" sz="2800" b="1">
                <a:solidFill>
                  <a:schemeClr val="tx2"/>
                </a:solidFill>
              </a:rPr>
              <a:t>,</a:t>
            </a:r>
            <a:r>
              <a:rPr lang="zh-CN" altLang="en-US" sz="2800" b="1">
                <a:solidFill>
                  <a:schemeClr val="tx2"/>
                </a:solidFill>
              </a:rPr>
              <a:t>它们的分布函数分别为</a:t>
            </a:r>
            <a:r>
              <a:rPr lang="zh-CN" altLang="en-US" sz="2800" b="1"/>
              <a:t> </a:t>
            </a:r>
            <a:endParaRPr lang="zh-CN" altLang="en-US" sz="2800" b="1"/>
          </a:p>
        </p:txBody>
      </p:sp>
      <p:sp>
        <p:nvSpPr>
          <p:cNvPr id="656387" name="Text Box 3"/>
          <p:cNvSpPr txBox="1">
            <a:spLocks noChangeArrowheads="1"/>
          </p:cNvSpPr>
          <p:nvPr/>
        </p:nvSpPr>
        <p:spPr bwMode="auto">
          <a:xfrm>
            <a:off x="463550" y="1962150"/>
            <a:ext cx="8351838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/>
              <a:t>        </a:t>
            </a:r>
            <a:r>
              <a:rPr lang="zh-CN" altLang="en-US" sz="2800" b="1"/>
              <a:t>我们来求  </a:t>
            </a:r>
            <a:r>
              <a:rPr lang="en-US" altLang="zh-CN" sz="2800" b="1" i="1"/>
              <a:t>M=</a:t>
            </a:r>
            <a:r>
              <a:rPr lang="en-US" altLang="zh-CN" sz="2800" b="1"/>
              <a:t>max(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,…,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n</a:t>
            </a:r>
            <a:r>
              <a:rPr lang="en-US" altLang="zh-CN" sz="2800" b="1"/>
              <a:t>) </a:t>
            </a:r>
            <a:r>
              <a:rPr lang="zh-CN" altLang="en-US" sz="2800" b="1"/>
              <a:t>和</a:t>
            </a:r>
            <a:r>
              <a:rPr lang="en-US" altLang="zh-CN" sz="2800" b="1" i="1"/>
              <a:t>N=</a:t>
            </a:r>
            <a:r>
              <a:rPr lang="en-US" altLang="zh-CN" sz="2800" b="1"/>
              <a:t>min(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,…,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的分布函数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sp>
        <p:nvSpPr>
          <p:cNvPr id="656388" name="Rectangle 4"/>
          <p:cNvSpPr>
            <a:spLocks noChangeArrowheads="1"/>
          </p:cNvSpPr>
          <p:nvPr/>
        </p:nvSpPr>
        <p:spPr bwMode="auto">
          <a:xfrm>
            <a:off x="3919538" y="1514475"/>
            <a:ext cx="19891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chemeClr val="accent2"/>
                </a:solidFill>
              </a:rPr>
              <a:t>(</a:t>
            </a:r>
            <a:r>
              <a:rPr lang="en-US" altLang="zh-CN" sz="2800" b="1" i="1">
                <a:solidFill>
                  <a:schemeClr val="accent2"/>
                </a:solidFill>
              </a:rPr>
              <a:t>i </a:t>
            </a:r>
            <a:r>
              <a:rPr lang="en-US" altLang="zh-CN" sz="2800" b="1">
                <a:solidFill>
                  <a:schemeClr val="accent2"/>
                </a:solidFill>
              </a:rPr>
              <a:t>= 1, …, </a:t>
            </a:r>
            <a:r>
              <a:rPr lang="en-US" altLang="zh-CN" sz="2800" b="1" i="1">
                <a:solidFill>
                  <a:schemeClr val="accent2"/>
                </a:solidFill>
              </a:rPr>
              <a:t>n</a:t>
            </a:r>
            <a:r>
              <a:rPr lang="en-US" altLang="zh-CN" sz="2800" b="1">
                <a:solidFill>
                  <a:schemeClr val="accent2"/>
                </a:solidFill>
              </a:rPr>
              <a:t>)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sp>
        <p:nvSpPr>
          <p:cNvPr id="656389" name="Text Box 5"/>
          <p:cNvSpPr txBox="1">
            <a:spLocks noChangeArrowheads="1"/>
          </p:cNvSpPr>
          <p:nvPr/>
        </p:nvSpPr>
        <p:spPr bwMode="auto">
          <a:xfrm>
            <a:off x="1066800" y="3041650"/>
            <a:ext cx="58054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 </a:t>
            </a:r>
            <a:r>
              <a:rPr lang="zh-CN" altLang="en-US" sz="2800" b="1"/>
              <a:t>用与二维时完全类似的方法，可得  </a:t>
            </a:r>
            <a:endParaRPr lang="zh-CN" altLang="en-US" sz="2800" b="1"/>
          </a:p>
        </p:txBody>
      </p:sp>
      <p:sp>
        <p:nvSpPr>
          <p:cNvPr id="656390" name="Rectangle 6"/>
          <p:cNvSpPr>
            <a:spLocks noChangeArrowheads="1"/>
          </p:cNvSpPr>
          <p:nvPr/>
        </p:nvSpPr>
        <p:spPr bwMode="auto">
          <a:xfrm>
            <a:off x="482600" y="4841875"/>
            <a:ext cx="48815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i="1"/>
              <a:t>N=</a:t>
            </a:r>
            <a:r>
              <a:rPr lang="en-US" altLang="zh-CN" sz="2800" b="1"/>
              <a:t>min(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,…,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的分布函数是</a:t>
            </a:r>
            <a:endParaRPr lang="zh-CN" altLang="en-US" sz="2800" b="1"/>
          </a:p>
        </p:txBody>
      </p:sp>
      <p:sp>
        <p:nvSpPr>
          <p:cNvPr id="656391" name="Text Box 7"/>
          <p:cNvSpPr txBox="1">
            <a:spLocks noChangeArrowheads="1"/>
          </p:cNvSpPr>
          <p:nvPr/>
        </p:nvSpPr>
        <p:spPr bwMode="auto">
          <a:xfrm>
            <a:off x="325438" y="3546475"/>
            <a:ext cx="5394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  </a:t>
            </a:r>
            <a:r>
              <a:rPr lang="en-US" altLang="zh-CN" sz="2800" b="1" i="1"/>
              <a:t>M=</a:t>
            </a:r>
            <a:r>
              <a:rPr lang="en-US" altLang="zh-CN" sz="2800" b="1"/>
              <a:t>max(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,…,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的分布函数为</a:t>
            </a:r>
            <a:r>
              <a:rPr lang="en-US" altLang="zh-CN" sz="2800" b="1"/>
              <a:t>:  </a:t>
            </a:r>
            <a:endParaRPr lang="en-US" altLang="zh-CN" sz="2800" b="1"/>
          </a:p>
        </p:txBody>
      </p:sp>
      <p:graphicFrame>
        <p:nvGraphicFramePr>
          <p:cNvPr id="656392" name="Object 8"/>
          <p:cNvGraphicFramePr>
            <a:graphicFrameLocks noChangeAspect="1"/>
          </p:cNvGraphicFramePr>
          <p:nvPr/>
        </p:nvGraphicFramePr>
        <p:xfrm>
          <a:off x="1903413" y="4265613"/>
          <a:ext cx="4851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60" name="Equation" r:id="rId1" imgW="4772025" imgH="462280" progId="Equation.DSMT4">
                  <p:embed/>
                </p:oleObj>
              </mc:Choice>
              <mc:Fallback>
                <p:oleObj name="Equation" r:id="rId1" imgW="4772025" imgH="4622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4265613"/>
                        <a:ext cx="4851400" cy="533400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6393" name="Object 9"/>
          <p:cNvGraphicFramePr>
            <a:graphicFrameLocks noChangeAspect="1"/>
          </p:cNvGraphicFramePr>
          <p:nvPr/>
        </p:nvGraphicFramePr>
        <p:xfrm>
          <a:off x="827088" y="5418138"/>
          <a:ext cx="7327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61" name="Equation" r:id="rId3" imgW="7248525" imgH="462280" progId="Equation.DSMT4">
                  <p:embed/>
                </p:oleObj>
              </mc:Choice>
              <mc:Fallback>
                <p:oleObj name="Equation" r:id="rId3" imgW="7248525" imgH="4622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418138"/>
                        <a:ext cx="7327900" cy="533400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6394" name="Object 10"/>
          <p:cNvGraphicFramePr>
            <a:graphicFrameLocks noChangeAspect="1"/>
          </p:cNvGraphicFramePr>
          <p:nvPr/>
        </p:nvGraphicFramePr>
        <p:xfrm>
          <a:off x="2662238" y="1530350"/>
          <a:ext cx="1041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62" name="Equation" r:id="rId5" imgW="962025" imgH="462280" progId="Equation.DSMT4">
                  <p:embed/>
                </p:oleObj>
              </mc:Choice>
              <mc:Fallback>
                <p:oleObj name="Equation" r:id="rId5" imgW="962025" imgH="4622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2238" y="1530350"/>
                        <a:ext cx="1041400" cy="533400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5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5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5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65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5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5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5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5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387" grpId="0" bldLvl="0" animBg="1" autoUpdateAnimBg="0"/>
      <p:bldP spid="656388" grpId="0" bldLvl="0" animBg="1" autoUpdateAnimBg="0"/>
      <p:bldP spid="656389" grpId="0" bldLvl="0" animBg="1" autoUpdateAnimBg="0"/>
      <p:bldP spid="656390" grpId="0" bldLvl="0" animBg="1" autoUpdateAnimBg="0"/>
      <p:bldP spid="656391" grpId="0" bldLvl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Text Box 2"/>
          <p:cNvSpPr txBox="1">
            <a:spLocks noChangeArrowheads="1"/>
          </p:cNvSpPr>
          <p:nvPr/>
        </p:nvSpPr>
        <p:spPr bwMode="auto">
          <a:xfrm>
            <a:off x="920750" y="977900"/>
            <a:ext cx="75438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/>
              <a:t>        </a:t>
            </a:r>
            <a:r>
              <a:rPr lang="zh-CN" altLang="en-US" sz="2800" b="1"/>
              <a:t>特别地，当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,…,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n</a:t>
            </a:r>
            <a:r>
              <a:rPr lang="zh-CN" altLang="en-US" sz="2800" b="1"/>
              <a:t>相互独立且具有相同分布函数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</a:t>
            </a:r>
            <a:r>
              <a:rPr lang="zh-CN" altLang="en-US" sz="2800" b="1"/>
              <a:t>时，有 </a:t>
            </a:r>
            <a:endParaRPr lang="zh-CN" altLang="en-US" sz="2800" b="1"/>
          </a:p>
        </p:txBody>
      </p:sp>
      <p:graphicFrame>
        <p:nvGraphicFramePr>
          <p:cNvPr id="657411" name="Object 3"/>
          <p:cNvGraphicFramePr>
            <a:graphicFrameLocks noChangeAspect="1"/>
          </p:cNvGraphicFramePr>
          <p:nvPr/>
        </p:nvGraphicFramePr>
        <p:xfrm>
          <a:off x="2959100" y="2359025"/>
          <a:ext cx="2489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55" name="Equation" r:id="rId1" imgW="2409825" imgH="433070" progId="Equation.DSMT4">
                  <p:embed/>
                </p:oleObj>
              </mc:Choice>
              <mc:Fallback>
                <p:oleObj name="Equation" r:id="rId1" imgW="2409825" imgH="43307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359025"/>
                        <a:ext cx="2489200" cy="508000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7412" name="Object 4"/>
          <p:cNvGraphicFramePr>
            <a:graphicFrameLocks noChangeAspect="1"/>
          </p:cNvGraphicFramePr>
          <p:nvPr/>
        </p:nvGraphicFramePr>
        <p:xfrm>
          <a:off x="2570163" y="3065463"/>
          <a:ext cx="3403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56" name="Equation" r:id="rId3" imgW="3324225" imgH="433070" progId="Equation.DSMT4">
                  <p:embed/>
                </p:oleObj>
              </mc:Choice>
              <mc:Fallback>
                <p:oleObj name="Equation" r:id="rId3" imgW="3324225" imgH="43307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0163" y="3065463"/>
                        <a:ext cx="3403600" cy="508000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5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5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410" grpId="0" bldLvl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3301534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3301535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3301535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5"/>
          <p:cNvSpPr>
            <a:spLocks noChangeArrowheads="1"/>
          </p:cNvSpPr>
          <p:nvPr/>
        </p:nvSpPr>
        <p:spPr bwMode="auto">
          <a:xfrm>
            <a:off x="1201738" y="908050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补充题之</a:t>
            </a:r>
            <a:r>
              <a:rPr lang="en-US" altLang="zh-CN"/>
              <a:t>5</a:t>
            </a:r>
            <a:endParaRPr lang="en-US" altLang="zh-CN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828675" y="1631950"/>
          <a:ext cx="8477250" cy="177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79" name="文档" r:id="rId1" imgW="5307965" imgH="1108075" progId="Word.Document.8">
                  <p:embed/>
                </p:oleObj>
              </mc:Choice>
              <mc:Fallback>
                <p:oleObj name="文档" r:id="rId1" imgW="5307965" imgH="110807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1631950"/>
                        <a:ext cx="8477250" cy="177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755650" y="3482975"/>
          <a:ext cx="8477250" cy="337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80" name="文档" r:id="rId3" imgW="5309235" imgH="2118360" progId="Word.Document.8">
                  <p:embed/>
                </p:oleObj>
              </mc:Choice>
              <mc:Fallback>
                <p:oleObj name="文档" r:id="rId3" imgW="5309235" imgH="211836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482975"/>
                        <a:ext cx="8477250" cy="337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530" name="Object 2"/>
          <p:cNvGraphicFramePr>
            <a:graphicFrameLocks noChangeAspect="1"/>
          </p:cNvGraphicFramePr>
          <p:nvPr/>
        </p:nvGraphicFramePr>
        <p:xfrm>
          <a:off x="539750" y="908050"/>
          <a:ext cx="8496300" cy="484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6" name="文档" r:id="rId1" imgW="5313680" imgH="3039110" progId="Word.Document.8">
                  <p:embed/>
                </p:oleObj>
              </mc:Choice>
              <mc:Fallback>
                <p:oleObj name="文档" r:id="rId1" imgW="5313680" imgH="303911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908050"/>
                        <a:ext cx="8496300" cy="484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Tm="22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530" name="Object 2"/>
          <p:cNvGraphicFramePr>
            <a:graphicFrameLocks noChangeAspect="1"/>
          </p:cNvGraphicFramePr>
          <p:nvPr/>
        </p:nvGraphicFramePr>
        <p:xfrm>
          <a:off x="468313" y="7938"/>
          <a:ext cx="8461375" cy="685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50" name="文档" r:id="rId1" imgW="5405755" imgH="4359910" progId="Word.Document.8">
                  <p:embed/>
                </p:oleObj>
              </mc:Choice>
              <mc:Fallback>
                <p:oleObj name="文档" r:id="rId1" imgW="5405755" imgH="435991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7938"/>
                        <a:ext cx="8461375" cy="685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Tm="22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8382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/>
              <a:t>第四章、随机变量的数字特征</a:t>
            </a:r>
            <a:endParaRPr lang="zh-CN" altLang="en-US"/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209800" y="2362200"/>
            <a:ext cx="4800600" cy="244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第一节：数学期望</a:t>
            </a:r>
            <a:endParaRPr lang="zh-CN" altLang="en-US" sz="2800" b="1"/>
          </a:p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第二节：方差</a:t>
            </a:r>
            <a:endParaRPr lang="zh-CN" altLang="en-US" sz="2800" b="1"/>
          </a:p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第三节：协方差及相关系数</a:t>
            </a:r>
            <a:endParaRPr lang="zh-CN" altLang="en-US" sz="2800" b="1"/>
          </a:p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第四节：矩、协方差矩阵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Text Box 2"/>
          <p:cNvSpPr txBox="1">
            <a:spLocks noChangeArrowheads="1"/>
          </p:cNvSpPr>
          <p:nvPr/>
        </p:nvSpPr>
        <p:spPr bwMode="auto">
          <a:xfrm>
            <a:off x="685800" y="1771650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/>
              <a:t> 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sp>
        <p:nvSpPr>
          <p:cNvPr id="265219" name="Text Box 3"/>
          <p:cNvSpPr txBox="1">
            <a:spLocks noChangeArrowheads="1"/>
          </p:cNvSpPr>
          <p:nvPr/>
        </p:nvSpPr>
        <p:spPr bwMode="auto">
          <a:xfrm>
            <a:off x="533400" y="1066800"/>
            <a:ext cx="80010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/>
              <a:t>       </a:t>
            </a:r>
            <a:r>
              <a:rPr lang="zh-CN" altLang="en-US" sz="2800" b="1"/>
              <a:t>在前面的课程中，我们讨论了随机变量及其分布，如果知道了随机变量</a:t>
            </a:r>
            <a:r>
              <a:rPr lang="en-US" altLang="zh-CN" sz="2800" b="1" i="1"/>
              <a:t>X</a:t>
            </a:r>
            <a:r>
              <a:rPr lang="zh-CN" altLang="en-US" sz="2800" b="1"/>
              <a:t>的</a:t>
            </a:r>
            <a:r>
              <a:rPr lang="zh-CN" altLang="en-US" sz="2800" b="1">
                <a:solidFill>
                  <a:schemeClr val="accent2"/>
                </a:solidFill>
              </a:rPr>
              <a:t>概率分布</a:t>
            </a:r>
            <a:r>
              <a:rPr lang="zh-CN" altLang="en-US" sz="2800" b="1"/>
              <a:t>，那么</a:t>
            </a:r>
            <a:r>
              <a:rPr lang="en-US" altLang="zh-CN" sz="2800" b="1" i="1"/>
              <a:t>X</a:t>
            </a:r>
            <a:r>
              <a:rPr lang="zh-CN" altLang="en-US" sz="2800" b="1"/>
              <a:t>的全部概率特征也就知道了</a:t>
            </a:r>
            <a:r>
              <a:rPr lang="en-US" altLang="zh-CN" sz="2800" b="1"/>
              <a:t>.</a:t>
            </a:r>
            <a:endParaRPr lang="en-US" altLang="zh-CN" sz="2800"/>
          </a:p>
        </p:txBody>
      </p:sp>
      <p:sp>
        <p:nvSpPr>
          <p:cNvPr id="265220" name="Rectangle 4"/>
          <p:cNvSpPr>
            <a:spLocks noChangeArrowheads="1"/>
          </p:cNvSpPr>
          <p:nvPr/>
        </p:nvSpPr>
        <p:spPr bwMode="auto">
          <a:xfrm>
            <a:off x="609600" y="3003550"/>
            <a:ext cx="77724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/>
              <a:t>        </a:t>
            </a:r>
            <a:r>
              <a:rPr lang="zh-CN" altLang="en-US" sz="2800" b="1"/>
              <a:t>然而，在实际问题中，概率分布一般是较难确定的</a:t>
            </a:r>
            <a:r>
              <a:rPr lang="en-US" altLang="zh-CN" sz="2800" b="1"/>
              <a:t>.   </a:t>
            </a:r>
            <a:r>
              <a:rPr lang="zh-CN" altLang="en-US" sz="2800" b="1"/>
              <a:t>而在一些实际应用中，人们并不需要知道随机变量的一切概率性质，只要知道它的某些</a:t>
            </a:r>
            <a:r>
              <a:rPr lang="zh-CN" altLang="en-US" sz="2800" b="1">
                <a:solidFill>
                  <a:schemeClr val="accent2"/>
                </a:solidFill>
              </a:rPr>
              <a:t>数字特征</a:t>
            </a:r>
            <a:r>
              <a:rPr lang="zh-CN" altLang="en-US" sz="2800" b="1"/>
              <a:t>就够了</a:t>
            </a:r>
            <a:r>
              <a:rPr lang="en-US" altLang="zh-CN" sz="2800" b="1"/>
              <a:t>.</a:t>
            </a:r>
            <a:endParaRPr lang="en-US" altLang="zh-CN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65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5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5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8" grpId="0" autoUpdateAnimBg="0"/>
      <p:bldP spid="265219" grpId="0" autoUpdateAnimBg="0"/>
      <p:bldP spid="265220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ChangeArrowheads="1"/>
          </p:cNvSpPr>
          <p:nvPr/>
        </p:nvSpPr>
        <p:spPr bwMode="auto">
          <a:xfrm>
            <a:off x="381000" y="381000"/>
            <a:ext cx="8047038" cy="579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62674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tabLst>
                <a:tab pos="62674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tabLst>
                <a:tab pos="62674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tabLst>
                <a:tab pos="62674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tabLst>
                <a:tab pos="62674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2674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2674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2674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26745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/>
              <a:t>例：</a:t>
            </a:r>
            <a:endParaRPr lang="zh-CN" altLang="en-US" sz="2800" b="1"/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1"/>
              </a:buBlip>
            </a:pPr>
            <a:r>
              <a:rPr lang="zh-CN" altLang="en-US" sz="2800" b="1"/>
              <a:t> 在评定某地区粮食产量的水平时，最关心的</a:t>
            </a:r>
            <a:endParaRPr lang="zh-CN" altLang="en-US" sz="2800" b="1"/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/>
              <a:t>	  是</a:t>
            </a:r>
            <a:r>
              <a:rPr lang="zh-CN" altLang="en-US" sz="2800" b="1">
                <a:solidFill>
                  <a:schemeClr val="accent2"/>
                </a:solidFill>
              </a:rPr>
              <a:t>平均产量</a:t>
            </a:r>
            <a:r>
              <a:rPr lang="zh-CN" altLang="en-US" sz="2800" b="1"/>
              <a:t>；</a:t>
            </a:r>
            <a:endParaRPr lang="zh-CN" altLang="en-US" sz="2800" b="1"/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endParaRPr lang="zh-CN" altLang="en-US" sz="2800" b="1"/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1"/>
              </a:buBlip>
            </a:pPr>
            <a:r>
              <a:rPr lang="zh-CN" altLang="en-US" sz="2800" b="1"/>
              <a:t> 在检查一批棉花的质量时，既需要注意纤维的平均长度，又需要注意</a:t>
            </a:r>
            <a:r>
              <a:rPr lang="zh-CN" altLang="en-US" sz="2800" b="1">
                <a:solidFill>
                  <a:schemeClr val="accent2"/>
                </a:solidFill>
              </a:rPr>
              <a:t>纤维长度与平均长度的偏离程度；</a:t>
            </a:r>
            <a:endParaRPr lang="zh-CN" altLang="en-US" sz="2800" b="1">
              <a:solidFill>
                <a:schemeClr val="accent2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endParaRPr lang="zh-CN" altLang="en-US" sz="2800" b="1">
              <a:solidFill>
                <a:schemeClr val="accent2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1"/>
              </a:buBlip>
            </a:pPr>
            <a:r>
              <a:rPr lang="zh-CN" altLang="en-US" sz="2800" b="1"/>
              <a:t> 考察居民的家庭收入情况，我们既要知道家庭的年</a:t>
            </a:r>
            <a:r>
              <a:rPr lang="zh-CN" altLang="en-US" sz="2800" b="1">
                <a:solidFill>
                  <a:schemeClr val="accent2"/>
                </a:solidFill>
              </a:rPr>
              <a:t>平均收入</a:t>
            </a:r>
            <a:r>
              <a:rPr lang="zh-CN" altLang="en-US" sz="2800" b="1"/>
              <a:t>，又要研究</a:t>
            </a:r>
            <a:r>
              <a:rPr lang="zh-CN" altLang="en-US" sz="2800" b="1">
                <a:solidFill>
                  <a:schemeClr val="accent2"/>
                </a:solidFill>
              </a:rPr>
              <a:t>贫富之间的差异程度；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2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Text Box 2"/>
          <p:cNvSpPr txBox="1">
            <a:spLocks noChangeArrowheads="1"/>
          </p:cNvSpPr>
          <p:nvPr/>
        </p:nvSpPr>
        <p:spPr bwMode="auto">
          <a:xfrm>
            <a:off x="620713" y="2132013"/>
            <a:ext cx="716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/>
              <a:t> 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sp>
        <p:nvSpPr>
          <p:cNvPr id="267267" name="Rectangle 3"/>
          <p:cNvSpPr>
            <a:spLocks noChangeArrowheads="1"/>
          </p:cNvSpPr>
          <p:nvPr/>
        </p:nvSpPr>
        <p:spPr bwMode="auto">
          <a:xfrm>
            <a:off x="468313" y="1122363"/>
            <a:ext cx="7924800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 b="1"/>
              <a:t>        </a:t>
            </a:r>
            <a:r>
              <a:rPr lang="zh-CN" altLang="en-US" sz="2800" b="1"/>
              <a:t>因此，在对随机变量的研究中，确定某些数字特征是重要的 </a:t>
            </a:r>
            <a:r>
              <a:rPr lang="en-US" altLang="zh-CN" sz="2800" b="1"/>
              <a:t>.</a:t>
            </a:r>
            <a:r>
              <a:rPr lang="zh-CN" altLang="en-US" sz="2800" b="1"/>
              <a:t>而</a:t>
            </a:r>
            <a:r>
              <a:rPr lang="zh-CN" altLang="en-US" sz="2800" b="1">
                <a:solidFill>
                  <a:srgbClr val="003399"/>
                </a:solidFill>
              </a:rPr>
              <a:t>所谓的数字特征就是用数字表示随机变量的分布特点。</a:t>
            </a:r>
            <a:endParaRPr lang="zh-CN" altLang="en-US" sz="2800" b="1">
              <a:solidFill>
                <a:srgbClr val="003399"/>
              </a:solidFill>
            </a:endParaRPr>
          </a:p>
        </p:txBody>
      </p:sp>
      <p:sp>
        <p:nvSpPr>
          <p:cNvPr id="267268" name="Rectangle 4"/>
          <p:cNvSpPr>
            <a:spLocks noChangeArrowheads="1"/>
          </p:cNvSpPr>
          <p:nvPr/>
        </p:nvSpPr>
        <p:spPr bwMode="auto">
          <a:xfrm>
            <a:off x="1116013" y="3270250"/>
            <a:ext cx="5832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在这些数字特征中，最常用的是</a:t>
            </a:r>
            <a:endParaRPr lang="zh-CN" altLang="en-US" sz="2800" b="1"/>
          </a:p>
        </p:txBody>
      </p:sp>
      <p:sp>
        <p:nvSpPr>
          <p:cNvPr id="267269" name="Rectangle 5"/>
          <p:cNvSpPr>
            <a:spLocks noChangeArrowheads="1"/>
          </p:cNvSpPr>
          <p:nvPr/>
        </p:nvSpPr>
        <p:spPr bwMode="auto">
          <a:xfrm>
            <a:off x="1336675" y="4133850"/>
            <a:ext cx="5899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3399"/>
                </a:solidFill>
              </a:rPr>
              <a:t>数学期望、方差、协方差和相关系数</a:t>
            </a:r>
            <a:endParaRPr lang="zh-CN" altLang="en-US" sz="2800" b="1">
              <a:solidFill>
                <a:srgbClr val="0033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6" grpId="0" autoUpdateAnimBg="0"/>
      <p:bldP spid="267267" grpId="0" autoUpdateAnimBg="0"/>
      <p:bldP spid="267268" grpId="0" autoUpdateAnimBg="0"/>
      <p:bldP spid="267269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889000" y="836613"/>
            <a:ext cx="6778625" cy="85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>
                <a:solidFill>
                  <a:srgbClr val="000000"/>
                </a:solidFill>
                <a:ea typeface="黑体" panose="02010609060101010101" pitchFamily="49" charset="-122"/>
              </a:rPr>
              <a:t>第一节           数学期望</a:t>
            </a:r>
            <a:endParaRPr lang="zh-CN" altLang="en-US" sz="400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64195" name="Text Box 3"/>
          <p:cNvSpPr txBox="1">
            <a:spLocks noChangeArrowheads="1"/>
          </p:cNvSpPr>
          <p:nvPr/>
        </p:nvSpPr>
        <p:spPr bwMode="auto">
          <a:xfrm>
            <a:off x="2339975" y="1916113"/>
            <a:ext cx="5256213" cy="35067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200" b="1">
                <a:solidFill>
                  <a:schemeClr val="tx2"/>
                </a:solidFill>
              </a:rPr>
              <a:t>离散型随机变量的数学期望</a:t>
            </a:r>
            <a:endParaRPr lang="zh-CN" altLang="en-US" sz="3200" b="1"/>
          </a:p>
          <a:p>
            <a:pPr>
              <a:spcBef>
                <a:spcPct val="50000"/>
              </a:spcBef>
              <a:defRPr/>
            </a:pPr>
            <a:r>
              <a:rPr lang="zh-CN" altLang="en-US" sz="3200" b="1">
                <a:solidFill>
                  <a:schemeClr val="tx2"/>
                </a:solidFill>
              </a:rPr>
              <a:t>连续型随机变量的数学期望</a:t>
            </a:r>
            <a:endParaRPr lang="zh-CN" altLang="en-US" sz="3200" b="1"/>
          </a:p>
          <a:p>
            <a:pPr>
              <a:spcBef>
                <a:spcPct val="50000"/>
              </a:spcBef>
              <a:defRPr/>
            </a:pPr>
            <a:r>
              <a:rPr lang="zh-CN" altLang="en-US" sz="3200" b="1">
                <a:solidFill>
                  <a:schemeClr val="tx2"/>
                </a:solidFill>
              </a:rPr>
              <a:t>随机变量函数的数学期望</a:t>
            </a:r>
            <a:endParaRPr lang="zh-CN" altLang="en-US" sz="3200" b="1"/>
          </a:p>
          <a:p>
            <a:pPr>
              <a:spcBef>
                <a:spcPct val="50000"/>
              </a:spcBef>
              <a:defRPr/>
            </a:pPr>
            <a:r>
              <a:rPr lang="zh-CN" altLang="en-US" sz="3200" b="1">
                <a:solidFill>
                  <a:schemeClr val="tx2"/>
                </a:solidFill>
              </a:rPr>
              <a:t>数学期望的性质</a:t>
            </a:r>
            <a:endParaRPr lang="zh-CN" altLang="en-US" sz="32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spcBef>
                <a:spcPct val="50000"/>
              </a:spcBef>
              <a:defRPr/>
            </a:pPr>
            <a:r>
              <a:rPr lang="zh-CN" altLang="en-US" sz="3200" b="1"/>
              <a:t>小结</a:t>
            </a:r>
            <a:endParaRPr lang="zh-CN" altLang="en-US" sz="3200" b="1"/>
          </a:p>
        </p:txBody>
      </p:sp>
      <p:pic>
        <p:nvPicPr>
          <p:cNvPr id="8196" name="Picture 4" descr="f012">
            <a:hlinkClick r:id="rId1" action="ppaction://hlinksldjump" highlightClick="1"/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989138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 descr="f012">
            <a:hlinkClick r:id="rId3" action="ppaction://hlinksldjump" highlightClick="1">
              <a:snd r:embed="rId4" name="chimes.wav"/>
            </a:hlinkClick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709863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 descr="f012">
            <a:hlinkClick r:id="rId5" action="ppaction://hlinksldjump" highlightClick="1"/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3427413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7" descr="f012">
            <a:hlinkClick r:id="rId6" action="ppaction://hlinksldjump" highlightClick="1"/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146550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8" descr="f012">
            <a:hlinkClick r:id="rId7" action="ppaction://hlinksldjump" highlightClick="1"/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867275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7" name="Rectangle 5"/>
          <p:cNvSpPr>
            <a:spLocks noChangeArrowheads="1"/>
          </p:cNvSpPr>
          <p:nvPr/>
        </p:nvSpPr>
        <p:spPr bwMode="auto">
          <a:xfrm>
            <a:off x="304800" y="1143000"/>
            <a:ext cx="8675688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69900" indent="-469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0" lang="zh-CN" altLang="en-US" sz="2800" b="1">
                <a:solidFill>
                  <a:srgbClr val="FF0000"/>
                </a:solidFill>
                <a:latin typeface="Verdana" panose="020B0604030504040204" pitchFamily="34" charset="0"/>
              </a:rPr>
              <a:t>引例</a:t>
            </a:r>
            <a:r>
              <a:rPr kumimoji="0" lang="zh-CN" altLang="en-US" sz="2800" b="1">
                <a:latin typeface="Verdana" panose="020B0604030504040204" pitchFamily="34" charset="0"/>
              </a:rPr>
              <a:t>：某</a:t>
            </a:r>
            <a:r>
              <a:rPr kumimoji="0" lang="en-US" altLang="zh-CN" sz="2800" b="1">
                <a:latin typeface="Verdana" panose="020B0604030504040204" pitchFamily="34" charset="0"/>
              </a:rPr>
              <a:t>7</a:t>
            </a:r>
            <a:r>
              <a:rPr kumimoji="0" lang="zh-CN" altLang="en-US" sz="2800" b="1">
                <a:latin typeface="Verdana" panose="020B0604030504040204" pitchFamily="34" charset="0"/>
              </a:rPr>
              <a:t>人的数学成绩为</a:t>
            </a:r>
            <a:r>
              <a:rPr kumimoji="0" lang="en-US" altLang="zh-CN" sz="2800" b="1">
                <a:latin typeface="Verdana" panose="020B0604030504040204" pitchFamily="34" charset="0"/>
              </a:rPr>
              <a:t>90</a:t>
            </a:r>
            <a:r>
              <a:rPr kumimoji="0" lang="zh-CN" altLang="en-US" sz="2800" b="1">
                <a:latin typeface="Verdana" panose="020B0604030504040204" pitchFamily="34" charset="0"/>
              </a:rPr>
              <a:t>，</a:t>
            </a:r>
            <a:r>
              <a:rPr kumimoji="0" lang="en-US" altLang="zh-CN" sz="2800" b="1">
                <a:latin typeface="Verdana" panose="020B0604030504040204" pitchFamily="34" charset="0"/>
              </a:rPr>
              <a:t>85</a:t>
            </a:r>
            <a:r>
              <a:rPr kumimoji="0" lang="zh-CN" altLang="en-US" sz="2800" b="1">
                <a:latin typeface="Verdana" panose="020B0604030504040204" pitchFamily="34" charset="0"/>
              </a:rPr>
              <a:t>，</a:t>
            </a:r>
            <a:r>
              <a:rPr kumimoji="0" lang="en-US" altLang="zh-CN" sz="2800" b="1">
                <a:latin typeface="Verdana" panose="020B0604030504040204" pitchFamily="34" charset="0"/>
              </a:rPr>
              <a:t>85</a:t>
            </a:r>
            <a:r>
              <a:rPr kumimoji="0" lang="zh-CN" altLang="en-US" sz="2800" b="1">
                <a:latin typeface="Verdana" panose="020B0604030504040204" pitchFamily="34" charset="0"/>
              </a:rPr>
              <a:t>，</a:t>
            </a:r>
            <a:r>
              <a:rPr kumimoji="0" lang="en-US" altLang="zh-CN" sz="2800" b="1">
                <a:latin typeface="Verdana" panose="020B0604030504040204" pitchFamily="34" charset="0"/>
              </a:rPr>
              <a:t>80</a:t>
            </a:r>
            <a:r>
              <a:rPr kumimoji="0" lang="zh-CN" altLang="en-US" sz="2800" b="1">
                <a:latin typeface="Verdana" panose="020B0604030504040204" pitchFamily="34" charset="0"/>
              </a:rPr>
              <a:t>，</a:t>
            </a:r>
            <a:r>
              <a:rPr kumimoji="0" lang="en-US" altLang="zh-CN" sz="2800" b="1">
                <a:latin typeface="Verdana" panose="020B0604030504040204" pitchFamily="34" charset="0"/>
              </a:rPr>
              <a:t>80</a:t>
            </a:r>
            <a:r>
              <a:rPr kumimoji="0" lang="zh-CN" altLang="en-US" sz="2800" b="1">
                <a:latin typeface="Verdana" panose="020B0604030504040204" pitchFamily="34" charset="0"/>
              </a:rPr>
              <a:t>，</a:t>
            </a:r>
            <a:endParaRPr kumimoji="0" lang="zh-CN" altLang="en-US" sz="2800" b="1">
              <a:latin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0" lang="zh-CN" altLang="en-US" sz="2800" b="1">
                <a:latin typeface="Verdana" panose="020B0604030504040204" pitchFamily="34" charset="0"/>
              </a:rPr>
              <a:t>         </a:t>
            </a:r>
            <a:r>
              <a:rPr kumimoji="0" lang="en-US" altLang="zh-CN" sz="2800" b="1">
                <a:latin typeface="Verdana" panose="020B0604030504040204" pitchFamily="34" charset="0"/>
              </a:rPr>
              <a:t>75</a:t>
            </a:r>
            <a:r>
              <a:rPr kumimoji="0" lang="zh-CN" altLang="en-US" sz="2800" b="1">
                <a:latin typeface="Verdana" panose="020B0604030504040204" pitchFamily="34" charset="0"/>
              </a:rPr>
              <a:t>，</a:t>
            </a:r>
            <a:r>
              <a:rPr kumimoji="0" lang="en-US" altLang="zh-CN" sz="2800" b="1">
                <a:latin typeface="Verdana" panose="020B0604030504040204" pitchFamily="34" charset="0"/>
              </a:rPr>
              <a:t>60</a:t>
            </a:r>
            <a:r>
              <a:rPr kumimoji="0" lang="zh-CN" altLang="en-US" sz="2800" b="1">
                <a:latin typeface="Verdana" panose="020B0604030504040204" pitchFamily="34" charset="0"/>
              </a:rPr>
              <a:t>，则他们的平均成绩为</a:t>
            </a:r>
            <a:endParaRPr kumimoji="0" lang="zh-CN" altLang="en-US" sz="2800" b="1">
              <a:latin typeface="Verdana" panose="020B0604030504040204" pitchFamily="34" charset="0"/>
            </a:endParaRPr>
          </a:p>
        </p:txBody>
      </p:sp>
      <p:graphicFrame>
        <p:nvGraphicFramePr>
          <p:cNvPr id="223238" name="Object 6"/>
          <p:cNvGraphicFramePr>
            <a:graphicFrameLocks noChangeAspect="1"/>
          </p:cNvGraphicFramePr>
          <p:nvPr/>
        </p:nvGraphicFramePr>
        <p:xfrm>
          <a:off x="1447800" y="2514600"/>
          <a:ext cx="489585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5" name="Equation" r:id="rId1" imgW="1739900" imgH="393700" progId="Equation.DSMT4">
                  <p:embed/>
                </p:oleObj>
              </mc:Choice>
              <mc:Fallback>
                <p:oleObj name="Equation" r:id="rId1" imgW="1739900" imgH="393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514600"/>
                        <a:ext cx="489585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9" name="Object 7"/>
          <p:cNvGraphicFramePr>
            <a:graphicFrameLocks noChangeAspect="1"/>
          </p:cNvGraphicFramePr>
          <p:nvPr/>
        </p:nvGraphicFramePr>
        <p:xfrm>
          <a:off x="1143000" y="3581400"/>
          <a:ext cx="714692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6" name="Equation" r:id="rId3" imgW="2540000" imgH="393700" progId="Equation.DSMT4">
                  <p:embed/>
                </p:oleObj>
              </mc:Choice>
              <mc:Fallback>
                <p:oleObj name="Equation" r:id="rId3" imgW="2540000" imgH="393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581400"/>
                        <a:ext cx="7146925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0" name="Object 8"/>
          <p:cNvGraphicFramePr>
            <a:graphicFrameLocks noChangeAspect="1"/>
          </p:cNvGraphicFramePr>
          <p:nvPr/>
        </p:nvGraphicFramePr>
        <p:xfrm>
          <a:off x="1295400" y="4724400"/>
          <a:ext cx="121443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7" name="Equation" r:id="rId5" imgW="431165" imgH="177800" progId="Equation.DSMT4">
                  <p:embed/>
                </p:oleObj>
              </mc:Choice>
              <mc:Fallback>
                <p:oleObj name="Equation" r:id="rId5" imgW="431165" imgH="177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724400"/>
                        <a:ext cx="121443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1" name="Text Box 9"/>
          <p:cNvSpPr txBox="1">
            <a:spLocks noChangeArrowheads="1"/>
          </p:cNvSpPr>
          <p:nvPr/>
        </p:nvSpPr>
        <p:spPr bwMode="auto">
          <a:xfrm>
            <a:off x="1143000" y="5410200"/>
            <a:ext cx="4506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800" b="1">
                <a:solidFill>
                  <a:schemeClr val="accent2"/>
                </a:solidFill>
                <a:latin typeface="Arial" panose="020B0604020202020204" pitchFamily="34" charset="0"/>
              </a:rPr>
              <a:t>以频率为权重的加权平均    </a:t>
            </a:r>
            <a:endParaRPr kumimoji="0" lang="zh-CN" altLang="en-US" sz="2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9223" name="Text Box 10"/>
          <p:cNvSpPr txBox="1">
            <a:spLocks noChangeArrowheads="1"/>
          </p:cNvSpPr>
          <p:nvPr/>
        </p:nvSpPr>
        <p:spPr bwMode="auto">
          <a:xfrm>
            <a:off x="874713" y="-173038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69900" indent="-469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kumimoji="0" lang="zh-CN" altLang="zh-CN" sz="2800" b="1">
              <a:latin typeface="Verdana" panose="020B0604030504040204" pitchFamily="34" charset="0"/>
            </a:endParaRPr>
          </a:p>
        </p:txBody>
      </p:sp>
      <p:sp>
        <p:nvSpPr>
          <p:cNvPr id="223243" name="Text Box 11"/>
          <p:cNvSpPr txBox="1">
            <a:spLocks noChangeArrowheads="1"/>
          </p:cNvSpPr>
          <p:nvPr/>
        </p:nvSpPr>
        <p:spPr bwMode="auto">
          <a:xfrm>
            <a:off x="152400" y="152400"/>
            <a:ext cx="69119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一、离散型随机变量的数学期望</a:t>
            </a:r>
            <a:endParaRPr lang="zh-CN" altLang="en-US" sz="3200" b="1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3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7" grpId="0" autoUpdateAnimBg="0"/>
      <p:bldP spid="223241" grpId="0" autoUpdateAnimBg="0"/>
      <p:bldP spid="223243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04800" y="477838"/>
            <a:ext cx="83820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定义</a:t>
            </a:r>
            <a:r>
              <a:rPr lang="en-US" altLang="zh-CN" sz="2800" b="1">
                <a:solidFill>
                  <a:schemeClr val="accent2"/>
                </a:solidFill>
              </a:rPr>
              <a:t>1</a:t>
            </a:r>
            <a:r>
              <a:rPr lang="en-US" altLang="zh-CN" sz="2800" b="1"/>
              <a:t>   </a:t>
            </a:r>
            <a:r>
              <a:rPr lang="zh-CN" altLang="en-US" sz="2800" b="1"/>
              <a:t>设</a:t>
            </a:r>
            <a:r>
              <a:rPr lang="en-US" altLang="zh-CN" sz="2800" b="1" i="1"/>
              <a:t>X</a:t>
            </a:r>
            <a:r>
              <a:rPr lang="zh-CN" altLang="en-US" sz="2800" b="1"/>
              <a:t>是离散型随机变量，它的分布律是</a:t>
            </a:r>
            <a:r>
              <a:rPr lang="en-US" altLang="zh-CN" sz="2800" b="1"/>
              <a:t>:                              </a:t>
            </a:r>
            <a:r>
              <a:rPr lang="en-US" altLang="zh-CN" sz="2800" b="1" i="1"/>
              <a:t>P</a:t>
            </a:r>
            <a:r>
              <a:rPr lang="en-US" altLang="zh-CN" sz="2800" b="1"/>
              <a:t>{</a:t>
            </a:r>
            <a:r>
              <a:rPr lang="en-US" altLang="zh-CN" sz="2800" b="1" i="1"/>
              <a:t>X</a:t>
            </a:r>
            <a:r>
              <a:rPr lang="en-US" altLang="zh-CN" sz="2800" b="1"/>
              <a:t>=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k</a:t>
            </a:r>
            <a:r>
              <a:rPr lang="en-US" altLang="zh-CN" sz="2800" b="1"/>
              <a:t>}=</a:t>
            </a:r>
            <a:r>
              <a:rPr lang="en-US" altLang="zh-CN" sz="2800" b="1" i="1"/>
              <a:t>p</a:t>
            </a:r>
            <a:r>
              <a:rPr lang="en-US" altLang="zh-CN" sz="2800" b="1" i="1" baseline="-25000"/>
              <a:t>k</a:t>
            </a:r>
            <a:r>
              <a:rPr lang="en-US" altLang="zh-CN" sz="2800" b="1"/>
              <a:t> ,  </a:t>
            </a:r>
            <a:r>
              <a:rPr lang="en-US" altLang="zh-CN" sz="2800" b="1" i="1"/>
              <a:t>k</a:t>
            </a:r>
            <a:r>
              <a:rPr lang="en-US" altLang="zh-CN" sz="2800" b="1"/>
              <a:t>=1,2,…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sp>
        <p:nvSpPr>
          <p:cNvPr id="268291" name="Text Box 3"/>
          <p:cNvSpPr txBox="1">
            <a:spLocks noChangeArrowheads="1"/>
          </p:cNvSpPr>
          <p:nvPr/>
        </p:nvSpPr>
        <p:spPr bwMode="auto">
          <a:xfrm>
            <a:off x="627063" y="4652963"/>
            <a:ext cx="816927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请注意 </a:t>
            </a:r>
            <a:r>
              <a:rPr lang="en-US" altLang="zh-CN" sz="2800" b="1">
                <a:solidFill>
                  <a:schemeClr val="accent2"/>
                </a:solidFill>
              </a:rPr>
              <a:t>:</a:t>
            </a:r>
            <a:r>
              <a:rPr lang="zh-CN" altLang="en-US" sz="2800" b="1"/>
              <a:t>离散型随机变量的数学期望是一个绝对收敛的级数的和</a:t>
            </a:r>
            <a:r>
              <a:rPr lang="en-US" altLang="zh-CN" sz="2800" b="1"/>
              <a:t>.</a:t>
            </a:r>
            <a:r>
              <a:rPr lang="zh-CN" altLang="en-US" sz="2800" b="1"/>
              <a:t>数学期望简称</a:t>
            </a:r>
            <a:r>
              <a:rPr lang="zh-CN" altLang="en-US" sz="2800" b="1">
                <a:solidFill>
                  <a:schemeClr val="accent2"/>
                </a:solidFill>
              </a:rPr>
              <a:t>期望</a:t>
            </a:r>
            <a:r>
              <a:rPr lang="zh-CN" altLang="en-US" sz="2800" b="1"/>
              <a:t>，又称为</a:t>
            </a:r>
            <a:r>
              <a:rPr lang="zh-CN" altLang="en-US" sz="2800" b="1">
                <a:solidFill>
                  <a:schemeClr val="accent2"/>
                </a:solidFill>
              </a:rPr>
              <a:t>均值</a:t>
            </a:r>
            <a:r>
              <a:rPr lang="zh-CN" altLang="en-US" sz="2800" b="1"/>
              <a:t>。</a:t>
            </a:r>
            <a:endParaRPr lang="zh-CN" altLang="en-US" sz="2800" b="1"/>
          </a:p>
        </p:txBody>
      </p:sp>
      <p:graphicFrame>
        <p:nvGraphicFramePr>
          <p:cNvPr id="268292" name="Object 4"/>
          <p:cNvGraphicFramePr>
            <a:graphicFrameLocks noChangeAspect="1"/>
          </p:cNvGraphicFramePr>
          <p:nvPr/>
        </p:nvGraphicFramePr>
        <p:xfrm>
          <a:off x="2700338" y="3357563"/>
          <a:ext cx="2938462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2" name="公式" r:id="rId1" imgW="971550" imgH="346710" progId="Equation.3">
                  <p:embed/>
                </p:oleObj>
              </mc:Choice>
              <mc:Fallback>
                <p:oleObj name="公式" r:id="rId1" imgW="971550" imgH="34671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357563"/>
                        <a:ext cx="2938462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00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3" name="Text Box 5"/>
          <p:cNvSpPr txBox="1">
            <a:spLocks noChangeArrowheads="1"/>
          </p:cNvSpPr>
          <p:nvPr/>
        </p:nvSpPr>
        <p:spPr bwMode="auto">
          <a:xfrm>
            <a:off x="528638" y="2119313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2800" b="1"/>
          </a:p>
        </p:txBody>
      </p:sp>
      <p:sp>
        <p:nvSpPr>
          <p:cNvPr id="268294" name="Text Box 6"/>
          <p:cNvSpPr txBox="1">
            <a:spLocks noChangeArrowheads="1"/>
          </p:cNvSpPr>
          <p:nvPr/>
        </p:nvSpPr>
        <p:spPr bwMode="auto">
          <a:xfrm>
            <a:off x="228600" y="1966913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/>
              <a:t>若级数</a:t>
            </a:r>
            <a:endParaRPr lang="zh-CN" altLang="en-US" sz="2800"/>
          </a:p>
        </p:txBody>
      </p:sp>
      <p:graphicFrame>
        <p:nvGraphicFramePr>
          <p:cNvPr id="268295" name="Object 7"/>
          <p:cNvGraphicFramePr>
            <a:graphicFrameLocks noChangeAspect="1"/>
          </p:cNvGraphicFramePr>
          <p:nvPr/>
        </p:nvGraphicFramePr>
        <p:xfrm>
          <a:off x="1900238" y="1681163"/>
          <a:ext cx="1423987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3" name="公式" r:id="rId3" imgW="1104900" imgH="875665" progId="Equation.3">
                  <p:embed/>
                </p:oleObj>
              </mc:Choice>
              <mc:Fallback>
                <p:oleObj name="公式" r:id="rId3" imgW="1104900" imgH="87566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238" y="1681163"/>
                        <a:ext cx="1423987" cy="11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6" name="Text Box 8"/>
          <p:cNvSpPr txBox="1">
            <a:spLocks noChangeArrowheads="1"/>
          </p:cNvSpPr>
          <p:nvPr/>
        </p:nvSpPr>
        <p:spPr bwMode="auto">
          <a:xfrm>
            <a:off x="3348038" y="2043113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2800" b="1"/>
          </a:p>
        </p:txBody>
      </p:sp>
      <p:sp>
        <p:nvSpPr>
          <p:cNvPr id="268297" name="Text Box 9"/>
          <p:cNvSpPr txBox="1">
            <a:spLocks noChangeArrowheads="1"/>
          </p:cNvSpPr>
          <p:nvPr/>
        </p:nvSpPr>
        <p:spPr bwMode="auto">
          <a:xfrm>
            <a:off x="3424238" y="2043113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2800" b="1"/>
          </a:p>
        </p:txBody>
      </p:sp>
      <p:sp>
        <p:nvSpPr>
          <p:cNvPr id="268298" name="Text Box 10"/>
          <p:cNvSpPr txBox="1">
            <a:spLocks noChangeArrowheads="1"/>
          </p:cNvSpPr>
          <p:nvPr/>
        </p:nvSpPr>
        <p:spPr bwMode="auto">
          <a:xfrm>
            <a:off x="2963863" y="1966913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/>
              <a:t>绝对收敛，</a:t>
            </a:r>
            <a:endParaRPr lang="zh-CN" altLang="en-US" sz="2800" b="1"/>
          </a:p>
        </p:txBody>
      </p:sp>
      <p:sp>
        <p:nvSpPr>
          <p:cNvPr id="268299" name="Text Box 11"/>
          <p:cNvSpPr txBox="1">
            <a:spLocks noChangeArrowheads="1"/>
          </p:cNvSpPr>
          <p:nvPr/>
        </p:nvSpPr>
        <p:spPr bwMode="auto">
          <a:xfrm>
            <a:off x="5070475" y="1966913"/>
            <a:ext cx="21415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则称级数</a:t>
            </a:r>
            <a:endParaRPr lang="zh-CN" altLang="en-US" sz="2800" b="1"/>
          </a:p>
        </p:txBody>
      </p:sp>
      <p:graphicFrame>
        <p:nvGraphicFramePr>
          <p:cNvPr id="268300" name="Object 12"/>
          <p:cNvGraphicFramePr>
            <a:graphicFrameLocks noChangeAspect="1"/>
          </p:cNvGraphicFramePr>
          <p:nvPr/>
        </p:nvGraphicFramePr>
        <p:xfrm>
          <a:off x="6708775" y="1651000"/>
          <a:ext cx="1333500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4" name="公式" r:id="rId5" imgW="1104900" imgH="875665" progId="Equation.3">
                  <p:embed/>
                </p:oleObj>
              </mc:Choice>
              <mc:Fallback>
                <p:oleObj name="公式" r:id="rId5" imgW="1104900" imgH="87566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8775" y="1651000"/>
                        <a:ext cx="1333500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1" name="Object 13"/>
          <p:cNvGraphicFramePr>
            <a:graphicFrameLocks noChangeAspect="1"/>
          </p:cNvGraphicFramePr>
          <p:nvPr/>
        </p:nvGraphicFramePr>
        <p:xfrm>
          <a:off x="6492875" y="2946400"/>
          <a:ext cx="889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5" name="公式" r:id="rId7" imgW="800100" imgH="307975" progId="Equation.3">
                  <p:embed/>
                </p:oleObj>
              </mc:Choice>
              <mc:Fallback>
                <p:oleObj name="公式" r:id="rId7" imgW="800100" imgH="30797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75" y="2946400"/>
                        <a:ext cx="889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02" name="Text Box 14"/>
          <p:cNvSpPr txBox="1">
            <a:spLocks noChangeArrowheads="1"/>
          </p:cNvSpPr>
          <p:nvPr/>
        </p:nvSpPr>
        <p:spPr bwMode="auto">
          <a:xfrm>
            <a:off x="757238" y="3414713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2800"/>
          </a:p>
        </p:txBody>
      </p:sp>
      <p:sp>
        <p:nvSpPr>
          <p:cNvPr id="268303" name="Text Box 15"/>
          <p:cNvSpPr txBox="1">
            <a:spLocks noChangeArrowheads="1"/>
          </p:cNvSpPr>
          <p:nvPr/>
        </p:nvSpPr>
        <p:spPr bwMode="auto">
          <a:xfrm>
            <a:off x="587375" y="3651250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/>
              <a:t>即</a:t>
            </a:r>
            <a:endParaRPr lang="zh-CN" altLang="en-US" sz="2800"/>
          </a:p>
        </p:txBody>
      </p:sp>
      <p:sp>
        <p:nvSpPr>
          <p:cNvPr id="268304" name="Text Box 16"/>
          <p:cNvSpPr txBox="1">
            <a:spLocks noChangeArrowheads="1"/>
          </p:cNvSpPr>
          <p:nvPr/>
        </p:nvSpPr>
        <p:spPr bwMode="auto">
          <a:xfrm>
            <a:off x="684213" y="2865438"/>
            <a:ext cx="792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的和为</a:t>
            </a:r>
            <a:r>
              <a:rPr lang="zh-CN" altLang="en-US" sz="2800" b="1" dirty="0">
                <a:solidFill>
                  <a:schemeClr val="accent2"/>
                </a:solidFill>
              </a:rPr>
              <a:t>随机变量</a:t>
            </a:r>
            <a:r>
              <a:rPr lang="en-US" altLang="zh-CN" sz="2800" b="1" dirty="0">
                <a:solidFill>
                  <a:schemeClr val="accent2"/>
                </a:solidFill>
              </a:rPr>
              <a:t>X</a:t>
            </a:r>
            <a:r>
              <a:rPr lang="zh-CN" altLang="en-US" sz="2800" b="1" dirty="0">
                <a:solidFill>
                  <a:schemeClr val="accent2"/>
                </a:solidFill>
              </a:rPr>
              <a:t>的数学期望</a:t>
            </a:r>
            <a:r>
              <a:rPr lang="zh-CN" altLang="en-US" sz="2800" b="1" dirty="0"/>
              <a:t>，记为            </a:t>
            </a:r>
            <a:r>
              <a:rPr lang="en-US" altLang="zh-CN" sz="2800" b="1" dirty="0"/>
              <a:t>,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1" grpId="0" autoUpdateAnimBg="0"/>
      <p:bldP spid="268293" grpId="0" autoUpdateAnimBg="0"/>
      <p:bldP spid="268294" grpId="0" autoUpdateAnimBg="0"/>
      <p:bldP spid="268296" grpId="0" autoUpdateAnimBg="0"/>
      <p:bldP spid="268297" grpId="0" autoUpdateAnimBg="0"/>
      <p:bldP spid="268298" grpId="0" autoUpdateAnimBg="0"/>
      <p:bldP spid="268299" grpId="0" autoUpdateAnimBg="0"/>
      <p:bldP spid="268302" grpId="0" autoUpdateAnimBg="0"/>
      <p:bldP spid="268303" grpId="0" autoUpdateAnimBg="0"/>
      <p:bldP spid="268304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467544" y="707752"/>
            <a:ext cx="83820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/>
              <a:t>设</a:t>
            </a:r>
            <a:r>
              <a:rPr lang="en-US" altLang="zh-CN" sz="2800" b="1" i="1" dirty="0"/>
              <a:t>X</a:t>
            </a:r>
            <a:r>
              <a:rPr lang="zh-CN" altLang="en-US" sz="2800" b="1" dirty="0"/>
              <a:t>是离散型随机变量，它的分布律是</a:t>
            </a:r>
            <a:r>
              <a:rPr lang="en-US" altLang="zh-CN" sz="2800" b="1" dirty="0"/>
              <a:t>:</a:t>
            </a:r>
            <a:endParaRPr lang="en-US" altLang="zh-CN" sz="2800" b="1" dirty="0">
              <a:solidFill>
                <a:schemeClr val="tx2"/>
              </a:solidFill>
            </a:endParaRPr>
          </a:p>
        </p:txBody>
      </p:sp>
      <p:sp>
        <p:nvSpPr>
          <p:cNvPr id="2067" name="Text Box 19"/>
          <p:cNvSpPr txBox="1">
            <a:spLocks noChangeArrowheads="1"/>
          </p:cNvSpPr>
          <p:nvPr/>
        </p:nvSpPr>
        <p:spPr bwMode="auto">
          <a:xfrm>
            <a:off x="683568" y="188640"/>
            <a:ext cx="57610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chemeClr val="accent2"/>
                </a:solidFill>
              </a:rPr>
              <a:t>P136</a:t>
            </a:r>
            <a:r>
              <a:rPr lang="zh-CN" altLang="en-US" sz="2800" dirty="0">
                <a:solidFill>
                  <a:schemeClr val="accent2"/>
                </a:solidFill>
              </a:rPr>
              <a:t>：例</a:t>
            </a:r>
            <a:r>
              <a:rPr lang="en-US" altLang="zh-CN" sz="2800" dirty="0">
                <a:solidFill>
                  <a:schemeClr val="accent2"/>
                </a:solidFill>
              </a:rPr>
              <a:t>4.1.4</a:t>
            </a:r>
            <a:endParaRPr lang="en-US" altLang="zh-CN" sz="2800" dirty="0">
              <a:solidFill>
                <a:schemeClr val="accent2"/>
              </a:solidFill>
            </a:endParaRPr>
          </a:p>
        </p:txBody>
      </p:sp>
      <p:graphicFrame>
        <p:nvGraphicFramePr>
          <p:cNvPr id="25" name="Object 4"/>
          <p:cNvGraphicFramePr>
            <a:graphicFrameLocks noChangeAspect="1"/>
          </p:cNvGraphicFramePr>
          <p:nvPr/>
        </p:nvGraphicFramePr>
        <p:xfrm>
          <a:off x="1600200" y="1462088"/>
          <a:ext cx="4995863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29" name="Equation" r:id="rId1" imgW="54864000" imgH="9448800" progId="Equation.DSMT4">
                  <p:embed/>
                </p:oleObj>
              </mc:Choice>
              <mc:Fallback>
                <p:oleObj name="Equation" r:id="rId1" imgW="54864000" imgH="9448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462088"/>
                        <a:ext cx="4995863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"/>
          <p:cNvGraphicFramePr>
            <a:graphicFrameLocks noChangeAspect="1"/>
          </p:cNvGraphicFramePr>
          <p:nvPr/>
        </p:nvGraphicFramePr>
        <p:xfrm>
          <a:off x="1326046" y="2340000"/>
          <a:ext cx="4830130" cy="1047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30" name="Equation" r:id="rId3" imgW="53035200" imgH="10363200" progId="Equation.DSMT4">
                  <p:embed/>
                </p:oleObj>
              </mc:Choice>
              <mc:Fallback>
                <p:oleObj name="Equation" r:id="rId3" imgW="53035200" imgH="10363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6046" y="2340000"/>
                        <a:ext cx="4830130" cy="1047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1574712" y="3474215"/>
          <a:ext cx="1916112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31" name="Equation" r:id="rId5" imgW="21031200" imgH="10363200" progId="Equation.DSMT4">
                  <p:embed/>
                </p:oleObj>
              </mc:Choice>
              <mc:Fallback>
                <p:oleObj name="Equation" r:id="rId5" imgW="21031200" imgH="10363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712" y="3474215"/>
                        <a:ext cx="1916112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"/>
          <p:cNvGraphicFramePr>
            <a:graphicFrameLocks noChangeAspect="1"/>
          </p:cNvGraphicFramePr>
          <p:nvPr/>
        </p:nvGraphicFramePr>
        <p:xfrm>
          <a:off x="1784498" y="4749030"/>
          <a:ext cx="792088" cy="454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32" name="Equation" r:id="rId7" imgW="9448800" imgH="4876800" progId="Equation.DSMT4">
                  <p:embed/>
                </p:oleObj>
              </mc:Choice>
              <mc:Fallback>
                <p:oleObj name="Equation" r:id="rId7" imgW="9448800" imgH="4876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4498" y="4749030"/>
                        <a:ext cx="792088" cy="4541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2"/>
          <p:cNvSpPr txBox="1">
            <a:spLocks noChangeArrowheads="1"/>
          </p:cNvSpPr>
          <p:nvPr/>
        </p:nvSpPr>
        <p:spPr bwMode="auto">
          <a:xfrm>
            <a:off x="2576586" y="4643263"/>
            <a:ext cx="2765376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/>
              <a:t>不存在</a:t>
            </a:r>
            <a:endParaRPr lang="en-US" altLang="zh-CN" sz="28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2067" grpId="0" bldLvl="0" animBg="1"/>
      <p:bldP spid="2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Text Box 1026"/>
          <p:cNvSpPr txBox="1">
            <a:spLocks noChangeArrowheads="1"/>
          </p:cNvSpPr>
          <p:nvPr/>
        </p:nvSpPr>
        <p:spPr bwMode="auto">
          <a:xfrm>
            <a:off x="1066800" y="260350"/>
            <a:ext cx="5715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3399"/>
                </a:solidFill>
                <a:ea typeface="华文新魏" panose="02010800040101010101" pitchFamily="2" charset="-122"/>
              </a:rPr>
              <a:t>例</a:t>
            </a:r>
            <a:r>
              <a:rPr lang="en-US" altLang="zh-CN" sz="3200" b="1">
                <a:solidFill>
                  <a:srgbClr val="003399"/>
                </a:solidFill>
                <a:ea typeface="华文新魏" panose="02010800040101010101" pitchFamily="2" charset="-122"/>
              </a:rPr>
              <a:t>1</a:t>
            </a:r>
            <a:r>
              <a:rPr lang="zh-CN" altLang="en-US" sz="3200" b="1">
                <a:solidFill>
                  <a:srgbClr val="003399"/>
                </a:solidFill>
                <a:ea typeface="华文新魏" panose="02010800040101010101" pitchFamily="2" charset="-122"/>
              </a:rPr>
              <a:t>、</a:t>
            </a:r>
            <a:r>
              <a:rPr lang="zh-CN" altLang="en-US" sz="2800" b="1">
                <a:solidFill>
                  <a:srgbClr val="003399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b="1">
                <a:solidFill>
                  <a:srgbClr val="003399"/>
                </a:solidFill>
                <a:latin typeface="宋体" panose="02010600030101010101" pitchFamily="2" charset="-122"/>
              </a:rPr>
              <a:t>0-1</a:t>
            </a:r>
            <a:r>
              <a:rPr lang="zh-CN" altLang="en-US" sz="2800" b="1">
                <a:solidFill>
                  <a:srgbClr val="003399"/>
                </a:solidFill>
                <a:latin typeface="宋体" panose="02010600030101010101" pitchFamily="2" charset="-122"/>
              </a:rPr>
              <a:t>）分布的数学期望</a:t>
            </a:r>
            <a:endParaRPr lang="zh-CN" altLang="en-US" sz="2800" b="1">
              <a:solidFill>
                <a:srgbClr val="003399"/>
              </a:solidFill>
              <a:latin typeface="宋体" panose="02010600030101010101" pitchFamily="2" charset="-122"/>
            </a:endParaRPr>
          </a:p>
        </p:txBody>
      </p:sp>
      <p:sp>
        <p:nvSpPr>
          <p:cNvPr id="231427" name="Text Box 1027"/>
          <p:cNvSpPr txBox="1">
            <a:spLocks noChangeArrowheads="1"/>
          </p:cNvSpPr>
          <p:nvPr/>
        </p:nvSpPr>
        <p:spPr bwMode="auto">
          <a:xfrm>
            <a:off x="1066800" y="1143000"/>
            <a:ext cx="6767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X</a:t>
            </a:r>
            <a:r>
              <a:rPr lang="zh-CN" altLang="en-US" sz="2800" b="1"/>
              <a:t>服从</a:t>
            </a:r>
            <a:r>
              <a:rPr lang="en-US" altLang="zh-CN" sz="2800" b="1">
                <a:solidFill>
                  <a:schemeClr val="accent2"/>
                </a:solidFill>
              </a:rPr>
              <a:t>0-1</a:t>
            </a:r>
            <a:r>
              <a:rPr lang="zh-CN" altLang="en-US" sz="2800" b="1">
                <a:solidFill>
                  <a:schemeClr val="accent2"/>
                </a:solidFill>
              </a:rPr>
              <a:t>分布</a:t>
            </a:r>
            <a:r>
              <a:rPr lang="zh-CN" altLang="en-US" sz="2800" b="1"/>
              <a:t>，其概率分布为</a:t>
            </a:r>
            <a:endParaRPr lang="zh-CN" altLang="en-US" sz="2800" b="1"/>
          </a:p>
        </p:txBody>
      </p:sp>
      <p:grpSp>
        <p:nvGrpSpPr>
          <p:cNvPr id="2" name="Group 1030"/>
          <p:cNvGrpSpPr/>
          <p:nvPr/>
        </p:nvGrpSpPr>
        <p:grpSpPr bwMode="auto">
          <a:xfrm>
            <a:off x="2362200" y="1905000"/>
            <a:ext cx="2519363" cy="1584325"/>
            <a:chOff x="3107" y="1162"/>
            <a:chExt cx="1587" cy="998"/>
          </a:xfrm>
        </p:grpSpPr>
        <p:sp>
          <p:nvSpPr>
            <p:cNvPr id="11271" name="Line 1031"/>
            <p:cNvSpPr>
              <a:spLocks noChangeShapeType="1"/>
            </p:cNvSpPr>
            <p:nvPr/>
          </p:nvSpPr>
          <p:spPr bwMode="auto">
            <a:xfrm>
              <a:off x="3107" y="1661"/>
              <a:ext cx="1587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272" name="Line 1032"/>
            <p:cNvSpPr>
              <a:spLocks noChangeShapeType="1"/>
            </p:cNvSpPr>
            <p:nvPr/>
          </p:nvSpPr>
          <p:spPr bwMode="auto">
            <a:xfrm>
              <a:off x="3560" y="1162"/>
              <a:ext cx="0" cy="99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273" name="Text Box 1033"/>
            <p:cNvSpPr txBox="1">
              <a:spLocks noChangeArrowheads="1"/>
            </p:cNvSpPr>
            <p:nvPr/>
          </p:nvSpPr>
          <p:spPr bwMode="auto">
            <a:xfrm>
              <a:off x="3107" y="1298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X</a:t>
              </a:r>
              <a:endParaRPr lang="en-US" altLang="zh-CN" b="1"/>
            </a:p>
          </p:txBody>
        </p:sp>
        <p:sp>
          <p:nvSpPr>
            <p:cNvPr id="11274" name="Text Box 1034"/>
            <p:cNvSpPr txBox="1">
              <a:spLocks noChangeArrowheads="1"/>
            </p:cNvSpPr>
            <p:nvPr/>
          </p:nvSpPr>
          <p:spPr bwMode="auto">
            <a:xfrm>
              <a:off x="3152" y="1797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P</a:t>
              </a:r>
              <a:endParaRPr lang="en-US" altLang="zh-CN" b="1"/>
            </a:p>
          </p:txBody>
        </p:sp>
        <p:sp>
          <p:nvSpPr>
            <p:cNvPr id="11275" name="Text Box 1035"/>
            <p:cNvSpPr txBox="1">
              <a:spLocks noChangeArrowheads="1"/>
            </p:cNvSpPr>
            <p:nvPr/>
          </p:nvSpPr>
          <p:spPr bwMode="auto">
            <a:xfrm>
              <a:off x="3742" y="1298"/>
              <a:ext cx="8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0        1</a:t>
              </a:r>
              <a:endParaRPr lang="en-US" altLang="zh-CN" b="1"/>
            </a:p>
          </p:txBody>
        </p:sp>
        <p:sp>
          <p:nvSpPr>
            <p:cNvPr id="11276" name="Text Box 1036"/>
            <p:cNvSpPr txBox="1">
              <a:spLocks noChangeArrowheads="1"/>
            </p:cNvSpPr>
            <p:nvPr/>
          </p:nvSpPr>
          <p:spPr bwMode="auto">
            <a:xfrm>
              <a:off x="3697" y="1797"/>
              <a:ext cx="9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1-p     p</a:t>
              </a:r>
              <a:endParaRPr lang="en-US" altLang="zh-CN" b="1"/>
            </a:p>
          </p:txBody>
        </p:sp>
      </p:grpSp>
      <p:sp>
        <p:nvSpPr>
          <p:cNvPr id="231437" name="Text Box 1037"/>
          <p:cNvSpPr txBox="1">
            <a:spLocks noChangeArrowheads="1"/>
          </p:cNvSpPr>
          <p:nvPr/>
        </p:nvSpPr>
        <p:spPr bwMode="auto">
          <a:xfrm>
            <a:off x="762000" y="4876800"/>
            <a:ext cx="8137525" cy="531813"/>
          </a:xfrm>
          <a:prstGeom prst="rect">
            <a:avLst/>
          </a:prstGeom>
          <a:noFill/>
          <a:ln w="12700" cap="rnd" algn="ctr">
            <a:solidFill>
              <a:schemeClr val="tx1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若</a:t>
            </a:r>
            <a:r>
              <a:rPr lang="en-US" altLang="zh-CN" sz="2800" b="1"/>
              <a:t>X </a:t>
            </a:r>
            <a:r>
              <a:rPr lang="zh-CN" altLang="en-US" sz="2800" b="1"/>
              <a:t>服从参数为 </a:t>
            </a:r>
            <a:r>
              <a:rPr lang="en-US" altLang="zh-CN" sz="2800" b="1"/>
              <a:t>p </a:t>
            </a:r>
            <a:r>
              <a:rPr lang="zh-CN" altLang="en-US" sz="2800" b="1"/>
              <a:t>的</a:t>
            </a:r>
            <a:r>
              <a:rPr lang="en-US" altLang="zh-CN" sz="2800" b="1"/>
              <a:t>0-1</a:t>
            </a:r>
            <a:r>
              <a:rPr lang="zh-CN" altLang="en-US" sz="2800" b="1"/>
              <a:t>分布， 则</a:t>
            </a:r>
            <a:r>
              <a:rPr lang="en-US" altLang="zh-CN" sz="2800" b="1"/>
              <a:t>E(X) = p</a:t>
            </a:r>
            <a:endParaRPr lang="en-US" altLang="zh-CN" sz="2800" b="1"/>
          </a:p>
        </p:txBody>
      </p:sp>
      <p:graphicFrame>
        <p:nvGraphicFramePr>
          <p:cNvPr id="231438" name="Object 1038"/>
          <p:cNvGraphicFramePr>
            <a:graphicFrameLocks noChangeAspect="1"/>
          </p:cNvGraphicFramePr>
          <p:nvPr/>
        </p:nvGraphicFramePr>
        <p:xfrm>
          <a:off x="1143000" y="3886200"/>
          <a:ext cx="618490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7" name="Equation" r:id="rId1" imgW="1854200" imgH="203200" progId="Equation.DSMT4">
                  <p:embed/>
                </p:oleObj>
              </mc:Choice>
              <mc:Fallback>
                <p:oleObj name="Equation" r:id="rId1" imgW="1854200" imgH="203200" progId="Equation.DSMT4">
                  <p:embed/>
                  <p:pic>
                    <p:nvPicPr>
                      <p:cNvPr id="0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886200"/>
                        <a:ext cx="6184900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6" grpId="0" autoUpdateAnimBg="0" build="p"/>
      <p:bldP spid="231427" grpId="0" autoUpdateAnimBg="0" build="p"/>
      <p:bldP spid="231437" grpId="0" bldLvl="0" animBg="1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04800" y="609600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/>
              <a:t>例</a:t>
            </a:r>
            <a:r>
              <a:rPr lang="en-US" altLang="zh-CN" sz="2800" b="1"/>
              <a:t>2</a:t>
            </a:r>
            <a:endParaRPr lang="en-US" altLang="zh-CN" sz="2800" b="1"/>
          </a:p>
        </p:txBody>
      </p:sp>
      <p:graphicFrame>
        <p:nvGraphicFramePr>
          <p:cNvPr id="227331" name="Object 3"/>
          <p:cNvGraphicFramePr>
            <a:graphicFrameLocks noChangeAspect="1"/>
          </p:cNvGraphicFramePr>
          <p:nvPr/>
        </p:nvGraphicFramePr>
        <p:xfrm>
          <a:off x="1123950" y="714375"/>
          <a:ext cx="7531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5" name="公式" r:id="rId1" imgW="7448550" imgH="346710" progId="Equation.3">
                  <p:embed/>
                </p:oleObj>
              </mc:Choice>
              <mc:Fallback>
                <p:oleObj name="公式" r:id="rId1" imgW="7448550" imgH="3467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950" y="714375"/>
                        <a:ext cx="7531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2" name="Object 4"/>
          <p:cNvGraphicFramePr>
            <a:graphicFrameLocks noChangeAspect="1"/>
          </p:cNvGraphicFramePr>
          <p:nvPr/>
        </p:nvGraphicFramePr>
        <p:xfrm>
          <a:off x="468313" y="1341438"/>
          <a:ext cx="334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6" name="公式" r:id="rId3" imgW="3257550" imgH="346710" progId="Equation.3">
                  <p:embed/>
                </p:oleObj>
              </mc:Choice>
              <mc:Fallback>
                <p:oleObj name="公式" r:id="rId3" imgW="3257550" imgH="34671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341438"/>
                        <a:ext cx="3340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49" name="Group 53"/>
          <p:cNvGrpSpPr/>
          <p:nvPr/>
        </p:nvGrpSpPr>
        <p:grpSpPr bwMode="auto">
          <a:xfrm>
            <a:off x="684213" y="1989138"/>
            <a:ext cx="2895600" cy="1133475"/>
            <a:chOff x="431" y="1253"/>
            <a:chExt cx="1824" cy="714"/>
          </a:xfrm>
        </p:grpSpPr>
        <p:sp>
          <p:nvSpPr>
            <p:cNvPr id="12317" name="Rectangle 12"/>
            <p:cNvSpPr>
              <a:spLocks noChangeArrowheads="1"/>
            </p:cNvSpPr>
            <p:nvPr/>
          </p:nvSpPr>
          <p:spPr bwMode="auto">
            <a:xfrm>
              <a:off x="431" y="1253"/>
              <a:ext cx="48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zh-CN" sz="2800"/>
            </a:p>
          </p:txBody>
        </p:sp>
        <p:sp>
          <p:nvSpPr>
            <p:cNvPr id="12318" name="Rectangle 13"/>
            <p:cNvSpPr>
              <a:spLocks noChangeArrowheads="1"/>
            </p:cNvSpPr>
            <p:nvPr/>
          </p:nvSpPr>
          <p:spPr bwMode="auto">
            <a:xfrm>
              <a:off x="911" y="1253"/>
              <a:ext cx="48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800"/>
                <a:t>  0</a:t>
              </a:r>
              <a:endParaRPr lang="en-US" altLang="zh-CN" sz="2800"/>
            </a:p>
          </p:txBody>
        </p:sp>
        <p:sp>
          <p:nvSpPr>
            <p:cNvPr id="12319" name="Rectangle 14"/>
            <p:cNvSpPr>
              <a:spLocks noChangeArrowheads="1"/>
            </p:cNvSpPr>
            <p:nvPr/>
          </p:nvSpPr>
          <p:spPr bwMode="auto">
            <a:xfrm>
              <a:off x="1391" y="1253"/>
              <a:ext cx="432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800"/>
                <a:t>  1</a:t>
              </a:r>
              <a:endParaRPr lang="en-US" altLang="zh-CN" sz="2800"/>
            </a:p>
          </p:txBody>
        </p:sp>
        <p:sp>
          <p:nvSpPr>
            <p:cNvPr id="12320" name="Rectangle 15"/>
            <p:cNvSpPr>
              <a:spLocks noChangeArrowheads="1"/>
            </p:cNvSpPr>
            <p:nvPr/>
          </p:nvSpPr>
          <p:spPr bwMode="auto">
            <a:xfrm>
              <a:off x="1823" y="1253"/>
              <a:ext cx="432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800"/>
                <a:t>  2</a:t>
              </a:r>
              <a:endParaRPr lang="en-US" altLang="zh-CN" sz="2800"/>
            </a:p>
          </p:txBody>
        </p:sp>
        <p:sp>
          <p:nvSpPr>
            <p:cNvPr id="12321" name="Rectangle 16"/>
            <p:cNvSpPr>
              <a:spLocks noChangeArrowheads="1"/>
            </p:cNvSpPr>
            <p:nvPr/>
          </p:nvSpPr>
          <p:spPr bwMode="auto">
            <a:xfrm>
              <a:off x="431" y="1602"/>
              <a:ext cx="4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zh-CN" sz="2800"/>
            </a:p>
          </p:txBody>
        </p:sp>
        <p:sp>
          <p:nvSpPr>
            <p:cNvPr id="12322" name="Rectangle 17"/>
            <p:cNvSpPr>
              <a:spLocks noChangeArrowheads="1"/>
            </p:cNvSpPr>
            <p:nvPr/>
          </p:nvSpPr>
          <p:spPr bwMode="auto">
            <a:xfrm>
              <a:off x="911" y="1602"/>
              <a:ext cx="4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800"/>
                <a:t>  0</a:t>
              </a:r>
              <a:endParaRPr lang="en-US" altLang="zh-CN" sz="2800"/>
            </a:p>
          </p:txBody>
        </p:sp>
        <p:sp>
          <p:nvSpPr>
            <p:cNvPr id="12323" name="Rectangle 18"/>
            <p:cNvSpPr>
              <a:spLocks noChangeArrowheads="1"/>
            </p:cNvSpPr>
            <p:nvPr/>
          </p:nvSpPr>
          <p:spPr bwMode="auto">
            <a:xfrm>
              <a:off x="1391" y="1602"/>
              <a:ext cx="4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800"/>
                <a:t>0.2</a:t>
              </a:r>
              <a:endParaRPr lang="en-US" altLang="zh-CN" sz="2800"/>
            </a:p>
          </p:txBody>
        </p:sp>
        <p:sp>
          <p:nvSpPr>
            <p:cNvPr id="12324" name="Rectangle 19"/>
            <p:cNvSpPr>
              <a:spLocks noChangeArrowheads="1"/>
            </p:cNvSpPr>
            <p:nvPr/>
          </p:nvSpPr>
          <p:spPr bwMode="auto">
            <a:xfrm>
              <a:off x="1823" y="1602"/>
              <a:ext cx="4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800"/>
                <a:t>0.8</a:t>
              </a:r>
              <a:endParaRPr lang="en-US" altLang="zh-CN" sz="2800"/>
            </a:p>
          </p:txBody>
        </p:sp>
        <p:sp>
          <p:nvSpPr>
            <p:cNvPr id="12325" name="Line 20"/>
            <p:cNvSpPr>
              <a:spLocks noChangeShapeType="1"/>
            </p:cNvSpPr>
            <p:nvPr/>
          </p:nvSpPr>
          <p:spPr bwMode="auto">
            <a:xfrm>
              <a:off x="911" y="1253"/>
              <a:ext cx="0" cy="71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6" name="Line 21"/>
            <p:cNvSpPr>
              <a:spLocks noChangeShapeType="1"/>
            </p:cNvSpPr>
            <p:nvPr/>
          </p:nvSpPr>
          <p:spPr bwMode="auto">
            <a:xfrm>
              <a:off x="1391" y="1253"/>
              <a:ext cx="0" cy="71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7" name="Line 22"/>
            <p:cNvSpPr>
              <a:spLocks noChangeShapeType="1"/>
            </p:cNvSpPr>
            <p:nvPr/>
          </p:nvSpPr>
          <p:spPr bwMode="auto">
            <a:xfrm>
              <a:off x="1823" y="1253"/>
              <a:ext cx="0" cy="71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8" name="Line 23"/>
            <p:cNvSpPr>
              <a:spLocks noChangeShapeType="1"/>
            </p:cNvSpPr>
            <p:nvPr/>
          </p:nvSpPr>
          <p:spPr bwMode="auto">
            <a:xfrm>
              <a:off x="431" y="1602"/>
              <a:ext cx="1824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9" name="Line 24"/>
            <p:cNvSpPr>
              <a:spLocks noChangeShapeType="1"/>
            </p:cNvSpPr>
            <p:nvPr/>
          </p:nvSpPr>
          <p:spPr bwMode="auto">
            <a:xfrm>
              <a:off x="431" y="1253"/>
              <a:ext cx="0" cy="714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0" name="Line 25"/>
            <p:cNvSpPr>
              <a:spLocks noChangeShapeType="1"/>
            </p:cNvSpPr>
            <p:nvPr/>
          </p:nvSpPr>
          <p:spPr bwMode="auto">
            <a:xfrm>
              <a:off x="2255" y="1253"/>
              <a:ext cx="0" cy="714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1" name="Line 26"/>
            <p:cNvSpPr>
              <a:spLocks noChangeShapeType="1"/>
            </p:cNvSpPr>
            <p:nvPr/>
          </p:nvSpPr>
          <p:spPr bwMode="auto">
            <a:xfrm>
              <a:off x="431" y="1253"/>
              <a:ext cx="1824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2" name="Line 27"/>
            <p:cNvSpPr>
              <a:spLocks noChangeShapeType="1"/>
            </p:cNvSpPr>
            <p:nvPr/>
          </p:nvSpPr>
          <p:spPr bwMode="auto">
            <a:xfrm>
              <a:off x="431" y="1967"/>
              <a:ext cx="1824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33" name="Object 39"/>
            <p:cNvGraphicFramePr>
              <a:graphicFrameLocks noChangeAspect="1"/>
            </p:cNvGraphicFramePr>
            <p:nvPr/>
          </p:nvGraphicFramePr>
          <p:xfrm>
            <a:off x="528" y="1266"/>
            <a:ext cx="24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57" name="Equation" r:id="rId5" imgW="295275" imgH="337185" progId="Equation.3">
                    <p:embed/>
                  </p:oleObj>
                </mc:Choice>
                <mc:Fallback>
                  <p:oleObj name="Equation" r:id="rId5" imgW="295275" imgH="337185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1266"/>
                          <a:ext cx="240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34" name="Object 40"/>
            <p:cNvGraphicFramePr>
              <a:graphicFrameLocks noChangeAspect="1"/>
            </p:cNvGraphicFramePr>
            <p:nvPr/>
          </p:nvGraphicFramePr>
          <p:xfrm>
            <a:off x="528" y="1650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58" name="Equation" r:id="rId7" imgW="266700" imgH="346710" progId="Equation.3">
                    <p:embed/>
                  </p:oleObj>
                </mc:Choice>
                <mc:Fallback>
                  <p:oleObj name="Equation" r:id="rId7" imgW="266700" imgH="34671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1650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47" name="Group 51"/>
          <p:cNvGrpSpPr/>
          <p:nvPr/>
        </p:nvGrpSpPr>
        <p:grpSpPr bwMode="auto">
          <a:xfrm>
            <a:off x="5003800" y="1916113"/>
            <a:ext cx="2895600" cy="1143000"/>
            <a:chOff x="3168" y="1218"/>
            <a:chExt cx="1824" cy="720"/>
          </a:xfrm>
        </p:grpSpPr>
        <p:sp>
          <p:nvSpPr>
            <p:cNvPr id="12299" name="Rectangle 29"/>
            <p:cNvSpPr>
              <a:spLocks noChangeArrowheads="1"/>
            </p:cNvSpPr>
            <p:nvPr/>
          </p:nvSpPr>
          <p:spPr bwMode="auto">
            <a:xfrm>
              <a:off x="3168" y="1218"/>
              <a:ext cx="480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zh-CN" sz="2800"/>
            </a:p>
          </p:txBody>
        </p:sp>
        <p:sp>
          <p:nvSpPr>
            <p:cNvPr id="12300" name="Rectangle 30"/>
            <p:cNvSpPr>
              <a:spLocks noChangeArrowheads="1"/>
            </p:cNvSpPr>
            <p:nvPr/>
          </p:nvSpPr>
          <p:spPr bwMode="auto">
            <a:xfrm>
              <a:off x="3648" y="1218"/>
              <a:ext cx="480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800"/>
                <a:t>  0</a:t>
              </a:r>
              <a:endParaRPr lang="en-US" altLang="zh-CN" sz="2800"/>
            </a:p>
          </p:txBody>
        </p:sp>
        <p:sp>
          <p:nvSpPr>
            <p:cNvPr id="12301" name="Rectangle 31"/>
            <p:cNvSpPr>
              <a:spLocks noChangeArrowheads="1"/>
            </p:cNvSpPr>
            <p:nvPr/>
          </p:nvSpPr>
          <p:spPr bwMode="auto">
            <a:xfrm>
              <a:off x="4128" y="1218"/>
              <a:ext cx="432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800"/>
                <a:t>  1</a:t>
              </a:r>
              <a:endParaRPr lang="en-US" altLang="zh-CN" sz="2800"/>
            </a:p>
          </p:txBody>
        </p:sp>
        <p:sp>
          <p:nvSpPr>
            <p:cNvPr id="12302" name="Rectangle 32"/>
            <p:cNvSpPr>
              <a:spLocks noChangeArrowheads="1"/>
            </p:cNvSpPr>
            <p:nvPr/>
          </p:nvSpPr>
          <p:spPr bwMode="auto">
            <a:xfrm>
              <a:off x="4560" y="1218"/>
              <a:ext cx="432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800"/>
                <a:t>  2</a:t>
              </a:r>
              <a:endParaRPr lang="en-US" altLang="zh-CN" sz="2800"/>
            </a:p>
          </p:txBody>
        </p:sp>
        <p:sp>
          <p:nvSpPr>
            <p:cNvPr id="12303" name="Rectangle 33"/>
            <p:cNvSpPr>
              <a:spLocks noChangeArrowheads="1"/>
            </p:cNvSpPr>
            <p:nvPr/>
          </p:nvSpPr>
          <p:spPr bwMode="auto">
            <a:xfrm>
              <a:off x="3168" y="1573"/>
              <a:ext cx="4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zh-CN" sz="2800"/>
            </a:p>
          </p:txBody>
        </p:sp>
        <p:sp>
          <p:nvSpPr>
            <p:cNvPr id="12304" name="Rectangle 34"/>
            <p:cNvSpPr>
              <a:spLocks noChangeArrowheads="1"/>
            </p:cNvSpPr>
            <p:nvPr/>
          </p:nvSpPr>
          <p:spPr bwMode="auto">
            <a:xfrm>
              <a:off x="3648" y="1573"/>
              <a:ext cx="4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800"/>
                <a:t>0.6</a:t>
              </a:r>
              <a:endParaRPr lang="en-US" altLang="zh-CN" sz="2800"/>
            </a:p>
          </p:txBody>
        </p:sp>
        <p:sp>
          <p:nvSpPr>
            <p:cNvPr id="12305" name="Rectangle 35"/>
            <p:cNvSpPr>
              <a:spLocks noChangeArrowheads="1"/>
            </p:cNvSpPr>
            <p:nvPr/>
          </p:nvSpPr>
          <p:spPr bwMode="auto">
            <a:xfrm>
              <a:off x="4128" y="1573"/>
              <a:ext cx="4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800"/>
                <a:t>0.3</a:t>
              </a:r>
              <a:endParaRPr lang="en-US" altLang="zh-CN" sz="2800"/>
            </a:p>
          </p:txBody>
        </p:sp>
        <p:sp>
          <p:nvSpPr>
            <p:cNvPr id="12306" name="Rectangle 36"/>
            <p:cNvSpPr>
              <a:spLocks noChangeArrowheads="1"/>
            </p:cNvSpPr>
            <p:nvPr/>
          </p:nvSpPr>
          <p:spPr bwMode="auto">
            <a:xfrm>
              <a:off x="4560" y="1573"/>
              <a:ext cx="4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800"/>
                <a:t>0.1</a:t>
              </a:r>
              <a:endParaRPr lang="en-US" altLang="zh-CN" sz="2800"/>
            </a:p>
          </p:txBody>
        </p:sp>
        <p:sp>
          <p:nvSpPr>
            <p:cNvPr id="12307" name="Line 37"/>
            <p:cNvSpPr>
              <a:spLocks noChangeShapeType="1"/>
            </p:cNvSpPr>
            <p:nvPr/>
          </p:nvSpPr>
          <p:spPr bwMode="auto">
            <a:xfrm>
              <a:off x="3648" y="1218"/>
              <a:ext cx="0" cy="72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8" name="Line 38"/>
            <p:cNvSpPr>
              <a:spLocks noChangeShapeType="1"/>
            </p:cNvSpPr>
            <p:nvPr/>
          </p:nvSpPr>
          <p:spPr bwMode="auto">
            <a:xfrm>
              <a:off x="4128" y="1218"/>
              <a:ext cx="0" cy="72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9" name="Line 39"/>
            <p:cNvSpPr>
              <a:spLocks noChangeShapeType="1"/>
            </p:cNvSpPr>
            <p:nvPr/>
          </p:nvSpPr>
          <p:spPr bwMode="auto">
            <a:xfrm>
              <a:off x="4560" y="1218"/>
              <a:ext cx="0" cy="72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0" name="Line 40"/>
            <p:cNvSpPr>
              <a:spLocks noChangeShapeType="1"/>
            </p:cNvSpPr>
            <p:nvPr/>
          </p:nvSpPr>
          <p:spPr bwMode="auto">
            <a:xfrm>
              <a:off x="3168" y="1573"/>
              <a:ext cx="1824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1" name="Line 41"/>
            <p:cNvSpPr>
              <a:spLocks noChangeShapeType="1"/>
            </p:cNvSpPr>
            <p:nvPr/>
          </p:nvSpPr>
          <p:spPr bwMode="auto">
            <a:xfrm>
              <a:off x="3168" y="1218"/>
              <a:ext cx="0" cy="72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2" name="Line 42"/>
            <p:cNvSpPr>
              <a:spLocks noChangeShapeType="1"/>
            </p:cNvSpPr>
            <p:nvPr/>
          </p:nvSpPr>
          <p:spPr bwMode="auto">
            <a:xfrm>
              <a:off x="4992" y="1218"/>
              <a:ext cx="0" cy="72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3" name="Line 43"/>
            <p:cNvSpPr>
              <a:spLocks noChangeShapeType="1"/>
            </p:cNvSpPr>
            <p:nvPr/>
          </p:nvSpPr>
          <p:spPr bwMode="auto">
            <a:xfrm>
              <a:off x="3168" y="1218"/>
              <a:ext cx="1824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4" name="Line 44"/>
            <p:cNvSpPr>
              <a:spLocks noChangeShapeType="1"/>
            </p:cNvSpPr>
            <p:nvPr/>
          </p:nvSpPr>
          <p:spPr bwMode="auto">
            <a:xfrm>
              <a:off x="3168" y="1938"/>
              <a:ext cx="1824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15" name="Object 41"/>
            <p:cNvGraphicFramePr>
              <a:graphicFrameLocks noChangeAspect="1"/>
            </p:cNvGraphicFramePr>
            <p:nvPr/>
          </p:nvGraphicFramePr>
          <p:xfrm>
            <a:off x="3252" y="1266"/>
            <a:ext cx="264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59" name="Equation" r:id="rId9" imgW="333375" imgH="337185" progId="Equation.3">
                    <p:embed/>
                  </p:oleObj>
                </mc:Choice>
                <mc:Fallback>
                  <p:oleObj name="Equation" r:id="rId9" imgW="333375" imgH="337185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2" y="1266"/>
                          <a:ext cx="264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6" name="Object 42"/>
            <p:cNvGraphicFramePr>
              <a:graphicFrameLocks noChangeAspect="1"/>
            </p:cNvGraphicFramePr>
            <p:nvPr/>
          </p:nvGraphicFramePr>
          <p:xfrm>
            <a:off x="3264" y="1602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60" name="Equation" r:id="rId11" imgW="266700" imgH="346710" progId="Equation.3">
                    <p:embed/>
                  </p:oleObj>
                </mc:Choice>
                <mc:Fallback>
                  <p:oleObj name="Equation" r:id="rId11" imgW="266700" imgH="34671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1602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7371" name="Object 43"/>
          <p:cNvGraphicFramePr>
            <a:graphicFrameLocks noChangeAspect="1"/>
          </p:cNvGraphicFramePr>
          <p:nvPr/>
        </p:nvGraphicFramePr>
        <p:xfrm>
          <a:off x="420688" y="3914775"/>
          <a:ext cx="5930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61" name="公式" r:id="rId13" imgW="5848350" imgH="365760" progId="Equation.3">
                  <p:embed/>
                </p:oleObj>
              </mc:Choice>
              <mc:Fallback>
                <p:oleObj name="公式" r:id="rId13" imgW="5848350" imgH="36576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688" y="3914775"/>
                        <a:ext cx="5930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72" name="Object 44"/>
          <p:cNvGraphicFramePr>
            <a:graphicFrameLocks noChangeAspect="1"/>
          </p:cNvGraphicFramePr>
          <p:nvPr/>
        </p:nvGraphicFramePr>
        <p:xfrm>
          <a:off x="1384300" y="4670425"/>
          <a:ext cx="61722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62" name="公式" r:id="rId15" imgW="6086475" imgH="1424305" progId="Equation.3">
                  <p:embed/>
                </p:oleObj>
              </mc:Choice>
              <mc:Fallback>
                <p:oleObj name="公式" r:id="rId15" imgW="6086475" imgH="1424305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300" y="4670425"/>
                        <a:ext cx="61722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73" name="Text Box 45"/>
          <p:cNvSpPr txBox="1">
            <a:spLocks noChangeArrowheads="1"/>
          </p:cNvSpPr>
          <p:nvPr/>
        </p:nvSpPr>
        <p:spPr bwMode="auto">
          <a:xfrm>
            <a:off x="914400" y="33528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227374" name="Text Box 46"/>
          <p:cNvSpPr txBox="1">
            <a:spLocks noChangeArrowheads="1"/>
          </p:cNvSpPr>
          <p:nvPr/>
        </p:nvSpPr>
        <p:spPr bwMode="auto">
          <a:xfrm>
            <a:off x="323850" y="3284538"/>
            <a:ext cx="556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/>
              <a:t>试比较甲、乙两人的技术那个好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7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7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7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7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7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7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7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7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9314" name="Object 2"/>
          <p:cNvGraphicFramePr>
            <a:graphicFrameLocks noChangeAspect="1"/>
          </p:cNvGraphicFramePr>
          <p:nvPr/>
        </p:nvGraphicFramePr>
        <p:xfrm>
          <a:off x="1835150" y="260350"/>
          <a:ext cx="444500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9" name="Equation" r:id="rId1" imgW="1257300" imgH="134620" progId="Equation.DSMT4">
                  <p:embed/>
                </p:oleObj>
              </mc:Choice>
              <mc:Fallback>
                <p:oleObj name="Equation" r:id="rId1" imgW="1257300" imgH="1346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60350"/>
                        <a:ext cx="4445000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841375" y="276225"/>
            <a:ext cx="719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3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graphicFrame>
        <p:nvGraphicFramePr>
          <p:cNvPr id="269316" name="Object 4"/>
          <p:cNvGraphicFramePr>
            <a:graphicFrameLocks noChangeAspect="1"/>
          </p:cNvGraphicFramePr>
          <p:nvPr/>
        </p:nvGraphicFramePr>
        <p:xfrm>
          <a:off x="827088" y="1196975"/>
          <a:ext cx="6097587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0" name="公式" r:id="rId3" imgW="6010275" imgH="1366520" progId="Equation.3">
                  <p:embed/>
                </p:oleObj>
              </mc:Choice>
              <mc:Fallback>
                <p:oleObj name="公式" r:id="rId3" imgW="6010275" imgH="13665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196975"/>
                        <a:ext cx="6097587" cy="143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7" name="Object 5"/>
          <p:cNvGraphicFramePr>
            <a:graphicFrameLocks noChangeAspect="1"/>
          </p:cNvGraphicFramePr>
          <p:nvPr/>
        </p:nvGraphicFramePr>
        <p:xfrm>
          <a:off x="755650" y="3068638"/>
          <a:ext cx="79375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1" name="公式" r:id="rId5" imgW="7848600" imgH="1983105" progId="Equation.3">
                  <p:embed/>
                </p:oleObj>
              </mc:Choice>
              <mc:Fallback>
                <p:oleObj name="公式" r:id="rId5" imgW="7848600" imgH="198310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068638"/>
                        <a:ext cx="79375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1116013" y="5373688"/>
            <a:ext cx="57610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chemeClr val="accent2"/>
                </a:solidFill>
              </a:rPr>
              <a:t>P136</a:t>
            </a:r>
            <a:r>
              <a:rPr lang="zh-CN" altLang="en-US" sz="2800">
                <a:solidFill>
                  <a:schemeClr val="accent2"/>
                </a:solidFill>
              </a:rPr>
              <a:t>：</a:t>
            </a:r>
            <a:r>
              <a:rPr lang="en-US" altLang="zh-CN" sz="2800">
                <a:solidFill>
                  <a:schemeClr val="accent2"/>
                </a:solidFill>
              </a:rPr>
              <a:t>4.1.6</a:t>
            </a:r>
            <a:r>
              <a:rPr lang="zh-CN" altLang="en-US" sz="2800">
                <a:solidFill>
                  <a:schemeClr val="accent2"/>
                </a:solidFill>
              </a:rPr>
              <a:t>，</a:t>
            </a:r>
            <a:r>
              <a:rPr lang="en-US" altLang="zh-CN" sz="2800">
                <a:solidFill>
                  <a:schemeClr val="accent2"/>
                </a:solidFill>
              </a:rPr>
              <a:t>4.1.7</a:t>
            </a:r>
            <a:endParaRPr lang="en-US" altLang="zh-CN" sz="28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9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9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467544" y="1115132"/>
            <a:ext cx="8064896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/>
              <a:t>袋中装有</a:t>
            </a:r>
            <a:r>
              <a:rPr lang="en-US" altLang="zh-CN" sz="2800" b="1" dirty="0"/>
              <a:t>N</a:t>
            </a:r>
            <a:r>
              <a:rPr lang="zh-CN" altLang="en-US" sz="2800" b="1" dirty="0"/>
              <a:t>只球，其中白球数</a:t>
            </a:r>
            <a:r>
              <a:rPr lang="en-US" altLang="zh-CN" sz="2800" b="1" dirty="0"/>
              <a:t>X</a:t>
            </a:r>
            <a:r>
              <a:rPr lang="zh-CN" altLang="en-US" sz="2800" b="1" dirty="0"/>
              <a:t>为随机变量</a:t>
            </a:r>
            <a:r>
              <a:rPr lang="en-US" altLang="zh-CN" sz="2800" b="1" dirty="0"/>
              <a:t>,</a:t>
            </a:r>
            <a:endParaRPr lang="en-US" altLang="zh-CN" sz="2800" b="1" dirty="0">
              <a:solidFill>
                <a:schemeClr val="tx2"/>
              </a:solidFill>
            </a:endParaRPr>
          </a:p>
        </p:txBody>
      </p:sp>
      <p:graphicFrame>
        <p:nvGraphicFramePr>
          <p:cNvPr id="268301" name="Object 13"/>
          <p:cNvGraphicFramePr>
            <a:graphicFrameLocks noChangeAspect="1"/>
          </p:cNvGraphicFramePr>
          <p:nvPr/>
        </p:nvGraphicFramePr>
        <p:xfrm>
          <a:off x="7270750" y="1177925"/>
          <a:ext cx="13477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46" name="Equation" r:id="rId1" imgW="15849600" imgH="4876800" progId="Equation.DSMT4">
                  <p:embed/>
                </p:oleObj>
              </mc:Choice>
              <mc:Fallback>
                <p:oleObj name="Equation" r:id="rId1" imgW="15849600" imgH="4876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0" y="1177925"/>
                        <a:ext cx="13477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7" name="Text Box 19"/>
          <p:cNvSpPr txBox="1">
            <a:spLocks noChangeArrowheads="1"/>
          </p:cNvSpPr>
          <p:nvPr/>
        </p:nvSpPr>
        <p:spPr bwMode="auto">
          <a:xfrm>
            <a:off x="683568" y="476672"/>
            <a:ext cx="57610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chemeClr val="accent2"/>
                </a:solidFill>
              </a:rPr>
              <a:t>P136</a:t>
            </a:r>
            <a:r>
              <a:rPr lang="zh-CN" altLang="en-US" sz="2800" dirty="0">
                <a:solidFill>
                  <a:schemeClr val="accent2"/>
                </a:solidFill>
              </a:rPr>
              <a:t>：例</a:t>
            </a:r>
            <a:r>
              <a:rPr lang="en-US" altLang="zh-CN" sz="2800" dirty="0">
                <a:solidFill>
                  <a:schemeClr val="accent2"/>
                </a:solidFill>
              </a:rPr>
              <a:t>4.1.6</a:t>
            </a:r>
            <a:endParaRPr lang="en-US" altLang="zh-CN" sz="2800" dirty="0">
              <a:solidFill>
                <a:schemeClr val="accent2"/>
              </a:solidFill>
            </a:endParaRPr>
          </a:p>
        </p:txBody>
      </p:sp>
      <p:graphicFrame>
        <p:nvGraphicFramePr>
          <p:cNvPr id="18" name="Object 4"/>
          <p:cNvGraphicFramePr>
            <a:graphicFrameLocks noChangeAspect="1"/>
          </p:cNvGraphicFramePr>
          <p:nvPr/>
        </p:nvGraphicFramePr>
        <p:xfrm>
          <a:off x="1475656" y="2380262"/>
          <a:ext cx="3635375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47" name="Equation" r:id="rId3" imgW="38404800" imgH="10363200" progId="Equation.DSMT4">
                  <p:embed/>
                </p:oleObj>
              </mc:Choice>
              <mc:Fallback>
                <p:oleObj name="Equation" r:id="rId3" imgW="38404800" imgH="10363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2380262"/>
                        <a:ext cx="3635375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"/>
          <p:cNvGraphicFramePr>
            <a:graphicFrameLocks noChangeAspect="1"/>
          </p:cNvGraphicFramePr>
          <p:nvPr/>
        </p:nvGraphicFramePr>
        <p:xfrm>
          <a:off x="1763688" y="3933056"/>
          <a:ext cx="4335462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48" name="Equation" r:id="rId5" imgW="48768000" imgH="10363200" progId="Equation.DSMT4">
                  <p:embed/>
                </p:oleObj>
              </mc:Choice>
              <mc:Fallback>
                <p:oleObj name="Equation" r:id="rId5" imgW="48768000" imgH="10363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933056"/>
                        <a:ext cx="4335462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395536" y="1640360"/>
            <a:ext cx="8471839" cy="1296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/>
              <a:t>试求从该袋中任取一球取到白球的概率。</a:t>
            </a:r>
            <a:endParaRPr lang="en-US" altLang="zh-CN" sz="2800" b="1" dirty="0"/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endParaRPr lang="en-US" altLang="zh-CN" sz="2800" b="1" dirty="0">
              <a:solidFill>
                <a:schemeClr val="tx2"/>
              </a:solidFill>
            </a:endParaRP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264072" y="2186965"/>
            <a:ext cx="8471839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/>
              <a:t>解：</a:t>
            </a:r>
            <a:endParaRPr lang="en-US" altLang="zh-CN" sz="2800" b="1" dirty="0">
              <a:solidFill>
                <a:schemeClr val="tx2"/>
              </a:solidFill>
            </a:endParaRP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875111" y="3211782"/>
            <a:ext cx="8471839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/>
              <a:t>记</a:t>
            </a:r>
            <a:r>
              <a:rPr lang="en-US" altLang="zh-CN" sz="2800" b="1" dirty="0"/>
              <a:t>A={</a:t>
            </a:r>
            <a:r>
              <a:rPr lang="zh-CN" altLang="en-US" sz="2800" b="1" dirty="0"/>
              <a:t>取出白球</a:t>
            </a:r>
            <a:r>
              <a:rPr lang="en-US" altLang="zh-CN" sz="2800" b="1" dirty="0"/>
              <a:t>}</a:t>
            </a:r>
            <a:endParaRPr lang="en-US" altLang="zh-CN" sz="2800" b="1" dirty="0">
              <a:solidFill>
                <a:schemeClr val="tx2"/>
              </a:solidFill>
            </a:endParaRPr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2339752" y="4771843"/>
          <a:ext cx="539273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49" name="Equation" r:id="rId7" imgW="60655200" imgH="10363200" progId="Equation.DSMT4">
                  <p:embed/>
                </p:oleObj>
              </mc:Choice>
              <mc:Fallback>
                <p:oleObj name="Equation" r:id="rId7" imgW="60655200" imgH="10363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4771843"/>
                        <a:ext cx="5392738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2067" grpId="0" bldLvl="0" animBg="1"/>
      <p:bldP spid="11" grpId="0"/>
      <p:bldP spid="12" grpId="0"/>
      <p:bldP spid="1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467544" y="995784"/>
            <a:ext cx="83820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/>
              <a:t>设</a:t>
            </a:r>
            <a:r>
              <a:rPr lang="en-US" altLang="zh-CN" sz="2800" b="1" i="1" dirty="0"/>
              <a:t>X</a:t>
            </a:r>
            <a:r>
              <a:rPr lang="zh-CN" altLang="en-US" sz="2800" b="1" dirty="0"/>
              <a:t>是离散型随机变量，它的分布律是</a:t>
            </a:r>
            <a:r>
              <a:rPr lang="en-US" altLang="zh-CN" sz="2800" b="1" dirty="0"/>
              <a:t>:                              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{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=k}=</a:t>
            </a:r>
            <a:r>
              <a:rPr lang="en-US" altLang="zh-CN" sz="2800" b="1" i="1" dirty="0" err="1"/>
              <a:t>p</a:t>
            </a:r>
            <a:r>
              <a:rPr lang="en-US" altLang="zh-CN" sz="2800" b="1" i="1" baseline="-25000" dirty="0" err="1"/>
              <a:t>k</a:t>
            </a:r>
            <a:r>
              <a:rPr lang="en-US" altLang="zh-CN" sz="2800" b="1" dirty="0"/>
              <a:t> ,  </a:t>
            </a:r>
            <a:r>
              <a:rPr lang="en-US" altLang="zh-CN" sz="2800" b="1" i="1" dirty="0"/>
              <a:t>k</a:t>
            </a:r>
            <a:r>
              <a:rPr lang="en-US" altLang="zh-CN" sz="2800" b="1" dirty="0"/>
              <a:t>=1,2,…</a:t>
            </a:r>
            <a:endParaRPr lang="en-US" altLang="zh-CN" sz="2800" b="1" dirty="0">
              <a:solidFill>
                <a:schemeClr val="tx2"/>
              </a:solidFill>
            </a:endParaRPr>
          </a:p>
        </p:txBody>
      </p:sp>
      <p:graphicFrame>
        <p:nvGraphicFramePr>
          <p:cNvPr id="268292" name="Object 4"/>
          <p:cNvGraphicFramePr>
            <a:graphicFrameLocks noChangeAspect="1"/>
          </p:cNvGraphicFramePr>
          <p:nvPr/>
        </p:nvGraphicFramePr>
        <p:xfrm>
          <a:off x="3996531" y="1944515"/>
          <a:ext cx="2951733" cy="1091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36" name="Equation" r:id="rId1" imgW="31089600" imgH="10363200" progId="Equation.DSMT4">
                  <p:embed/>
                </p:oleObj>
              </mc:Choice>
              <mc:Fallback>
                <p:oleObj name="Equation" r:id="rId1" imgW="31089600" imgH="10363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6531" y="1944515"/>
                        <a:ext cx="2951733" cy="10919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1" name="Object 13"/>
          <p:cNvGraphicFramePr>
            <a:graphicFrameLocks noChangeAspect="1"/>
          </p:cNvGraphicFramePr>
          <p:nvPr/>
        </p:nvGraphicFramePr>
        <p:xfrm>
          <a:off x="1547664" y="2380086"/>
          <a:ext cx="889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37" name="公式" r:id="rId3" imgW="800100" imgH="307975" progId="Equation.3">
                  <p:embed/>
                </p:oleObj>
              </mc:Choice>
              <mc:Fallback>
                <p:oleObj name="公式" r:id="rId3" imgW="800100" imgH="30797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2380086"/>
                        <a:ext cx="889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04" name="Text Box 16"/>
          <p:cNvSpPr txBox="1">
            <a:spLocks noChangeArrowheads="1"/>
          </p:cNvSpPr>
          <p:nvPr/>
        </p:nvSpPr>
        <p:spPr bwMode="auto">
          <a:xfrm>
            <a:off x="1043608" y="2236418"/>
            <a:ext cx="792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/>
              <a:t>若           存在 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则</a:t>
            </a:r>
            <a:endParaRPr lang="en-US" altLang="zh-CN" sz="2800" dirty="0"/>
          </a:p>
        </p:txBody>
      </p:sp>
      <p:sp>
        <p:nvSpPr>
          <p:cNvPr id="2067" name="Text Box 19"/>
          <p:cNvSpPr txBox="1">
            <a:spLocks noChangeArrowheads="1"/>
          </p:cNvSpPr>
          <p:nvPr/>
        </p:nvSpPr>
        <p:spPr bwMode="auto">
          <a:xfrm>
            <a:off x="683568" y="476672"/>
            <a:ext cx="57610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chemeClr val="accent2"/>
                </a:solidFill>
              </a:rPr>
              <a:t>P137</a:t>
            </a:r>
            <a:r>
              <a:rPr lang="zh-CN" altLang="en-US" sz="2800" dirty="0">
                <a:solidFill>
                  <a:schemeClr val="accent2"/>
                </a:solidFill>
              </a:rPr>
              <a:t>：例</a:t>
            </a:r>
            <a:r>
              <a:rPr lang="en-US" altLang="zh-CN" sz="2800" dirty="0">
                <a:solidFill>
                  <a:schemeClr val="accent2"/>
                </a:solidFill>
              </a:rPr>
              <a:t>4.1.7</a:t>
            </a:r>
            <a:endParaRPr lang="en-US" altLang="zh-CN" sz="2800" dirty="0">
              <a:solidFill>
                <a:schemeClr val="accent2"/>
              </a:solidFill>
            </a:endParaRPr>
          </a:p>
        </p:txBody>
      </p:sp>
      <p:graphicFrame>
        <p:nvGraphicFramePr>
          <p:cNvPr id="18" name="Object 4"/>
          <p:cNvGraphicFramePr>
            <a:graphicFrameLocks noChangeAspect="1"/>
          </p:cNvGraphicFramePr>
          <p:nvPr/>
        </p:nvGraphicFramePr>
        <p:xfrm>
          <a:off x="1078106" y="3119092"/>
          <a:ext cx="3115421" cy="862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38" name="Equation" r:id="rId5" imgW="32918400" imgH="10363200" progId="Equation.DSMT4">
                  <p:embed/>
                </p:oleObj>
              </mc:Choice>
              <mc:Fallback>
                <p:oleObj name="Equation" r:id="rId5" imgW="32918400" imgH="10363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8106" y="3119092"/>
                        <a:ext cx="3115421" cy="8623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"/>
          <p:cNvGraphicFramePr>
            <a:graphicFrameLocks noChangeAspect="1"/>
          </p:cNvGraphicFramePr>
          <p:nvPr/>
        </p:nvGraphicFramePr>
        <p:xfrm>
          <a:off x="4193527" y="3147026"/>
          <a:ext cx="2748896" cy="879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39" name="Equation" r:id="rId7" imgW="30175200" imgH="10972800" progId="Equation.DSMT4">
                  <p:embed/>
                </p:oleObj>
              </mc:Choice>
              <mc:Fallback>
                <p:oleObj name="Equation" r:id="rId7" imgW="30175200" imgH="10972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3527" y="3147026"/>
                        <a:ext cx="2748896" cy="8795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"/>
          <p:cNvGraphicFramePr>
            <a:graphicFrameLocks noChangeAspect="1"/>
          </p:cNvGraphicFramePr>
          <p:nvPr/>
        </p:nvGraphicFramePr>
        <p:xfrm>
          <a:off x="4130959" y="4198495"/>
          <a:ext cx="268287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40" name="Equation" r:id="rId9" imgW="30175200" imgH="10972800" progId="Equation.DSMT4">
                  <p:embed/>
                </p:oleObj>
              </mc:Choice>
              <mc:Fallback>
                <p:oleObj name="Equation" r:id="rId9" imgW="30175200" imgH="10972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0959" y="4198495"/>
                        <a:ext cx="2682875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/>
          <p:cNvGraphicFramePr>
            <a:graphicFrameLocks noChangeAspect="1"/>
          </p:cNvGraphicFramePr>
          <p:nvPr/>
        </p:nvGraphicFramePr>
        <p:xfrm>
          <a:off x="4283968" y="5217851"/>
          <a:ext cx="1951037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41" name="Equation" r:id="rId11" imgW="21945600" imgH="10363200" progId="Equation.DSMT4">
                  <p:embed/>
                </p:oleObj>
              </mc:Choice>
              <mc:Fallback>
                <p:oleObj name="Equation" r:id="rId11" imgW="21945600" imgH="10363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5217851"/>
                        <a:ext cx="1951037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268304" grpId="0"/>
      <p:bldP spid="2067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7" name="Text Box 3"/>
          <p:cNvSpPr txBox="1">
            <a:spLocks noChangeArrowheads="1"/>
          </p:cNvSpPr>
          <p:nvPr/>
        </p:nvSpPr>
        <p:spPr bwMode="auto">
          <a:xfrm>
            <a:off x="558800" y="908050"/>
            <a:ext cx="83820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定义</a:t>
            </a:r>
            <a:r>
              <a:rPr lang="en-US" altLang="zh-CN" sz="2800" b="1">
                <a:solidFill>
                  <a:schemeClr val="accent2"/>
                </a:solidFill>
              </a:rPr>
              <a:t>2</a:t>
            </a:r>
            <a:r>
              <a:rPr lang="en-US" altLang="zh-CN" sz="2800" b="1"/>
              <a:t>   </a:t>
            </a:r>
            <a:r>
              <a:rPr lang="zh-CN" altLang="en-US" sz="2800" b="1"/>
              <a:t>设</a:t>
            </a:r>
            <a:r>
              <a:rPr lang="en-US" altLang="zh-CN" sz="2800" b="1" i="1"/>
              <a:t>X</a:t>
            </a:r>
            <a:r>
              <a:rPr lang="zh-CN" altLang="en-US" sz="2800" b="1"/>
              <a:t>是连续型随机变量，其密度函数为 </a:t>
            </a:r>
            <a:r>
              <a:rPr lang="en-US" altLang="zh-CN" sz="2800" b="1" i="1"/>
              <a:t>f 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),</a:t>
            </a:r>
            <a:r>
              <a:rPr lang="zh-CN" altLang="en-US" sz="2800" b="1"/>
              <a:t>如果积分</a:t>
            </a:r>
            <a:endParaRPr lang="zh-CN" altLang="en-US" sz="2800" b="1"/>
          </a:p>
        </p:txBody>
      </p:sp>
      <p:graphicFrame>
        <p:nvGraphicFramePr>
          <p:cNvPr id="272388" name="Object 4"/>
          <p:cNvGraphicFramePr>
            <a:graphicFrameLocks noChangeAspect="1"/>
          </p:cNvGraphicFramePr>
          <p:nvPr/>
        </p:nvGraphicFramePr>
        <p:xfrm>
          <a:off x="2540000" y="1974850"/>
          <a:ext cx="25304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4" name="Equation" r:id="rId1" imgW="1428750" imgH="337185" progId="Equation.3">
                  <p:embed/>
                </p:oleObj>
              </mc:Choice>
              <mc:Fallback>
                <p:oleObj name="Equation" r:id="rId1" imgW="1428750" imgH="3371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1974850"/>
                        <a:ext cx="253047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89" name="Rectangle 5"/>
          <p:cNvSpPr>
            <a:spLocks noChangeArrowheads="1"/>
          </p:cNvSpPr>
          <p:nvPr/>
        </p:nvSpPr>
        <p:spPr bwMode="auto">
          <a:xfrm>
            <a:off x="657225" y="2840038"/>
            <a:ext cx="822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绝对收敛</a:t>
            </a:r>
            <a:r>
              <a:rPr lang="en-US" altLang="zh-CN" sz="2800" b="1"/>
              <a:t>,</a:t>
            </a:r>
            <a:r>
              <a:rPr lang="zh-CN" altLang="en-US" sz="2800" b="1"/>
              <a:t>则称此积分值为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zh-CN" altLang="en-US" sz="2800" b="1">
                <a:solidFill>
                  <a:schemeClr val="accent2"/>
                </a:solidFill>
              </a:rPr>
              <a:t>的数学期望</a:t>
            </a:r>
            <a:r>
              <a:rPr lang="en-US" altLang="zh-CN" sz="2800" b="1"/>
              <a:t>, </a:t>
            </a:r>
            <a:r>
              <a:rPr lang="zh-CN" altLang="en-US" sz="2800" b="1"/>
              <a:t>即</a:t>
            </a:r>
            <a:endParaRPr lang="zh-CN" altLang="en-US" sz="2800" b="1"/>
          </a:p>
        </p:txBody>
      </p:sp>
      <p:graphicFrame>
        <p:nvGraphicFramePr>
          <p:cNvPr id="272390" name="Object 6"/>
          <p:cNvGraphicFramePr>
            <a:graphicFrameLocks noChangeAspect="1"/>
          </p:cNvGraphicFramePr>
          <p:nvPr/>
        </p:nvGraphicFramePr>
        <p:xfrm>
          <a:off x="2006600" y="3616325"/>
          <a:ext cx="366712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5" name="公式" r:id="rId3" imgW="1247775" imgH="250190" progId="Equation.3">
                  <p:embed/>
                </p:oleObj>
              </mc:Choice>
              <mc:Fallback>
                <p:oleObj name="公式" r:id="rId3" imgW="1247775" imgH="25019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0" y="3616325"/>
                        <a:ext cx="3667125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00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91" name="Text Box 7"/>
          <p:cNvSpPr txBox="1">
            <a:spLocks noChangeArrowheads="1"/>
          </p:cNvSpPr>
          <p:nvPr/>
        </p:nvSpPr>
        <p:spPr bwMode="auto">
          <a:xfrm>
            <a:off x="482600" y="4673600"/>
            <a:ext cx="8458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请注意 </a:t>
            </a:r>
            <a:r>
              <a:rPr lang="en-US" altLang="zh-CN" sz="2800" b="1">
                <a:solidFill>
                  <a:schemeClr val="accent2"/>
                </a:solidFill>
              </a:rPr>
              <a:t>:</a:t>
            </a:r>
            <a:r>
              <a:rPr lang="en-US" altLang="zh-CN" sz="2800" b="1">
                <a:solidFill>
                  <a:schemeClr val="tx2"/>
                </a:solidFill>
              </a:rPr>
              <a:t> </a:t>
            </a:r>
            <a:r>
              <a:rPr lang="zh-CN" altLang="en-US" sz="2800" b="1">
                <a:solidFill>
                  <a:schemeClr val="tx2"/>
                </a:solidFill>
              </a:rPr>
              <a:t>连续型随机变量的数学期望是一个绝对收敛的积分</a:t>
            </a:r>
            <a:r>
              <a:rPr lang="en-US" altLang="zh-CN" sz="2800" b="1">
                <a:solidFill>
                  <a:schemeClr val="tx2"/>
                </a:solidFill>
              </a:rPr>
              <a:t>.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sp>
        <p:nvSpPr>
          <p:cNvPr id="272392" name="Text Box 8"/>
          <p:cNvSpPr txBox="1">
            <a:spLocks noChangeArrowheads="1"/>
          </p:cNvSpPr>
          <p:nvPr/>
        </p:nvSpPr>
        <p:spPr bwMode="auto">
          <a:xfrm>
            <a:off x="0" y="152400"/>
            <a:ext cx="69119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二、连续型随机变量的数学期望</a:t>
            </a:r>
            <a:endParaRPr lang="zh-CN" altLang="en-US" sz="3200" b="1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7" grpId="0" autoUpdateAnimBg="0"/>
      <p:bldP spid="272389" grpId="0" autoUpdateAnimBg="0"/>
      <p:bldP spid="272391" grpId="0" autoUpdateAnimBg="0"/>
      <p:bldP spid="272392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378" name="Object 2"/>
          <p:cNvGraphicFramePr>
            <a:graphicFrameLocks noChangeAspect="1"/>
          </p:cNvGraphicFramePr>
          <p:nvPr/>
        </p:nvGraphicFramePr>
        <p:xfrm>
          <a:off x="1555750" y="173038"/>
          <a:ext cx="3644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2" name="公式" r:id="rId1" imgW="3562350" imgH="346710" progId="Equation.3">
                  <p:embed/>
                </p:oleObj>
              </mc:Choice>
              <mc:Fallback>
                <p:oleObj name="公式" r:id="rId1" imgW="3562350" imgH="34671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0" y="173038"/>
                        <a:ext cx="3644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609600" y="96838"/>
            <a:ext cx="1044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200" b="1">
                <a:solidFill>
                  <a:srgbClr val="003399"/>
                </a:solidFill>
              </a:rPr>
              <a:t>例</a:t>
            </a:r>
            <a:r>
              <a:rPr lang="en-US" altLang="zh-CN" sz="3200" b="1">
                <a:solidFill>
                  <a:srgbClr val="003399"/>
                </a:solidFill>
              </a:rPr>
              <a:t>4</a:t>
            </a:r>
            <a:endParaRPr lang="en-US" altLang="zh-CN" sz="3200" b="1">
              <a:solidFill>
                <a:srgbClr val="003399"/>
              </a:solidFill>
            </a:endParaRPr>
          </a:p>
        </p:txBody>
      </p:sp>
      <p:graphicFrame>
        <p:nvGraphicFramePr>
          <p:cNvPr id="229380" name="Object 4"/>
          <p:cNvGraphicFramePr>
            <a:graphicFrameLocks noChangeAspect="1"/>
          </p:cNvGraphicFramePr>
          <p:nvPr/>
        </p:nvGraphicFramePr>
        <p:xfrm>
          <a:off x="1137994" y="752475"/>
          <a:ext cx="5018182" cy="1810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3" name="公式" r:id="rId3" imgW="5295900" imgH="1877060" progId="Equation.3">
                  <p:embed/>
                </p:oleObj>
              </mc:Choice>
              <mc:Fallback>
                <p:oleObj name="公式" r:id="rId3" imgW="5295900" imgH="18770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7994" y="752475"/>
                        <a:ext cx="5018182" cy="1810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1" name="Object 5"/>
          <p:cNvGraphicFramePr>
            <a:graphicFrameLocks noChangeAspect="1"/>
          </p:cNvGraphicFramePr>
          <p:nvPr/>
        </p:nvGraphicFramePr>
        <p:xfrm>
          <a:off x="810837" y="2591327"/>
          <a:ext cx="6769100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4" name="公式" r:id="rId5" imgW="6686550" imgH="1520825" progId="Equation.3">
                  <p:embed/>
                </p:oleObj>
              </mc:Choice>
              <mc:Fallback>
                <p:oleObj name="公式" r:id="rId5" imgW="6686550" imgH="152082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837" y="2591327"/>
                        <a:ext cx="6769100" cy="158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2" name="Object 6"/>
          <p:cNvGraphicFramePr>
            <a:graphicFrameLocks noChangeAspect="1"/>
          </p:cNvGraphicFramePr>
          <p:nvPr/>
        </p:nvGraphicFramePr>
        <p:xfrm>
          <a:off x="975322" y="4344457"/>
          <a:ext cx="53435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5" name="公式" r:id="rId7" imgW="5010150" imgH="346710" progId="Equation.3">
                  <p:embed/>
                </p:oleObj>
              </mc:Choice>
              <mc:Fallback>
                <p:oleObj name="公式" r:id="rId7" imgW="5010150" imgH="34671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322" y="4344457"/>
                        <a:ext cx="53435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1131887" y="4796627"/>
            <a:ext cx="7616577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chemeClr val="accent2"/>
                </a:solidFill>
              </a:rPr>
              <a:t>P139</a:t>
            </a:r>
            <a:r>
              <a:rPr lang="zh-CN" altLang="en-US" sz="2800" dirty="0">
                <a:solidFill>
                  <a:schemeClr val="accent2"/>
                </a:solidFill>
              </a:rPr>
              <a:t>：例</a:t>
            </a:r>
            <a:r>
              <a:rPr lang="en-US" altLang="zh-CN" sz="2800" dirty="0">
                <a:solidFill>
                  <a:schemeClr val="accent2"/>
                </a:solidFill>
              </a:rPr>
              <a:t>4.1.10</a:t>
            </a:r>
            <a:r>
              <a:rPr lang="zh-CN" altLang="en-US" sz="2800" dirty="0">
                <a:solidFill>
                  <a:schemeClr val="accent2"/>
                </a:solidFill>
              </a:rPr>
              <a:t>，</a:t>
            </a:r>
            <a:r>
              <a:rPr lang="en-US" altLang="zh-CN" sz="2800" dirty="0">
                <a:solidFill>
                  <a:schemeClr val="accent2"/>
                </a:solidFill>
              </a:rPr>
              <a:t>4.1.11</a:t>
            </a:r>
            <a:r>
              <a:rPr lang="zh-CN" altLang="en-US" sz="2800" dirty="0">
                <a:solidFill>
                  <a:schemeClr val="accent2"/>
                </a:solidFill>
              </a:rPr>
              <a:t>，</a:t>
            </a:r>
            <a:r>
              <a:rPr lang="en-US" altLang="zh-CN" sz="2800" dirty="0">
                <a:solidFill>
                  <a:schemeClr val="accent2"/>
                </a:solidFill>
              </a:rPr>
              <a:t>4.1.12</a:t>
            </a:r>
            <a:r>
              <a:rPr lang="zh-CN" altLang="en-US" sz="2800" dirty="0">
                <a:solidFill>
                  <a:schemeClr val="accent2"/>
                </a:solidFill>
              </a:rPr>
              <a:t>，</a:t>
            </a:r>
            <a:r>
              <a:rPr lang="en-US" altLang="zh-CN" sz="2800" dirty="0">
                <a:solidFill>
                  <a:schemeClr val="accent2"/>
                </a:solidFill>
              </a:rPr>
              <a:t>4.1.13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accent2"/>
                </a:solidFill>
              </a:rPr>
              <a:t>均匀分布，指数分布，正态分布，</a:t>
            </a:r>
            <a:r>
              <a:rPr lang="en-US" altLang="zh-CN" sz="2800" dirty="0">
                <a:solidFill>
                  <a:schemeClr val="accent2"/>
                </a:solidFill>
              </a:rPr>
              <a:t>Cauchy</a:t>
            </a:r>
            <a:r>
              <a:rPr lang="zh-CN" altLang="en-US" sz="2800" dirty="0">
                <a:solidFill>
                  <a:schemeClr val="accent2"/>
                </a:solidFill>
              </a:rPr>
              <a:t>分布的期望</a:t>
            </a:r>
            <a:endParaRPr lang="en-US" altLang="zh-CN" sz="28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9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9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7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3301546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9080" y="52895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3301547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3301547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70" y="647700"/>
            <a:ext cx="8150860" cy="56572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CDESIGNK</Template>
  <TotalTime>0</TotalTime>
  <Words>2740</Words>
  <Application>WPS 演示</Application>
  <PresentationFormat>全屏显示(4:3)</PresentationFormat>
  <Paragraphs>484</Paragraphs>
  <Slides>67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203</vt:i4>
      </vt:variant>
      <vt:variant>
        <vt:lpstr>幻灯片标题</vt:lpstr>
      </vt:variant>
      <vt:variant>
        <vt:i4>67</vt:i4>
      </vt:variant>
    </vt:vector>
  </HeadingPairs>
  <TitlesOfParts>
    <vt:vector size="284" baseType="lpstr">
      <vt:lpstr>Arial</vt:lpstr>
      <vt:lpstr>宋体</vt:lpstr>
      <vt:lpstr>Wingdings</vt:lpstr>
      <vt:lpstr>华文新魏</vt:lpstr>
      <vt:lpstr>楷体_GB2312</vt:lpstr>
      <vt:lpstr>华文彩云</vt:lpstr>
      <vt:lpstr>Times New Roman</vt:lpstr>
      <vt:lpstr>新宋体</vt:lpstr>
      <vt:lpstr>微软雅黑</vt:lpstr>
      <vt:lpstr>Arial Unicode MS</vt:lpstr>
      <vt:lpstr>黑体</vt:lpstr>
      <vt:lpstr>隶书</vt:lpstr>
      <vt:lpstr>Verdana</vt:lpstr>
      <vt:lpstr>古瓶荷花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Word.Document.8</vt:lpstr>
      <vt:lpstr>Word.Document.8</vt:lpstr>
      <vt:lpstr>Word.Document.8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 概率论与数理统计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(2)连续型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连续型随机变量商的分布</vt:lpstr>
      <vt:lpstr>PowerPoint 演示文稿</vt:lpstr>
      <vt:lpstr>此类题的解题步骤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第四章、随机变量的数字特征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whu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xgldaj</dc:creator>
  <cp:lastModifiedBy>Guest</cp:lastModifiedBy>
  <cp:revision>268</cp:revision>
  <dcterms:created xsi:type="dcterms:W3CDTF">2010-03-02T01:46:00Z</dcterms:created>
  <dcterms:modified xsi:type="dcterms:W3CDTF">2020-03-30T08:20:36Z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