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av" ContentType="audio/x-wav"/>
  <Default Extension="gif" ContentType="image/gif"/>
  <Default Extension="emf" ContentType="image/x-emf"/>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5"/>
  </p:notesMasterIdLst>
  <p:sldIdLst>
    <p:sldId id="1479" r:id="rId3"/>
    <p:sldId id="1576" r:id="rId4"/>
    <p:sldId id="1572" r:id="rId5"/>
    <p:sldId id="1575" r:id="rId6"/>
    <p:sldId id="1574" r:id="rId7"/>
    <p:sldId id="1571" r:id="rId8"/>
    <p:sldId id="1573" r:id="rId9"/>
    <p:sldId id="1480" r:id="rId10"/>
    <p:sldId id="1481" r:id="rId11"/>
    <p:sldId id="1482" r:id="rId12"/>
    <p:sldId id="1483" r:id="rId13"/>
    <p:sldId id="1484" r:id="rId14"/>
    <p:sldId id="1485" r:id="rId15"/>
    <p:sldId id="1486" r:id="rId16"/>
    <p:sldId id="1487" r:id="rId17"/>
    <p:sldId id="1488" r:id="rId18"/>
    <p:sldId id="1489" r:id="rId19"/>
    <p:sldId id="1490" r:id="rId20"/>
    <p:sldId id="1492" r:id="rId21"/>
    <p:sldId id="1493" r:id="rId22"/>
    <p:sldId id="1494" r:id="rId23"/>
    <p:sldId id="1495" r:id="rId24"/>
    <p:sldId id="1496" r:id="rId25"/>
    <p:sldId id="1497" r:id="rId26"/>
    <p:sldId id="1498" r:id="rId27"/>
    <p:sldId id="1499" r:id="rId28"/>
    <p:sldId id="1500" r:id="rId29"/>
    <p:sldId id="1501" r:id="rId30"/>
    <p:sldId id="1502" r:id="rId31"/>
    <p:sldId id="1503" r:id="rId32"/>
    <p:sldId id="1504" r:id="rId33"/>
    <p:sldId id="1505" r:id="rId34"/>
    <p:sldId id="1506" r:id="rId35"/>
    <p:sldId id="1507" r:id="rId36"/>
    <p:sldId id="1508" r:id="rId37"/>
    <p:sldId id="1509" r:id="rId38"/>
    <p:sldId id="1510" r:id="rId39"/>
    <p:sldId id="1511" r:id="rId40"/>
    <p:sldId id="1512" r:id="rId41"/>
    <p:sldId id="1513" r:id="rId42"/>
    <p:sldId id="1514" r:id="rId43"/>
    <p:sldId id="1516" r:id="rId44"/>
    <p:sldId id="1517" r:id="rId45"/>
    <p:sldId id="1518" r:id="rId46"/>
    <p:sldId id="1519" r:id="rId47"/>
    <p:sldId id="1520" r:id="rId48"/>
    <p:sldId id="1521" r:id="rId49"/>
    <p:sldId id="1522" r:id="rId50"/>
    <p:sldId id="1666" r:id="rId51"/>
    <p:sldId id="1667" r:id="rId52"/>
    <p:sldId id="1668" r:id="rId53"/>
    <p:sldId id="1669" r:id="rId54"/>
    <p:sldId id="1678" r:id="rId55"/>
    <p:sldId id="1670" r:id="rId56"/>
    <p:sldId id="1671" r:id="rId57"/>
    <p:sldId id="1672" r:id="rId58"/>
    <p:sldId id="1673" r:id="rId59"/>
    <p:sldId id="1679" r:id="rId60"/>
    <p:sldId id="1674" r:id="rId61"/>
    <p:sldId id="1675" r:id="rId62"/>
    <p:sldId id="1534" r:id="rId63"/>
    <p:sldId id="1535" r:id="rId64"/>
    <p:sldId id="1684" r:id="rId65"/>
    <p:sldId id="1539" r:id="rId66"/>
    <p:sldId id="1540" r:id="rId67"/>
    <p:sldId id="1541" r:id="rId68"/>
    <p:sldId id="1542" r:id="rId69"/>
    <p:sldId id="1543" r:id="rId70"/>
    <p:sldId id="1544" r:id="rId71"/>
    <p:sldId id="1545" r:id="rId72"/>
    <p:sldId id="1547" r:id="rId73"/>
    <p:sldId id="1548" r:id="rId74"/>
    <p:sldId id="1680" r:id="rId75"/>
    <p:sldId id="1681" r:id="rId76"/>
    <p:sldId id="1682" r:id="rId77"/>
    <p:sldId id="1550" r:id="rId78"/>
    <p:sldId id="1551" r:id="rId79"/>
    <p:sldId id="1552" r:id="rId80"/>
    <p:sldId id="1553" r:id="rId81"/>
    <p:sldId id="1554" r:id="rId82"/>
    <p:sldId id="1555" r:id="rId83"/>
    <p:sldId id="1557" r:id="rId84"/>
    <p:sldId id="1558" r:id="rId85"/>
    <p:sldId id="1559" r:id="rId86"/>
    <p:sldId id="1560" r:id="rId87"/>
    <p:sldId id="1561" r:id="rId88"/>
    <p:sldId id="1562" r:id="rId89"/>
    <p:sldId id="1564" r:id="rId90"/>
    <p:sldId id="1565" r:id="rId91"/>
    <p:sldId id="1566" r:id="rId92"/>
    <p:sldId id="1567" r:id="rId93"/>
    <p:sldId id="1568" r:id="rId94"/>
  </p:sldIdLst>
  <p:sldSz cx="9144000" cy="6858000" type="screen4x3"/>
  <p:notesSz cx="6858000" cy="9144000"/>
  <p:defaultTextStyle>
    <a:defPPr>
      <a:defRPr lang="zh-CN"/>
    </a:defPPr>
    <a:lvl1pPr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5F4FC"/>
    <a:srgbClr val="F8F8F8"/>
    <a:srgbClr val="FFCCFF"/>
    <a:srgbClr val="CCFFFF"/>
    <a:srgbClr val="C1643F"/>
    <a:srgbClr val="336600"/>
    <a:srgbClr val="9900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18" autoAdjust="0"/>
    <p:restoredTop sz="94660"/>
  </p:normalViewPr>
  <p:slideViewPr>
    <p:cSldViewPr>
      <p:cViewPr varScale="1">
        <p:scale>
          <a:sx n="114" d="100"/>
          <a:sy n="114" d="100"/>
        </p:scale>
        <p:origin x="1958" y="91"/>
      </p:cViewPr>
      <p:guideLst>
        <p:guide orient="horz" pos="2141"/>
        <p:guide pos="284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8" Type="http://schemas.openxmlformats.org/officeDocument/2006/relationships/tableStyles" Target="tableStyles.xml"/><Relationship Id="rId97" Type="http://schemas.openxmlformats.org/officeDocument/2006/relationships/viewProps" Target="viewProps.xml"/><Relationship Id="rId96" Type="http://schemas.openxmlformats.org/officeDocument/2006/relationships/presProps" Target="presProps.xml"/><Relationship Id="rId95" Type="http://schemas.openxmlformats.org/officeDocument/2006/relationships/notesMaster" Target="notesMasters/notesMaster1.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11.emf"/><Relationship Id="rId8" Type="http://schemas.openxmlformats.org/officeDocument/2006/relationships/image" Target="../media/image10.emf"/><Relationship Id="rId7" Type="http://schemas.openxmlformats.org/officeDocument/2006/relationships/image" Target="../media/image9.emf"/><Relationship Id="rId6" Type="http://schemas.openxmlformats.org/officeDocument/2006/relationships/image" Target="../media/image8.wmf"/><Relationship Id="rId5" Type="http://schemas.openxmlformats.org/officeDocument/2006/relationships/image" Target="../media/image7.emf"/><Relationship Id="rId4" Type="http://schemas.openxmlformats.org/officeDocument/2006/relationships/image" Target="../media/image6.emf"/><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22.emf"/><Relationship Id="rId4" Type="http://schemas.openxmlformats.org/officeDocument/2006/relationships/image" Target="../media/image21.emf"/><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image" Target="../media/image18.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e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29.emf"/><Relationship Id="rId4" Type="http://schemas.openxmlformats.org/officeDocument/2006/relationships/image" Target="../media/image28.emf"/><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image" Target="../media/image2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38.emf"/><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image" Target="../media/image35.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image" Target="../media/image39.emf"/></Relationships>
</file>

<file path=ppt/drawings/_rels/vmlDrawing12.vml.rels><?xml version="1.0" encoding="UTF-8" standalone="yes"?>
<Relationships xmlns="http://schemas.openxmlformats.org/package/2006/relationships"><Relationship Id="rId7" Type="http://schemas.openxmlformats.org/officeDocument/2006/relationships/image" Target="../media/image48.emf"/><Relationship Id="rId6" Type="http://schemas.openxmlformats.org/officeDocument/2006/relationships/image" Target="../media/image47.emf"/><Relationship Id="rId5" Type="http://schemas.openxmlformats.org/officeDocument/2006/relationships/image" Target="../media/image46.emf"/><Relationship Id="rId4" Type="http://schemas.openxmlformats.org/officeDocument/2006/relationships/image" Target="../media/image45.emf"/><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image" Target="../media/image4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14.vml.rels><?xml version="1.0" encoding="UTF-8" standalone="yes"?>
<Relationships xmlns="http://schemas.openxmlformats.org/package/2006/relationships"><Relationship Id="rId5" Type="http://schemas.openxmlformats.org/officeDocument/2006/relationships/image" Target="../media/image54.emf"/><Relationship Id="rId4" Type="http://schemas.openxmlformats.org/officeDocument/2006/relationships/image" Target="../media/image53.emf"/><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image" Target="../media/image55.emf"/></Relationships>
</file>

<file path=ppt/drawings/_rels/vmlDrawing16.vml.rels><?xml version="1.0" encoding="UTF-8" standalone="yes"?>
<Relationships xmlns="http://schemas.openxmlformats.org/package/2006/relationships"><Relationship Id="rId4" Type="http://schemas.openxmlformats.org/officeDocument/2006/relationships/image" Target="../media/image61.emf"/><Relationship Id="rId3" Type="http://schemas.openxmlformats.org/officeDocument/2006/relationships/image" Target="../media/image60.emf"/><Relationship Id="rId2" Type="http://schemas.openxmlformats.org/officeDocument/2006/relationships/image" Target="../media/image59.emf"/><Relationship Id="rId1" Type="http://schemas.openxmlformats.org/officeDocument/2006/relationships/image" Target="../media/image58.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wmf"/><Relationship Id="rId1" Type="http://schemas.openxmlformats.org/officeDocument/2006/relationships/image" Target="../media/image62.e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68.emf"/><Relationship Id="rId3" Type="http://schemas.openxmlformats.org/officeDocument/2006/relationships/image" Target="../media/image67.emf"/><Relationship Id="rId2" Type="http://schemas.openxmlformats.org/officeDocument/2006/relationships/image" Target="../media/image66.emf"/><Relationship Id="rId1" Type="http://schemas.openxmlformats.org/officeDocument/2006/relationships/image" Target="../media/image65.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image" Target="../media/image70.emf"/><Relationship Id="rId1" Type="http://schemas.openxmlformats.org/officeDocument/2006/relationships/image" Target="../media/image69.emf"/></Relationships>
</file>

<file path=ppt/drawings/_rels/vmlDrawing20.vml.rels><?xml version="1.0" encoding="UTF-8" standalone="yes"?>
<Relationships xmlns="http://schemas.openxmlformats.org/package/2006/relationships"><Relationship Id="rId6" Type="http://schemas.openxmlformats.org/officeDocument/2006/relationships/image" Target="../media/image77.emf"/><Relationship Id="rId5" Type="http://schemas.openxmlformats.org/officeDocument/2006/relationships/image" Target="../media/image76.emf"/><Relationship Id="rId4" Type="http://schemas.openxmlformats.org/officeDocument/2006/relationships/image" Target="../media/image75.emf"/><Relationship Id="rId3" Type="http://schemas.openxmlformats.org/officeDocument/2006/relationships/image" Target="../media/image74.emf"/><Relationship Id="rId2" Type="http://schemas.openxmlformats.org/officeDocument/2006/relationships/image" Target="../media/image73.emf"/><Relationship Id="rId1" Type="http://schemas.openxmlformats.org/officeDocument/2006/relationships/image" Target="../media/image72.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78.emf"/></Relationships>
</file>

<file path=ppt/drawings/_rels/vmlDrawing22.vml.rels><?xml version="1.0" encoding="UTF-8" standalone="yes"?>
<Relationships xmlns="http://schemas.openxmlformats.org/package/2006/relationships"><Relationship Id="rId4" Type="http://schemas.openxmlformats.org/officeDocument/2006/relationships/image" Target="../media/image83.emf"/><Relationship Id="rId3" Type="http://schemas.openxmlformats.org/officeDocument/2006/relationships/image" Target="../media/image82.emf"/><Relationship Id="rId2" Type="http://schemas.openxmlformats.org/officeDocument/2006/relationships/image" Target="../media/image81.emf"/><Relationship Id="rId1" Type="http://schemas.openxmlformats.org/officeDocument/2006/relationships/image" Target="../media/image80.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image" Target="../media/image85.emf"/><Relationship Id="rId1" Type="http://schemas.openxmlformats.org/officeDocument/2006/relationships/image" Target="../media/image84.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87.emf"/></Relationships>
</file>

<file path=ppt/drawings/_rels/vmlDrawing25.vml.rels><?xml version="1.0" encoding="UTF-8" standalone="yes"?>
<Relationships xmlns="http://schemas.openxmlformats.org/package/2006/relationships"><Relationship Id="rId5" Type="http://schemas.openxmlformats.org/officeDocument/2006/relationships/image" Target="../media/image92.emf"/><Relationship Id="rId4" Type="http://schemas.openxmlformats.org/officeDocument/2006/relationships/image" Target="../media/image91.emf"/><Relationship Id="rId3" Type="http://schemas.openxmlformats.org/officeDocument/2006/relationships/image" Target="../media/image90.emf"/><Relationship Id="rId2" Type="http://schemas.openxmlformats.org/officeDocument/2006/relationships/image" Target="../media/image89.emf"/><Relationship Id="rId1" Type="http://schemas.openxmlformats.org/officeDocument/2006/relationships/image" Target="../media/image88.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93.e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image" Target="../media/image94.emf"/><Relationship Id="rId1" Type="http://schemas.openxmlformats.org/officeDocument/2006/relationships/image" Target="../media/image8.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97.emf"/><Relationship Id="rId1" Type="http://schemas.openxmlformats.org/officeDocument/2006/relationships/image" Target="../media/image96.emf"/></Relationships>
</file>

<file path=ppt/drawings/_rels/vmlDrawing29.vml.rels><?xml version="1.0" encoding="UTF-8" standalone="yes"?>
<Relationships xmlns="http://schemas.openxmlformats.org/package/2006/relationships"><Relationship Id="rId5" Type="http://schemas.openxmlformats.org/officeDocument/2006/relationships/image" Target="../media/image102.emf"/><Relationship Id="rId4" Type="http://schemas.openxmlformats.org/officeDocument/2006/relationships/image" Target="../media/image101.emf"/><Relationship Id="rId3" Type="http://schemas.openxmlformats.org/officeDocument/2006/relationships/image" Target="../media/image100.emf"/><Relationship Id="rId2" Type="http://schemas.openxmlformats.org/officeDocument/2006/relationships/image" Target="../media/image99.emf"/><Relationship Id="rId1" Type="http://schemas.openxmlformats.org/officeDocument/2006/relationships/image" Target="../media/image98.e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05.emf"/><Relationship Id="rId2" Type="http://schemas.openxmlformats.org/officeDocument/2006/relationships/image" Target="../media/image104.emf"/><Relationship Id="rId1" Type="http://schemas.openxmlformats.org/officeDocument/2006/relationships/image" Target="../media/image103.emf"/></Relationships>
</file>

<file path=ppt/drawings/_rels/vmlDrawing31.vml.rels><?xml version="1.0" encoding="UTF-8" standalone="yes"?>
<Relationships xmlns="http://schemas.openxmlformats.org/package/2006/relationships"><Relationship Id="rId5" Type="http://schemas.openxmlformats.org/officeDocument/2006/relationships/image" Target="../media/image110.emf"/><Relationship Id="rId4" Type="http://schemas.openxmlformats.org/officeDocument/2006/relationships/image" Target="../media/image109.emf"/><Relationship Id="rId3" Type="http://schemas.openxmlformats.org/officeDocument/2006/relationships/image" Target="../media/image108.emf"/><Relationship Id="rId2" Type="http://schemas.openxmlformats.org/officeDocument/2006/relationships/image" Target="../media/image107.emf"/><Relationship Id="rId1" Type="http://schemas.openxmlformats.org/officeDocument/2006/relationships/image" Target="../media/image106.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12.wmf"/><Relationship Id="rId1" Type="http://schemas.openxmlformats.org/officeDocument/2006/relationships/image" Target="../media/image111.wmf"/></Relationships>
</file>

<file path=ppt/drawings/_rels/vmlDrawing34.vml.rels><?xml version="1.0" encoding="UTF-8" standalone="yes"?>
<Relationships xmlns="http://schemas.openxmlformats.org/package/2006/relationships"><Relationship Id="rId4" Type="http://schemas.openxmlformats.org/officeDocument/2006/relationships/image" Target="../media/image116.emf"/><Relationship Id="rId3" Type="http://schemas.openxmlformats.org/officeDocument/2006/relationships/image" Target="../media/image115.wmf"/><Relationship Id="rId2" Type="http://schemas.openxmlformats.org/officeDocument/2006/relationships/image" Target="../media/image114.emf"/><Relationship Id="rId1" Type="http://schemas.openxmlformats.org/officeDocument/2006/relationships/image" Target="../media/image113.emf"/></Relationships>
</file>

<file path=ppt/drawings/_rels/vmlDrawing35.vml.rels><?xml version="1.0" encoding="UTF-8" standalone="yes"?>
<Relationships xmlns="http://schemas.openxmlformats.org/package/2006/relationships"><Relationship Id="rId5" Type="http://schemas.openxmlformats.org/officeDocument/2006/relationships/image" Target="../media/image121.wmf"/><Relationship Id="rId4" Type="http://schemas.openxmlformats.org/officeDocument/2006/relationships/image" Target="../media/image120.wmf"/><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7.wmf"/></Relationships>
</file>

<file path=ppt/drawings/_rels/vmlDrawing36.vml.rels><?xml version="1.0" encoding="UTF-8" standalone="yes"?>
<Relationships xmlns="http://schemas.openxmlformats.org/package/2006/relationships"><Relationship Id="rId5" Type="http://schemas.openxmlformats.org/officeDocument/2006/relationships/image" Target="../media/image126.wmf"/><Relationship Id="rId4" Type="http://schemas.openxmlformats.org/officeDocument/2006/relationships/image" Target="../media/image125.wmf"/><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s>
</file>

<file path=ppt/drawings/_rels/vmlDrawing37.vml.rels><?xml version="1.0" encoding="UTF-8" standalone="yes"?>
<Relationships xmlns="http://schemas.openxmlformats.org/package/2006/relationships"><Relationship Id="rId4" Type="http://schemas.openxmlformats.org/officeDocument/2006/relationships/image" Target="../media/image135.emf"/><Relationship Id="rId3" Type="http://schemas.openxmlformats.org/officeDocument/2006/relationships/image" Target="../media/image134.emf"/><Relationship Id="rId2" Type="http://schemas.openxmlformats.org/officeDocument/2006/relationships/image" Target="../media/image133.emf"/><Relationship Id="rId1" Type="http://schemas.openxmlformats.org/officeDocument/2006/relationships/image" Target="../media/image33.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42.emf"/><Relationship Id="rId1" Type="http://schemas.openxmlformats.org/officeDocument/2006/relationships/image" Target="../media/image33.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44.emf"/><Relationship Id="rId2" Type="http://schemas.openxmlformats.org/officeDocument/2006/relationships/image" Target="../media/image143.emf"/><Relationship Id="rId1" Type="http://schemas.openxmlformats.org/officeDocument/2006/relationships/image" Target="../media/image33.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47.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48.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43.vml.rels><?xml version="1.0" encoding="UTF-8" standalone="yes"?>
<Relationships xmlns="http://schemas.openxmlformats.org/package/2006/relationships"><Relationship Id="rId5" Type="http://schemas.openxmlformats.org/officeDocument/2006/relationships/image" Target="../media/image152.emf"/><Relationship Id="rId4" Type="http://schemas.openxmlformats.org/officeDocument/2006/relationships/image" Target="../media/image151.emf"/><Relationship Id="rId3" Type="http://schemas.openxmlformats.org/officeDocument/2006/relationships/image" Target="../media/image33.wmf"/><Relationship Id="rId2" Type="http://schemas.openxmlformats.org/officeDocument/2006/relationships/image" Target="../media/image150.emf"/><Relationship Id="rId1" Type="http://schemas.openxmlformats.org/officeDocument/2006/relationships/image" Target="../media/image149.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45.vml.rels><?xml version="1.0" encoding="UTF-8" standalone="yes"?>
<Relationships xmlns="http://schemas.openxmlformats.org/package/2006/relationships"><Relationship Id="rId5" Type="http://schemas.openxmlformats.org/officeDocument/2006/relationships/image" Target="../media/image157.wmf"/><Relationship Id="rId4" Type="http://schemas.openxmlformats.org/officeDocument/2006/relationships/image" Target="../media/image156.wmf"/><Relationship Id="rId3" Type="http://schemas.openxmlformats.org/officeDocument/2006/relationships/image" Target="../media/image155.wmf"/><Relationship Id="rId2" Type="http://schemas.openxmlformats.org/officeDocument/2006/relationships/image" Target="../media/image154.wmf"/><Relationship Id="rId1" Type="http://schemas.openxmlformats.org/officeDocument/2006/relationships/image" Target="../media/image153.wmf"/></Relationships>
</file>

<file path=ppt/drawings/_rels/vmlDrawing46.vml.rels><?xml version="1.0" encoding="UTF-8" standalone="yes"?>
<Relationships xmlns="http://schemas.openxmlformats.org/package/2006/relationships"><Relationship Id="rId4" Type="http://schemas.openxmlformats.org/officeDocument/2006/relationships/image" Target="../media/image164.wmf"/><Relationship Id="rId3" Type="http://schemas.openxmlformats.org/officeDocument/2006/relationships/image" Target="../media/image163.wmf"/><Relationship Id="rId2" Type="http://schemas.openxmlformats.org/officeDocument/2006/relationships/image" Target="../media/image162.wmf"/><Relationship Id="rId1" Type="http://schemas.openxmlformats.org/officeDocument/2006/relationships/image" Target="../media/image161.wmf"/></Relationships>
</file>

<file path=ppt/drawings/_rels/vmlDrawing47.vml.rels><?xml version="1.0" encoding="UTF-8" standalone="yes"?>
<Relationships xmlns="http://schemas.openxmlformats.org/package/2006/relationships"><Relationship Id="rId6" Type="http://schemas.openxmlformats.org/officeDocument/2006/relationships/image" Target="../media/image170.wmf"/><Relationship Id="rId5" Type="http://schemas.openxmlformats.org/officeDocument/2006/relationships/image" Target="../media/image169.wmf"/><Relationship Id="rId4" Type="http://schemas.openxmlformats.org/officeDocument/2006/relationships/image" Target="../media/image168.wmf"/><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174.emf"/><Relationship Id="rId2" Type="http://schemas.openxmlformats.org/officeDocument/2006/relationships/image" Target="../media/image173.emf"/><Relationship Id="rId1" Type="http://schemas.openxmlformats.org/officeDocument/2006/relationships/image" Target="../media/image172.e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77.emf"/><Relationship Id="rId2" Type="http://schemas.openxmlformats.org/officeDocument/2006/relationships/image" Target="../media/image176.emf"/><Relationship Id="rId1" Type="http://schemas.openxmlformats.org/officeDocument/2006/relationships/image" Target="../media/image175.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78.emf"/></Relationships>
</file>

<file path=ppt/drawings/_rels/vmlDrawing51.vml.rels><?xml version="1.0" encoding="UTF-8" standalone="yes"?>
<Relationships xmlns="http://schemas.openxmlformats.org/package/2006/relationships"><Relationship Id="rId8" Type="http://schemas.openxmlformats.org/officeDocument/2006/relationships/image" Target="../media/image186.emf"/><Relationship Id="rId7" Type="http://schemas.openxmlformats.org/officeDocument/2006/relationships/image" Target="../media/image185.emf"/><Relationship Id="rId6" Type="http://schemas.openxmlformats.org/officeDocument/2006/relationships/image" Target="../media/image184.emf"/><Relationship Id="rId5" Type="http://schemas.openxmlformats.org/officeDocument/2006/relationships/image" Target="../media/image183.emf"/><Relationship Id="rId4" Type="http://schemas.openxmlformats.org/officeDocument/2006/relationships/image" Target="../media/image182.emf"/><Relationship Id="rId3" Type="http://schemas.openxmlformats.org/officeDocument/2006/relationships/image" Target="../media/image181.emf"/><Relationship Id="rId2" Type="http://schemas.openxmlformats.org/officeDocument/2006/relationships/image" Target="../media/image180.emf"/><Relationship Id="rId1" Type="http://schemas.openxmlformats.org/officeDocument/2006/relationships/image" Target="../media/image179.e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188.emf"/><Relationship Id="rId1" Type="http://schemas.openxmlformats.org/officeDocument/2006/relationships/image" Target="../media/image187.emf"/></Relationships>
</file>

<file path=ppt/drawings/_rels/vmlDrawing53.vml.rels><?xml version="1.0" encoding="UTF-8" standalone="yes"?>
<Relationships xmlns="http://schemas.openxmlformats.org/package/2006/relationships"><Relationship Id="rId5" Type="http://schemas.openxmlformats.org/officeDocument/2006/relationships/image" Target="../media/image193.emf"/><Relationship Id="rId4" Type="http://schemas.openxmlformats.org/officeDocument/2006/relationships/image" Target="../media/image192.emf"/><Relationship Id="rId3" Type="http://schemas.openxmlformats.org/officeDocument/2006/relationships/image" Target="../media/image191.emf"/><Relationship Id="rId2" Type="http://schemas.openxmlformats.org/officeDocument/2006/relationships/image" Target="../media/image190.emf"/><Relationship Id="rId1" Type="http://schemas.openxmlformats.org/officeDocument/2006/relationships/image" Target="../media/image189.emf"/></Relationships>
</file>

<file path=ppt/drawings/_rels/vmlDrawing54.vml.rels><?xml version="1.0" encoding="UTF-8" standalone="yes"?>
<Relationships xmlns="http://schemas.openxmlformats.org/package/2006/relationships"><Relationship Id="rId2" Type="http://schemas.openxmlformats.org/officeDocument/2006/relationships/image" Target="../media/image195.emf"/><Relationship Id="rId1" Type="http://schemas.openxmlformats.org/officeDocument/2006/relationships/image" Target="../media/image194.emf"/></Relationships>
</file>

<file path=ppt/drawings/_rels/vmlDrawing55.vml.rels><?xml version="1.0" encoding="UTF-8" standalone="yes"?>
<Relationships xmlns="http://schemas.openxmlformats.org/package/2006/relationships"><Relationship Id="rId8" Type="http://schemas.openxmlformats.org/officeDocument/2006/relationships/image" Target="../media/image203.emf"/><Relationship Id="rId7" Type="http://schemas.openxmlformats.org/officeDocument/2006/relationships/image" Target="../media/image202.emf"/><Relationship Id="rId6" Type="http://schemas.openxmlformats.org/officeDocument/2006/relationships/image" Target="../media/image201.emf"/><Relationship Id="rId5" Type="http://schemas.openxmlformats.org/officeDocument/2006/relationships/image" Target="../media/image200.emf"/><Relationship Id="rId4" Type="http://schemas.openxmlformats.org/officeDocument/2006/relationships/image" Target="../media/image199.emf"/><Relationship Id="rId3" Type="http://schemas.openxmlformats.org/officeDocument/2006/relationships/image" Target="../media/image198.emf"/><Relationship Id="rId2" Type="http://schemas.openxmlformats.org/officeDocument/2006/relationships/image" Target="../media/image197.emf"/><Relationship Id="rId1" Type="http://schemas.openxmlformats.org/officeDocument/2006/relationships/image" Target="../media/image196.emf"/></Relationships>
</file>

<file path=ppt/drawings/_rels/vmlDrawing56.vml.rels><?xml version="1.0" encoding="UTF-8" standalone="yes"?>
<Relationships xmlns="http://schemas.openxmlformats.org/package/2006/relationships"><Relationship Id="rId2" Type="http://schemas.openxmlformats.org/officeDocument/2006/relationships/image" Target="../media/image205.emf"/><Relationship Id="rId1" Type="http://schemas.openxmlformats.org/officeDocument/2006/relationships/image" Target="../media/image204.emf"/></Relationships>
</file>

<file path=ppt/drawings/_rels/vmlDrawing57.vml.rels><?xml version="1.0" encoding="UTF-8" standalone="yes"?>
<Relationships xmlns="http://schemas.openxmlformats.org/package/2006/relationships"><Relationship Id="rId6" Type="http://schemas.openxmlformats.org/officeDocument/2006/relationships/image" Target="../media/image211.emf"/><Relationship Id="rId5" Type="http://schemas.openxmlformats.org/officeDocument/2006/relationships/image" Target="../media/image210.emf"/><Relationship Id="rId4" Type="http://schemas.openxmlformats.org/officeDocument/2006/relationships/image" Target="../media/image209.emf"/><Relationship Id="rId3" Type="http://schemas.openxmlformats.org/officeDocument/2006/relationships/image" Target="../media/image208.emf"/><Relationship Id="rId2" Type="http://schemas.openxmlformats.org/officeDocument/2006/relationships/image" Target="../media/image207.emf"/><Relationship Id="rId1" Type="http://schemas.openxmlformats.org/officeDocument/2006/relationships/image" Target="../media/image206.emf"/></Relationships>
</file>

<file path=ppt/drawings/_rels/vmlDrawing58.vml.rels><?xml version="1.0" encoding="UTF-8" standalone="yes"?>
<Relationships xmlns="http://schemas.openxmlformats.org/package/2006/relationships"><Relationship Id="rId4" Type="http://schemas.openxmlformats.org/officeDocument/2006/relationships/image" Target="../media/image215.wmf"/><Relationship Id="rId3" Type="http://schemas.openxmlformats.org/officeDocument/2006/relationships/image" Target="../media/image214.emf"/><Relationship Id="rId2" Type="http://schemas.openxmlformats.org/officeDocument/2006/relationships/image" Target="../media/image213.emf"/><Relationship Id="rId1" Type="http://schemas.openxmlformats.org/officeDocument/2006/relationships/image" Target="../media/image2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latin typeface="Arial" panose="020B0604020202020204" pitchFamily="34" charset="0"/>
              </a:defRPr>
            </a:lvl1pPr>
          </a:lstStyle>
          <a:p>
            <a:pPr>
              <a:defRPr/>
            </a:pPr>
            <a:endParaRPr lang="en-US" altLang="zh-CN"/>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atin typeface="Arial" panose="020B0604020202020204" pitchFamily="34" charset="0"/>
              </a:defRPr>
            </a:lvl1pPr>
          </a:lstStyle>
          <a:p>
            <a:pPr>
              <a:defRPr/>
            </a:pPr>
            <a:endParaRPr lang="en-US" altLang="zh-CN"/>
          </a:p>
        </p:txBody>
      </p:sp>
      <p:sp>
        <p:nvSpPr>
          <p:cNvPr id="51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atin typeface="Arial" panose="020B0604020202020204" pitchFamily="34" charset="0"/>
              </a:defRPr>
            </a:lvl1pPr>
          </a:lstStyle>
          <a:p>
            <a:pPr>
              <a:defRPr/>
            </a:pPr>
            <a:endParaRPr lang="en-US" altLang="zh-CN"/>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lvl1pPr>
          </a:lstStyle>
          <a:p>
            <a:pPr>
              <a:defRPr/>
            </a:pPr>
            <a:fld id="{167392BE-B871-4C5A-9552-69260FEFB885}"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17762" name="Rectangle 2"/>
          <p:cNvSpPr>
            <a:spLocks noGrp="1" noRot="1" noChangeArrowheads="1"/>
          </p:cNvSpPr>
          <p:nvPr>
            <p:ph type="ctrTitle"/>
          </p:nvPr>
        </p:nvSpPr>
        <p:spPr>
          <a:xfrm>
            <a:off x="3962400" y="1066800"/>
            <a:ext cx="4648200" cy="1981200"/>
          </a:xfrm>
        </p:spPr>
        <p:txBody>
          <a:bodyPr/>
          <a:lstStyle>
            <a:lvl1pPr>
              <a:defRPr/>
            </a:lvl1pPr>
          </a:lstStyle>
          <a:p>
            <a:r>
              <a:rPr lang="zh-CN" altLang="en-US"/>
              <a:t>单击此处编辑母版标题样式</a:t>
            </a:r>
            <a:endParaRPr lang="zh-CN" altLang="en-US"/>
          </a:p>
        </p:txBody>
      </p:sp>
      <p:sp>
        <p:nvSpPr>
          <p:cNvPr id="117763" name="Rectangle 3"/>
          <p:cNvSpPr>
            <a:spLocks noGrp="1" noRot="1" noChangeArrowheads="1"/>
          </p:cNvSpPr>
          <p:nvPr>
            <p:ph type="subTitle" idx="1"/>
          </p:nvPr>
        </p:nvSpPr>
        <p:spPr>
          <a:xfrm>
            <a:off x="3962400" y="3657600"/>
            <a:ext cx="4572000" cy="16764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a:xfrm>
            <a:off x="301625" y="6076950"/>
            <a:ext cx="2289175" cy="476250"/>
          </a:xfrm>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3124200" y="6076950"/>
            <a:ext cx="2895600" cy="476250"/>
          </a:xfr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553200" y="6076950"/>
            <a:ext cx="2289175" cy="476250"/>
          </a:xfrm>
        </p:spPr>
        <p:txBody>
          <a:bodyPr/>
          <a:lstStyle>
            <a:lvl1pPr>
              <a:defRPr/>
            </a:lvl1pPr>
          </a:lstStyle>
          <a:p>
            <a:pPr>
              <a:defRPr/>
            </a:pPr>
            <a:fld id="{79D9E9C5-D3B2-4B1A-8859-AA2D215D977A}"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53F9407-972C-4568-B451-653AE087F084}"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DD83A3F-6855-4B5E-9608-775CF40574FB}"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04800"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51375" y="1981200"/>
            <a:ext cx="4194175"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47DDAC7-2EEA-4D0D-8662-9D209C9EB155}"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5099177A-2807-46F9-860A-C7611B4D6A8D}"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4DC0A165-E460-4AAF-9FFA-46E44F4E461E}"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732040AB-5746-4111-A488-4E98BFA2370C}"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100C76E4-12B9-4F43-AF51-3986CCA99273}"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14FFD30B-895A-4AF2-AE09-B4A62D89DCD8}"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12630E0-BCA3-4404-B8EC-237505EF6312}"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10363" y="685800"/>
            <a:ext cx="2135187" cy="51816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01625" y="685800"/>
            <a:ext cx="6256338" cy="51816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9DCCCACC-D8C8-4D43-85D5-D752EED8C07A}"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01625" y="685800"/>
            <a:ext cx="8543925" cy="51816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EF0E890A-976C-42A5-A759-9BF3BCBD652F}"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301625" y="685800"/>
            <a:ext cx="8540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Rot="1" noChangeArrowheads="1"/>
          </p:cNvSpPr>
          <p:nvPr>
            <p:ph type="body" idx="1"/>
          </p:nvPr>
        </p:nvSpPr>
        <p:spPr bwMode="auto">
          <a:xfrm>
            <a:off x="304800" y="1981200"/>
            <a:ext cx="854075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16740" name="Rectangle 4"/>
          <p:cNvSpPr>
            <a:spLocks noGrp="1" noChangeArrowheads="1"/>
          </p:cNvSpPr>
          <p:nvPr>
            <p:ph type="dt" sz="half" idx="2"/>
          </p:nvPr>
        </p:nvSpPr>
        <p:spPr bwMode="auto">
          <a:xfrm>
            <a:off x="301625" y="6019800"/>
            <a:ext cx="2289175" cy="47625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b="0">
                <a:latin typeface="Arial" panose="020B0604020202020204" pitchFamily="34" charset="0"/>
              </a:defRPr>
            </a:lvl1pPr>
          </a:lstStyle>
          <a:p>
            <a:pPr>
              <a:defRPr/>
            </a:pPr>
            <a:endParaRPr lang="en-US" altLang="zh-CN"/>
          </a:p>
        </p:txBody>
      </p:sp>
      <p:sp>
        <p:nvSpPr>
          <p:cNvPr id="116741" name="Rectangle 5"/>
          <p:cNvSpPr>
            <a:spLocks noGrp="1" noChangeArrowheads="1"/>
          </p:cNvSpPr>
          <p:nvPr>
            <p:ph type="ftr" sz="quarter" idx="3"/>
          </p:nvPr>
        </p:nvSpPr>
        <p:spPr bwMode="auto">
          <a:xfrm>
            <a:off x="3124200" y="6019800"/>
            <a:ext cx="2895600" cy="47625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b="0">
                <a:latin typeface="Arial" panose="020B0604020202020204" pitchFamily="34" charset="0"/>
              </a:defRPr>
            </a:lvl1pPr>
          </a:lstStyle>
          <a:p>
            <a:pPr>
              <a:defRPr/>
            </a:pPr>
            <a:endParaRPr lang="en-US" altLang="zh-CN"/>
          </a:p>
        </p:txBody>
      </p:sp>
      <p:sp>
        <p:nvSpPr>
          <p:cNvPr id="116742" name="Rectangle 6"/>
          <p:cNvSpPr>
            <a:spLocks noGrp="1" noChangeArrowheads="1"/>
          </p:cNvSpPr>
          <p:nvPr>
            <p:ph type="sldNum" sz="quarter" idx="4"/>
          </p:nvPr>
        </p:nvSpPr>
        <p:spPr bwMode="auto">
          <a:xfrm>
            <a:off x="6553200" y="6019800"/>
            <a:ext cx="2289175" cy="47625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b="0"/>
            </a:lvl1pPr>
          </a:lstStyle>
          <a:p>
            <a:pPr>
              <a:defRPr/>
            </a:pPr>
            <a:fld id="{330F0EE5-09C0-453D-9C30-AE90C8ECFEC3}"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5pPr>
      <a:lvl6pPr marL="25146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6pPr>
      <a:lvl7pPr marL="29718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7pPr>
      <a:lvl8pPr marL="34290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8pPr>
      <a:lvl9pPr marL="3886200" indent="-228600" algn="l" rtl="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slide" Target="slide12.xml"/><Relationship Id="rId4" Type="http://schemas.openxmlformats.org/officeDocument/2006/relationships/audio" Target="../media/audio1.wav"/><Relationship Id="rId3" Type="http://schemas.openxmlformats.org/officeDocument/2006/relationships/slide" Target="slide1.xml"/><Relationship Id="rId2" Type="http://schemas.openxmlformats.org/officeDocument/2006/relationships/image" Target="../media/image1.GIF"/><Relationship Id="rId1" Type="http://schemas.openxmlformats.org/officeDocument/2006/relationships/slide" Target="slide11.xml"/></Relationships>
</file>

<file path=ppt/slides/_rels/slide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2.e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image" Target="../media/image6.emf"/><Relationship Id="rId7" Type="http://schemas.openxmlformats.org/officeDocument/2006/relationships/oleObject" Target="../embeddings/oleObject5.bin"/><Relationship Id="rId6" Type="http://schemas.openxmlformats.org/officeDocument/2006/relationships/image" Target="../media/image5.emf"/><Relationship Id="rId5" Type="http://schemas.openxmlformats.org/officeDocument/2006/relationships/oleObject" Target="../embeddings/oleObject4.bin"/><Relationship Id="rId4" Type="http://schemas.openxmlformats.org/officeDocument/2006/relationships/image" Target="../media/image4.emf"/><Relationship Id="rId3" Type="http://schemas.openxmlformats.org/officeDocument/2006/relationships/oleObject" Target="../embeddings/oleObject3.bin"/><Relationship Id="rId20" Type="http://schemas.openxmlformats.org/officeDocument/2006/relationships/vmlDrawing" Target="../drawings/vmlDrawing2.vml"/><Relationship Id="rId2" Type="http://schemas.openxmlformats.org/officeDocument/2006/relationships/image" Target="../media/image3.emf"/><Relationship Id="rId19" Type="http://schemas.openxmlformats.org/officeDocument/2006/relationships/slideLayout" Target="../slideLayouts/slideLayout7.xml"/><Relationship Id="rId18" Type="http://schemas.openxmlformats.org/officeDocument/2006/relationships/image" Target="../media/image11.emf"/><Relationship Id="rId17" Type="http://schemas.openxmlformats.org/officeDocument/2006/relationships/oleObject" Target="../embeddings/oleObject10.bin"/><Relationship Id="rId16" Type="http://schemas.openxmlformats.org/officeDocument/2006/relationships/image" Target="../media/image10.emf"/><Relationship Id="rId15" Type="http://schemas.openxmlformats.org/officeDocument/2006/relationships/oleObject" Target="../embeddings/oleObject9.bin"/><Relationship Id="rId14" Type="http://schemas.openxmlformats.org/officeDocument/2006/relationships/image" Target="../media/image9.emf"/><Relationship Id="rId13" Type="http://schemas.openxmlformats.org/officeDocument/2006/relationships/oleObject" Target="../embeddings/oleObject8.bin"/><Relationship Id="rId12" Type="http://schemas.openxmlformats.org/officeDocument/2006/relationships/image" Target="../media/image8.wmf"/><Relationship Id="rId11" Type="http://schemas.openxmlformats.org/officeDocument/2006/relationships/oleObject" Target="../embeddings/oleObject7.bin"/><Relationship Id="rId10" Type="http://schemas.openxmlformats.org/officeDocument/2006/relationships/image" Target="../media/image7.emf"/><Relationship Id="rId1"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15.emf"/><Relationship Id="rId7" Type="http://schemas.openxmlformats.org/officeDocument/2006/relationships/oleObject" Target="../embeddings/oleObject14.bin"/><Relationship Id="rId6" Type="http://schemas.openxmlformats.org/officeDocument/2006/relationships/image" Target="../media/image14.emf"/><Relationship Id="rId5" Type="http://schemas.openxmlformats.org/officeDocument/2006/relationships/oleObject" Target="../embeddings/oleObject13.bin"/><Relationship Id="rId4" Type="http://schemas.openxmlformats.org/officeDocument/2006/relationships/image" Target="../media/image13.emf"/><Relationship Id="rId3" Type="http://schemas.openxmlformats.org/officeDocument/2006/relationships/oleObject" Target="../embeddings/oleObject12.bin"/><Relationship Id="rId2" Type="http://schemas.openxmlformats.org/officeDocument/2006/relationships/image" Target="../media/image12.emf"/><Relationship Id="rId14" Type="http://schemas.openxmlformats.org/officeDocument/2006/relationships/vmlDrawing" Target="../drawings/vmlDrawing3.vml"/><Relationship Id="rId13" Type="http://schemas.openxmlformats.org/officeDocument/2006/relationships/slideLayout" Target="../slideLayouts/slideLayout7.xml"/><Relationship Id="rId12" Type="http://schemas.openxmlformats.org/officeDocument/2006/relationships/image" Target="../media/image17.emf"/><Relationship Id="rId11" Type="http://schemas.openxmlformats.org/officeDocument/2006/relationships/oleObject" Target="../embeddings/oleObject16.bin"/><Relationship Id="rId10" Type="http://schemas.openxmlformats.org/officeDocument/2006/relationships/image" Target="../media/image16.emf"/><Relationship Id="rId1" Type="http://schemas.openxmlformats.org/officeDocument/2006/relationships/oleObject" Target="../embeddings/oleObject11.bin"/></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image" Target="../media/image21.emf"/><Relationship Id="rId7" Type="http://schemas.openxmlformats.org/officeDocument/2006/relationships/oleObject" Target="../embeddings/oleObject20.bin"/><Relationship Id="rId6" Type="http://schemas.openxmlformats.org/officeDocument/2006/relationships/image" Target="../media/image20.emf"/><Relationship Id="rId5" Type="http://schemas.openxmlformats.org/officeDocument/2006/relationships/oleObject" Target="../embeddings/oleObject19.bin"/><Relationship Id="rId4" Type="http://schemas.openxmlformats.org/officeDocument/2006/relationships/image" Target="../media/image19.emf"/><Relationship Id="rId3" Type="http://schemas.openxmlformats.org/officeDocument/2006/relationships/oleObject" Target="../embeddings/oleObject18.bin"/><Relationship Id="rId2" Type="http://schemas.openxmlformats.org/officeDocument/2006/relationships/image" Target="../media/image18.emf"/><Relationship Id="rId12" Type="http://schemas.openxmlformats.org/officeDocument/2006/relationships/vmlDrawing" Target="../drawings/vmlDrawing4.vml"/><Relationship Id="rId11" Type="http://schemas.openxmlformats.org/officeDocument/2006/relationships/slideLayout" Target="../slideLayouts/slideLayout7.xml"/><Relationship Id="rId10" Type="http://schemas.openxmlformats.org/officeDocument/2006/relationships/image" Target="../media/image22.emf"/><Relationship Id="rId1" Type="http://schemas.openxmlformats.org/officeDocument/2006/relationships/oleObject" Target="../embeddings/oleObject17.bin"/></Relationships>
</file>

<file path=ppt/slides/_rels/slide6.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24.wmf"/><Relationship Id="rId3" Type="http://schemas.openxmlformats.org/officeDocument/2006/relationships/oleObject" Target="../embeddings/oleObject23.bin"/><Relationship Id="rId2" Type="http://schemas.openxmlformats.org/officeDocument/2006/relationships/image" Target="../media/image23.emf"/><Relationship Id="rId1" Type="http://schemas.openxmlformats.org/officeDocument/2006/relationships/oleObject" Target="../embeddings/oleObject22.bin"/></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28.bin"/><Relationship Id="rId8" Type="http://schemas.openxmlformats.org/officeDocument/2006/relationships/image" Target="../media/image28.emf"/><Relationship Id="rId7" Type="http://schemas.openxmlformats.org/officeDocument/2006/relationships/oleObject" Target="../embeddings/oleObject27.bin"/><Relationship Id="rId6" Type="http://schemas.openxmlformats.org/officeDocument/2006/relationships/image" Target="../media/image27.emf"/><Relationship Id="rId5" Type="http://schemas.openxmlformats.org/officeDocument/2006/relationships/oleObject" Target="../embeddings/oleObject26.bin"/><Relationship Id="rId4" Type="http://schemas.openxmlformats.org/officeDocument/2006/relationships/image" Target="../media/image26.emf"/><Relationship Id="rId3" Type="http://schemas.openxmlformats.org/officeDocument/2006/relationships/oleObject" Target="../embeddings/oleObject25.bin"/><Relationship Id="rId2" Type="http://schemas.openxmlformats.org/officeDocument/2006/relationships/image" Target="../media/image25.emf"/><Relationship Id="rId12" Type="http://schemas.openxmlformats.org/officeDocument/2006/relationships/vmlDrawing" Target="../drawings/vmlDrawing6.vml"/><Relationship Id="rId11" Type="http://schemas.openxmlformats.org/officeDocument/2006/relationships/slideLayout" Target="../slideLayouts/slideLayout7.xml"/><Relationship Id="rId10" Type="http://schemas.openxmlformats.org/officeDocument/2006/relationships/image" Target="../media/image29.emf"/><Relationship Id="rId1" Type="http://schemas.openxmlformats.org/officeDocument/2006/relationships/oleObject" Target="../embeddings/oleObject24.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7.xml"/><Relationship Id="rId2" Type="http://schemas.openxmlformats.org/officeDocument/2006/relationships/image" Target="../media/image30.emf"/><Relationship Id="rId1" Type="http://schemas.openxmlformats.org/officeDocument/2006/relationships/oleObject" Target="../embeddings/oleObject29.bin"/></Relationships>
</file>

<file path=ppt/slides/_rels/slide11.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7.xml"/><Relationship Id="rId4" Type="http://schemas.openxmlformats.org/officeDocument/2006/relationships/image" Target="../media/image32.emf"/><Relationship Id="rId3" Type="http://schemas.openxmlformats.org/officeDocument/2006/relationships/oleObject" Target="../embeddings/oleObject31.bin"/><Relationship Id="rId2" Type="http://schemas.openxmlformats.org/officeDocument/2006/relationships/image" Target="../media/image31.emf"/><Relationship Id="rId1" Type="http://schemas.openxmlformats.org/officeDocument/2006/relationships/oleObject" Target="../embeddings/oleObject30.bin"/></Relationships>
</file>

<file path=ppt/slides/_rels/slide12.xml.rels><?xml version="1.0" encoding="UTF-8" standalone="yes"?>
<Relationships xmlns="http://schemas.openxmlformats.org/package/2006/relationships"><Relationship Id="rId7" Type="http://schemas.openxmlformats.org/officeDocument/2006/relationships/vmlDrawing" Target="../drawings/vmlDrawing9.vml"/><Relationship Id="rId6" Type="http://schemas.openxmlformats.org/officeDocument/2006/relationships/slideLayout" Target="../slideLayouts/slideLayout7.xml"/><Relationship Id="rId5" Type="http://schemas.openxmlformats.org/officeDocument/2006/relationships/image" Target="../media/image34.emf"/><Relationship Id="rId4" Type="http://schemas.openxmlformats.org/officeDocument/2006/relationships/oleObject" Target="../embeddings/oleObject34.bin"/><Relationship Id="rId3" Type="http://schemas.openxmlformats.org/officeDocument/2006/relationships/oleObject" Target="../embeddings/oleObject33.bin"/><Relationship Id="rId2" Type="http://schemas.openxmlformats.org/officeDocument/2006/relationships/image" Target="../media/image33.wmf"/><Relationship Id="rId1" Type="http://schemas.openxmlformats.org/officeDocument/2006/relationships/oleObject" Target="../embeddings/oleObject32.bin"/></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8.emf"/><Relationship Id="rId7" Type="http://schemas.openxmlformats.org/officeDocument/2006/relationships/oleObject" Target="../embeddings/oleObject38.bin"/><Relationship Id="rId6" Type="http://schemas.openxmlformats.org/officeDocument/2006/relationships/image" Target="../media/image37.emf"/><Relationship Id="rId5" Type="http://schemas.openxmlformats.org/officeDocument/2006/relationships/oleObject" Target="../embeddings/oleObject37.bin"/><Relationship Id="rId4" Type="http://schemas.openxmlformats.org/officeDocument/2006/relationships/image" Target="../media/image36.emf"/><Relationship Id="rId3" Type="http://schemas.openxmlformats.org/officeDocument/2006/relationships/oleObject" Target="../embeddings/oleObject36.bin"/><Relationship Id="rId2" Type="http://schemas.openxmlformats.org/officeDocument/2006/relationships/image" Target="../media/image35.emf"/><Relationship Id="rId10" Type="http://schemas.openxmlformats.org/officeDocument/2006/relationships/vmlDrawing" Target="../drawings/vmlDrawing10.vml"/><Relationship Id="rId1" Type="http://schemas.openxmlformats.org/officeDocument/2006/relationships/oleObject" Target="../embeddings/oleObject35.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vmlDrawing" Target="../drawings/vmlDrawing11.vml"/><Relationship Id="rId7" Type="http://schemas.openxmlformats.org/officeDocument/2006/relationships/slideLayout" Target="../slideLayouts/slideLayout2.xml"/><Relationship Id="rId6" Type="http://schemas.openxmlformats.org/officeDocument/2006/relationships/image" Target="../media/image41.emf"/><Relationship Id="rId5" Type="http://schemas.openxmlformats.org/officeDocument/2006/relationships/oleObject" Target="../embeddings/oleObject41.bin"/><Relationship Id="rId4" Type="http://schemas.openxmlformats.org/officeDocument/2006/relationships/image" Target="../media/image40.emf"/><Relationship Id="rId3" Type="http://schemas.openxmlformats.org/officeDocument/2006/relationships/oleObject" Target="../embeddings/oleObject40.bin"/><Relationship Id="rId2" Type="http://schemas.openxmlformats.org/officeDocument/2006/relationships/image" Target="../media/image39.emf"/><Relationship Id="rId1" Type="http://schemas.openxmlformats.org/officeDocument/2006/relationships/oleObject" Target="../embeddings/oleObject39.bin"/></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46.bin"/><Relationship Id="rId8" Type="http://schemas.openxmlformats.org/officeDocument/2006/relationships/image" Target="../media/image45.emf"/><Relationship Id="rId7" Type="http://schemas.openxmlformats.org/officeDocument/2006/relationships/oleObject" Target="../embeddings/oleObject45.bin"/><Relationship Id="rId6" Type="http://schemas.openxmlformats.org/officeDocument/2006/relationships/image" Target="../media/image44.emf"/><Relationship Id="rId5" Type="http://schemas.openxmlformats.org/officeDocument/2006/relationships/oleObject" Target="../embeddings/oleObject44.bin"/><Relationship Id="rId4" Type="http://schemas.openxmlformats.org/officeDocument/2006/relationships/image" Target="../media/image43.emf"/><Relationship Id="rId3" Type="http://schemas.openxmlformats.org/officeDocument/2006/relationships/oleObject" Target="../embeddings/oleObject43.bin"/><Relationship Id="rId2" Type="http://schemas.openxmlformats.org/officeDocument/2006/relationships/image" Target="../media/image42.emf"/><Relationship Id="rId16" Type="http://schemas.openxmlformats.org/officeDocument/2006/relationships/vmlDrawing" Target="../drawings/vmlDrawing12.vml"/><Relationship Id="rId15" Type="http://schemas.openxmlformats.org/officeDocument/2006/relationships/slideLayout" Target="../slideLayouts/slideLayout2.xml"/><Relationship Id="rId14" Type="http://schemas.openxmlformats.org/officeDocument/2006/relationships/image" Target="../media/image48.emf"/><Relationship Id="rId13" Type="http://schemas.openxmlformats.org/officeDocument/2006/relationships/oleObject" Target="../embeddings/oleObject48.bin"/><Relationship Id="rId12" Type="http://schemas.openxmlformats.org/officeDocument/2006/relationships/image" Target="../media/image47.emf"/><Relationship Id="rId11" Type="http://schemas.openxmlformats.org/officeDocument/2006/relationships/oleObject" Target="../embeddings/oleObject47.bin"/><Relationship Id="rId10" Type="http://schemas.openxmlformats.org/officeDocument/2006/relationships/image" Target="../media/image46.emf"/><Relationship Id="rId1" Type="http://schemas.openxmlformats.org/officeDocument/2006/relationships/oleObject" Target="../embeddings/oleObject42.bin"/></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49.emf"/><Relationship Id="rId1" Type="http://schemas.openxmlformats.org/officeDocument/2006/relationships/oleObject" Target="../embeddings/oleObject49.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54.bin"/><Relationship Id="rId8" Type="http://schemas.openxmlformats.org/officeDocument/2006/relationships/image" Target="../media/image53.emf"/><Relationship Id="rId7" Type="http://schemas.openxmlformats.org/officeDocument/2006/relationships/oleObject" Target="../embeddings/oleObject53.bin"/><Relationship Id="rId6" Type="http://schemas.openxmlformats.org/officeDocument/2006/relationships/image" Target="../media/image52.emf"/><Relationship Id="rId5" Type="http://schemas.openxmlformats.org/officeDocument/2006/relationships/oleObject" Target="../embeddings/oleObject52.bin"/><Relationship Id="rId4" Type="http://schemas.openxmlformats.org/officeDocument/2006/relationships/image" Target="../media/image51.emf"/><Relationship Id="rId3" Type="http://schemas.openxmlformats.org/officeDocument/2006/relationships/oleObject" Target="../embeddings/oleObject51.bin"/><Relationship Id="rId2" Type="http://schemas.openxmlformats.org/officeDocument/2006/relationships/image" Target="../media/image50.emf"/><Relationship Id="rId12" Type="http://schemas.openxmlformats.org/officeDocument/2006/relationships/vmlDrawing" Target="../drawings/vmlDrawing14.vml"/><Relationship Id="rId11" Type="http://schemas.openxmlformats.org/officeDocument/2006/relationships/slideLayout" Target="../slideLayouts/slideLayout7.xml"/><Relationship Id="rId10" Type="http://schemas.openxmlformats.org/officeDocument/2006/relationships/image" Target="../media/image54.emf"/><Relationship Id="rId1" Type="http://schemas.openxmlformats.org/officeDocument/2006/relationships/oleObject" Target="../embeddings/oleObject50.bin"/></Relationships>
</file>

<file path=ppt/slides/_rels/slide19.xml.rels><?xml version="1.0" encoding="UTF-8" standalone="yes"?>
<Relationships xmlns="http://schemas.openxmlformats.org/package/2006/relationships"><Relationship Id="rId8" Type="http://schemas.openxmlformats.org/officeDocument/2006/relationships/vmlDrawing" Target="../drawings/vmlDrawing15.vml"/><Relationship Id="rId7" Type="http://schemas.openxmlformats.org/officeDocument/2006/relationships/slideLayout" Target="../slideLayouts/slideLayout7.xml"/><Relationship Id="rId6" Type="http://schemas.openxmlformats.org/officeDocument/2006/relationships/image" Target="../media/image57.emf"/><Relationship Id="rId5" Type="http://schemas.openxmlformats.org/officeDocument/2006/relationships/oleObject" Target="../embeddings/oleObject57.bin"/><Relationship Id="rId4" Type="http://schemas.openxmlformats.org/officeDocument/2006/relationships/image" Target="../media/image56.emf"/><Relationship Id="rId3" Type="http://schemas.openxmlformats.org/officeDocument/2006/relationships/oleObject" Target="../embeddings/oleObject56.bin"/><Relationship Id="rId2" Type="http://schemas.openxmlformats.org/officeDocument/2006/relationships/image" Target="../media/image55.emf"/><Relationship Id="rId1" Type="http://schemas.openxmlformats.org/officeDocument/2006/relationships/oleObject" Target="../embeddings/oleObject55.bin"/></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1.emf"/><Relationship Id="rId7" Type="http://schemas.openxmlformats.org/officeDocument/2006/relationships/oleObject" Target="../embeddings/oleObject61.bin"/><Relationship Id="rId6" Type="http://schemas.openxmlformats.org/officeDocument/2006/relationships/image" Target="../media/image60.emf"/><Relationship Id="rId5" Type="http://schemas.openxmlformats.org/officeDocument/2006/relationships/oleObject" Target="../embeddings/oleObject60.bin"/><Relationship Id="rId4" Type="http://schemas.openxmlformats.org/officeDocument/2006/relationships/image" Target="../media/image59.emf"/><Relationship Id="rId3" Type="http://schemas.openxmlformats.org/officeDocument/2006/relationships/oleObject" Target="../embeddings/oleObject59.bin"/><Relationship Id="rId2" Type="http://schemas.openxmlformats.org/officeDocument/2006/relationships/image" Target="../media/image58.emf"/><Relationship Id="rId10" Type="http://schemas.openxmlformats.org/officeDocument/2006/relationships/vmlDrawing" Target="../drawings/vmlDrawing16.vml"/><Relationship Id="rId1" Type="http://schemas.openxmlformats.org/officeDocument/2006/relationships/oleObject" Target="../embeddings/oleObject58.bin"/></Relationships>
</file>

<file path=ppt/slides/_rels/slide21.xml.rels><?xml version="1.0" encoding="UTF-8" standalone="yes"?>
<Relationships xmlns="http://schemas.openxmlformats.org/package/2006/relationships"><Relationship Id="rId8" Type="http://schemas.openxmlformats.org/officeDocument/2006/relationships/vmlDrawing" Target="../drawings/vmlDrawing17.vml"/><Relationship Id="rId7" Type="http://schemas.openxmlformats.org/officeDocument/2006/relationships/slideLayout" Target="../slideLayouts/slideLayout7.xml"/><Relationship Id="rId6" Type="http://schemas.openxmlformats.org/officeDocument/2006/relationships/image" Target="../media/image64.emf"/><Relationship Id="rId5" Type="http://schemas.openxmlformats.org/officeDocument/2006/relationships/oleObject" Target="../embeddings/oleObject64.bin"/><Relationship Id="rId4" Type="http://schemas.openxmlformats.org/officeDocument/2006/relationships/image" Target="../media/image63.wmf"/><Relationship Id="rId3" Type="http://schemas.openxmlformats.org/officeDocument/2006/relationships/oleObject" Target="../embeddings/oleObject63.bin"/><Relationship Id="rId2" Type="http://schemas.openxmlformats.org/officeDocument/2006/relationships/image" Target="../media/image62.emf"/><Relationship Id="rId1" Type="http://schemas.openxmlformats.org/officeDocument/2006/relationships/oleObject" Target="../embeddings/oleObject62.bin"/></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8.emf"/><Relationship Id="rId7" Type="http://schemas.openxmlformats.org/officeDocument/2006/relationships/oleObject" Target="../embeddings/oleObject68.bin"/><Relationship Id="rId6" Type="http://schemas.openxmlformats.org/officeDocument/2006/relationships/image" Target="../media/image67.emf"/><Relationship Id="rId5" Type="http://schemas.openxmlformats.org/officeDocument/2006/relationships/oleObject" Target="../embeddings/oleObject67.bin"/><Relationship Id="rId4" Type="http://schemas.openxmlformats.org/officeDocument/2006/relationships/image" Target="../media/image66.emf"/><Relationship Id="rId3" Type="http://schemas.openxmlformats.org/officeDocument/2006/relationships/oleObject" Target="../embeddings/oleObject66.bin"/><Relationship Id="rId2" Type="http://schemas.openxmlformats.org/officeDocument/2006/relationships/image" Target="../media/image65.emf"/><Relationship Id="rId10" Type="http://schemas.openxmlformats.org/officeDocument/2006/relationships/vmlDrawing" Target="../drawings/vmlDrawing18.vml"/><Relationship Id="rId1" Type="http://schemas.openxmlformats.org/officeDocument/2006/relationships/oleObject" Target="../embeddings/oleObject65.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vmlDrawing" Target="../drawings/vmlDrawing19.vml"/><Relationship Id="rId7" Type="http://schemas.openxmlformats.org/officeDocument/2006/relationships/slideLayout" Target="../slideLayouts/slideLayout7.xml"/><Relationship Id="rId6" Type="http://schemas.openxmlformats.org/officeDocument/2006/relationships/image" Target="../media/image71.emf"/><Relationship Id="rId5" Type="http://schemas.openxmlformats.org/officeDocument/2006/relationships/oleObject" Target="../embeddings/oleObject71.bin"/><Relationship Id="rId4" Type="http://schemas.openxmlformats.org/officeDocument/2006/relationships/image" Target="../media/image70.emf"/><Relationship Id="rId3" Type="http://schemas.openxmlformats.org/officeDocument/2006/relationships/oleObject" Target="../embeddings/oleObject70.bin"/><Relationship Id="rId2" Type="http://schemas.openxmlformats.org/officeDocument/2006/relationships/image" Target="../media/image69.emf"/><Relationship Id="rId1" Type="http://schemas.openxmlformats.org/officeDocument/2006/relationships/oleObject" Target="../embeddings/oleObject69.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76.bin"/><Relationship Id="rId8" Type="http://schemas.openxmlformats.org/officeDocument/2006/relationships/image" Target="../media/image75.emf"/><Relationship Id="rId7" Type="http://schemas.openxmlformats.org/officeDocument/2006/relationships/oleObject" Target="../embeddings/oleObject75.bin"/><Relationship Id="rId6" Type="http://schemas.openxmlformats.org/officeDocument/2006/relationships/image" Target="../media/image74.emf"/><Relationship Id="rId5" Type="http://schemas.openxmlformats.org/officeDocument/2006/relationships/oleObject" Target="../embeddings/oleObject74.bin"/><Relationship Id="rId4" Type="http://schemas.openxmlformats.org/officeDocument/2006/relationships/image" Target="../media/image73.emf"/><Relationship Id="rId3" Type="http://schemas.openxmlformats.org/officeDocument/2006/relationships/oleObject" Target="../embeddings/oleObject73.bin"/><Relationship Id="rId2" Type="http://schemas.openxmlformats.org/officeDocument/2006/relationships/image" Target="../media/image72.emf"/><Relationship Id="rId14" Type="http://schemas.openxmlformats.org/officeDocument/2006/relationships/vmlDrawing" Target="../drawings/vmlDrawing20.vml"/><Relationship Id="rId13" Type="http://schemas.openxmlformats.org/officeDocument/2006/relationships/slideLayout" Target="../slideLayouts/slideLayout7.xml"/><Relationship Id="rId12" Type="http://schemas.openxmlformats.org/officeDocument/2006/relationships/image" Target="../media/image77.emf"/><Relationship Id="rId11" Type="http://schemas.openxmlformats.org/officeDocument/2006/relationships/oleObject" Target="../embeddings/oleObject77.bin"/><Relationship Id="rId10" Type="http://schemas.openxmlformats.org/officeDocument/2006/relationships/image" Target="../media/image76.emf"/><Relationship Id="rId1" Type="http://schemas.openxmlformats.org/officeDocument/2006/relationships/oleObject" Target="../embeddings/oleObject72.bin"/></Relationships>
</file>

<file path=ppt/slides/_rels/slide26.xml.rels><?xml version="1.0" encoding="UTF-8" standalone="yes"?>
<Relationships xmlns="http://schemas.openxmlformats.org/package/2006/relationships"><Relationship Id="rId7" Type="http://schemas.openxmlformats.org/officeDocument/2006/relationships/vmlDrawing" Target="../drawings/vmlDrawing21.vml"/><Relationship Id="rId6" Type="http://schemas.openxmlformats.org/officeDocument/2006/relationships/slideLayout" Target="../slideLayouts/slideLayout7.xml"/><Relationship Id="rId5" Type="http://schemas.openxmlformats.org/officeDocument/2006/relationships/oleObject" Target="../embeddings/oleObject80.bin"/><Relationship Id="rId4" Type="http://schemas.openxmlformats.org/officeDocument/2006/relationships/image" Target="../media/image79.wmf"/><Relationship Id="rId3" Type="http://schemas.openxmlformats.org/officeDocument/2006/relationships/oleObject" Target="../embeddings/oleObject79.bin"/><Relationship Id="rId2" Type="http://schemas.openxmlformats.org/officeDocument/2006/relationships/image" Target="../media/image78.emf"/><Relationship Id="rId1" Type="http://schemas.openxmlformats.org/officeDocument/2006/relationships/oleObject" Target="../embeddings/oleObject78.bin"/></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3.emf"/><Relationship Id="rId7" Type="http://schemas.openxmlformats.org/officeDocument/2006/relationships/oleObject" Target="../embeddings/oleObject84.bin"/><Relationship Id="rId6" Type="http://schemas.openxmlformats.org/officeDocument/2006/relationships/image" Target="../media/image82.emf"/><Relationship Id="rId5" Type="http://schemas.openxmlformats.org/officeDocument/2006/relationships/oleObject" Target="../embeddings/oleObject83.bin"/><Relationship Id="rId4" Type="http://schemas.openxmlformats.org/officeDocument/2006/relationships/image" Target="../media/image81.emf"/><Relationship Id="rId3" Type="http://schemas.openxmlformats.org/officeDocument/2006/relationships/oleObject" Target="../embeddings/oleObject82.bin"/><Relationship Id="rId2" Type="http://schemas.openxmlformats.org/officeDocument/2006/relationships/image" Target="../media/image80.emf"/><Relationship Id="rId10" Type="http://schemas.openxmlformats.org/officeDocument/2006/relationships/vmlDrawing" Target="../drawings/vmlDrawing22.vml"/><Relationship Id="rId1" Type="http://schemas.openxmlformats.org/officeDocument/2006/relationships/oleObject" Target="../embeddings/oleObject81.bin"/></Relationships>
</file>

<file path=ppt/slides/_rels/slide28.xml.rels><?xml version="1.0" encoding="UTF-8" standalone="yes"?>
<Relationships xmlns="http://schemas.openxmlformats.org/package/2006/relationships"><Relationship Id="rId8" Type="http://schemas.openxmlformats.org/officeDocument/2006/relationships/vmlDrawing" Target="../drawings/vmlDrawing23.vml"/><Relationship Id="rId7" Type="http://schemas.openxmlformats.org/officeDocument/2006/relationships/slideLayout" Target="../slideLayouts/slideLayout7.xml"/><Relationship Id="rId6" Type="http://schemas.openxmlformats.org/officeDocument/2006/relationships/image" Target="../media/image86.emf"/><Relationship Id="rId5" Type="http://schemas.openxmlformats.org/officeDocument/2006/relationships/oleObject" Target="../embeddings/oleObject87.bin"/><Relationship Id="rId4" Type="http://schemas.openxmlformats.org/officeDocument/2006/relationships/image" Target="../media/image85.emf"/><Relationship Id="rId3" Type="http://schemas.openxmlformats.org/officeDocument/2006/relationships/oleObject" Target="../embeddings/oleObject86.bin"/><Relationship Id="rId2" Type="http://schemas.openxmlformats.org/officeDocument/2006/relationships/image" Target="../media/image84.emf"/><Relationship Id="rId1" Type="http://schemas.openxmlformats.org/officeDocument/2006/relationships/oleObject" Target="../embeddings/oleObject85.bin"/></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7.xml"/><Relationship Id="rId2" Type="http://schemas.openxmlformats.org/officeDocument/2006/relationships/image" Target="../media/image87.emf"/><Relationship Id="rId1" Type="http://schemas.openxmlformats.org/officeDocument/2006/relationships/oleObject" Target="../embeddings/oleObject88.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93.bin"/><Relationship Id="rId8" Type="http://schemas.openxmlformats.org/officeDocument/2006/relationships/image" Target="../media/image91.emf"/><Relationship Id="rId7" Type="http://schemas.openxmlformats.org/officeDocument/2006/relationships/oleObject" Target="../embeddings/oleObject92.bin"/><Relationship Id="rId6" Type="http://schemas.openxmlformats.org/officeDocument/2006/relationships/image" Target="../media/image90.emf"/><Relationship Id="rId5" Type="http://schemas.openxmlformats.org/officeDocument/2006/relationships/oleObject" Target="../embeddings/oleObject91.bin"/><Relationship Id="rId4" Type="http://schemas.openxmlformats.org/officeDocument/2006/relationships/image" Target="../media/image89.emf"/><Relationship Id="rId3" Type="http://schemas.openxmlformats.org/officeDocument/2006/relationships/oleObject" Target="../embeddings/oleObject90.bin"/><Relationship Id="rId2" Type="http://schemas.openxmlformats.org/officeDocument/2006/relationships/image" Target="../media/image88.emf"/><Relationship Id="rId12" Type="http://schemas.openxmlformats.org/officeDocument/2006/relationships/vmlDrawing" Target="../drawings/vmlDrawing25.vml"/><Relationship Id="rId11" Type="http://schemas.openxmlformats.org/officeDocument/2006/relationships/slideLayout" Target="../slideLayouts/slideLayout2.xml"/><Relationship Id="rId10" Type="http://schemas.openxmlformats.org/officeDocument/2006/relationships/image" Target="../media/image92.emf"/><Relationship Id="rId1" Type="http://schemas.openxmlformats.org/officeDocument/2006/relationships/oleObject" Target="../embeddings/oleObject89.bin"/></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7.xml"/><Relationship Id="rId2" Type="http://schemas.openxmlformats.org/officeDocument/2006/relationships/image" Target="../media/image93.emf"/><Relationship Id="rId1" Type="http://schemas.openxmlformats.org/officeDocument/2006/relationships/oleObject" Target="../embeddings/oleObject94.bin"/></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audio1.wav"/><Relationship Id="rId1" Type="http://schemas.openxmlformats.org/officeDocument/2006/relationships/image" Target="../media/image1.GIF"/></Relationships>
</file>

<file path=ppt/slides/_rels/slide33.xml.rels><?xml version="1.0" encoding="UTF-8" standalone="yes"?>
<Relationships xmlns="http://schemas.openxmlformats.org/package/2006/relationships"><Relationship Id="rId8" Type="http://schemas.openxmlformats.org/officeDocument/2006/relationships/vmlDrawing" Target="../drawings/vmlDrawing27.vml"/><Relationship Id="rId7" Type="http://schemas.openxmlformats.org/officeDocument/2006/relationships/slideLayout" Target="../slideLayouts/slideLayout7.xml"/><Relationship Id="rId6" Type="http://schemas.openxmlformats.org/officeDocument/2006/relationships/image" Target="../media/image95.emf"/><Relationship Id="rId5" Type="http://schemas.openxmlformats.org/officeDocument/2006/relationships/oleObject" Target="../embeddings/oleObject97.bin"/><Relationship Id="rId4" Type="http://schemas.openxmlformats.org/officeDocument/2006/relationships/image" Target="../media/image94.emf"/><Relationship Id="rId3" Type="http://schemas.openxmlformats.org/officeDocument/2006/relationships/oleObject" Target="../embeddings/oleObject96.bin"/><Relationship Id="rId2" Type="http://schemas.openxmlformats.org/officeDocument/2006/relationships/image" Target="../media/image8.wmf"/><Relationship Id="rId1" Type="http://schemas.openxmlformats.org/officeDocument/2006/relationships/oleObject" Target="../embeddings/oleObject95.bin"/></Relationships>
</file>

<file path=ppt/slides/_rels/slide34.xml.rels><?xml version="1.0" encoding="UTF-8" standalone="yes"?>
<Relationships xmlns="http://schemas.openxmlformats.org/package/2006/relationships"><Relationship Id="rId6" Type="http://schemas.openxmlformats.org/officeDocument/2006/relationships/vmlDrawing" Target="../drawings/vmlDrawing28.vml"/><Relationship Id="rId5" Type="http://schemas.openxmlformats.org/officeDocument/2006/relationships/slideLayout" Target="../slideLayouts/slideLayout7.xml"/><Relationship Id="rId4" Type="http://schemas.openxmlformats.org/officeDocument/2006/relationships/image" Target="../media/image97.emf"/><Relationship Id="rId3" Type="http://schemas.openxmlformats.org/officeDocument/2006/relationships/oleObject" Target="../embeddings/oleObject99.bin"/><Relationship Id="rId2" Type="http://schemas.openxmlformats.org/officeDocument/2006/relationships/image" Target="../media/image96.emf"/><Relationship Id="rId1" Type="http://schemas.openxmlformats.org/officeDocument/2006/relationships/oleObject" Target="../embeddings/oleObject98.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104.bin"/><Relationship Id="rId8" Type="http://schemas.openxmlformats.org/officeDocument/2006/relationships/image" Target="../media/image101.emf"/><Relationship Id="rId7" Type="http://schemas.openxmlformats.org/officeDocument/2006/relationships/oleObject" Target="../embeddings/oleObject103.bin"/><Relationship Id="rId6" Type="http://schemas.openxmlformats.org/officeDocument/2006/relationships/image" Target="../media/image100.emf"/><Relationship Id="rId5" Type="http://schemas.openxmlformats.org/officeDocument/2006/relationships/oleObject" Target="../embeddings/oleObject102.bin"/><Relationship Id="rId4" Type="http://schemas.openxmlformats.org/officeDocument/2006/relationships/image" Target="../media/image99.emf"/><Relationship Id="rId3" Type="http://schemas.openxmlformats.org/officeDocument/2006/relationships/oleObject" Target="../embeddings/oleObject101.bin"/><Relationship Id="rId2" Type="http://schemas.openxmlformats.org/officeDocument/2006/relationships/image" Target="../media/image98.emf"/><Relationship Id="rId12" Type="http://schemas.openxmlformats.org/officeDocument/2006/relationships/vmlDrawing" Target="../drawings/vmlDrawing29.vml"/><Relationship Id="rId11" Type="http://schemas.openxmlformats.org/officeDocument/2006/relationships/slideLayout" Target="../slideLayouts/slideLayout7.xml"/><Relationship Id="rId10" Type="http://schemas.openxmlformats.org/officeDocument/2006/relationships/image" Target="../media/image102.emf"/><Relationship Id="rId1" Type="http://schemas.openxmlformats.org/officeDocument/2006/relationships/oleObject" Target="../embeddings/oleObject100.bin"/></Relationships>
</file>

<file path=ppt/slides/_rels/slide36.xml.rels><?xml version="1.0" encoding="UTF-8" standalone="yes"?>
<Relationships xmlns="http://schemas.openxmlformats.org/package/2006/relationships"><Relationship Id="rId8" Type="http://schemas.openxmlformats.org/officeDocument/2006/relationships/vmlDrawing" Target="../drawings/vmlDrawing30.vml"/><Relationship Id="rId7" Type="http://schemas.openxmlformats.org/officeDocument/2006/relationships/slideLayout" Target="../slideLayouts/slideLayout7.xml"/><Relationship Id="rId6" Type="http://schemas.openxmlformats.org/officeDocument/2006/relationships/image" Target="../media/image105.emf"/><Relationship Id="rId5" Type="http://schemas.openxmlformats.org/officeDocument/2006/relationships/oleObject" Target="../embeddings/oleObject107.bin"/><Relationship Id="rId4" Type="http://schemas.openxmlformats.org/officeDocument/2006/relationships/image" Target="../media/image104.emf"/><Relationship Id="rId3" Type="http://schemas.openxmlformats.org/officeDocument/2006/relationships/oleObject" Target="../embeddings/oleObject106.bin"/><Relationship Id="rId2" Type="http://schemas.openxmlformats.org/officeDocument/2006/relationships/image" Target="../media/image103.emf"/><Relationship Id="rId1" Type="http://schemas.openxmlformats.org/officeDocument/2006/relationships/oleObject" Target="../embeddings/oleObject105.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112.bin"/><Relationship Id="rId8" Type="http://schemas.openxmlformats.org/officeDocument/2006/relationships/image" Target="../media/image109.emf"/><Relationship Id="rId7" Type="http://schemas.openxmlformats.org/officeDocument/2006/relationships/oleObject" Target="../embeddings/oleObject111.bin"/><Relationship Id="rId6" Type="http://schemas.openxmlformats.org/officeDocument/2006/relationships/image" Target="../media/image108.emf"/><Relationship Id="rId5" Type="http://schemas.openxmlformats.org/officeDocument/2006/relationships/oleObject" Target="../embeddings/oleObject110.bin"/><Relationship Id="rId4" Type="http://schemas.openxmlformats.org/officeDocument/2006/relationships/image" Target="../media/image107.emf"/><Relationship Id="rId3" Type="http://schemas.openxmlformats.org/officeDocument/2006/relationships/oleObject" Target="../embeddings/oleObject109.bin"/><Relationship Id="rId2" Type="http://schemas.openxmlformats.org/officeDocument/2006/relationships/image" Target="../media/image106.emf"/><Relationship Id="rId12" Type="http://schemas.openxmlformats.org/officeDocument/2006/relationships/vmlDrawing" Target="../drawings/vmlDrawing31.vml"/><Relationship Id="rId11" Type="http://schemas.openxmlformats.org/officeDocument/2006/relationships/slideLayout" Target="../slideLayouts/slideLayout7.xml"/><Relationship Id="rId10" Type="http://schemas.openxmlformats.org/officeDocument/2006/relationships/image" Target="../media/image110.emf"/><Relationship Id="rId1" Type="http://schemas.openxmlformats.org/officeDocument/2006/relationships/oleObject" Target="../embeddings/oleObject108.bin"/></Relationships>
</file>

<file path=ppt/slides/_rels/slide38.xml.rels><?xml version="1.0" encoding="UTF-8" standalone="yes"?>
<Relationships xmlns="http://schemas.openxmlformats.org/package/2006/relationships"><Relationship Id="rId4" Type="http://schemas.openxmlformats.org/officeDocument/2006/relationships/vmlDrawing" Target="../drawings/vmlDrawing32.vml"/><Relationship Id="rId3" Type="http://schemas.openxmlformats.org/officeDocument/2006/relationships/slideLayout" Target="../slideLayouts/slideLayout7.xml"/><Relationship Id="rId2" Type="http://schemas.openxmlformats.org/officeDocument/2006/relationships/image" Target="../media/image111.wmf"/><Relationship Id="rId1" Type="http://schemas.openxmlformats.org/officeDocument/2006/relationships/oleObject" Target="../embeddings/oleObject113.bin"/></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33.vml"/><Relationship Id="rId5" Type="http://schemas.openxmlformats.org/officeDocument/2006/relationships/slideLayout" Target="../slideLayouts/slideLayout7.xml"/><Relationship Id="rId4" Type="http://schemas.openxmlformats.org/officeDocument/2006/relationships/image" Target="../media/image112.wmf"/><Relationship Id="rId3" Type="http://schemas.openxmlformats.org/officeDocument/2006/relationships/oleObject" Target="../embeddings/oleObject115.bin"/><Relationship Id="rId2" Type="http://schemas.openxmlformats.org/officeDocument/2006/relationships/image" Target="../media/image111.wmf"/><Relationship Id="rId1" Type="http://schemas.openxmlformats.org/officeDocument/2006/relationships/oleObject" Target="../embeddings/oleObject114.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16.emf"/><Relationship Id="rId7" Type="http://schemas.openxmlformats.org/officeDocument/2006/relationships/oleObject" Target="../embeddings/oleObject119.bin"/><Relationship Id="rId6" Type="http://schemas.openxmlformats.org/officeDocument/2006/relationships/image" Target="../media/image115.wmf"/><Relationship Id="rId5" Type="http://schemas.openxmlformats.org/officeDocument/2006/relationships/oleObject" Target="../embeddings/oleObject118.bin"/><Relationship Id="rId4" Type="http://schemas.openxmlformats.org/officeDocument/2006/relationships/image" Target="../media/image114.emf"/><Relationship Id="rId3" Type="http://schemas.openxmlformats.org/officeDocument/2006/relationships/oleObject" Target="../embeddings/oleObject117.bin"/><Relationship Id="rId2" Type="http://schemas.openxmlformats.org/officeDocument/2006/relationships/image" Target="../media/image113.emf"/><Relationship Id="rId10" Type="http://schemas.openxmlformats.org/officeDocument/2006/relationships/vmlDrawing" Target="../drawings/vmlDrawing34.vml"/><Relationship Id="rId1" Type="http://schemas.openxmlformats.org/officeDocument/2006/relationships/oleObject" Target="../embeddings/oleObject116.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124.bin"/><Relationship Id="rId8" Type="http://schemas.openxmlformats.org/officeDocument/2006/relationships/image" Target="../media/image120.wmf"/><Relationship Id="rId7" Type="http://schemas.openxmlformats.org/officeDocument/2006/relationships/oleObject" Target="../embeddings/oleObject123.bin"/><Relationship Id="rId6" Type="http://schemas.openxmlformats.org/officeDocument/2006/relationships/image" Target="../media/image119.wmf"/><Relationship Id="rId5" Type="http://schemas.openxmlformats.org/officeDocument/2006/relationships/oleObject" Target="../embeddings/oleObject122.bin"/><Relationship Id="rId4" Type="http://schemas.openxmlformats.org/officeDocument/2006/relationships/image" Target="../media/image118.wmf"/><Relationship Id="rId3" Type="http://schemas.openxmlformats.org/officeDocument/2006/relationships/oleObject" Target="../embeddings/oleObject121.bin"/><Relationship Id="rId2" Type="http://schemas.openxmlformats.org/officeDocument/2006/relationships/image" Target="../media/image117.wmf"/><Relationship Id="rId12" Type="http://schemas.openxmlformats.org/officeDocument/2006/relationships/vmlDrawing" Target="../drawings/vmlDrawing35.vml"/><Relationship Id="rId11" Type="http://schemas.openxmlformats.org/officeDocument/2006/relationships/slideLayout" Target="../slideLayouts/slideLayout7.xml"/><Relationship Id="rId10" Type="http://schemas.openxmlformats.org/officeDocument/2006/relationships/image" Target="../media/image121.wmf"/><Relationship Id="rId1" Type="http://schemas.openxmlformats.org/officeDocument/2006/relationships/oleObject" Target="../embeddings/oleObject120.bin"/></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129.bin"/><Relationship Id="rId8" Type="http://schemas.openxmlformats.org/officeDocument/2006/relationships/image" Target="../media/image125.wmf"/><Relationship Id="rId7" Type="http://schemas.openxmlformats.org/officeDocument/2006/relationships/oleObject" Target="../embeddings/oleObject128.bin"/><Relationship Id="rId6" Type="http://schemas.openxmlformats.org/officeDocument/2006/relationships/image" Target="../media/image124.wmf"/><Relationship Id="rId5" Type="http://schemas.openxmlformats.org/officeDocument/2006/relationships/oleObject" Target="../embeddings/oleObject127.bin"/><Relationship Id="rId4" Type="http://schemas.openxmlformats.org/officeDocument/2006/relationships/image" Target="../media/image123.wmf"/><Relationship Id="rId3" Type="http://schemas.openxmlformats.org/officeDocument/2006/relationships/oleObject" Target="../embeddings/oleObject126.bin"/><Relationship Id="rId2" Type="http://schemas.openxmlformats.org/officeDocument/2006/relationships/image" Target="../media/image122.wmf"/><Relationship Id="rId12" Type="http://schemas.openxmlformats.org/officeDocument/2006/relationships/vmlDrawing" Target="../drawings/vmlDrawing36.vml"/><Relationship Id="rId11" Type="http://schemas.openxmlformats.org/officeDocument/2006/relationships/slideLayout" Target="../slideLayouts/slideLayout7.xml"/><Relationship Id="rId10" Type="http://schemas.openxmlformats.org/officeDocument/2006/relationships/image" Target="../media/image126.wmf"/><Relationship Id="rId1" Type="http://schemas.openxmlformats.org/officeDocument/2006/relationships/oleObject" Target="../embeddings/oleObject125.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8.jpeg"/><Relationship Id="rId1" Type="http://schemas.openxmlformats.org/officeDocument/2006/relationships/image" Target="../media/image127.jpe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9.jpe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0.jpe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1.jpe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2.jpeg"/></Relationships>
</file>

<file path=ppt/slides/_rels/slide53.xml.rels><?xml version="1.0" encoding="UTF-8" standalone="yes"?>
<Relationships xmlns="http://schemas.openxmlformats.org/package/2006/relationships"><Relationship Id="rId9" Type="http://schemas.openxmlformats.org/officeDocument/2006/relationships/image" Target="../media/image135.emf"/><Relationship Id="rId8" Type="http://schemas.openxmlformats.org/officeDocument/2006/relationships/oleObject" Target="../embeddings/oleObject134.bin"/><Relationship Id="rId7" Type="http://schemas.openxmlformats.org/officeDocument/2006/relationships/image" Target="../media/image134.emf"/><Relationship Id="rId6" Type="http://schemas.openxmlformats.org/officeDocument/2006/relationships/oleObject" Target="../embeddings/oleObject133.bin"/><Relationship Id="rId5" Type="http://schemas.openxmlformats.org/officeDocument/2006/relationships/image" Target="../media/image133.emf"/><Relationship Id="rId4" Type="http://schemas.openxmlformats.org/officeDocument/2006/relationships/oleObject" Target="../embeddings/oleObject132.bin"/><Relationship Id="rId3" Type="http://schemas.openxmlformats.org/officeDocument/2006/relationships/oleObject" Target="../embeddings/oleObject131.bin"/><Relationship Id="rId2" Type="http://schemas.openxmlformats.org/officeDocument/2006/relationships/image" Target="../media/image33.wmf"/><Relationship Id="rId11" Type="http://schemas.openxmlformats.org/officeDocument/2006/relationships/vmlDrawing" Target="../drawings/vmlDrawing37.vml"/><Relationship Id="rId10" Type="http://schemas.openxmlformats.org/officeDocument/2006/relationships/slideLayout" Target="../slideLayouts/slideLayout7.xml"/><Relationship Id="rId1" Type="http://schemas.openxmlformats.org/officeDocument/2006/relationships/oleObject" Target="../embeddings/oleObject130.bin"/></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6.jpe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7.jpe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8.jpe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9.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0.jpe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1.jpeg"/></Relationships>
</file>

<file path=ppt/slides/_rels/slide61.xml.rels><?xml version="1.0" encoding="UTF-8" standalone="yes"?>
<Relationships xmlns="http://schemas.openxmlformats.org/package/2006/relationships"><Relationship Id="rId7" Type="http://schemas.openxmlformats.org/officeDocument/2006/relationships/vmlDrawing" Target="../drawings/vmlDrawing38.vml"/><Relationship Id="rId6" Type="http://schemas.openxmlformats.org/officeDocument/2006/relationships/slideLayout" Target="../slideLayouts/slideLayout7.xml"/><Relationship Id="rId5" Type="http://schemas.openxmlformats.org/officeDocument/2006/relationships/image" Target="../media/image142.emf"/><Relationship Id="rId4" Type="http://schemas.openxmlformats.org/officeDocument/2006/relationships/oleObject" Target="../embeddings/oleObject137.bin"/><Relationship Id="rId3" Type="http://schemas.openxmlformats.org/officeDocument/2006/relationships/oleObject" Target="../embeddings/oleObject136.bin"/><Relationship Id="rId2" Type="http://schemas.openxmlformats.org/officeDocument/2006/relationships/image" Target="../media/image33.wmf"/><Relationship Id="rId1" Type="http://schemas.openxmlformats.org/officeDocument/2006/relationships/oleObject" Target="../embeddings/oleObject135.bin"/></Relationships>
</file>

<file path=ppt/slides/_rels/slide62.xml.rels><?xml version="1.0" encoding="UTF-8" standalone="yes"?>
<Relationships xmlns="http://schemas.openxmlformats.org/package/2006/relationships"><Relationship Id="rId9" Type="http://schemas.openxmlformats.org/officeDocument/2006/relationships/image" Target="../media/image144.emf"/><Relationship Id="rId8" Type="http://schemas.openxmlformats.org/officeDocument/2006/relationships/oleObject" Target="../embeddings/oleObject143.bin"/><Relationship Id="rId7" Type="http://schemas.openxmlformats.org/officeDocument/2006/relationships/oleObject" Target="../embeddings/oleObject142.bin"/><Relationship Id="rId6" Type="http://schemas.openxmlformats.org/officeDocument/2006/relationships/oleObject" Target="../embeddings/oleObject141.bin"/><Relationship Id="rId5" Type="http://schemas.openxmlformats.org/officeDocument/2006/relationships/image" Target="../media/image143.emf"/><Relationship Id="rId4" Type="http://schemas.openxmlformats.org/officeDocument/2006/relationships/oleObject" Target="../embeddings/oleObject140.bin"/><Relationship Id="rId3" Type="http://schemas.openxmlformats.org/officeDocument/2006/relationships/oleObject" Target="../embeddings/oleObject139.bin"/><Relationship Id="rId2" Type="http://schemas.openxmlformats.org/officeDocument/2006/relationships/image" Target="../media/image33.wmf"/><Relationship Id="rId11" Type="http://schemas.openxmlformats.org/officeDocument/2006/relationships/vmlDrawing" Target="../drawings/vmlDrawing39.vml"/><Relationship Id="rId10" Type="http://schemas.openxmlformats.org/officeDocument/2006/relationships/slideLayout" Target="../slideLayouts/slideLayout7.xml"/><Relationship Id="rId1" Type="http://schemas.openxmlformats.org/officeDocument/2006/relationships/oleObject" Target="../embeddings/oleObject138.bin"/></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5.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40.vml"/><Relationship Id="rId3" Type="http://schemas.openxmlformats.org/officeDocument/2006/relationships/slideLayout" Target="../slideLayouts/slideLayout7.xml"/><Relationship Id="rId2" Type="http://schemas.openxmlformats.org/officeDocument/2006/relationships/image" Target="../media/image147.emf"/><Relationship Id="rId1" Type="http://schemas.openxmlformats.org/officeDocument/2006/relationships/oleObject" Target="../embeddings/oleObject144.bin"/></Relationships>
</file>

<file path=ppt/slides/_rels/slide68.xml.rels><?xml version="1.0" encoding="UTF-8" standalone="yes"?>
<Relationships xmlns="http://schemas.openxmlformats.org/package/2006/relationships"><Relationship Id="rId4" Type="http://schemas.openxmlformats.org/officeDocument/2006/relationships/vmlDrawing" Target="../drawings/vmlDrawing41.vml"/><Relationship Id="rId3" Type="http://schemas.openxmlformats.org/officeDocument/2006/relationships/slideLayout" Target="../slideLayouts/slideLayout7.xml"/><Relationship Id="rId2" Type="http://schemas.openxmlformats.org/officeDocument/2006/relationships/image" Target="../media/image148.emf"/><Relationship Id="rId1" Type="http://schemas.openxmlformats.org/officeDocument/2006/relationships/oleObject" Target="../embeddings/oleObject145.bin"/></Relationships>
</file>

<file path=ppt/slides/_rels/slide69.xml.rels><?xml version="1.0" encoding="UTF-8" standalone="yes"?>
<Relationships xmlns="http://schemas.openxmlformats.org/package/2006/relationships"><Relationship Id="rId5" Type="http://schemas.openxmlformats.org/officeDocument/2006/relationships/vmlDrawing" Target="../drawings/vmlDrawing42.vml"/><Relationship Id="rId4" Type="http://schemas.openxmlformats.org/officeDocument/2006/relationships/slideLayout" Target="../slideLayouts/slideLayout7.xml"/><Relationship Id="rId3" Type="http://schemas.openxmlformats.org/officeDocument/2006/relationships/oleObject" Target="../embeddings/oleObject147.bin"/><Relationship Id="rId2" Type="http://schemas.openxmlformats.org/officeDocument/2006/relationships/image" Target="../media/image33.wmf"/><Relationship Id="rId1" Type="http://schemas.openxmlformats.org/officeDocument/2006/relationships/oleObject" Target="../embeddings/oleObject146.bin"/></Relationships>
</file>

<file path=ppt/slides/_rels/slide70.xml.rels><?xml version="1.0" encoding="UTF-8" standalone="yes"?>
<Relationships xmlns="http://schemas.openxmlformats.org/package/2006/relationships"><Relationship Id="rId9" Type="http://schemas.openxmlformats.org/officeDocument/2006/relationships/image" Target="../media/image151.emf"/><Relationship Id="rId8" Type="http://schemas.openxmlformats.org/officeDocument/2006/relationships/oleObject" Target="../embeddings/oleObject152.bin"/><Relationship Id="rId7" Type="http://schemas.openxmlformats.org/officeDocument/2006/relationships/oleObject" Target="../embeddings/oleObject151.bin"/><Relationship Id="rId6" Type="http://schemas.openxmlformats.org/officeDocument/2006/relationships/image" Target="../media/image33.wmf"/><Relationship Id="rId5" Type="http://schemas.openxmlformats.org/officeDocument/2006/relationships/oleObject" Target="../embeddings/oleObject150.bin"/><Relationship Id="rId4" Type="http://schemas.openxmlformats.org/officeDocument/2006/relationships/image" Target="../media/image150.emf"/><Relationship Id="rId3" Type="http://schemas.openxmlformats.org/officeDocument/2006/relationships/oleObject" Target="../embeddings/oleObject149.bin"/><Relationship Id="rId2" Type="http://schemas.openxmlformats.org/officeDocument/2006/relationships/image" Target="../media/image149.emf"/><Relationship Id="rId13" Type="http://schemas.openxmlformats.org/officeDocument/2006/relationships/vmlDrawing" Target="../drawings/vmlDrawing43.vml"/><Relationship Id="rId12" Type="http://schemas.openxmlformats.org/officeDocument/2006/relationships/slideLayout" Target="../slideLayouts/slideLayout7.xml"/><Relationship Id="rId11" Type="http://schemas.openxmlformats.org/officeDocument/2006/relationships/image" Target="../media/image152.emf"/><Relationship Id="rId10" Type="http://schemas.openxmlformats.org/officeDocument/2006/relationships/oleObject" Target="../embeddings/oleObject153.bin"/><Relationship Id="rId1" Type="http://schemas.openxmlformats.org/officeDocument/2006/relationships/oleObject" Target="../embeddings/oleObject148.bin"/></Relationships>
</file>

<file path=ppt/slides/_rels/slide71.xml.rels><?xml version="1.0" encoding="UTF-8" standalone="yes"?>
<Relationships xmlns="http://schemas.openxmlformats.org/package/2006/relationships"><Relationship Id="rId5" Type="http://schemas.openxmlformats.org/officeDocument/2006/relationships/vmlDrawing" Target="../drawings/vmlDrawing44.vml"/><Relationship Id="rId4" Type="http://schemas.openxmlformats.org/officeDocument/2006/relationships/slideLayout" Target="../slideLayouts/slideLayout7.xml"/><Relationship Id="rId3" Type="http://schemas.openxmlformats.org/officeDocument/2006/relationships/oleObject" Target="../embeddings/oleObject155.bin"/><Relationship Id="rId2" Type="http://schemas.openxmlformats.org/officeDocument/2006/relationships/image" Target="../media/image33.wmf"/><Relationship Id="rId1" Type="http://schemas.openxmlformats.org/officeDocument/2006/relationships/oleObject" Target="../embeddings/oleObject154.bin"/></Relationships>
</file>

<file path=ppt/slides/_rels/slide72.xml.rels><?xml version="1.0" encoding="UTF-8" standalone="yes"?>
<Relationships xmlns="http://schemas.openxmlformats.org/package/2006/relationships"><Relationship Id="rId9" Type="http://schemas.openxmlformats.org/officeDocument/2006/relationships/oleObject" Target="../embeddings/oleObject160.bin"/><Relationship Id="rId8" Type="http://schemas.openxmlformats.org/officeDocument/2006/relationships/image" Target="../media/image156.wmf"/><Relationship Id="rId7" Type="http://schemas.openxmlformats.org/officeDocument/2006/relationships/oleObject" Target="../embeddings/oleObject159.bin"/><Relationship Id="rId6" Type="http://schemas.openxmlformats.org/officeDocument/2006/relationships/image" Target="../media/image155.wmf"/><Relationship Id="rId5" Type="http://schemas.openxmlformats.org/officeDocument/2006/relationships/oleObject" Target="../embeddings/oleObject158.bin"/><Relationship Id="rId4" Type="http://schemas.openxmlformats.org/officeDocument/2006/relationships/image" Target="../media/image154.wmf"/><Relationship Id="rId3" Type="http://schemas.openxmlformats.org/officeDocument/2006/relationships/oleObject" Target="../embeddings/oleObject157.bin"/><Relationship Id="rId2" Type="http://schemas.openxmlformats.org/officeDocument/2006/relationships/image" Target="../media/image153.wmf"/><Relationship Id="rId12" Type="http://schemas.openxmlformats.org/officeDocument/2006/relationships/vmlDrawing" Target="../drawings/vmlDrawing45.vml"/><Relationship Id="rId11" Type="http://schemas.openxmlformats.org/officeDocument/2006/relationships/slideLayout" Target="../slideLayouts/slideLayout7.xml"/><Relationship Id="rId10" Type="http://schemas.openxmlformats.org/officeDocument/2006/relationships/image" Target="../media/image157.wmf"/><Relationship Id="rId1" Type="http://schemas.openxmlformats.org/officeDocument/2006/relationships/oleObject" Target="../embeddings/oleObject156.bin"/></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8.jpe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9.jpe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0.jpeg"/></Relationships>
</file>

<file path=ppt/slides/_rels/slide7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64.wmf"/><Relationship Id="rId7" Type="http://schemas.openxmlformats.org/officeDocument/2006/relationships/oleObject" Target="../embeddings/oleObject164.bin"/><Relationship Id="rId6" Type="http://schemas.openxmlformats.org/officeDocument/2006/relationships/image" Target="../media/image163.wmf"/><Relationship Id="rId5" Type="http://schemas.openxmlformats.org/officeDocument/2006/relationships/oleObject" Target="../embeddings/oleObject163.bin"/><Relationship Id="rId4" Type="http://schemas.openxmlformats.org/officeDocument/2006/relationships/image" Target="../media/image162.wmf"/><Relationship Id="rId3" Type="http://schemas.openxmlformats.org/officeDocument/2006/relationships/oleObject" Target="../embeddings/oleObject162.bin"/><Relationship Id="rId2" Type="http://schemas.openxmlformats.org/officeDocument/2006/relationships/image" Target="../media/image161.wmf"/><Relationship Id="rId10" Type="http://schemas.openxmlformats.org/officeDocument/2006/relationships/vmlDrawing" Target="../drawings/vmlDrawing46.vml"/><Relationship Id="rId1" Type="http://schemas.openxmlformats.org/officeDocument/2006/relationships/oleObject" Target="../embeddings/oleObject161.bin"/></Relationships>
</file>

<file path=ppt/slides/_rels/slide77.xml.rels><?xml version="1.0" encoding="UTF-8" standalone="yes"?>
<Relationships xmlns="http://schemas.openxmlformats.org/package/2006/relationships"><Relationship Id="rId9" Type="http://schemas.openxmlformats.org/officeDocument/2006/relationships/oleObject" Target="../embeddings/oleObject169.bin"/><Relationship Id="rId8" Type="http://schemas.openxmlformats.org/officeDocument/2006/relationships/image" Target="../media/image168.wmf"/><Relationship Id="rId7" Type="http://schemas.openxmlformats.org/officeDocument/2006/relationships/oleObject" Target="../embeddings/oleObject168.bin"/><Relationship Id="rId6" Type="http://schemas.openxmlformats.org/officeDocument/2006/relationships/image" Target="../media/image167.wmf"/><Relationship Id="rId5" Type="http://schemas.openxmlformats.org/officeDocument/2006/relationships/oleObject" Target="../embeddings/oleObject167.bin"/><Relationship Id="rId4" Type="http://schemas.openxmlformats.org/officeDocument/2006/relationships/image" Target="../media/image166.wmf"/><Relationship Id="rId3" Type="http://schemas.openxmlformats.org/officeDocument/2006/relationships/oleObject" Target="../embeddings/oleObject166.bin"/><Relationship Id="rId2" Type="http://schemas.openxmlformats.org/officeDocument/2006/relationships/image" Target="../media/image165.wmf"/><Relationship Id="rId14" Type="http://schemas.openxmlformats.org/officeDocument/2006/relationships/vmlDrawing" Target="../drawings/vmlDrawing47.vml"/><Relationship Id="rId13" Type="http://schemas.openxmlformats.org/officeDocument/2006/relationships/slideLayout" Target="../slideLayouts/slideLayout7.xml"/><Relationship Id="rId12" Type="http://schemas.openxmlformats.org/officeDocument/2006/relationships/image" Target="../media/image170.wmf"/><Relationship Id="rId11" Type="http://schemas.openxmlformats.org/officeDocument/2006/relationships/oleObject" Target="../embeddings/oleObject170.bin"/><Relationship Id="rId10" Type="http://schemas.openxmlformats.org/officeDocument/2006/relationships/image" Target="../media/image169.wmf"/><Relationship Id="rId1" Type="http://schemas.openxmlformats.org/officeDocument/2006/relationships/oleObject" Target="../embeddings/oleObject165.bin"/></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1.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8" Type="http://schemas.openxmlformats.org/officeDocument/2006/relationships/vmlDrawing" Target="../drawings/vmlDrawing48.vml"/><Relationship Id="rId7" Type="http://schemas.openxmlformats.org/officeDocument/2006/relationships/slideLayout" Target="../slideLayouts/slideLayout7.xml"/><Relationship Id="rId6" Type="http://schemas.openxmlformats.org/officeDocument/2006/relationships/image" Target="../media/image174.emf"/><Relationship Id="rId5" Type="http://schemas.openxmlformats.org/officeDocument/2006/relationships/oleObject" Target="../embeddings/oleObject173.bin"/><Relationship Id="rId4" Type="http://schemas.openxmlformats.org/officeDocument/2006/relationships/image" Target="../media/image173.emf"/><Relationship Id="rId3" Type="http://schemas.openxmlformats.org/officeDocument/2006/relationships/oleObject" Target="../embeddings/oleObject172.bin"/><Relationship Id="rId2" Type="http://schemas.openxmlformats.org/officeDocument/2006/relationships/image" Target="../media/image172.emf"/><Relationship Id="rId1" Type="http://schemas.openxmlformats.org/officeDocument/2006/relationships/oleObject" Target="../embeddings/oleObject171.bin"/></Relationships>
</file>

<file path=ppt/slides/_rels/slide81.xml.rels><?xml version="1.0" encoding="UTF-8" standalone="yes"?>
<Relationships xmlns="http://schemas.openxmlformats.org/package/2006/relationships"><Relationship Id="rId8" Type="http://schemas.openxmlformats.org/officeDocument/2006/relationships/vmlDrawing" Target="../drawings/vmlDrawing49.vml"/><Relationship Id="rId7" Type="http://schemas.openxmlformats.org/officeDocument/2006/relationships/slideLayout" Target="../slideLayouts/slideLayout7.xml"/><Relationship Id="rId6" Type="http://schemas.openxmlformats.org/officeDocument/2006/relationships/image" Target="../media/image177.emf"/><Relationship Id="rId5" Type="http://schemas.openxmlformats.org/officeDocument/2006/relationships/oleObject" Target="../embeddings/oleObject176.bin"/><Relationship Id="rId4" Type="http://schemas.openxmlformats.org/officeDocument/2006/relationships/image" Target="../media/image176.emf"/><Relationship Id="rId3" Type="http://schemas.openxmlformats.org/officeDocument/2006/relationships/oleObject" Target="../embeddings/oleObject175.bin"/><Relationship Id="rId2" Type="http://schemas.openxmlformats.org/officeDocument/2006/relationships/image" Target="../media/image175.emf"/><Relationship Id="rId1" Type="http://schemas.openxmlformats.org/officeDocument/2006/relationships/oleObject" Target="../embeddings/oleObject174.bin"/></Relationships>
</file>

<file path=ppt/slides/_rels/slide82.xml.rels><?xml version="1.0" encoding="UTF-8" standalone="yes"?>
<Relationships xmlns="http://schemas.openxmlformats.org/package/2006/relationships"><Relationship Id="rId4" Type="http://schemas.openxmlformats.org/officeDocument/2006/relationships/vmlDrawing" Target="../drawings/vmlDrawing50.vml"/><Relationship Id="rId3" Type="http://schemas.openxmlformats.org/officeDocument/2006/relationships/slideLayout" Target="../slideLayouts/slideLayout7.xml"/><Relationship Id="rId2" Type="http://schemas.openxmlformats.org/officeDocument/2006/relationships/image" Target="../media/image178.emf"/><Relationship Id="rId1" Type="http://schemas.openxmlformats.org/officeDocument/2006/relationships/oleObject" Target="../embeddings/oleObject177.bin"/></Relationships>
</file>

<file path=ppt/slides/_rels/slide83.xml.rels><?xml version="1.0" encoding="UTF-8" standalone="yes"?>
<Relationships xmlns="http://schemas.openxmlformats.org/package/2006/relationships"><Relationship Id="rId9" Type="http://schemas.openxmlformats.org/officeDocument/2006/relationships/oleObject" Target="../embeddings/oleObject182.bin"/><Relationship Id="rId8" Type="http://schemas.openxmlformats.org/officeDocument/2006/relationships/image" Target="../media/image182.emf"/><Relationship Id="rId7" Type="http://schemas.openxmlformats.org/officeDocument/2006/relationships/oleObject" Target="../embeddings/oleObject181.bin"/><Relationship Id="rId6" Type="http://schemas.openxmlformats.org/officeDocument/2006/relationships/image" Target="../media/image181.emf"/><Relationship Id="rId5" Type="http://schemas.openxmlformats.org/officeDocument/2006/relationships/oleObject" Target="../embeddings/oleObject180.bin"/><Relationship Id="rId4" Type="http://schemas.openxmlformats.org/officeDocument/2006/relationships/image" Target="../media/image180.emf"/><Relationship Id="rId3" Type="http://schemas.openxmlformats.org/officeDocument/2006/relationships/oleObject" Target="../embeddings/oleObject179.bin"/><Relationship Id="rId2" Type="http://schemas.openxmlformats.org/officeDocument/2006/relationships/image" Target="../media/image179.emf"/><Relationship Id="rId18" Type="http://schemas.openxmlformats.org/officeDocument/2006/relationships/vmlDrawing" Target="../drawings/vmlDrawing51.vml"/><Relationship Id="rId17" Type="http://schemas.openxmlformats.org/officeDocument/2006/relationships/slideLayout" Target="../slideLayouts/slideLayout7.xml"/><Relationship Id="rId16" Type="http://schemas.openxmlformats.org/officeDocument/2006/relationships/image" Target="../media/image186.emf"/><Relationship Id="rId15" Type="http://schemas.openxmlformats.org/officeDocument/2006/relationships/oleObject" Target="../embeddings/oleObject185.bin"/><Relationship Id="rId14" Type="http://schemas.openxmlformats.org/officeDocument/2006/relationships/image" Target="../media/image185.emf"/><Relationship Id="rId13" Type="http://schemas.openxmlformats.org/officeDocument/2006/relationships/oleObject" Target="../embeddings/oleObject184.bin"/><Relationship Id="rId12" Type="http://schemas.openxmlformats.org/officeDocument/2006/relationships/image" Target="../media/image184.emf"/><Relationship Id="rId11" Type="http://schemas.openxmlformats.org/officeDocument/2006/relationships/oleObject" Target="../embeddings/oleObject183.bin"/><Relationship Id="rId10" Type="http://schemas.openxmlformats.org/officeDocument/2006/relationships/image" Target="../media/image183.emf"/><Relationship Id="rId1" Type="http://schemas.openxmlformats.org/officeDocument/2006/relationships/oleObject" Target="../embeddings/oleObject178.bin"/></Relationships>
</file>

<file path=ppt/slides/_rels/slide84.xml.rels><?xml version="1.0" encoding="UTF-8" standalone="yes"?>
<Relationships xmlns="http://schemas.openxmlformats.org/package/2006/relationships"><Relationship Id="rId6" Type="http://schemas.openxmlformats.org/officeDocument/2006/relationships/vmlDrawing" Target="../drawings/vmlDrawing52.vml"/><Relationship Id="rId5" Type="http://schemas.openxmlformats.org/officeDocument/2006/relationships/slideLayout" Target="../slideLayouts/slideLayout7.xml"/><Relationship Id="rId4" Type="http://schemas.openxmlformats.org/officeDocument/2006/relationships/image" Target="../media/image188.emf"/><Relationship Id="rId3" Type="http://schemas.openxmlformats.org/officeDocument/2006/relationships/oleObject" Target="../embeddings/oleObject187.bin"/><Relationship Id="rId2" Type="http://schemas.openxmlformats.org/officeDocument/2006/relationships/image" Target="../media/image187.emf"/><Relationship Id="rId1" Type="http://schemas.openxmlformats.org/officeDocument/2006/relationships/oleObject" Target="../embeddings/oleObject186.bin"/></Relationships>
</file>

<file path=ppt/slides/_rels/slide85.xml.rels><?xml version="1.0" encoding="UTF-8" standalone="yes"?>
<Relationships xmlns="http://schemas.openxmlformats.org/package/2006/relationships"><Relationship Id="rId9" Type="http://schemas.openxmlformats.org/officeDocument/2006/relationships/oleObject" Target="../embeddings/oleObject192.bin"/><Relationship Id="rId8" Type="http://schemas.openxmlformats.org/officeDocument/2006/relationships/image" Target="../media/image192.emf"/><Relationship Id="rId7" Type="http://schemas.openxmlformats.org/officeDocument/2006/relationships/oleObject" Target="../embeddings/oleObject191.bin"/><Relationship Id="rId6" Type="http://schemas.openxmlformats.org/officeDocument/2006/relationships/image" Target="../media/image191.emf"/><Relationship Id="rId5" Type="http://schemas.openxmlformats.org/officeDocument/2006/relationships/oleObject" Target="../embeddings/oleObject190.bin"/><Relationship Id="rId4" Type="http://schemas.openxmlformats.org/officeDocument/2006/relationships/image" Target="../media/image190.emf"/><Relationship Id="rId3" Type="http://schemas.openxmlformats.org/officeDocument/2006/relationships/oleObject" Target="../embeddings/oleObject189.bin"/><Relationship Id="rId2" Type="http://schemas.openxmlformats.org/officeDocument/2006/relationships/image" Target="../media/image189.emf"/><Relationship Id="rId12" Type="http://schemas.openxmlformats.org/officeDocument/2006/relationships/vmlDrawing" Target="../drawings/vmlDrawing53.vml"/><Relationship Id="rId11" Type="http://schemas.openxmlformats.org/officeDocument/2006/relationships/slideLayout" Target="../slideLayouts/slideLayout7.xml"/><Relationship Id="rId10" Type="http://schemas.openxmlformats.org/officeDocument/2006/relationships/image" Target="../media/image193.emf"/><Relationship Id="rId1" Type="http://schemas.openxmlformats.org/officeDocument/2006/relationships/oleObject" Target="../embeddings/oleObject188.bin"/></Relationships>
</file>

<file path=ppt/slides/_rels/slide86.xml.rels><?xml version="1.0" encoding="UTF-8" standalone="yes"?>
<Relationships xmlns="http://schemas.openxmlformats.org/package/2006/relationships"><Relationship Id="rId6" Type="http://schemas.openxmlformats.org/officeDocument/2006/relationships/vmlDrawing" Target="../drawings/vmlDrawing54.vml"/><Relationship Id="rId5" Type="http://schemas.openxmlformats.org/officeDocument/2006/relationships/slideLayout" Target="../slideLayouts/slideLayout7.xml"/><Relationship Id="rId4" Type="http://schemas.openxmlformats.org/officeDocument/2006/relationships/image" Target="../media/image195.emf"/><Relationship Id="rId3" Type="http://schemas.openxmlformats.org/officeDocument/2006/relationships/oleObject" Target="../embeddings/oleObject194.bin"/><Relationship Id="rId2" Type="http://schemas.openxmlformats.org/officeDocument/2006/relationships/image" Target="../media/image194.emf"/><Relationship Id="rId1" Type="http://schemas.openxmlformats.org/officeDocument/2006/relationships/oleObject" Target="../embeddings/oleObject193.bin"/></Relationships>
</file>

<file path=ppt/slides/_rels/slide87.xml.rels><?xml version="1.0" encoding="UTF-8" standalone="yes"?>
<Relationships xmlns="http://schemas.openxmlformats.org/package/2006/relationships"><Relationship Id="rId9" Type="http://schemas.openxmlformats.org/officeDocument/2006/relationships/oleObject" Target="../embeddings/oleObject199.bin"/><Relationship Id="rId8" Type="http://schemas.openxmlformats.org/officeDocument/2006/relationships/image" Target="../media/image199.emf"/><Relationship Id="rId7" Type="http://schemas.openxmlformats.org/officeDocument/2006/relationships/oleObject" Target="../embeddings/oleObject198.bin"/><Relationship Id="rId6" Type="http://schemas.openxmlformats.org/officeDocument/2006/relationships/image" Target="../media/image198.emf"/><Relationship Id="rId5" Type="http://schemas.openxmlformats.org/officeDocument/2006/relationships/oleObject" Target="../embeddings/oleObject197.bin"/><Relationship Id="rId4" Type="http://schemas.openxmlformats.org/officeDocument/2006/relationships/image" Target="../media/image197.emf"/><Relationship Id="rId3" Type="http://schemas.openxmlformats.org/officeDocument/2006/relationships/oleObject" Target="../embeddings/oleObject196.bin"/><Relationship Id="rId2" Type="http://schemas.openxmlformats.org/officeDocument/2006/relationships/image" Target="../media/image196.emf"/><Relationship Id="rId18" Type="http://schemas.openxmlformats.org/officeDocument/2006/relationships/vmlDrawing" Target="../drawings/vmlDrawing55.vml"/><Relationship Id="rId17" Type="http://schemas.openxmlformats.org/officeDocument/2006/relationships/slideLayout" Target="../slideLayouts/slideLayout7.xml"/><Relationship Id="rId16" Type="http://schemas.openxmlformats.org/officeDocument/2006/relationships/image" Target="../media/image203.emf"/><Relationship Id="rId15" Type="http://schemas.openxmlformats.org/officeDocument/2006/relationships/oleObject" Target="../embeddings/oleObject202.bin"/><Relationship Id="rId14" Type="http://schemas.openxmlformats.org/officeDocument/2006/relationships/image" Target="../media/image202.emf"/><Relationship Id="rId13" Type="http://schemas.openxmlformats.org/officeDocument/2006/relationships/oleObject" Target="../embeddings/oleObject201.bin"/><Relationship Id="rId12" Type="http://schemas.openxmlformats.org/officeDocument/2006/relationships/image" Target="../media/image201.emf"/><Relationship Id="rId11" Type="http://schemas.openxmlformats.org/officeDocument/2006/relationships/oleObject" Target="../embeddings/oleObject200.bin"/><Relationship Id="rId10" Type="http://schemas.openxmlformats.org/officeDocument/2006/relationships/image" Target="../media/image200.emf"/><Relationship Id="rId1" Type="http://schemas.openxmlformats.org/officeDocument/2006/relationships/oleObject" Target="../embeddings/oleObject195.bin"/></Relationships>
</file>

<file path=ppt/slides/_rels/slide88.xml.rels><?xml version="1.0" encoding="UTF-8" standalone="yes"?>
<Relationships xmlns="http://schemas.openxmlformats.org/package/2006/relationships"><Relationship Id="rId6" Type="http://schemas.openxmlformats.org/officeDocument/2006/relationships/vmlDrawing" Target="../drawings/vmlDrawing56.vml"/><Relationship Id="rId5" Type="http://schemas.openxmlformats.org/officeDocument/2006/relationships/slideLayout" Target="../slideLayouts/slideLayout7.xml"/><Relationship Id="rId4" Type="http://schemas.openxmlformats.org/officeDocument/2006/relationships/image" Target="../media/image205.emf"/><Relationship Id="rId3" Type="http://schemas.openxmlformats.org/officeDocument/2006/relationships/oleObject" Target="../embeddings/oleObject204.bin"/><Relationship Id="rId2" Type="http://schemas.openxmlformats.org/officeDocument/2006/relationships/image" Target="../media/image204.emf"/><Relationship Id="rId1" Type="http://schemas.openxmlformats.org/officeDocument/2006/relationships/oleObject" Target="../embeddings/oleObject203.bin"/></Relationships>
</file>

<file path=ppt/slides/_rels/slide89.xml.rels><?xml version="1.0" encoding="UTF-8" standalone="yes"?>
<Relationships xmlns="http://schemas.openxmlformats.org/package/2006/relationships"><Relationship Id="rId9" Type="http://schemas.openxmlformats.org/officeDocument/2006/relationships/oleObject" Target="../embeddings/oleObject209.bin"/><Relationship Id="rId8" Type="http://schemas.openxmlformats.org/officeDocument/2006/relationships/image" Target="../media/image209.emf"/><Relationship Id="rId7" Type="http://schemas.openxmlformats.org/officeDocument/2006/relationships/oleObject" Target="../embeddings/oleObject208.bin"/><Relationship Id="rId6" Type="http://schemas.openxmlformats.org/officeDocument/2006/relationships/image" Target="../media/image208.emf"/><Relationship Id="rId5" Type="http://schemas.openxmlformats.org/officeDocument/2006/relationships/oleObject" Target="../embeddings/oleObject207.bin"/><Relationship Id="rId4" Type="http://schemas.openxmlformats.org/officeDocument/2006/relationships/image" Target="../media/image207.emf"/><Relationship Id="rId3" Type="http://schemas.openxmlformats.org/officeDocument/2006/relationships/oleObject" Target="../embeddings/oleObject206.bin"/><Relationship Id="rId2" Type="http://schemas.openxmlformats.org/officeDocument/2006/relationships/image" Target="../media/image206.emf"/><Relationship Id="rId14" Type="http://schemas.openxmlformats.org/officeDocument/2006/relationships/vmlDrawing" Target="../drawings/vmlDrawing57.vml"/><Relationship Id="rId13" Type="http://schemas.openxmlformats.org/officeDocument/2006/relationships/slideLayout" Target="../slideLayouts/slideLayout7.xml"/><Relationship Id="rId12" Type="http://schemas.openxmlformats.org/officeDocument/2006/relationships/image" Target="../media/image211.emf"/><Relationship Id="rId11" Type="http://schemas.openxmlformats.org/officeDocument/2006/relationships/oleObject" Target="../embeddings/oleObject210.bin"/><Relationship Id="rId10" Type="http://schemas.openxmlformats.org/officeDocument/2006/relationships/image" Target="../media/image210.emf"/><Relationship Id="rId1" Type="http://schemas.openxmlformats.org/officeDocument/2006/relationships/oleObject" Target="../embeddings/oleObject205.bin"/></Relationships>
</file>

<file path=ppt/slides/_rels/slide9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15.wmf"/><Relationship Id="rId7" Type="http://schemas.openxmlformats.org/officeDocument/2006/relationships/oleObject" Target="../embeddings/oleObject214.bin"/><Relationship Id="rId6" Type="http://schemas.openxmlformats.org/officeDocument/2006/relationships/image" Target="../media/image214.emf"/><Relationship Id="rId5" Type="http://schemas.openxmlformats.org/officeDocument/2006/relationships/oleObject" Target="../embeddings/oleObject213.bin"/><Relationship Id="rId4" Type="http://schemas.openxmlformats.org/officeDocument/2006/relationships/image" Target="../media/image213.emf"/><Relationship Id="rId3" Type="http://schemas.openxmlformats.org/officeDocument/2006/relationships/oleObject" Target="../embeddings/oleObject212.bin"/><Relationship Id="rId2" Type="http://schemas.openxmlformats.org/officeDocument/2006/relationships/image" Target="../media/image212.emf"/><Relationship Id="rId10" Type="http://schemas.openxmlformats.org/officeDocument/2006/relationships/vmlDrawing" Target="../drawings/vmlDrawing58.vml"/><Relationship Id="rId1" Type="http://schemas.openxmlformats.org/officeDocument/2006/relationships/oleObject" Target="../embeddings/oleObject211.bin"/></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889000" y="1446213"/>
            <a:ext cx="7427913" cy="85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000">
                <a:solidFill>
                  <a:srgbClr val="000000"/>
                </a:solidFill>
                <a:ea typeface="黑体" panose="02010609060101010101" pitchFamily="49" charset="-122"/>
              </a:rPr>
              <a:t>第三节      协方差及相关系数</a:t>
            </a:r>
            <a:endParaRPr lang="zh-CN" altLang="en-US" sz="4000">
              <a:solidFill>
                <a:srgbClr val="000000"/>
              </a:solidFill>
              <a:ea typeface="黑体" panose="02010609060101010101" pitchFamily="49" charset="-122"/>
            </a:endParaRPr>
          </a:p>
        </p:txBody>
      </p:sp>
      <p:sp>
        <p:nvSpPr>
          <p:cNvPr id="72707" name="Text Box 3"/>
          <p:cNvSpPr txBox="1">
            <a:spLocks noChangeArrowheads="1"/>
          </p:cNvSpPr>
          <p:nvPr/>
        </p:nvSpPr>
        <p:spPr bwMode="auto">
          <a:xfrm>
            <a:off x="2971800" y="2895600"/>
            <a:ext cx="525621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1">
                <a:solidFill>
                  <a:schemeClr val="tx2"/>
                </a:solidFill>
              </a:rPr>
              <a:t>协方差</a:t>
            </a:r>
            <a:endParaRPr lang="zh-CN" altLang="en-US" sz="3200" b="1"/>
          </a:p>
          <a:p>
            <a:pPr>
              <a:spcBef>
                <a:spcPct val="50000"/>
              </a:spcBef>
            </a:pPr>
            <a:r>
              <a:rPr lang="zh-CN" altLang="en-US" sz="3200" b="1">
                <a:solidFill>
                  <a:schemeClr val="tx2"/>
                </a:solidFill>
              </a:rPr>
              <a:t>相关系数</a:t>
            </a:r>
            <a:endParaRPr lang="zh-CN" altLang="en-US" sz="3200" b="1"/>
          </a:p>
        </p:txBody>
      </p:sp>
      <p:pic>
        <p:nvPicPr>
          <p:cNvPr id="72708" name="Picture 4" descr="f012">
            <a:hlinkClick r:id="rId1" action="ppaction://hlinksldjump" highlightClick="1"/>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036763" y="3013075"/>
            <a:ext cx="523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9" name="Picture 5" descr="f012">
            <a:hlinkClick r:id="rId3" action="ppaction://hlinksldjump" highlightClick="1">
              <a:snd r:embed="rId4" name="chimes.wav"/>
            </a:hlinkClick>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058988" y="3735388"/>
            <a:ext cx="523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0" name="Rectangle 8"/>
          <p:cNvSpPr>
            <a:spLocks noChangeArrowheads="1"/>
          </p:cNvSpPr>
          <p:nvPr/>
        </p:nvSpPr>
        <p:spPr bwMode="auto">
          <a:xfrm>
            <a:off x="3124200" y="4419600"/>
            <a:ext cx="10001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t>小结</a:t>
            </a:r>
            <a:endParaRPr lang="zh-CN" altLang="en-US" sz="3200" b="1"/>
          </a:p>
        </p:txBody>
      </p:sp>
      <p:pic>
        <p:nvPicPr>
          <p:cNvPr id="72711" name="Picture 9" descr="f012">
            <a:hlinkClick r:id="rId5" action="ppaction://hlinksldjump" highlightClick="1">
              <a:snd r:embed="rId4" name="chimes.wav"/>
            </a:hlinkClick>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572000"/>
            <a:ext cx="523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381000" y="685800"/>
            <a:ext cx="7162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rgbClr val="003399"/>
                </a:solidFill>
                <a:latin typeface="黑体" panose="02010609060101010101" pitchFamily="49" charset="-122"/>
                <a:ea typeface="黑体" panose="02010609060101010101" pitchFamily="49" charset="-122"/>
              </a:rPr>
              <a:t>一、方差的定义</a:t>
            </a:r>
            <a:r>
              <a:rPr lang="zh-CN" altLang="en-US" sz="3200" b="1">
                <a:solidFill>
                  <a:schemeClr val="tx2"/>
                </a:solidFill>
                <a:latin typeface="黑体" panose="02010609060101010101" pitchFamily="49" charset="-122"/>
                <a:ea typeface="黑体" panose="02010609060101010101" pitchFamily="49" charset="-122"/>
              </a:rPr>
              <a:t> </a:t>
            </a:r>
            <a:endParaRPr lang="zh-CN" altLang="en-US" sz="3200" b="1">
              <a:solidFill>
                <a:schemeClr val="tx2"/>
              </a:solidFill>
              <a:latin typeface="黑体" panose="02010609060101010101" pitchFamily="49" charset="-122"/>
              <a:ea typeface="黑体" panose="02010609060101010101" pitchFamily="49" charset="-122"/>
            </a:endParaRPr>
          </a:p>
        </p:txBody>
      </p:sp>
      <p:sp>
        <p:nvSpPr>
          <p:cNvPr id="45059" name="Rectangle 3"/>
          <p:cNvSpPr>
            <a:spLocks noChangeArrowheads="1"/>
          </p:cNvSpPr>
          <p:nvPr/>
        </p:nvSpPr>
        <p:spPr bwMode="auto">
          <a:xfrm>
            <a:off x="1617663" y="3035300"/>
            <a:ext cx="1841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800" b="1"/>
          </a:p>
        </p:txBody>
      </p:sp>
      <p:grpSp>
        <p:nvGrpSpPr>
          <p:cNvPr id="2" name="Group 4"/>
          <p:cNvGrpSpPr/>
          <p:nvPr/>
        </p:nvGrpSpPr>
        <p:grpSpPr bwMode="auto">
          <a:xfrm>
            <a:off x="307975" y="1765300"/>
            <a:ext cx="8305800" cy="1252538"/>
            <a:chOff x="158" y="693"/>
            <a:chExt cx="5232" cy="789"/>
          </a:xfrm>
        </p:grpSpPr>
        <p:sp>
          <p:nvSpPr>
            <p:cNvPr id="45064" name="Text Box 5"/>
            <p:cNvSpPr txBox="1">
              <a:spLocks noChangeArrowheads="1"/>
            </p:cNvSpPr>
            <p:nvPr/>
          </p:nvSpPr>
          <p:spPr bwMode="auto">
            <a:xfrm>
              <a:off x="350" y="693"/>
              <a:ext cx="5040" cy="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lang="en-US" altLang="zh-CN" sz="2800" b="1"/>
                <a:t>        </a:t>
              </a:r>
              <a:r>
                <a:rPr lang="zh-CN" altLang="en-US" sz="2800" b="1"/>
                <a:t>设</a:t>
              </a:r>
              <a:r>
                <a:rPr lang="en-US" altLang="zh-CN" sz="2800" b="1" i="1"/>
                <a:t>X</a:t>
              </a:r>
              <a:r>
                <a:rPr lang="zh-CN" altLang="en-US" sz="2800" b="1"/>
                <a:t>是一个随机变量，若</a:t>
              </a:r>
              <a:r>
                <a:rPr lang="en-US" altLang="zh-CN" sz="2800" b="1" i="1"/>
                <a:t>E</a:t>
              </a:r>
              <a:r>
                <a:rPr lang="en-US" altLang="zh-CN" sz="2800" b="1"/>
                <a:t>[(</a:t>
              </a:r>
              <a:r>
                <a:rPr lang="en-US" altLang="zh-CN" sz="2800" b="1" i="1"/>
                <a:t>X</a:t>
              </a:r>
              <a:r>
                <a:rPr lang="en-US" altLang="zh-CN" sz="2800" b="1"/>
                <a:t>-</a:t>
              </a:r>
              <a:r>
                <a:rPr lang="en-US" altLang="zh-CN" sz="2800" b="1" i="1"/>
                <a:t>E</a:t>
              </a:r>
              <a:r>
                <a:rPr lang="en-US" altLang="zh-CN" sz="2800" b="1"/>
                <a:t>(</a:t>
              </a:r>
              <a:r>
                <a:rPr lang="en-US" altLang="zh-CN" sz="2800" b="1" i="1"/>
                <a:t>X</a:t>
              </a:r>
              <a:r>
                <a:rPr lang="en-US" altLang="zh-CN" sz="2800" b="1"/>
                <a:t>)</a:t>
              </a:r>
              <a:r>
                <a:rPr lang="en-US" altLang="zh-CN" sz="2800" b="1" baseline="30000"/>
                <a:t>2</a:t>
              </a:r>
              <a:r>
                <a:rPr lang="en-US" altLang="zh-CN" sz="2800">
                  <a:sym typeface="+mn-ea"/>
                </a:rPr>
                <a:t>]</a:t>
              </a:r>
              <a:r>
                <a:rPr lang="zh-CN" altLang="en-US" sz="2800">
                  <a:sym typeface="+mn-ea"/>
                </a:rPr>
                <a:t>存</a:t>
              </a:r>
              <a:r>
                <a:rPr lang="zh-CN" altLang="en-US" sz="2800" b="1"/>
                <a:t>在 </a:t>
              </a:r>
              <a:r>
                <a:rPr lang="en-US" altLang="zh-CN" sz="2800" b="1"/>
                <a:t>, </a:t>
              </a:r>
              <a:r>
                <a:rPr lang="zh-CN" altLang="en-US" sz="2800" b="1"/>
                <a:t>称</a:t>
              </a:r>
              <a:endParaRPr lang="zh-CN" altLang="en-US" sz="2800" b="1"/>
            </a:p>
            <a:p>
              <a:pPr algn="just">
                <a:lnSpc>
                  <a:spcPct val="120000"/>
                </a:lnSpc>
              </a:pPr>
              <a:endParaRPr lang="en-US" altLang="zh-CN" sz="2800" b="1"/>
            </a:p>
          </p:txBody>
        </p:sp>
        <p:sp>
          <p:nvSpPr>
            <p:cNvPr id="45065" name="Text Box 6"/>
            <p:cNvSpPr txBox="1">
              <a:spLocks noChangeArrowheads="1"/>
            </p:cNvSpPr>
            <p:nvPr/>
          </p:nvSpPr>
          <p:spPr bwMode="auto">
            <a:xfrm>
              <a:off x="158" y="1130"/>
              <a:ext cx="1394"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2800" b="1" i="1"/>
                <a:t>E</a:t>
              </a:r>
              <a:r>
                <a:rPr lang="en-US" altLang="zh-CN" sz="2800" b="1"/>
                <a:t>[(</a:t>
              </a:r>
              <a:r>
                <a:rPr lang="en-US" altLang="zh-CN" sz="2800" b="1" i="1"/>
                <a:t>X</a:t>
              </a:r>
              <a:r>
                <a:rPr lang="en-US" altLang="zh-CN" sz="2800" b="1"/>
                <a:t>-</a:t>
              </a:r>
              <a:r>
                <a:rPr lang="en-US" altLang="zh-CN" sz="2800" b="1" i="1"/>
                <a:t>E</a:t>
              </a:r>
              <a:r>
                <a:rPr lang="en-US" altLang="zh-CN" sz="2800" b="1"/>
                <a:t>(</a:t>
              </a:r>
              <a:r>
                <a:rPr lang="en-US" altLang="zh-CN" sz="2800" b="1" i="1"/>
                <a:t>X</a:t>
              </a:r>
              <a:r>
                <a:rPr lang="en-US" altLang="zh-CN" sz="2800" b="1"/>
                <a:t>)</a:t>
              </a:r>
              <a:r>
                <a:rPr lang="en-US" altLang="zh-CN" sz="2800" b="1" baseline="30000"/>
                <a:t>2</a:t>
              </a:r>
              <a:endParaRPr lang="en-US" altLang="zh-CN" sz="2800" b="1" baseline="30000"/>
            </a:p>
          </p:txBody>
        </p:sp>
        <p:sp>
          <p:nvSpPr>
            <p:cNvPr id="45066" name="Text Box 7"/>
            <p:cNvSpPr txBox="1">
              <a:spLocks noChangeArrowheads="1"/>
            </p:cNvSpPr>
            <p:nvPr/>
          </p:nvSpPr>
          <p:spPr bwMode="auto">
            <a:xfrm>
              <a:off x="1424" y="1153"/>
              <a:ext cx="1502"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为 </a:t>
              </a:r>
              <a:r>
                <a:rPr lang="en-US" altLang="zh-CN" sz="2800" b="1" i="1">
                  <a:solidFill>
                    <a:schemeClr val="accent2"/>
                  </a:solidFill>
                </a:rPr>
                <a:t>X </a:t>
              </a:r>
              <a:r>
                <a:rPr lang="zh-CN" altLang="en-US" sz="2800" b="1">
                  <a:solidFill>
                    <a:schemeClr val="accent2"/>
                  </a:solidFill>
                </a:rPr>
                <a:t>的方差</a:t>
              </a:r>
              <a:r>
                <a:rPr lang="en-US" altLang="zh-CN" sz="2800" b="1"/>
                <a:t>.   </a:t>
              </a:r>
              <a:endParaRPr lang="en-US" altLang="zh-CN" sz="2800"/>
            </a:p>
          </p:txBody>
        </p:sp>
      </p:grpSp>
      <p:sp>
        <p:nvSpPr>
          <p:cNvPr id="291848" name="Text Box 8"/>
          <p:cNvSpPr txBox="1">
            <a:spLocks noChangeArrowheads="1"/>
          </p:cNvSpPr>
          <p:nvPr/>
        </p:nvSpPr>
        <p:spPr bwMode="auto">
          <a:xfrm>
            <a:off x="3765550" y="2495550"/>
            <a:ext cx="495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记为</a:t>
            </a:r>
            <a:r>
              <a:rPr lang="en-US" altLang="zh-CN" sz="2800" b="1"/>
              <a:t>D(X)</a:t>
            </a:r>
            <a:r>
              <a:rPr lang="zh-CN" altLang="en-US" sz="2800" b="1"/>
              <a:t>或</a:t>
            </a:r>
            <a:r>
              <a:rPr lang="en-US" altLang="zh-CN" sz="2800" b="1"/>
              <a:t>Var(X)</a:t>
            </a:r>
            <a:r>
              <a:rPr lang="zh-CN" altLang="en-US" sz="2800" b="1"/>
              <a:t>，即</a:t>
            </a:r>
            <a:endParaRPr lang="zh-CN" altLang="en-US" sz="2800"/>
          </a:p>
        </p:txBody>
      </p:sp>
      <p:graphicFrame>
        <p:nvGraphicFramePr>
          <p:cNvPr id="291849" name="Object 9"/>
          <p:cNvGraphicFramePr>
            <a:graphicFrameLocks noChangeAspect="1"/>
          </p:cNvGraphicFramePr>
          <p:nvPr/>
        </p:nvGraphicFramePr>
        <p:xfrm>
          <a:off x="512763" y="4381500"/>
          <a:ext cx="8004175" cy="1001713"/>
        </p:xfrm>
        <a:graphic>
          <a:graphicData uri="http://schemas.openxmlformats.org/presentationml/2006/ole">
            <mc:AlternateContent xmlns:mc="http://schemas.openxmlformats.org/markup-compatibility/2006">
              <mc:Choice xmlns:v="urn:schemas-microsoft-com:vml" Requires="v">
                <p:oleObj spid="_x0000_s45107" name="公式" r:id="rId1" imgW="7800975" imgH="923925" progId="Equation.3">
                  <p:embed/>
                </p:oleObj>
              </mc:Choice>
              <mc:Fallback>
                <p:oleObj name="公式" r:id="rId1" imgW="7800975" imgH="923925" progId="Equation.3">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763" y="4381500"/>
                        <a:ext cx="8004175" cy="1001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1850" name="Rectangle 10"/>
          <p:cNvSpPr>
            <a:spLocks noChangeArrowheads="1"/>
          </p:cNvSpPr>
          <p:nvPr/>
        </p:nvSpPr>
        <p:spPr bwMode="auto">
          <a:xfrm>
            <a:off x="1997075" y="3302000"/>
            <a:ext cx="40719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i="1">
                <a:solidFill>
                  <a:schemeClr val="accent2"/>
                </a:solidFill>
              </a:rPr>
              <a:t>D</a:t>
            </a:r>
            <a:r>
              <a:rPr lang="en-US" altLang="zh-CN" sz="2800" b="1">
                <a:solidFill>
                  <a:schemeClr val="accent2"/>
                </a:solidFill>
              </a:rPr>
              <a:t>(</a:t>
            </a:r>
            <a:r>
              <a:rPr lang="en-US" altLang="zh-CN" sz="2800" b="1" i="1">
                <a:solidFill>
                  <a:schemeClr val="accent2"/>
                </a:solidFill>
              </a:rPr>
              <a:t>X</a:t>
            </a:r>
            <a:r>
              <a:rPr lang="en-US" altLang="zh-CN" sz="2800" b="1">
                <a:solidFill>
                  <a:schemeClr val="accent2"/>
                </a:solidFill>
              </a:rPr>
              <a:t>)=Var(X)=</a:t>
            </a:r>
            <a:r>
              <a:rPr lang="en-US" altLang="zh-CN" sz="2800" b="1" i="1">
                <a:solidFill>
                  <a:schemeClr val="accent2"/>
                </a:solidFill>
              </a:rPr>
              <a:t>E</a:t>
            </a:r>
            <a:r>
              <a:rPr lang="en-US" altLang="zh-CN" sz="2800" b="1">
                <a:solidFill>
                  <a:schemeClr val="accent2"/>
                </a:solidFill>
              </a:rPr>
              <a:t>[</a:t>
            </a:r>
            <a:r>
              <a:rPr lang="en-US" altLang="zh-CN" sz="2800" b="1" i="1">
                <a:solidFill>
                  <a:schemeClr val="accent2"/>
                </a:solidFill>
              </a:rPr>
              <a:t>X</a:t>
            </a:r>
            <a:r>
              <a:rPr lang="en-US" altLang="zh-CN" sz="2800" b="1">
                <a:solidFill>
                  <a:schemeClr val="accent2"/>
                </a:solidFill>
              </a:rPr>
              <a:t>-</a:t>
            </a:r>
            <a:r>
              <a:rPr lang="en-US" altLang="zh-CN" sz="2800" b="1" i="1">
                <a:solidFill>
                  <a:schemeClr val="accent2"/>
                </a:solidFill>
              </a:rPr>
              <a:t>E</a:t>
            </a:r>
            <a:r>
              <a:rPr lang="en-US" altLang="zh-CN" sz="2800" b="1">
                <a:solidFill>
                  <a:schemeClr val="accent2"/>
                </a:solidFill>
              </a:rPr>
              <a:t>(</a:t>
            </a:r>
            <a:r>
              <a:rPr lang="en-US" altLang="zh-CN" sz="2800" b="1" i="1">
                <a:solidFill>
                  <a:schemeClr val="accent2"/>
                </a:solidFill>
              </a:rPr>
              <a:t>X</a:t>
            </a:r>
            <a:r>
              <a:rPr lang="en-US" altLang="zh-CN" sz="2800" b="1">
                <a:solidFill>
                  <a:schemeClr val="accent2"/>
                </a:solidFill>
              </a:rPr>
              <a:t>)]</a:t>
            </a:r>
            <a:r>
              <a:rPr lang="en-US" altLang="zh-CN" sz="2800" b="1" baseline="30000">
                <a:solidFill>
                  <a:schemeClr val="accent2"/>
                </a:solidFill>
              </a:rPr>
              <a:t>2</a:t>
            </a:r>
            <a:endParaRPr lang="en-US" altLang="zh-CN" sz="2800" b="1" baseline="30000">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91848"/>
                                        </p:tgtEl>
                                        <p:attrNameLst>
                                          <p:attrName>style.visibility</p:attrName>
                                        </p:attrNameLst>
                                      </p:cBhvr>
                                      <p:to>
                                        <p:strVal val="visible"/>
                                      </p:to>
                                    </p:set>
                                    <p:anim calcmode="lin" valueType="num">
                                      <p:cBhvr additive="base">
                                        <p:cTn id="12" dur="500" fill="hold"/>
                                        <p:tgtEl>
                                          <p:spTgt spid="291848"/>
                                        </p:tgtEl>
                                        <p:attrNameLst>
                                          <p:attrName>ppt_x</p:attrName>
                                        </p:attrNameLst>
                                      </p:cBhvr>
                                      <p:tavLst>
                                        <p:tav tm="0">
                                          <p:val>
                                            <p:strVal val="0-#ppt_w/2"/>
                                          </p:val>
                                        </p:tav>
                                        <p:tav tm="100000">
                                          <p:val>
                                            <p:strVal val="#ppt_x"/>
                                          </p:val>
                                        </p:tav>
                                      </p:tavLst>
                                    </p:anim>
                                    <p:anim calcmode="lin" valueType="num">
                                      <p:cBhvr additive="base">
                                        <p:cTn id="13" dur="500" fill="hold"/>
                                        <p:tgtEl>
                                          <p:spTgt spid="29184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91850"/>
                                        </p:tgtEl>
                                        <p:attrNameLst>
                                          <p:attrName>style.visibility</p:attrName>
                                        </p:attrNameLst>
                                      </p:cBhvr>
                                      <p:to>
                                        <p:strVal val="visible"/>
                                      </p:to>
                                    </p:set>
                                    <p:anim calcmode="lin" valueType="num">
                                      <p:cBhvr additive="base">
                                        <p:cTn id="18" dur="500" fill="hold"/>
                                        <p:tgtEl>
                                          <p:spTgt spid="291850"/>
                                        </p:tgtEl>
                                        <p:attrNameLst>
                                          <p:attrName>ppt_x</p:attrName>
                                        </p:attrNameLst>
                                      </p:cBhvr>
                                      <p:tavLst>
                                        <p:tav tm="0">
                                          <p:val>
                                            <p:strVal val="0-#ppt_w/2"/>
                                          </p:val>
                                        </p:tav>
                                        <p:tav tm="100000">
                                          <p:val>
                                            <p:strVal val="#ppt_x"/>
                                          </p:val>
                                        </p:tav>
                                      </p:tavLst>
                                    </p:anim>
                                    <p:anim calcmode="lin" valueType="num">
                                      <p:cBhvr additive="base">
                                        <p:cTn id="19" dur="500" fill="hold"/>
                                        <p:tgtEl>
                                          <p:spTgt spid="291850"/>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291849"/>
                                        </p:tgtEl>
                                        <p:attrNameLst>
                                          <p:attrName>style.visibility</p:attrName>
                                        </p:attrNameLst>
                                      </p:cBhvr>
                                      <p:to>
                                        <p:strVal val="visible"/>
                                      </p:to>
                                    </p:set>
                                    <p:anim calcmode="lin" valueType="num">
                                      <p:cBhvr additive="base">
                                        <p:cTn id="24" dur="500" fill="hold"/>
                                        <p:tgtEl>
                                          <p:spTgt spid="291849"/>
                                        </p:tgtEl>
                                        <p:attrNameLst>
                                          <p:attrName>ppt_x</p:attrName>
                                        </p:attrNameLst>
                                      </p:cBhvr>
                                      <p:tavLst>
                                        <p:tav tm="0">
                                          <p:val>
                                            <p:strVal val="0-#ppt_w/2"/>
                                          </p:val>
                                        </p:tav>
                                        <p:tav tm="100000">
                                          <p:val>
                                            <p:strVal val="#ppt_x"/>
                                          </p:val>
                                        </p:tav>
                                      </p:tavLst>
                                    </p:anim>
                                    <p:anim calcmode="lin" valueType="num">
                                      <p:cBhvr additive="base">
                                        <p:cTn id="25" dur="500" fill="hold"/>
                                        <p:tgtEl>
                                          <p:spTgt spid="2918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8" grpId="0" autoUpdateAnimBg="0"/>
      <p:bldP spid="291850"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14" name="Object 2"/>
          <p:cNvGraphicFramePr>
            <a:graphicFrameLocks noChangeAspect="1"/>
          </p:cNvGraphicFramePr>
          <p:nvPr/>
        </p:nvGraphicFramePr>
        <p:xfrm>
          <a:off x="971550" y="215900"/>
          <a:ext cx="6159500" cy="838200"/>
        </p:xfrm>
        <a:graphic>
          <a:graphicData uri="http://schemas.openxmlformats.org/presentationml/2006/ole">
            <mc:AlternateContent xmlns:mc="http://schemas.openxmlformats.org/markup-compatibility/2006">
              <mc:Choice xmlns:v="urn:schemas-microsoft-com:vml" Requires="v">
                <p:oleObj spid="_x0000_s64883" name="公式" r:id="rId1" imgW="6076950" imgH="760095" progId="Equation.3">
                  <p:embed/>
                </p:oleObj>
              </mc:Choice>
              <mc:Fallback>
                <p:oleObj name="公式" r:id="rId1" imgW="6076950" imgH="76009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15900"/>
                        <a:ext cx="61595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6179" name="Object 3"/>
          <p:cNvGraphicFramePr>
            <a:graphicFrameLocks noChangeAspect="1"/>
          </p:cNvGraphicFramePr>
          <p:nvPr/>
        </p:nvGraphicFramePr>
        <p:xfrm>
          <a:off x="2235200" y="1136650"/>
          <a:ext cx="2819400" cy="393700"/>
        </p:xfrm>
        <a:graphic>
          <a:graphicData uri="http://schemas.openxmlformats.org/presentationml/2006/ole">
            <mc:AlternateContent xmlns:mc="http://schemas.openxmlformats.org/markup-compatibility/2006">
              <mc:Choice xmlns:v="urn:schemas-microsoft-com:vml" Requires="v">
                <p:oleObj spid="_x0000_s64884" name="公式" r:id="rId3" imgW="2733675" imgH="307975" progId="Equation.3">
                  <p:embed/>
                </p:oleObj>
              </mc:Choice>
              <mc:Fallback>
                <p:oleObj name="公式" r:id="rId3" imgW="2733675" imgH="307975"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5200" y="1136650"/>
                        <a:ext cx="28194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6180" name="Object 4"/>
          <p:cNvGraphicFramePr>
            <a:graphicFrameLocks noChangeAspect="1"/>
          </p:cNvGraphicFramePr>
          <p:nvPr/>
        </p:nvGraphicFramePr>
        <p:xfrm>
          <a:off x="990600" y="1752600"/>
          <a:ext cx="6477000" cy="431800"/>
        </p:xfrm>
        <a:graphic>
          <a:graphicData uri="http://schemas.openxmlformats.org/presentationml/2006/ole">
            <mc:AlternateContent xmlns:mc="http://schemas.openxmlformats.org/markup-compatibility/2006">
              <mc:Choice xmlns:v="urn:schemas-microsoft-com:vml" Requires="v">
                <p:oleObj spid="_x0000_s64885" name="公式" r:id="rId5" imgW="6391275" imgH="346710" progId="Equation.3">
                  <p:embed/>
                </p:oleObj>
              </mc:Choice>
              <mc:Fallback>
                <p:oleObj name="公式" r:id="rId5" imgW="6391275" imgH="34671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0600" y="1752600"/>
                        <a:ext cx="6477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6181" name="Object 5"/>
          <p:cNvGraphicFramePr>
            <a:graphicFrameLocks noChangeAspect="1"/>
          </p:cNvGraphicFramePr>
          <p:nvPr/>
        </p:nvGraphicFramePr>
        <p:xfrm>
          <a:off x="1728788" y="2508250"/>
          <a:ext cx="5903912" cy="393700"/>
        </p:xfrm>
        <a:graphic>
          <a:graphicData uri="http://schemas.openxmlformats.org/presentationml/2006/ole">
            <mc:AlternateContent xmlns:mc="http://schemas.openxmlformats.org/markup-compatibility/2006">
              <mc:Choice xmlns:v="urn:schemas-microsoft-com:vml" Requires="v">
                <p:oleObj spid="_x0000_s64886" name="公式" r:id="rId7" imgW="5819775" imgH="307975" progId="Equation.3">
                  <p:embed/>
                </p:oleObj>
              </mc:Choice>
              <mc:Fallback>
                <p:oleObj name="公式" r:id="rId7" imgW="5819775" imgH="307975"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28788" y="2508250"/>
                        <a:ext cx="5903912"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6182" name="Object 6"/>
          <p:cNvGraphicFramePr>
            <a:graphicFrameLocks noChangeAspect="1"/>
          </p:cNvGraphicFramePr>
          <p:nvPr/>
        </p:nvGraphicFramePr>
        <p:xfrm>
          <a:off x="1752600" y="3181350"/>
          <a:ext cx="6248400" cy="471488"/>
        </p:xfrm>
        <a:graphic>
          <a:graphicData uri="http://schemas.openxmlformats.org/presentationml/2006/ole">
            <mc:AlternateContent xmlns:mc="http://schemas.openxmlformats.org/markup-compatibility/2006">
              <mc:Choice xmlns:v="urn:schemas-microsoft-com:vml" Requires="v">
                <p:oleObj spid="_x0000_s64887" name="公式" r:id="rId9" imgW="6162675" imgH="384810" progId="Equation.3">
                  <p:embed/>
                </p:oleObj>
              </mc:Choice>
              <mc:Fallback>
                <p:oleObj name="公式" r:id="rId9" imgW="6162675" imgH="38481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52600" y="3181350"/>
                        <a:ext cx="6248400"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19" name="Object 7"/>
          <p:cNvGraphicFramePr>
            <a:graphicFrameLocks noChangeAspect="1"/>
          </p:cNvGraphicFramePr>
          <p:nvPr/>
        </p:nvGraphicFramePr>
        <p:xfrm>
          <a:off x="4641850" y="2908300"/>
          <a:ext cx="190500" cy="419100"/>
        </p:xfrm>
        <a:graphic>
          <a:graphicData uri="http://schemas.openxmlformats.org/presentationml/2006/ole">
            <mc:AlternateContent xmlns:mc="http://schemas.openxmlformats.org/markup-compatibility/2006">
              <mc:Choice xmlns:v="urn:schemas-microsoft-com:vml" Requires="v">
                <p:oleObj spid="_x0000_s64888" name="Equation" r:id="rId11" imgW="190500" imgH="419100" progId="Equation.3">
                  <p:embed/>
                </p:oleObj>
              </mc:Choice>
              <mc:Fallback>
                <p:oleObj name="Equation" r:id="rId11" imgW="190500" imgH="4191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41850" y="2908300"/>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6184" name="Object 8"/>
          <p:cNvGraphicFramePr>
            <a:graphicFrameLocks noChangeAspect="1"/>
          </p:cNvGraphicFramePr>
          <p:nvPr/>
        </p:nvGraphicFramePr>
        <p:xfrm>
          <a:off x="800100" y="3790950"/>
          <a:ext cx="3073400" cy="471488"/>
        </p:xfrm>
        <a:graphic>
          <a:graphicData uri="http://schemas.openxmlformats.org/presentationml/2006/ole">
            <mc:AlternateContent xmlns:mc="http://schemas.openxmlformats.org/markup-compatibility/2006">
              <mc:Choice xmlns:v="urn:schemas-microsoft-com:vml" Requires="v">
                <p:oleObj spid="_x0000_s64889" name="公式" r:id="rId13" imgW="2990850" imgH="384810" progId="Equation.3">
                  <p:embed/>
                </p:oleObj>
              </mc:Choice>
              <mc:Fallback>
                <p:oleObj name="公式" r:id="rId13" imgW="2990850" imgH="38481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0100" y="3790950"/>
                        <a:ext cx="3073400"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6185" name="Object 9"/>
          <p:cNvGraphicFramePr>
            <a:graphicFrameLocks noChangeAspect="1"/>
          </p:cNvGraphicFramePr>
          <p:nvPr/>
        </p:nvGraphicFramePr>
        <p:xfrm>
          <a:off x="3994150" y="3790950"/>
          <a:ext cx="3225800" cy="471488"/>
        </p:xfrm>
        <a:graphic>
          <a:graphicData uri="http://schemas.openxmlformats.org/presentationml/2006/ole">
            <mc:AlternateContent xmlns:mc="http://schemas.openxmlformats.org/markup-compatibility/2006">
              <mc:Choice xmlns:v="urn:schemas-microsoft-com:vml" Requires="v">
                <p:oleObj spid="_x0000_s64890" name="公式" r:id="rId15" imgW="3143250" imgH="384810" progId="Equation.3">
                  <p:embed/>
                </p:oleObj>
              </mc:Choice>
              <mc:Fallback>
                <p:oleObj name="公式" r:id="rId15" imgW="3143250" imgH="384810" progId="Equation.3">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94150" y="3790950"/>
                        <a:ext cx="3225800" cy="471488"/>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6186" name="Object 10"/>
          <p:cNvGraphicFramePr>
            <a:graphicFrameLocks noChangeAspect="1"/>
          </p:cNvGraphicFramePr>
          <p:nvPr/>
        </p:nvGraphicFramePr>
        <p:xfrm>
          <a:off x="558800" y="4476750"/>
          <a:ext cx="8331200" cy="1524000"/>
        </p:xfrm>
        <a:graphic>
          <a:graphicData uri="http://schemas.openxmlformats.org/presentationml/2006/ole">
            <mc:AlternateContent xmlns:mc="http://schemas.openxmlformats.org/markup-compatibility/2006">
              <mc:Choice xmlns:v="urn:schemas-microsoft-com:vml" Requires="v">
                <p:oleObj spid="_x0000_s64891" name="公式" r:id="rId17" imgW="8248650" imgH="1453515" progId="Equation.3">
                  <p:embed/>
                </p:oleObj>
              </mc:Choice>
              <mc:Fallback>
                <p:oleObj name="公式" r:id="rId17" imgW="8248650" imgH="1453515" progId="Equation.3">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8800" y="4476750"/>
                        <a:ext cx="8331200" cy="152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06179"/>
                                        </p:tgtEl>
                                        <p:attrNameLst>
                                          <p:attrName>style.visibility</p:attrName>
                                        </p:attrNameLst>
                                      </p:cBhvr>
                                      <p:to>
                                        <p:strVal val="visible"/>
                                      </p:to>
                                    </p:set>
                                    <p:anim calcmode="lin" valueType="num">
                                      <p:cBhvr additive="base">
                                        <p:cTn id="7" dur="500" fill="hold"/>
                                        <p:tgtEl>
                                          <p:spTgt spid="306179"/>
                                        </p:tgtEl>
                                        <p:attrNameLst>
                                          <p:attrName>ppt_x</p:attrName>
                                        </p:attrNameLst>
                                      </p:cBhvr>
                                      <p:tavLst>
                                        <p:tav tm="0">
                                          <p:val>
                                            <p:strVal val="0-#ppt_w/2"/>
                                          </p:val>
                                        </p:tav>
                                        <p:tav tm="100000">
                                          <p:val>
                                            <p:strVal val="#ppt_x"/>
                                          </p:val>
                                        </p:tav>
                                      </p:tavLst>
                                    </p:anim>
                                    <p:anim calcmode="lin" valueType="num">
                                      <p:cBhvr additive="base">
                                        <p:cTn id="8" dur="500" fill="hold"/>
                                        <p:tgtEl>
                                          <p:spTgt spid="30617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06180"/>
                                        </p:tgtEl>
                                        <p:attrNameLst>
                                          <p:attrName>style.visibility</p:attrName>
                                        </p:attrNameLst>
                                      </p:cBhvr>
                                      <p:to>
                                        <p:strVal val="visible"/>
                                      </p:to>
                                    </p:set>
                                    <p:anim calcmode="lin" valueType="num">
                                      <p:cBhvr additive="base">
                                        <p:cTn id="13" dur="500" fill="hold"/>
                                        <p:tgtEl>
                                          <p:spTgt spid="306180"/>
                                        </p:tgtEl>
                                        <p:attrNameLst>
                                          <p:attrName>ppt_x</p:attrName>
                                        </p:attrNameLst>
                                      </p:cBhvr>
                                      <p:tavLst>
                                        <p:tav tm="0">
                                          <p:val>
                                            <p:strVal val="0-#ppt_w/2"/>
                                          </p:val>
                                        </p:tav>
                                        <p:tav tm="100000">
                                          <p:val>
                                            <p:strVal val="#ppt_x"/>
                                          </p:val>
                                        </p:tav>
                                      </p:tavLst>
                                    </p:anim>
                                    <p:anim calcmode="lin" valueType="num">
                                      <p:cBhvr additive="base">
                                        <p:cTn id="14" dur="500" fill="hold"/>
                                        <p:tgtEl>
                                          <p:spTgt spid="30618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06181"/>
                                        </p:tgtEl>
                                        <p:attrNameLst>
                                          <p:attrName>style.visibility</p:attrName>
                                        </p:attrNameLst>
                                      </p:cBhvr>
                                      <p:to>
                                        <p:strVal val="visible"/>
                                      </p:to>
                                    </p:set>
                                    <p:anim calcmode="lin" valueType="num">
                                      <p:cBhvr additive="base">
                                        <p:cTn id="19" dur="500" fill="hold"/>
                                        <p:tgtEl>
                                          <p:spTgt spid="306181"/>
                                        </p:tgtEl>
                                        <p:attrNameLst>
                                          <p:attrName>ppt_x</p:attrName>
                                        </p:attrNameLst>
                                      </p:cBhvr>
                                      <p:tavLst>
                                        <p:tav tm="0">
                                          <p:val>
                                            <p:strVal val="0-#ppt_w/2"/>
                                          </p:val>
                                        </p:tav>
                                        <p:tav tm="100000">
                                          <p:val>
                                            <p:strVal val="#ppt_x"/>
                                          </p:val>
                                        </p:tav>
                                      </p:tavLst>
                                    </p:anim>
                                    <p:anim calcmode="lin" valueType="num">
                                      <p:cBhvr additive="base">
                                        <p:cTn id="20" dur="500" fill="hold"/>
                                        <p:tgtEl>
                                          <p:spTgt spid="30618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06182"/>
                                        </p:tgtEl>
                                        <p:attrNameLst>
                                          <p:attrName>style.visibility</p:attrName>
                                        </p:attrNameLst>
                                      </p:cBhvr>
                                      <p:to>
                                        <p:strVal val="visible"/>
                                      </p:to>
                                    </p:set>
                                    <p:anim calcmode="lin" valueType="num">
                                      <p:cBhvr additive="base">
                                        <p:cTn id="25" dur="500" fill="hold"/>
                                        <p:tgtEl>
                                          <p:spTgt spid="306182"/>
                                        </p:tgtEl>
                                        <p:attrNameLst>
                                          <p:attrName>ppt_x</p:attrName>
                                        </p:attrNameLst>
                                      </p:cBhvr>
                                      <p:tavLst>
                                        <p:tav tm="0">
                                          <p:val>
                                            <p:strVal val="0-#ppt_w/2"/>
                                          </p:val>
                                        </p:tav>
                                        <p:tav tm="100000">
                                          <p:val>
                                            <p:strVal val="#ppt_x"/>
                                          </p:val>
                                        </p:tav>
                                      </p:tavLst>
                                    </p:anim>
                                    <p:anim calcmode="lin" valueType="num">
                                      <p:cBhvr additive="base">
                                        <p:cTn id="26" dur="500" fill="hold"/>
                                        <p:tgtEl>
                                          <p:spTgt spid="30618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06184"/>
                                        </p:tgtEl>
                                        <p:attrNameLst>
                                          <p:attrName>style.visibility</p:attrName>
                                        </p:attrNameLst>
                                      </p:cBhvr>
                                      <p:to>
                                        <p:strVal val="visible"/>
                                      </p:to>
                                    </p:set>
                                    <p:anim calcmode="lin" valueType="num">
                                      <p:cBhvr additive="base">
                                        <p:cTn id="31" dur="500" fill="hold"/>
                                        <p:tgtEl>
                                          <p:spTgt spid="306184"/>
                                        </p:tgtEl>
                                        <p:attrNameLst>
                                          <p:attrName>ppt_x</p:attrName>
                                        </p:attrNameLst>
                                      </p:cBhvr>
                                      <p:tavLst>
                                        <p:tav tm="0">
                                          <p:val>
                                            <p:strVal val="0-#ppt_w/2"/>
                                          </p:val>
                                        </p:tav>
                                        <p:tav tm="100000">
                                          <p:val>
                                            <p:strVal val="#ppt_x"/>
                                          </p:val>
                                        </p:tav>
                                      </p:tavLst>
                                    </p:anim>
                                    <p:anim calcmode="lin" valueType="num">
                                      <p:cBhvr additive="base">
                                        <p:cTn id="32" dur="500" fill="hold"/>
                                        <p:tgtEl>
                                          <p:spTgt spid="30618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306185"/>
                                        </p:tgtEl>
                                        <p:attrNameLst>
                                          <p:attrName>style.visibility</p:attrName>
                                        </p:attrNameLst>
                                      </p:cBhvr>
                                      <p:to>
                                        <p:strVal val="visible"/>
                                      </p:to>
                                    </p:set>
                                    <p:anim calcmode="lin" valueType="num">
                                      <p:cBhvr additive="base">
                                        <p:cTn id="37" dur="500" fill="hold"/>
                                        <p:tgtEl>
                                          <p:spTgt spid="306185"/>
                                        </p:tgtEl>
                                        <p:attrNameLst>
                                          <p:attrName>ppt_x</p:attrName>
                                        </p:attrNameLst>
                                      </p:cBhvr>
                                      <p:tavLst>
                                        <p:tav tm="0">
                                          <p:val>
                                            <p:strVal val="0-#ppt_w/2"/>
                                          </p:val>
                                        </p:tav>
                                        <p:tav tm="100000">
                                          <p:val>
                                            <p:strVal val="#ppt_x"/>
                                          </p:val>
                                        </p:tav>
                                      </p:tavLst>
                                    </p:anim>
                                    <p:anim calcmode="lin" valueType="num">
                                      <p:cBhvr additive="base">
                                        <p:cTn id="38" dur="500" fill="hold"/>
                                        <p:tgtEl>
                                          <p:spTgt spid="306185"/>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306186"/>
                                        </p:tgtEl>
                                        <p:attrNameLst>
                                          <p:attrName>style.visibility</p:attrName>
                                        </p:attrNameLst>
                                      </p:cBhvr>
                                      <p:to>
                                        <p:strVal val="visible"/>
                                      </p:to>
                                    </p:set>
                                    <p:anim calcmode="lin" valueType="num">
                                      <p:cBhvr additive="base">
                                        <p:cTn id="43" dur="500" fill="hold"/>
                                        <p:tgtEl>
                                          <p:spTgt spid="306186"/>
                                        </p:tgtEl>
                                        <p:attrNameLst>
                                          <p:attrName>ppt_x</p:attrName>
                                        </p:attrNameLst>
                                      </p:cBhvr>
                                      <p:tavLst>
                                        <p:tav tm="0">
                                          <p:val>
                                            <p:strVal val="0-#ppt_w/2"/>
                                          </p:val>
                                        </p:tav>
                                        <p:tav tm="100000">
                                          <p:val>
                                            <p:strVal val="#ppt_x"/>
                                          </p:val>
                                        </p:tav>
                                      </p:tavLst>
                                    </p:anim>
                                    <p:anim calcmode="lin" valueType="num">
                                      <p:cBhvr additive="base">
                                        <p:cTn id="44" dur="500" fill="hold"/>
                                        <p:tgtEl>
                                          <p:spTgt spid="3061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469900" y="476250"/>
            <a:ext cx="7191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chemeClr val="accent2"/>
                </a:solidFill>
              </a:rPr>
              <a:t>例</a:t>
            </a:r>
            <a:r>
              <a:rPr lang="en-US" altLang="zh-CN" sz="2800" b="1">
                <a:solidFill>
                  <a:schemeClr val="accent2"/>
                </a:solidFill>
              </a:rPr>
              <a:t>4</a:t>
            </a:r>
            <a:endParaRPr lang="en-US" altLang="zh-CN" sz="2800" b="1">
              <a:solidFill>
                <a:schemeClr val="accent2"/>
              </a:solidFill>
            </a:endParaRPr>
          </a:p>
        </p:txBody>
      </p:sp>
      <p:sp>
        <p:nvSpPr>
          <p:cNvPr id="300035" name="Text Box 3"/>
          <p:cNvSpPr txBox="1">
            <a:spLocks noChangeArrowheads="1"/>
          </p:cNvSpPr>
          <p:nvPr/>
        </p:nvSpPr>
        <p:spPr bwMode="auto">
          <a:xfrm>
            <a:off x="1752600" y="533400"/>
            <a:ext cx="6602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设随机变量</a:t>
            </a:r>
            <a:r>
              <a:rPr lang="en-US" altLang="zh-CN" sz="2800" b="1"/>
              <a:t>X</a:t>
            </a:r>
            <a:r>
              <a:rPr lang="zh-CN" altLang="en-US" sz="2800" b="1"/>
              <a:t>服从指数分布</a:t>
            </a:r>
            <a:r>
              <a:rPr lang="en-US" altLang="zh-CN" sz="2800" b="1"/>
              <a:t>,</a:t>
            </a:r>
            <a:r>
              <a:rPr lang="zh-CN" altLang="en-US" sz="2800" b="1"/>
              <a:t>其概率密度为</a:t>
            </a:r>
            <a:endParaRPr lang="zh-CN" altLang="en-US" sz="2800" b="1"/>
          </a:p>
        </p:txBody>
      </p:sp>
      <p:graphicFrame>
        <p:nvGraphicFramePr>
          <p:cNvPr id="300036" name="Object 4"/>
          <p:cNvGraphicFramePr>
            <a:graphicFrameLocks noChangeAspect="1"/>
          </p:cNvGraphicFramePr>
          <p:nvPr/>
        </p:nvGraphicFramePr>
        <p:xfrm>
          <a:off x="2341563" y="1057275"/>
          <a:ext cx="3187700" cy="1473200"/>
        </p:xfrm>
        <a:graphic>
          <a:graphicData uri="http://schemas.openxmlformats.org/presentationml/2006/ole">
            <mc:AlternateContent xmlns:mc="http://schemas.openxmlformats.org/markup-compatibility/2006">
              <mc:Choice xmlns:v="urn:schemas-microsoft-com:vml" Requires="v">
                <p:oleObj spid="_x0000_s53500" name="公式" r:id="rId1" imgW="3105150" imgH="1405255" progId="Equation.3">
                  <p:embed/>
                </p:oleObj>
              </mc:Choice>
              <mc:Fallback>
                <p:oleObj name="公式" r:id="rId1" imgW="3105150" imgH="1405255"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1563" y="1057275"/>
                        <a:ext cx="3187700" cy="147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0037" name="Object 5"/>
          <p:cNvGraphicFramePr>
            <a:graphicFrameLocks noChangeAspect="1"/>
          </p:cNvGraphicFramePr>
          <p:nvPr/>
        </p:nvGraphicFramePr>
        <p:xfrm>
          <a:off x="1414463" y="2568575"/>
          <a:ext cx="4216400" cy="431800"/>
        </p:xfrm>
        <a:graphic>
          <a:graphicData uri="http://schemas.openxmlformats.org/presentationml/2006/ole">
            <mc:AlternateContent xmlns:mc="http://schemas.openxmlformats.org/markup-compatibility/2006">
              <mc:Choice xmlns:v="urn:schemas-microsoft-com:vml" Requires="v">
                <p:oleObj spid="_x0000_s53501" name="公式" r:id="rId3" imgW="4133850" imgH="346710" progId="Equation.3">
                  <p:embed/>
                </p:oleObj>
              </mc:Choice>
              <mc:Fallback>
                <p:oleObj name="公式" r:id="rId3" imgW="4133850" imgH="34671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4463" y="2568575"/>
                        <a:ext cx="42164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0038" name="Text Box 6"/>
          <p:cNvSpPr txBox="1">
            <a:spLocks noChangeArrowheads="1"/>
          </p:cNvSpPr>
          <p:nvPr/>
        </p:nvSpPr>
        <p:spPr bwMode="auto">
          <a:xfrm>
            <a:off x="550863" y="3205163"/>
            <a:ext cx="541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解</a:t>
            </a:r>
            <a:endParaRPr lang="zh-CN" altLang="en-US" sz="2800" b="1"/>
          </a:p>
        </p:txBody>
      </p:sp>
      <p:graphicFrame>
        <p:nvGraphicFramePr>
          <p:cNvPr id="300039" name="Object 7"/>
          <p:cNvGraphicFramePr>
            <a:graphicFrameLocks noChangeAspect="1"/>
          </p:cNvGraphicFramePr>
          <p:nvPr/>
        </p:nvGraphicFramePr>
        <p:xfrm>
          <a:off x="1338263" y="2981325"/>
          <a:ext cx="5372100" cy="1028700"/>
        </p:xfrm>
        <a:graphic>
          <a:graphicData uri="http://schemas.openxmlformats.org/presentationml/2006/ole">
            <mc:AlternateContent xmlns:mc="http://schemas.openxmlformats.org/markup-compatibility/2006">
              <mc:Choice xmlns:v="urn:schemas-microsoft-com:vml" Requires="v">
                <p:oleObj spid="_x0000_s53502" name="公式" r:id="rId5" imgW="5286375" imgH="953135" progId="Equation.3">
                  <p:embed/>
                </p:oleObj>
              </mc:Choice>
              <mc:Fallback>
                <p:oleObj name="公式" r:id="rId5" imgW="5286375" imgH="953135"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8263" y="2981325"/>
                        <a:ext cx="5372100"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0040" name="Object 8"/>
          <p:cNvGraphicFramePr>
            <a:graphicFrameLocks noChangeAspect="1"/>
          </p:cNvGraphicFramePr>
          <p:nvPr/>
        </p:nvGraphicFramePr>
        <p:xfrm>
          <a:off x="1217613" y="3895725"/>
          <a:ext cx="6210300" cy="1028700"/>
        </p:xfrm>
        <a:graphic>
          <a:graphicData uri="http://schemas.openxmlformats.org/presentationml/2006/ole">
            <mc:AlternateContent xmlns:mc="http://schemas.openxmlformats.org/markup-compatibility/2006">
              <mc:Choice xmlns:v="urn:schemas-microsoft-com:vml" Requires="v">
                <p:oleObj spid="_x0000_s53503" name="公式" r:id="rId7" imgW="6124575" imgH="953135" progId="Equation.3">
                  <p:embed/>
                </p:oleObj>
              </mc:Choice>
              <mc:Fallback>
                <p:oleObj name="公式" r:id="rId7" imgW="6124575" imgH="953135"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7613" y="3895725"/>
                        <a:ext cx="6210300"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0041" name="Object 9"/>
          <p:cNvGraphicFramePr>
            <a:graphicFrameLocks noChangeAspect="1"/>
          </p:cNvGraphicFramePr>
          <p:nvPr/>
        </p:nvGraphicFramePr>
        <p:xfrm>
          <a:off x="881063" y="4892675"/>
          <a:ext cx="2247900" cy="471488"/>
        </p:xfrm>
        <a:graphic>
          <a:graphicData uri="http://schemas.openxmlformats.org/presentationml/2006/ole">
            <mc:AlternateContent xmlns:mc="http://schemas.openxmlformats.org/markup-compatibility/2006">
              <mc:Choice xmlns:v="urn:schemas-microsoft-com:vml" Requires="v">
                <p:oleObj spid="_x0000_s53504" name="公式" r:id="rId9" imgW="2162175" imgH="384810" progId="Equation.3">
                  <p:embed/>
                </p:oleObj>
              </mc:Choice>
              <mc:Fallback>
                <p:oleObj name="公式" r:id="rId9" imgW="2162175" imgH="38481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1063" y="4892675"/>
                        <a:ext cx="2247900" cy="471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0042" name="Text Box 10"/>
          <p:cNvSpPr txBox="1">
            <a:spLocks noChangeArrowheads="1"/>
          </p:cNvSpPr>
          <p:nvPr/>
        </p:nvSpPr>
        <p:spPr bwMode="auto">
          <a:xfrm>
            <a:off x="585788" y="5486400"/>
            <a:ext cx="31305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chemeClr val="accent2"/>
                </a:solidFill>
              </a:rPr>
              <a:t>由此可知</a:t>
            </a:r>
            <a:r>
              <a:rPr lang="en-US" altLang="zh-CN" sz="2800" b="1">
                <a:solidFill>
                  <a:schemeClr val="accent2"/>
                </a:solidFill>
              </a:rPr>
              <a:t>,</a:t>
            </a:r>
            <a:r>
              <a:rPr lang="zh-CN" altLang="en-US" sz="2800" b="1">
                <a:solidFill>
                  <a:schemeClr val="accent2"/>
                </a:solidFill>
              </a:rPr>
              <a:t>指数分布</a:t>
            </a:r>
            <a:endParaRPr lang="zh-CN" altLang="en-US" sz="2800" b="1">
              <a:solidFill>
                <a:schemeClr val="accent2"/>
              </a:solidFill>
            </a:endParaRPr>
          </a:p>
        </p:txBody>
      </p:sp>
      <p:graphicFrame>
        <p:nvGraphicFramePr>
          <p:cNvPr id="300043" name="Object 11"/>
          <p:cNvGraphicFramePr>
            <a:graphicFrameLocks noChangeAspect="1"/>
          </p:cNvGraphicFramePr>
          <p:nvPr/>
        </p:nvGraphicFramePr>
        <p:xfrm>
          <a:off x="3810000" y="5562600"/>
          <a:ext cx="3683000" cy="404813"/>
        </p:xfrm>
        <a:graphic>
          <a:graphicData uri="http://schemas.openxmlformats.org/presentationml/2006/ole">
            <mc:AlternateContent xmlns:mc="http://schemas.openxmlformats.org/markup-compatibility/2006">
              <mc:Choice xmlns:v="urn:schemas-microsoft-com:vml" Requires="v">
                <p:oleObj spid="_x0000_s53505" name="公式" r:id="rId11" imgW="3600450" imgH="327025" progId="Equation.3">
                  <p:embed/>
                </p:oleObj>
              </mc:Choice>
              <mc:Fallback>
                <p:oleObj name="公式" r:id="rId11" imgW="3600450" imgH="327025" progId="Equation.3">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0" y="5562600"/>
                        <a:ext cx="3683000" cy="404813"/>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00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4" presetClass="entr" presetSubtype="0" fill="hold" nodeType="clickEffect">
                                  <p:stCondLst>
                                    <p:cond delay="0"/>
                                  </p:stCondLst>
                                  <p:childTnLst>
                                    <p:set>
                                      <p:cBhvr>
                                        <p:cTn id="10" dur="1" fill="hold">
                                          <p:stCondLst>
                                            <p:cond delay="499"/>
                                          </p:stCondLst>
                                        </p:cTn>
                                        <p:tgtEl>
                                          <p:spTgt spid="300036"/>
                                        </p:tgtEl>
                                        <p:attrNameLst>
                                          <p:attrName>style.visibility</p:attrName>
                                        </p:attrNameLst>
                                      </p:cBhvr>
                                      <p:to>
                                        <p:strVal val="visible"/>
                                      </p:to>
                                    </p:set>
                                    <p:anim to="" calcmode="lin" valueType="num">
                                      <p:cBhvr>
                                        <p:cTn id="11" dur="1" fill="hold"/>
                                        <p:tgtEl>
                                          <p:spTgt spid="300036"/>
                                        </p:tgtEl>
                                      </p:cBhvr>
                                    </p:anim>
                                  </p:childTnLst>
                                </p:cTn>
                              </p:par>
                            </p:childTnLst>
                          </p:cTn>
                        </p:par>
                      </p:childTnLst>
                    </p:cTn>
                  </p:par>
                  <p:par>
                    <p:cTn id="12" fill="hold">
                      <p:stCondLst>
                        <p:cond delay="indefinite"/>
                      </p:stCondLst>
                      <p:childTnLst>
                        <p:par>
                          <p:cTn id="13" fill="hold">
                            <p:stCondLst>
                              <p:cond delay="0"/>
                            </p:stCondLst>
                            <p:childTnLst>
                              <p:par>
                                <p:cTn id="14" presetID="24" presetClass="entr" presetSubtype="0" fill="hold" nodeType="clickEffect">
                                  <p:stCondLst>
                                    <p:cond delay="0"/>
                                  </p:stCondLst>
                                  <p:childTnLst>
                                    <p:set>
                                      <p:cBhvr>
                                        <p:cTn id="15" dur="1" fill="hold">
                                          <p:stCondLst>
                                            <p:cond delay="499"/>
                                          </p:stCondLst>
                                        </p:cTn>
                                        <p:tgtEl>
                                          <p:spTgt spid="300037"/>
                                        </p:tgtEl>
                                        <p:attrNameLst>
                                          <p:attrName>style.visibility</p:attrName>
                                        </p:attrNameLst>
                                      </p:cBhvr>
                                      <p:to>
                                        <p:strVal val="visible"/>
                                      </p:to>
                                    </p:set>
                                    <p:anim to="" calcmode="lin" valueType="num">
                                      <p:cBhvr>
                                        <p:cTn id="16" dur="1" fill="hold"/>
                                        <p:tgtEl>
                                          <p:spTgt spid="300037"/>
                                        </p:tgtEl>
                                      </p:cBhvr>
                                    </p:anim>
                                  </p:childTnLst>
                                </p:cTn>
                              </p:par>
                            </p:childTnLst>
                          </p:cTn>
                        </p:par>
                      </p:childTnLst>
                    </p:cTn>
                  </p:par>
                  <p:par>
                    <p:cTn id="17" fill="hold">
                      <p:stCondLst>
                        <p:cond delay="indefinite"/>
                      </p:stCondLst>
                      <p:childTnLst>
                        <p:par>
                          <p:cTn id="18" fill="hold">
                            <p:stCondLst>
                              <p:cond delay="0"/>
                            </p:stCondLst>
                            <p:childTnLst>
                              <p:par>
                                <p:cTn id="19" presetID="24" presetClass="entr" presetSubtype="0" fill="hold" grpId="0" nodeType="clickEffect">
                                  <p:stCondLst>
                                    <p:cond delay="0"/>
                                  </p:stCondLst>
                                  <p:childTnLst>
                                    <p:set>
                                      <p:cBhvr>
                                        <p:cTn id="20" dur="1" fill="hold">
                                          <p:stCondLst>
                                            <p:cond delay="499"/>
                                          </p:stCondLst>
                                        </p:cTn>
                                        <p:tgtEl>
                                          <p:spTgt spid="300038"/>
                                        </p:tgtEl>
                                        <p:attrNameLst>
                                          <p:attrName>style.visibility</p:attrName>
                                        </p:attrNameLst>
                                      </p:cBhvr>
                                      <p:to>
                                        <p:strVal val="visible"/>
                                      </p:to>
                                    </p:set>
                                    <p:anim to="" calcmode="lin" valueType="num">
                                      <p:cBhvr>
                                        <p:cTn id="21" dur="1" fill="hold"/>
                                        <p:tgtEl>
                                          <p:spTgt spid="300038"/>
                                        </p:tgtEl>
                                      </p:cBhvr>
                                    </p:anim>
                                  </p:childTnLst>
                                </p:cTn>
                              </p:par>
                            </p:childTnLst>
                          </p:cTn>
                        </p:par>
                      </p:childTnLst>
                    </p:cTn>
                  </p:par>
                  <p:par>
                    <p:cTn id="22" fill="hold">
                      <p:stCondLst>
                        <p:cond delay="indefinite"/>
                      </p:stCondLst>
                      <p:childTnLst>
                        <p:par>
                          <p:cTn id="23" fill="hold">
                            <p:stCondLst>
                              <p:cond delay="0"/>
                            </p:stCondLst>
                            <p:childTnLst>
                              <p:par>
                                <p:cTn id="24" presetID="24" presetClass="entr" presetSubtype="0" fill="hold" nodeType="clickEffect">
                                  <p:stCondLst>
                                    <p:cond delay="0"/>
                                  </p:stCondLst>
                                  <p:childTnLst>
                                    <p:set>
                                      <p:cBhvr>
                                        <p:cTn id="25" dur="1" fill="hold">
                                          <p:stCondLst>
                                            <p:cond delay="499"/>
                                          </p:stCondLst>
                                        </p:cTn>
                                        <p:tgtEl>
                                          <p:spTgt spid="300039"/>
                                        </p:tgtEl>
                                        <p:attrNameLst>
                                          <p:attrName>style.visibility</p:attrName>
                                        </p:attrNameLst>
                                      </p:cBhvr>
                                      <p:to>
                                        <p:strVal val="visible"/>
                                      </p:to>
                                    </p:set>
                                    <p:anim to="" calcmode="lin" valueType="num">
                                      <p:cBhvr>
                                        <p:cTn id="26" dur="1" fill="hold"/>
                                        <p:tgtEl>
                                          <p:spTgt spid="300039"/>
                                        </p:tgtEl>
                                      </p:cBhvr>
                                    </p:anim>
                                  </p:childTnLst>
                                </p:cTn>
                              </p:par>
                            </p:childTnLst>
                          </p:cTn>
                        </p:par>
                      </p:childTnLst>
                    </p:cTn>
                  </p:par>
                  <p:par>
                    <p:cTn id="27" fill="hold">
                      <p:stCondLst>
                        <p:cond delay="indefinite"/>
                      </p:stCondLst>
                      <p:childTnLst>
                        <p:par>
                          <p:cTn id="28" fill="hold">
                            <p:stCondLst>
                              <p:cond delay="0"/>
                            </p:stCondLst>
                            <p:childTnLst>
                              <p:par>
                                <p:cTn id="29" presetID="24" presetClass="entr" presetSubtype="0" fill="hold" nodeType="clickEffect">
                                  <p:stCondLst>
                                    <p:cond delay="0"/>
                                  </p:stCondLst>
                                  <p:childTnLst>
                                    <p:set>
                                      <p:cBhvr>
                                        <p:cTn id="30" dur="1" fill="hold">
                                          <p:stCondLst>
                                            <p:cond delay="499"/>
                                          </p:stCondLst>
                                        </p:cTn>
                                        <p:tgtEl>
                                          <p:spTgt spid="300040"/>
                                        </p:tgtEl>
                                        <p:attrNameLst>
                                          <p:attrName>style.visibility</p:attrName>
                                        </p:attrNameLst>
                                      </p:cBhvr>
                                      <p:to>
                                        <p:strVal val="visible"/>
                                      </p:to>
                                    </p:set>
                                    <p:anim to="" calcmode="lin" valueType="num">
                                      <p:cBhvr>
                                        <p:cTn id="31" dur="1" fill="hold"/>
                                        <p:tgtEl>
                                          <p:spTgt spid="300040"/>
                                        </p:tgtEl>
                                      </p:cBhvr>
                                    </p:anim>
                                  </p:childTnLst>
                                </p:cTn>
                              </p:par>
                            </p:childTnLst>
                          </p:cTn>
                        </p:par>
                      </p:childTnLst>
                    </p:cTn>
                  </p:par>
                  <p:par>
                    <p:cTn id="32" fill="hold">
                      <p:stCondLst>
                        <p:cond delay="indefinite"/>
                      </p:stCondLst>
                      <p:childTnLst>
                        <p:par>
                          <p:cTn id="33" fill="hold">
                            <p:stCondLst>
                              <p:cond delay="0"/>
                            </p:stCondLst>
                            <p:childTnLst>
                              <p:par>
                                <p:cTn id="34" presetID="24" presetClass="entr" presetSubtype="0" fill="hold" nodeType="clickEffect">
                                  <p:stCondLst>
                                    <p:cond delay="0"/>
                                  </p:stCondLst>
                                  <p:childTnLst>
                                    <p:set>
                                      <p:cBhvr>
                                        <p:cTn id="35" dur="1" fill="hold">
                                          <p:stCondLst>
                                            <p:cond delay="499"/>
                                          </p:stCondLst>
                                        </p:cTn>
                                        <p:tgtEl>
                                          <p:spTgt spid="300041"/>
                                        </p:tgtEl>
                                        <p:attrNameLst>
                                          <p:attrName>style.visibility</p:attrName>
                                        </p:attrNameLst>
                                      </p:cBhvr>
                                      <p:to>
                                        <p:strVal val="visible"/>
                                      </p:to>
                                    </p:set>
                                    <p:anim to="" calcmode="lin" valueType="num">
                                      <p:cBhvr>
                                        <p:cTn id="36" dur="1" fill="hold"/>
                                        <p:tgtEl>
                                          <p:spTgt spid="300041"/>
                                        </p:tgtEl>
                                      </p:cBhvr>
                                    </p:anim>
                                  </p:childTnLst>
                                </p:cTn>
                              </p:par>
                            </p:childTnLst>
                          </p:cTn>
                        </p:par>
                      </p:childTnLst>
                    </p:cTn>
                  </p:par>
                  <p:par>
                    <p:cTn id="37" fill="hold">
                      <p:stCondLst>
                        <p:cond delay="indefinite"/>
                      </p:stCondLst>
                      <p:childTnLst>
                        <p:par>
                          <p:cTn id="38" fill="hold">
                            <p:stCondLst>
                              <p:cond delay="0"/>
                            </p:stCondLst>
                            <p:childTnLst>
                              <p:par>
                                <p:cTn id="39" presetID="24" presetClass="entr" presetSubtype="0" fill="hold" grpId="0" nodeType="clickEffect">
                                  <p:stCondLst>
                                    <p:cond delay="0"/>
                                  </p:stCondLst>
                                  <p:childTnLst>
                                    <p:set>
                                      <p:cBhvr>
                                        <p:cTn id="40" dur="1" fill="hold">
                                          <p:stCondLst>
                                            <p:cond delay="499"/>
                                          </p:stCondLst>
                                        </p:cTn>
                                        <p:tgtEl>
                                          <p:spTgt spid="300042"/>
                                        </p:tgtEl>
                                        <p:attrNameLst>
                                          <p:attrName>style.visibility</p:attrName>
                                        </p:attrNameLst>
                                      </p:cBhvr>
                                      <p:to>
                                        <p:strVal val="visible"/>
                                      </p:to>
                                    </p:set>
                                    <p:anim to="" calcmode="lin" valueType="num">
                                      <p:cBhvr>
                                        <p:cTn id="41" dur="1" fill="hold"/>
                                        <p:tgtEl>
                                          <p:spTgt spid="300042"/>
                                        </p:tgtEl>
                                      </p:cBhvr>
                                    </p:anim>
                                  </p:childTnLst>
                                </p:cTn>
                              </p:par>
                            </p:childTnLst>
                          </p:cTn>
                        </p:par>
                      </p:childTnLst>
                    </p:cTn>
                  </p:par>
                  <p:par>
                    <p:cTn id="42" fill="hold">
                      <p:stCondLst>
                        <p:cond delay="indefinite"/>
                      </p:stCondLst>
                      <p:childTnLst>
                        <p:par>
                          <p:cTn id="43" fill="hold">
                            <p:stCondLst>
                              <p:cond delay="0"/>
                            </p:stCondLst>
                            <p:childTnLst>
                              <p:par>
                                <p:cTn id="44" presetID="24" presetClass="entr" presetSubtype="0" fill="hold" nodeType="clickEffect">
                                  <p:stCondLst>
                                    <p:cond delay="0"/>
                                  </p:stCondLst>
                                  <p:childTnLst>
                                    <p:set>
                                      <p:cBhvr>
                                        <p:cTn id="45" dur="1" fill="hold">
                                          <p:stCondLst>
                                            <p:cond delay="499"/>
                                          </p:stCondLst>
                                        </p:cTn>
                                        <p:tgtEl>
                                          <p:spTgt spid="300043"/>
                                        </p:tgtEl>
                                        <p:attrNameLst>
                                          <p:attrName>style.visibility</p:attrName>
                                        </p:attrNameLst>
                                      </p:cBhvr>
                                      <p:to>
                                        <p:strVal val="visible"/>
                                      </p:to>
                                    </p:set>
                                    <p:anim to="" calcmode="lin" valueType="num">
                                      <p:cBhvr>
                                        <p:cTn id="46" dur="1" fill="hold"/>
                                        <p:tgtEl>
                                          <p:spTgt spid="30004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5" grpId="0" autoUpdateAnimBg="0"/>
      <p:bldP spid="300038" grpId="0" autoUpdateAnimBg="0"/>
      <p:bldP spid="300042"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2"/>
          <p:cNvSpPr>
            <a:spLocks noChangeArrowheads="1"/>
          </p:cNvSpPr>
          <p:nvPr/>
        </p:nvSpPr>
        <p:spPr bwMode="auto">
          <a:xfrm>
            <a:off x="542925" y="3119438"/>
            <a:ext cx="8985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于是</a:t>
            </a:r>
            <a:endParaRPr lang="zh-CN" altLang="en-US" sz="2800" b="1"/>
          </a:p>
        </p:txBody>
      </p:sp>
      <p:sp>
        <p:nvSpPr>
          <p:cNvPr id="304131" name="Rectangle 3"/>
          <p:cNvSpPr>
            <a:spLocks noChangeArrowheads="1"/>
          </p:cNvSpPr>
          <p:nvPr/>
        </p:nvSpPr>
        <p:spPr bwMode="auto">
          <a:xfrm>
            <a:off x="5764213" y="1333500"/>
            <a:ext cx="24844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i="1"/>
              <a:t>i</a:t>
            </a:r>
            <a:r>
              <a:rPr lang="en-US" altLang="zh-CN" sz="3200" b="1"/>
              <a:t>=1,2</a:t>
            </a:r>
            <a:r>
              <a:rPr lang="zh-CN" altLang="en-US" sz="3200" b="1"/>
              <a:t>，</a:t>
            </a:r>
            <a:r>
              <a:rPr lang="en-US" altLang="zh-CN" sz="3200" b="1"/>
              <a:t>…</a:t>
            </a:r>
            <a:r>
              <a:rPr lang="zh-CN" altLang="en-US" sz="3200" b="1"/>
              <a:t>，</a:t>
            </a:r>
            <a:r>
              <a:rPr lang="en-US" altLang="zh-CN" sz="3200" b="1" i="1"/>
              <a:t>n</a:t>
            </a:r>
            <a:endParaRPr lang="en-US" altLang="zh-CN" sz="3200"/>
          </a:p>
        </p:txBody>
      </p:sp>
      <p:sp>
        <p:nvSpPr>
          <p:cNvPr id="60420" name="Text Box 4"/>
          <p:cNvSpPr txBox="1">
            <a:spLocks noChangeArrowheads="1"/>
          </p:cNvSpPr>
          <p:nvPr/>
        </p:nvSpPr>
        <p:spPr bwMode="auto">
          <a:xfrm>
            <a:off x="5235575" y="2773363"/>
            <a:ext cx="273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2800"/>
              <a:t> </a:t>
            </a:r>
            <a:endParaRPr lang="en-US" altLang="zh-CN" sz="2800" b="1"/>
          </a:p>
        </p:txBody>
      </p:sp>
      <p:sp>
        <p:nvSpPr>
          <p:cNvPr id="304133" name="Rectangle 5"/>
          <p:cNvSpPr>
            <a:spLocks noChangeArrowheads="1"/>
          </p:cNvSpPr>
          <p:nvPr/>
        </p:nvSpPr>
        <p:spPr bwMode="auto">
          <a:xfrm>
            <a:off x="539750" y="2239963"/>
            <a:ext cx="41846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zh-CN" sz="2800" b="1"/>
              <a:t>由于</a:t>
            </a:r>
            <a:r>
              <a:rPr lang="en-US" altLang="zh-CN" sz="2800" b="1" i="1"/>
              <a:t>X</a:t>
            </a:r>
            <a:r>
              <a:rPr lang="en-US" altLang="zh-CN" sz="2800" b="1" baseline="-25000"/>
              <a:t>1</a:t>
            </a:r>
            <a:r>
              <a:rPr lang="en-US" altLang="zh-CN" sz="2800" b="1"/>
              <a:t>,</a:t>
            </a:r>
            <a:r>
              <a:rPr lang="en-US" altLang="zh-CN" sz="2800" b="1" i="1"/>
              <a:t>X</a:t>
            </a:r>
            <a:r>
              <a:rPr lang="en-US" altLang="zh-CN" sz="2800" b="1" baseline="-25000"/>
              <a:t>2</a:t>
            </a:r>
            <a:r>
              <a:rPr lang="en-US" altLang="zh-CN" sz="2800" b="1"/>
              <a:t>,…, </a:t>
            </a:r>
            <a:r>
              <a:rPr lang="en-US" altLang="zh-CN" sz="2800" b="1" i="1"/>
              <a:t>X</a:t>
            </a:r>
            <a:r>
              <a:rPr lang="en-US" altLang="zh-CN" sz="2800" b="1" i="1" baseline="-25000"/>
              <a:t>n </a:t>
            </a:r>
            <a:r>
              <a:rPr lang="zh-CN" altLang="zh-CN" sz="2800" b="1"/>
              <a:t>相互</a:t>
            </a:r>
            <a:r>
              <a:rPr lang="zh-CN" altLang="en-US" sz="2800" b="1"/>
              <a:t>独立</a:t>
            </a:r>
            <a:endParaRPr lang="zh-CN" altLang="en-US" sz="2800" b="1"/>
          </a:p>
        </p:txBody>
      </p:sp>
      <p:graphicFrame>
        <p:nvGraphicFramePr>
          <p:cNvPr id="304134" name="Object 6"/>
          <p:cNvGraphicFramePr>
            <a:graphicFrameLocks noChangeAspect="1"/>
          </p:cNvGraphicFramePr>
          <p:nvPr/>
        </p:nvGraphicFramePr>
        <p:xfrm>
          <a:off x="2054225" y="3875088"/>
          <a:ext cx="3168650" cy="1130300"/>
        </p:xfrm>
        <a:graphic>
          <a:graphicData uri="http://schemas.openxmlformats.org/presentationml/2006/ole">
            <mc:AlternateContent xmlns:mc="http://schemas.openxmlformats.org/markup-compatibility/2006">
              <mc:Choice xmlns:v="urn:schemas-microsoft-com:vml" Requires="v">
                <p:oleObj spid="_x0000_s60631" name="公式" r:id="rId1" imgW="1066800" imgH="346710" progId="Equation.3">
                  <p:embed/>
                </p:oleObj>
              </mc:Choice>
              <mc:Fallback>
                <p:oleObj name="公式" r:id="rId1" imgW="1066800" imgH="34671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4225" y="3875088"/>
                        <a:ext cx="3168650"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4135" name="Rectangle 7"/>
          <p:cNvSpPr>
            <a:spLocks noChangeArrowheads="1"/>
          </p:cNvSpPr>
          <p:nvPr/>
        </p:nvSpPr>
        <p:spPr bwMode="auto">
          <a:xfrm>
            <a:off x="5049838" y="4183063"/>
            <a:ext cx="18589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a:t>= </a:t>
            </a:r>
            <a:r>
              <a:rPr lang="en-US" altLang="zh-CN" sz="3200" b="1" i="1"/>
              <a:t>np</a:t>
            </a:r>
            <a:r>
              <a:rPr lang="en-US" altLang="zh-CN" sz="3200" b="1"/>
              <a:t>(1-</a:t>
            </a:r>
            <a:r>
              <a:rPr lang="en-US" altLang="zh-CN" sz="3200" b="1" i="1"/>
              <a:t> p</a:t>
            </a:r>
            <a:r>
              <a:rPr lang="en-US" altLang="zh-CN" sz="3200" b="1"/>
              <a:t>)</a:t>
            </a:r>
            <a:endParaRPr lang="en-US" altLang="zh-CN" sz="3200" b="1"/>
          </a:p>
        </p:txBody>
      </p:sp>
      <p:sp>
        <p:nvSpPr>
          <p:cNvPr id="304136" name="Rectangle 8"/>
          <p:cNvSpPr>
            <a:spLocks noChangeArrowheads="1"/>
          </p:cNvSpPr>
          <p:nvPr/>
        </p:nvSpPr>
        <p:spPr bwMode="auto">
          <a:xfrm>
            <a:off x="1457325" y="1271588"/>
            <a:ext cx="17097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i="1"/>
              <a:t>E</a:t>
            </a:r>
            <a:r>
              <a:rPr lang="en-US" altLang="zh-CN" sz="3200" b="1"/>
              <a:t>(</a:t>
            </a:r>
            <a:r>
              <a:rPr lang="en-US" altLang="zh-CN" sz="3200" b="1" i="1"/>
              <a:t>X</a:t>
            </a:r>
            <a:r>
              <a:rPr lang="en-US" altLang="zh-CN" sz="3200" b="1" i="1" baseline="-25000"/>
              <a:t>i</a:t>
            </a:r>
            <a:r>
              <a:rPr lang="en-US" altLang="zh-CN" sz="3200" b="1"/>
              <a:t>)= </a:t>
            </a:r>
            <a:r>
              <a:rPr lang="en-US" altLang="zh-CN" sz="3200" b="1" i="1"/>
              <a:t>p</a:t>
            </a:r>
            <a:r>
              <a:rPr lang="en-US" altLang="zh-CN" sz="3200" b="1"/>
              <a:t>,</a:t>
            </a:r>
            <a:endParaRPr lang="en-US" altLang="zh-CN" sz="3200" b="1"/>
          </a:p>
        </p:txBody>
      </p:sp>
      <p:sp>
        <p:nvSpPr>
          <p:cNvPr id="304137" name="Rectangle 9"/>
          <p:cNvSpPr>
            <a:spLocks noChangeArrowheads="1"/>
          </p:cNvSpPr>
          <p:nvPr/>
        </p:nvSpPr>
        <p:spPr bwMode="auto">
          <a:xfrm>
            <a:off x="3136900" y="1271588"/>
            <a:ext cx="13255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b="1" i="1"/>
              <a:t>D</a:t>
            </a:r>
            <a:r>
              <a:rPr lang="en-US" altLang="zh-CN" sz="3200" b="1"/>
              <a:t>(</a:t>
            </a:r>
            <a:r>
              <a:rPr lang="en-US" altLang="zh-CN" sz="3200" b="1" i="1"/>
              <a:t>X</a:t>
            </a:r>
            <a:r>
              <a:rPr lang="en-US" altLang="zh-CN" sz="3200" b="1" i="1" baseline="-25000"/>
              <a:t>i</a:t>
            </a:r>
            <a:r>
              <a:rPr lang="en-US" altLang="zh-CN" sz="3200" b="1"/>
              <a:t>)=</a:t>
            </a:r>
            <a:endParaRPr lang="en-US" altLang="zh-CN" sz="3200" b="1" baseline="30000"/>
          </a:p>
        </p:txBody>
      </p:sp>
      <p:sp>
        <p:nvSpPr>
          <p:cNvPr id="304138" name="Rectangle 10"/>
          <p:cNvSpPr>
            <a:spLocks noChangeArrowheads="1"/>
          </p:cNvSpPr>
          <p:nvPr/>
        </p:nvSpPr>
        <p:spPr bwMode="auto">
          <a:xfrm>
            <a:off x="4114800" y="1271588"/>
            <a:ext cx="17065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b="1"/>
              <a:t> </a:t>
            </a:r>
            <a:r>
              <a:rPr lang="en-US" altLang="zh-CN" sz="3200" b="1" i="1"/>
              <a:t>p</a:t>
            </a:r>
            <a:r>
              <a:rPr lang="en-US" altLang="zh-CN" sz="3200" b="1"/>
              <a:t>(1- </a:t>
            </a:r>
            <a:r>
              <a:rPr lang="en-US" altLang="zh-CN" sz="3200" b="1" i="1"/>
              <a:t>p</a:t>
            </a:r>
            <a:r>
              <a:rPr lang="en-US" altLang="zh-CN" sz="3200" b="1"/>
              <a:t>)  ,</a:t>
            </a:r>
            <a:endParaRPr lang="en-US" altLang="zh-CN" sz="3200" b="1"/>
          </a:p>
        </p:txBody>
      </p:sp>
      <p:graphicFrame>
        <p:nvGraphicFramePr>
          <p:cNvPr id="60427" name="Object 11"/>
          <p:cNvGraphicFramePr>
            <a:graphicFrameLocks noChangeAspect="1"/>
          </p:cNvGraphicFramePr>
          <p:nvPr/>
        </p:nvGraphicFramePr>
        <p:xfrm>
          <a:off x="1524000" y="533400"/>
          <a:ext cx="3987800" cy="444500"/>
        </p:xfrm>
        <a:graphic>
          <a:graphicData uri="http://schemas.openxmlformats.org/presentationml/2006/ole">
            <mc:AlternateContent xmlns:mc="http://schemas.openxmlformats.org/markup-compatibility/2006">
              <mc:Choice xmlns:v="urn:schemas-microsoft-com:vml" Requires="v">
                <p:oleObj spid="_x0000_s60632" name="公式" r:id="rId3" imgW="3905250" imgH="365760" progId="Equation.3">
                  <p:embed/>
                </p:oleObj>
              </mc:Choice>
              <mc:Fallback>
                <p:oleObj name="公式" r:id="rId3" imgW="3905250" imgH="36576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533400"/>
                        <a:ext cx="39878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4140" name="Object 12"/>
          <p:cNvGraphicFramePr>
            <a:graphicFrameLocks noChangeAspect="1"/>
          </p:cNvGraphicFramePr>
          <p:nvPr/>
        </p:nvGraphicFramePr>
        <p:xfrm>
          <a:off x="2055813" y="2887663"/>
          <a:ext cx="4175125" cy="1074737"/>
        </p:xfrm>
        <a:graphic>
          <a:graphicData uri="http://schemas.openxmlformats.org/presentationml/2006/ole">
            <mc:AlternateContent xmlns:mc="http://schemas.openxmlformats.org/markup-compatibility/2006">
              <mc:Choice xmlns:v="urn:schemas-microsoft-com:vml" Requires="v">
                <p:oleObj spid="_x0000_s60633" name="公式" r:id="rId5" imgW="3276600" imgH="875665" progId="Equation.3">
                  <p:embed/>
                </p:oleObj>
              </mc:Choice>
              <mc:Fallback>
                <p:oleObj name="公式" r:id="rId5" imgW="3276600" imgH="875665"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5813" y="2887663"/>
                        <a:ext cx="4175125" cy="1074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4141" name="Object 13"/>
          <p:cNvGraphicFramePr>
            <a:graphicFrameLocks noChangeAspect="1"/>
          </p:cNvGraphicFramePr>
          <p:nvPr/>
        </p:nvGraphicFramePr>
        <p:xfrm>
          <a:off x="687388" y="4800600"/>
          <a:ext cx="2565400" cy="431800"/>
        </p:xfrm>
        <a:graphic>
          <a:graphicData uri="http://schemas.openxmlformats.org/presentationml/2006/ole">
            <mc:AlternateContent xmlns:mc="http://schemas.openxmlformats.org/markup-compatibility/2006">
              <mc:Choice xmlns:v="urn:schemas-microsoft-com:vml" Requires="v">
                <p:oleObj spid="_x0000_s60634" name="公式" r:id="rId7" imgW="2476500" imgH="346710" progId="Equation.3">
                  <p:embed/>
                </p:oleObj>
              </mc:Choice>
              <mc:Fallback>
                <p:oleObj name="公式" r:id="rId7" imgW="2476500" imgH="346710" progId="Equation.3">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7388" y="4800600"/>
                        <a:ext cx="25654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4142" name="Object 14"/>
          <p:cNvGraphicFramePr>
            <a:graphicFrameLocks noChangeAspect="1"/>
          </p:cNvGraphicFramePr>
          <p:nvPr/>
        </p:nvGraphicFramePr>
        <p:xfrm>
          <a:off x="1547813" y="5516563"/>
          <a:ext cx="5827712" cy="504825"/>
        </p:xfrm>
        <a:graphic>
          <a:graphicData uri="http://schemas.openxmlformats.org/presentationml/2006/ole">
            <mc:AlternateContent xmlns:mc="http://schemas.openxmlformats.org/markup-compatibility/2006">
              <mc:Choice xmlns:v="urn:schemas-microsoft-com:vml" Requires="v">
                <p:oleObj spid="_x0000_s60635" name="公式" r:id="rId9" imgW="4229100" imgH="307975" progId="Equation.3">
                  <p:embed/>
                </p:oleObj>
              </mc:Choice>
              <mc:Fallback>
                <p:oleObj name="公式" r:id="rId9" imgW="4229100" imgH="307975" progId="Equation.3">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7813" y="5516563"/>
                        <a:ext cx="5827712" cy="504825"/>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04136"/>
                                        </p:tgtEl>
                                        <p:attrNameLst>
                                          <p:attrName>style.visibility</p:attrName>
                                        </p:attrNameLst>
                                      </p:cBhvr>
                                      <p:to>
                                        <p:strVal val="visible"/>
                                      </p:to>
                                    </p:set>
                                    <p:anim calcmode="lin" valueType="num">
                                      <p:cBhvr additive="base">
                                        <p:cTn id="7" dur="500" fill="hold"/>
                                        <p:tgtEl>
                                          <p:spTgt spid="304136"/>
                                        </p:tgtEl>
                                        <p:attrNameLst>
                                          <p:attrName>ppt_x</p:attrName>
                                        </p:attrNameLst>
                                      </p:cBhvr>
                                      <p:tavLst>
                                        <p:tav tm="0">
                                          <p:val>
                                            <p:strVal val="0-#ppt_w/2"/>
                                          </p:val>
                                        </p:tav>
                                        <p:tav tm="100000">
                                          <p:val>
                                            <p:strVal val="#ppt_x"/>
                                          </p:val>
                                        </p:tav>
                                      </p:tavLst>
                                    </p:anim>
                                    <p:anim calcmode="lin" valueType="num">
                                      <p:cBhvr additive="base">
                                        <p:cTn id="8" dur="500" fill="hold"/>
                                        <p:tgtEl>
                                          <p:spTgt spid="30413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4137"/>
                                        </p:tgtEl>
                                        <p:attrNameLst>
                                          <p:attrName>style.visibility</p:attrName>
                                        </p:attrNameLst>
                                      </p:cBhvr>
                                      <p:to>
                                        <p:strVal val="visible"/>
                                      </p:to>
                                    </p:set>
                                    <p:anim calcmode="lin" valueType="num">
                                      <p:cBhvr additive="base">
                                        <p:cTn id="13" dur="500" fill="hold"/>
                                        <p:tgtEl>
                                          <p:spTgt spid="304137"/>
                                        </p:tgtEl>
                                        <p:attrNameLst>
                                          <p:attrName>ppt_x</p:attrName>
                                        </p:attrNameLst>
                                      </p:cBhvr>
                                      <p:tavLst>
                                        <p:tav tm="0">
                                          <p:val>
                                            <p:strVal val="0-#ppt_w/2"/>
                                          </p:val>
                                        </p:tav>
                                        <p:tav tm="100000">
                                          <p:val>
                                            <p:strVal val="#ppt_x"/>
                                          </p:val>
                                        </p:tav>
                                      </p:tavLst>
                                    </p:anim>
                                    <p:anim calcmode="lin" valueType="num">
                                      <p:cBhvr additive="base">
                                        <p:cTn id="14" dur="500" fill="hold"/>
                                        <p:tgtEl>
                                          <p:spTgt spid="30413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4138"/>
                                        </p:tgtEl>
                                        <p:attrNameLst>
                                          <p:attrName>style.visibility</p:attrName>
                                        </p:attrNameLst>
                                      </p:cBhvr>
                                      <p:to>
                                        <p:strVal val="visible"/>
                                      </p:to>
                                    </p:set>
                                    <p:anim calcmode="lin" valueType="num">
                                      <p:cBhvr additive="base">
                                        <p:cTn id="19" dur="500" fill="hold"/>
                                        <p:tgtEl>
                                          <p:spTgt spid="304138"/>
                                        </p:tgtEl>
                                        <p:attrNameLst>
                                          <p:attrName>ppt_x</p:attrName>
                                        </p:attrNameLst>
                                      </p:cBhvr>
                                      <p:tavLst>
                                        <p:tav tm="0">
                                          <p:val>
                                            <p:strVal val="0-#ppt_w/2"/>
                                          </p:val>
                                        </p:tav>
                                        <p:tav tm="100000">
                                          <p:val>
                                            <p:strVal val="#ppt_x"/>
                                          </p:val>
                                        </p:tav>
                                      </p:tavLst>
                                    </p:anim>
                                    <p:anim calcmode="lin" valueType="num">
                                      <p:cBhvr additive="base">
                                        <p:cTn id="20" dur="500" fill="hold"/>
                                        <p:tgtEl>
                                          <p:spTgt spid="30413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4131"/>
                                        </p:tgtEl>
                                        <p:attrNameLst>
                                          <p:attrName>style.visibility</p:attrName>
                                        </p:attrNameLst>
                                      </p:cBhvr>
                                      <p:to>
                                        <p:strVal val="visible"/>
                                      </p:to>
                                    </p:set>
                                    <p:anim calcmode="lin" valueType="num">
                                      <p:cBhvr additive="base">
                                        <p:cTn id="25" dur="500" fill="hold"/>
                                        <p:tgtEl>
                                          <p:spTgt spid="304131"/>
                                        </p:tgtEl>
                                        <p:attrNameLst>
                                          <p:attrName>ppt_x</p:attrName>
                                        </p:attrNameLst>
                                      </p:cBhvr>
                                      <p:tavLst>
                                        <p:tav tm="0">
                                          <p:val>
                                            <p:strVal val="0-#ppt_w/2"/>
                                          </p:val>
                                        </p:tav>
                                        <p:tav tm="100000">
                                          <p:val>
                                            <p:strVal val="#ppt_x"/>
                                          </p:val>
                                        </p:tav>
                                      </p:tavLst>
                                    </p:anim>
                                    <p:anim calcmode="lin" valueType="num">
                                      <p:cBhvr additive="base">
                                        <p:cTn id="26" dur="500" fill="hold"/>
                                        <p:tgtEl>
                                          <p:spTgt spid="304131"/>
                                        </p:tgtEl>
                                        <p:attrNameLst>
                                          <p:attrName>ppt_y</p:attrName>
                                        </p:attrNameLst>
                                      </p:cBhvr>
                                      <p:tavLst>
                                        <p:tav tm="0">
                                          <p:val>
                                            <p:strVal val="#ppt_y"/>
                                          </p:val>
                                        </p:tav>
                                        <p:tav tm="100000">
                                          <p:val>
                                            <p:strVal val="#ppt_y"/>
                                          </p:val>
                                        </p:tav>
                                      </p:tavLst>
                                    </p:anim>
                                  </p:childTnLst>
                                </p:cTn>
                              </p:par>
                            </p:childTnLst>
                          </p:cTn>
                        </p:par>
                        <p:par>
                          <p:cTn id="27" fill="hold">
                            <p:stCondLst>
                              <p:cond delay="500"/>
                            </p:stCondLst>
                            <p:childTnLst>
                              <p:par>
                                <p:cTn id="28" presetID="16" presetClass="entr" presetSubtype="37" fill="hold" grpId="0" nodeType="afterEffect">
                                  <p:stCondLst>
                                    <p:cond delay="0"/>
                                  </p:stCondLst>
                                  <p:childTnLst>
                                    <p:set>
                                      <p:cBhvr>
                                        <p:cTn id="29" dur="1" fill="hold">
                                          <p:stCondLst>
                                            <p:cond delay="0"/>
                                          </p:stCondLst>
                                        </p:cTn>
                                        <p:tgtEl>
                                          <p:spTgt spid="304133"/>
                                        </p:tgtEl>
                                        <p:attrNameLst>
                                          <p:attrName>style.visibility</p:attrName>
                                        </p:attrNameLst>
                                      </p:cBhvr>
                                      <p:to>
                                        <p:strVal val="visible"/>
                                      </p:to>
                                    </p:set>
                                    <p:animEffect transition="in" filter="barn(outVertical)">
                                      <p:cBhvr>
                                        <p:cTn id="30" dur="500"/>
                                        <p:tgtEl>
                                          <p:spTgt spid="304133"/>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304130"/>
                                        </p:tgtEl>
                                        <p:attrNameLst>
                                          <p:attrName>style.visibility</p:attrName>
                                        </p:attrNameLst>
                                      </p:cBhvr>
                                      <p:to>
                                        <p:strVal val="visible"/>
                                      </p:to>
                                    </p:set>
                                    <p:anim calcmode="lin" valueType="num">
                                      <p:cBhvr additive="base">
                                        <p:cTn id="35" dur="500" fill="hold"/>
                                        <p:tgtEl>
                                          <p:spTgt spid="304130"/>
                                        </p:tgtEl>
                                        <p:attrNameLst>
                                          <p:attrName>ppt_x</p:attrName>
                                        </p:attrNameLst>
                                      </p:cBhvr>
                                      <p:tavLst>
                                        <p:tav tm="0">
                                          <p:val>
                                            <p:strVal val="0-#ppt_w/2"/>
                                          </p:val>
                                        </p:tav>
                                        <p:tav tm="100000">
                                          <p:val>
                                            <p:strVal val="#ppt_x"/>
                                          </p:val>
                                        </p:tav>
                                      </p:tavLst>
                                    </p:anim>
                                    <p:anim calcmode="lin" valueType="num">
                                      <p:cBhvr additive="base">
                                        <p:cTn id="36" dur="500" fill="hold"/>
                                        <p:tgtEl>
                                          <p:spTgt spid="304130"/>
                                        </p:tgtEl>
                                        <p:attrNameLst>
                                          <p:attrName>ppt_y</p:attrName>
                                        </p:attrNameLst>
                                      </p:cBhvr>
                                      <p:tavLst>
                                        <p:tav tm="0">
                                          <p:val>
                                            <p:strVal val="#ppt_y"/>
                                          </p:val>
                                        </p:tav>
                                        <p:tav tm="100000">
                                          <p:val>
                                            <p:strVal val="#ppt_y"/>
                                          </p:val>
                                        </p:tav>
                                      </p:tavLst>
                                    </p:anim>
                                  </p:childTnLst>
                                </p:cTn>
                              </p:par>
                            </p:childTnLst>
                          </p:cTn>
                        </p:par>
                        <p:par>
                          <p:cTn id="37" fill="hold">
                            <p:stCondLst>
                              <p:cond delay="500"/>
                            </p:stCondLst>
                            <p:childTnLst>
                              <p:par>
                                <p:cTn id="38" presetID="2" presetClass="entr" presetSubtype="4" fill="hold" nodeType="afterEffect">
                                  <p:stCondLst>
                                    <p:cond delay="0"/>
                                  </p:stCondLst>
                                  <p:childTnLst>
                                    <p:set>
                                      <p:cBhvr>
                                        <p:cTn id="39" dur="1" fill="hold">
                                          <p:stCondLst>
                                            <p:cond delay="0"/>
                                          </p:stCondLst>
                                        </p:cTn>
                                        <p:tgtEl>
                                          <p:spTgt spid="304140"/>
                                        </p:tgtEl>
                                        <p:attrNameLst>
                                          <p:attrName>style.visibility</p:attrName>
                                        </p:attrNameLst>
                                      </p:cBhvr>
                                      <p:to>
                                        <p:strVal val="visible"/>
                                      </p:to>
                                    </p:set>
                                    <p:anim calcmode="lin" valueType="num">
                                      <p:cBhvr additive="base">
                                        <p:cTn id="40" dur="500" fill="hold"/>
                                        <p:tgtEl>
                                          <p:spTgt spid="304140"/>
                                        </p:tgtEl>
                                        <p:attrNameLst>
                                          <p:attrName>ppt_x</p:attrName>
                                        </p:attrNameLst>
                                      </p:cBhvr>
                                      <p:tavLst>
                                        <p:tav tm="0">
                                          <p:val>
                                            <p:strVal val="#ppt_x"/>
                                          </p:val>
                                        </p:tav>
                                        <p:tav tm="100000">
                                          <p:val>
                                            <p:strVal val="#ppt_x"/>
                                          </p:val>
                                        </p:tav>
                                      </p:tavLst>
                                    </p:anim>
                                    <p:anim calcmode="lin" valueType="num">
                                      <p:cBhvr additive="base">
                                        <p:cTn id="41" dur="500" fill="hold"/>
                                        <p:tgtEl>
                                          <p:spTgt spid="304140"/>
                                        </p:tgtEl>
                                        <p:attrNameLst>
                                          <p:attrName>ppt_y</p:attrName>
                                        </p:attrNameLst>
                                      </p:cBhvr>
                                      <p:tavLst>
                                        <p:tav tm="0">
                                          <p:val>
                                            <p:strVal val="1+#ppt_h/2"/>
                                          </p:val>
                                        </p:tav>
                                        <p:tav tm="100000">
                                          <p:val>
                                            <p:strVal val="#ppt_y"/>
                                          </p:val>
                                        </p:tav>
                                      </p:tavLst>
                                    </p:anim>
                                  </p:childTnLst>
                                </p:cTn>
                              </p:par>
                            </p:childTnLst>
                          </p:cTn>
                        </p:par>
                        <p:par>
                          <p:cTn id="42" fill="hold">
                            <p:stCondLst>
                              <p:cond delay="1000"/>
                            </p:stCondLst>
                            <p:childTnLst>
                              <p:par>
                                <p:cTn id="43" presetID="2" presetClass="entr" presetSubtype="4" fill="hold" nodeType="afterEffect">
                                  <p:stCondLst>
                                    <p:cond delay="0"/>
                                  </p:stCondLst>
                                  <p:childTnLst>
                                    <p:set>
                                      <p:cBhvr>
                                        <p:cTn id="44" dur="1" fill="hold">
                                          <p:stCondLst>
                                            <p:cond delay="0"/>
                                          </p:stCondLst>
                                        </p:cTn>
                                        <p:tgtEl>
                                          <p:spTgt spid="304134"/>
                                        </p:tgtEl>
                                        <p:attrNameLst>
                                          <p:attrName>style.visibility</p:attrName>
                                        </p:attrNameLst>
                                      </p:cBhvr>
                                      <p:to>
                                        <p:strVal val="visible"/>
                                      </p:to>
                                    </p:set>
                                    <p:anim calcmode="lin" valueType="num">
                                      <p:cBhvr additive="base">
                                        <p:cTn id="45" dur="500" fill="hold"/>
                                        <p:tgtEl>
                                          <p:spTgt spid="304134"/>
                                        </p:tgtEl>
                                        <p:attrNameLst>
                                          <p:attrName>ppt_x</p:attrName>
                                        </p:attrNameLst>
                                      </p:cBhvr>
                                      <p:tavLst>
                                        <p:tav tm="0">
                                          <p:val>
                                            <p:strVal val="#ppt_x"/>
                                          </p:val>
                                        </p:tav>
                                        <p:tav tm="100000">
                                          <p:val>
                                            <p:strVal val="#ppt_x"/>
                                          </p:val>
                                        </p:tav>
                                      </p:tavLst>
                                    </p:anim>
                                    <p:anim calcmode="lin" valueType="num">
                                      <p:cBhvr additive="base">
                                        <p:cTn id="46" dur="500" fill="hold"/>
                                        <p:tgtEl>
                                          <p:spTgt spid="304134"/>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304135"/>
                                        </p:tgtEl>
                                        <p:attrNameLst>
                                          <p:attrName>style.visibility</p:attrName>
                                        </p:attrNameLst>
                                      </p:cBhvr>
                                      <p:to>
                                        <p:strVal val="visible"/>
                                      </p:to>
                                    </p:set>
                                    <p:anim calcmode="lin" valueType="num">
                                      <p:cBhvr additive="base">
                                        <p:cTn id="51" dur="500" fill="hold"/>
                                        <p:tgtEl>
                                          <p:spTgt spid="304135"/>
                                        </p:tgtEl>
                                        <p:attrNameLst>
                                          <p:attrName>ppt_x</p:attrName>
                                        </p:attrNameLst>
                                      </p:cBhvr>
                                      <p:tavLst>
                                        <p:tav tm="0">
                                          <p:val>
                                            <p:strVal val="#ppt_x"/>
                                          </p:val>
                                        </p:tav>
                                        <p:tav tm="100000">
                                          <p:val>
                                            <p:strVal val="#ppt_x"/>
                                          </p:val>
                                        </p:tav>
                                      </p:tavLst>
                                    </p:anim>
                                    <p:anim calcmode="lin" valueType="num">
                                      <p:cBhvr additive="base">
                                        <p:cTn id="52" dur="500" fill="hold"/>
                                        <p:tgtEl>
                                          <p:spTgt spid="30413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304141"/>
                                        </p:tgtEl>
                                        <p:attrNameLst>
                                          <p:attrName>style.visibility</p:attrName>
                                        </p:attrNameLst>
                                      </p:cBhvr>
                                      <p:to>
                                        <p:strVal val="visible"/>
                                      </p:to>
                                    </p:set>
                                    <p:anim calcmode="lin" valueType="num">
                                      <p:cBhvr additive="base">
                                        <p:cTn id="57" dur="500" fill="hold"/>
                                        <p:tgtEl>
                                          <p:spTgt spid="304141"/>
                                        </p:tgtEl>
                                        <p:attrNameLst>
                                          <p:attrName>ppt_x</p:attrName>
                                        </p:attrNameLst>
                                      </p:cBhvr>
                                      <p:tavLst>
                                        <p:tav tm="0">
                                          <p:val>
                                            <p:strVal val="0-#ppt_w/2"/>
                                          </p:val>
                                        </p:tav>
                                        <p:tav tm="100000">
                                          <p:val>
                                            <p:strVal val="#ppt_x"/>
                                          </p:val>
                                        </p:tav>
                                      </p:tavLst>
                                    </p:anim>
                                    <p:anim calcmode="lin" valueType="num">
                                      <p:cBhvr additive="base">
                                        <p:cTn id="58" dur="500" fill="hold"/>
                                        <p:tgtEl>
                                          <p:spTgt spid="304141"/>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nodeType="clickEffect">
                                  <p:stCondLst>
                                    <p:cond delay="0"/>
                                  </p:stCondLst>
                                  <p:childTnLst>
                                    <p:set>
                                      <p:cBhvr>
                                        <p:cTn id="62" dur="1" fill="hold">
                                          <p:stCondLst>
                                            <p:cond delay="0"/>
                                          </p:stCondLst>
                                        </p:cTn>
                                        <p:tgtEl>
                                          <p:spTgt spid="304142"/>
                                        </p:tgtEl>
                                        <p:attrNameLst>
                                          <p:attrName>style.visibility</p:attrName>
                                        </p:attrNameLst>
                                      </p:cBhvr>
                                      <p:to>
                                        <p:strVal val="visible"/>
                                      </p:to>
                                    </p:set>
                                    <p:anim calcmode="lin" valueType="num">
                                      <p:cBhvr additive="base">
                                        <p:cTn id="63" dur="500" fill="hold"/>
                                        <p:tgtEl>
                                          <p:spTgt spid="304142"/>
                                        </p:tgtEl>
                                        <p:attrNameLst>
                                          <p:attrName>ppt_x</p:attrName>
                                        </p:attrNameLst>
                                      </p:cBhvr>
                                      <p:tavLst>
                                        <p:tav tm="0">
                                          <p:val>
                                            <p:strVal val="0-#ppt_w/2"/>
                                          </p:val>
                                        </p:tav>
                                        <p:tav tm="100000">
                                          <p:val>
                                            <p:strVal val="#ppt_x"/>
                                          </p:val>
                                        </p:tav>
                                      </p:tavLst>
                                    </p:anim>
                                    <p:anim calcmode="lin" valueType="num">
                                      <p:cBhvr additive="base">
                                        <p:cTn id="64" dur="500" fill="hold"/>
                                        <p:tgtEl>
                                          <p:spTgt spid="3041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0" grpId="0" autoUpdateAnimBg="0"/>
      <p:bldP spid="304131" grpId="0" autoUpdateAnimBg="0"/>
      <p:bldP spid="304133" grpId="0" autoUpdateAnimBg="0"/>
      <p:bldP spid="304135" grpId="0" autoUpdateAnimBg="0"/>
      <p:bldP spid="304136" grpId="0" autoUpdateAnimBg="0"/>
      <p:bldP spid="304137" grpId="0" autoUpdateAnimBg="0"/>
      <p:bldP spid="304138"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12"/>
          <p:cNvSpPr txBox="1">
            <a:spLocks noChangeArrowheads="1"/>
          </p:cNvSpPr>
          <p:nvPr/>
        </p:nvSpPr>
        <p:spPr bwMode="auto">
          <a:xfrm>
            <a:off x="914400" y="609600"/>
            <a:ext cx="5334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chemeClr val="tx2"/>
                </a:solidFill>
                <a:ea typeface="黑体" panose="02010609060101010101" pitchFamily="49" charset="-122"/>
              </a:rPr>
              <a:t>三、方差的性质</a:t>
            </a:r>
            <a:endParaRPr lang="zh-CN" altLang="en-US" sz="3200" b="1">
              <a:solidFill>
                <a:schemeClr val="tx2"/>
              </a:solidFill>
              <a:ea typeface="黑体" panose="02010609060101010101" pitchFamily="49" charset="-122"/>
            </a:endParaRPr>
          </a:p>
        </p:txBody>
      </p:sp>
      <p:sp>
        <p:nvSpPr>
          <p:cNvPr id="301069" name="Rectangle 13"/>
          <p:cNvSpPr>
            <a:spLocks noChangeArrowheads="1"/>
          </p:cNvSpPr>
          <p:nvPr/>
        </p:nvSpPr>
        <p:spPr bwMode="auto">
          <a:xfrm>
            <a:off x="592138" y="1462088"/>
            <a:ext cx="518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t>   1. </a:t>
            </a:r>
            <a:r>
              <a:rPr lang="zh-CN" altLang="en-US" sz="2800" b="1"/>
              <a:t>设</a:t>
            </a:r>
            <a:r>
              <a:rPr lang="en-US" altLang="zh-CN" sz="2800" b="1" i="1"/>
              <a:t>C </a:t>
            </a:r>
            <a:r>
              <a:rPr lang="zh-CN" altLang="en-US" sz="2800" b="1"/>
              <a:t>是常数</a:t>
            </a:r>
            <a:r>
              <a:rPr lang="en-US" altLang="zh-CN" sz="2800" b="1"/>
              <a:t>, </a:t>
            </a:r>
            <a:r>
              <a:rPr lang="zh-CN" altLang="en-US" sz="2800" b="1"/>
              <a:t>则 </a:t>
            </a:r>
            <a:r>
              <a:rPr lang="en-US" altLang="zh-CN" sz="2800" b="1" i="1"/>
              <a:t>D</a:t>
            </a:r>
            <a:r>
              <a:rPr lang="en-US" altLang="zh-CN" sz="2800" b="1"/>
              <a:t>(</a:t>
            </a:r>
            <a:r>
              <a:rPr lang="en-US" altLang="zh-CN" sz="2800" b="1" i="1"/>
              <a:t>C</a:t>
            </a:r>
            <a:r>
              <a:rPr lang="en-US" altLang="zh-CN" sz="2800" b="1"/>
              <a:t>)=0 ;</a:t>
            </a:r>
            <a:endParaRPr lang="en-US" altLang="zh-CN" sz="2800" b="1"/>
          </a:p>
        </p:txBody>
      </p:sp>
      <p:sp>
        <p:nvSpPr>
          <p:cNvPr id="301070" name="Rectangle 14"/>
          <p:cNvSpPr>
            <a:spLocks noChangeArrowheads="1"/>
          </p:cNvSpPr>
          <p:nvPr/>
        </p:nvSpPr>
        <p:spPr bwMode="auto">
          <a:xfrm>
            <a:off x="593725" y="2398713"/>
            <a:ext cx="7848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t>   2. </a:t>
            </a:r>
            <a:r>
              <a:rPr lang="zh-CN" altLang="en-US" sz="2800" b="1"/>
              <a:t>若 </a:t>
            </a:r>
            <a:r>
              <a:rPr lang="en-US" altLang="zh-CN" sz="2800" b="1" i="1"/>
              <a:t>C </a:t>
            </a:r>
            <a:r>
              <a:rPr lang="zh-CN" altLang="en-US" sz="2800" b="1"/>
              <a:t>是常数</a:t>
            </a:r>
            <a:r>
              <a:rPr lang="en-US" altLang="zh-CN" sz="2800" b="1"/>
              <a:t>, </a:t>
            </a:r>
            <a:r>
              <a:rPr lang="zh-CN" altLang="en-US" sz="2800" b="1"/>
              <a:t>则 </a:t>
            </a:r>
            <a:r>
              <a:rPr lang="en-US" altLang="zh-CN" sz="2800" b="1" i="1"/>
              <a:t>D</a:t>
            </a:r>
            <a:r>
              <a:rPr lang="en-US" altLang="zh-CN" sz="2800" b="1"/>
              <a:t>(</a:t>
            </a:r>
            <a:r>
              <a:rPr lang="en-US" altLang="zh-CN" sz="2800" b="1" i="1"/>
              <a:t>CX</a:t>
            </a:r>
            <a:r>
              <a:rPr lang="en-US" altLang="zh-CN" sz="2800" b="1"/>
              <a:t>)=</a:t>
            </a:r>
            <a:r>
              <a:rPr lang="en-US" altLang="zh-CN" sz="2800" b="1" i="1"/>
              <a:t>C</a:t>
            </a:r>
            <a:r>
              <a:rPr lang="en-US" altLang="zh-CN" sz="2800" b="1" baseline="30000"/>
              <a:t>2</a:t>
            </a:r>
            <a:r>
              <a:rPr lang="en-US" altLang="zh-CN" sz="2800" b="1"/>
              <a:t> </a:t>
            </a:r>
            <a:r>
              <a:rPr lang="en-US" altLang="zh-CN" sz="2800" b="1" i="1"/>
              <a:t>D</a:t>
            </a:r>
            <a:r>
              <a:rPr lang="en-US" altLang="zh-CN" sz="2800" b="1"/>
              <a:t>(</a:t>
            </a:r>
            <a:r>
              <a:rPr lang="en-US" altLang="zh-CN" sz="2800" b="1" i="1"/>
              <a:t>X</a:t>
            </a:r>
            <a:r>
              <a:rPr lang="en-US" altLang="zh-CN" sz="2800" b="1"/>
              <a:t>) ;</a:t>
            </a:r>
            <a:endParaRPr lang="en-US" altLang="zh-CN" sz="2800" b="1"/>
          </a:p>
        </p:txBody>
      </p:sp>
      <p:sp>
        <p:nvSpPr>
          <p:cNvPr id="301071" name="Rectangle 15"/>
          <p:cNvSpPr>
            <a:spLocks noChangeArrowheads="1"/>
          </p:cNvSpPr>
          <p:nvPr/>
        </p:nvSpPr>
        <p:spPr bwMode="auto">
          <a:xfrm>
            <a:off x="592138" y="3071813"/>
            <a:ext cx="7848600"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65000"/>
              </a:lnSpc>
            </a:pPr>
            <a:r>
              <a:rPr lang="en-US" altLang="zh-CN" sz="2800" b="1"/>
              <a:t>   3. </a:t>
            </a:r>
            <a:r>
              <a:rPr lang="zh-CN" altLang="en-US" sz="2800" b="1"/>
              <a:t>设 </a:t>
            </a:r>
            <a:r>
              <a:rPr lang="en-US" altLang="zh-CN" sz="2800" b="1" i="1"/>
              <a:t>X </a:t>
            </a:r>
            <a:r>
              <a:rPr lang="zh-CN" altLang="en-US" sz="2800" b="1"/>
              <a:t>与 </a:t>
            </a:r>
            <a:r>
              <a:rPr lang="en-US" altLang="zh-CN" sz="2800" b="1" i="1"/>
              <a:t>Y </a:t>
            </a:r>
            <a:r>
              <a:rPr lang="zh-CN" altLang="en-US" sz="2800" b="1"/>
              <a:t>是两个随机变量，则</a:t>
            </a:r>
            <a:endParaRPr lang="zh-CN" altLang="en-US" sz="2800" b="1"/>
          </a:p>
          <a:p>
            <a:pPr eaLnBrk="1" hangingPunct="1">
              <a:lnSpc>
                <a:spcPct val="165000"/>
              </a:lnSpc>
            </a:pPr>
            <a:r>
              <a:rPr lang="zh-CN" altLang="en-US" sz="2800" b="1" i="1"/>
              <a:t>      </a:t>
            </a:r>
            <a:r>
              <a:rPr lang="en-US" altLang="zh-CN" sz="2800" b="1" i="1"/>
              <a:t>D</a:t>
            </a:r>
            <a:r>
              <a:rPr lang="en-US" altLang="zh-CN" sz="2800" b="1"/>
              <a:t>(</a:t>
            </a:r>
            <a:r>
              <a:rPr lang="en-US" altLang="zh-CN" sz="2800" b="1" i="1"/>
              <a:t>X</a:t>
            </a:r>
            <a:r>
              <a:rPr lang="en-US" altLang="zh-CN" sz="2800" b="1"/>
              <a:t>+</a:t>
            </a:r>
            <a:r>
              <a:rPr lang="en-US" altLang="zh-CN" sz="2800" b="1" i="1"/>
              <a:t>Y</a:t>
            </a:r>
            <a:r>
              <a:rPr lang="en-US" altLang="zh-CN" sz="2800" b="1"/>
              <a:t>)= </a:t>
            </a:r>
            <a:r>
              <a:rPr lang="en-US" altLang="zh-CN" sz="2800" b="1" i="1"/>
              <a:t>D</a:t>
            </a:r>
            <a:r>
              <a:rPr lang="en-US" altLang="zh-CN" sz="2800" b="1"/>
              <a:t>(</a:t>
            </a:r>
            <a:r>
              <a:rPr lang="en-US" altLang="zh-CN" sz="2800" b="1" i="1"/>
              <a:t>X</a:t>
            </a:r>
            <a:r>
              <a:rPr lang="en-US" altLang="zh-CN" sz="2800" b="1"/>
              <a:t>)+</a:t>
            </a:r>
            <a:r>
              <a:rPr lang="en-US" altLang="zh-CN" sz="2800" b="1" i="1"/>
              <a:t>D</a:t>
            </a:r>
            <a:r>
              <a:rPr lang="en-US" altLang="zh-CN" sz="2800" b="1"/>
              <a:t>(</a:t>
            </a:r>
            <a:r>
              <a:rPr lang="en-US" altLang="zh-CN" sz="2800" b="1" i="1"/>
              <a:t>Y</a:t>
            </a:r>
            <a:r>
              <a:rPr lang="en-US" altLang="zh-CN" sz="2800" b="1"/>
              <a:t>)+2</a:t>
            </a:r>
            <a:r>
              <a:rPr lang="en-US" altLang="zh-CN" sz="2800" b="1" i="1"/>
              <a:t>E</a:t>
            </a:r>
            <a:r>
              <a:rPr lang="en-US" altLang="zh-CN" sz="2800" b="1"/>
              <a:t>{[</a:t>
            </a:r>
            <a:r>
              <a:rPr lang="en-US" altLang="zh-CN" sz="2800" b="1" i="1"/>
              <a:t>X</a:t>
            </a:r>
            <a:r>
              <a:rPr lang="en-US" altLang="zh-CN" sz="2800" b="1"/>
              <a:t>-</a:t>
            </a:r>
            <a:r>
              <a:rPr lang="en-US" altLang="zh-CN" sz="2800" b="1" i="1"/>
              <a:t>E</a:t>
            </a:r>
            <a:r>
              <a:rPr lang="en-US" altLang="zh-CN" sz="2800" b="1"/>
              <a:t>(</a:t>
            </a:r>
            <a:r>
              <a:rPr lang="en-US" altLang="zh-CN" sz="2800" b="1" i="1"/>
              <a:t>X</a:t>
            </a:r>
            <a:r>
              <a:rPr lang="en-US" altLang="zh-CN" sz="2800" b="1"/>
              <a:t>)][</a:t>
            </a:r>
            <a:r>
              <a:rPr lang="en-US" altLang="zh-CN" sz="2800" b="1" i="1"/>
              <a:t>Y</a:t>
            </a:r>
            <a:r>
              <a:rPr lang="en-US" altLang="zh-CN" sz="2800" b="1"/>
              <a:t>-</a:t>
            </a:r>
            <a:r>
              <a:rPr lang="en-US" altLang="zh-CN" sz="2800" b="1" i="1"/>
              <a:t>E</a:t>
            </a:r>
            <a:r>
              <a:rPr lang="en-US" altLang="zh-CN" sz="2800" b="1"/>
              <a:t>(</a:t>
            </a:r>
            <a:r>
              <a:rPr lang="en-US" altLang="zh-CN" sz="2800" b="1" i="1"/>
              <a:t>Y</a:t>
            </a:r>
            <a:r>
              <a:rPr lang="en-US" altLang="zh-CN" sz="2800" b="1"/>
              <a:t>)]}</a:t>
            </a:r>
            <a:endParaRPr lang="en-US" altLang="zh-CN" sz="2800" b="1"/>
          </a:p>
        </p:txBody>
      </p:sp>
      <p:grpSp>
        <p:nvGrpSpPr>
          <p:cNvPr id="2" name="Group 16"/>
          <p:cNvGrpSpPr/>
          <p:nvPr/>
        </p:nvGrpSpPr>
        <p:grpSpPr bwMode="auto">
          <a:xfrm>
            <a:off x="520700" y="4953000"/>
            <a:ext cx="8153400" cy="557213"/>
            <a:chOff x="288" y="705"/>
            <a:chExt cx="5136" cy="351"/>
          </a:xfrm>
        </p:grpSpPr>
        <p:sp>
          <p:nvSpPr>
            <p:cNvPr id="57353" name="Rectangle 17"/>
            <p:cNvSpPr>
              <a:spLocks noChangeArrowheads="1"/>
            </p:cNvSpPr>
            <p:nvPr/>
          </p:nvSpPr>
          <p:spPr bwMode="auto">
            <a:xfrm>
              <a:off x="288" y="705"/>
              <a:ext cx="513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chemeClr val="tx2"/>
                  </a:solidFill>
                </a:rPr>
                <a:t>    </a:t>
              </a:r>
              <a:r>
                <a:rPr lang="en-US" altLang="zh-CN" sz="2800" b="1"/>
                <a:t>4.</a:t>
              </a:r>
              <a:r>
                <a:rPr lang="en-US" altLang="zh-CN" sz="2800" b="1">
                  <a:solidFill>
                    <a:schemeClr val="tx2"/>
                  </a:solidFill>
                </a:rPr>
                <a:t> </a:t>
              </a:r>
              <a:r>
                <a:rPr lang="en-US" altLang="zh-CN" sz="2800" b="1" i="1"/>
                <a:t>D</a:t>
              </a:r>
              <a:r>
                <a:rPr lang="en-US" altLang="zh-CN" sz="2800" b="1"/>
                <a:t>(</a:t>
              </a:r>
              <a:r>
                <a:rPr lang="en-US" altLang="zh-CN" sz="2800" b="1" i="1"/>
                <a:t>X</a:t>
              </a:r>
              <a:r>
                <a:rPr lang="en-US" altLang="zh-CN" sz="2800" b="1"/>
                <a:t>)=0              </a:t>
              </a:r>
              <a:r>
                <a:rPr lang="en-US" altLang="zh-CN" sz="2800" b="1" i="1"/>
                <a:t>P</a:t>
              </a:r>
              <a:r>
                <a:rPr lang="en-US" altLang="zh-CN" sz="2800" b="1"/>
                <a:t>{</a:t>
              </a:r>
              <a:r>
                <a:rPr lang="en-US" altLang="zh-CN" sz="2800" b="1" i="1"/>
                <a:t>X</a:t>
              </a:r>
              <a:r>
                <a:rPr lang="en-US" altLang="zh-CN" sz="2800" b="1"/>
                <a:t>= </a:t>
              </a:r>
              <a:r>
                <a:rPr lang="en-US" altLang="zh-CN" sz="2800" b="1" i="1"/>
                <a:t>C</a:t>
              </a:r>
              <a:r>
                <a:rPr lang="en-US" altLang="zh-CN" sz="2800" b="1"/>
                <a:t>}=1 ,</a:t>
              </a:r>
              <a:endParaRPr lang="en-US" altLang="zh-CN" sz="2800" b="1"/>
            </a:p>
          </p:txBody>
        </p:sp>
        <p:graphicFrame>
          <p:nvGraphicFramePr>
            <p:cNvPr id="57354" name="Object 18"/>
            <p:cNvGraphicFramePr>
              <a:graphicFrameLocks noChangeAspect="1"/>
            </p:cNvGraphicFramePr>
            <p:nvPr/>
          </p:nvGraphicFramePr>
          <p:xfrm>
            <a:off x="1675" y="729"/>
            <a:ext cx="437" cy="327"/>
          </p:xfrm>
          <a:graphic>
            <a:graphicData uri="http://schemas.openxmlformats.org/presentationml/2006/ole">
              <mc:AlternateContent xmlns:mc="http://schemas.openxmlformats.org/markup-compatibility/2006">
                <mc:Choice xmlns:v="urn:schemas-microsoft-com:vml" Requires="v">
                  <p:oleObj spid="_x0000_s57435" name="公式" r:id="rId1" imgW="114300" imgH="67310" progId="Equation.3">
                    <p:embed/>
                  </p:oleObj>
                </mc:Choice>
                <mc:Fallback>
                  <p:oleObj name="公式" r:id="rId1" imgW="114300" imgH="67310" progId="Equation.3">
                    <p:embed/>
                    <p:pic>
                      <p:nvPicPr>
                        <p:cNvPr id="0" name="Object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5" y="729"/>
                          <a:ext cx="437"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01075" name="Text Box 19"/>
          <p:cNvSpPr txBox="1">
            <a:spLocks noChangeArrowheads="1"/>
          </p:cNvSpPr>
          <p:nvPr/>
        </p:nvSpPr>
        <p:spPr bwMode="auto">
          <a:xfrm>
            <a:off x="5561013" y="4918075"/>
            <a:ext cx="20939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这里</a:t>
            </a:r>
            <a:r>
              <a:rPr lang="en-US" altLang="zh-CN" sz="2800" b="1"/>
              <a:t>C=E(X)</a:t>
            </a:r>
            <a:endParaRPr lang="en-US" altLang="zh-CN" sz="2800" b="1"/>
          </a:p>
        </p:txBody>
      </p:sp>
      <p:graphicFrame>
        <p:nvGraphicFramePr>
          <p:cNvPr id="301076" name="Object 20"/>
          <p:cNvGraphicFramePr>
            <a:graphicFrameLocks noChangeAspect="1"/>
          </p:cNvGraphicFramePr>
          <p:nvPr/>
        </p:nvGraphicFramePr>
        <p:xfrm>
          <a:off x="2667000" y="4953000"/>
          <a:ext cx="914400" cy="646113"/>
        </p:xfrm>
        <a:graphic>
          <a:graphicData uri="http://schemas.openxmlformats.org/presentationml/2006/ole">
            <mc:AlternateContent xmlns:mc="http://schemas.openxmlformats.org/markup-compatibility/2006">
              <mc:Choice xmlns:v="urn:schemas-microsoft-com:vml" Requires="v">
                <p:oleObj spid="_x0000_s57436" name="Equation" r:id="rId3" imgW="215900" imgH="152400" progId="Equation.3">
                  <p:embed/>
                </p:oleObj>
              </mc:Choice>
              <mc:Fallback>
                <p:oleObj name="Equation" r:id="rId3" imgW="215900" imgH="152400" progId="Equation.3">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4953000"/>
                        <a:ext cx="914400" cy="646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1069"/>
                                        </p:tgtEl>
                                        <p:attrNameLst>
                                          <p:attrName>style.visibility</p:attrName>
                                        </p:attrNameLst>
                                      </p:cBhvr>
                                      <p:to>
                                        <p:strVal val="visible"/>
                                      </p:to>
                                    </p:set>
                                    <p:anim calcmode="lin" valueType="num">
                                      <p:cBhvr additive="base">
                                        <p:cTn id="7" dur="500" fill="hold"/>
                                        <p:tgtEl>
                                          <p:spTgt spid="301069"/>
                                        </p:tgtEl>
                                        <p:attrNameLst>
                                          <p:attrName>ppt_x</p:attrName>
                                        </p:attrNameLst>
                                      </p:cBhvr>
                                      <p:tavLst>
                                        <p:tav tm="0">
                                          <p:val>
                                            <p:strVal val="#ppt_x"/>
                                          </p:val>
                                        </p:tav>
                                        <p:tav tm="100000">
                                          <p:val>
                                            <p:strVal val="#ppt_x"/>
                                          </p:val>
                                        </p:tav>
                                      </p:tavLst>
                                    </p:anim>
                                    <p:anim calcmode="lin" valueType="num">
                                      <p:cBhvr additive="base">
                                        <p:cTn id="8" dur="500" fill="hold"/>
                                        <p:tgtEl>
                                          <p:spTgt spid="30106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1070"/>
                                        </p:tgtEl>
                                        <p:attrNameLst>
                                          <p:attrName>style.visibility</p:attrName>
                                        </p:attrNameLst>
                                      </p:cBhvr>
                                      <p:to>
                                        <p:strVal val="visible"/>
                                      </p:to>
                                    </p:set>
                                    <p:anim calcmode="lin" valueType="num">
                                      <p:cBhvr additive="base">
                                        <p:cTn id="13" dur="500" fill="hold"/>
                                        <p:tgtEl>
                                          <p:spTgt spid="301070"/>
                                        </p:tgtEl>
                                        <p:attrNameLst>
                                          <p:attrName>ppt_x</p:attrName>
                                        </p:attrNameLst>
                                      </p:cBhvr>
                                      <p:tavLst>
                                        <p:tav tm="0">
                                          <p:val>
                                            <p:strVal val="#ppt_x"/>
                                          </p:val>
                                        </p:tav>
                                        <p:tav tm="100000">
                                          <p:val>
                                            <p:strVal val="#ppt_x"/>
                                          </p:val>
                                        </p:tav>
                                      </p:tavLst>
                                    </p:anim>
                                    <p:anim calcmode="lin" valueType="num">
                                      <p:cBhvr additive="base">
                                        <p:cTn id="14" dur="500" fill="hold"/>
                                        <p:tgtEl>
                                          <p:spTgt spid="30107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01071"/>
                                        </p:tgtEl>
                                        <p:attrNameLst>
                                          <p:attrName>style.visibility</p:attrName>
                                        </p:attrNameLst>
                                      </p:cBhvr>
                                      <p:to>
                                        <p:strVal val="visible"/>
                                      </p:to>
                                    </p:set>
                                    <p:anim calcmode="lin" valueType="num">
                                      <p:cBhvr additive="base">
                                        <p:cTn id="19" dur="500" fill="hold"/>
                                        <p:tgtEl>
                                          <p:spTgt spid="301071"/>
                                        </p:tgtEl>
                                        <p:attrNameLst>
                                          <p:attrName>ppt_x</p:attrName>
                                        </p:attrNameLst>
                                      </p:cBhvr>
                                      <p:tavLst>
                                        <p:tav tm="0">
                                          <p:val>
                                            <p:strVal val="#ppt_x"/>
                                          </p:val>
                                        </p:tav>
                                        <p:tav tm="100000">
                                          <p:val>
                                            <p:strVal val="#ppt_x"/>
                                          </p:val>
                                        </p:tav>
                                      </p:tavLst>
                                    </p:anim>
                                    <p:anim calcmode="lin" valueType="num">
                                      <p:cBhvr additive="base">
                                        <p:cTn id="20" dur="500" fill="hold"/>
                                        <p:tgtEl>
                                          <p:spTgt spid="30107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301076"/>
                                        </p:tgtEl>
                                        <p:attrNameLst>
                                          <p:attrName>style.visibility</p:attrName>
                                        </p:attrNameLst>
                                      </p:cBhvr>
                                      <p:to>
                                        <p:strVal val="visible"/>
                                      </p:to>
                                    </p:set>
                                    <p:anim calcmode="lin" valueType="num">
                                      <p:cBhvr additive="base">
                                        <p:cTn id="31" dur="500" fill="hold"/>
                                        <p:tgtEl>
                                          <p:spTgt spid="301076"/>
                                        </p:tgtEl>
                                        <p:attrNameLst>
                                          <p:attrName>ppt_x</p:attrName>
                                        </p:attrNameLst>
                                      </p:cBhvr>
                                      <p:tavLst>
                                        <p:tav tm="0">
                                          <p:val>
                                            <p:strVal val="0-#ppt_w/2"/>
                                          </p:val>
                                        </p:tav>
                                        <p:tav tm="100000">
                                          <p:val>
                                            <p:strVal val="#ppt_x"/>
                                          </p:val>
                                        </p:tav>
                                      </p:tavLst>
                                    </p:anim>
                                    <p:anim calcmode="lin" valueType="num">
                                      <p:cBhvr additive="base">
                                        <p:cTn id="32" dur="500" fill="hold"/>
                                        <p:tgtEl>
                                          <p:spTgt spid="30107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01075"/>
                                        </p:tgtEl>
                                        <p:attrNameLst>
                                          <p:attrName>style.visibility</p:attrName>
                                        </p:attrNameLst>
                                      </p:cBhvr>
                                      <p:to>
                                        <p:strVal val="visible"/>
                                      </p:to>
                                    </p:set>
                                    <p:anim calcmode="lin" valueType="num">
                                      <p:cBhvr additive="base">
                                        <p:cTn id="37" dur="500" fill="hold"/>
                                        <p:tgtEl>
                                          <p:spTgt spid="301075"/>
                                        </p:tgtEl>
                                        <p:attrNameLst>
                                          <p:attrName>ppt_x</p:attrName>
                                        </p:attrNameLst>
                                      </p:cBhvr>
                                      <p:tavLst>
                                        <p:tav tm="0">
                                          <p:val>
                                            <p:strVal val="#ppt_x"/>
                                          </p:val>
                                        </p:tav>
                                        <p:tav tm="100000">
                                          <p:val>
                                            <p:strVal val="#ppt_x"/>
                                          </p:val>
                                        </p:tav>
                                      </p:tavLst>
                                    </p:anim>
                                    <p:anim calcmode="lin" valueType="num">
                                      <p:cBhvr additive="base">
                                        <p:cTn id="38" dur="500" fill="hold"/>
                                        <p:tgtEl>
                                          <p:spTgt spid="3010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69" grpId="0" autoUpdateAnimBg="0"/>
      <p:bldP spid="301070" grpId="0" autoUpdateAnimBg="0"/>
      <p:bldP spid="301071" grpId="0" autoUpdateAnimBg="0"/>
      <p:bldP spid="301075"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533400" y="304800"/>
            <a:ext cx="4953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rgbClr val="003399"/>
                </a:solidFill>
                <a:ea typeface="黑体" panose="02010609060101010101" pitchFamily="49" charset="-122"/>
              </a:rPr>
              <a:t>四、切比雪夫不等式</a:t>
            </a:r>
            <a:endParaRPr lang="zh-CN" altLang="en-US" sz="3200" b="1">
              <a:solidFill>
                <a:srgbClr val="003399"/>
              </a:solidFill>
              <a:ea typeface="黑体" panose="02010609060101010101" pitchFamily="49" charset="-122"/>
            </a:endParaRPr>
          </a:p>
        </p:txBody>
      </p:sp>
      <p:sp>
        <p:nvSpPr>
          <p:cNvPr id="309251" name="Rectangle 3"/>
          <p:cNvSpPr>
            <a:spLocks noChangeArrowheads="1"/>
          </p:cNvSpPr>
          <p:nvPr/>
        </p:nvSpPr>
        <p:spPr bwMode="auto">
          <a:xfrm>
            <a:off x="639763" y="3182938"/>
            <a:ext cx="541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或</a:t>
            </a:r>
            <a:endParaRPr lang="zh-CN" altLang="en-US" sz="2800" b="1"/>
          </a:p>
        </p:txBody>
      </p:sp>
      <p:grpSp>
        <p:nvGrpSpPr>
          <p:cNvPr id="2" name="Group 4"/>
          <p:cNvGrpSpPr/>
          <p:nvPr/>
        </p:nvGrpSpPr>
        <p:grpSpPr bwMode="auto">
          <a:xfrm>
            <a:off x="533400" y="4381500"/>
            <a:ext cx="7777163" cy="1758950"/>
            <a:chOff x="340" y="3048"/>
            <a:chExt cx="4899" cy="1108"/>
          </a:xfrm>
        </p:grpSpPr>
        <p:sp>
          <p:nvSpPr>
            <p:cNvPr id="66568" name="Rectangle 5"/>
            <p:cNvSpPr>
              <a:spLocks noChangeArrowheads="1"/>
            </p:cNvSpPr>
            <p:nvPr/>
          </p:nvSpPr>
          <p:spPr bwMode="auto">
            <a:xfrm>
              <a:off x="340" y="3048"/>
              <a:ext cx="4899" cy="1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en-US" altLang="zh-CN" sz="2800" b="1"/>
                <a:t>     </a:t>
              </a:r>
              <a:r>
                <a:rPr lang="zh-CN" altLang="en-US" sz="2800" b="1"/>
                <a:t>由切比雪夫不等式可以看出，若      越小，则事件</a:t>
              </a:r>
              <a:r>
                <a:rPr lang="en-US" altLang="zh-CN" sz="2800" b="1"/>
                <a:t>{|</a:t>
              </a:r>
              <a:r>
                <a:rPr lang="en-US" altLang="zh-CN" sz="2800" b="1" i="1"/>
                <a:t>X</a:t>
              </a:r>
              <a:r>
                <a:rPr lang="en-US" altLang="zh-CN" sz="2800" b="1"/>
                <a:t>-</a:t>
              </a:r>
              <a:r>
                <a:rPr lang="en-US" altLang="zh-CN" sz="2800" b="1" i="1"/>
                <a:t>E</a:t>
              </a:r>
              <a:r>
                <a:rPr lang="en-US" altLang="zh-CN" sz="2800" b="1"/>
                <a:t>(</a:t>
              </a:r>
              <a:r>
                <a:rPr lang="en-US" altLang="zh-CN" sz="2800" b="1" i="1"/>
                <a:t>X</a:t>
              </a:r>
              <a:r>
                <a:rPr lang="en-US" altLang="zh-CN" sz="2800" b="1"/>
                <a:t>)|&lt;    }</a:t>
              </a:r>
              <a:r>
                <a:rPr lang="zh-CN" altLang="zh-CN" sz="2800" b="1"/>
                <a:t>的概率越大，即</a:t>
              </a:r>
              <a:r>
                <a:rPr lang="zh-CN" altLang="en-US" sz="2800" b="1"/>
                <a:t>随机变量</a:t>
              </a:r>
              <a:r>
                <a:rPr lang="en-US" altLang="zh-CN" sz="2800" b="1" i="1"/>
                <a:t>X </a:t>
              </a:r>
              <a:r>
                <a:rPr lang="zh-CN" altLang="en-US" sz="2800" b="1"/>
                <a:t>集中在期望附近的可能性越大</a:t>
              </a:r>
              <a:r>
                <a:rPr lang="zh-CN" altLang="zh-CN" sz="2800" b="1"/>
                <a:t>.</a:t>
              </a:r>
              <a:endParaRPr lang="en-US" altLang="zh-CN" sz="2800" b="1"/>
            </a:p>
          </p:txBody>
        </p:sp>
        <p:graphicFrame>
          <p:nvGraphicFramePr>
            <p:cNvPr id="66569" name="Object 6"/>
            <p:cNvGraphicFramePr>
              <a:graphicFrameLocks noChangeAspect="1"/>
            </p:cNvGraphicFramePr>
            <p:nvPr/>
          </p:nvGraphicFramePr>
          <p:xfrm>
            <a:off x="3833" y="3067"/>
            <a:ext cx="347" cy="348"/>
          </p:xfrm>
          <a:graphic>
            <a:graphicData uri="http://schemas.openxmlformats.org/presentationml/2006/ole">
              <mc:AlternateContent xmlns:mc="http://schemas.openxmlformats.org/markup-compatibility/2006">
                <mc:Choice xmlns:v="urn:schemas-microsoft-com:vml" Requires="v">
                  <p:oleObj spid="_x0000_s66771" name="公式" r:id="rId1" imgW="114300" imgH="115570" progId="Equation.3">
                    <p:embed/>
                  </p:oleObj>
                </mc:Choice>
                <mc:Fallback>
                  <p:oleObj name="公式" r:id="rId1" imgW="114300" imgH="11557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3" y="3067"/>
                          <a:ext cx="347" cy="3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70" name="Object 7"/>
            <p:cNvGraphicFramePr>
              <a:graphicFrameLocks noChangeAspect="1"/>
            </p:cNvGraphicFramePr>
            <p:nvPr/>
          </p:nvGraphicFramePr>
          <p:xfrm>
            <a:off x="1816" y="3521"/>
            <a:ext cx="248" cy="276"/>
          </p:xfrm>
          <a:graphic>
            <a:graphicData uri="http://schemas.openxmlformats.org/presentationml/2006/ole">
              <mc:AlternateContent xmlns:mc="http://schemas.openxmlformats.org/markup-compatibility/2006">
                <mc:Choice xmlns:v="urn:schemas-microsoft-com:vml" Requires="v">
                  <p:oleObj spid="_x0000_s66772" name="公式" r:id="rId3" imgW="38100" imgH="57785" progId="Equation.3">
                    <p:embed/>
                  </p:oleObj>
                </mc:Choice>
                <mc:Fallback>
                  <p:oleObj name="公式" r:id="rId3" imgW="38100" imgH="57785"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6" y="3521"/>
                          <a:ext cx="248"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09256" name="Object 8"/>
          <p:cNvGraphicFramePr>
            <a:graphicFrameLocks noChangeAspect="1"/>
          </p:cNvGraphicFramePr>
          <p:nvPr/>
        </p:nvGraphicFramePr>
        <p:xfrm>
          <a:off x="1528763" y="3046413"/>
          <a:ext cx="4953000" cy="1174750"/>
        </p:xfrm>
        <a:graphic>
          <a:graphicData uri="http://schemas.openxmlformats.org/presentationml/2006/ole">
            <mc:AlternateContent xmlns:mc="http://schemas.openxmlformats.org/markup-compatibility/2006">
              <mc:Choice xmlns:v="urn:schemas-microsoft-com:vml" Requires="v">
                <p:oleObj spid="_x0000_s66773" name="公式" r:id="rId5" imgW="1676400" imgH="337185" progId="Equation.3">
                  <p:embed/>
                </p:oleObj>
              </mc:Choice>
              <mc:Fallback>
                <p:oleObj name="公式" r:id="rId5" imgW="1676400" imgH="337185"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8763" y="3046413"/>
                        <a:ext cx="4953000"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9257" name="Object 9"/>
          <p:cNvGraphicFramePr>
            <a:graphicFrameLocks noChangeAspect="1"/>
          </p:cNvGraphicFramePr>
          <p:nvPr/>
        </p:nvGraphicFramePr>
        <p:xfrm>
          <a:off x="1757363" y="2157413"/>
          <a:ext cx="4418012" cy="1174750"/>
        </p:xfrm>
        <a:graphic>
          <a:graphicData uri="http://schemas.openxmlformats.org/presentationml/2006/ole">
            <mc:AlternateContent xmlns:mc="http://schemas.openxmlformats.org/markup-compatibility/2006">
              <mc:Choice xmlns:v="urn:schemas-microsoft-com:vml" Requires="v">
                <p:oleObj spid="_x0000_s66774" name="公式" r:id="rId7" imgW="1485900" imgH="337185" progId="Equation.3">
                  <p:embed/>
                </p:oleObj>
              </mc:Choice>
              <mc:Fallback>
                <p:oleObj name="公式" r:id="rId7" imgW="1485900" imgH="337185"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7363" y="2157413"/>
                        <a:ext cx="4418012"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9258" name="Object 10"/>
          <p:cNvGraphicFramePr>
            <a:graphicFrameLocks noChangeAspect="1"/>
          </p:cNvGraphicFramePr>
          <p:nvPr/>
        </p:nvGraphicFramePr>
        <p:xfrm>
          <a:off x="538163" y="1243013"/>
          <a:ext cx="7391400" cy="990600"/>
        </p:xfrm>
        <a:graphic>
          <a:graphicData uri="http://schemas.openxmlformats.org/presentationml/2006/ole">
            <mc:AlternateContent xmlns:mc="http://schemas.openxmlformats.org/markup-compatibility/2006">
              <mc:Choice xmlns:v="urn:schemas-microsoft-com:vml" Requires="v">
                <p:oleObj spid="_x0000_s66775" name="Equation" r:id="rId9" imgW="7305675" imgH="914400" progId="Equation.3">
                  <p:embed/>
                </p:oleObj>
              </mc:Choice>
              <mc:Fallback>
                <p:oleObj name="Equation" r:id="rId9" imgW="7305675" imgH="9144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8163" y="1243013"/>
                        <a:ext cx="73914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09258"/>
                                        </p:tgtEl>
                                        <p:attrNameLst>
                                          <p:attrName>style.visibility</p:attrName>
                                        </p:attrNameLst>
                                      </p:cBhvr>
                                      <p:to>
                                        <p:strVal val="visible"/>
                                      </p:to>
                                    </p:set>
                                    <p:anim calcmode="lin" valueType="num">
                                      <p:cBhvr additive="base">
                                        <p:cTn id="7" dur="500" fill="hold"/>
                                        <p:tgtEl>
                                          <p:spTgt spid="309258"/>
                                        </p:tgtEl>
                                        <p:attrNameLst>
                                          <p:attrName>ppt_x</p:attrName>
                                        </p:attrNameLst>
                                      </p:cBhvr>
                                      <p:tavLst>
                                        <p:tav tm="0">
                                          <p:val>
                                            <p:strVal val="0-#ppt_w/2"/>
                                          </p:val>
                                        </p:tav>
                                        <p:tav tm="100000">
                                          <p:val>
                                            <p:strVal val="#ppt_x"/>
                                          </p:val>
                                        </p:tav>
                                      </p:tavLst>
                                    </p:anim>
                                    <p:anim calcmode="lin" valueType="num">
                                      <p:cBhvr additive="base">
                                        <p:cTn id="8" dur="500" fill="hold"/>
                                        <p:tgtEl>
                                          <p:spTgt spid="30925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2" fill="hold" nodeType="clickEffect">
                                  <p:stCondLst>
                                    <p:cond delay="0"/>
                                  </p:stCondLst>
                                  <p:childTnLst>
                                    <p:set>
                                      <p:cBhvr>
                                        <p:cTn id="12" dur="1" fill="hold">
                                          <p:stCondLst>
                                            <p:cond delay="0"/>
                                          </p:stCondLst>
                                        </p:cTn>
                                        <p:tgtEl>
                                          <p:spTgt spid="309257"/>
                                        </p:tgtEl>
                                        <p:attrNameLst>
                                          <p:attrName>style.visibility</p:attrName>
                                        </p:attrNameLst>
                                      </p:cBhvr>
                                      <p:to>
                                        <p:strVal val="visible"/>
                                      </p:to>
                                    </p:set>
                                    <p:animEffect transition="in" filter="wipe(right)">
                                      <p:cBhvr>
                                        <p:cTn id="13" dur="500"/>
                                        <p:tgtEl>
                                          <p:spTgt spid="30925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309251"/>
                                        </p:tgtEl>
                                        <p:attrNameLst>
                                          <p:attrName>style.visibility</p:attrName>
                                        </p:attrNameLst>
                                      </p:cBhvr>
                                      <p:to>
                                        <p:strVal val="visible"/>
                                      </p:to>
                                    </p:set>
                                    <p:anim calcmode="lin" valueType="num">
                                      <p:cBhvr additive="base">
                                        <p:cTn id="18" dur="500" fill="hold"/>
                                        <p:tgtEl>
                                          <p:spTgt spid="309251"/>
                                        </p:tgtEl>
                                        <p:attrNameLst>
                                          <p:attrName>ppt_x</p:attrName>
                                        </p:attrNameLst>
                                      </p:cBhvr>
                                      <p:tavLst>
                                        <p:tav tm="0">
                                          <p:val>
                                            <p:strVal val="0-#ppt_w/2"/>
                                          </p:val>
                                        </p:tav>
                                        <p:tav tm="100000">
                                          <p:val>
                                            <p:strVal val="#ppt_x"/>
                                          </p:val>
                                        </p:tav>
                                      </p:tavLst>
                                    </p:anim>
                                    <p:anim calcmode="lin" valueType="num">
                                      <p:cBhvr additive="base">
                                        <p:cTn id="19" dur="500" fill="hold"/>
                                        <p:tgtEl>
                                          <p:spTgt spid="309251"/>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2" presetClass="entr" presetSubtype="2" fill="hold" nodeType="afterEffect">
                                  <p:stCondLst>
                                    <p:cond delay="0"/>
                                  </p:stCondLst>
                                  <p:childTnLst>
                                    <p:set>
                                      <p:cBhvr>
                                        <p:cTn id="22" dur="1" fill="hold">
                                          <p:stCondLst>
                                            <p:cond delay="0"/>
                                          </p:stCondLst>
                                        </p:cTn>
                                        <p:tgtEl>
                                          <p:spTgt spid="309256"/>
                                        </p:tgtEl>
                                        <p:attrNameLst>
                                          <p:attrName>style.visibility</p:attrName>
                                        </p:attrNameLst>
                                      </p:cBhvr>
                                      <p:to>
                                        <p:strVal val="visible"/>
                                      </p:to>
                                    </p:set>
                                    <p:animEffect transition="in" filter="wipe(right)">
                                      <p:cBhvr>
                                        <p:cTn id="23" dur="500"/>
                                        <p:tgtEl>
                                          <p:spTgt spid="30925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down)">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1"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3" name="Text Box 3"/>
          <p:cNvSpPr txBox="1">
            <a:spLocks noChangeArrowheads="1"/>
          </p:cNvSpPr>
          <p:nvPr/>
        </p:nvSpPr>
        <p:spPr bwMode="auto">
          <a:xfrm>
            <a:off x="609600" y="1295400"/>
            <a:ext cx="80645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800" b="1"/>
              <a:t>        </a:t>
            </a:r>
            <a:r>
              <a:rPr lang="zh-CN" altLang="en-US" sz="2800" b="1"/>
              <a:t>前面我们介绍了随机变量的数学期望和方差，对于二维随机变量（</a:t>
            </a:r>
            <a:r>
              <a:rPr lang="en-US" altLang="zh-CN" sz="2800" b="1"/>
              <a:t>X</a:t>
            </a:r>
            <a:r>
              <a:rPr lang="zh-CN" altLang="en-US" sz="2800" b="1"/>
              <a:t>，</a:t>
            </a:r>
            <a:r>
              <a:rPr lang="en-US" altLang="zh-CN" sz="2800" b="1"/>
              <a:t>Y</a:t>
            </a:r>
            <a:r>
              <a:rPr lang="zh-CN" altLang="en-US" sz="2800" b="1"/>
              <a:t>），我们除了讨论</a:t>
            </a:r>
            <a:r>
              <a:rPr lang="en-US" altLang="zh-CN" sz="2800" b="1"/>
              <a:t>X</a:t>
            </a:r>
            <a:r>
              <a:rPr lang="zh-CN" altLang="en-US" sz="2800" b="1"/>
              <a:t>与</a:t>
            </a:r>
            <a:r>
              <a:rPr lang="en-US" altLang="zh-CN" sz="2800" b="1"/>
              <a:t>Y</a:t>
            </a:r>
            <a:r>
              <a:rPr lang="zh-CN" altLang="en-US" sz="2800" b="1"/>
              <a:t>的数学期望和方差以外，还要讨论描述</a:t>
            </a:r>
            <a:r>
              <a:rPr lang="en-US" altLang="zh-CN" sz="2800" b="1"/>
              <a:t>X</a:t>
            </a:r>
            <a:r>
              <a:rPr lang="zh-CN" altLang="en-US" sz="2800" b="1"/>
              <a:t>和</a:t>
            </a:r>
            <a:r>
              <a:rPr lang="en-US" altLang="zh-CN" sz="2800" b="1"/>
              <a:t>Y</a:t>
            </a:r>
            <a:r>
              <a:rPr lang="zh-CN" altLang="en-US" sz="2800" b="1"/>
              <a:t>之间关系的数字特征，这就是本讲要讨论的</a:t>
            </a:r>
            <a:endParaRPr lang="zh-CN" altLang="en-US" sz="2800" b="1"/>
          </a:p>
        </p:txBody>
      </p:sp>
      <p:sp>
        <p:nvSpPr>
          <p:cNvPr id="256004" name="Rectangle 4"/>
          <p:cNvSpPr>
            <a:spLocks noChangeArrowheads="1"/>
          </p:cNvSpPr>
          <p:nvPr/>
        </p:nvSpPr>
        <p:spPr bwMode="auto">
          <a:xfrm>
            <a:off x="2590800" y="4032250"/>
            <a:ext cx="3556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rgbClr val="003399"/>
                </a:solidFill>
              </a:rPr>
              <a:t>协方差和相关系数</a:t>
            </a:r>
            <a:endParaRPr lang="zh-CN" altLang="en-US" sz="2800" b="1">
              <a:solidFill>
                <a:srgbClr val="0033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56003"/>
                                        </p:tgtEl>
                                        <p:attrNameLst>
                                          <p:attrName>style.visibility</p:attrName>
                                        </p:attrNameLst>
                                      </p:cBhvr>
                                      <p:to>
                                        <p:strVal val="visible"/>
                                      </p:to>
                                    </p:set>
                                    <p:animEffect transition="in" filter="barn(outVertical)">
                                      <p:cBhvr>
                                        <p:cTn id="7" dur="500"/>
                                        <p:tgtEl>
                                          <p:spTgt spid="256003"/>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528" fill="hold" grpId="0" nodeType="clickEffect">
                                  <p:stCondLst>
                                    <p:cond delay="0"/>
                                  </p:stCondLst>
                                  <p:childTnLst>
                                    <p:set>
                                      <p:cBhvr>
                                        <p:cTn id="11" dur="1" fill="hold">
                                          <p:stCondLst>
                                            <p:cond delay="0"/>
                                          </p:stCondLst>
                                        </p:cTn>
                                        <p:tgtEl>
                                          <p:spTgt spid="256004"/>
                                        </p:tgtEl>
                                        <p:attrNameLst>
                                          <p:attrName>style.visibility</p:attrName>
                                        </p:attrNameLst>
                                      </p:cBhvr>
                                      <p:to>
                                        <p:strVal val="visible"/>
                                      </p:to>
                                    </p:set>
                                    <p:anim calcmode="lin" valueType="num">
                                      <p:cBhvr>
                                        <p:cTn id="12" dur="500" fill="hold"/>
                                        <p:tgtEl>
                                          <p:spTgt spid="256004"/>
                                        </p:tgtEl>
                                        <p:attrNameLst>
                                          <p:attrName>ppt_w</p:attrName>
                                        </p:attrNameLst>
                                      </p:cBhvr>
                                      <p:tavLst>
                                        <p:tav tm="0">
                                          <p:val>
                                            <p:fltVal val="0"/>
                                          </p:val>
                                        </p:tav>
                                        <p:tav tm="100000">
                                          <p:val>
                                            <p:strVal val="#ppt_w"/>
                                          </p:val>
                                        </p:tav>
                                      </p:tavLst>
                                    </p:anim>
                                    <p:anim calcmode="lin" valueType="num">
                                      <p:cBhvr>
                                        <p:cTn id="13" dur="500" fill="hold"/>
                                        <p:tgtEl>
                                          <p:spTgt spid="256004"/>
                                        </p:tgtEl>
                                        <p:attrNameLst>
                                          <p:attrName>ppt_h</p:attrName>
                                        </p:attrNameLst>
                                      </p:cBhvr>
                                      <p:tavLst>
                                        <p:tav tm="0">
                                          <p:val>
                                            <p:fltVal val="0"/>
                                          </p:val>
                                        </p:tav>
                                        <p:tav tm="100000">
                                          <p:val>
                                            <p:strVal val="#ppt_h"/>
                                          </p:val>
                                        </p:tav>
                                      </p:tavLst>
                                    </p:anim>
                                    <p:anim calcmode="lin" valueType="num">
                                      <p:cBhvr>
                                        <p:cTn id="14" dur="500" fill="hold"/>
                                        <p:tgtEl>
                                          <p:spTgt spid="256004"/>
                                        </p:tgtEl>
                                        <p:attrNameLst>
                                          <p:attrName>ppt_x</p:attrName>
                                        </p:attrNameLst>
                                      </p:cBhvr>
                                      <p:tavLst>
                                        <p:tav tm="0">
                                          <p:val>
                                            <p:fltVal val="0.5"/>
                                          </p:val>
                                        </p:tav>
                                        <p:tav tm="100000">
                                          <p:val>
                                            <p:strVal val="#ppt_x"/>
                                          </p:val>
                                        </p:tav>
                                      </p:tavLst>
                                    </p:anim>
                                    <p:anim calcmode="lin" valueType="num">
                                      <p:cBhvr>
                                        <p:cTn id="15" dur="500" fill="hold"/>
                                        <p:tgtEl>
                                          <p:spTgt spid="256004"/>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3" grpId="0" autoUpdateAnimBg="0"/>
      <p:bldP spid="256004"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34" name="Text Box 10"/>
          <p:cNvSpPr txBox="1">
            <a:spLocks noChangeArrowheads="1"/>
          </p:cNvSpPr>
          <p:nvPr/>
        </p:nvSpPr>
        <p:spPr bwMode="auto">
          <a:xfrm>
            <a:off x="1692275" y="725091"/>
            <a:ext cx="716280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3200" b="1" dirty="0"/>
              <a:t> </a:t>
            </a:r>
            <a:r>
              <a:rPr lang="zh-CN" altLang="en-US" sz="2800" b="1" dirty="0"/>
              <a:t>量</a:t>
            </a:r>
            <a:r>
              <a:rPr lang="en-US" altLang="zh-CN" sz="3200" b="1" i="1" dirty="0"/>
              <a:t>E</a:t>
            </a:r>
            <a:r>
              <a:rPr lang="en-US" altLang="zh-CN" sz="3200" b="1" dirty="0"/>
              <a:t>{[ </a:t>
            </a:r>
            <a:r>
              <a:rPr lang="en-US" altLang="zh-CN" sz="3200" b="1" i="1" dirty="0"/>
              <a:t>X</a:t>
            </a:r>
            <a:r>
              <a:rPr lang="en-US" altLang="zh-CN" sz="3200" b="1" dirty="0"/>
              <a:t>-</a:t>
            </a:r>
            <a:r>
              <a:rPr lang="en-US" altLang="zh-CN" sz="3200" b="1" i="1" dirty="0"/>
              <a:t>E</a:t>
            </a:r>
            <a:r>
              <a:rPr lang="en-US" altLang="zh-CN" sz="3200" b="1" dirty="0"/>
              <a:t>(</a:t>
            </a:r>
            <a:r>
              <a:rPr lang="en-US" altLang="zh-CN" sz="3200" b="1" i="1" dirty="0"/>
              <a:t>X</a:t>
            </a:r>
            <a:r>
              <a:rPr lang="en-US" altLang="zh-CN" sz="3200" b="1" dirty="0"/>
              <a:t>)][</a:t>
            </a:r>
            <a:r>
              <a:rPr lang="en-US" altLang="zh-CN" sz="3200" b="1" i="1" dirty="0"/>
              <a:t>Y</a:t>
            </a:r>
            <a:r>
              <a:rPr lang="en-US" altLang="zh-CN" sz="3200" b="1" dirty="0"/>
              <a:t>-E(</a:t>
            </a:r>
            <a:r>
              <a:rPr lang="en-US" altLang="zh-CN" sz="3200" b="1" i="1" dirty="0"/>
              <a:t>Y</a:t>
            </a:r>
            <a:r>
              <a:rPr lang="en-US" altLang="zh-CN" sz="3200" b="1" dirty="0"/>
              <a:t>) ]}</a:t>
            </a:r>
            <a:r>
              <a:rPr lang="zh-CN" altLang="en-US" sz="2800" b="1" dirty="0"/>
              <a:t>称为随机变量</a:t>
            </a:r>
            <a:r>
              <a:rPr lang="en-US" altLang="zh-CN" sz="3200" b="1" i="1" dirty="0">
                <a:solidFill>
                  <a:schemeClr val="accent2"/>
                </a:solidFill>
              </a:rPr>
              <a:t>X</a:t>
            </a:r>
            <a:r>
              <a:rPr lang="zh-CN" altLang="en-US" sz="2800" b="1" dirty="0">
                <a:solidFill>
                  <a:schemeClr val="accent2"/>
                </a:solidFill>
              </a:rPr>
              <a:t>和</a:t>
            </a:r>
            <a:r>
              <a:rPr lang="en-US" altLang="zh-CN" sz="3200" b="1" i="1" dirty="0">
                <a:solidFill>
                  <a:schemeClr val="accent2"/>
                </a:solidFill>
              </a:rPr>
              <a:t>Y</a:t>
            </a:r>
            <a:r>
              <a:rPr lang="zh-CN" altLang="en-US" sz="2800" b="1" dirty="0">
                <a:solidFill>
                  <a:schemeClr val="accent2"/>
                </a:solidFill>
              </a:rPr>
              <a:t>的协方差</a:t>
            </a:r>
            <a:r>
              <a:rPr lang="en-US" altLang="zh-CN" sz="2800" b="1" dirty="0"/>
              <a:t>,</a:t>
            </a:r>
            <a:r>
              <a:rPr lang="zh-CN" altLang="en-US" sz="2800" b="1" dirty="0"/>
              <a:t>记为</a:t>
            </a:r>
            <a:r>
              <a:rPr lang="en-US" altLang="zh-CN" sz="3200" b="1" i="1" dirty="0" err="1"/>
              <a:t>Cov</a:t>
            </a:r>
            <a:r>
              <a:rPr lang="en-US" altLang="zh-CN" sz="3200" b="1" dirty="0"/>
              <a:t>(</a:t>
            </a:r>
            <a:r>
              <a:rPr lang="en-US" altLang="zh-CN" sz="3200" b="1" i="1" dirty="0"/>
              <a:t>X</a:t>
            </a:r>
            <a:r>
              <a:rPr lang="en-US" altLang="zh-CN" sz="3200" b="1" dirty="0"/>
              <a:t>,</a:t>
            </a:r>
            <a:r>
              <a:rPr lang="en-US" altLang="zh-CN" sz="3200" b="1" i="1" dirty="0"/>
              <a:t>Y</a:t>
            </a:r>
            <a:r>
              <a:rPr lang="en-US" altLang="zh-CN" sz="3200" b="1" dirty="0"/>
              <a:t>) </a:t>
            </a:r>
            <a:r>
              <a:rPr lang="zh-CN" altLang="en-US" sz="3200" b="1" dirty="0"/>
              <a:t>，</a:t>
            </a:r>
            <a:r>
              <a:rPr lang="zh-CN" altLang="en-US" sz="2800" b="1" dirty="0"/>
              <a:t>即</a:t>
            </a:r>
            <a:r>
              <a:rPr lang="zh-CN" altLang="en-US" sz="3200" b="1" dirty="0"/>
              <a:t>        </a:t>
            </a:r>
            <a:endParaRPr lang="zh-CN" altLang="en-US" sz="3200" b="1" dirty="0"/>
          </a:p>
        </p:txBody>
      </p:sp>
      <p:sp>
        <p:nvSpPr>
          <p:cNvPr id="257035" name="Text Box 11"/>
          <p:cNvSpPr txBox="1">
            <a:spLocks noChangeArrowheads="1"/>
          </p:cNvSpPr>
          <p:nvPr/>
        </p:nvSpPr>
        <p:spPr bwMode="auto">
          <a:xfrm>
            <a:off x="156924" y="4181750"/>
            <a:ext cx="7924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3200" b="1" dirty="0"/>
              <a:t>⑶   </a:t>
            </a:r>
            <a:r>
              <a:rPr lang="en-US" altLang="zh-CN" sz="3200" b="1" i="1" dirty="0" err="1"/>
              <a:t>Cov</a:t>
            </a:r>
            <a:r>
              <a:rPr lang="en-US" altLang="zh-CN" sz="3200" b="1" dirty="0"/>
              <a:t>(</a:t>
            </a:r>
            <a:r>
              <a:rPr lang="en-US" altLang="zh-CN" sz="3200" b="1" i="1" dirty="0"/>
              <a:t>X</a:t>
            </a:r>
            <a:r>
              <a:rPr lang="en-US" altLang="zh-CN" sz="3200" b="1" baseline="-25000" dirty="0"/>
              <a:t>1</a:t>
            </a:r>
            <a:r>
              <a:rPr lang="en-US" altLang="zh-CN" sz="3200" b="1" dirty="0"/>
              <a:t>+</a:t>
            </a:r>
            <a:r>
              <a:rPr lang="en-US" altLang="zh-CN" sz="3200" b="1" i="1" dirty="0"/>
              <a:t>X</a:t>
            </a:r>
            <a:r>
              <a:rPr lang="en-US" altLang="zh-CN" sz="3200" b="1" baseline="-25000" dirty="0"/>
              <a:t>2</a:t>
            </a:r>
            <a:r>
              <a:rPr lang="en-US" altLang="zh-CN" sz="3200" b="1" dirty="0"/>
              <a:t>,</a:t>
            </a:r>
            <a:r>
              <a:rPr lang="en-US" altLang="zh-CN" sz="3200" b="1" i="1" dirty="0"/>
              <a:t>Y</a:t>
            </a:r>
            <a:r>
              <a:rPr lang="en-US" altLang="zh-CN" sz="3200" b="1" dirty="0"/>
              <a:t>)= </a:t>
            </a:r>
            <a:r>
              <a:rPr lang="en-US" altLang="zh-CN" sz="3200" b="1" i="1" dirty="0" err="1"/>
              <a:t>Cov</a:t>
            </a:r>
            <a:r>
              <a:rPr lang="en-US" altLang="zh-CN" sz="3200" b="1" dirty="0"/>
              <a:t>(</a:t>
            </a:r>
            <a:r>
              <a:rPr lang="en-US" altLang="zh-CN" sz="3200" b="1" i="1" dirty="0"/>
              <a:t>X</a:t>
            </a:r>
            <a:r>
              <a:rPr lang="en-US" altLang="zh-CN" sz="3200" b="1" baseline="-25000" dirty="0"/>
              <a:t>1</a:t>
            </a:r>
            <a:r>
              <a:rPr lang="en-US" altLang="zh-CN" sz="3200" b="1" dirty="0"/>
              <a:t>,</a:t>
            </a:r>
            <a:r>
              <a:rPr lang="en-US" altLang="zh-CN" sz="3200" b="1" i="1" dirty="0"/>
              <a:t>Y</a:t>
            </a:r>
            <a:r>
              <a:rPr lang="en-US" altLang="zh-CN" sz="3200" b="1" dirty="0"/>
              <a:t>) + </a:t>
            </a:r>
            <a:r>
              <a:rPr lang="en-US" altLang="zh-CN" sz="3200" b="1" i="1" dirty="0" err="1"/>
              <a:t>Cov</a:t>
            </a:r>
            <a:r>
              <a:rPr lang="en-US" altLang="zh-CN" sz="3200" b="1" dirty="0"/>
              <a:t>(</a:t>
            </a:r>
            <a:r>
              <a:rPr lang="en-US" altLang="zh-CN" sz="3200" b="1" i="1" dirty="0"/>
              <a:t>X</a:t>
            </a:r>
            <a:r>
              <a:rPr lang="en-US" altLang="zh-CN" sz="3200" b="1" baseline="-25000" dirty="0"/>
              <a:t>2</a:t>
            </a:r>
            <a:r>
              <a:rPr lang="en-US" altLang="zh-CN" sz="3200" b="1" dirty="0"/>
              <a:t>,</a:t>
            </a:r>
            <a:r>
              <a:rPr lang="en-US" altLang="zh-CN" sz="3200" b="1" i="1" dirty="0"/>
              <a:t>Y</a:t>
            </a:r>
            <a:r>
              <a:rPr lang="en-US" altLang="zh-CN" sz="3200" b="1" dirty="0"/>
              <a:t>) </a:t>
            </a:r>
            <a:endParaRPr lang="en-US" altLang="zh-CN" sz="3200" b="1" dirty="0"/>
          </a:p>
        </p:txBody>
      </p:sp>
      <p:sp>
        <p:nvSpPr>
          <p:cNvPr id="257036" name="Rectangle 12"/>
          <p:cNvSpPr>
            <a:spLocks noChangeArrowheads="1"/>
          </p:cNvSpPr>
          <p:nvPr/>
        </p:nvSpPr>
        <p:spPr bwMode="auto">
          <a:xfrm>
            <a:off x="-756592" y="2968381"/>
            <a:ext cx="8712201"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b="1" dirty="0"/>
              <a:t>⑴     </a:t>
            </a:r>
            <a:r>
              <a:rPr lang="en-US" altLang="zh-CN" sz="3200" b="1" i="1" dirty="0" err="1"/>
              <a:t>Cov</a:t>
            </a:r>
            <a:r>
              <a:rPr lang="en-US" altLang="zh-CN" sz="3200" b="1" dirty="0"/>
              <a:t>(</a:t>
            </a:r>
            <a:r>
              <a:rPr lang="en-US" altLang="zh-CN" sz="3200" b="1" i="1" dirty="0"/>
              <a:t>X</a:t>
            </a:r>
            <a:r>
              <a:rPr lang="en-US" altLang="zh-CN" sz="3200" b="1" dirty="0"/>
              <a:t>,</a:t>
            </a:r>
            <a:r>
              <a:rPr lang="en-US" altLang="zh-CN" sz="3200" b="1" i="1" dirty="0"/>
              <a:t>Y</a:t>
            </a:r>
            <a:r>
              <a:rPr lang="en-US" altLang="zh-CN" sz="3200" b="1" dirty="0"/>
              <a:t>)= </a:t>
            </a:r>
            <a:r>
              <a:rPr lang="en-US" altLang="zh-CN" sz="3200" b="1" dirty="0" err="1"/>
              <a:t>Cov</a:t>
            </a:r>
            <a:r>
              <a:rPr lang="en-US" altLang="zh-CN" sz="3200" b="1" dirty="0"/>
              <a:t>(</a:t>
            </a:r>
            <a:r>
              <a:rPr lang="en-US" altLang="zh-CN" sz="3200" b="1" i="1" dirty="0"/>
              <a:t>Y</a:t>
            </a:r>
            <a:r>
              <a:rPr lang="en-US" altLang="zh-CN" sz="3200" b="1" dirty="0"/>
              <a:t>,</a:t>
            </a:r>
            <a:r>
              <a:rPr lang="en-US" altLang="zh-CN" sz="3200" b="1" i="1" dirty="0"/>
              <a:t>X</a:t>
            </a:r>
            <a:r>
              <a:rPr lang="en-US" altLang="zh-CN" sz="3200" b="1" dirty="0"/>
              <a:t>), </a:t>
            </a:r>
            <a:r>
              <a:rPr lang="en-US" altLang="zh-CN" sz="3200" b="1" i="1" dirty="0" err="1"/>
              <a:t>Cov</a:t>
            </a:r>
            <a:r>
              <a:rPr lang="en-US" altLang="zh-CN" sz="3200" b="1" dirty="0"/>
              <a:t>(</a:t>
            </a:r>
            <a:r>
              <a:rPr lang="en-US" altLang="zh-CN" sz="3200" b="1" i="1" dirty="0"/>
              <a:t>X</a:t>
            </a:r>
            <a:r>
              <a:rPr lang="en-US" altLang="zh-CN" sz="3200" b="1" dirty="0"/>
              <a:t>,C)= 0</a:t>
            </a:r>
            <a:endParaRPr lang="en-US" altLang="zh-CN" sz="3200" b="1" dirty="0"/>
          </a:p>
        </p:txBody>
      </p:sp>
      <p:sp>
        <p:nvSpPr>
          <p:cNvPr id="74757" name="Rectangle 13"/>
          <p:cNvSpPr>
            <a:spLocks noChangeArrowheads="1"/>
          </p:cNvSpPr>
          <p:nvPr/>
        </p:nvSpPr>
        <p:spPr bwMode="auto">
          <a:xfrm>
            <a:off x="457200" y="-27384"/>
            <a:ext cx="3376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chemeClr val="tx2"/>
                </a:solidFill>
                <a:ea typeface="黑体" panose="02010609060101010101" pitchFamily="49" charset="-122"/>
              </a:rPr>
              <a:t>一、协方差</a:t>
            </a:r>
            <a:endParaRPr lang="zh-CN" altLang="en-US" sz="3200" b="1">
              <a:solidFill>
                <a:schemeClr val="tx2"/>
              </a:solidFill>
              <a:ea typeface="黑体" panose="02010609060101010101" pitchFamily="49" charset="-122"/>
            </a:endParaRPr>
          </a:p>
        </p:txBody>
      </p:sp>
      <p:sp>
        <p:nvSpPr>
          <p:cNvPr id="257038" name="Rectangle 14"/>
          <p:cNvSpPr>
            <a:spLocks noChangeArrowheads="1"/>
          </p:cNvSpPr>
          <p:nvPr/>
        </p:nvSpPr>
        <p:spPr bwMode="auto">
          <a:xfrm>
            <a:off x="317834" y="2390104"/>
            <a:ext cx="187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dirty="0">
                <a:solidFill>
                  <a:srgbClr val="003399"/>
                </a:solidFill>
              </a:rPr>
              <a:t>2.</a:t>
            </a:r>
            <a:r>
              <a:rPr lang="zh-CN" altLang="en-US" sz="2800" b="1" dirty="0">
                <a:solidFill>
                  <a:srgbClr val="003399"/>
                </a:solidFill>
              </a:rPr>
              <a:t>简单性质</a:t>
            </a:r>
            <a:endParaRPr lang="zh-CN" altLang="en-US" sz="2800" b="1" dirty="0">
              <a:solidFill>
                <a:srgbClr val="003399"/>
              </a:solidFill>
            </a:endParaRPr>
          </a:p>
        </p:txBody>
      </p:sp>
      <p:sp>
        <p:nvSpPr>
          <p:cNvPr id="257039" name="Rectangle 15"/>
          <p:cNvSpPr>
            <a:spLocks noChangeArrowheads="1"/>
          </p:cNvSpPr>
          <p:nvPr/>
        </p:nvSpPr>
        <p:spPr bwMode="auto">
          <a:xfrm>
            <a:off x="139675" y="3547818"/>
            <a:ext cx="89360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dirty="0"/>
              <a:t>⑵   </a:t>
            </a:r>
            <a:r>
              <a:rPr lang="en-US" altLang="zh-CN" sz="3200" b="1" i="1" dirty="0" err="1"/>
              <a:t>Cov</a:t>
            </a:r>
            <a:r>
              <a:rPr lang="en-US" altLang="zh-CN" sz="3200" b="1" dirty="0"/>
              <a:t>(</a:t>
            </a:r>
            <a:r>
              <a:rPr lang="en-US" altLang="zh-CN" sz="3200" b="1" i="1" dirty="0" err="1"/>
              <a:t>aX+c</a:t>
            </a:r>
            <a:r>
              <a:rPr lang="en-US" altLang="zh-CN" sz="3200" b="1" dirty="0" err="1"/>
              <a:t>,</a:t>
            </a:r>
            <a:r>
              <a:rPr lang="en-US" altLang="zh-CN" sz="3200" b="1" i="1" dirty="0" err="1"/>
              <a:t>bY+d</a:t>
            </a:r>
            <a:r>
              <a:rPr lang="en-US" altLang="zh-CN" sz="3200" b="1" dirty="0"/>
              <a:t>) = </a:t>
            </a:r>
            <a:r>
              <a:rPr lang="en-US" altLang="zh-CN" sz="3200" b="1" i="1" dirty="0"/>
              <a:t>ab</a:t>
            </a:r>
            <a:r>
              <a:rPr lang="en-US" altLang="zh-CN" sz="3200" b="1" dirty="0"/>
              <a:t> </a:t>
            </a:r>
            <a:r>
              <a:rPr lang="en-US" altLang="zh-CN" sz="3200" b="1" dirty="0" err="1"/>
              <a:t>Cov</a:t>
            </a:r>
            <a:r>
              <a:rPr lang="en-US" altLang="zh-CN" sz="3200" b="1" dirty="0"/>
              <a:t>(</a:t>
            </a:r>
            <a:r>
              <a:rPr lang="en-US" altLang="zh-CN" sz="3200" b="1" i="1" dirty="0"/>
              <a:t>X</a:t>
            </a:r>
            <a:r>
              <a:rPr lang="en-US" altLang="zh-CN" sz="3200" b="1" dirty="0"/>
              <a:t>,</a:t>
            </a:r>
            <a:r>
              <a:rPr lang="en-US" altLang="zh-CN" sz="3200" b="1" i="1" dirty="0"/>
              <a:t>Y</a:t>
            </a:r>
            <a:r>
              <a:rPr lang="en-US" altLang="zh-CN" sz="3200" b="1" dirty="0"/>
              <a:t>)   </a:t>
            </a:r>
            <a:r>
              <a:rPr lang="en-US" altLang="zh-CN" sz="3200" b="1" i="1" dirty="0" err="1"/>
              <a:t>a</a:t>
            </a:r>
            <a:r>
              <a:rPr lang="en-US" altLang="zh-CN" sz="3200" b="1" dirty="0" err="1"/>
              <a:t>,</a:t>
            </a:r>
            <a:r>
              <a:rPr lang="en-US" altLang="zh-CN" sz="3200" b="1" i="1" dirty="0" err="1"/>
              <a:t>b,c,d</a:t>
            </a:r>
            <a:r>
              <a:rPr lang="en-US" altLang="zh-CN" sz="3200" b="1" i="1" dirty="0"/>
              <a:t>  </a:t>
            </a:r>
            <a:r>
              <a:rPr lang="zh-CN" altLang="en-US" sz="2800" b="1" dirty="0"/>
              <a:t>是常数</a:t>
            </a:r>
            <a:endParaRPr lang="zh-CN" altLang="en-US" sz="2800" b="1" dirty="0"/>
          </a:p>
        </p:txBody>
      </p:sp>
      <p:sp>
        <p:nvSpPr>
          <p:cNvPr id="257040" name="Rectangle 16"/>
          <p:cNvSpPr>
            <a:spLocks noChangeArrowheads="1"/>
          </p:cNvSpPr>
          <p:nvPr/>
        </p:nvSpPr>
        <p:spPr bwMode="auto">
          <a:xfrm>
            <a:off x="1763688" y="1891752"/>
            <a:ext cx="56880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b="1" i="1" dirty="0" err="1"/>
              <a:t>Cov</a:t>
            </a:r>
            <a:r>
              <a:rPr lang="en-US" altLang="zh-CN" sz="3200" b="1" i="1" dirty="0"/>
              <a:t>(X</a:t>
            </a:r>
            <a:r>
              <a:rPr lang="en-US" altLang="zh-CN" sz="3200" b="1" dirty="0"/>
              <a:t>,</a:t>
            </a:r>
            <a:r>
              <a:rPr lang="en-US" altLang="zh-CN" sz="3200" b="1" i="1" dirty="0"/>
              <a:t>Y</a:t>
            </a:r>
            <a:r>
              <a:rPr lang="en-US" altLang="zh-CN" sz="3200" b="1" dirty="0"/>
              <a:t>)=</a:t>
            </a:r>
            <a:r>
              <a:rPr lang="en-US" altLang="zh-CN" sz="3200" b="1" i="1" dirty="0"/>
              <a:t>E</a:t>
            </a:r>
            <a:r>
              <a:rPr lang="en-US" altLang="zh-CN" sz="3200" b="1" dirty="0"/>
              <a:t>{[ </a:t>
            </a:r>
            <a:r>
              <a:rPr lang="en-US" altLang="zh-CN" sz="3200" b="1" i="1" dirty="0"/>
              <a:t>X</a:t>
            </a:r>
            <a:r>
              <a:rPr lang="en-US" altLang="zh-CN" sz="3200" b="1" dirty="0"/>
              <a:t>-</a:t>
            </a:r>
            <a:r>
              <a:rPr lang="en-US" altLang="zh-CN" sz="3200" b="1" i="1" dirty="0"/>
              <a:t>E</a:t>
            </a:r>
            <a:r>
              <a:rPr lang="en-US" altLang="zh-CN" sz="3200" b="1" dirty="0"/>
              <a:t>(</a:t>
            </a:r>
            <a:r>
              <a:rPr lang="en-US" altLang="zh-CN" sz="3200" b="1" i="1" dirty="0"/>
              <a:t>X</a:t>
            </a:r>
            <a:r>
              <a:rPr lang="en-US" altLang="zh-CN" sz="3200" b="1" dirty="0"/>
              <a:t>)][</a:t>
            </a:r>
            <a:r>
              <a:rPr lang="en-US" altLang="zh-CN" sz="3200" b="1" i="1" dirty="0"/>
              <a:t>Y</a:t>
            </a:r>
            <a:r>
              <a:rPr lang="en-US" altLang="zh-CN" sz="3200" b="1" dirty="0"/>
              <a:t>-E(</a:t>
            </a:r>
            <a:r>
              <a:rPr lang="en-US" altLang="zh-CN" sz="3200" b="1" i="1" dirty="0"/>
              <a:t>Y</a:t>
            </a:r>
            <a:r>
              <a:rPr lang="en-US" altLang="zh-CN" sz="3200" b="1" dirty="0"/>
              <a:t>) ]}</a:t>
            </a:r>
            <a:endParaRPr lang="en-US" altLang="zh-CN" sz="3200" b="1" dirty="0"/>
          </a:p>
        </p:txBody>
      </p:sp>
      <p:sp>
        <p:nvSpPr>
          <p:cNvPr id="257041" name="Rectangle 17"/>
          <p:cNvSpPr>
            <a:spLocks noChangeArrowheads="1"/>
          </p:cNvSpPr>
          <p:nvPr/>
        </p:nvSpPr>
        <p:spPr bwMode="auto">
          <a:xfrm>
            <a:off x="415925" y="802879"/>
            <a:ext cx="11652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a:solidFill>
                  <a:srgbClr val="003399"/>
                </a:solidFill>
              </a:rPr>
              <a:t>1.</a:t>
            </a:r>
            <a:r>
              <a:rPr lang="zh-CN" altLang="en-US" sz="2800" b="1">
                <a:solidFill>
                  <a:srgbClr val="003399"/>
                </a:solidFill>
              </a:rPr>
              <a:t>定义</a:t>
            </a:r>
            <a:endParaRPr lang="zh-CN" altLang="en-US" sz="2800" b="1">
              <a:solidFill>
                <a:srgbClr val="003399"/>
              </a:solidFill>
            </a:endParaRPr>
          </a:p>
        </p:txBody>
      </p:sp>
      <p:sp>
        <p:nvSpPr>
          <p:cNvPr id="11" name="Text Box 11"/>
          <p:cNvSpPr txBox="1">
            <a:spLocks noChangeArrowheads="1"/>
          </p:cNvSpPr>
          <p:nvPr/>
        </p:nvSpPr>
        <p:spPr bwMode="auto">
          <a:xfrm>
            <a:off x="363538" y="4817682"/>
            <a:ext cx="7924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3200" b="1" dirty="0"/>
              <a:t>   </a:t>
            </a:r>
            <a:r>
              <a:rPr lang="en-US" altLang="zh-CN" sz="3200" b="1" i="1" dirty="0" err="1"/>
              <a:t>Cov</a:t>
            </a:r>
            <a:r>
              <a:rPr lang="en-US" altLang="zh-CN" sz="3200" b="1" dirty="0"/>
              <a:t>(</a:t>
            </a:r>
            <a:r>
              <a:rPr lang="en-US" altLang="zh-CN" sz="3200" b="1" i="1" dirty="0"/>
              <a:t>X</a:t>
            </a:r>
            <a:r>
              <a:rPr lang="en-US" altLang="zh-CN" sz="3200" b="1" baseline="-25000" dirty="0"/>
              <a:t>1</a:t>
            </a:r>
            <a:r>
              <a:rPr lang="en-US" altLang="zh-CN" sz="3200" b="1" dirty="0"/>
              <a:t>+</a:t>
            </a:r>
            <a:r>
              <a:rPr lang="en-US" altLang="zh-CN" sz="3200" b="1" i="1" dirty="0"/>
              <a:t>X</a:t>
            </a:r>
            <a:r>
              <a:rPr lang="en-US" altLang="zh-CN" sz="3200" b="1" baseline="-25000" dirty="0"/>
              <a:t>2</a:t>
            </a:r>
            <a:r>
              <a:rPr lang="en-US" altLang="zh-CN" sz="3200" b="1" dirty="0"/>
              <a:t>,</a:t>
            </a:r>
            <a:r>
              <a:rPr lang="en-US" altLang="zh-CN" sz="3200" b="1" i="1" dirty="0"/>
              <a:t>Y</a:t>
            </a:r>
            <a:r>
              <a:rPr lang="en-US" altLang="zh-CN" sz="3200" b="1" baseline="-25000" dirty="0"/>
              <a:t>1</a:t>
            </a:r>
            <a:r>
              <a:rPr lang="en-US" altLang="zh-CN" sz="3200" b="1" dirty="0"/>
              <a:t>+</a:t>
            </a:r>
            <a:r>
              <a:rPr lang="en-US" altLang="zh-CN" sz="3200" b="1" i="1" dirty="0"/>
              <a:t>Y</a:t>
            </a:r>
            <a:r>
              <a:rPr lang="en-US" altLang="zh-CN" sz="3200" b="1" baseline="-25000" dirty="0"/>
              <a:t>2</a:t>
            </a:r>
            <a:r>
              <a:rPr lang="en-US" altLang="zh-CN" sz="3200" b="1" dirty="0"/>
              <a:t>)=</a:t>
            </a:r>
            <a:r>
              <a:rPr lang="en-US" altLang="zh-CN" sz="3200" b="1" i="1" dirty="0" err="1"/>
              <a:t>Cov</a:t>
            </a:r>
            <a:r>
              <a:rPr lang="en-US" altLang="zh-CN" sz="3200" b="1" dirty="0"/>
              <a:t>(</a:t>
            </a:r>
            <a:r>
              <a:rPr lang="en-US" altLang="zh-CN" sz="3200" b="1" i="1" dirty="0"/>
              <a:t>X</a:t>
            </a:r>
            <a:r>
              <a:rPr lang="en-US" altLang="zh-CN" sz="3200" b="1" baseline="-25000" dirty="0"/>
              <a:t>1</a:t>
            </a:r>
            <a:r>
              <a:rPr lang="en-US" altLang="zh-CN" sz="3200" b="1" dirty="0"/>
              <a:t>,</a:t>
            </a:r>
            <a:r>
              <a:rPr lang="en-US" altLang="zh-CN" sz="3200" b="1" i="1" dirty="0"/>
              <a:t>Y</a:t>
            </a:r>
            <a:r>
              <a:rPr lang="en-US" altLang="zh-CN" sz="3200" b="1" baseline="-25000" dirty="0"/>
              <a:t>1</a:t>
            </a:r>
            <a:r>
              <a:rPr lang="en-US" altLang="zh-CN" sz="3200" b="1" dirty="0"/>
              <a:t>)+ </a:t>
            </a:r>
            <a:r>
              <a:rPr lang="en-US" altLang="zh-CN" sz="3200" b="1" i="1" dirty="0" err="1"/>
              <a:t>Cov</a:t>
            </a:r>
            <a:r>
              <a:rPr lang="en-US" altLang="zh-CN" sz="3200" b="1" dirty="0"/>
              <a:t>(</a:t>
            </a:r>
            <a:r>
              <a:rPr lang="en-US" altLang="zh-CN" sz="3200" b="1" i="1" dirty="0"/>
              <a:t>X</a:t>
            </a:r>
            <a:r>
              <a:rPr lang="en-US" altLang="zh-CN" sz="3200" b="1" baseline="-25000" dirty="0"/>
              <a:t>2</a:t>
            </a:r>
            <a:r>
              <a:rPr lang="en-US" altLang="zh-CN" sz="3200" b="1" dirty="0"/>
              <a:t>,</a:t>
            </a:r>
            <a:r>
              <a:rPr lang="en-US" altLang="zh-CN" sz="3200" b="1" i="1" dirty="0"/>
              <a:t>Y</a:t>
            </a:r>
            <a:r>
              <a:rPr lang="en-US" altLang="zh-CN" sz="3200" b="1" baseline="-25000" dirty="0"/>
              <a:t>1</a:t>
            </a:r>
            <a:r>
              <a:rPr lang="en-US" altLang="zh-CN" sz="3200" b="1" dirty="0"/>
              <a:t>) </a:t>
            </a:r>
            <a:endParaRPr lang="en-US" altLang="zh-CN" sz="3200" b="1" dirty="0"/>
          </a:p>
        </p:txBody>
      </p:sp>
      <p:sp>
        <p:nvSpPr>
          <p:cNvPr id="12" name="Text Box 11"/>
          <p:cNvSpPr txBox="1">
            <a:spLocks noChangeArrowheads="1"/>
          </p:cNvSpPr>
          <p:nvPr/>
        </p:nvSpPr>
        <p:spPr bwMode="auto">
          <a:xfrm>
            <a:off x="3923928" y="5547616"/>
            <a:ext cx="471690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3200" b="1" i="1" dirty="0"/>
              <a:t>+</a:t>
            </a:r>
            <a:r>
              <a:rPr lang="en-US" altLang="zh-CN" sz="3200" b="1" i="1" dirty="0" err="1"/>
              <a:t>Cov</a:t>
            </a:r>
            <a:r>
              <a:rPr lang="en-US" altLang="zh-CN" sz="3200" b="1" dirty="0"/>
              <a:t>(</a:t>
            </a:r>
            <a:r>
              <a:rPr lang="en-US" altLang="zh-CN" sz="3200" b="1" i="1" dirty="0"/>
              <a:t>X</a:t>
            </a:r>
            <a:r>
              <a:rPr lang="en-US" altLang="zh-CN" sz="3200" b="1" baseline="-25000" dirty="0"/>
              <a:t>1</a:t>
            </a:r>
            <a:r>
              <a:rPr lang="en-US" altLang="zh-CN" sz="3200" b="1" dirty="0"/>
              <a:t>,</a:t>
            </a:r>
            <a:r>
              <a:rPr lang="en-US" altLang="zh-CN" sz="3200" b="1" i="1" dirty="0"/>
              <a:t>Y</a:t>
            </a:r>
            <a:r>
              <a:rPr lang="en-US" altLang="zh-CN" sz="3200" b="1" baseline="-25000" dirty="0"/>
              <a:t>2</a:t>
            </a:r>
            <a:r>
              <a:rPr lang="en-US" altLang="zh-CN" sz="3200" b="1" dirty="0"/>
              <a:t>) + </a:t>
            </a:r>
            <a:r>
              <a:rPr lang="en-US" altLang="zh-CN" sz="3200" b="1" i="1" dirty="0" err="1"/>
              <a:t>Cov</a:t>
            </a:r>
            <a:r>
              <a:rPr lang="en-US" altLang="zh-CN" sz="3200" b="1" dirty="0"/>
              <a:t>(</a:t>
            </a:r>
            <a:r>
              <a:rPr lang="en-US" altLang="zh-CN" sz="3200" b="1" i="1" dirty="0"/>
              <a:t>X</a:t>
            </a:r>
            <a:r>
              <a:rPr lang="en-US" altLang="zh-CN" sz="3200" b="1" baseline="-25000" dirty="0"/>
              <a:t>2</a:t>
            </a:r>
            <a:r>
              <a:rPr lang="en-US" altLang="zh-CN" sz="3200" b="1" dirty="0"/>
              <a:t>,</a:t>
            </a:r>
            <a:r>
              <a:rPr lang="en-US" altLang="zh-CN" sz="3200" b="1" i="1" dirty="0"/>
              <a:t>Y</a:t>
            </a:r>
            <a:r>
              <a:rPr lang="en-US" altLang="zh-CN" sz="3200" b="1" baseline="-25000" dirty="0"/>
              <a:t>2</a:t>
            </a:r>
            <a:r>
              <a:rPr lang="en-US" altLang="zh-CN" sz="3200" b="1" dirty="0"/>
              <a:t>) </a:t>
            </a:r>
            <a:endParaRPr lang="en-US" altLang="zh-CN"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7041"/>
                                        </p:tgtEl>
                                        <p:attrNameLst>
                                          <p:attrName>style.visibility</p:attrName>
                                        </p:attrNameLst>
                                      </p:cBhvr>
                                      <p:to>
                                        <p:strVal val="visible"/>
                                      </p:to>
                                    </p:set>
                                    <p:anim calcmode="lin" valueType="num">
                                      <p:cBhvr additive="base">
                                        <p:cTn id="7" dur="500" fill="hold"/>
                                        <p:tgtEl>
                                          <p:spTgt spid="257041"/>
                                        </p:tgtEl>
                                        <p:attrNameLst>
                                          <p:attrName>ppt_x</p:attrName>
                                        </p:attrNameLst>
                                      </p:cBhvr>
                                      <p:tavLst>
                                        <p:tav tm="0">
                                          <p:val>
                                            <p:strVal val="0-#ppt_w/2"/>
                                          </p:val>
                                        </p:tav>
                                        <p:tav tm="100000">
                                          <p:val>
                                            <p:strVal val="#ppt_x"/>
                                          </p:val>
                                        </p:tav>
                                      </p:tavLst>
                                    </p:anim>
                                    <p:anim calcmode="lin" valueType="num">
                                      <p:cBhvr additive="base">
                                        <p:cTn id="8" dur="500" fill="hold"/>
                                        <p:tgtEl>
                                          <p:spTgt spid="25704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57034"/>
                                        </p:tgtEl>
                                        <p:attrNameLst>
                                          <p:attrName>style.visibility</p:attrName>
                                        </p:attrNameLst>
                                      </p:cBhvr>
                                      <p:to>
                                        <p:strVal val="visible"/>
                                      </p:to>
                                    </p:set>
                                    <p:animEffect transition="in" filter="wipe(left)">
                                      <p:cBhvr>
                                        <p:cTn id="13" dur="500"/>
                                        <p:tgtEl>
                                          <p:spTgt spid="25703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grpId="0" nodeType="clickEffect">
                                  <p:stCondLst>
                                    <p:cond delay="0"/>
                                  </p:stCondLst>
                                  <p:childTnLst>
                                    <p:set>
                                      <p:cBhvr>
                                        <p:cTn id="17" dur="1" fill="hold">
                                          <p:stCondLst>
                                            <p:cond delay="0"/>
                                          </p:stCondLst>
                                        </p:cTn>
                                        <p:tgtEl>
                                          <p:spTgt spid="257040"/>
                                        </p:tgtEl>
                                        <p:attrNameLst>
                                          <p:attrName>style.visibility</p:attrName>
                                        </p:attrNameLst>
                                      </p:cBhvr>
                                      <p:to>
                                        <p:strVal val="visible"/>
                                      </p:to>
                                    </p:set>
                                    <p:animEffect transition="in" filter="wipe(right)">
                                      <p:cBhvr>
                                        <p:cTn id="18" dur="500"/>
                                        <p:tgtEl>
                                          <p:spTgt spid="257040"/>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57038"/>
                                        </p:tgtEl>
                                        <p:attrNameLst>
                                          <p:attrName>style.visibility</p:attrName>
                                        </p:attrNameLst>
                                      </p:cBhvr>
                                      <p:to>
                                        <p:strVal val="visible"/>
                                      </p:to>
                                    </p:set>
                                    <p:anim calcmode="lin" valueType="num">
                                      <p:cBhvr additive="base">
                                        <p:cTn id="23" dur="500" fill="hold"/>
                                        <p:tgtEl>
                                          <p:spTgt spid="257038"/>
                                        </p:tgtEl>
                                        <p:attrNameLst>
                                          <p:attrName>ppt_x</p:attrName>
                                        </p:attrNameLst>
                                      </p:cBhvr>
                                      <p:tavLst>
                                        <p:tav tm="0">
                                          <p:val>
                                            <p:strVal val="0-#ppt_w/2"/>
                                          </p:val>
                                        </p:tav>
                                        <p:tav tm="100000">
                                          <p:val>
                                            <p:strVal val="#ppt_x"/>
                                          </p:val>
                                        </p:tav>
                                      </p:tavLst>
                                    </p:anim>
                                    <p:anim calcmode="lin" valueType="num">
                                      <p:cBhvr additive="base">
                                        <p:cTn id="24" dur="500" fill="hold"/>
                                        <p:tgtEl>
                                          <p:spTgt spid="257038"/>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57036"/>
                                        </p:tgtEl>
                                        <p:attrNameLst>
                                          <p:attrName>style.visibility</p:attrName>
                                        </p:attrNameLst>
                                      </p:cBhvr>
                                      <p:to>
                                        <p:strVal val="visible"/>
                                      </p:to>
                                    </p:set>
                                    <p:animEffect transition="in" filter="wipe(left)">
                                      <p:cBhvr>
                                        <p:cTn id="29" dur="500"/>
                                        <p:tgtEl>
                                          <p:spTgt spid="25703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57039"/>
                                        </p:tgtEl>
                                        <p:attrNameLst>
                                          <p:attrName>style.visibility</p:attrName>
                                        </p:attrNameLst>
                                      </p:cBhvr>
                                      <p:to>
                                        <p:strVal val="visible"/>
                                      </p:to>
                                    </p:set>
                                    <p:animEffect transition="in" filter="wipe(left)">
                                      <p:cBhvr>
                                        <p:cTn id="34" dur="500"/>
                                        <p:tgtEl>
                                          <p:spTgt spid="25703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57035"/>
                                        </p:tgtEl>
                                        <p:attrNameLst>
                                          <p:attrName>style.visibility</p:attrName>
                                        </p:attrNameLst>
                                      </p:cBhvr>
                                      <p:to>
                                        <p:strVal val="visible"/>
                                      </p:to>
                                    </p:set>
                                    <p:animEffect transition="in" filter="wipe(left)">
                                      <p:cBhvr>
                                        <p:cTn id="39" dur="500"/>
                                        <p:tgtEl>
                                          <p:spTgt spid="25703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wipe(left)">
                                      <p:cBhvr>
                                        <p:cTn id="4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34" grpId="0" autoUpdateAnimBg="0"/>
      <p:bldP spid="257035" grpId="0" autoUpdateAnimBg="0"/>
      <p:bldP spid="257036" grpId="0" autoUpdateAnimBg="0"/>
      <p:bldP spid="257038" grpId="0" autoUpdateAnimBg="0"/>
      <p:bldP spid="257039" grpId="0" autoUpdateAnimBg="0"/>
      <p:bldP spid="257040" grpId="0" autoUpdateAnimBg="0"/>
      <p:bldP spid="257041" grpId="0" autoUpdateAnimBg="0"/>
      <p:bldP spid="11" grpId="0" autoUpdateAnimBg="0"/>
      <p:bldP spid="12"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Text Box 2"/>
          <p:cNvSpPr txBox="1">
            <a:spLocks noChangeArrowheads="1"/>
          </p:cNvSpPr>
          <p:nvPr/>
        </p:nvSpPr>
        <p:spPr bwMode="auto">
          <a:xfrm>
            <a:off x="1524000" y="3276600"/>
            <a:ext cx="54006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a:t>   </a:t>
            </a:r>
            <a:r>
              <a:rPr lang="en-US" altLang="zh-CN" sz="3200" i="1">
                <a:solidFill>
                  <a:srgbClr val="003399"/>
                </a:solidFill>
              </a:rPr>
              <a:t>Cov</a:t>
            </a:r>
            <a:r>
              <a:rPr lang="en-US" altLang="zh-CN" sz="3200">
                <a:solidFill>
                  <a:srgbClr val="003399"/>
                </a:solidFill>
              </a:rPr>
              <a:t>(</a:t>
            </a:r>
            <a:r>
              <a:rPr lang="en-US" altLang="zh-CN" sz="3200" b="1" i="1">
                <a:solidFill>
                  <a:srgbClr val="003399"/>
                </a:solidFill>
              </a:rPr>
              <a:t>X</a:t>
            </a:r>
            <a:r>
              <a:rPr lang="en-US" altLang="zh-CN" sz="3200" b="1">
                <a:solidFill>
                  <a:srgbClr val="003399"/>
                </a:solidFill>
              </a:rPr>
              <a:t>,</a:t>
            </a:r>
            <a:r>
              <a:rPr lang="en-US" altLang="zh-CN" sz="3200" b="1" i="1">
                <a:solidFill>
                  <a:srgbClr val="003399"/>
                </a:solidFill>
              </a:rPr>
              <a:t>Y</a:t>
            </a:r>
            <a:r>
              <a:rPr lang="en-US" altLang="zh-CN" sz="3200">
                <a:solidFill>
                  <a:srgbClr val="003399"/>
                </a:solidFill>
              </a:rPr>
              <a:t>)=</a:t>
            </a:r>
            <a:r>
              <a:rPr lang="en-US" altLang="zh-CN" sz="3200" b="1" i="1">
                <a:solidFill>
                  <a:srgbClr val="003399"/>
                </a:solidFill>
              </a:rPr>
              <a:t>E</a:t>
            </a:r>
            <a:r>
              <a:rPr lang="en-US" altLang="zh-CN" sz="3200">
                <a:solidFill>
                  <a:srgbClr val="003399"/>
                </a:solidFill>
              </a:rPr>
              <a:t>(</a:t>
            </a:r>
            <a:r>
              <a:rPr lang="en-US" altLang="zh-CN" sz="3200" b="1" i="1">
                <a:solidFill>
                  <a:srgbClr val="003399"/>
                </a:solidFill>
              </a:rPr>
              <a:t>XY</a:t>
            </a:r>
            <a:r>
              <a:rPr lang="en-US" altLang="zh-CN" sz="3200">
                <a:solidFill>
                  <a:srgbClr val="003399"/>
                </a:solidFill>
              </a:rPr>
              <a:t>) </a:t>
            </a:r>
            <a:r>
              <a:rPr lang="en-US" altLang="zh-CN" sz="3200">
                <a:solidFill>
                  <a:srgbClr val="003399"/>
                </a:solidFill>
                <a:latin typeface="宋体" panose="02010600030101010101" pitchFamily="2" charset="-122"/>
              </a:rPr>
              <a:t>-</a:t>
            </a:r>
            <a:r>
              <a:rPr lang="en-US" altLang="zh-CN" sz="3200" b="1" i="1">
                <a:solidFill>
                  <a:srgbClr val="003399"/>
                </a:solidFill>
              </a:rPr>
              <a:t>E</a:t>
            </a:r>
            <a:r>
              <a:rPr lang="en-US" altLang="zh-CN" sz="3200">
                <a:solidFill>
                  <a:srgbClr val="003399"/>
                </a:solidFill>
              </a:rPr>
              <a:t>(</a:t>
            </a:r>
            <a:r>
              <a:rPr lang="en-US" altLang="zh-CN" sz="3200" b="1" i="1">
                <a:solidFill>
                  <a:srgbClr val="003399"/>
                </a:solidFill>
              </a:rPr>
              <a:t>X</a:t>
            </a:r>
            <a:r>
              <a:rPr lang="en-US" altLang="zh-CN" sz="3200">
                <a:solidFill>
                  <a:srgbClr val="003399"/>
                </a:solidFill>
              </a:rPr>
              <a:t>)</a:t>
            </a:r>
            <a:r>
              <a:rPr lang="en-US" altLang="zh-CN" sz="3200" b="1" i="1">
                <a:solidFill>
                  <a:srgbClr val="003399"/>
                </a:solidFill>
              </a:rPr>
              <a:t>E</a:t>
            </a:r>
            <a:r>
              <a:rPr lang="en-US" altLang="zh-CN" sz="3200">
                <a:solidFill>
                  <a:srgbClr val="003399"/>
                </a:solidFill>
              </a:rPr>
              <a:t>(</a:t>
            </a:r>
            <a:r>
              <a:rPr lang="en-US" altLang="zh-CN" sz="3200" b="1" i="1">
                <a:solidFill>
                  <a:srgbClr val="003399"/>
                </a:solidFill>
              </a:rPr>
              <a:t>Y</a:t>
            </a:r>
            <a:r>
              <a:rPr lang="en-US" altLang="zh-CN" sz="3200">
                <a:solidFill>
                  <a:srgbClr val="003399"/>
                </a:solidFill>
              </a:rPr>
              <a:t>)</a:t>
            </a:r>
            <a:r>
              <a:rPr lang="en-US" altLang="zh-CN"/>
              <a:t> </a:t>
            </a:r>
            <a:endParaRPr lang="en-US" altLang="zh-CN"/>
          </a:p>
        </p:txBody>
      </p:sp>
      <p:sp>
        <p:nvSpPr>
          <p:cNvPr id="258051" name="Rectangle 3"/>
          <p:cNvSpPr>
            <a:spLocks noChangeArrowheads="1"/>
          </p:cNvSpPr>
          <p:nvPr/>
        </p:nvSpPr>
        <p:spPr bwMode="auto">
          <a:xfrm>
            <a:off x="838200" y="3962400"/>
            <a:ext cx="62912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可见，若</a:t>
            </a:r>
            <a:r>
              <a:rPr lang="en-US" altLang="zh-CN" sz="3200" b="1" i="1"/>
              <a:t>X </a:t>
            </a:r>
            <a:r>
              <a:rPr lang="zh-CN" altLang="en-US" sz="2800" b="1"/>
              <a:t>与 </a:t>
            </a:r>
            <a:r>
              <a:rPr lang="en-US" altLang="zh-CN" sz="3200" b="1" i="1"/>
              <a:t>Y </a:t>
            </a:r>
            <a:r>
              <a:rPr lang="zh-CN" altLang="en-US" sz="2800" b="1"/>
              <a:t>独立</a:t>
            </a:r>
            <a:r>
              <a:rPr lang="zh-CN" altLang="en-US" sz="3200" b="1"/>
              <a:t>， </a:t>
            </a:r>
            <a:r>
              <a:rPr lang="en-US" altLang="zh-CN" sz="3200" b="1" i="1"/>
              <a:t>Cov</a:t>
            </a:r>
            <a:r>
              <a:rPr lang="en-US" altLang="zh-CN" sz="3200" b="1"/>
              <a:t>(</a:t>
            </a:r>
            <a:r>
              <a:rPr lang="en-US" altLang="zh-CN" sz="3200" b="1" i="1"/>
              <a:t>X</a:t>
            </a:r>
            <a:r>
              <a:rPr lang="en-US" altLang="zh-CN" sz="3200" b="1"/>
              <a:t>,</a:t>
            </a:r>
            <a:r>
              <a:rPr lang="en-US" altLang="zh-CN" sz="3200" b="1" i="1"/>
              <a:t>Y</a:t>
            </a:r>
            <a:r>
              <a:rPr lang="en-US" altLang="zh-CN" sz="3200" b="1"/>
              <a:t>)= 0 .</a:t>
            </a:r>
            <a:endParaRPr lang="en-US" altLang="zh-CN" sz="3200" b="1"/>
          </a:p>
        </p:txBody>
      </p:sp>
      <p:sp>
        <p:nvSpPr>
          <p:cNvPr id="75780" name="Rectangle 4"/>
          <p:cNvSpPr>
            <a:spLocks noChangeArrowheads="1"/>
          </p:cNvSpPr>
          <p:nvPr/>
        </p:nvSpPr>
        <p:spPr bwMode="auto">
          <a:xfrm>
            <a:off x="304800" y="152400"/>
            <a:ext cx="57927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b="1"/>
              <a:t> </a:t>
            </a:r>
            <a:r>
              <a:rPr lang="en-US" altLang="zh-CN" sz="3200" b="1">
                <a:solidFill>
                  <a:srgbClr val="003399"/>
                </a:solidFill>
              </a:rPr>
              <a:t>3</a:t>
            </a:r>
            <a:r>
              <a:rPr lang="zh-CN" altLang="en-US" sz="3200" b="1">
                <a:solidFill>
                  <a:srgbClr val="003399"/>
                </a:solidFill>
              </a:rPr>
              <a:t>、计算协方差的一个简单公式</a:t>
            </a:r>
            <a:endParaRPr lang="zh-CN" altLang="en-US" sz="3200" b="1">
              <a:solidFill>
                <a:srgbClr val="003399"/>
              </a:solidFill>
            </a:endParaRPr>
          </a:p>
        </p:txBody>
      </p:sp>
      <p:sp>
        <p:nvSpPr>
          <p:cNvPr id="258053" name="Rectangle 5"/>
          <p:cNvSpPr>
            <a:spLocks noChangeArrowheads="1"/>
          </p:cNvSpPr>
          <p:nvPr/>
        </p:nvSpPr>
        <p:spPr bwMode="auto">
          <a:xfrm>
            <a:off x="539750" y="849313"/>
            <a:ext cx="5899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由协方差的定义及期望的性质，可得</a:t>
            </a:r>
            <a:endParaRPr lang="zh-CN" altLang="en-US" sz="2800" b="1"/>
          </a:p>
        </p:txBody>
      </p:sp>
      <p:sp>
        <p:nvSpPr>
          <p:cNvPr id="258054" name="Rectangle 6"/>
          <p:cNvSpPr>
            <a:spLocks noChangeArrowheads="1"/>
          </p:cNvSpPr>
          <p:nvPr/>
        </p:nvSpPr>
        <p:spPr bwMode="auto">
          <a:xfrm>
            <a:off x="1266825" y="1474788"/>
            <a:ext cx="56880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i="1"/>
              <a:t>Cov</a:t>
            </a:r>
            <a:r>
              <a:rPr lang="en-US" altLang="zh-CN" sz="3200" b="1"/>
              <a:t>(</a:t>
            </a:r>
            <a:r>
              <a:rPr lang="en-US" altLang="zh-CN" sz="3200" b="1" i="1"/>
              <a:t>X</a:t>
            </a:r>
            <a:r>
              <a:rPr lang="en-US" altLang="zh-CN" sz="3200" b="1"/>
              <a:t>,</a:t>
            </a:r>
            <a:r>
              <a:rPr lang="en-US" altLang="zh-CN" sz="3200" b="1" i="1"/>
              <a:t>Y</a:t>
            </a:r>
            <a:r>
              <a:rPr lang="en-US" altLang="zh-CN" sz="3200" b="1"/>
              <a:t>)=</a:t>
            </a:r>
            <a:r>
              <a:rPr lang="en-US" altLang="zh-CN" sz="3200" b="1" i="1"/>
              <a:t>E</a:t>
            </a:r>
            <a:r>
              <a:rPr lang="en-US" altLang="zh-CN" sz="3200" b="1"/>
              <a:t>{[ </a:t>
            </a:r>
            <a:r>
              <a:rPr lang="en-US" altLang="zh-CN" sz="3200" b="1" i="1"/>
              <a:t>X</a:t>
            </a:r>
            <a:r>
              <a:rPr lang="en-US" altLang="zh-CN" sz="3200" b="1"/>
              <a:t>-</a:t>
            </a:r>
            <a:r>
              <a:rPr lang="en-US" altLang="zh-CN" sz="3200" b="1" i="1"/>
              <a:t>E</a:t>
            </a:r>
            <a:r>
              <a:rPr lang="en-US" altLang="zh-CN" sz="3200" b="1"/>
              <a:t>(</a:t>
            </a:r>
            <a:r>
              <a:rPr lang="en-US" altLang="zh-CN" sz="3200" b="1" i="1"/>
              <a:t>X</a:t>
            </a:r>
            <a:r>
              <a:rPr lang="en-US" altLang="zh-CN" sz="3200" b="1"/>
              <a:t>)][</a:t>
            </a:r>
            <a:r>
              <a:rPr lang="en-US" altLang="zh-CN" sz="3200" b="1" i="1"/>
              <a:t>Y</a:t>
            </a:r>
            <a:r>
              <a:rPr lang="en-US" altLang="zh-CN" sz="3200" b="1"/>
              <a:t>-</a:t>
            </a:r>
            <a:r>
              <a:rPr lang="en-US" altLang="zh-CN" sz="3200" b="1" i="1"/>
              <a:t>E</a:t>
            </a:r>
            <a:r>
              <a:rPr lang="en-US" altLang="zh-CN" sz="3200" b="1"/>
              <a:t>(</a:t>
            </a:r>
            <a:r>
              <a:rPr lang="en-US" altLang="zh-CN" sz="3200" b="1" i="1"/>
              <a:t>Y</a:t>
            </a:r>
            <a:r>
              <a:rPr lang="en-US" altLang="zh-CN" sz="3200" b="1"/>
              <a:t>) ]}</a:t>
            </a:r>
            <a:endParaRPr lang="en-US" altLang="zh-CN" sz="3200" b="1"/>
          </a:p>
        </p:txBody>
      </p:sp>
      <p:sp>
        <p:nvSpPr>
          <p:cNvPr id="258055" name="Rectangle 7"/>
          <p:cNvSpPr>
            <a:spLocks noChangeArrowheads="1"/>
          </p:cNvSpPr>
          <p:nvPr/>
        </p:nvSpPr>
        <p:spPr bwMode="auto">
          <a:xfrm>
            <a:off x="1219200" y="2057400"/>
            <a:ext cx="69072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a:t>=</a:t>
            </a:r>
            <a:r>
              <a:rPr lang="en-US" altLang="zh-CN" sz="3200" b="1" i="1"/>
              <a:t>E</a:t>
            </a:r>
            <a:r>
              <a:rPr lang="en-US" altLang="zh-CN" sz="3200" b="1"/>
              <a:t>(</a:t>
            </a:r>
            <a:r>
              <a:rPr lang="en-US" altLang="zh-CN" sz="3200" b="1" i="1"/>
              <a:t>XY</a:t>
            </a:r>
            <a:r>
              <a:rPr lang="en-US" altLang="zh-CN" sz="3200" b="1"/>
              <a:t>)-</a:t>
            </a:r>
            <a:r>
              <a:rPr lang="en-US" altLang="zh-CN" sz="3200" b="1" i="1"/>
              <a:t>E</a:t>
            </a:r>
            <a:r>
              <a:rPr lang="en-US" altLang="zh-CN" sz="3200" b="1"/>
              <a:t>(</a:t>
            </a:r>
            <a:r>
              <a:rPr lang="en-US" altLang="zh-CN" sz="3200" b="1" i="1"/>
              <a:t>X</a:t>
            </a:r>
            <a:r>
              <a:rPr lang="en-US" altLang="zh-CN" sz="3200" b="1"/>
              <a:t>)</a:t>
            </a:r>
            <a:r>
              <a:rPr lang="en-US" altLang="zh-CN" sz="3200" b="1" i="1"/>
              <a:t>E</a:t>
            </a:r>
            <a:r>
              <a:rPr lang="en-US" altLang="zh-CN" sz="3200" b="1"/>
              <a:t>(</a:t>
            </a:r>
            <a:r>
              <a:rPr lang="en-US" altLang="zh-CN" sz="3200" b="1" i="1"/>
              <a:t>Y</a:t>
            </a:r>
            <a:r>
              <a:rPr lang="en-US" altLang="zh-CN" sz="3200" b="1"/>
              <a:t>)-</a:t>
            </a:r>
            <a:r>
              <a:rPr lang="en-US" altLang="zh-CN" sz="3200" b="1" i="1"/>
              <a:t>E</a:t>
            </a:r>
            <a:r>
              <a:rPr lang="en-US" altLang="zh-CN" sz="3200" b="1"/>
              <a:t>(</a:t>
            </a:r>
            <a:r>
              <a:rPr lang="en-US" altLang="zh-CN" sz="3200" b="1" i="1"/>
              <a:t>Y</a:t>
            </a:r>
            <a:r>
              <a:rPr lang="en-US" altLang="zh-CN" sz="3200" b="1"/>
              <a:t>)</a:t>
            </a:r>
            <a:r>
              <a:rPr lang="en-US" altLang="zh-CN" sz="3200" b="1" i="1"/>
              <a:t>E</a:t>
            </a:r>
            <a:r>
              <a:rPr lang="en-US" altLang="zh-CN" sz="3200" b="1"/>
              <a:t>(X)+</a:t>
            </a:r>
            <a:r>
              <a:rPr lang="en-US" altLang="zh-CN" sz="3200" b="1" i="1"/>
              <a:t>E</a:t>
            </a:r>
            <a:r>
              <a:rPr lang="en-US" altLang="zh-CN" sz="3200" b="1"/>
              <a:t>(</a:t>
            </a:r>
            <a:r>
              <a:rPr lang="en-US" altLang="zh-CN" sz="3200" b="1" i="1"/>
              <a:t>X</a:t>
            </a:r>
            <a:r>
              <a:rPr lang="en-US" altLang="zh-CN" sz="3200" b="1"/>
              <a:t>)</a:t>
            </a:r>
            <a:r>
              <a:rPr lang="en-US" altLang="zh-CN" sz="3200" b="1" i="1"/>
              <a:t>E</a:t>
            </a:r>
            <a:r>
              <a:rPr lang="en-US" altLang="zh-CN" sz="3200" b="1"/>
              <a:t>(</a:t>
            </a:r>
            <a:r>
              <a:rPr lang="en-US" altLang="zh-CN" sz="3200" b="1" i="1"/>
              <a:t>Y</a:t>
            </a:r>
            <a:r>
              <a:rPr lang="en-US" altLang="zh-CN" sz="3200" b="1"/>
              <a:t>) </a:t>
            </a:r>
            <a:endParaRPr lang="en-US" altLang="zh-CN" sz="3200" b="1"/>
          </a:p>
        </p:txBody>
      </p:sp>
      <p:sp>
        <p:nvSpPr>
          <p:cNvPr id="258056" name="Rectangle 8"/>
          <p:cNvSpPr>
            <a:spLocks noChangeArrowheads="1"/>
          </p:cNvSpPr>
          <p:nvPr/>
        </p:nvSpPr>
        <p:spPr bwMode="auto">
          <a:xfrm>
            <a:off x="1219200" y="2667000"/>
            <a:ext cx="32131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a:t>=</a:t>
            </a:r>
            <a:r>
              <a:rPr lang="en-US" altLang="zh-CN" sz="3200" b="1" i="1"/>
              <a:t>E</a:t>
            </a:r>
            <a:r>
              <a:rPr lang="en-US" altLang="zh-CN" sz="3200" b="1"/>
              <a:t>(</a:t>
            </a:r>
            <a:r>
              <a:rPr lang="en-US" altLang="zh-CN" sz="3200" b="1" i="1"/>
              <a:t>XY</a:t>
            </a:r>
            <a:r>
              <a:rPr lang="en-US" altLang="zh-CN" sz="3200" b="1"/>
              <a:t>)-</a:t>
            </a:r>
            <a:r>
              <a:rPr lang="en-US" altLang="zh-CN" sz="3200" b="1" i="1"/>
              <a:t>E</a:t>
            </a:r>
            <a:r>
              <a:rPr lang="en-US" altLang="zh-CN" sz="3200" b="1"/>
              <a:t>(</a:t>
            </a:r>
            <a:r>
              <a:rPr lang="en-US" altLang="zh-CN" sz="3200" b="1" i="1"/>
              <a:t>X</a:t>
            </a:r>
            <a:r>
              <a:rPr lang="en-US" altLang="zh-CN" sz="3200" b="1"/>
              <a:t>)</a:t>
            </a:r>
            <a:r>
              <a:rPr lang="en-US" altLang="zh-CN" sz="3200" b="1" i="1"/>
              <a:t>E</a:t>
            </a:r>
            <a:r>
              <a:rPr lang="en-US" altLang="zh-CN" sz="3200" b="1"/>
              <a:t>(</a:t>
            </a:r>
            <a:r>
              <a:rPr lang="en-US" altLang="zh-CN" sz="3200" b="1" i="1"/>
              <a:t>Y</a:t>
            </a:r>
            <a:r>
              <a:rPr lang="en-US" altLang="zh-CN" sz="3200" b="1"/>
              <a:t>)</a:t>
            </a:r>
            <a:endParaRPr lang="en-US" altLang="zh-CN" sz="3200" b="1"/>
          </a:p>
        </p:txBody>
      </p:sp>
      <p:sp>
        <p:nvSpPr>
          <p:cNvPr id="258057" name="Rectangle 9"/>
          <p:cNvSpPr>
            <a:spLocks noChangeArrowheads="1"/>
          </p:cNvSpPr>
          <p:nvPr/>
        </p:nvSpPr>
        <p:spPr bwMode="auto">
          <a:xfrm>
            <a:off x="914400" y="3352800"/>
            <a:ext cx="541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即</a:t>
            </a:r>
            <a:endParaRPr lang="zh-CN" altLang="en-US" sz="2800" b="1"/>
          </a:p>
        </p:txBody>
      </p:sp>
      <p:sp>
        <p:nvSpPr>
          <p:cNvPr id="258058" name="Text Box 10"/>
          <p:cNvSpPr txBox="1">
            <a:spLocks noChangeArrowheads="1"/>
          </p:cNvSpPr>
          <p:nvPr/>
        </p:nvSpPr>
        <p:spPr bwMode="auto">
          <a:xfrm>
            <a:off x="762000" y="4572000"/>
            <a:ext cx="1255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特别地</a:t>
            </a:r>
            <a:endParaRPr lang="zh-CN" altLang="en-US" sz="2800" b="1"/>
          </a:p>
        </p:txBody>
      </p:sp>
      <p:graphicFrame>
        <p:nvGraphicFramePr>
          <p:cNvPr id="258059" name="Object 11"/>
          <p:cNvGraphicFramePr>
            <a:graphicFrameLocks noChangeAspect="1"/>
          </p:cNvGraphicFramePr>
          <p:nvPr/>
        </p:nvGraphicFramePr>
        <p:xfrm>
          <a:off x="2133600" y="4648200"/>
          <a:ext cx="5359400" cy="444500"/>
        </p:xfrm>
        <a:graphic>
          <a:graphicData uri="http://schemas.openxmlformats.org/presentationml/2006/ole">
            <mc:AlternateContent xmlns:mc="http://schemas.openxmlformats.org/markup-compatibility/2006">
              <mc:Choice xmlns:v="urn:schemas-microsoft-com:vml" Requires="v">
                <p:oleObj spid="_x0000_s75830" name="Equation" r:id="rId1" imgW="5276850" imgH="365760" progId="Equation.3">
                  <p:embed/>
                </p:oleObj>
              </mc:Choice>
              <mc:Fallback>
                <p:oleObj name="Equation" r:id="rId1" imgW="5276850" imgH="365760" progId="Equation.3">
                  <p:embed/>
                  <p:pic>
                    <p:nvPicPr>
                      <p:cNvPr id="0" name="Object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4648200"/>
                        <a:ext cx="53594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8060" name="Rectangle 12"/>
          <p:cNvSpPr>
            <a:spLocks noChangeArrowheads="1"/>
          </p:cNvSpPr>
          <p:nvPr/>
        </p:nvSpPr>
        <p:spPr bwMode="auto">
          <a:xfrm>
            <a:off x="1371600" y="5715000"/>
            <a:ext cx="50990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i="1"/>
              <a:t>D</a:t>
            </a:r>
            <a:r>
              <a:rPr lang="en-US" altLang="zh-CN" sz="2800" b="1"/>
              <a:t>(</a:t>
            </a:r>
            <a:r>
              <a:rPr lang="en-US" altLang="zh-CN" sz="2800" b="1" i="1"/>
              <a:t>X</a:t>
            </a:r>
            <a:r>
              <a:rPr lang="en-US" altLang="zh-CN" sz="2800" b="1"/>
              <a:t>+</a:t>
            </a:r>
            <a:r>
              <a:rPr lang="en-US" altLang="zh-CN" sz="2800" b="1" i="1"/>
              <a:t>Y</a:t>
            </a:r>
            <a:r>
              <a:rPr lang="en-US" altLang="zh-CN" sz="2800" b="1"/>
              <a:t>)= </a:t>
            </a:r>
            <a:r>
              <a:rPr lang="en-US" altLang="zh-CN" sz="2800" b="1" i="1"/>
              <a:t>D</a:t>
            </a:r>
            <a:r>
              <a:rPr lang="en-US" altLang="zh-CN" sz="2800" b="1"/>
              <a:t>(</a:t>
            </a:r>
            <a:r>
              <a:rPr lang="en-US" altLang="zh-CN" sz="2800" b="1" i="1"/>
              <a:t>X</a:t>
            </a:r>
            <a:r>
              <a:rPr lang="en-US" altLang="zh-CN" sz="2800" b="1"/>
              <a:t>)+</a:t>
            </a:r>
            <a:r>
              <a:rPr lang="en-US" altLang="zh-CN" sz="2800" b="1" i="1"/>
              <a:t>D</a:t>
            </a:r>
            <a:r>
              <a:rPr lang="en-US" altLang="zh-CN" sz="2800" b="1"/>
              <a:t>(</a:t>
            </a:r>
            <a:r>
              <a:rPr lang="en-US" altLang="zh-CN" sz="2800" b="1" i="1"/>
              <a:t>Y</a:t>
            </a:r>
            <a:r>
              <a:rPr lang="en-US" altLang="zh-CN" sz="2800" b="1"/>
              <a:t>)+ 2</a:t>
            </a:r>
            <a:r>
              <a:rPr lang="en-US" altLang="zh-CN" sz="2800" b="1" i="1"/>
              <a:t>Cov</a:t>
            </a:r>
            <a:r>
              <a:rPr lang="en-US" altLang="zh-CN" sz="2800" b="1"/>
              <a:t>(</a:t>
            </a:r>
            <a:r>
              <a:rPr lang="en-US" altLang="zh-CN" sz="2800" b="1" i="1"/>
              <a:t>X</a:t>
            </a:r>
            <a:r>
              <a:rPr lang="en-US" altLang="zh-CN" sz="2800" b="1"/>
              <a:t>,</a:t>
            </a:r>
            <a:r>
              <a:rPr lang="en-US" altLang="zh-CN" sz="2800" b="1" i="1"/>
              <a:t>Y</a:t>
            </a:r>
            <a:r>
              <a:rPr lang="en-US" altLang="zh-CN" sz="2800" b="1"/>
              <a:t>)</a:t>
            </a:r>
            <a:endParaRPr lang="en-US" altLang="zh-CN" sz="2800" b="1"/>
          </a:p>
        </p:txBody>
      </p:sp>
      <p:sp>
        <p:nvSpPr>
          <p:cNvPr id="258061" name="Rectangle 13"/>
          <p:cNvSpPr>
            <a:spLocks noChangeArrowheads="1"/>
          </p:cNvSpPr>
          <p:nvPr/>
        </p:nvSpPr>
        <p:spPr bwMode="auto">
          <a:xfrm>
            <a:off x="609600" y="5257800"/>
            <a:ext cx="5897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a:solidFill>
                  <a:srgbClr val="003399"/>
                </a:solidFill>
              </a:rPr>
              <a:t>4. </a:t>
            </a:r>
            <a:r>
              <a:rPr lang="zh-CN" altLang="en-US" sz="2800" b="1">
                <a:solidFill>
                  <a:srgbClr val="003399"/>
                </a:solidFill>
              </a:rPr>
              <a:t>随机变量</a:t>
            </a:r>
            <a:r>
              <a:rPr lang="zh-CN" altLang="zh-CN" sz="2800" b="1">
                <a:solidFill>
                  <a:srgbClr val="003399"/>
                </a:solidFill>
              </a:rPr>
              <a:t>和的方差与协方差的关系</a:t>
            </a:r>
            <a:endParaRPr lang="zh-CN" altLang="en-US" sz="2800" b="1">
              <a:solidFill>
                <a:srgbClr val="0033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8053"/>
                                        </p:tgtEl>
                                        <p:attrNameLst>
                                          <p:attrName>style.visibility</p:attrName>
                                        </p:attrNameLst>
                                      </p:cBhvr>
                                      <p:to>
                                        <p:strVal val="visible"/>
                                      </p:to>
                                    </p:set>
                                    <p:animEffect transition="in" filter="wipe(left)">
                                      <p:cBhvr>
                                        <p:cTn id="7" dur="500"/>
                                        <p:tgtEl>
                                          <p:spTgt spid="2580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8054"/>
                                        </p:tgtEl>
                                        <p:attrNameLst>
                                          <p:attrName>style.visibility</p:attrName>
                                        </p:attrNameLst>
                                      </p:cBhvr>
                                      <p:to>
                                        <p:strVal val="visible"/>
                                      </p:to>
                                    </p:set>
                                    <p:animEffect transition="in" filter="wipe(left)">
                                      <p:cBhvr>
                                        <p:cTn id="12" dur="500"/>
                                        <p:tgtEl>
                                          <p:spTgt spid="25805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258055"/>
                                        </p:tgtEl>
                                        <p:attrNameLst>
                                          <p:attrName>style.visibility</p:attrName>
                                        </p:attrNameLst>
                                      </p:cBhvr>
                                      <p:to>
                                        <p:strVal val="visible"/>
                                      </p:to>
                                    </p:set>
                                    <p:animEffect transition="in" filter="wipe(right)">
                                      <p:cBhvr>
                                        <p:cTn id="17" dur="500"/>
                                        <p:tgtEl>
                                          <p:spTgt spid="25805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8056"/>
                                        </p:tgtEl>
                                        <p:attrNameLst>
                                          <p:attrName>style.visibility</p:attrName>
                                        </p:attrNameLst>
                                      </p:cBhvr>
                                      <p:to>
                                        <p:strVal val="visible"/>
                                      </p:to>
                                    </p:set>
                                    <p:animEffect transition="in" filter="wipe(left)">
                                      <p:cBhvr>
                                        <p:cTn id="22" dur="500"/>
                                        <p:tgtEl>
                                          <p:spTgt spid="25805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258057"/>
                                        </p:tgtEl>
                                        <p:attrNameLst>
                                          <p:attrName>style.visibility</p:attrName>
                                        </p:attrNameLst>
                                      </p:cBhvr>
                                      <p:to>
                                        <p:strVal val="visible"/>
                                      </p:to>
                                    </p:set>
                                  </p:childTnLst>
                                </p:cTn>
                              </p:par>
                            </p:childTnLst>
                          </p:cTn>
                        </p:par>
                        <p:par>
                          <p:cTn id="27" fill="hold">
                            <p:stCondLst>
                              <p:cond delay="500"/>
                            </p:stCondLst>
                            <p:childTnLst>
                              <p:par>
                                <p:cTn id="28" presetID="2" presetClass="entr" presetSubtype="2" fill="hold" grpId="0" nodeType="afterEffect">
                                  <p:stCondLst>
                                    <p:cond delay="0"/>
                                  </p:stCondLst>
                                  <p:childTnLst>
                                    <p:set>
                                      <p:cBhvr>
                                        <p:cTn id="29" dur="1" fill="hold">
                                          <p:stCondLst>
                                            <p:cond delay="0"/>
                                          </p:stCondLst>
                                        </p:cTn>
                                        <p:tgtEl>
                                          <p:spTgt spid="258050"/>
                                        </p:tgtEl>
                                        <p:attrNameLst>
                                          <p:attrName>style.visibility</p:attrName>
                                        </p:attrNameLst>
                                      </p:cBhvr>
                                      <p:to>
                                        <p:strVal val="visible"/>
                                      </p:to>
                                    </p:set>
                                    <p:anim calcmode="lin" valueType="num">
                                      <p:cBhvr additive="base">
                                        <p:cTn id="30" dur="500" fill="hold"/>
                                        <p:tgtEl>
                                          <p:spTgt spid="258050"/>
                                        </p:tgtEl>
                                        <p:attrNameLst>
                                          <p:attrName>ppt_x</p:attrName>
                                        </p:attrNameLst>
                                      </p:cBhvr>
                                      <p:tavLst>
                                        <p:tav tm="0">
                                          <p:val>
                                            <p:strVal val="1+#ppt_w/2"/>
                                          </p:val>
                                        </p:tav>
                                        <p:tav tm="100000">
                                          <p:val>
                                            <p:strVal val="#ppt_x"/>
                                          </p:val>
                                        </p:tav>
                                      </p:tavLst>
                                    </p:anim>
                                    <p:anim calcmode="lin" valueType="num">
                                      <p:cBhvr additive="base">
                                        <p:cTn id="31" dur="500" fill="hold"/>
                                        <p:tgtEl>
                                          <p:spTgt spid="258050"/>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58051"/>
                                        </p:tgtEl>
                                        <p:attrNameLst>
                                          <p:attrName>style.visibility</p:attrName>
                                        </p:attrNameLst>
                                      </p:cBhvr>
                                      <p:to>
                                        <p:strVal val="visible"/>
                                      </p:to>
                                    </p:set>
                                    <p:anim calcmode="lin" valueType="num">
                                      <p:cBhvr additive="base">
                                        <p:cTn id="36" dur="500" fill="hold"/>
                                        <p:tgtEl>
                                          <p:spTgt spid="258051"/>
                                        </p:tgtEl>
                                        <p:attrNameLst>
                                          <p:attrName>ppt_x</p:attrName>
                                        </p:attrNameLst>
                                      </p:cBhvr>
                                      <p:tavLst>
                                        <p:tav tm="0">
                                          <p:val>
                                            <p:strVal val="#ppt_x"/>
                                          </p:val>
                                        </p:tav>
                                        <p:tav tm="100000">
                                          <p:val>
                                            <p:strVal val="#ppt_x"/>
                                          </p:val>
                                        </p:tav>
                                      </p:tavLst>
                                    </p:anim>
                                    <p:anim calcmode="lin" valueType="num">
                                      <p:cBhvr additive="base">
                                        <p:cTn id="37" dur="500" fill="hold"/>
                                        <p:tgtEl>
                                          <p:spTgt spid="258051"/>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258058"/>
                                        </p:tgtEl>
                                        <p:attrNameLst>
                                          <p:attrName>style.visibility</p:attrName>
                                        </p:attrNameLst>
                                      </p:cBhvr>
                                      <p:to>
                                        <p:strVal val="visible"/>
                                      </p:to>
                                    </p:set>
                                    <p:anim calcmode="lin" valueType="num">
                                      <p:cBhvr additive="base">
                                        <p:cTn id="42" dur="500" fill="hold"/>
                                        <p:tgtEl>
                                          <p:spTgt spid="258058"/>
                                        </p:tgtEl>
                                        <p:attrNameLst>
                                          <p:attrName>ppt_x</p:attrName>
                                        </p:attrNameLst>
                                      </p:cBhvr>
                                      <p:tavLst>
                                        <p:tav tm="0">
                                          <p:val>
                                            <p:strVal val="#ppt_x"/>
                                          </p:val>
                                        </p:tav>
                                        <p:tav tm="100000">
                                          <p:val>
                                            <p:strVal val="#ppt_x"/>
                                          </p:val>
                                        </p:tav>
                                      </p:tavLst>
                                    </p:anim>
                                    <p:anim calcmode="lin" valueType="num">
                                      <p:cBhvr additive="base">
                                        <p:cTn id="43" dur="500" fill="hold"/>
                                        <p:tgtEl>
                                          <p:spTgt spid="258058"/>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8" fill="hold" nodeType="clickEffect">
                                  <p:stCondLst>
                                    <p:cond delay="0"/>
                                  </p:stCondLst>
                                  <p:childTnLst>
                                    <p:set>
                                      <p:cBhvr>
                                        <p:cTn id="47" dur="1" fill="hold">
                                          <p:stCondLst>
                                            <p:cond delay="0"/>
                                          </p:stCondLst>
                                        </p:cTn>
                                        <p:tgtEl>
                                          <p:spTgt spid="258059"/>
                                        </p:tgtEl>
                                        <p:attrNameLst>
                                          <p:attrName>style.visibility</p:attrName>
                                        </p:attrNameLst>
                                      </p:cBhvr>
                                      <p:to>
                                        <p:strVal val="visible"/>
                                      </p:to>
                                    </p:set>
                                    <p:anim calcmode="lin" valueType="num">
                                      <p:cBhvr additive="base">
                                        <p:cTn id="48" dur="500" fill="hold"/>
                                        <p:tgtEl>
                                          <p:spTgt spid="258059"/>
                                        </p:tgtEl>
                                        <p:attrNameLst>
                                          <p:attrName>ppt_x</p:attrName>
                                        </p:attrNameLst>
                                      </p:cBhvr>
                                      <p:tavLst>
                                        <p:tav tm="0">
                                          <p:val>
                                            <p:strVal val="0-#ppt_w/2"/>
                                          </p:val>
                                        </p:tav>
                                        <p:tav tm="100000">
                                          <p:val>
                                            <p:strVal val="#ppt_x"/>
                                          </p:val>
                                        </p:tav>
                                      </p:tavLst>
                                    </p:anim>
                                    <p:anim calcmode="lin" valueType="num">
                                      <p:cBhvr additive="base">
                                        <p:cTn id="49" dur="500" fill="hold"/>
                                        <p:tgtEl>
                                          <p:spTgt spid="258059"/>
                                        </p:tgtEl>
                                        <p:attrNameLst>
                                          <p:attrName>ppt_y</p:attrName>
                                        </p:attrNameLst>
                                      </p:cBhvr>
                                      <p:tavLst>
                                        <p:tav tm="0">
                                          <p:val>
                                            <p:strVal val="#ppt_y"/>
                                          </p:val>
                                        </p:tav>
                                        <p:tav tm="100000">
                                          <p:val>
                                            <p:strVal val="#ppt_y"/>
                                          </p:val>
                                        </p:tav>
                                      </p:tavLst>
                                    </p:anim>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258061"/>
                                        </p:tgtEl>
                                        <p:attrNameLst>
                                          <p:attrName>style.visibility</p:attrName>
                                        </p:attrNameLst>
                                      </p:cBhvr>
                                      <p:to>
                                        <p:strVal val="visible"/>
                                      </p:to>
                                    </p:set>
                                    <p:animEffect transition="in" filter="wipe(left)">
                                      <p:cBhvr>
                                        <p:cTn id="53" dur="500"/>
                                        <p:tgtEl>
                                          <p:spTgt spid="258061"/>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2" fill="hold" grpId="0" nodeType="clickEffect">
                                  <p:stCondLst>
                                    <p:cond delay="0"/>
                                  </p:stCondLst>
                                  <p:childTnLst>
                                    <p:set>
                                      <p:cBhvr>
                                        <p:cTn id="57" dur="1" fill="hold">
                                          <p:stCondLst>
                                            <p:cond delay="0"/>
                                          </p:stCondLst>
                                        </p:cTn>
                                        <p:tgtEl>
                                          <p:spTgt spid="258060"/>
                                        </p:tgtEl>
                                        <p:attrNameLst>
                                          <p:attrName>style.visibility</p:attrName>
                                        </p:attrNameLst>
                                      </p:cBhvr>
                                      <p:to>
                                        <p:strVal val="visible"/>
                                      </p:to>
                                    </p:set>
                                    <p:animEffect transition="in" filter="wipe(right)">
                                      <p:cBhvr>
                                        <p:cTn id="58" dur="500"/>
                                        <p:tgtEl>
                                          <p:spTgt spid="258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0" grpId="0" autoUpdateAnimBg="0"/>
      <p:bldP spid="258051" grpId="0" autoUpdateAnimBg="0"/>
      <p:bldP spid="258053" grpId="0" autoUpdateAnimBg="0"/>
      <p:bldP spid="258054" grpId="0" autoUpdateAnimBg="0"/>
      <p:bldP spid="258055" grpId="0" autoUpdateAnimBg="0"/>
      <p:bldP spid="258056" grpId="0" autoUpdateAnimBg="0"/>
      <p:bldP spid="258057" grpId="0" autoUpdateAnimBg="0"/>
      <p:bldP spid="258058" grpId="0"/>
      <p:bldP spid="258060" grpId="0" autoUpdateAnimBg="0"/>
      <p:bldP spid="258061"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6" name="Rectangle 4"/>
          <p:cNvSpPr>
            <a:spLocks noChangeArrowheads="1"/>
          </p:cNvSpPr>
          <p:nvPr/>
        </p:nvSpPr>
        <p:spPr bwMode="auto">
          <a:xfrm>
            <a:off x="1303338" y="4525963"/>
            <a:ext cx="70786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若</a:t>
            </a:r>
            <a:r>
              <a:rPr lang="en-US" altLang="zh-CN" sz="3200" i="1">
                <a:ea typeface="华文新魏" panose="02010800040101010101" pitchFamily="2" charset="-122"/>
              </a:rPr>
              <a:t>X</a:t>
            </a:r>
            <a:r>
              <a:rPr lang="en-US" altLang="zh-CN" sz="3200" baseline="-25000">
                <a:ea typeface="华文新魏" panose="02010800040101010101" pitchFamily="2" charset="-122"/>
              </a:rPr>
              <a:t>1</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baseline="-25000">
                <a:ea typeface="华文新魏" panose="02010800040101010101" pitchFamily="2" charset="-122"/>
              </a:rPr>
              <a:t>2</a:t>
            </a:r>
            <a:r>
              <a:rPr lang="en-US" altLang="zh-CN" sz="3200">
                <a:ea typeface="华文新魏" panose="02010800040101010101" pitchFamily="2" charset="-122"/>
              </a:rPr>
              <a:t>, …,</a:t>
            </a:r>
            <a:r>
              <a:rPr lang="en-US" altLang="zh-CN" sz="3200" i="1">
                <a:ea typeface="华文新魏" panose="02010800040101010101" pitchFamily="2" charset="-122"/>
              </a:rPr>
              <a:t>X</a:t>
            </a:r>
            <a:r>
              <a:rPr lang="en-US" altLang="zh-CN" sz="3200" baseline="-25000">
                <a:ea typeface="华文新魏" panose="02010800040101010101" pitchFamily="2" charset="-122"/>
              </a:rPr>
              <a:t>n</a:t>
            </a:r>
            <a:r>
              <a:rPr lang="zh-CN" altLang="en-US" sz="3200">
                <a:ea typeface="华文新魏" panose="02010800040101010101" pitchFamily="2" charset="-122"/>
              </a:rPr>
              <a:t>两两独立</a:t>
            </a:r>
            <a:r>
              <a:rPr lang="en-US" altLang="zh-CN" sz="3200">
                <a:ea typeface="华文新魏" panose="02010800040101010101" pitchFamily="2" charset="-122"/>
              </a:rPr>
              <a:t>,</a:t>
            </a:r>
            <a:r>
              <a:rPr lang="zh-CN" altLang="en-US" sz="3200">
                <a:ea typeface="华文新魏" panose="02010800040101010101" pitchFamily="2" charset="-122"/>
              </a:rPr>
              <a:t>，上式化为</a:t>
            </a:r>
            <a:endParaRPr lang="zh-CN" altLang="en-US" sz="3200">
              <a:ea typeface="华文新魏" panose="02010800040101010101" pitchFamily="2" charset="-122"/>
            </a:endParaRPr>
          </a:p>
        </p:txBody>
      </p:sp>
      <p:sp>
        <p:nvSpPr>
          <p:cNvPr id="151560" name="Rectangle 8"/>
          <p:cNvSpPr>
            <a:spLocks noChangeArrowheads="1"/>
          </p:cNvSpPr>
          <p:nvPr/>
        </p:nvSpPr>
        <p:spPr bwMode="auto">
          <a:xfrm>
            <a:off x="2063750" y="1219200"/>
            <a:ext cx="56419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i="1">
                <a:ea typeface="华文新魏" panose="02010800040101010101" pitchFamily="2" charset="-122"/>
              </a:rPr>
              <a:t>D</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a:ea typeface="华文新魏" panose="02010800040101010101" pitchFamily="2" charset="-122"/>
              </a:rPr>
              <a:t>+</a:t>
            </a:r>
            <a:r>
              <a:rPr lang="en-US" altLang="zh-CN" sz="3200" i="1">
                <a:ea typeface="华文新魏" panose="02010800040101010101" pitchFamily="2" charset="-122"/>
              </a:rPr>
              <a:t>Y</a:t>
            </a:r>
            <a:r>
              <a:rPr lang="en-US" altLang="zh-CN" sz="3200">
                <a:ea typeface="华文新魏" panose="02010800040101010101" pitchFamily="2" charset="-122"/>
              </a:rPr>
              <a:t>)= </a:t>
            </a:r>
            <a:r>
              <a:rPr lang="en-US" altLang="zh-CN" sz="3200" i="1">
                <a:ea typeface="华文新魏" panose="02010800040101010101" pitchFamily="2" charset="-122"/>
              </a:rPr>
              <a:t>D</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a:ea typeface="华文新魏" panose="02010800040101010101" pitchFamily="2" charset="-122"/>
              </a:rPr>
              <a:t>)+</a:t>
            </a:r>
            <a:r>
              <a:rPr lang="en-US" altLang="zh-CN" sz="3200" i="1">
                <a:ea typeface="华文新魏" panose="02010800040101010101" pitchFamily="2" charset="-122"/>
              </a:rPr>
              <a:t>D</a:t>
            </a:r>
            <a:r>
              <a:rPr lang="en-US" altLang="zh-CN" sz="3200">
                <a:ea typeface="华文新魏" panose="02010800040101010101" pitchFamily="2" charset="-122"/>
              </a:rPr>
              <a:t>(</a:t>
            </a:r>
            <a:r>
              <a:rPr lang="en-US" altLang="zh-CN" sz="3200" i="1">
                <a:ea typeface="华文新魏" panose="02010800040101010101" pitchFamily="2" charset="-122"/>
              </a:rPr>
              <a:t>Y</a:t>
            </a:r>
            <a:r>
              <a:rPr lang="en-US" altLang="zh-CN" sz="3200">
                <a:ea typeface="华文新魏" panose="02010800040101010101" pitchFamily="2" charset="-122"/>
              </a:rPr>
              <a:t>)+ 2</a:t>
            </a:r>
            <a:r>
              <a:rPr lang="en-US" altLang="zh-CN" sz="3200" i="1">
                <a:ea typeface="华文新魏" panose="02010800040101010101" pitchFamily="2" charset="-122"/>
              </a:rPr>
              <a:t>Cov</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a:ea typeface="华文新魏" panose="02010800040101010101" pitchFamily="2" charset="-122"/>
              </a:rPr>
              <a:t>,</a:t>
            </a:r>
            <a:r>
              <a:rPr lang="en-US" altLang="zh-CN" sz="3200" i="1">
                <a:ea typeface="华文新魏" panose="02010800040101010101" pitchFamily="2" charset="-122"/>
              </a:rPr>
              <a:t>Y</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151561" name="Rectangle 9"/>
          <p:cNvSpPr>
            <a:spLocks noChangeArrowheads="1"/>
          </p:cNvSpPr>
          <p:nvPr/>
        </p:nvSpPr>
        <p:spPr bwMode="auto">
          <a:xfrm>
            <a:off x="1303338" y="381000"/>
            <a:ext cx="6781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随机变量</a:t>
            </a:r>
            <a:r>
              <a:rPr lang="zh-CN" altLang="zh-CN" sz="3200">
                <a:ea typeface="华文新魏" panose="02010800040101010101" pitchFamily="2" charset="-122"/>
              </a:rPr>
              <a:t>和的方差与协方差的关系</a:t>
            </a:r>
            <a:endParaRPr lang="zh-CN" altLang="en-US" sz="3200">
              <a:ea typeface="华文新魏" panose="02010800040101010101" pitchFamily="2" charset="-122"/>
            </a:endParaRPr>
          </a:p>
        </p:txBody>
      </p:sp>
      <p:graphicFrame>
        <p:nvGraphicFramePr>
          <p:cNvPr id="151562" name="Object 10"/>
          <p:cNvGraphicFramePr>
            <a:graphicFrameLocks noChangeAspect="1"/>
          </p:cNvGraphicFramePr>
          <p:nvPr/>
        </p:nvGraphicFramePr>
        <p:xfrm>
          <a:off x="1547813" y="3357563"/>
          <a:ext cx="6130925" cy="1066800"/>
        </p:xfrm>
        <a:graphic>
          <a:graphicData uri="http://schemas.openxmlformats.org/presentationml/2006/ole">
            <mc:AlternateContent xmlns:mc="http://schemas.openxmlformats.org/markup-compatibility/2006">
              <mc:Choice xmlns:v="urn:schemas-microsoft-com:vml" Requires="v">
                <p:oleObj spid="_x0000_s76889" name="公式" r:id="rId1" imgW="2505075" imgH="346710" progId="Equation.3">
                  <p:embed/>
                </p:oleObj>
              </mc:Choice>
              <mc:Fallback>
                <p:oleObj name="公式" r:id="rId1" imgW="2505075" imgH="346710" progId="Equation.3">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3357563"/>
                        <a:ext cx="6130925" cy="10668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1563" name="Object 11"/>
          <p:cNvGraphicFramePr>
            <a:graphicFrameLocks noChangeAspect="1"/>
          </p:cNvGraphicFramePr>
          <p:nvPr/>
        </p:nvGraphicFramePr>
        <p:xfrm>
          <a:off x="2979738" y="5208588"/>
          <a:ext cx="3592512" cy="1192212"/>
        </p:xfrm>
        <a:graphic>
          <a:graphicData uri="http://schemas.openxmlformats.org/presentationml/2006/ole">
            <mc:AlternateContent xmlns:mc="http://schemas.openxmlformats.org/markup-compatibility/2006">
              <mc:Choice xmlns:v="urn:schemas-microsoft-com:vml" Requires="v">
                <p:oleObj spid="_x0000_s76890" name="公式" r:id="rId3" imgW="1276350" imgH="346710" progId="Equation.3">
                  <p:embed/>
                </p:oleObj>
              </mc:Choice>
              <mc:Fallback>
                <p:oleObj name="公式" r:id="rId3" imgW="1276350" imgH="34671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9738" y="5208588"/>
                        <a:ext cx="3592512" cy="11922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1565" name="Text Box 13"/>
          <p:cNvSpPr txBox="1">
            <a:spLocks noChangeArrowheads="1"/>
          </p:cNvSpPr>
          <p:nvPr/>
        </p:nvSpPr>
        <p:spPr bwMode="auto">
          <a:xfrm>
            <a:off x="1447800" y="1828800"/>
            <a:ext cx="2514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ea typeface="华文新魏" panose="02010800040101010101" pitchFamily="2" charset="-122"/>
              </a:rPr>
              <a:t>证明：</a:t>
            </a:r>
            <a:endParaRPr lang="zh-CN" altLang="en-US" sz="3200">
              <a:ea typeface="华文新魏" panose="02010800040101010101" pitchFamily="2" charset="-122"/>
            </a:endParaRPr>
          </a:p>
        </p:txBody>
      </p:sp>
      <p:sp>
        <p:nvSpPr>
          <p:cNvPr id="151566" name="Text Box 14"/>
          <p:cNvSpPr txBox="1">
            <a:spLocks noChangeArrowheads="1"/>
          </p:cNvSpPr>
          <p:nvPr/>
        </p:nvSpPr>
        <p:spPr bwMode="auto">
          <a:xfrm>
            <a:off x="1476375" y="2708275"/>
            <a:ext cx="2444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ea typeface="华文新魏" panose="02010800040101010101" pitchFamily="2" charset="-122"/>
              </a:rPr>
              <a:t>推广：</a:t>
            </a:r>
            <a:endParaRPr lang="zh-CN" altLang="en-US" sz="320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51561"/>
                                        </p:tgtEl>
                                        <p:attrNameLst>
                                          <p:attrName>style.visibility</p:attrName>
                                        </p:attrNameLst>
                                      </p:cBhvr>
                                      <p:to>
                                        <p:strVal val="visible"/>
                                      </p:to>
                                    </p:set>
                                    <p:animEffect transition="in" filter="wipe(left)">
                                      <p:cBhvr>
                                        <p:cTn id="7" dur="500"/>
                                        <p:tgtEl>
                                          <p:spTgt spid="1515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51560"/>
                                        </p:tgtEl>
                                        <p:attrNameLst>
                                          <p:attrName>style.visibility</p:attrName>
                                        </p:attrNameLst>
                                      </p:cBhvr>
                                      <p:to>
                                        <p:strVal val="visible"/>
                                      </p:to>
                                    </p:set>
                                    <p:animEffect transition="in" filter="wipe(right)">
                                      <p:cBhvr>
                                        <p:cTn id="12" dur="500"/>
                                        <p:tgtEl>
                                          <p:spTgt spid="15156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51565"/>
                                        </p:tgtEl>
                                        <p:attrNameLst>
                                          <p:attrName>style.visibility</p:attrName>
                                        </p:attrNameLst>
                                      </p:cBhvr>
                                      <p:to>
                                        <p:strVal val="visible"/>
                                      </p:to>
                                    </p:set>
                                    <p:anim calcmode="lin" valueType="num">
                                      <p:cBhvr additive="base">
                                        <p:cTn id="17" dur="500" fill="hold"/>
                                        <p:tgtEl>
                                          <p:spTgt spid="151565"/>
                                        </p:tgtEl>
                                        <p:attrNameLst>
                                          <p:attrName>ppt_x</p:attrName>
                                        </p:attrNameLst>
                                      </p:cBhvr>
                                      <p:tavLst>
                                        <p:tav tm="0">
                                          <p:val>
                                            <p:strVal val="0-#ppt_w/2"/>
                                          </p:val>
                                        </p:tav>
                                        <p:tav tm="100000">
                                          <p:val>
                                            <p:strVal val="#ppt_x"/>
                                          </p:val>
                                        </p:tav>
                                      </p:tavLst>
                                    </p:anim>
                                    <p:anim calcmode="lin" valueType="num">
                                      <p:cBhvr additive="base">
                                        <p:cTn id="18" dur="500" fill="hold"/>
                                        <p:tgtEl>
                                          <p:spTgt spid="15156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51566"/>
                                        </p:tgtEl>
                                        <p:attrNameLst>
                                          <p:attrName>style.visibility</p:attrName>
                                        </p:attrNameLst>
                                      </p:cBhvr>
                                      <p:to>
                                        <p:strVal val="visible"/>
                                      </p:to>
                                    </p:set>
                                    <p:anim calcmode="lin" valueType="num">
                                      <p:cBhvr additive="base">
                                        <p:cTn id="23" dur="500" fill="hold"/>
                                        <p:tgtEl>
                                          <p:spTgt spid="151566"/>
                                        </p:tgtEl>
                                        <p:attrNameLst>
                                          <p:attrName>ppt_x</p:attrName>
                                        </p:attrNameLst>
                                      </p:cBhvr>
                                      <p:tavLst>
                                        <p:tav tm="0">
                                          <p:val>
                                            <p:strVal val="0-#ppt_w/2"/>
                                          </p:val>
                                        </p:tav>
                                        <p:tav tm="100000">
                                          <p:val>
                                            <p:strVal val="#ppt_x"/>
                                          </p:val>
                                        </p:tav>
                                      </p:tavLst>
                                    </p:anim>
                                    <p:anim calcmode="lin" valueType="num">
                                      <p:cBhvr additive="base">
                                        <p:cTn id="24" dur="500" fill="hold"/>
                                        <p:tgtEl>
                                          <p:spTgt spid="15156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51562"/>
                                        </p:tgtEl>
                                        <p:attrNameLst>
                                          <p:attrName>style.visibility</p:attrName>
                                        </p:attrNameLst>
                                      </p:cBhvr>
                                      <p:to>
                                        <p:strVal val="visible"/>
                                      </p:to>
                                    </p:set>
                                    <p:animEffect transition="in" filter="wipe(left)">
                                      <p:cBhvr>
                                        <p:cTn id="29" dur="500"/>
                                        <p:tgtEl>
                                          <p:spTgt spid="151562"/>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51556"/>
                                        </p:tgtEl>
                                        <p:attrNameLst>
                                          <p:attrName>style.visibility</p:attrName>
                                        </p:attrNameLst>
                                      </p:cBhvr>
                                      <p:to>
                                        <p:strVal val="visible"/>
                                      </p:to>
                                    </p:set>
                                    <p:anim calcmode="lin" valueType="num">
                                      <p:cBhvr additive="base">
                                        <p:cTn id="34" dur="500" fill="hold"/>
                                        <p:tgtEl>
                                          <p:spTgt spid="151556"/>
                                        </p:tgtEl>
                                        <p:attrNameLst>
                                          <p:attrName>ppt_x</p:attrName>
                                        </p:attrNameLst>
                                      </p:cBhvr>
                                      <p:tavLst>
                                        <p:tav tm="0">
                                          <p:val>
                                            <p:strVal val="#ppt_x"/>
                                          </p:val>
                                        </p:tav>
                                        <p:tav tm="100000">
                                          <p:val>
                                            <p:strVal val="#ppt_x"/>
                                          </p:val>
                                        </p:tav>
                                      </p:tavLst>
                                    </p:anim>
                                    <p:anim calcmode="lin" valueType="num">
                                      <p:cBhvr additive="base">
                                        <p:cTn id="35" dur="500" fill="hold"/>
                                        <p:tgtEl>
                                          <p:spTgt spid="151556"/>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151563"/>
                                        </p:tgtEl>
                                        <p:attrNameLst>
                                          <p:attrName>style.visibility</p:attrName>
                                        </p:attrNameLst>
                                      </p:cBhvr>
                                      <p:to>
                                        <p:strVal val="visible"/>
                                      </p:to>
                                    </p:set>
                                    <p:anim calcmode="lin" valueType="num">
                                      <p:cBhvr additive="base">
                                        <p:cTn id="40" dur="500" fill="hold"/>
                                        <p:tgtEl>
                                          <p:spTgt spid="151563"/>
                                        </p:tgtEl>
                                        <p:attrNameLst>
                                          <p:attrName>ppt_x</p:attrName>
                                        </p:attrNameLst>
                                      </p:cBhvr>
                                      <p:tavLst>
                                        <p:tav tm="0">
                                          <p:val>
                                            <p:strVal val="#ppt_x"/>
                                          </p:val>
                                        </p:tav>
                                        <p:tav tm="100000">
                                          <p:val>
                                            <p:strVal val="#ppt_x"/>
                                          </p:val>
                                        </p:tav>
                                      </p:tavLst>
                                    </p:anim>
                                    <p:anim calcmode="lin" valueType="num">
                                      <p:cBhvr additive="base">
                                        <p:cTn id="41" dur="500" fill="hold"/>
                                        <p:tgtEl>
                                          <p:spTgt spid="1515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6" grpId="0" autoUpdateAnimBg="0"/>
      <p:bldP spid="151560" grpId="0" autoUpdateAnimBg="0"/>
      <p:bldP spid="151561" grpId="0" autoUpdateAnimBg="0"/>
      <p:bldP spid="151565" grpId="0" autoUpdateAnimBg="0"/>
      <p:bldP spid="151566"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826" name="Object 4"/>
          <p:cNvGraphicFramePr>
            <a:graphicFrameLocks noChangeAspect="1"/>
          </p:cNvGraphicFramePr>
          <p:nvPr/>
        </p:nvGraphicFramePr>
        <p:xfrm>
          <a:off x="4597400" y="3321050"/>
          <a:ext cx="112713" cy="214313"/>
        </p:xfrm>
        <a:graphic>
          <a:graphicData uri="http://schemas.openxmlformats.org/presentationml/2006/ole">
            <mc:AlternateContent xmlns:mc="http://schemas.openxmlformats.org/markup-compatibility/2006">
              <mc:Choice xmlns:v="urn:schemas-microsoft-com:vml" Requires="v">
                <p:oleObj spid="_x0000_s77953" name="公式" r:id="rId1" imgW="114300" imgH="215900" progId="Equation.3">
                  <p:embed/>
                </p:oleObj>
              </mc:Choice>
              <mc:Fallback>
                <p:oleObj name="公式" r:id="rId1" imgW="114300" imgH="2159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7400" y="332105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827" name="Object 5"/>
          <p:cNvGraphicFramePr>
            <a:graphicFrameLocks noChangeAspect="1"/>
          </p:cNvGraphicFramePr>
          <p:nvPr/>
        </p:nvGraphicFramePr>
        <p:xfrm>
          <a:off x="4597400" y="3321050"/>
          <a:ext cx="112713" cy="214313"/>
        </p:xfrm>
        <a:graphic>
          <a:graphicData uri="http://schemas.openxmlformats.org/presentationml/2006/ole">
            <mc:AlternateContent xmlns:mc="http://schemas.openxmlformats.org/markup-compatibility/2006">
              <mc:Choice xmlns:v="urn:schemas-microsoft-com:vml" Requires="v">
                <p:oleObj spid="_x0000_s77954" name="公式" r:id="rId3" imgW="114300" imgH="215900" progId="Equation.3">
                  <p:embed/>
                </p:oleObj>
              </mc:Choice>
              <mc:Fallback>
                <p:oleObj name="公式" r:id="rId3" imgW="114300" imgH="2159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7400" y="332105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2582" name="Rectangle 6"/>
          <p:cNvSpPr>
            <a:spLocks noChangeArrowheads="1"/>
          </p:cNvSpPr>
          <p:nvPr/>
        </p:nvSpPr>
        <p:spPr bwMode="auto">
          <a:xfrm>
            <a:off x="539750" y="392113"/>
            <a:ext cx="815340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3200">
                <a:ea typeface="华文新魏" panose="02010800040101010101" pitchFamily="2" charset="-122"/>
              </a:rPr>
              <a:t>        </a:t>
            </a:r>
            <a:r>
              <a:rPr lang="zh-CN" altLang="en-US" sz="3200">
                <a:ea typeface="华文新魏" panose="02010800040101010101" pitchFamily="2" charset="-122"/>
              </a:rPr>
              <a:t>协方差的大小在一定程度上反映了</a:t>
            </a:r>
            <a:r>
              <a:rPr lang="en-US" altLang="zh-CN" sz="3200" i="1">
                <a:ea typeface="华文新魏" panose="02010800040101010101" pitchFamily="2" charset="-122"/>
              </a:rPr>
              <a:t>X</a:t>
            </a:r>
            <a:r>
              <a:rPr lang="zh-CN" altLang="en-US" sz="3200">
                <a:ea typeface="华文新魏" panose="02010800040101010101" pitchFamily="2" charset="-122"/>
              </a:rPr>
              <a:t>和</a:t>
            </a:r>
            <a:r>
              <a:rPr lang="en-US" altLang="zh-CN" sz="3200" i="1">
                <a:ea typeface="华文新魏" panose="02010800040101010101" pitchFamily="2" charset="-122"/>
              </a:rPr>
              <a:t>Y</a:t>
            </a:r>
            <a:r>
              <a:rPr lang="zh-CN" altLang="en-US" sz="3200">
                <a:ea typeface="华文新魏" panose="02010800040101010101" pitchFamily="2" charset="-122"/>
              </a:rPr>
              <a:t>相互间的关系，但它还受</a:t>
            </a:r>
            <a:r>
              <a:rPr lang="en-US" altLang="zh-CN" sz="3200" i="1">
                <a:ea typeface="华文新魏" panose="02010800040101010101" pitchFamily="2" charset="-122"/>
              </a:rPr>
              <a:t>X</a:t>
            </a:r>
            <a:r>
              <a:rPr lang="zh-CN" altLang="en-US" sz="3200">
                <a:ea typeface="华文新魏" panose="02010800040101010101" pitchFamily="2" charset="-122"/>
              </a:rPr>
              <a:t>与</a:t>
            </a:r>
            <a:r>
              <a:rPr lang="en-US" altLang="zh-CN" sz="3200" i="1">
                <a:ea typeface="华文新魏" panose="02010800040101010101" pitchFamily="2" charset="-122"/>
              </a:rPr>
              <a:t>Y</a:t>
            </a:r>
            <a:r>
              <a:rPr lang="zh-CN" altLang="en-US" sz="3200">
                <a:ea typeface="华文新魏" panose="02010800040101010101" pitchFamily="2" charset="-122"/>
              </a:rPr>
              <a:t>本身度量单位的影响</a:t>
            </a:r>
            <a:r>
              <a:rPr lang="en-US" altLang="zh-CN" sz="3200">
                <a:ea typeface="华文新魏" panose="02010800040101010101" pitchFamily="2" charset="-122"/>
              </a:rPr>
              <a:t>.   </a:t>
            </a:r>
            <a:r>
              <a:rPr lang="zh-CN" altLang="en-US" sz="3200">
                <a:ea typeface="华文新魏" panose="02010800040101010101" pitchFamily="2" charset="-122"/>
              </a:rPr>
              <a:t>例如：</a:t>
            </a:r>
            <a:endParaRPr lang="zh-CN" altLang="en-US" sz="3200">
              <a:ea typeface="华文新魏" panose="02010800040101010101" pitchFamily="2" charset="-122"/>
            </a:endParaRPr>
          </a:p>
        </p:txBody>
      </p:sp>
      <p:sp>
        <p:nvSpPr>
          <p:cNvPr id="152583" name="Text Box 7"/>
          <p:cNvSpPr txBox="1">
            <a:spLocks noChangeArrowheads="1"/>
          </p:cNvSpPr>
          <p:nvPr/>
        </p:nvSpPr>
        <p:spPr bwMode="auto">
          <a:xfrm>
            <a:off x="2449513" y="2209800"/>
            <a:ext cx="419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i="1">
                <a:ea typeface="华文新魏" panose="02010800040101010101" pitchFamily="2" charset="-122"/>
              </a:rPr>
              <a:t>Cov</a:t>
            </a:r>
            <a:r>
              <a:rPr lang="en-US" altLang="zh-CN" sz="3200">
                <a:ea typeface="华文新魏" panose="02010800040101010101" pitchFamily="2" charset="-122"/>
              </a:rPr>
              <a:t>(</a:t>
            </a:r>
            <a:r>
              <a:rPr lang="en-US" altLang="zh-CN" sz="3200" i="1">
                <a:ea typeface="华文新魏" panose="02010800040101010101" pitchFamily="2" charset="-122"/>
              </a:rPr>
              <a:t>kX</a:t>
            </a:r>
            <a:r>
              <a:rPr lang="en-US" altLang="zh-CN" sz="3200">
                <a:ea typeface="华文新魏" panose="02010800040101010101" pitchFamily="2" charset="-122"/>
              </a:rPr>
              <a:t>, </a:t>
            </a:r>
            <a:r>
              <a:rPr lang="en-US" altLang="zh-CN" sz="3200" i="1">
                <a:ea typeface="华文新魏" panose="02010800040101010101" pitchFamily="2" charset="-122"/>
              </a:rPr>
              <a:t>kY</a:t>
            </a:r>
            <a:r>
              <a:rPr lang="en-US" altLang="zh-CN" sz="3200">
                <a:ea typeface="华文新魏" panose="02010800040101010101" pitchFamily="2" charset="-122"/>
              </a:rPr>
              <a:t>)=</a:t>
            </a:r>
            <a:r>
              <a:rPr lang="en-US" altLang="zh-CN" sz="3200" i="1">
                <a:ea typeface="华文新魏" panose="02010800040101010101" pitchFamily="2" charset="-122"/>
              </a:rPr>
              <a:t>k</a:t>
            </a:r>
            <a:r>
              <a:rPr lang="en-US" altLang="zh-CN" sz="3200" i="1" baseline="30000">
                <a:ea typeface="华文新魏" panose="02010800040101010101" pitchFamily="2" charset="-122"/>
              </a:rPr>
              <a:t>2</a:t>
            </a:r>
            <a:r>
              <a:rPr lang="en-US" altLang="zh-CN" sz="3200" i="1">
                <a:ea typeface="华文新魏" panose="02010800040101010101" pitchFamily="2" charset="-122"/>
              </a:rPr>
              <a:t>Cov</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a:ea typeface="华文新魏" panose="02010800040101010101" pitchFamily="2" charset="-122"/>
              </a:rPr>
              <a:t>,</a:t>
            </a:r>
            <a:r>
              <a:rPr lang="en-US" altLang="zh-CN" sz="3200" i="1">
                <a:ea typeface="华文新魏" panose="02010800040101010101" pitchFamily="2" charset="-122"/>
              </a:rPr>
              <a:t>Y</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152584" name="Text Box 8"/>
          <p:cNvSpPr txBox="1">
            <a:spLocks noChangeArrowheads="1"/>
          </p:cNvSpPr>
          <p:nvPr/>
        </p:nvSpPr>
        <p:spPr bwMode="auto">
          <a:xfrm>
            <a:off x="692150" y="2971800"/>
            <a:ext cx="78486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200">
                <a:ea typeface="华文新魏" panose="02010800040101010101" pitchFamily="2" charset="-122"/>
              </a:rPr>
              <a:t>为了克服这一缺点，对协方差进行标准化</a:t>
            </a:r>
            <a:r>
              <a:rPr lang="en-US" altLang="zh-CN" sz="3200">
                <a:ea typeface="华文新魏" panose="02010800040101010101" pitchFamily="2" charset="-122"/>
              </a:rPr>
              <a:t>:</a:t>
            </a:r>
            <a:endParaRPr lang="en-US" altLang="zh-CN" sz="3200">
              <a:solidFill>
                <a:schemeClr val="tx2"/>
              </a:solidFill>
              <a:ea typeface="华文新魏" panose="02010800040101010101" pitchFamily="2" charset="-122"/>
            </a:endParaRPr>
          </a:p>
        </p:txBody>
      </p:sp>
      <p:graphicFrame>
        <p:nvGraphicFramePr>
          <p:cNvPr id="152585" name="Object 9"/>
          <p:cNvGraphicFramePr>
            <a:graphicFrameLocks noChangeAspect="1"/>
          </p:cNvGraphicFramePr>
          <p:nvPr/>
        </p:nvGraphicFramePr>
        <p:xfrm>
          <a:off x="1301750" y="3733800"/>
          <a:ext cx="6950075" cy="1227138"/>
        </p:xfrm>
        <a:graphic>
          <a:graphicData uri="http://schemas.openxmlformats.org/presentationml/2006/ole">
            <mc:AlternateContent xmlns:mc="http://schemas.openxmlformats.org/markup-compatibility/2006">
              <mc:Choice xmlns:v="urn:schemas-microsoft-com:vml" Requires="v">
                <p:oleObj spid="_x0000_s77955" name="Equation" r:id="rId4" imgW="2543175" imgH="365760" progId="Equation.3">
                  <p:embed/>
                </p:oleObj>
              </mc:Choice>
              <mc:Fallback>
                <p:oleObj name="Equation" r:id="rId4" imgW="2543175" imgH="36576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1750" y="3733800"/>
                        <a:ext cx="6950075" cy="122713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2586" name="Rectangle 10"/>
          <p:cNvSpPr>
            <a:spLocks noChangeArrowheads="1"/>
          </p:cNvSpPr>
          <p:nvPr/>
        </p:nvSpPr>
        <p:spPr bwMode="auto">
          <a:xfrm>
            <a:off x="927100" y="5191125"/>
            <a:ext cx="404495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50000"/>
              </a:spcBef>
            </a:pPr>
            <a:r>
              <a:rPr lang="zh-CN" altLang="en-US" sz="3200">
                <a:ea typeface="华文新魏" panose="02010800040101010101" pitchFamily="2" charset="-122"/>
              </a:rPr>
              <a:t>这就引入了</a:t>
            </a:r>
            <a:r>
              <a:rPr lang="zh-CN" altLang="en-US" sz="3200">
                <a:solidFill>
                  <a:schemeClr val="tx2"/>
                </a:solidFill>
                <a:ea typeface="华文新魏" panose="02010800040101010101" pitchFamily="2" charset="-122"/>
              </a:rPr>
              <a:t>相关系数 </a:t>
            </a:r>
            <a:r>
              <a:rPr lang="en-US" altLang="zh-CN" sz="3200">
                <a:ea typeface="华文新魏" panose="02010800040101010101" pitchFamily="2" charset="-122"/>
              </a:rPr>
              <a:t>.</a:t>
            </a:r>
            <a:endParaRPr lang="en-US" altLang="zh-CN" sz="320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52582"/>
                                        </p:tgtEl>
                                        <p:attrNameLst>
                                          <p:attrName>style.visibility</p:attrName>
                                        </p:attrNameLst>
                                      </p:cBhvr>
                                      <p:to>
                                        <p:strVal val="visible"/>
                                      </p:to>
                                    </p:set>
                                    <p:animEffect transition="in" filter="barn(outVertical)">
                                      <p:cBhvr>
                                        <p:cTn id="7" dur="500"/>
                                        <p:tgtEl>
                                          <p:spTgt spid="15258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52583"/>
                                        </p:tgtEl>
                                        <p:attrNameLst>
                                          <p:attrName>style.visibility</p:attrName>
                                        </p:attrNameLst>
                                      </p:cBhvr>
                                      <p:to>
                                        <p:strVal val="visible"/>
                                      </p:to>
                                    </p:set>
                                    <p:animEffect transition="in" filter="box(out)">
                                      <p:cBhvr>
                                        <p:cTn id="12" dur="500"/>
                                        <p:tgtEl>
                                          <p:spTgt spid="15258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152584"/>
                                        </p:tgtEl>
                                        <p:attrNameLst>
                                          <p:attrName>style.visibility</p:attrName>
                                        </p:attrNameLst>
                                      </p:cBhvr>
                                      <p:to>
                                        <p:strVal val="visible"/>
                                      </p:to>
                                    </p:set>
                                    <p:animEffect transition="in" filter="barn(outVertical)">
                                      <p:cBhvr>
                                        <p:cTn id="17" dur="500"/>
                                        <p:tgtEl>
                                          <p:spTgt spid="15258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15258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52586"/>
                                        </p:tgtEl>
                                        <p:attrNameLst>
                                          <p:attrName>style.visibility</p:attrName>
                                        </p:attrNameLst>
                                      </p:cBhvr>
                                      <p:to>
                                        <p:strVal val="visible"/>
                                      </p:to>
                                    </p:set>
                                    <p:animEffect transition="in" filter="wipe(left)">
                                      <p:cBhvr>
                                        <p:cTn id="26" dur="500"/>
                                        <p:tgtEl>
                                          <p:spTgt spid="1525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2" grpId="0" autoUpdateAnimBg="0"/>
      <p:bldP spid="152583" grpId="0" autoUpdateAnimBg="0"/>
      <p:bldP spid="152584" grpId="0" autoUpdateAnimBg="0"/>
      <p:bldP spid="152586"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8" name="Text Box 2"/>
          <p:cNvSpPr txBox="1">
            <a:spLocks noChangeArrowheads="1"/>
          </p:cNvSpPr>
          <p:nvPr/>
        </p:nvSpPr>
        <p:spPr bwMode="auto">
          <a:xfrm>
            <a:off x="1042988" y="1412875"/>
            <a:ext cx="36290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若</a:t>
            </a:r>
            <a:r>
              <a:rPr lang="en-US" altLang="zh-CN" sz="2200" i="1"/>
              <a:t>D</a:t>
            </a:r>
            <a:r>
              <a:rPr lang="en-US" altLang="zh-CN" sz="2200"/>
              <a:t> (</a:t>
            </a:r>
            <a:r>
              <a:rPr lang="en-US" altLang="zh-CN" sz="2200" i="1"/>
              <a:t>X</a:t>
            </a:r>
            <a:r>
              <a:rPr lang="en-US" altLang="zh-CN" sz="2200"/>
              <a:t>) &gt; 0</a:t>
            </a:r>
            <a:r>
              <a:rPr lang="zh-CN" altLang="en-US" sz="2200"/>
              <a:t>， </a:t>
            </a:r>
            <a:r>
              <a:rPr lang="en-US" altLang="zh-CN" sz="2200" i="1"/>
              <a:t>D</a:t>
            </a:r>
            <a:r>
              <a:rPr lang="en-US" altLang="zh-CN" sz="2200"/>
              <a:t> (</a:t>
            </a:r>
            <a:r>
              <a:rPr lang="en-US" altLang="zh-CN" sz="2200" i="1"/>
              <a:t>Y</a:t>
            </a:r>
            <a:r>
              <a:rPr lang="en-US" altLang="zh-CN" sz="2200"/>
              <a:t>) &gt; 0</a:t>
            </a:r>
            <a:r>
              <a:rPr lang="en-US" altLang="zh-CN" sz="2200">
                <a:latin typeface="宋体" panose="02010600030101010101" pitchFamily="2" charset="-122"/>
              </a:rPr>
              <a:t> </a:t>
            </a:r>
            <a:r>
              <a:rPr lang="zh-CN" altLang="en-US" sz="2200">
                <a:latin typeface="宋体" panose="02010600030101010101" pitchFamily="2" charset="-122"/>
              </a:rPr>
              <a:t>，称</a:t>
            </a:r>
            <a:endParaRPr lang="zh-CN" altLang="en-US" sz="2200">
              <a:latin typeface="宋体" panose="02010600030101010101" pitchFamily="2" charset="-122"/>
            </a:endParaRPr>
          </a:p>
        </p:txBody>
      </p:sp>
      <p:graphicFrame>
        <p:nvGraphicFramePr>
          <p:cNvPr id="49154" name="Object 3"/>
          <p:cNvGraphicFramePr>
            <a:graphicFrameLocks noChangeAspect="1"/>
          </p:cNvGraphicFramePr>
          <p:nvPr/>
        </p:nvGraphicFramePr>
        <p:xfrm>
          <a:off x="1908175" y="1916113"/>
          <a:ext cx="4695825" cy="855662"/>
        </p:xfrm>
        <a:graphic>
          <a:graphicData uri="http://schemas.openxmlformats.org/presentationml/2006/ole">
            <mc:AlternateContent xmlns:mc="http://schemas.openxmlformats.org/markup-compatibility/2006">
              <mc:Choice xmlns:v="urn:schemas-microsoft-com:vml" Requires="v">
                <p:oleObj spid="_x0000_s79025" name="Equation" r:id="rId1" imgW="2695575" imgH="423545" progId="Equation.DSMT4">
                  <p:embed/>
                </p:oleObj>
              </mc:Choice>
              <mc:Fallback>
                <p:oleObj name="Equation" r:id="rId1" imgW="2695575" imgH="423545" progId="Equation.DSMT4">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1916113"/>
                        <a:ext cx="4695825" cy="85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59" name="Text Box 4"/>
          <p:cNvSpPr txBox="1">
            <a:spLocks noChangeArrowheads="1"/>
          </p:cNvSpPr>
          <p:nvPr/>
        </p:nvSpPr>
        <p:spPr bwMode="auto">
          <a:xfrm>
            <a:off x="609600" y="2908300"/>
            <a:ext cx="33750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为</a:t>
            </a:r>
            <a:r>
              <a:rPr lang="en-US" altLang="zh-CN" sz="2200" i="1">
                <a:solidFill>
                  <a:srgbClr val="006666"/>
                </a:solidFill>
              </a:rPr>
              <a:t>X</a:t>
            </a:r>
            <a:r>
              <a:rPr lang="zh-CN" altLang="en-US" sz="2200" i="1">
                <a:solidFill>
                  <a:srgbClr val="006666"/>
                </a:solidFill>
              </a:rPr>
              <a:t>，</a:t>
            </a:r>
            <a:r>
              <a:rPr lang="en-US" altLang="zh-CN" sz="2200" i="1">
                <a:solidFill>
                  <a:srgbClr val="006666"/>
                </a:solidFill>
              </a:rPr>
              <a:t>Y </a:t>
            </a:r>
            <a:r>
              <a:rPr lang="zh-CN" altLang="en-US" sz="2200">
                <a:solidFill>
                  <a:srgbClr val="006666"/>
                </a:solidFill>
                <a:latin typeface="宋体" panose="02010600030101010101" pitchFamily="2" charset="-122"/>
              </a:rPr>
              <a:t>的相关系数</a:t>
            </a:r>
            <a:r>
              <a:rPr lang="zh-CN" altLang="en-US" sz="2200">
                <a:latin typeface="宋体" panose="02010600030101010101" pitchFamily="2" charset="-122"/>
              </a:rPr>
              <a:t>，记为</a:t>
            </a:r>
            <a:endParaRPr lang="zh-CN" altLang="en-US" sz="2200">
              <a:latin typeface="宋体" panose="02010600030101010101" pitchFamily="2" charset="-122"/>
            </a:endParaRPr>
          </a:p>
        </p:txBody>
      </p:sp>
      <p:graphicFrame>
        <p:nvGraphicFramePr>
          <p:cNvPr id="49155" name="Object 5"/>
          <p:cNvGraphicFramePr>
            <a:graphicFrameLocks noChangeAspect="1"/>
          </p:cNvGraphicFramePr>
          <p:nvPr/>
        </p:nvGraphicFramePr>
        <p:xfrm>
          <a:off x="898525" y="3429000"/>
          <a:ext cx="3702050" cy="879475"/>
        </p:xfrm>
        <a:graphic>
          <a:graphicData uri="http://schemas.openxmlformats.org/presentationml/2006/ole">
            <mc:AlternateContent xmlns:mc="http://schemas.openxmlformats.org/markup-compatibility/2006">
              <mc:Choice xmlns:v="urn:schemas-microsoft-com:vml" Requires="v">
                <p:oleObj spid="_x0000_s79026" name="Equation" r:id="rId3" imgW="1543050" imgH="365760" progId="Equation.DSMT4">
                  <p:embed/>
                </p:oleObj>
              </mc:Choice>
              <mc:Fallback>
                <p:oleObj name="Equation" r:id="rId3" imgW="1543050" imgH="36576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8525" y="3429000"/>
                        <a:ext cx="3702050" cy="87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99FF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60" name="Text Box 6"/>
          <p:cNvSpPr txBox="1">
            <a:spLocks noChangeArrowheads="1"/>
          </p:cNvSpPr>
          <p:nvPr/>
        </p:nvSpPr>
        <p:spPr bwMode="auto">
          <a:xfrm>
            <a:off x="1143000" y="4592638"/>
            <a:ext cx="13017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事实上，</a:t>
            </a:r>
            <a:endParaRPr lang="zh-CN" altLang="en-US" sz="2200">
              <a:latin typeface="宋体" panose="02010600030101010101" pitchFamily="2" charset="-122"/>
            </a:endParaRPr>
          </a:p>
        </p:txBody>
      </p:sp>
      <p:graphicFrame>
        <p:nvGraphicFramePr>
          <p:cNvPr id="49156" name="Object 7"/>
          <p:cNvGraphicFramePr>
            <a:graphicFrameLocks noChangeAspect="1"/>
          </p:cNvGraphicFramePr>
          <p:nvPr/>
        </p:nvGraphicFramePr>
        <p:xfrm>
          <a:off x="2339975" y="4437063"/>
          <a:ext cx="6073775" cy="800100"/>
        </p:xfrm>
        <a:graphic>
          <a:graphicData uri="http://schemas.openxmlformats.org/presentationml/2006/ole">
            <mc:AlternateContent xmlns:mc="http://schemas.openxmlformats.org/markup-compatibility/2006">
              <mc:Choice xmlns:v="urn:schemas-microsoft-com:vml" Requires="v">
                <p:oleObj spid="_x0000_s79027" name="Equation" r:id="rId5" imgW="3295650" imgH="365760" progId="Equation.DSMT4">
                  <p:embed/>
                </p:oleObj>
              </mc:Choice>
              <mc:Fallback>
                <p:oleObj name="Equation" r:id="rId5" imgW="3295650" imgH="36576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975" y="4437063"/>
                        <a:ext cx="6073775"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9171" name="Group 19"/>
          <p:cNvGrpSpPr/>
          <p:nvPr/>
        </p:nvGrpSpPr>
        <p:grpSpPr bwMode="auto">
          <a:xfrm>
            <a:off x="1331913" y="5229225"/>
            <a:ext cx="4198937" cy="538163"/>
            <a:chOff x="839" y="3294"/>
            <a:chExt cx="2645" cy="339"/>
          </a:xfrm>
        </p:grpSpPr>
        <p:sp>
          <p:nvSpPr>
            <p:cNvPr id="78862" name="Text Box 8"/>
            <p:cNvSpPr txBox="1">
              <a:spLocks noChangeArrowheads="1"/>
            </p:cNvSpPr>
            <p:nvPr/>
          </p:nvSpPr>
          <p:spPr bwMode="auto">
            <a:xfrm>
              <a:off x="839" y="3294"/>
              <a:ext cx="29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若</a:t>
              </a:r>
              <a:endParaRPr lang="zh-CN" altLang="en-US" sz="2200">
                <a:latin typeface="宋体" panose="02010600030101010101" pitchFamily="2" charset="-122"/>
              </a:endParaRPr>
            </a:p>
          </p:txBody>
        </p:sp>
        <p:graphicFrame>
          <p:nvGraphicFramePr>
            <p:cNvPr id="78863" name="Object 9"/>
            <p:cNvGraphicFramePr>
              <a:graphicFrameLocks noChangeAspect="1"/>
            </p:cNvGraphicFramePr>
            <p:nvPr/>
          </p:nvGraphicFramePr>
          <p:xfrm>
            <a:off x="1066" y="3339"/>
            <a:ext cx="998" cy="294"/>
          </p:xfrm>
          <a:graphic>
            <a:graphicData uri="http://schemas.openxmlformats.org/presentationml/2006/ole">
              <mc:AlternateContent xmlns:mc="http://schemas.openxmlformats.org/markup-compatibility/2006">
                <mc:Choice xmlns:v="urn:schemas-microsoft-com:vml" Requires="v">
                  <p:oleObj spid="_x0000_s79028" name="Equation" r:id="rId7" imgW="714375" imgH="115570" progId="Equation.DSMT4">
                    <p:embed/>
                  </p:oleObj>
                </mc:Choice>
                <mc:Fallback>
                  <p:oleObj name="Equation" r:id="rId7" imgW="714375" imgH="11557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6" y="3339"/>
                          <a:ext cx="998"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864" name="Text Box 10"/>
            <p:cNvSpPr txBox="1">
              <a:spLocks noChangeArrowheads="1"/>
            </p:cNvSpPr>
            <p:nvPr/>
          </p:nvSpPr>
          <p:spPr bwMode="auto">
            <a:xfrm>
              <a:off x="2018" y="3339"/>
              <a:ext cx="146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称</a:t>
              </a:r>
              <a:r>
                <a:rPr lang="zh-CN" altLang="en-US" sz="2200"/>
                <a:t> </a:t>
              </a:r>
              <a:r>
                <a:rPr lang="en-US" altLang="zh-CN" sz="2200" i="1">
                  <a:solidFill>
                    <a:srgbClr val="006666"/>
                  </a:solidFill>
                </a:rPr>
                <a:t>X</a:t>
              </a:r>
              <a:r>
                <a:rPr lang="zh-CN" altLang="en-US" sz="2200" i="1">
                  <a:solidFill>
                    <a:srgbClr val="006666"/>
                  </a:solidFill>
                </a:rPr>
                <a:t>，</a:t>
              </a:r>
              <a:r>
                <a:rPr lang="en-US" altLang="zh-CN" sz="2200" i="1">
                  <a:solidFill>
                    <a:srgbClr val="006666"/>
                  </a:solidFill>
                </a:rPr>
                <a:t>Y </a:t>
              </a:r>
              <a:r>
                <a:rPr lang="zh-CN" altLang="en-US" sz="2200">
                  <a:solidFill>
                    <a:srgbClr val="006666"/>
                  </a:solidFill>
                  <a:latin typeface="宋体" panose="02010600030101010101" pitchFamily="2" charset="-122"/>
                </a:rPr>
                <a:t>不相关</a:t>
              </a:r>
              <a:r>
                <a:rPr lang="zh-CN" altLang="en-US" sz="2200">
                  <a:latin typeface="宋体" panose="02010600030101010101" pitchFamily="2" charset="-122"/>
                </a:rPr>
                <a:t>．</a:t>
              </a:r>
              <a:endParaRPr lang="zh-CN" altLang="en-US" sz="2200">
                <a:latin typeface="宋体" panose="02010600030101010101" pitchFamily="2" charset="-122"/>
              </a:endParaRPr>
            </a:p>
          </p:txBody>
        </p:sp>
      </p:grpSp>
      <p:grpSp>
        <p:nvGrpSpPr>
          <p:cNvPr id="49163" name="Group 11"/>
          <p:cNvGrpSpPr/>
          <p:nvPr/>
        </p:nvGrpSpPr>
        <p:grpSpPr bwMode="auto">
          <a:xfrm>
            <a:off x="4356100" y="3213100"/>
            <a:ext cx="1981200" cy="1209675"/>
            <a:chOff x="2784" y="2022"/>
            <a:chExt cx="1248" cy="762"/>
          </a:xfrm>
        </p:grpSpPr>
        <p:sp>
          <p:nvSpPr>
            <p:cNvPr id="78859" name="Line 12"/>
            <p:cNvSpPr>
              <a:spLocks noChangeShapeType="1"/>
            </p:cNvSpPr>
            <p:nvPr/>
          </p:nvSpPr>
          <p:spPr bwMode="auto">
            <a:xfrm>
              <a:off x="2784" y="2369"/>
              <a:ext cx="432" cy="0"/>
            </a:xfrm>
            <a:prstGeom prst="line">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8860" name="Text Box 13"/>
            <p:cNvSpPr txBox="1">
              <a:spLocks noChangeArrowheads="1"/>
            </p:cNvSpPr>
            <p:nvPr/>
          </p:nvSpPr>
          <p:spPr bwMode="auto">
            <a:xfrm>
              <a:off x="3254" y="2185"/>
              <a:ext cx="64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200">
                  <a:solidFill>
                    <a:srgbClr val="006666"/>
                  </a:solidFill>
                  <a:latin typeface="宋体" panose="02010600030101010101" pitchFamily="2" charset="-122"/>
                </a:rPr>
                <a:t>无量纲</a:t>
              </a:r>
              <a:endParaRPr lang="zh-CN" altLang="en-US" sz="2200">
                <a:solidFill>
                  <a:srgbClr val="006666"/>
                </a:solidFill>
                <a:latin typeface="宋体" panose="02010600030101010101" pitchFamily="2" charset="-122"/>
              </a:endParaRPr>
            </a:p>
            <a:p>
              <a:pPr algn="ctr" eaLnBrk="1" hangingPunct="1"/>
              <a:r>
                <a:rPr lang="zh-CN" altLang="en-US" sz="2200">
                  <a:solidFill>
                    <a:srgbClr val="006666"/>
                  </a:solidFill>
                  <a:latin typeface="宋体" panose="02010600030101010101" pitchFamily="2" charset="-122"/>
                </a:rPr>
                <a:t>的量</a:t>
              </a:r>
              <a:endParaRPr lang="zh-CN" altLang="en-US" sz="2200">
                <a:solidFill>
                  <a:srgbClr val="006666"/>
                </a:solidFill>
                <a:latin typeface="宋体" panose="02010600030101010101" pitchFamily="2" charset="-122"/>
              </a:endParaRPr>
            </a:p>
          </p:txBody>
        </p:sp>
        <p:sp>
          <p:nvSpPr>
            <p:cNvPr id="78861" name="Oval 14"/>
            <p:cNvSpPr>
              <a:spLocks noChangeArrowheads="1"/>
            </p:cNvSpPr>
            <p:nvPr/>
          </p:nvSpPr>
          <p:spPr bwMode="auto">
            <a:xfrm>
              <a:off x="3216" y="2022"/>
              <a:ext cx="816" cy="762"/>
            </a:xfrm>
            <a:prstGeom prst="ellipse">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78858" name="Rectangle 4"/>
          <p:cNvSpPr>
            <a:spLocks noChangeArrowheads="1"/>
          </p:cNvSpPr>
          <p:nvPr/>
        </p:nvSpPr>
        <p:spPr bwMode="auto">
          <a:xfrm>
            <a:off x="250825" y="476250"/>
            <a:ext cx="3581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4000">
                <a:solidFill>
                  <a:schemeClr val="folHlink"/>
                </a:solidFill>
                <a:ea typeface="华文新魏" panose="02010800040101010101" pitchFamily="2" charset="-122"/>
              </a:rPr>
              <a:t>相关系数</a:t>
            </a:r>
            <a:endParaRPr lang="zh-CN" altLang="en-US" sz="4000" baseline="30000">
              <a:solidFill>
                <a:schemeClr val="folHlink"/>
              </a:solidFill>
              <a:ea typeface="华文新魏" panose="0201080004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15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1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1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916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915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9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8" grpId="0"/>
      <p:bldP spid="4916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1044575" y="3394075"/>
            <a:ext cx="5029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t>　　求</a:t>
            </a:r>
            <a:r>
              <a:rPr lang="zh-CN" altLang="en-US" sz="2200">
                <a:ea typeface="楷体_GB2312" pitchFamily="49" charset="-122"/>
              </a:rPr>
              <a:t> </a:t>
            </a:r>
            <a:r>
              <a:rPr lang="en-US" altLang="zh-CN" sz="2200">
                <a:ea typeface="楷体_GB2312" pitchFamily="49" charset="-122"/>
              </a:rPr>
              <a:t>cov (</a:t>
            </a:r>
            <a:r>
              <a:rPr lang="en-US" altLang="zh-CN" sz="2200" i="1">
                <a:ea typeface="楷体_GB2312" pitchFamily="49" charset="-122"/>
              </a:rPr>
              <a:t>X</a:t>
            </a:r>
            <a:r>
              <a:rPr lang="zh-CN" altLang="en-US" sz="2200" i="1">
                <a:ea typeface="楷体_GB2312" pitchFamily="49" charset="-122"/>
              </a:rPr>
              <a:t>，</a:t>
            </a:r>
            <a:r>
              <a:rPr lang="en-US" altLang="zh-CN" sz="2200" i="1">
                <a:ea typeface="楷体_GB2312" pitchFamily="49" charset="-122"/>
              </a:rPr>
              <a:t>Y</a:t>
            </a:r>
            <a:r>
              <a:rPr lang="en-US" altLang="zh-CN" sz="2200">
                <a:ea typeface="楷体_GB2312" pitchFamily="49" charset="-122"/>
              </a:rPr>
              <a:t>)</a:t>
            </a:r>
            <a:r>
              <a:rPr lang="zh-CN" altLang="en-US" sz="2200">
                <a:ea typeface="楷体_GB2312" pitchFamily="49" charset="-122"/>
              </a:rPr>
              <a:t>，</a:t>
            </a:r>
            <a:r>
              <a:rPr lang="zh-CN" altLang="en-US" sz="2200" i="1">
                <a:ea typeface="楷体_GB2312" pitchFamily="49" charset="-122"/>
                <a:sym typeface="Symbol" panose="05050102010706020507" pitchFamily="18" charset="2"/>
              </a:rPr>
              <a:t></a:t>
            </a:r>
            <a:r>
              <a:rPr lang="en-US" altLang="zh-CN" sz="2200" i="1" baseline="-25000">
                <a:ea typeface="楷体_GB2312" pitchFamily="49" charset="-122"/>
                <a:sym typeface="Symbol" panose="05050102010706020507" pitchFamily="18" charset="2"/>
              </a:rPr>
              <a:t>XY </a:t>
            </a:r>
            <a:r>
              <a:rPr lang="zh-CN" altLang="en-US" sz="2200" i="1" baseline="-25000">
                <a:ea typeface="楷体_GB2312" pitchFamily="49" charset="-122"/>
                <a:sym typeface="Symbol" panose="05050102010706020507" pitchFamily="18" charset="2"/>
              </a:rPr>
              <a:t>．</a:t>
            </a:r>
            <a:endParaRPr lang="zh-CN" altLang="en-US" sz="2200" i="1">
              <a:ea typeface="楷体_GB2312" pitchFamily="49" charset="-122"/>
            </a:endParaRPr>
          </a:p>
        </p:txBody>
      </p:sp>
      <p:grpSp>
        <p:nvGrpSpPr>
          <p:cNvPr id="91139" name="Group 3"/>
          <p:cNvGrpSpPr/>
          <p:nvPr/>
        </p:nvGrpSpPr>
        <p:grpSpPr bwMode="auto">
          <a:xfrm>
            <a:off x="1190625" y="4529138"/>
            <a:ext cx="1828800" cy="1069975"/>
            <a:chOff x="432" y="3118"/>
            <a:chExt cx="1152" cy="674"/>
          </a:xfrm>
        </p:grpSpPr>
        <p:sp>
          <p:nvSpPr>
            <p:cNvPr id="79904" name="Text Box 4"/>
            <p:cNvSpPr txBox="1">
              <a:spLocks noChangeArrowheads="1"/>
            </p:cNvSpPr>
            <p:nvPr/>
          </p:nvSpPr>
          <p:spPr bwMode="auto">
            <a:xfrm>
              <a:off x="912" y="3118"/>
              <a:ext cx="5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a:ea typeface="楷体_GB2312" pitchFamily="49" charset="-122"/>
                </a:rPr>
                <a:t>  1    0</a:t>
              </a:r>
              <a:endParaRPr lang="en-US" altLang="zh-CN" sz="2200">
                <a:ea typeface="楷体_GB2312" pitchFamily="49" charset="-122"/>
              </a:endParaRPr>
            </a:p>
          </p:txBody>
        </p:sp>
        <p:sp>
          <p:nvSpPr>
            <p:cNvPr id="79905" name="Text Box 5"/>
            <p:cNvSpPr txBox="1">
              <a:spLocks noChangeArrowheads="1"/>
            </p:cNvSpPr>
            <p:nvPr/>
          </p:nvSpPr>
          <p:spPr bwMode="auto">
            <a:xfrm>
              <a:off x="912" y="3475"/>
              <a:ext cx="5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  p    q</a:t>
              </a:r>
              <a:endParaRPr lang="en-US" altLang="zh-CN" sz="2200" i="1">
                <a:ea typeface="楷体_GB2312" pitchFamily="49" charset="-122"/>
              </a:endParaRPr>
            </a:p>
          </p:txBody>
        </p:sp>
        <p:sp>
          <p:nvSpPr>
            <p:cNvPr id="79906" name="Line 6"/>
            <p:cNvSpPr>
              <a:spLocks noChangeShapeType="1"/>
            </p:cNvSpPr>
            <p:nvPr/>
          </p:nvSpPr>
          <p:spPr bwMode="auto">
            <a:xfrm>
              <a:off x="912" y="3120"/>
              <a:ext cx="0" cy="67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07" name="Text Box 7"/>
            <p:cNvSpPr txBox="1">
              <a:spLocks noChangeArrowheads="1"/>
            </p:cNvSpPr>
            <p:nvPr/>
          </p:nvSpPr>
          <p:spPr bwMode="auto">
            <a:xfrm>
              <a:off x="500" y="3139"/>
              <a:ext cx="26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X </a:t>
              </a:r>
              <a:endParaRPr lang="en-US" altLang="zh-CN" sz="2200" i="1">
                <a:ea typeface="楷体_GB2312" pitchFamily="49" charset="-122"/>
              </a:endParaRPr>
            </a:p>
          </p:txBody>
        </p:sp>
        <p:sp>
          <p:nvSpPr>
            <p:cNvPr id="79908" name="Text Box 8"/>
            <p:cNvSpPr txBox="1">
              <a:spLocks noChangeArrowheads="1"/>
            </p:cNvSpPr>
            <p:nvPr/>
          </p:nvSpPr>
          <p:spPr bwMode="auto">
            <a:xfrm>
              <a:off x="500" y="3504"/>
              <a:ext cx="26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P </a:t>
              </a:r>
              <a:endParaRPr lang="en-US" altLang="zh-CN" sz="2200" i="1">
                <a:ea typeface="楷体_GB2312" pitchFamily="49" charset="-122"/>
              </a:endParaRPr>
            </a:p>
          </p:txBody>
        </p:sp>
        <p:sp>
          <p:nvSpPr>
            <p:cNvPr id="79909" name="Line 9"/>
            <p:cNvSpPr>
              <a:spLocks noChangeShapeType="1"/>
            </p:cNvSpPr>
            <p:nvPr/>
          </p:nvSpPr>
          <p:spPr bwMode="auto">
            <a:xfrm>
              <a:off x="432" y="3456"/>
              <a:ext cx="1152"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91140" name="Group 10"/>
          <p:cNvGrpSpPr/>
          <p:nvPr/>
        </p:nvGrpSpPr>
        <p:grpSpPr bwMode="auto">
          <a:xfrm>
            <a:off x="3351213" y="4529138"/>
            <a:ext cx="1752600" cy="1112837"/>
            <a:chOff x="2256" y="3120"/>
            <a:chExt cx="1104" cy="701"/>
          </a:xfrm>
        </p:grpSpPr>
        <p:sp>
          <p:nvSpPr>
            <p:cNvPr id="79898" name="Text Box 11"/>
            <p:cNvSpPr txBox="1">
              <a:spLocks noChangeArrowheads="1"/>
            </p:cNvSpPr>
            <p:nvPr/>
          </p:nvSpPr>
          <p:spPr bwMode="auto">
            <a:xfrm>
              <a:off x="2708" y="3139"/>
              <a:ext cx="5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a:ea typeface="楷体_GB2312" pitchFamily="49" charset="-122"/>
                </a:rPr>
                <a:t>  1    0</a:t>
              </a:r>
              <a:endParaRPr lang="en-US" altLang="zh-CN" sz="2200">
                <a:ea typeface="楷体_GB2312" pitchFamily="49" charset="-122"/>
              </a:endParaRPr>
            </a:p>
          </p:txBody>
        </p:sp>
        <p:sp>
          <p:nvSpPr>
            <p:cNvPr id="79899" name="Text Box 12"/>
            <p:cNvSpPr txBox="1">
              <a:spLocks noChangeArrowheads="1"/>
            </p:cNvSpPr>
            <p:nvPr/>
          </p:nvSpPr>
          <p:spPr bwMode="auto">
            <a:xfrm>
              <a:off x="2708" y="3504"/>
              <a:ext cx="55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  p    q</a:t>
              </a:r>
              <a:endParaRPr lang="en-US" altLang="zh-CN" sz="2200" i="1">
                <a:ea typeface="楷体_GB2312" pitchFamily="49" charset="-122"/>
              </a:endParaRPr>
            </a:p>
          </p:txBody>
        </p:sp>
        <p:sp>
          <p:nvSpPr>
            <p:cNvPr id="79900" name="Line 13"/>
            <p:cNvSpPr>
              <a:spLocks noChangeShapeType="1"/>
            </p:cNvSpPr>
            <p:nvPr/>
          </p:nvSpPr>
          <p:spPr bwMode="auto">
            <a:xfrm>
              <a:off x="2736" y="3120"/>
              <a:ext cx="0" cy="672"/>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901" name="Text Box 14"/>
            <p:cNvSpPr txBox="1">
              <a:spLocks noChangeArrowheads="1"/>
            </p:cNvSpPr>
            <p:nvPr/>
          </p:nvSpPr>
          <p:spPr bwMode="auto">
            <a:xfrm>
              <a:off x="2386" y="3139"/>
              <a:ext cx="30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Y  </a:t>
              </a:r>
              <a:endParaRPr lang="en-US" altLang="zh-CN" sz="2200" i="1">
                <a:ea typeface="楷体_GB2312" pitchFamily="49" charset="-122"/>
              </a:endParaRPr>
            </a:p>
          </p:txBody>
        </p:sp>
        <p:sp>
          <p:nvSpPr>
            <p:cNvPr id="79902" name="Text Box 15"/>
            <p:cNvSpPr txBox="1">
              <a:spLocks noChangeArrowheads="1"/>
            </p:cNvSpPr>
            <p:nvPr/>
          </p:nvSpPr>
          <p:spPr bwMode="auto">
            <a:xfrm>
              <a:off x="2400" y="3552"/>
              <a:ext cx="26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P </a:t>
              </a:r>
              <a:endParaRPr lang="en-US" altLang="zh-CN" sz="2200" i="1">
                <a:ea typeface="楷体_GB2312" pitchFamily="49" charset="-122"/>
              </a:endParaRPr>
            </a:p>
          </p:txBody>
        </p:sp>
        <p:sp>
          <p:nvSpPr>
            <p:cNvPr id="79903" name="Line 16"/>
            <p:cNvSpPr>
              <a:spLocks noChangeShapeType="1"/>
            </p:cNvSpPr>
            <p:nvPr/>
          </p:nvSpPr>
          <p:spPr bwMode="auto">
            <a:xfrm>
              <a:off x="2256" y="3456"/>
              <a:ext cx="1104"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grpSp>
      <p:sp>
        <p:nvSpPr>
          <p:cNvPr id="79877" name="Text Box 17"/>
          <p:cNvSpPr txBox="1">
            <a:spLocks noChangeArrowheads="1"/>
          </p:cNvSpPr>
          <p:nvPr/>
        </p:nvSpPr>
        <p:spPr bwMode="auto">
          <a:xfrm>
            <a:off x="1044575" y="765175"/>
            <a:ext cx="4567238"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b="1">
                <a:solidFill>
                  <a:srgbClr val="33CCFF"/>
                </a:solidFill>
                <a:latin typeface="宋体" panose="02010600030101010101" pitchFamily="2" charset="-122"/>
              </a:rPr>
              <a:t>　　</a:t>
            </a:r>
            <a:r>
              <a:rPr lang="zh-CN" altLang="en-US" sz="2200" b="1">
                <a:solidFill>
                  <a:srgbClr val="5050CC"/>
                </a:solidFill>
                <a:latin typeface="宋体" panose="02010600030101010101" pitchFamily="2" charset="-122"/>
              </a:rPr>
              <a:t>例</a:t>
            </a:r>
            <a:r>
              <a:rPr lang="zh-CN" altLang="en-US" sz="2200">
                <a:latin typeface="宋体" panose="02010600030101010101" pitchFamily="2" charset="-122"/>
              </a:rPr>
              <a:t>　已知</a:t>
            </a:r>
            <a:r>
              <a:rPr lang="zh-CN" altLang="en-US" sz="2200" i="1">
                <a:ea typeface="楷体_GB2312" pitchFamily="49" charset="-122"/>
              </a:rPr>
              <a:t> </a:t>
            </a:r>
            <a:r>
              <a:rPr lang="en-US" altLang="zh-CN" sz="2200" i="1">
                <a:ea typeface="楷体_GB2312" pitchFamily="49" charset="-122"/>
              </a:rPr>
              <a:t>X</a:t>
            </a:r>
            <a:r>
              <a:rPr lang="zh-CN" altLang="en-US" sz="2200" i="1">
                <a:ea typeface="楷体_GB2312" pitchFamily="49" charset="-122"/>
              </a:rPr>
              <a:t>，</a:t>
            </a:r>
            <a:r>
              <a:rPr lang="en-US" altLang="zh-CN" sz="2200" i="1">
                <a:ea typeface="楷体_GB2312" pitchFamily="49" charset="-122"/>
              </a:rPr>
              <a:t>Y </a:t>
            </a:r>
            <a:r>
              <a:rPr lang="zh-CN" altLang="en-US" sz="2200"/>
              <a:t>的联合分布为：</a:t>
            </a:r>
            <a:endParaRPr lang="zh-CN" altLang="en-US" sz="2200"/>
          </a:p>
        </p:txBody>
      </p:sp>
      <p:sp>
        <p:nvSpPr>
          <p:cNvPr id="79878" name="Line 18"/>
          <p:cNvSpPr>
            <a:spLocks noChangeShapeType="1"/>
          </p:cNvSpPr>
          <p:nvPr/>
        </p:nvSpPr>
        <p:spPr bwMode="auto">
          <a:xfrm>
            <a:off x="1746250" y="2262188"/>
            <a:ext cx="3489325" cy="1587"/>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79" name="Line 19"/>
          <p:cNvSpPr>
            <a:spLocks noChangeShapeType="1"/>
          </p:cNvSpPr>
          <p:nvPr/>
        </p:nvSpPr>
        <p:spPr bwMode="auto">
          <a:xfrm>
            <a:off x="3270250" y="1374775"/>
            <a:ext cx="1588" cy="18288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80" name="Line 20"/>
          <p:cNvSpPr>
            <a:spLocks noChangeShapeType="1"/>
          </p:cNvSpPr>
          <p:nvPr/>
        </p:nvSpPr>
        <p:spPr bwMode="auto">
          <a:xfrm>
            <a:off x="2355850" y="1328738"/>
            <a:ext cx="914400" cy="954087"/>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81" name="Line 21"/>
          <p:cNvSpPr>
            <a:spLocks noChangeShapeType="1"/>
          </p:cNvSpPr>
          <p:nvPr/>
        </p:nvSpPr>
        <p:spPr bwMode="auto">
          <a:xfrm>
            <a:off x="1958975" y="1733550"/>
            <a:ext cx="1295400" cy="549275"/>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82" name="Text Box 22"/>
          <p:cNvSpPr txBox="1">
            <a:spLocks noChangeArrowheads="1"/>
          </p:cNvSpPr>
          <p:nvPr/>
        </p:nvSpPr>
        <p:spPr bwMode="auto">
          <a:xfrm>
            <a:off x="2797175" y="1449388"/>
            <a:ext cx="3556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X</a:t>
            </a:r>
            <a:endParaRPr lang="en-US" altLang="zh-CN" sz="2200" i="1">
              <a:ea typeface="楷体_GB2312" pitchFamily="49" charset="-122"/>
            </a:endParaRPr>
          </a:p>
        </p:txBody>
      </p:sp>
      <p:sp>
        <p:nvSpPr>
          <p:cNvPr id="79883" name="Text Box 23"/>
          <p:cNvSpPr txBox="1">
            <a:spLocks noChangeArrowheads="1"/>
          </p:cNvSpPr>
          <p:nvPr/>
        </p:nvSpPr>
        <p:spPr bwMode="auto">
          <a:xfrm>
            <a:off x="1898650" y="1827213"/>
            <a:ext cx="33972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Y</a:t>
            </a:r>
            <a:endParaRPr lang="en-US" altLang="zh-CN" sz="2200" i="1">
              <a:ea typeface="楷体_GB2312" pitchFamily="49" charset="-122"/>
            </a:endParaRPr>
          </a:p>
        </p:txBody>
      </p:sp>
      <p:sp>
        <p:nvSpPr>
          <p:cNvPr id="79884" name="Text Box 24"/>
          <p:cNvSpPr txBox="1">
            <a:spLocks noChangeArrowheads="1"/>
          </p:cNvSpPr>
          <p:nvPr/>
        </p:nvSpPr>
        <p:spPr bwMode="auto">
          <a:xfrm>
            <a:off x="2179638" y="1268413"/>
            <a:ext cx="7016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p</a:t>
            </a:r>
            <a:r>
              <a:rPr lang="en-US" altLang="zh-CN" sz="2200" i="1" baseline="-25000">
                <a:ea typeface="楷体_GB2312" pitchFamily="49" charset="-122"/>
              </a:rPr>
              <a:t>ij</a:t>
            </a:r>
            <a:endParaRPr lang="en-US" altLang="zh-CN" sz="2200" i="1">
              <a:ea typeface="楷体_GB2312" pitchFamily="49" charset="-122"/>
            </a:endParaRPr>
          </a:p>
        </p:txBody>
      </p:sp>
      <p:sp>
        <p:nvSpPr>
          <p:cNvPr id="79885" name="Text Box 25"/>
          <p:cNvSpPr txBox="1">
            <a:spLocks noChangeArrowheads="1"/>
          </p:cNvSpPr>
          <p:nvPr/>
        </p:nvSpPr>
        <p:spPr bwMode="auto">
          <a:xfrm>
            <a:off x="3330575" y="1709738"/>
            <a:ext cx="15113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a:ea typeface="楷体_GB2312" pitchFamily="49" charset="-122"/>
              </a:rPr>
              <a:t>  1             0</a:t>
            </a:r>
            <a:endParaRPr lang="en-US" altLang="zh-CN" sz="2200">
              <a:ea typeface="楷体_GB2312" pitchFamily="49" charset="-122"/>
            </a:endParaRPr>
          </a:p>
        </p:txBody>
      </p:sp>
      <p:sp>
        <p:nvSpPr>
          <p:cNvPr id="79886" name="Text Box 26"/>
          <p:cNvSpPr txBox="1">
            <a:spLocks noChangeArrowheads="1"/>
          </p:cNvSpPr>
          <p:nvPr/>
        </p:nvSpPr>
        <p:spPr bwMode="auto">
          <a:xfrm>
            <a:off x="2473325" y="2395538"/>
            <a:ext cx="32385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a:ea typeface="楷体_GB2312" pitchFamily="49" charset="-122"/>
              </a:rPr>
              <a:t>1</a:t>
            </a:r>
            <a:endParaRPr lang="en-US" altLang="zh-CN" sz="2200">
              <a:ea typeface="楷体_GB2312" pitchFamily="49" charset="-122"/>
            </a:endParaRPr>
          </a:p>
          <a:p>
            <a:pPr eaLnBrk="1" hangingPunct="1">
              <a:lnSpc>
                <a:spcPct val="150000"/>
              </a:lnSpc>
            </a:pPr>
            <a:r>
              <a:rPr lang="en-US" altLang="zh-CN" sz="2200">
                <a:ea typeface="楷体_GB2312" pitchFamily="49" charset="-122"/>
              </a:rPr>
              <a:t>0</a:t>
            </a:r>
            <a:endParaRPr lang="en-US" altLang="zh-CN" sz="2200">
              <a:ea typeface="楷体_GB2312" pitchFamily="49" charset="-122"/>
            </a:endParaRPr>
          </a:p>
        </p:txBody>
      </p:sp>
      <p:sp>
        <p:nvSpPr>
          <p:cNvPr id="79887" name="Text Box 27"/>
          <p:cNvSpPr txBox="1">
            <a:spLocks noChangeArrowheads="1"/>
          </p:cNvSpPr>
          <p:nvPr/>
        </p:nvSpPr>
        <p:spPr bwMode="auto">
          <a:xfrm>
            <a:off x="3314700" y="2365375"/>
            <a:ext cx="15113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  p             </a:t>
            </a:r>
            <a:r>
              <a:rPr lang="en-US" altLang="zh-CN" sz="2200">
                <a:ea typeface="楷体_GB2312" pitchFamily="49" charset="-122"/>
              </a:rPr>
              <a:t>0</a:t>
            </a:r>
            <a:endParaRPr lang="en-US" altLang="zh-CN" sz="2200" i="1">
              <a:ea typeface="楷体_GB2312" pitchFamily="49" charset="-122"/>
            </a:endParaRPr>
          </a:p>
        </p:txBody>
      </p:sp>
      <p:sp>
        <p:nvSpPr>
          <p:cNvPr id="79888" name="Text Box 28"/>
          <p:cNvSpPr txBox="1">
            <a:spLocks noChangeArrowheads="1"/>
          </p:cNvSpPr>
          <p:nvPr/>
        </p:nvSpPr>
        <p:spPr bwMode="auto">
          <a:xfrm>
            <a:off x="3330575" y="2868613"/>
            <a:ext cx="15113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  </a:t>
            </a:r>
            <a:r>
              <a:rPr lang="en-US" altLang="zh-CN" sz="2200">
                <a:ea typeface="楷体_GB2312" pitchFamily="49" charset="-122"/>
              </a:rPr>
              <a:t>0</a:t>
            </a:r>
            <a:r>
              <a:rPr lang="en-US" altLang="zh-CN" sz="2200" i="1">
                <a:ea typeface="楷体_GB2312" pitchFamily="49" charset="-122"/>
              </a:rPr>
              <a:t>             q</a:t>
            </a:r>
            <a:endParaRPr lang="en-US" altLang="zh-CN" sz="2200" i="1">
              <a:ea typeface="楷体_GB2312" pitchFamily="49" charset="-122"/>
            </a:endParaRPr>
          </a:p>
        </p:txBody>
      </p:sp>
      <p:sp>
        <p:nvSpPr>
          <p:cNvPr id="79889" name="Text Box 29"/>
          <p:cNvSpPr txBox="1">
            <a:spLocks noChangeArrowheads="1"/>
          </p:cNvSpPr>
          <p:nvPr/>
        </p:nvSpPr>
        <p:spPr bwMode="auto">
          <a:xfrm>
            <a:off x="5387975" y="1878013"/>
            <a:ext cx="17494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a:ea typeface="楷体_GB2312" pitchFamily="49" charset="-122"/>
              </a:rPr>
              <a:t>0 &lt; </a:t>
            </a:r>
            <a:r>
              <a:rPr lang="en-US" altLang="zh-CN" sz="2200" i="1">
                <a:ea typeface="楷体_GB2312" pitchFamily="49" charset="-122"/>
              </a:rPr>
              <a:t>p &lt;</a:t>
            </a:r>
            <a:r>
              <a:rPr lang="en-US" altLang="zh-CN" sz="2200">
                <a:ea typeface="楷体_GB2312" pitchFamily="49" charset="-122"/>
              </a:rPr>
              <a:t>1</a:t>
            </a:r>
            <a:endParaRPr lang="en-US" altLang="zh-CN" sz="2200">
              <a:ea typeface="楷体_GB2312" pitchFamily="49" charset="-122"/>
            </a:endParaRPr>
          </a:p>
          <a:p>
            <a:pPr eaLnBrk="1" hangingPunct="1"/>
            <a:r>
              <a:rPr lang="en-US" altLang="zh-CN" sz="2200" i="1">
                <a:ea typeface="楷体_GB2312" pitchFamily="49" charset="-122"/>
              </a:rPr>
              <a:t>p + q =</a:t>
            </a:r>
            <a:r>
              <a:rPr lang="en-US" altLang="zh-CN" sz="2200">
                <a:ea typeface="楷体_GB2312" pitchFamily="49" charset="-122"/>
              </a:rPr>
              <a:t> 1</a:t>
            </a:r>
            <a:endParaRPr lang="en-US" altLang="zh-CN" sz="2200" i="1">
              <a:ea typeface="楷体_GB2312" pitchFamily="49" charset="-122"/>
            </a:endParaRPr>
          </a:p>
        </p:txBody>
      </p:sp>
      <p:sp>
        <p:nvSpPr>
          <p:cNvPr id="91154" name="Text Box 30"/>
          <p:cNvSpPr txBox="1">
            <a:spLocks noChangeArrowheads="1"/>
          </p:cNvSpPr>
          <p:nvPr/>
        </p:nvSpPr>
        <p:spPr bwMode="auto">
          <a:xfrm>
            <a:off x="1055688" y="3868738"/>
            <a:ext cx="102711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b="1">
                <a:solidFill>
                  <a:srgbClr val="5050CC"/>
                </a:solidFill>
              </a:rPr>
              <a:t>　　解</a:t>
            </a:r>
            <a:endParaRPr lang="zh-CN" altLang="en-US" sz="2200" b="1">
              <a:solidFill>
                <a:srgbClr val="5050CC"/>
              </a:solidFill>
            </a:endParaRPr>
          </a:p>
        </p:txBody>
      </p:sp>
      <p:grpSp>
        <p:nvGrpSpPr>
          <p:cNvPr id="91155" name="Group 31"/>
          <p:cNvGrpSpPr/>
          <p:nvPr/>
        </p:nvGrpSpPr>
        <p:grpSpPr bwMode="auto">
          <a:xfrm>
            <a:off x="5438775" y="4529138"/>
            <a:ext cx="1725613" cy="1200150"/>
            <a:chOff x="4128" y="3113"/>
            <a:chExt cx="1087" cy="756"/>
          </a:xfrm>
        </p:grpSpPr>
        <p:sp>
          <p:nvSpPr>
            <p:cNvPr id="79892" name="Text Box 32"/>
            <p:cNvSpPr txBox="1">
              <a:spLocks noChangeArrowheads="1"/>
            </p:cNvSpPr>
            <p:nvPr/>
          </p:nvSpPr>
          <p:spPr bwMode="auto">
            <a:xfrm>
              <a:off x="4512" y="3118"/>
              <a:ext cx="68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a:ea typeface="楷体_GB2312" pitchFamily="49" charset="-122"/>
                </a:rPr>
                <a:t>  1       0</a:t>
              </a:r>
              <a:endParaRPr lang="en-US" altLang="zh-CN" sz="2200">
                <a:ea typeface="楷体_GB2312" pitchFamily="49" charset="-122"/>
              </a:endParaRPr>
            </a:p>
          </p:txBody>
        </p:sp>
        <p:sp>
          <p:nvSpPr>
            <p:cNvPr id="79893" name="Text Box 33"/>
            <p:cNvSpPr txBox="1">
              <a:spLocks noChangeArrowheads="1"/>
            </p:cNvSpPr>
            <p:nvPr/>
          </p:nvSpPr>
          <p:spPr bwMode="auto">
            <a:xfrm>
              <a:off x="4540" y="3552"/>
              <a:ext cx="64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  p      q</a:t>
              </a:r>
              <a:endParaRPr lang="en-US" altLang="zh-CN" sz="2200" i="1">
                <a:ea typeface="楷体_GB2312" pitchFamily="49" charset="-122"/>
              </a:endParaRPr>
            </a:p>
          </p:txBody>
        </p:sp>
        <p:sp>
          <p:nvSpPr>
            <p:cNvPr id="79894" name="Line 34"/>
            <p:cNvSpPr>
              <a:spLocks noChangeShapeType="1"/>
            </p:cNvSpPr>
            <p:nvPr/>
          </p:nvSpPr>
          <p:spPr bwMode="auto">
            <a:xfrm>
              <a:off x="4529" y="3120"/>
              <a:ext cx="0" cy="72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79895" name="Text Box 35"/>
            <p:cNvSpPr txBox="1">
              <a:spLocks noChangeArrowheads="1"/>
            </p:cNvSpPr>
            <p:nvPr/>
          </p:nvSpPr>
          <p:spPr bwMode="auto">
            <a:xfrm>
              <a:off x="4128" y="3113"/>
              <a:ext cx="45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X Y  </a:t>
              </a:r>
              <a:endParaRPr lang="en-US" altLang="zh-CN" sz="2200" i="1">
                <a:ea typeface="楷体_GB2312" pitchFamily="49" charset="-122"/>
              </a:endParaRPr>
            </a:p>
          </p:txBody>
        </p:sp>
        <p:sp>
          <p:nvSpPr>
            <p:cNvPr id="79896" name="Text Box 36"/>
            <p:cNvSpPr txBox="1">
              <a:spLocks noChangeArrowheads="1"/>
            </p:cNvSpPr>
            <p:nvPr/>
          </p:nvSpPr>
          <p:spPr bwMode="auto">
            <a:xfrm>
              <a:off x="4196" y="3600"/>
              <a:ext cx="26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P </a:t>
              </a:r>
              <a:endParaRPr lang="en-US" altLang="zh-CN" sz="2200" i="1">
                <a:ea typeface="楷体_GB2312" pitchFamily="49" charset="-122"/>
              </a:endParaRPr>
            </a:p>
          </p:txBody>
        </p:sp>
        <p:sp>
          <p:nvSpPr>
            <p:cNvPr id="79897" name="Line 37"/>
            <p:cNvSpPr>
              <a:spLocks noChangeShapeType="1"/>
            </p:cNvSpPr>
            <p:nvPr/>
          </p:nvSpPr>
          <p:spPr bwMode="auto">
            <a:xfrm>
              <a:off x="4128" y="3456"/>
              <a:ext cx="1087"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1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11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11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11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898" name="Object 2"/>
          <p:cNvGraphicFramePr>
            <a:graphicFrameLocks noChangeAspect="1"/>
          </p:cNvGraphicFramePr>
          <p:nvPr/>
        </p:nvGraphicFramePr>
        <p:xfrm>
          <a:off x="1257300" y="1808163"/>
          <a:ext cx="2590800" cy="782637"/>
        </p:xfrm>
        <a:graphic>
          <a:graphicData uri="http://schemas.openxmlformats.org/presentationml/2006/ole">
            <mc:AlternateContent xmlns:mc="http://schemas.openxmlformats.org/markup-compatibility/2006">
              <mc:Choice xmlns:v="urn:schemas-microsoft-com:vml" Requires="v">
                <p:oleObj spid="_x0000_s81023" name="Equation" r:id="rId1" imgW="3876675" imgH="962660" progId="Equation.3">
                  <p:embed/>
                </p:oleObj>
              </mc:Choice>
              <mc:Fallback>
                <p:oleObj name="Equation" r:id="rId1" imgW="3876675" imgH="96266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300" y="1808163"/>
                        <a:ext cx="2590800" cy="782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899" name="Object 3"/>
          <p:cNvGraphicFramePr>
            <a:graphicFrameLocks noChangeAspect="1"/>
          </p:cNvGraphicFramePr>
          <p:nvPr/>
        </p:nvGraphicFramePr>
        <p:xfrm>
          <a:off x="1258888" y="2708275"/>
          <a:ext cx="2882900" cy="330200"/>
        </p:xfrm>
        <a:graphic>
          <a:graphicData uri="http://schemas.openxmlformats.org/presentationml/2006/ole">
            <mc:AlternateContent xmlns:mc="http://schemas.openxmlformats.org/markup-compatibility/2006">
              <mc:Choice xmlns:v="urn:schemas-microsoft-com:vml" Requires="v">
                <p:oleObj spid="_x0000_s81024" name="Equation" r:id="rId3" imgW="4152900" imgH="365760" progId="Equation.DSMT4">
                  <p:embed/>
                </p:oleObj>
              </mc:Choice>
              <mc:Fallback>
                <p:oleObj name="Equation" r:id="rId3" imgW="4152900" imgH="36576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2708275"/>
                        <a:ext cx="2882900" cy="33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900" name="AutoShape 4"/>
          <p:cNvSpPr/>
          <p:nvPr/>
        </p:nvSpPr>
        <p:spPr bwMode="auto">
          <a:xfrm>
            <a:off x="4305300" y="1905000"/>
            <a:ext cx="127000" cy="1050925"/>
          </a:xfrm>
          <a:prstGeom prst="rightBrace">
            <a:avLst>
              <a:gd name="adj1" fmla="val 68958"/>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0901" name="AutoShape 5"/>
          <p:cNvSpPr>
            <a:spLocks noChangeArrowheads="1"/>
          </p:cNvSpPr>
          <p:nvPr/>
        </p:nvSpPr>
        <p:spPr bwMode="auto">
          <a:xfrm>
            <a:off x="4533900" y="2362200"/>
            <a:ext cx="495300" cy="120650"/>
          </a:xfrm>
          <a:prstGeom prst="rightArrow">
            <a:avLst>
              <a:gd name="adj1" fmla="val 50000"/>
              <a:gd name="adj2" fmla="val 102632"/>
            </a:avLst>
          </a:prstGeom>
          <a:solidFill>
            <a:srgbClr val="006666"/>
          </a:solidFill>
          <a:ln w="9525">
            <a:solidFill>
              <a:srgbClr val="006666"/>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80902" name="Object 6"/>
          <p:cNvGraphicFramePr>
            <a:graphicFrameLocks noChangeAspect="1"/>
          </p:cNvGraphicFramePr>
          <p:nvPr/>
        </p:nvGraphicFramePr>
        <p:xfrm>
          <a:off x="5148263" y="2276475"/>
          <a:ext cx="3048000" cy="355600"/>
        </p:xfrm>
        <a:graphic>
          <a:graphicData uri="http://schemas.openxmlformats.org/presentationml/2006/ole">
            <mc:AlternateContent xmlns:mc="http://schemas.openxmlformats.org/markup-compatibility/2006">
              <mc:Choice xmlns:v="urn:schemas-microsoft-com:vml" Requires="v">
                <p:oleObj spid="_x0000_s81025" name="Equation" r:id="rId5" imgW="3848100" imgH="384810" progId="Equation.3">
                  <p:embed/>
                </p:oleObj>
              </mc:Choice>
              <mc:Fallback>
                <p:oleObj name="Equation" r:id="rId5" imgW="3848100" imgH="38481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48263" y="2276475"/>
                        <a:ext cx="304800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611188" y="549275"/>
            <a:ext cx="6721475"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a:solidFill>
                  <a:srgbClr val="33CCFF"/>
                </a:solidFill>
                <a:latin typeface="宋体" panose="02010600030101010101" pitchFamily="2" charset="-122"/>
              </a:rPr>
              <a:t>　　</a:t>
            </a:r>
            <a:r>
              <a:rPr lang="zh-CN" altLang="en-US" sz="2200" b="1">
                <a:solidFill>
                  <a:srgbClr val="5050CC"/>
                </a:solidFill>
                <a:latin typeface="宋体" panose="02010600030101010101" pitchFamily="2" charset="-122"/>
              </a:rPr>
              <a:t>例</a:t>
            </a:r>
            <a:r>
              <a:rPr lang="zh-CN" altLang="en-US" sz="2200">
                <a:latin typeface="宋体" panose="02010600030101010101" pitchFamily="2" charset="-122"/>
              </a:rPr>
              <a:t>　设</a:t>
            </a:r>
            <a:r>
              <a:rPr lang="zh-CN" altLang="en-US" sz="2200">
                <a:ea typeface="楷体_GB2312" pitchFamily="49" charset="-122"/>
              </a:rPr>
              <a:t> </a:t>
            </a:r>
            <a:r>
              <a:rPr lang="en-US" altLang="zh-CN" sz="2200" i="1">
                <a:ea typeface="楷体_GB2312" pitchFamily="49" charset="-122"/>
              </a:rPr>
              <a:t>X</a:t>
            </a:r>
            <a:r>
              <a:rPr lang="zh-CN" altLang="en-US" sz="2200" i="1">
                <a:ea typeface="楷体_GB2312" pitchFamily="49" charset="-122"/>
              </a:rPr>
              <a:t>，</a:t>
            </a:r>
            <a:r>
              <a:rPr lang="en-US" altLang="zh-CN" sz="2200" i="1">
                <a:ea typeface="楷体_GB2312" pitchFamily="49" charset="-122"/>
              </a:rPr>
              <a:t>Y </a:t>
            </a:r>
            <a:r>
              <a:rPr lang="zh-CN" altLang="en-US" sz="2200"/>
              <a:t>相互独立，且都服从</a:t>
            </a:r>
            <a:r>
              <a:rPr lang="zh-CN" altLang="en-US" sz="2200" i="1">
                <a:ea typeface="楷体_GB2312" pitchFamily="49" charset="-122"/>
              </a:rPr>
              <a:t> </a:t>
            </a:r>
            <a:r>
              <a:rPr lang="en-US" altLang="zh-CN" sz="2200" i="1">
                <a:ea typeface="楷体_GB2312" pitchFamily="49" charset="-122"/>
              </a:rPr>
              <a:t>N </a:t>
            </a:r>
            <a:r>
              <a:rPr lang="en-US" altLang="zh-CN" sz="2200">
                <a:ea typeface="楷体_GB2312" pitchFamily="49" charset="-122"/>
              </a:rPr>
              <a:t>(0</a:t>
            </a:r>
            <a:r>
              <a:rPr lang="zh-CN" altLang="en-US" sz="2200">
                <a:ea typeface="楷体_GB2312" pitchFamily="49" charset="-122"/>
              </a:rPr>
              <a:t>，</a:t>
            </a:r>
            <a:r>
              <a:rPr lang="zh-CN" altLang="en-US" sz="2200" i="1">
                <a:ea typeface="楷体_GB2312" pitchFamily="49" charset="-122"/>
                <a:sym typeface="Symbol" panose="05050102010706020507" pitchFamily="18" charset="2"/>
              </a:rPr>
              <a:t> </a:t>
            </a:r>
            <a:r>
              <a:rPr lang="en-US" altLang="zh-CN" sz="2200" baseline="30000">
                <a:ea typeface="楷体_GB2312" pitchFamily="49" charset="-122"/>
                <a:sym typeface="Symbol" panose="05050102010706020507" pitchFamily="18" charset="2"/>
              </a:rPr>
              <a:t>2</a:t>
            </a:r>
            <a:r>
              <a:rPr lang="en-US" altLang="zh-CN" sz="2200">
                <a:ea typeface="楷体_GB2312" pitchFamily="49" charset="-122"/>
              </a:rPr>
              <a:t>)</a:t>
            </a:r>
            <a:r>
              <a:rPr lang="zh-CN" altLang="en-US" sz="2200">
                <a:ea typeface="楷体_GB2312" pitchFamily="49" charset="-122"/>
              </a:rPr>
              <a:t>，</a:t>
            </a:r>
            <a:r>
              <a:rPr lang="en-US" altLang="zh-CN" sz="2200" i="1">
                <a:ea typeface="楷体_GB2312" pitchFamily="49" charset="-122"/>
              </a:rPr>
              <a:t>U = aX + bY</a:t>
            </a:r>
            <a:r>
              <a:rPr lang="zh-CN" altLang="en-US" sz="2200" i="1">
                <a:ea typeface="楷体_GB2312" pitchFamily="49" charset="-122"/>
              </a:rPr>
              <a:t>，</a:t>
            </a:r>
            <a:r>
              <a:rPr lang="en-US" altLang="zh-CN" sz="2200" i="1">
                <a:ea typeface="楷体_GB2312" pitchFamily="49" charset="-122"/>
              </a:rPr>
              <a:t>V= aX - bY</a:t>
            </a:r>
            <a:r>
              <a:rPr lang="zh-CN" altLang="en-US" sz="2200" i="1">
                <a:ea typeface="楷体_GB2312" pitchFamily="49" charset="-122"/>
              </a:rPr>
              <a:t>，</a:t>
            </a:r>
            <a:r>
              <a:rPr lang="en-US" altLang="zh-CN" sz="2200" i="1">
                <a:ea typeface="楷体_GB2312" pitchFamily="49" charset="-122"/>
              </a:rPr>
              <a:t>a</a:t>
            </a:r>
            <a:r>
              <a:rPr lang="zh-CN" altLang="en-US" sz="2200" i="1">
                <a:ea typeface="楷体_GB2312" pitchFamily="49" charset="-122"/>
              </a:rPr>
              <a:t>，</a:t>
            </a:r>
            <a:r>
              <a:rPr lang="en-US" altLang="zh-CN" sz="2200" i="1">
                <a:ea typeface="楷体_GB2312" pitchFamily="49" charset="-122"/>
              </a:rPr>
              <a:t>b</a:t>
            </a:r>
            <a:r>
              <a:rPr lang="zh-CN" altLang="en-US" sz="2200">
                <a:latin typeface="宋体" panose="02010600030101010101" pitchFamily="2" charset="-122"/>
              </a:rPr>
              <a:t>为常数，且都不为零，求</a:t>
            </a:r>
            <a:r>
              <a:rPr lang="zh-CN" altLang="en-US" sz="2200" i="1">
                <a:ea typeface="楷体_GB2312" pitchFamily="49" charset="-122"/>
                <a:sym typeface="Symbol" panose="05050102010706020507" pitchFamily="18" charset="2"/>
              </a:rPr>
              <a:t></a:t>
            </a:r>
            <a:r>
              <a:rPr lang="en-US" altLang="zh-CN" sz="2200" i="1" baseline="-25000">
                <a:ea typeface="楷体_GB2312" pitchFamily="49" charset="-122"/>
                <a:sym typeface="Symbol" panose="05050102010706020507" pitchFamily="18" charset="2"/>
              </a:rPr>
              <a:t>UV </a:t>
            </a:r>
            <a:r>
              <a:rPr lang="zh-CN" altLang="en-US" sz="2200" i="1" baseline="-25000">
                <a:ea typeface="楷体_GB2312" pitchFamily="49" charset="-122"/>
                <a:sym typeface="Symbol" panose="05050102010706020507" pitchFamily="18" charset="2"/>
              </a:rPr>
              <a:t>．</a:t>
            </a:r>
            <a:endParaRPr lang="zh-CN" altLang="en-US" sz="2200" i="1" baseline="-25000">
              <a:ea typeface="楷体_GB2312" pitchFamily="49" charset="-122"/>
              <a:sym typeface="Symbol" panose="05050102010706020507" pitchFamily="18" charset="2"/>
            </a:endParaRPr>
          </a:p>
        </p:txBody>
      </p:sp>
      <p:grpSp>
        <p:nvGrpSpPr>
          <p:cNvPr id="51218" name="Group 18"/>
          <p:cNvGrpSpPr/>
          <p:nvPr/>
        </p:nvGrpSpPr>
        <p:grpSpPr bwMode="auto">
          <a:xfrm>
            <a:off x="1143000" y="1976438"/>
            <a:ext cx="6019800" cy="1316037"/>
            <a:chOff x="720" y="1245"/>
            <a:chExt cx="3792" cy="829"/>
          </a:xfrm>
        </p:grpSpPr>
        <p:sp>
          <p:nvSpPr>
            <p:cNvPr id="81935" name="Text Box 3"/>
            <p:cNvSpPr txBox="1">
              <a:spLocks noChangeArrowheads="1"/>
            </p:cNvSpPr>
            <p:nvPr/>
          </p:nvSpPr>
          <p:spPr bwMode="auto">
            <a:xfrm>
              <a:off x="720" y="1245"/>
              <a:ext cx="29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b="1">
                  <a:solidFill>
                    <a:srgbClr val="5050CC"/>
                  </a:solidFill>
                </a:rPr>
                <a:t>解</a:t>
              </a:r>
              <a:endParaRPr lang="zh-CN" altLang="en-US" sz="2200" b="1">
                <a:solidFill>
                  <a:srgbClr val="5050CC"/>
                </a:solidFill>
              </a:endParaRPr>
            </a:p>
          </p:txBody>
        </p:sp>
        <p:graphicFrame>
          <p:nvGraphicFramePr>
            <p:cNvPr id="81936" name="Object 4"/>
            <p:cNvGraphicFramePr>
              <a:graphicFrameLocks noChangeAspect="1"/>
            </p:cNvGraphicFramePr>
            <p:nvPr/>
          </p:nvGraphicFramePr>
          <p:xfrm>
            <a:off x="1082" y="1313"/>
            <a:ext cx="2448" cy="201"/>
          </p:xfrm>
          <a:graphic>
            <a:graphicData uri="http://schemas.openxmlformats.org/presentationml/2006/ole">
              <mc:AlternateContent xmlns:mc="http://schemas.openxmlformats.org/markup-compatibility/2006">
                <mc:Choice xmlns:v="urn:schemas-microsoft-com:vml" Requires="v">
                  <p:oleObj spid="_x0000_s82218" name="Equation" r:id="rId1" imgW="5162550" imgH="346710" progId="Equation.3">
                    <p:embed/>
                  </p:oleObj>
                </mc:Choice>
                <mc:Fallback>
                  <p:oleObj name="Equation" r:id="rId1" imgW="5162550" imgH="34671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2" y="1313"/>
                          <a:ext cx="2448" cy="2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99FF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37" name="Object 5"/>
            <p:cNvGraphicFramePr>
              <a:graphicFrameLocks noChangeAspect="1"/>
            </p:cNvGraphicFramePr>
            <p:nvPr/>
          </p:nvGraphicFramePr>
          <p:xfrm>
            <a:off x="1850" y="1551"/>
            <a:ext cx="2662" cy="523"/>
          </p:xfrm>
          <a:graphic>
            <a:graphicData uri="http://schemas.openxmlformats.org/presentationml/2006/ole">
              <mc:AlternateContent xmlns:mc="http://schemas.openxmlformats.org/markup-compatibility/2006">
                <mc:Choice xmlns:v="urn:schemas-microsoft-com:vml" Requires="v">
                  <p:oleObj spid="_x0000_s82219" name="Equation" r:id="rId3" imgW="5619750" imgH="1039495" progId="Equation.3">
                    <p:embed/>
                  </p:oleObj>
                </mc:Choice>
                <mc:Fallback>
                  <p:oleObj name="Equation" r:id="rId3" imgW="5619750" imgH="1039495"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0" y="1551"/>
                          <a:ext cx="2662" cy="5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99FF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51213" name="AutoShape 9"/>
          <p:cNvSpPr>
            <a:spLocks noChangeArrowheads="1"/>
          </p:cNvSpPr>
          <p:nvPr/>
        </p:nvSpPr>
        <p:spPr bwMode="auto">
          <a:xfrm>
            <a:off x="1258888" y="4581525"/>
            <a:ext cx="457200" cy="92075"/>
          </a:xfrm>
          <a:prstGeom prst="rightArrow">
            <a:avLst>
              <a:gd name="adj1" fmla="val 50000"/>
              <a:gd name="adj2" fmla="val 124138"/>
            </a:avLst>
          </a:prstGeom>
          <a:solidFill>
            <a:srgbClr val="006666"/>
          </a:solidFill>
          <a:ln w="9525">
            <a:solidFill>
              <a:srgbClr val="006666"/>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51219" name="Group 19"/>
          <p:cNvGrpSpPr/>
          <p:nvPr/>
        </p:nvGrpSpPr>
        <p:grpSpPr bwMode="auto">
          <a:xfrm>
            <a:off x="1136650" y="3435350"/>
            <a:ext cx="5095875" cy="949325"/>
            <a:chOff x="716" y="2164"/>
            <a:chExt cx="3210" cy="598"/>
          </a:xfrm>
        </p:grpSpPr>
        <p:sp>
          <p:nvSpPr>
            <p:cNvPr id="81930" name="Text Box 6"/>
            <p:cNvSpPr txBox="1">
              <a:spLocks noChangeArrowheads="1"/>
            </p:cNvSpPr>
            <p:nvPr/>
          </p:nvSpPr>
          <p:spPr bwMode="auto">
            <a:xfrm>
              <a:off x="716" y="2164"/>
              <a:ext cx="29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t>由</a:t>
              </a:r>
              <a:endParaRPr lang="zh-CN" altLang="en-US" sz="2200"/>
            </a:p>
          </p:txBody>
        </p:sp>
        <p:graphicFrame>
          <p:nvGraphicFramePr>
            <p:cNvPr id="81931" name="Object 7"/>
            <p:cNvGraphicFramePr>
              <a:graphicFrameLocks noChangeAspect="1"/>
            </p:cNvGraphicFramePr>
            <p:nvPr/>
          </p:nvGraphicFramePr>
          <p:xfrm>
            <a:off x="1111" y="2251"/>
            <a:ext cx="1423" cy="510"/>
          </p:xfrm>
          <a:graphic>
            <a:graphicData uri="http://schemas.openxmlformats.org/presentationml/2006/ole">
              <mc:AlternateContent xmlns:mc="http://schemas.openxmlformats.org/markup-compatibility/2006">
                <mc:Choice xmlns:v="urn:schemas-microsoft-com:vml" Requires="v">
                  <p:oleObj spid="_x0000_s82220" name="Equation" r:id="rId5" imgW="2962275" imgH="1020445" progId="Equation.3">
                    <p:embed/>
                  </p:oleObj>
                </mc:Choice>
                <mc:Fallback>
                  <p:oleObj name="Equation" r:id="rId5" imgW="2962275" imgH="1020445"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1" y="2251"/>
                          <a:ext cx="1423" cy="5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99FF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32" name="AutoShape 8"/>
            <p:cNvSpPr/>
            <p:nvPr/>
          </p:nvSpPr>
          <p:spPr bwMode="auto">
            <a:xfrm>
              <a:off x="2553" y="2282"/>
              <a:ext cx="70" cy="384"/>
            </a:xfrm>
            <a:prstGeom prst="rightBrace">
              <a:avLst>
                <a:gd name="adj1" fmla="val 45714"/>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81933" name="Object 10"/>
            <p:cNvGraphicFramePr>
              <a:graphicFrameLocks noChangeAspect="1"/>
            </p:cNvGraphicFramePr>
            <p:nvPr/>
          </p:nvGraphicFramePr>
          <p:xfrm>
            <a:off x="3024" y="2216"/>
            <a:ext cx="902" cy="546"/>
          </p:xfrm>
          <a:graphic>
            <a:graphicData uri="http://schemas.openxmlformats.org/presentationml/2006/ole">
              <mc:AlternateContent xmlns:mc="http://schemas.openxmlformats.org/markup-compatibility/2006">
                <mc:Choice xmlns:v="urn:schemas-microsoft-com:vml" Requires="v">
                  <p:oleObj spid="_x0000_s82221" name="Equation" r:id="rId7" imgW="1847850" imgH="1097280" progId="Equation.3">
                    <p:embed/>
                  </p:oleObj>
                </mc:Choice>
                <mc:Fallback>
                  <p:oleObj name="Equation" r:id="rId7" imgW="1847850" imgH="109728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24" y="2216"/>
                          <a:ext cx="902" cy="5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99FF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34" name="AutoShape 11"/>
            <p:cNvSpPr>
              <a:spLocks noChangeArrowheads="1"/>
            </p:cNvSpPr>
            <p:nvPr/>
          </p:nvSpPr>
          <p:spPr bwMode="auto">
            <a:xfrm>
              <a:off x="2688" y="2426"/>
              <a:ext cx="288" cy="58"/>
            </a:xfrm>
            <a:prstGeom prst="rightArrow">
              <a:avLst>
                <a:gd name="adj1" fmla="val 50000"/>
                <a:gd name="adj2" fmla="val 124138"/>
              </a:avLst>
            </a:prstGeom>
            <a:solidFill>
              <a:srgbClr val="006666"/>
            </a:solidFill>
            <a:ln w="9525">
              <a:solidFill>
                <a:srgbClr val="006666"/>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51206" name="Object 12"/>
          <p:cNvGraphicFramePr>
            <a:graphicFrameLocks noChangeAspect="1"/>
          </p:cNvGraphicFramePr>
          <p:nvPr/>
        </p:nvGraphicFramePr>
        <p:xfrm>
          <a:off x="1835150" y="4437063"/>
          <a:ext cx="2822575" cy="377825"/>
        </p:xfrm>
        <a:graphic>
          <a:graphicData uri="http://schemas.openxmlformats.org/presentationml/2006/ole">
            <mc:AlternateContent xmlns:mc="http://schemas.openxmlformats.org/markup-compatibility/2006">
              <mc:Choice xmlns:v="urn:schemas-microsoft-com:vml" Requires="v">
                <p:oleObj spid="_x0000_s82222" name="Equation" r:id="rId9" imgW="3724275" imgH="423545" progId="Equation.3">
                  <p:embed/>
                </p:oleObj>
              </mc:Choice>
              <mc:Fallback>
                <p:oleObj name="Equation" r:id="rId9" imgW="3724275" imgH="423545"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5150" y="4437063"/>
                        <a:ext cx="2822575" cy="37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99FF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15" name="Text Box 13"/>
          <p:cNvSpPr txBox="1">
            <a:spLocks noChangeArrowheads="1"/>
          </p:cNvSpPr>
          <p:nvPr/>
        </p:nvSpPr>
        <p:spPr bwMode="auto">
          <a:xfrm>
            <a:off x="1143000" y="4918075"/>
            <a:ext cx="4635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而</a:t>
            </a:r>
            <a:endParaRPr lang="zh-CN" altLang="en-US" sz="2200">
              <a:latin typeface="宋体" panose="02010600030101010101" pitchFamily="2" charset="-122"/>
            </a:endParaRPr>
          </a:p>
        </p:txBody>
      </p:sp>
      <p:graphicFrame>
        <p:nvGraphicFramePr>
          <p:cNvPr id="51207" name="Object 14"/>
          <p:cNvGraphicFramePr>
            <a:graphicFrameLocks noChangeAspect="1"/>
          </p:cNvGraphicFramePr>
          <p:nvPr/>
        </p:nvGraphicFramePr>
        <p:xfrm>
          <a:off x="1692275" y="4941888"/>
          <a:ext cx="4800600" cy="377825"/>
        </p:xfrm>
        <a:graphic>
          <a:graphicData uri="http://schemas.openxmlformats.org/presentationml/2006/ole">
            <mc:AlternateContent xmlns:mc="http://schemas.openxmlformats.org/markup-compatibility/2006">
              <mc:Choice xmlns:v="urn:schemas-microsoft-com:vml" Requires="v">
                <p:oleObj spid="_x0000_s82223" name="Equation" r:id="rId11" imgW="6343650" imgH="423545" progId="Equation.3">
                  <p:embed/>
                </p:oleObj>
              </mc:Choice>
              <mc:Fallback>
                <p:oleObj name="Equation" r:id="rId11" imgW="6343650" imgH="423545"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92275" y="4941888"/>
                        <a:ext cx="4800600" cy="37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99FF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08" name="Object 15"/>
          <p:cNvGraphicFramePr>
            <a:graphicFrameLocks noChangeAspect="1"/>
          </p:cNvGraphicFramePr>
          <p:nvPr/>
        </p:nvGraphicFramePr>
        <p:xfrm>
          <a:off x="1692275" y="5445125"/>
          <a:ext cx="4773613" cy="377825"/>
        </p:xfrm>
        <a:graphic>
          <a:graphicData uri="http://schemas.openxmlformats.org/presentationml/2006/ole">
            <mc:AlternateContent xmlns:mc="http://schemas.openxmlformats.org/markup-compatibility/2006">
              <mc:Choice xmlns:v="urn:schemas-microsoft-com:vml" Requires="v">
                <p:oleObj spid="_x0000_s82224" name="Equation" r:id="rId13" imgW="6305550" imgH="423545" progId="Equation.3">
                  <p:embed/>
                </p:oleObj>
              </mc:Choice>
              <mc:Fallback>
                <p:oleObj name="Equation" r:id="rId13" imgW="6305550" imgH="423545"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92275" y="5445125"/>
                        <a:ext cx="4773613" cy="37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99FF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0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2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20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2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13" grpId="0" bldLvl="0" animBg="1"/>
      <p:bldP spid="512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1476375" y="908050"/>
            <a:ext cx="4635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故</a:t>
            </a:r>
            <a:endParaRPr lang="zh-CN" altLang="en-US" sz="2200">
              <a:latin typeface="宋体" panose="02010600030101010101" pitchFamily="2" charset="-122"/>
            </a:endParaRPr>
          </a:p>
        </p:txBody>
      </p:sp>
      <p:graphicFrame>
        <p:nvGraphicFramePr>
          <p:cNvPr id="82947" name="Object 3"/>
          <p:cNvGraphicFramePr>
            <a:graphicFrameLocks noChangeAspect="1"/>
          </p:cNvGraphicFramePr>
          <p:nvPr/>
        </p:nvGraphicFramePr>
        <p:xfrm>
          <a:off x="2339975" y="765175"/>
          <a:ext cx="1630363" cy="728663"/>
        </p:xfrm>
        <a:graphic>
          <a:graphicData uri="http://schemas.openxmlformats.org/presentationml/2006/ole">
            <mc:AlternateContent xmlns:mc="http://schemas.openxmlformats.org/markup-compatibility/2006">
              <mc:Choice xmlns:v="urn:schemas-microsoft-com:vml" Requires="v">
                <p:oleObj spid="_x0000_s82990" name="Equation" r:id="rId1" imgW="2095500" imgH="904875" progId="Equation.3">
                  <p:embed/>
                </p:oleObj>
              </mc:Choice>
              <mc:Fallback>
                <p:oleObj name="Equation" r:id="rId1" imgW="2095500" imgH="904875"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765175"/>
                        <a:ext cx="1630363" cy="728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99FF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2228" name="Text Box 4"/>
          <p:cNvSpPr txBox="1">
            <a:spLocks noChangeArrowheads="1"/>
          </p:cNvSpPr>
          <p:nvPr/>
        </p:nvSpPr>
        <p:spPr bwMode="auto">
          <a:xfrm>
            <a:off x="684213" y="1916113"/>
            <a:ext cx="6145212"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a:latin typeface="宋体" panose="02010600030101010101" pitchFamily="2" charset="-122"/>
              </a:rPr>
              <a:t>　　继续讨论：</a:t>
            </a:r>
            <a:r>
              <a:rPr lang="en-US" altLang="zh-CN" sz="2200" i="1"/>
              <a:t>a</a:t>
            </a:r>
            <a:r>
              <a:rPr lang="zh-CN" altLang="en-US" sz="2200" i="1"/>
              <a:t>，</a:t>
            </a:r>
            <a:r>
              <a:rPr lang="en-US" altLang="zh-CN" sz="2200" i="1"/>
              <a:t>b</a:t>
            </a:r>
            <a:r>
              <a:rPr lang="en-US" altLang="zh-CN" sz="2200" i="1">
                <a:latin typeface="宋体" panose="02010600030101010101" pitchFamily="2" charset="-122"/>
              </a:rPr>
              <a:t> </a:t>
            </a:r>
            <a:r>
              <a:rPr lang="zh-CN" altLang="en-US" sz="2200">
                <a:latin typeface="宋体" panose="02010600030101010101" pitchFamily="2" charset="-122"/>
              </a:rPr>
              <a:t>取何值时，</a:t>
            </a:r>
            <a:r>
              <a:rPr lang="en-US" altLang="zh-CN" sz="2200" i="1"/>
              <a:t>U</a:t>
            </a:r>
            <a:r>
              <a:rPr lang="zh-CN" altLang="en-US" sz="2200" i="1"/>
              <a:t>，</a:t>
            </a:r>
            <a:r>
              <a:rPr lang="en-US" altLang="zh-CN" sz="2200" i="1"/>
              <a:t>V</a:t>
            </a:r>
            <a:r>
              <a:rPr lang="en-US" altLang="zh-CN" sz="2200" i="1">
                <a:latin typeface="宋体" panose="02010600030101010101" pitchFamily="2" charset="-122"/>
              </a:rPr>
              <a:t> </a:t>
            </a:r>
            <a:r>
              <a:rPr lang="zh-CN" altLang="en-US" sz="2200">
                <a:latin typeface="宋体" panose="02010600030101010101" pitchFamily="2" charset="-122"/>
              </a:rPr>
              <a:t>不相关？</a:t>
            </a:r>
            <a:endParaRPr lang="zh-CN" altLang="en-US" sz="2200">
              <a:latin typeface="宋体" panose="02010600030101010101" pitchFamily="2" charset="-122"/>
            </a:endParaRPr>
          </a:p>
          <a:p>
            <a:pPr eaLnBrk="1" hangingPunct="1">
              <a:lnSpc>
                <a:spcPct val="130000"/>
              </a:lnSpc>
            </a:pPr>
            <a:r>
              <a:rPr lang="zh-CN" altLang="en-US" sz="2200">
                <a:latin typeface="宋体" panose="02010600030101010101" pitchFamily="2" charset="-122"/>
              </a:rPr>
              <a:t>此时，</a:t>
            </a:r>
            <a:r>
              <a:rPr lang="en-US" altLang="zh-CN" sz="2200" i="1"/>
              <a:t>U</a:t>
            </a:r>
            <a:r>
              <a:rPr lang="zh-CN" altLang="en-US" sz="2200" i="1"/>
              <a:t>，</a:t>
            </a:r>
            <a:r>
              <a:rPr lang="en-US" altLang="zh-CN" sz="2200" i="1"/>
              <a:t>V</a:t>
            </a:r>
            <a:r>
              <a:rPr lang="en-US" altLang="zh-CN" sz="2200" i="1">
                <a:latin typeface="宋体" panose="02010600030101010101" pitchFamily="2" charset="-122"/>
              </a:rPr>
              <a:t> </a:t>
            </a:r>
            <a:r>
              <a:rPr lang="zh-CN" altLang="en-US" sz="2200">
                <a:latin typeface="宋体" panose="02010600030101010101" pitchFamily="2" charset="-122"/>
              </a:rPr>
              <a:t>是否独立？</a:t>
            </a:r>
            <a:endParaRPr lang="zh-CN" altLang="en-US" sz="2200">
              <a:latin typeface="宋体" panose="02010600030101010101" pitchFamily="2" charset="-122"/>
            </a:endParaRPr>
          </a:p>
        </p:txBody>
      </p:sp>
      <p:sp>
        <p:nvSpPr>
          <p:cNvPr id="5" name="Text Box 4"/>
          <p:cNvSpPr txBox="1">
            <a:spLocks noChangeArrowheads="1"/>
          </p:cNvSpPr>
          <p:nvPr/>
        </p:nvSpPr>
        <p:spPr bwMode="auto">
          <a:xfrm>
            <a:off x="836613" y="3475038"/>
            <a:ext cx="50292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a:solidFill>
                  <a:srgbClr val="FF0000"/>
                </a:solidFill>
                <a:latin typeface="宋体" panose="02010600030101010101" pitchFamily="2" charset="-122"/>
              </a:rPr>
              <a:t>　　选做练习：求</a:t>
            </a:r>
            <a:r>
              <a:rPr lang="en-US" altLang="zh-CN" sz="2200">
                <a:solidFill>
                  <a:srgbClr val="FF0000"/>
                </a:solidFill>
              </a:rPr>
              <a:t>U</a:t>
            </a:r>
            <a:r>
              <a:rPr lang="zh-CN" altLang="en-US" sz="2200">
                <a:solidFill>
                  <a:srgbClr val="FF0000"/>
                </a:solidFill>
              </a:rPr>
              <a:t>和 </a:t>
            </a:r>
            <a:r>
              <a:rPr lang="en-US" altLang="zh-CN" sz="2200">
                <a:solidFill>
                  <a:srgbClr val="FF0000"/>
                </a:solidFill>
              </a:rPr>
              <a:t>V</a:t>
            </a:r>
            <a:r>
              <a:rPr lang="en-US" altLang="zh-CN" sz="2200">
                <a:solidFill>
                  <a:srgbClr val="FF0000"/>
                </a:solidFill>
                <a:latin typeface="宋体" panose="02010600030101010101" pitchFamily="2" charset="-122"/>
              </a:rPr>
              <a:t> </a:t>
            </a:r>
            <a:r>
              <a:rPr lang="zh-CN" altLang="en-US" sz="2200">
                <a:solidFill>
                  <a:srgbClr val="FF0000"/>
                </a:solidFill>
                <a:latin typeface="宋体" panose="02010600030101010101" pitchFamily="2" charset="-122"/>
              </a:rPr>
              <a:t>的联合密度。</a:t>
            </a:r>
            <a:endParaRPr lang="zh-CN" altLang="en-US" sz="2200">
              <a:solidFill>
                <a:srgbClr val="FF0000"/>
              </a:solidFill>
              <a:latin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533400" y="304800"/>
            <a:ext cx="7162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相关系数的性质：</a:t>
            </a:r>
            <a:endParaRPr lang="zh-CN" altLang="en-US" sz="3200" b="1"/>
          </a:p>
        </p:txBody>
      </p:sp>
      <p:graphicFrame>
        <p:nvGraphicFramePr>
          <p:cNvPr id="260099" name="Object 3"/>
          <p:cNvGraphicFramePr>
            <a:graphicFrameLocks noChangeAspect="1"/>
          </p:cNvGraphicFramePr>
          <p:nvPr/>
        </p:nvGraphicFramePr>
        <p:xfrm>
          <a:off x="635000" y="915988"/>
          <a:ext cx="1719263" cy="601662"/>
        </p:xfrm>
        <a:graphic>
          <a:graphicData uri="http://schemas.openxmlformats.org/presentationml/2006/ole">
            <mc:AlternateContent xmlns:mc="http://schemas.openxmlformats.org/markup-compatibility/2006">
              <mc:Choice xmlns:v="urn:schemas-microsoft-com:vml" Requires="v">
                <p:oleObj spid="_x0000_s84269" name="公式" r:id="rId1" imgW="485775" imgH="115570" progId="Equation.3">
                  <p:embed/>
                </p:oleObj>
              </mc:Choice>
              <mc:Fallback>
                <p:oleObj name="公式" r:id="rId1" imgW="485775" imgH="11557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00" y="915988"/>
                        <a:ext cx="1719263" cy="601662"/>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0100" name="Rectangle 4"/>
          <p:cNvSpPr>
            <a:spLocks noChangeArrowheads="1"/>
          </p:cNvSpPr>
          <p:nvPr/>
        </p:nvSpPr>
        <p:spPr bwMode="auto">
          <a:xfrm>
            <a:off x="639763" y="1660525"/>
            <a:ext cx="5838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证</a:t>
            </a:r>
            <a:r>
              <a:rPr lang="en-US" altLang="zh-CN" sz="2800" b="1"/>
              <a:t>: </a:t>
            </a:r>
            <a:r>
              <a:rPr lang="zh-CN" altLang="en-US" sz="2800" b="1"/>
              <a:t>由方差的性质和协方差的定义知</a:t>
            </a:r>
            <a:r>
              <a:rPr lang="en-US" altLang="zh-CN" sz="2800" b="1"/>
              <a:t>,</a:t>
            </a:r>
            <a:endParaRPr lang="en-US" altLang="zh-CN" sz="2800" b="1"/>
          </a:p>
        </p:txBody>
      </p:sp>
      <p:sp>
        <p:nvSpPr>
          <p:cNvPr id="260101" name="Rectangle 5"/>
          <p:cNvSpPr>
            <a:spLocks noChangeArrowheads="1"/>
          </p:cNvSpPr>
          <p:nvPr/>
        </p:nvSpPr>
        <p:spPr bwMode="auto">
          <a:xfrm>
            <a:off x="950913" y="2209800"/>
            <a:ext cx="28225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对任意实数 </a:t>
            </a:r>
            <a:r>
              <a:rPr lang="en-US" altLang="zh-CN" sz="3200" b="1" i="1"/>
              <a:t>b</a:t>
            </a:r>
            <a:r>
              <a:rPr lang="en-US" altLang="zh-CN" sz="3200" b="1"/>
              <a:t>, </a:t>
            </a:r>
            <a:r>
              <a:rPr lang="zh-CN" altLang="en-US" sz="2800" b="1"/>
              <a:t>有</a:t>
            </a:r>
            <a:endParaRPr lang="zh-CN" altLang="en-US" sz="2800" b="1"/>
          </a:p>
        </p:txBody>
      </p:sp>
      <p:sp>
        <p:nvSpPr>
          <p:cNvPr id="260102" name="Rectangle 6"/>
          <p:cNvSpPr>
            <a:spLocks noChangeArrowheads="1"/>
          </p:cNvSpPr>
          <p:nvPr/>
        </p:nvSpPr>
        <p:spPr bwMode="auto">
          <a:xfrm>
            <a:off x="885825" y="2819400"/>
            <a:ext cx="70564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a:t>0≤</a:t>
            </a:r>
            <a:r>
              <a:rPr lang="en-US" altLang="zh-CN" sz="3200" b="1" i="1"/>
              <a:t>D</a:t>
            </a:r>
            <a:r>
              <a:rPr lang="en-US" altLang="zh-CN" sz="3200" b="1"/>
              <a:t>(</a:t>
            </a:r>
            <a:r>
              <a:rPr lang="en-US" altLang="zh-CN" sz="3200" b="1" i="1"/>
              <a:t>Y</a:t>
            </a:r>
            <a:r>
              <a:rPr lang="en-US" altLang="zh-CN" sz="3200" b="1"/>
              <a:t>-</a:t>
            </a:r>
            <a:r>
              <a:rPr lang="en-US" altLang="zh-CN" sz="3200" b="1" i="1"/>
              <a:t>bX</a:t>
            </a:r>
            <a:r>
              <a:rPr lang="en-US" altLang="zh-CN" sz="3200" b="1"/>
              <a:t>)= </a:t>
            </a:r>
            <a:r>
              <a:rPr lang="en-US" altLang="zh-CN" sz="3200" b="1" i="1"/>
              <a:t>b</a:t>
            </a:r>
            <a:r>
              <a:rPr lang="en-US" altLang="zh-CN" sz="3200" b="1" i="1" baseline="30000"/>
              <a:t>2</a:t>
            </a:r>
            <a:r>
              <a:rPr lang="en-US" altLang="zh-CN" sz="3200" b="1" i="1"/>
              <a:t>D</a:t>
            </a:r>
            <a:r>
              <a:rPr lang="en-US" altLang="zh-CN" sz="3200" b="1"/>
              <a:t>(</a:t>
            </a:r>
            <a:r>
              <a:rPr lang="en-US" altLang="zh-CN" sz="3200" b="1" i="1"/>
              <a:t>X</a:t>
            </a:r>
            <a:r>
              <a:rPr lang="en-US" altLang="zh-CN" sz="3200" b="1"/>
              <a:t>)+</a:t>
            </a:r>
            <a:r>
              <a:rPr lang="en-US" altLang="zh-CN" sz="3200" b="1" i="1"/>
              <a:t>D</a:t>
            </a:r>
            <a:r>
              <a:rPr lang="en-US" altLang="zh-CN" sz="3200" b="1"/>
              <a:t>(</a:t>
            </a:r>
            <a:r>
              <a:rPr lang="en-US" altLang="zh-CN" sz="3200" b="1" i="1"/>
              <a:t>Y</a:t>
            </a:r>
            <a:r>
              <a:rPr lang="en-US" altLang="zh-CN" sz="3200" b="1"/>
              <a:t>)-2</a:t>
            </a:r>
            <a:r>
              <a:rPr lang="en-US" altLang="zh-CN" sz="3200" b="1" i="1"/>
              <a:t>b</a:t>
            </a:r>
            <a:r>
              <a:rPr lang="en-US" altLang="zh-CN" sz="3200" b="1"/>
              <a:t> </a:t>
            </a:r>
            <a:r>
              <a:rPr lang="en-US" altLang="zh-CN" sz="3200" b="1" i="1"/>
              <a:t>Cov</a:t>
            </a:r>
            <a:r>
              <a:rPr lang="en-US" altLang="zh-CN" sz="3200" b="1"/>
              <a:t>(</a:t>
            </a:r>
            <a:r>
              <a:rPr lang="en-US" altLang="zh-CN" sz="3200" b="1" i="1"/>
              <a:t>X</a:t>
            </a:r>
            <a:r>
              <a:rPr lang="en-US" altLang="zh-CN" sz="3200" b="1"/>
              <a:t>,</a:t>
            </a:r>
            <a:r>
              <a:rPr lang="en-US" altLang="zh-CN" sz="3200" b="1" i="1"/>
              <a:t>Y </a:t>
            </a:r>
            <a:r>
              <a:rPr lang="en-US" altLang="zh-CN" sz="3200" b="1"/>
              <a:t>)</a:t>
            </a:r>
            <a:endParaRPr lang="en-US" altLang="zh-CN" sz="3200" b="1"/>
          </a:p>
        </p:txBody>
      </p:sp>
      <p:grpSp>
        <p:nvGrpSpPr>
          <p:cNvPr id="2" name="Group 7"/>
          <p:cNvGrpSpPr/>
          <p:nvPr/>
        </p:nvGrpSpPr>
        <p:grpSpPr bwMode="auto">
          <a:xfrm>
            <a:off x="431800" y="3505200"/>
            <a:ext cx="4722813" cy="933450"/>
            <a:chOff x="592" y="2304"/>
            <a:chExt cx="2975" cy="588"/>
          </a:xfrm>
        </p:grpSpPr>
        <p:graphicFrame>
          <p:nvGraphicFramePr>
            <p:cNvPr id="83986" name="Object 8"/>
            <p:cNvGraphicFramePr>
              <a:graphicFrameLocks noChangeAspect="1"/>
            </p:cNvGraphicFramePr>
            <p:nvPr/>
          </p:nvGraphicFramePr>
          <p:xfrm>
            <a:off x="1029" y="2304"/>
            <a:ext cx="1335" cy="588"/>
          </p:xfrm>
          <a:graphic>
            <a:graphicData uri="http://schemas.openxmlformats.org/presentationml/2006/ole">
              <mc:AlternateContent xmlns:mc="http://schemas.openxmlformats.org/markup-compatibility/2006">
                <mc:Choice xmlns:v="urn:schemas-microsoft-com:vml" Requires="v">
                  <p:oleObj spid="_x0000_s84270" name="公式" r:id="rId3" imgW="866775" imgH="337185" progId="Equation.3">
                    <p:embed/>
                  </p:oleObj>
                </mc:Choice>
                <mc:Fallback>
                  <p:oleObj name="公式" r:id="rId3" imgW="866775" imgH="337185"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9" y="2304"/>
                          <a:ext cx="1335" cy="58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87" name="Rectangle 9"/>
            <p:cNvSpPr>
              <a:spLocks noChangeArrowheads="1"/>
            </p:cNvSpPr>
            <p:nvPr/>
          </p:nvSpPr>
          <p:spPr bwMode="auto">
            <a:xfrm>
              <a:off x="592" y="2383"/>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令</a:t>
              </a:r>
              <a:endParaRPr lang="zh-CN" altLang="en-US" sz="2800" b="1"/>
            </a:p>
          </p:txBody>
        </p:sp>
        <p:sp>
          <p:nvSpPr>
            <p:cNvPr id="83988" name="Text Box 10"/>
            <p:cNvSpPr txBox="1">
              <a:spLocks noChangeArrowheads="1"/>
            </p:cNvSpPr>
            <p:nvPr/>
          </p:nvSpPr>
          <p:spPr bwMode="auto">
            <a:xfrm>
              <a:off x="2326" y="2383"/>
              <a:ext cx="1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t>，则上式为</a:t>
              </a:r>
              <a:endParaRPr lang="zh-CN" altLang="en-US" sz="2800"/>
            </a:p>
          </p:txBody>
        </p:sp>
      </p:grpSp>
      <p:grpSp>
        <p:nvGrpSpPr>
          <p:cNvPr id="3" name="Group 11"/>
          <p:cNvGrpSpPr/>
          <p:nvPr/>
        </p:nvGrpSpPr>
        <p:grpSpPr bwMode="auto">
          <a:xfrm>
            <a:off x="254000" y="4267200"/>
            <a:ext cx="5229225" cy="1073150"/>
            <a:chOff x="508" y="2544"/>
            <a:chExt cx="3294" cy="676"/>
          </a:xfrm>
        </p:grpSpPr>
        <p:sp>
          <p:nvSpPr>
            <p:cNvPr id="83984" name="Text Box 12"/>
            <p:cNvSpPr txBox="1">
              <a:spLocks noChangeArrowheads="1"/>
            </p:cNvSpPr>
            <p:nvPr/>
          </p:nvSpPr>
          <p:spPr bwMode="auto">
            <a:xfrm>
              <a:off x="508" y="2692"/>
              <a:ext cx="133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b="1"/>
                <a:t> </a:t>
              </a:r>
              <a:r>
                <a:rPr lang="en-US" altLang="zh-CN" sz="3200" b="1" i="1"/>
                <a:t>D</a:t>
              </a:r>
              <a:r>
                <a:rPr lang="en-US" altLang="zh-CN" sz="3200" b="1"/>
                <a:t>(</a:t>
              </a:r>
              <a:r>
                <a:rPr lang="en-US" altLang="zh-CN" sz="3200" b="1" i="1"/>
                <a:t>Y</a:t>
              </a:r>
              <a:r>
                <a:rPr lang="en-US" altLang="zh-CN" sz="3200" b="1"/>
                <a:t>- </a:t>
              </a:r>
              <a:r>
                <a:rPr lang="en-US" altLang="zh-CN" sz="3200" b="1" i="1"/>
                <a:t>bX</a:t>
              </a:r>
              <a:r>
                <a:rPr lang="en-US" altLang="zh-CN" sz="3200" b="1"/>
                <a:t>)=</a:t>
              </a:r>
              <a:r>
                <a:rPr lang="en-US" altLang="zh-CN"/>
                <a:t> </a:t>
              </a:r>
              <a:endParaRPr lang="en-US" altLang="zh-CN"/>
            </a:p>
          </p:txBody>
        </p:sp>
        <p:graphicFrame>
          <p:nvGraphicFramePr>
            <p:cNvPr id="83985" name="Object 13"/>
            <p:cNvGraphicFramePr>
              <a:graphicFrameLocks noChangeAspect="1"/>
            </p:cNvGraphicFramePr>
            <p:nvPr/>
          </p:nvGraphicFramePr>
          <p:xfrm>
            <a:off x="1748" y="2544"/>
            <a:ext cx="2054" cy="676"/>
          </p:xfrm>
          <a:graphic>
            <a:graphicData uri="http://schemas.openxmlformats.org/presentationml/2006/ole">
              <mc:AlternateContent xmlns:mc="http://schemas.openxmlformats.org/markup-compatibility/2006">
                <mc:Choice xmlns:v="urn:schemas-microsoft-com:vml" Requires="v">
                  <p:oleObj spid="_x0000_s84271" name="公式" r:id="rId5" imgW="1257300" imgH="365760" progId="Equation.3">
                    <p:embed/>
                  </p:oleObj>
                </mc:Choice>
                <mc:Fallback>
                  <p:oleObj name="公式" r:id="rId5" imgW="1257300" imgH="36576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48" y="2544"/>
                          <a:ext cx="2054" cy="676"/>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60110" name="Object 14"/>
          <p:cNvGraphicFramePr>
            <a:graphicFrameLocks noChangeAspect="1"/>
          </p:cNvGraphicFramePr>
          <p:nvPr/>
        </p:nvGraphicFramePr>
        <p:xfrm>
          <a:off x="1814513" y="5257800"/>
          <a:ext cx="3849687" cy="1057275"/>
        </p:xfrm>
        <a:graphic>
          <a:graphicData uri="http://schemas.openxmlformats.org/presentationml/2006/ole">
            <mc:AlternateContent xmlns:mc="http://schemas.openxmlformats.org/markup-compatibility/2006">
              <mc:Choice xmlns:v="urn:schemas-microsoft-com:vml" Requires="v">
                <p:oleObj spid="_x0000_s84272" name="公式" r:id="rId7" imgW="1524000" imgH="365760" progId="Equation.3">
                  <p:embed/>
                </p:oleObj>
              </mc:Choice>
              <mc:Fallback>
                <p:oleObj name="公式" r:id="rId7" imgW="1524000" imgH="36576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14513" y="5257800"/>
                        <a:ext cx="3849687" cy="10572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0111" name="Object 15"/>
          <p:cNvGraphicFramePr>
            <a:graphicFrameLocks noChangeAspect="1"/>
          </p:cNvGraphicFramePr>
          <p:nvPr/>
        </p:nvGraphicFramePr>
        <p:xfrm>
          <a:off x="5664200" y="5429250"/>
          <a:ext cx="2171700" cy="514350"/>
        </p:xfrm>
        <a:graphic>
          <a:graphicData uri="http://schemas.openxmlformats.org/presentationml/2006/ole">
            <mc:AlternateContent xmlns:mc="http://schemas.openxmlformats.org/markup-compatibility/2006">
              <mc:Choice xmlns:v="urn:schemas-microsoft-com:vml" Requires="v">
                <p:oleObj spid="_x0000_s84273" name="公式" r:id="rId9" imgW="876300" imgH="144145" progId="Equation.3">
                  <p:embed/>
                </p:oleObj>
              </mc:Choice>
              <mc:Fallback>
                <p:oleObj name="公式" r:id="rId9" imgW="876300" imgH="144145"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64200" y="5429250"/>
                        <a:ext cx="2171700" cy="51435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60099"/>
                                        </p:tgtEl>
                                        <p:attrNameLst>
                                          <p:attrName>style.visibility</p:attrName>
                                        </p:attrNameLst>
                                      </p:cBhvr>
                                      <p:to>
                                        <p:strVal val="visible"/>
                                      </p:to>
                                    </p:set>
                                    <p:anim calcmode="lin" valueType="num">
                                      <p:cBhvr>
                                        <p:cTn id="7" dur="500" fill="hold"/>
                                        <p:tgtEl>
                                          <p:spTgt spid="260099"/>
                                        </p:tgtEl>
                                        <p:attrNameLst>
                                          <p:attrName>ppt_w</p:attrName>
                                        </p:attrNameLst>
                                      </p:cBhvr>
                                      <p:tavLst>
                                        <p:tav tm="0">
                                          <p:val>
                                            <p:fltVal val="0"/>
                                          </p:val>
                                        </p:tav>
                                        <p:tav tm="100000">
                                          <p:val>
                                            <p:strVal val="#ppt_w"/>
                                          </p:val>
                                        </p:tav>
                                      </p:tavLst>
                                    </p:anim>
                                    <p:anim calcmode="lin" valueType="num">
                                      <p:cBhvr>
                                        <p:cTn id="8" dur="500" fill="hold"/>
                                        <p:tgtEl>
                                          <p:spTgt spid="260099"/>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60100"/>
                                        </p:tgtEl>
                                        <p:attrNameLst>
                                          <p:attrName>style.visibility</p:attrName>
                                        </p:attrNameLst>
                                      </p:cBhvr>
                                      <p:to>
                                        <p:strVal val="visible"/>
                                      </p:to>
                                    </p:set>
                                    <p:animEffect transition="in" filter="wipe(left)">
                                      <p:cBhvr>
                                        <p:cTn id="13" dur="500"/>
                                        <p:tgtEl>
                                          <p:spTgt spid="26010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0101"/>
                                        </p:tgtEl>
                                        <p:attrNameLst>
                                          <p:attrName>style.visibility</p:attrName>
                                        </p:attrNameLst>
                                      </p:cBhvr>
                                      <p:to>
                                        <p:strVal val="visible"/>
                                      </p:to>
                                    </p:set>
                                    <p:animEffect transition="in" filter="wipe(left)">
                                      <p:cBhvr>
                                        <p:cTn id="18" dur="500"/>
                                        <p:tgtEl>
                                          <p:spTgt spid="260101"/>
                                        </p:tgtEl>
                                      </p:cBhvr>
                                    </p:animEffect>
                                  </p:childTnLst>
                                </p:cTn>
                              </p:par>
                            </p:childTnLst>
                          </p:cTn>
                        </p:par>
                        <p:par>
                          <p:cTn id="19" fill="hold">
                            <p:stCondLst>
                              <p:cond delay="500"/>
                            </p:stCondLst>
                            <p:childTnLst>
                              <p:par>
                                <p:cTn id="20" presetID="22" presetClass="entr" presetSubtype="2" fill="hold" grpId="0" nodeType="afterEffect">
                                  <p:stCondLst>
                                    <p:cond delay="0"/>
                                  </p:stCondLst>
                                  <p:childTnLst>
                                    <p:set>
                                      <p:cBhvr>
                                        <p:cTn id="21" dur="1" fill="hold">
                                          <p:stCondLst>
                                            <p:cond delay="0"/>
                                          </p:stCondLst>
                                        </p:cTn>
                                        <p:tgtEl>
                                          <p:spTgt spid="260102"/>
                                        </p:tgtEl>
                                        <p:attrNameLst>
                                          <p:attrName>style.visibility</p:attrName>
                                        </p:attrNameLst>
                                      </p:cBhvr>
                                      <p:to>
                                        <p:strVal val="visible"/>
                                      </p:to>
                                    </p:set>
                                    <p:animEffect transition="in" filter="wipe(right)">
                                      <p:cBhvr>
                                        <p:cTn id="22" dur="500"/>
                                        <p:tgtEl>
                                          <p:spTgt spid="26010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260110"/>
                                        </p:tgtEl>
                                        <p:attrNameLst>
                                          <p:attrName>style.visibility</p:attrName>
                                        </p:attrNameLst>
                                      </p:cBhvr>
                                      <p:to>
                                        <p:strVal val="visible"/>
                                      </p:to>
                                    </p:set>
                                    <p:animEffect transition="in" filter="wipe(right)">
                                      <p:cBhvr>
                                        <p:cTn id="37" dur="500"/>
                                        <p:tgtEl>
                                          <p:spTgt spid="260110"/>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260111"/>
                                        </p:tgtEl>
                                        <p:attrNameLst>
                                          <p:attrName>style.visibility</p:attrName>
                                        </p:attrNameLst>
                                      </p:cBhvr>
                                      <p:to>
                                        <p:strVal val="visible"/>
                                      </p:to>
                                    </p:set>
                                    <p:anim calcmode="lin" valueType="num">
                                      <p:cBhvr additive="base">
                                        <p:cTn id="42" dur="500" fill="hold"/>
                                        <p:tgtEl>
                                          <p:spTgt spid="260111"/>
                                        </p:tgtEl>
                                        <p:attrNameLst>
                                          <p:attrName>ppt_x</p:attrName>
                                        </p:attrNameLst>
                                      </p:cBhvr>
                                      <p:tavLst>
                                        <p:tav tm="0">
                                          <p:val>
                                            <p:strVal val="1+#ppt_w/2"/>
                                          </p:val>
                                        </p:tav>
                                        <p:tav tm="100000">
                                          <p:val>
                                            <p:strVal val="#ppt_x"/>
                                          </p:val>
                                        </p:tav>
                                      </p:tavLst>
                                    </p:anim>
                                    <p:anim calcmode="lin" valueType="num">
                                      <p:cBhvr additive="base">
                                        <p:cTn id="43" dur="500" fill="hold"/>
                                        <p:tgtEl>
                                          <p:spTgt spid="2601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0" grpId="0" autoUpdateAnimBg="0"/>
      <p:bldP spid="260101" grpId="0" autoUpdateAnimBg="0"/>
      <p:bldP spid="26010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018" name="Group 2"/>
          <p:cNvGrpSpPr/>
          <p:nvPr/>
        </p:nvGrpSpPr>
        <p:grpSpPr bwMode="auto">
          <a:xfrm>
            <a:off x="192088" y="1069975"/>
            <a:ext cx="7620000" cy="579438"/>
            <a:chOff x="336" y="432"/>
            <a:chExt cx="4800" cy="365"/>
          </a:xfrm>
        </p:grpSpPr>
        <p:sp>
          <p:nvSpPr>
            <p:cNvPr id="86029" name="Rectangle 3"/>
            <p:cNvSpPr>
              <a:spLocks noChangeArrowheads="1"/>
            </p:cNvSpPr>
            <p:nvPr/>
          </p:nvSpPr>
          <p:spPr bwMode="auto">
            <a:xfrm>
              <a:off x="336" y="432"/>
              <a:ext cx="480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a:t>2.  </a:t>
              </a:r>
              <a:r>
                <a:rPr lang="en-US" altLang="zh-CN" sz="3200" b="1" i="1"/>
                <a:t>X</a:t>
              </a:r>
              <a:r>
                <a:rPr lang="zh-CN" altLang="en-US" sz="3200" b="1"/>
                <a:t>和</a:t>
              </a:r>
              <a:r>
                <a:rPr lang="en-US" altLang="zh-CN" sz="3200" b="1" i="1"/>
                <a:t>Y</a:t>
              </a:r>
              <a:r>
                <a:rPr lang="zh-CN" altLang="en-US" sz="3200" b="1"/>
                <a:t>独立时，</a:t>
              </a:r>
              <a:r>
                <a:rPr lang="zh-CN" altLang="en-US" sz="3200" b="1" i="1"/>
                <a:t>  </a:t>
              </a:r>
              <a:r>
                <a:rPr lang="zh-CN" altLang="en-US" sz="3200" b="1"/>
                <a:t>  </a:t>
              </a:r>
              <a:r>
                <a:rPr lang="en-US" altLang="zh-CN" sz="3200" b="1"/>
                <a:t>=0</a:t>
              </a:r>
              <a:r>
                <a:rPr lang="zh-CN" altLang="en-US" sz="3200" b="1"/>
                <a:t>，但其逆不真</a:t>
              </a:r>
              <a:r>
                <a:rPr lang="en-US" altLang="zh-CN" sz="3200" b="1"/>
                <a:t>.</a:t>
              </a:r>
              <a:endParaRPr lang="en-US" altLang="zh-CN" sz="3200" b="1" baseline="30000">
                <a:solidFill>
                  <a:schemeClr val="tx2"/>
                </a:solidFill>
              </a:endParaRPr>
            </a:p>
          </p:txBody>
        </p:sp>
        <p:graphicFrame>
          <p:nvGraphicFramePr>
            <p:cNvPr id="86030" name="Object 4"/>
            <p:cNvGraphicFramePr>
              <a:graphicFrameLocks noChangeAspect="1"/>
            </p:cNvGraphicFramePr>
            <p:nvPr/>
          </p:nvGraphicFramePr>
          <p:xfrm>
            <a:off x="2570" y="478"/>
            <a:ext cx="270" cy="290"/>
          </p:xfrm>
          <a:graphic>
            <a:graphicData uri="http://schemas.openxmlformats.org/presentationml/2006/ole">
              <mc:AlternateContent xmlns:mc="http://schemas.openxmlformats.org/markup-compatibility/2006">
                <mc:Choice xmlns:v="urn:schemas-microsoft-com:vml" Requires="v">
                  <p:oleObj spid="_x0000_s86151" name="Equation" r:id="rId1" imgW="66675" imgH="76835" progId="Equation.3">
                    <p:embed/>
                  </p:oleObj>
                </mc:Choice>
                <mc:Fallback>
                  <p:oleObj name="Equation" r:id="rId1" imgW="66675" imgH="76835"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0" y="478"/>
                          <a:ext cx="270" cy="290"/>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61125" name="Rectangle 5"/>
          <p:cNvSpPr>
            <a:spLocks noChangeArrowheads="1"/>
          </p:cNvSpPr>
          <p:nvPr/>
        </p:nvSpPr>
        <p:spPr bwMode="auto">
          <a:xfrm>
            <a:off x="1662113" y="2090738"/>
            <a:ext cx="54070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由于当</a:t>
            </a:r>
            <a:r>
              <a:rPr lang="en-US" altLang="zh-CN" sz="2800" b="1" i="1"/>
              <a:t>X</a:t>
            </a:r>
            <a:r>
              <a:rPr lang="zh-CN" altLang="en-US" sz="2800" b="1"/>
              <a:t>和</a:t>
            </a:r>
            <a:r>
              <a:rPr lang="en-US" altLang="zh-CN" sz="2800" b="1" i="1"/>
              <a:t>Y</a:t>
            </a:r>
            <a:r>
              <a:rPr lang="zh-CN" altLang="en-US" sz="2800" b="1"/>
              <a:t>独立时，</a:t>
            </a:r>
            <a:r>
              <a:rPr lang="en-US" altLang="zh-CN" sz="2800" b="1" i="1"/>
              <a:t>Cov</a:t>
            </a:r>
            <a:r>
              <a:rPr lang="en-US" altLang="zh-CN" sz="2800" b="1"/>
              <a:t>(</a:t>
            </a:r>
            <a:r>
              <a:rPr lang="en-US" altLang="zh-CN" sz="2800" b="1" i="1"/>
              <a:t>X</a:t>
            </a:r>
            <a:r>
              <a:rPr lang="en-US" altLang="zh-CN" sz="2800" b="1"/>
              <a:t>,</a:t>
            </a:r>
            <a:r>
              <a:rPr lang="en-US" altLang="zh-CN" sz="2800" b="1" i="1"/>
              <a:t>Y</a:t>
            </a:r>
            <a:r>
              <a:rPr lang="en-US" altLang="zh-CN" sz="2800" b="1"/>
              <a:t>)= 0.</a:t>
            </a:r>
            <a:endParaRPr lang="en-US" altLang="zh-CN" sz="2800" b="1"/>
          </a:p>
        </p:txBody>
      </p:sp>
      <p:sp>
        <p:nvSpPr>
          <p:cNvPr id="261126" name="Rectangle 6"/>
          <p:cNvSpPr>
            <a:spLocks noChangeArrowheads="1"/>
          </p:cNvSpPr>
          <p:nvPr/>
        </p:nvSpPr>
        <p:spPr bwMode="auto">
          <a:xfrm>
            <a:off x="1254125" y="3157538"/>
            <a:ext cx="541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故</a:t>
            </a:r>
            <a:endParaRPr lang="zh-CN" altLang="en-US" sz="2800" b="1"/>
          </a:p>
        </p:txBody>
      </p:sp>
      <p:grpSp>
        <p:nvGrpSpPr>
          <p:cNvPr id="3" name="Group 7"/>
          <p:cNvGrpSpPr/>
          <p:nvPr/>
        </p:nvGrpSpPr>
        <p:grpSpPr bwMode="auto">
          <a:xfrm>
            <a:off x="2365375" y="2898775"/>
            <a:ext cx="4171950" cy="1166813"/>
            <a:chOff x="1388" y="1584"/>
            <a:chExt cx="2628" cy="735"/>
          </a:xfrm>
        </p:grpSpPr>
        <p:graphicFrame>
          <p:nvGraphicFramePr>
            <p:cNvPr id="86027" name="Object 8"/>
            <p:cNvGraphicFramePr>
              <a:graphicFrameLocks noChangeAspect="1"/>
            </p:cNvGraphicFramePr>
            <p:nvPr/>
          </p:nvGraphicFramePr>
          <p:xfrm>
            <a:off x="1388" y="1584"/>
            <a:ext cx="2201" cy="735"/>
          </p:xfrm>
          <a:graphic>
            <a:graphicData uri="http://schemas.openxmlformats.org/presentationml/2006/ole">
              <mc:AlternateContent xmlns:mc="http://schemas.openxmlformats.org/markup-compatibility/2006">
                <mc:Choice xmlns:v="urn:schemas-microsoft-com:vml" Requires="v">
                  <p:oleObj spid="_x0000_s86152" name="Equation" r:id="rId3" imgW="1057275" imgH="365760" progId="Equation.3">
                    <p:embed/>
                  </p:oleObj>
                </mc:Choice>
                <mc:Fallback>
                  <p:oleObj name="Equation" r:id="rId3" imgW="1057275" imgH="36576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8" y="1584"/>
                          <a:ext cx="2201" cy="73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28" name="Rectangle 9"/>
            <p:cNvSpPr>
              <a:spLocks noChangeArrowheads="1"/>
            </p:cNvSpPr>
            <p:nvPr/>
          </p:nvSpPr>
          <p:spPr bwMode="auto">
            <a:xfrm>
              <a:off x="3604" y="1747"/>
              <a:ext cx="4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a:t>= 0</a:t>
              </a:r>
              <a:endParaRPr lang="en-US" altLang="zh-CN" sz="2800" b="1"/>
            </a:p>
          </p:txBody>
        </p:sp>
      </p:grpSp>
      <p:grpSp>
        <p:nvGrpSpPr>
          <p:cNvPr id="4" name="Group 10"/>
          <p:cNvGrpSpPr/>
          <p:nvPr/>
        </p:nvGrpSpPr>
        <p:grpSpPr bwMode="auto">
          <a:xfrm>
            <a:off x="1201738" y="4254500"/>
            <a:ext cx="6597650" cy="595313"/>
            <a:chOff x="655" y="2438"/>
            <a:chExt cx="4156" cy="375"/>
          </a:xfrm>
        </p:grpSpPr>
        <p:graphicFrame>
          <p:nvGraphicFramePr>
            <p:cNvPr id="86024" name="Object 11"/>
            <p:cNvGraphicFramePr>
              <a:graphicFrameLocks noChangeAspect="1"/>
            </p:cNvGraphicFramePr>
            <p:nvPr/>
          </p:nvGraphicFramePr>
          <p:xfrm>
            <a:off x="1178" y="2463"/>
            <a:ext cx="662" cy="350"/>
          </p:xfrm>
          <a:graphic>
            <a:graphicData uri="http://schemas.openxmlformats.org/presentationml/2006/ole">
              <mc:AlternateContent xmlns:mc="http://schemas.openxmlformats.org/markup-compatibility/2006">
                <mc:Choice xmlns:v="urn:schemas-microsoft-com:vml" Requires="v">
                  <p:oleObj spid="_x0000_s86153" name="Equation" r:id="rId5" imgW="295275" imgH="115570" progId="Equation.3">
                    <p:embed/>
                  </p:oleObj>
                </mc:Choice>
                <mc:Fallback>
                  <p:oleObj name="Equation" r:id="rId5" imgW="295275" imgH="11557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8" y="2463"/>
                          <a:ext cx="662" cy="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25" name="Rectangle 12"/>
            <p:cNvSpPr>
              <a:spLocks noChangeArrowheads="1"/>
            </p:cNvSpPr>
            <p:nvPr/>
          </p:nvSpPr>
          <p:spPr bwMode="auto">
            <a:xfrm>
              <a:off x="655" y="2438"/>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但由</a:t>
              </a:r>
              <a:endParaRPr lang="zh-CN" altLang="en-US" sz="2800" b="1"/>
            </a:p>
          </p:txBody>
        </p:sp>
        <p:sp>
          <p:nvSpPr>
            <p:cNvPr id="86026" name="Rectangle 13"/>
            <p:cNvSpPr>
              <a:spLocks noChangeArrowheads="1"/>
            </p:cNvSpPr>
            <p:nvPr/>
          </p:nvSpPr>
          <p:spPr bwMode="auto">
            <a:xfrm>
              <a:off x="2047" y="2438"/>
              <a:ext cx="27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并不一定能推出</a:t>
              </a:r>
              <a:r>
                <a:rPr lang="en-US" altLang="zh-CN" sz="2800" b="1" i="1"/>
                <a:t>X</a:t>
              </a:r>
              <a:r>
                <a:rPr lang="zh-CN" altLang="en-US" sz="2800" b="1"/>
                <a:t>和</a:t>
              </a:r>
              <a:r>
                <a:rPr lang="en-US" altLang="zh-CN" sz="2800" b="1" i="1"/>
                <a:t>Y </a:t>
              </a:r>
              <a:r>
                <a:rPr lang="zh-CN" altLang="en-US" sz="2800" b="1"/>
                <a:t>独立</a:t>
              </a:r>
              <a:r>
                <a:rPr lang="en-US" altLang="zh-CN" sz="2800" b="1"/>
                <a:t>.</a:t>
              </a:r>
              <a:endParaRPr lang="en-US" altLang="zh-CN" sz="2800" b="1"/>
            </a:p>
          </p:txBody>
        </p:sp>
      </p:grpSp>
      <p:sp>
        <p:nvSpPr>
          <p:cNvPr id="261134" name="Rectangle 14"/>
          <p:cNvSpPr>
            <a:spLocks noChangeArrowheads="1"/>
          </p:cNvSpPr>
          <p:nvPr/>
        </p:nvSpPr>
        <p:spPr bwMode="auto">
          <a:xfrm>
            <a:off x="1346200" y="5214938"/>
            <a:ext cx="1701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chemeClr val="accent2"/>
                </a:solidFill>
              </a:rPr>
              <a:t>请看下例</a:t>
            </a:r>
            <a:r>
              <a:rPr lang="en-US" altLang="zh-CN" sz="2800" b="1">
                <a:solidFill>
                  <a:schemeClr val="accent2"/>
                </a:solidFill>
              </a:rPr>
              <a:t>.</a:t>
            </a:r>
            <a:endParaRPr lang="en-US" altLang="zh-CN" sz="2800" b="1">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61125"/>
                                        </p:tgtEl>
                                        <p:attrNameLst>
                                          <p:attrName>style.visibility</p:attrName>
                                        </p:attrNameLst>
                                      </p:cBhvr>
                                      <p:to>
                                        <p:strVal val="visible"/>
                                      </p:to>
                                    </p:set>
                                    <p:animEffect transition="in" filter="barn(outVertical)">
                                      <p:cBhvr>
                                        <p:cTn id="7" dur="500"/>
                                        <p:tgtEl>
                                          <p:spTgt spid="26112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261126"/>
                                        </p:tgtEl>
                                        <p:attrNameLst>
                                          <p:attrName>style.visibility</p:attrName>
                                        </p:attrNameLst>
                                      </p:cBhvr>
                                      <p:to>
                                        <p:strVal val="visible"/>
                                      </p:to>
                                    </p:set>
                                  </p:childTnLst>
                                </p:cTn>
                              </p:par>
                            </p:childTnLst>
                          </p:cTn>
                        </p:par>
                        <p:par>
                          <p:cTn id="12" fill="hold">
                            <p:stCondLst>
                              <p:cond delay="500"/>
                            </p:stCondLst>
                            <p:childTnLst>
                              <p:par>
                                <p:cTn id="13" presetID="1" presetClass="entr" presetSubtype="0" fill="hold" nodeType="after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37"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outVertical)">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61134"/>
                                        </p:tgtEl>
                                        <p:attrNameLst>
                                          <p:attrName>style.visibility</p:attrName>
                                        </p:attrNameLst>
                                      </p:cBhvr>
                                      <p:to>
                                        <p:strVal val="visible"/>
                                      </p:to>
                                    </p:set>
                                    <p:anim calcmode="lin" valueType="num">
                                      <p:cBhvr additive="base">
                                        <p:cTn id="24" dur="500" fill="hold"/>
                                        <p:tgtEl>
                                          <p:spTgt spid="261134"/>
                                        </p:tgtEl>
                                        <p:attrNameLst>
                                          <p:attrName>ppt_x</p:attrName>
                                        </p:attrNameLst>
                                      </p:cBhvr>
                                      <p:tavLst>
                                        <p:tav tm="0">
                                          <p:val>
                                            <p:strVal val="#ppt_x"/>
                                          </p:val>
                                        </p:tav>
                                        <p:tav tm="100000">
                                          <p:val>
                                            <p:strVal val="#ppt_x"/>
                                          </p:val>
                                        </p:tav>
                                      </p:tavLst>
                                    </p:anim>
                                    <p:anim calcmode="lin" valueType="num">
                                      <p:cBhvr additive="base">
                                        <p:cTn id="25" dur="500" fill="hold"/>
                                        <p:tgtEl>
                                          <p:spTgt spid="2611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5" grpId="0" autoUpdateAnimBg="0"/>
      <p:bldP spid="261126" grpId="0" autoUpdateAnimBg="0"/>
      <p:bldP spid="261134"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2274888" y="636588"/>
            <a:ext cx="2573337" cy="1204912"/>
            <a:chOff x="1550" y="566"/>
            <a:chExt cx="1621" cy="759"/>
          </a:xfrm>
        </p:grpSpPr>
        <p:sp>
          <p:nvSpPr>
            <p:cNvPr id="87050" name="Rectangle 3"/>
            <p:cNvSpPr>
              <a:spLocks noChangeArrowheads="1"/>
            </p:cNvSpPr>
            <p:nvPr/>
          </p:nvSpPr>
          <p:spPr bwMode="auto">
            <a:xfrm>
              <a:off x="2228" y="566"/>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800" b="1"/>
            </a:p>
          </p:txBody>
        </p:sp>
        <p:sp>
          <p:nvSpPr>
            <p:cNvPr id="87051" name="Rectangle 4"/>
            <p:cNvSpPr>
              <a:spLocks noChangeArrowheads="1"/>
            </p:cNvSpPr>
            <p:nvPr/>
          </p:nvSpPr>
          <p:spPr bwMode="auto">
            <a:xfrm>
              <a:off x="1550" y="960"/>
              <a:ext cx="162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i="1"/>
                <a:t>Cov</a:t>
              </a:r>
              <a:r>
                <a:rPr lang="en-US" altLang="zh-CN" sz="3200" b="1"/>
                <a:t>(</a:t>
              </a:r>
              <a:r>
                <a:rPr lang="en-US" altLang="zh-CN" sz="3200" b="1" i="1"/>
                <a:t>X</a:t>
              </a:r>
              <a:r>
                <a:rPr lang="en-US" altLang="zh-CN" sz="3200" b="1"/>
                <a:t>,</a:t>
              </a:r>
              <a:r>
                <a:rPr lang="en-US" altLang="zh-CN" sz="3200" b="1" i="1"/>
                <a:t>Y</a:t>
              </a:r>
              <a:r>
                <a:rPr lang="en-US" altLang="zh-CN" sz="3200" b="1"/>
                <a:t>)=0</a:t>
              </a:r>
              <a:r>
                <a:rPr lang="zh-CN" altLang="en-US" sz="3200" b="1"/>
                <a:t>，</a:t>
              </a:r>
              <a:endParaRPr lang="zh-CN" altLang="en-US" sz="3200" b="1"/>
            </a:p>
          </p:txBody>
        </p:sp>
      </p:grpSp>
      <p:sp>
        <p:nvSpPr>
          <p:cNvPr id="262149" name="Text Box 5"/>
          <p:cNvSpPr txBox="1">
            <a:spLocks noChangeArrowheads="1"/>
          </p:cNvSpPr>
          <p:nvPr/>
        </p:nvSpPr>
        <p:spPr bwMode="auto">
          <a:xfrm>
            <a:off x="1698625" y="2170113"/>
            <a:ext cx="3656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事实上，</a:t>
            </a:r>
            <a:r>
              <a:rPr lang="en-US" altLang="zh-CN" sz="2800" b="1"/>
              <a:t>X</a:t>
            </a:r>
            <a:r>
              <a:rPr lang="zh-CN" altLang="en-US" sz="2800" b="1"/>
              <a:t>的密度函数</a:t>
            </a:r>
            <a:endParaRPr lang="zh-CN" altLang="en-US" sz="2800" b="1"/>
          </a:p>
        </p:txBody>
      </p:sp>
      <p:graphicFrame>
        <p:nvGraphicFramePr>
          <p:cNvPr id="262150" name="Object 6"/>
          <p:cNvGraphicFramePr>
            <a:graphicFrameLocks noChangeAspect="1"/>
          </p:cNvGraphicFramePr>
          <p:nvPr/>
        </p:nvGraphicFramePr>
        <p:xfrm>
          <a:off x="1266825" y="2892425"/>
          <a:ext cx="3289300" cy="1397000"/>
        </p:xfrm>
        <a:graphic>
          <a:graphicData uri="http://schemas.openxmlformats.org/presentationml/2006/ole">
            <mc:AlternateContent xmlns:mc="http://schemas.openxmlformats.org/markup-compatibility/2006">
              <mc:Choice xmlns:v="urn:schemas-microsoft-com:vml" Requires="v">
                <p:oleObj spid="_x0000_s87212" name="Equation" r:id="rId1" imgW="3200400" imgH="1328420" progId="Equation.3">
                  <p:embed/>
                </p:oleObj>
              </mc:Choice>
              <mc:Fallback>
                <p:oleObj name="Equation" r:id="rId1" imgW="3200400" imgH="132842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6825" y="2892425"/>
                        <a:ext cx="3289300" cy="1397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51" name="Object 7"/>
          <p:cNvGraphicFramePr>
            <a:graphicFrameLocks noChangeAspect="1"/>
          </p:cNvGraphicFramePr>
          <p:nvPr/>
        </p:nvGraphicFramePr>
        <p:xfrm>
          <a:off x="5156200" y="3425825"/>
          <a:ext cx="2057400" cy="431800"/>
        </p:xfrm>
        <a:graphic>
          <a:graphicData uri="http://schemas.openxmlformats.org/presentationml/2006/ole">
            <mc:AlternateContent xmlns:mc="http://schemas.openxmlformats.org/markup-compatibility/2006">
              <mc:Choice xmlns:v="urn:schemas-microsoft-com:vml" Requires="v">
                <p:oleObj spid="_x0000_s87213" name="Equation" r:id="rId3" imgW="1971675" imgH="346710" progId="Equation.3">
                  <p:embed/>
                </p:oleObj>
              </mc:Choice>
              <mc:Fallback>
                <p:oleObj name="Equation" r:id="rId3" imgW="1971675" imgH="34671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6200" y="3425825"/>
                        <a:ext cx="20574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52" name="Object 8"/>
          <p:cNvGraphicFramePr>
            <a:graphicFrameLocks noChangeAspect="1"/>
          </p:cNvGraphicFramePr>
          <p:nvPr/>
        </p:nvGraphicFramePr>
        <p:xfrm>
          <a:off x="1325563" y="4437063"/>
          <a:ext cx="6342062" cy="755650"/>
        </p:xfrm>
        <a:graphic>
          <a:graphicData uri="http://schemas.openxmlformats.org/presentationml/2006/ole">
            <mc:AlternateContent xmlns:mc="http://schemas.openxmlformats.org/markup-compatibility/2006">
              <mc:Choice xmlns:v="urn:schemas-microsoft-com:vml" Requires="v">
                <p:oleObj spid="_x0000_s87214" name="Equation" r:id="rId5" imgW="2686050" imgH="250190" progId="Equation.DSMT4">
                  <p:embed/>
                </p:oleObj>
              </mc:Choice>
              <mc:Fallback>
                <p:oleObj name="Equation" r:id="rId5" imgW="2686050" imgH="25019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25563" y="4437063"/>
                        <a:ext cx="6342062" cy="75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53" name="Object 9"/>
          <p:cNvGraphicFramePr>
            <a:graphicFrameLocks noChangeAspect="1"/>
          </p:cNvGraphicFramePr>
          <p:nvPr/>
        </p:nvGraphicFramePr>
        <p:xfrm>
          <a:off x="1266825" y="5608638"/>
          <a:ext cx="5257800" cy="393700"/>
        </p:xfrm>
        <a:graphic>
          <a:graphicData uri="http://schemas.openxmlformats.org/presentationml/2006/ole">
            <mc:AlternateContent xmlns:mc="http://schemas.openxmlformats.org/markup-compatibility/2006">
              <mc:Choice xmlns:v="urn:schemas-microsoft-com:vml" Requires="v">
                <p:oleObj spid="_x0000_s87215" name="Equation" r:id="rId7" imgW="5172075" imgH="307975" progId="Equation.3">
                  <p:embed/>
                </p:oleObj>
              </mc:Choice>
              <mc:Fallback>
                <p:oleObj name="Equation" r:id="rId7" imgW="5172075" imgH="307975"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66825" y="5608638"/>
                        <a:ext cx="52578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048" name="Rectangle 10"/>
          <p:cNvSpPr>
            <a:spLocks noChangeArrowheads="1"/>
          </p:cNvSpPr>
          <p:nvPr/>
        </p:nvSpPr>
        <p:spPr bwMode="auto">
          <a:xfrm>
            <a:off x="865188" y="606425"/>
            <a:ext cx="84597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例</a:t>
            </a:r>
            <a:r>
              <a:rPr lang="en-US" altLang="zh-CN" sz="2800" b="1"/>
              <a:t>1</a:t>
            </a:r>
            <a:r>
              <a:rPr lang="en-US" altLang="zh-CN" sz="2800" b="1">
                <a:solidFill>
                  <a:srgbClr val="CCFFFF"/>
                </a:solidFill>
              </a:rPr>
              <a:t> </a:t>
            </a:r>
            <a:r>
              <a:rPr lang="en-US" altLang="zh-CN" sz="2800" b="1"/>
              <a:t> </a:t>
            </a:r>
            <a:r>
              <a:rPr lang="zh-CN" altLang="en-US" sz="2800" b="1"/>
              <a:t>设</a:t>
            </a:r>
            <a:r>
              <a:rPr lang="en-US" altLang="zh-CN" sz="2800" b="1" i="1"/>
              <a:t>X</a:t>
            </a:r>
            <a:r>
              <a:rPr lang="zh-CN" altLang="en-US" sz="2800" b="1"/>
              <a:t>服从</a:t>
            </a:r>
            <a:r>
              <a:rPr lang="en-US" altLang="zh-CN" sz="2800" b="1"/>
              <a:t>(-1/2, 1/2)</a:t>
            </a:r>
            <a:r>
              <a:rPr lang="zh-CN" altLang="en-US" sz="2800" b="1"/>
              <a:t>内的均匀分布 </a:t>
            </a:r>
            <a:r>
              <a:rPr lang="en-US" altLang="zh-CN" sz="2800" b="1"/>
              <a:t>, </a:t>
            </a:r>
            <a:r>
              <a:rPr lang="zh-CN" altLang="en-US" sz="2800" b="1"/>
              <a:t>而</a:t>
            </a:r>
            <a:r>
              <a:rPr lang="en-US" altLang="zh-CN" sz="2800" b="1" i="1"/>
              <a:t>Y</a:t>
            </a:r>
            <a:r>
              <a:rPr lang="en-US" altLang="zh-CN" sz="2800" b="1"/>
              <a:t>=cos</a:t>
            </a:r>
            <a:r>
              <a:rPr lang="en-US" altLang="zh-CN" sz="2800" b="1" i="1"/>
              <a:t> X</a:t>
            </a:r>
            <a:r>
              <a:rPr lang="en-US" altLang="zh-CN" sz="2800" b="1"/>
              <a:t>,</a:t>
            </a:r>
            <a:endParaRPr lang="en-US" altLang="zh-CN" sz="2800" b="1"/>
          </a:p>
        </p:txBody>
      </p:sp>
      <p:sp>
        <p:nvSpPr>
          <p:cNvPr id="262155" name="Rectangle 11"/>
          <p:cNvSpPr>
            <a:spLocks noChangeArrowheads="1"/>
          </p:cNvSpPr>
          <p:nvPr/>
        </p:nvSpPr>
        <p:spPr bwMode="auto">
          <a:xfrm>
            <a:off x="552450" y="1284288"/>
            <a:ext cx="16129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不难求得</a:t>
            </a:r>
            <a:endParaRPr lang="zh-CN" altLang="en-US"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2155"/>
                                        </p:tgtEl>
                                        <p:attrNameLst>
                                          <p:attrName>style.visibility</p:attrName>
                                        </p:attrNameLst>
                                      </p:cBhvr>
                                      <p:to>
                                        <p:strVal val="visible"/>
                                      </p:to>
                                    </p:set>
                                    <p:animEffect transition="in" filter="wipe(left)">
                                      <p:cBhvr>
                                        <p:cTn id="7" dur="500"/>
                                        <p:tgtEl>
                                          <p:spTgt spid="262155"/>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262149"/>
                                        </p:tgtEl>
                                        <p:attrNameLst>
                                          <p:attrName>style.visibility</p:attrName>
                                        </p:attrNameLst>
                                      </p:cBhvr>
                                      <p:to>
                                        <p:strVal val="visible"/>
                                      </p:to>
                                    </p:set>
                                    <p:anim calcmode="lin" valueType="num">
                                      <p:cBhvr additive="base">
                                        <p:cTn id="15" dur="500" fill="hold"/>
                                        <p:tgtEl>
                                          <p:spTgt spid="262149"/>
                                        </p:tgtEl>
                                        <p:attrNameLst>
                                          <p:attrName>ppt_x</p:attrName>
                                        </p:attrNameLst>
                                      </p:cBhvr>
                                      <p:tavLst>
                                        <p:tav tm="0">
                                          <p:val>
                                            <p:strVal val="0-#ppt_w/2"/>
                                          </p:val>
                                        </p:tav>
                                        <p:tav tm="100000">
                                          <p:val>
                                            <p:strVal val="#ppt_x"/>
                                          </p:val>
                                        </p:tav>
                                      </p:tavLst>
                                    </p:anim>
                                    <p:anim calcmode="lin" valueType="num">
                                      <p:cBhvr additive="base">
                                        <p:cTn id="16" dur="500" fill="hold"/>
                                        <p:tgtEl>
                                          <p:spTgt spid="262149"/>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262150"/>
                                        </p:tgtEl>
                                        <p:attrNameLst>
                                          <p:attrName>style.visibility</p:attrName>
                                        </p:attrNameLst>
                                      </p:cBhvr>
                                      <p:to>
                                        <p:strVal val="visible"/>
                                      </p:to>
                                    </p:set>
                                    <p:anim calcmode="lin" valueType="num">
                                      <p:cBhvr additive="base">
                                        <p:cTn id="21" dur="500" fill="hold"/>
                                        <p:tgtEl>
                                          <p:spTgt spid="262150"/>
                                        </p:tgtEl>
                                        <p:attrNameLst>
                                          <p:attrName>ppt_x</p:attrName>
                                        </p:attrNameLst>
                                      </p:cBhvr>
                                      <p:tavLst>
                                        <p:tav tm="0">
                                          <p:val>
                                            <p:strVal val="0-#ppt_w/2"/>
                                          </p:val>
                                        </p:tav>
                                        <p:tav tm="100000">
                                          <p:val>
                                            <p:strVal val="#ppt_x"/>
                                          </p:val>
                                        </p:tav>
                                      </p:tavLst>
                                    </p:anim>
                                    <p:anim calcmode="lin" valueType="num">
                                      <p:cBhvr additive="base">
                                        <p:cTn id="22" dur="500" fill="hold"/>
                                        <p:tgtEl>
                                          <p:spTgt spid="262150"/>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262151"/>
                                        </p:tgtEl>
                                        <p:attrNameLst>
                                          <p:attrName>style.visibility</p:attrName>
                                        </p:attrNameLst>
                                      </p:cBhvr>
                                      <p:to>
                                        <p:strVal val="visible"/>
                                      </p:to>
                                    </p:set>
                                    <p:anim calcmode="lin" valueType="num">
                                      <p:cBhvr additive="base">
                                        <p:cTn id="27" dur="500" fill="hold"/>
                                        <p:tgtEl>
                                          <p:spTgt spid="262151"/>
                                        </p:tgtEl>
                                        <p:attrNameLst>
                                          <p:attrName>ppt_x</p:attrName>
                                        </p:attrNameLst>
                                      </p:cBhvr>
                                      <p:tavLst>
                                        <p:tav tm="0">
                                          <p:val>
                                            <p:strVal val="0-#ppt_w/2"/>
                                          </p:val>
                                        </p:tav>
                                        <p:tav tm="100000">
                                          <p:val>
                                            <p:strVal val="#ppt_x"/>
                                          </p:val>
                                        </p:tav>
                                      </p:tavLst>
                                    </p:anim>
                                    <p:anim calcmode="lin" valueType="num">
                                      <p:cBhvr additive="base">
                                        <p:cTn id="28" dur="500" fill="hold"/>
                                        <p:tgtEl>
                                          <p:spTgt spid="262151"/>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262152"/>
                                        </p:tgtEl>
                                        <p:attrNameLst>
                                          <p:attrName>style.visibility</p:attrName>
                                        </p:attrNameLst>
                                      </p:cBhvr>
                                      <p:to>
                                        <p:strVal val="visible"/>
                                      </p:to>
                                    </p:set>
                                    <p:anim calcmode="lin" valueType="num">
                                      <p:cBhvr additive="base">
                                        <p:cTn id="33" dur="500" fill="hold"/>
                                        <p:tgtEl>
                                          <p:spTgt spid="262152"/>
                                        </p:tgtEl>
                                        <p:attrNameLst>
                                          <p:attrName>ppt_x</p:attrName>
                                        </p:attrNameLst>
                                      </p:cBhvr>
                                      <p:tavLst>
                                        <p:tav tm="0">
                                          <p:val>
                                            <p:strVal val="0-#ppt_w/2"/>
                                          </p:val>
                                        </p:tav>
                                        <p:tav tm="100000">
                                          <p:val>
                                            <p:strVal val="#ppt_x"/>
                                          </p:val>
                                        </p:tav>
                                      </p:tavLst>
                                    </p:anim>
                                    <p:anim calcmode="lin" valueType="num">
                                      <p:cBhvr additive="base">
                                        <p:cTn id="34" dur="500" fill="hold"/>
                                        <p:tgtEl>
                                          <p:spTgt spid="262152"/>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262153"/>
                                        </p:tgtEl>
                                        <p:attrNameLst>
                                          <p:attrName>style.visibility</p:attrName>
                                        </p:attrNameLst>
                                      </p:cBhvr>
                                      <p:to>
                                        <p:strVal val="visible"/>
                                      </p:to>
                                    </p:set>
                                    <p:anim calcmode="lin" valueType="num">
                                      <p:cBhvr additive="base">
                                        <p:cTn id="39" dur="500" fill="hold"/>
                                        <p:tgtEl>
                                          <p:spTgt spid="262153"/>
                                        </p:tgtEl>
                                        <p:attrNameLst>
                                          <p:attrName>ppt_x</p:attrName>
                                        </p:attrNameLst>
                                      </p:cBhvr>
                                      <p:tavLst>
                                        <p:tav tm="0">
                                          <p:val>
                                            <p:strVal val="0-#ppt_w/2"/>
                                          </p:val>
                                        </p:tav>
                                        <p:tav tm="100000">
                                          <p:val>
                                            <p:strVal val="#ppt_x"/>
                                          </p:val>
                                        </p:tav>
                                      </p:tavLst>
                                    </p:anim>
                                    <p:anim calcmode="lin" valueType="num">
                                      <p:cBhvr additive="base">
                                        <p:cTn id="40" dur="500" fill="hold"/>
                                        <p:tgtEl>
                                          <p:spTgt spid="26215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9" grpId="0" autoUpdateAnimBg="0"/>
      <p:bldP spid="262155"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862013" y="533400"/>
            <a:ext cx="8534400"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endParaRPr lang="en-US" altLang="zh-CN" sz="2800"/>
          </a:p>
          <a:p>
            <a:pPr algn="ctr">
              <a:spcBef>
                <a:spcPct val="50000"/>
              </a:spcBef>
            </a:pPr>
            <a:endParaRPr lang="en-US" altLang="zh-CN" sz="2800"/>
          </a:p>
        </p:txBody>
      </p:sp>
      <p:graphicFrame>
        <p:nvGraphicFramePr>
          <p:cNvPr id="263171" name="Object 3"/>
          <p:cNvGraphicFramePr>
            <a:graphicFrameLocks noChangeAspect="1"/>
          </p:cNvGraphicFramePr>
          <p:nvPr/>
        </p:nvGraphicFramePr>
        <p:xfrm>
          <a:off x="862013" y="2409825"/>
          <a:ext cx="2166937" cy="708025"/>
        </p:xfrm>
        <a:graphic>
          <a:graphicData uri="http://schemas.openxmlformats.org/presentationml/2006/ole">
            <mc:AlternateContent xmlns:mc="http://schemas.openxmlformats.org/markup-compatibility/2006">
              <mc:Choice xmlns:v="urn:schemas-microsoft-com:vml" Requires="v">
                <p:oleObj spid="_x0000_s88200" name="公式" r:id="rId1" imgW="438150" imgH="173355" progId="Equation.3">
                  <p:embed/>
                </p:oleObj>
              </mc:Choice>
              <mc:Fallback>
                <p:oleObj name="公式" r:id="rId1" imgW="438150" imgH="173355"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013" y="2409825"/>
                        <a:ext cx="2166937"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3172" name="Text Box 4"/>
          <p:cNvSpPr txBox="1">
            <a:spLocks noChangeArrowheads="1"/>
          </p:cNvSpPr>
          <p:nvPr/>
        </p:nvSpPr>
        <p:spPr bwMode="auto">
          <a:xfrm>
            <a:off x="554038" y="3232150"/>
            <a:ext cx="457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t>存在常数 </a:t>
            </a:r>
            <a:r>
              <a:rPr lang="en-US" altLang="zh-CN" sz="3200" b="1" i="1"/>
              <a:t>a</a:t>
            </a:r>
            <a:r>
              <a:rPr lang="en-US" altLang="zh-CN" sz="3200" b="1"/>
              <a:t>,</a:t>
            </a:r>
            <a:r>
              <a:rPr lang="en-US" altLang="zh-CN" sz="3200" b="1" i="1"/>
              <a:t>b</a:t>
            </a:r>
            <a:r>
              <a:rPr lang="en-US" altLang="zh-CN" sz="3200" b="1"/>
              <a:t>(</a:t>
            </a:r>
            <a:r>
              <a:rPr lang="en-US" altLang="zh-CN" sz="3200" b="1" i="1"/>
              <a:t>b</a:t>
            </a:r>
            <a:r>
              <a:rPr lang="en-US" altLang="zh-CN" sz="3200" b="1"/>
              <a:t>≠0</a:t>
            </a:r>
            <a:r>
              <a:rPr lang="zh-CN" altLang="en-US" sz="3200" b="1"/>
              <a:t>）</a:t>
            </a:r>
            <a:r>
              <a:rPr lang="zh-CN" altLang="en-US" sz="2800" b="1"/>
              <a:t>，</a:t>
            </a:r>
            <a:endParaRPr lang="zh-CN" altLang="en-US" sz="2800"/>
          </a:p>
        </p:txBody>
      </p:sp>
      <p:sp>
        <p:nvSpPr>
          <p:cNvPr id="263173" name="Text Box 5"/>
          <p:cNvSpPr txBox="1">
            <a:spLocks noChangeArrowheads="1"/>
          </p:cNvSpPr>
          <p:nvPr/>
        </p:nvSpPr>
        <p:spPr bwMode="auto">
          <a:xfrm>
            <a:off x="4530725" y="3270250"/>
            <a:ext cx="37861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t>使 </a:t>
            </a:r>
            <a:r>
              <a:rPr lang="en-US" altLang="zh-CN" sz="3200" b="1" i="1"/>
              <a:t>P</a:t>
            </a:r>
            <a:r>
              <a:rPr lang="en-US" altLang="zh-CN" sz="3200" b="1"/>
              <a:t>{</a:t>
            </a:r>
            <a:r>
              <a:rPr lang="en-US" altLang="zh-CN" sz="3200" b="1" i="1"/>
              <a:t>Y</a:t>
            </a:r>
            <a:r>
              <a:rPr lang="en-US" altLang="zh-CN" sz="3200" b="1"/>
              <a:t>= </a:t>
            </a:r>
            <a:r>
              <a:rPr lang="en-US" altLang="zh-CN" sz="3200" b="1" i="1"/>
              <a:t>a </a:t>
            </a:r>
            <a:r>
              <a:rPr lang="en-US" altLang="zh-CN" sz="3200" b="1"/>
              <a:t>+ </a:t>
            </a:r>
            <a:r>
              <a:rPr lang="en-US" altLang="zh-CN" sz="3200" b="1" i="1"/>
              <a:t>b X</a:t>
            </a:r>
            <a:r>
              <a:rPr lang="en-US" altLang="zh-CN" sz="3200" b="1"/>
              <a:t>}=1</a:t>
            </a:r>
            <a:r>
              <a:rPr lang="zh-CN" altLang="en-US" sz="2800" b="1"/>
              <a:t>，</a:t>
            </a:r>
            <a:endParaRPr lang="zh-CN" altLang="en-US" sz="2800"/>
          </a:p>
        </p:txBody>
      </p:sp>
      <p:sp>
        <p:nvSpPr>
          <p:cNvPr id="263174" name="AutoShape 6"/>
          <p:cNvSpPr>
            <a:spLocks noChangeArrowheads="1"/>
          </p:cNvSpPr>
          <p:nvPr/>
        </p:nvSpPr>
        <p:spPr bwMode="auto">
          <a:xfrm>
            <a:off x="174625" y="3460750"/>
            <a:ext cx="685800" cy="228600"/>
          </a:xfrm>
          <a:prstGeom prst="leftRightArrow">
            <a:avLst>
              <a:gd name="adj1" fmla="val 50000"/>
              <a:gd name="adj2" fmla="val 60000"/>
            </a:avLst>
          </a:prstGeom>
          <a:solidFill>
            <a:schemeClr val="accent1"/>
          </a:solidFill>
          <a:ln w="9525">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63175" name="Rectangle 7"/>
          <p:cNvSpPr>
            <a:spLocks noChangeArrowheads="1"/>
          </p:cNvSpPr>
          <p:nvPr/>
        </p:nvSpPr>
        <p:spPr bwMode="auto">
          <a:xfrm>
            <a:off x="647700" y="4191000"/>
            <a:ext cx="46529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即 </a:t>
            </a:r>
            <a:r>
              <a:rPr lang="en-US" altLang="zh-CN" sz="2800" b="1" i="1">
                <a:solidFill>
                  <a:schemeClr val="tx2"/>
                </a:solidFill>
              </a:rPr>
              <a:t>X </a:t>
            </a:r>
            <a:r>
              <a:rPr lang="zh-CN" altLang="en-US" sz="2800" b="1">
                <a:solidFill>
                  <a:schemeClr val="tx2"/>
                </a:solidFill>
              </a:rPr>
              <a:t>和 </a:t>
            </a:r>
            <a:r>
              <a:rPr lang="en-US" altLang="zh-CN" sz="2800" b="1" i="1">
                <a:solidFill>
                  <a:schemeClr val="tx2"/>
                </a:solidFill>
              </a:rPr>
              <a:t>Y </a:t>
            </a:r>
            <a:r>
              <a:rPr lang="zh-CN" altLang="en-US" sz="2800" b="1">
                <a:solidFill>
                  <a:schemeClr val="tx2"/>
                </a:solidFill>
              </a:rPr>
              <a:t>以概率 </a:t>
            </a:r>
            <a:r>
              <a:rPr lang="en-US" altLang="zh-CN" sz="2800" b="1">
                <a:solidFill>
                  <a:schemeClr val="tx2"/>
                </a:solidFill>
              </a:rPr>
              <a:t>1 </a:t>
            </a:r>
            <a:r>
              <a:rPr lang="zh-CN" altLang="en-US" sz="2800" b="1">
                <a:solidFill>
                  <a:schemeClr val="tx2"/>
                </a:solidFill>
              </a:rPr>
              <a:t>线性相关</a:t>
            </a:r>
            <a:r>
              <a:rPr lang="en-US" altLang="zh-CN" sz="2800" b="1"/>
              <a:t>.</a:t>
            </a:r>
            <a:endParaRPr lang="en-US" altLang="zh-CN" sz="2800" b="1"/>
          </a:p>
        </p:txBody>
      </p:sp>
      <p:graphicFrame>
        <p:nvGraphicFramePr>
          <p:cNvPr id="88072" name="Object 8"/>
          <p:cNvGraphicFramePr>
            <a:graphicFrameLocks noChangeAspect="1"/>
          </p:cNvGraphicFramePr>
          <p:nvPr/>
        </p:nvGraphicFramePr>
        <p:xfrm>
          <a:off x="4368800" y="1308100"/>
          <a:ext cx="112713" cy="214313"/>
        </p:xfrm>
        <a:graphic>
          <a:graphicData uri="http://schemas.openxmlformats.org/presentationml/2006/ole">
            <mc:AlternateContent xmlns:mc="http://schemas.openxmlformats.org/markup-compatibility/2006">
              <mc:Choice xmlns:v="urn:schemas-microsoft-com:vml" Requires="v">
                <p:oleObj spid="_x0000_s88201" name="公式" r:id="rId3" imgW="114300" imgH="215900" progId="Equation.3">
                  <p:embed/>
                </p:oleObj>
              </mc:Choice>
              <mc:Fallback>
                <p:oleObj name="公式" r:id="rId3" imgW="114300" imgH="2159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68800" y="130810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8073" name="Group 9"/>
          <p:cNvGrpSpPr/>
          <p:nvPr/>
        </p:nvGrpSpPr>
        <p:grpSpPr bwMode="auto">
          <a:xfrm>
            <a:off x="708025" y="661988"/>
            <a:ext cx="1992313" cy="519112"/>
            <a:chOff x="630" y="1814"/>
            <a:chExt cx="1255" cy="327"/>
          </a:xfrm>
        </p:grpSpPr>
        <p:sp>
          <p:nvSpPr>
            <p:cNvPr id="88078" name="Rectangle 10"/>
            <p:cNvSpPr>
              <a:spLocks noChangeArrowheads="1"/>
            </p:cNvSpPr>
            <p:nvPr/>
          </p:nvSpPr>
          <p:spPr bwMode="auto">
            <a:xfrm>
              <a:off x="630" y="1814"/>
              <a:ext cx="125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因而    </a:t>
              </a:r>
              <a:r>
                <a:rPr lang="en-US" altLang="zh-CN" sz="2800" b="1"/>
                <a:t>=0</a:t>
              </a:r>
              <a:r>
                <a:rPr lang="zh-CN" altLang="en-US" sz="2800" b="1"/>
                <a:t>，</a:t>
              </a:r>
              <a:endParaRPr lang="zh-CN" altLang="en-US" sz="2800" b="1"/>
            </a:p>
          </p:txBody>
        </p:sp>
        <p:graphicFrame>
          <p:nvGraphicFramePr>
            <p:cNvPr id="88079" name="Object 11"/>
            <p:cNvGraphicFramePr>
              <a:graphicFrameLocks noChangeAspect="1"/>
            </p:cNvGraphicFramePr>
            <p:nvPr/>
          </p:nvGraphicFramePr>
          <p:xfrm>
            <a:off x="1127" y="1847"/>
            <a:ext cx="263" cy="284"/>
          </p:xfrm>
          <a:graphic>
            <a:graphicData uri="http://schemas.openxmlformats.org/presentationml/2006/ole">
              <mc:AlternateContent xmlns:mc="http://schemas.openxmlformats.org/markup-compatibility/2006">
                <mc:Choice xmlns:v="urn:schemas-microsoft-com:vml" Requires="v">
                  <p:oleObj spid="_x0000_s88202" name="公式" r:id="rId5" imgW="66675" imgH="76835" progId="Equation.3">
                    <p:embed/>
                  </p:oleObj>
                </mc:Choice>
                <mc:Fallback>
                  <p:oleObj name="公式" r:id="rId5" imgW="66675" imgH="76835"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7" y="1847"/>
                          <a:ext cx="263"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63180" name="Rectangle 12"/>
          <p:cNvSpPr>
            <a:spLocks noChangeArrowheads="1"/>
          </p:cNvSpPr>
          <p:nvPr/>
        </p:nvSpPr>
        <p:spPr bwMode="auto">
          <a:xfrm>
            <a:off x="2771775" y="623888"/>
            <a:ext cx="26019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chemeClr val="accent2"/>
                </a:solidFill>
              </a:rPr>
              <a:t>即</a:t>
            </a:r>
            <a:r>
              <a:rPr lang="en-US" altLang="zh-CN" sz="2800" b="1" i="1">
                <a:solidFill>
                  <a:schemeClr val="accent2"/>
                </a:solidFill>
              </a:rPr>
              <a:t>X</a:t>
            </a:r>
            <a:r>
              <a:rPr lang="zh-CN" altLang="en-US" sz="2800" b="1">
                <a:solidFill>
                  <a:schemeClr val="accent2"/>
                </a:solidFill>
              </a:rPr>
              <a:t>和</a:t>
            </a:r>
            <a:r>
              <a:rPr lang="en-US" altLang="zh-CN" sz="2800" b="1" i="1">
                <a:solidFill>
                  <a:schemeClr val="accent2"/>
                </a:solidFill>
              </a:rPr>
              <a:t>Y</a:t>
            </a:r>
            <a:r>
              <a:rPr lang="zh-CN" altLang="en-US" sz="2800" b="1">
                <a:solidFill>
                  <a:schemeClr val="accent2"/>
                </a:solidFill>
              </a:rPr>
              <a:t>不相关 </a:t>
            </a:r>
            <a:r>
              <a:rPr lang="en-US" altLang="zh-CN" sz="2800" b="1">
                <a:solidFill>
                  <a:schemeClr val="accent2"/>
                </a:solidFill>
              </a:rPr>
              <a:t>.</a:t>
            </a:r>
            <a:endParaRPr lang="en-US" altLang="zh-CN" sz="2800" b="1">
              <a:solidFill>
                <a:schemeClr val="accent2"/>
              </a:solidFill>
            </a:endParaRPr>
          </a:p>
        </p:txBody>
      </p:sp>
      <p:sp>
        <p:nvSpPr>
          <p:cNvPr id="263181" name="Rectangle 13"/>
          <p:cNvSpPr>
            <a:spLocks noChangeArrowheads="1"/>
          </p:cNvSpPr>
          <p:nvPr/>
        </p:nvSpPr>
        <p:spPr bwMode="auto">
          <a:xfrm>
            <a:off x="708025" y="1598613"/>
            <a:ext cx="45672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但</a:t>
            </a:r>
            <a:r>
              <a:rPr lang="en-US" altLang="zh-CN" sz="2800" b="1" i="1"/>
              <a:t>Y</a:t>
            </a:r>
            <a:r>
              <a:rPr lang="zh-CN" altLang="en-US" sz="2800" b="1"/>
              <a:t>与</a:t>
            </a:r>
            <a:r>
              <a:rPr lang="en-US" altLang="zh-CN" sz="2800" b="1" i="1"/>
              <a:t>X</a:t>
            </a:r>
            <a:r>
              <a:rPr lang="zh-CN" altLang="en-US" sz="2800" b="1"/>
              <a:t>有严格的函数关系，</a:t>
            </a:r>
            <a:endParaRPr lang="zh-CN" altLang="en-US" sz="2800" b="1"/>
          </a:p>
        </p:txBody>
      </p:sp>
      <p:sp>
        <p:nvSpPr>
          <p:cNvPr id="263182" name="Rectangle 14"/>
          <p:cNvSpPr>
            <a:spLocks noChangeArrowheads="1"/>
          </p:cNvSpPr>
          <p:nvPr/>
        </p:nvSpPr>
        <p:spPr bwMode="auto">
          <a:xfrm>
            <a:off x="5076825" y="1590675"/>
            <a:ext cx="26019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chemeClr val="accent2"/>
                </a:solidFill>
              </a:rPr>
              <a:t>即</a:t>
            </a:r>
            <a:r>
              <a:rPr lang="en-US" altLang="zh-CN" sz="2800" b="1" i="1">
                <a:solidFill>
                  <a:schemeClr val="accent2"/>
                </a:solidFill>
              </a:rPr>
              <a:t>X</a:t>
            </a:r>
            <a:r>
              <a:rPr lang="zh-CN" altLang="en-US" sz="2800" b="1">
                <a:solidFill>
                  <a:schemeClr val="accent2"/>
                </a:solidFill>
              </a:rPr>
              <a:t>和</a:t>
            </a:r>
            <a:r>
              <a:rPr lang="en-US" altLang="zh-CN" sz="2800" b="1" i="1">
                <a:solidFill>
                  <a:schemeClr val="accent2"/>
                </a:solidFill>
              </a:rPr>
              <a:t>Y</a:t>
            </a:r>
            <a:r>
              <a:rPr lang="zh-CN" altLang="en-US" sz="2800" b="1">
                <a:solidFill>
                  <a:schemeClr val="accent2"/>
                </a:solidFill>
              </a:rPr>
              <a:t>不独立 </a:t>
            </a:r>
            <a:r>
              <a:rPr lang="en-US" altLang="zh-CN" sz="2800" b="1">
                <a:solidFill>
                  <a:schemeClr val="accent2"/>
                </a:solidFill>
              </a:rPr>
              <a:t>.</a:t>
            </a:r>
            <a:endParaRPr lang="en-US" altLang="zh-CN" sz="2800" b="1">
              <a:solidFill>
                <a:schemeClr val="accent2"/>
              </a:solidFill>
            </a:endParaRPr>
          </a:p>
        </p:txBody>
      </p:sp>
      <p:sp>
        <p:nvSpPr>
          <p:cNvPr id="263183" name="Rectangle 15"/>
          <p:cNvSpPr>
            <a:spLocks noChangeArrowheads="1"/>
          </p:cNvSpPr>
          <p:nvPr/>
        </p:nvSpPr>
        <p:spPr bwMode="auto">
          <a:xfrm>
            <a:off x="1319213" y="5029200"/>
            <a:ext cx="67976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rgbClr val="003399"/>
                </a:solidFill>
              </a:rPr>
              <a:t>相关系数刻划了</a:t>
            </a:r>
            <a:r>
              <a:rPr lang="en-US" altLang="zh-CN" sz="2800" b="1" i="1">
                <a:solidFill>
                  <a:srgbClr val="003399"/>
                </a:solidFill>
              </a:rPr>
              <a:t>X</a:t>
            </a:r>
            <a:r>
              <a:rPr lang="zh-CN" altLang="en-US" sz="2800" b="1">
                <a:solidFill>
                  <a:srgbClr val="003399"/>
                </a:solidFill>
              </a:rPr>
              <a:t>和</a:t>
            </a:r>
            <a:r>
              <a:rPr lang="en-US" altLang="zh-CN" sz="2800" b="1" i="1">
                <a:solidFill>
                  <a:srgbClr val="003399"/>
                </a:solidFill>
              </a:rPr>
              <a:t>Y</a:t>
            </a:r>
            <a:r>
              <a:rPr lang="zh-CN" altLang="en-US" sz="2800" b="1">
                <a:solidFill>
                  <a:srgbClr val="003399"/>
                </a:solidFill>
              </a:rPr>
              <a:t>间“线性相关”的程度</a:t>
            </a:r>
            <a:r>
              <a:rPr lang="en-US" altLang="zh-CN" sz="2800" b="1">
                <a:solidFill>
                  <a:schemeClr val="hlink"/>
                </a:solidFill>
              </a:rPr>
              <a:t>.</a:t>
            </a:r>
            <a:endParaRPr lang="en-US" altLang="zh-CN" sz="2800" b="1">
              <a:solidFill>
                <a:schemeClr va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63180"/>
                                        </p:tgtEl>
                                        <p:attrNameLst>
                                          <p:attrName>style.visibility</p:attrName>
                                        </p:attrNameLst>
                                      </p:cBhvr>
                                      <p:to>
                                        <p:strVal val="visible"/>
                                      </p:to>
                                    </p:set>
                                    <p:anim calcmode="lin" valueType="num">
                                      <p:cBhvr additive="base">
                                        <p:cTn id="7" dur="500" fill="hold"/>
                                        <p:tgtEl>
                                          <p:spTgt spid="263180"/>
                                        </p:tgtEl>
                                        <p:attrNameLst>
                                          <p:attrName>ppt_x</p:attrName>
                                        </p:attrNameLst>
                                      </p:cBhvr>
                                      <p:tavLst>
                                        <p:tav tm="0">
                                          <p:val>
                                            <p:strVal val="1+#ppt_w/2"/>
                                          </p:val>
                                        </p:tav>
                                        <p:tav tm="100000">
                                          <p:val>
                                            <p:strVal val="#ppt_x"/>
                                          </p:val>
                                        </p:tav>
                                      </p:tavLst>
                                    </p:anim>
                                    <p:anim calcmode="lin" valueType="num">
                                      <p:cBhvr additive="base">
                                        <p:cTn id="8" dur="500" fill="hold"/>
                                        <p:tgtEl>
                                          <p:spTgt spid="26318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63181"/>
                                        </p:tgtEl>
                                        <p:attrNameLst>
                                          <p:attrName>style.visibility</p:attrName>
                                        </p:attrNameLst>
                                      </p:cBhvr>
                                      <p:to>
                                        <p:strVal val="visible"/>
                                      </p:to>
                                    </p:set>
                                    <p:animEffect transition="in" filter="wipe(left)">
                                      <p:cBhvr>
                                        <p:cTn id="13" dur="500"/>
                                        <p:tgtEl>
                                          <p:spTgt spid="263181"/>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63182"/>
                                        </p:tgtEl>
                                        <p:attrNameLst>
                                          <p:attrName>style.visibility</p:attrName>
                                        </p:attrNameLst>
                                      </p:cBhvr>
                                      <p:to>
                                        <p:strVal val="visible"/>
                                      </p:to>
                                    </p:set>
                                    <p:anim calcmode="lin" valueType="num">
                                      <p:cBhvr additive="base">
                                        <p:cTn id="18" dur="500" fill="hold"/>
                                        <p:tgtEl>
                                          <p:spTgt spid="263182"/>
                                        </p:tgtEl>
                                        <p:attrNameLst>
                                          <p:attrName>ppt_x</p:attrName>
                                        </p:attrNameLst>
                                      </p:cBhvr>
                                      <p:tavLst>
                                        <p:tav tm="0">
                                          <p:val>
                                            <p:strVal val="#ppt_x"/>
                                          </p:val>
                                        </p:tav>
                                        <p:tav tm="100000">
                                          <p:val>
                                            <p:strVal val="#ppt_x"/>
                                          </p:val>
                                        </p:tav>
                                      </p:tavLst>
                                    </p:anim>
                                    <p:anim calcmode="lin" valueType="num">
                                      <p:cBhvr additive="base">
                                        <p:cTn id="19" dur="500" fill="hold"/>
                                        <p:tgtEl>
                                          <p:spTgt spid="263182"/>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2" presetClass="entr" presetSubtype="8" fill="hold" nodeType="afterEffect">
                                  <p:stCondLst>
                                    <p:cond delay="0"/>
                                  </p:stCondLst>
                                  <p:childTnLst>
                                    <p:set>
                                      <p:cBhvr>
                                        <p:cTn id="22" dur="1" fill="hold">
                                          <p:stCondLst>
                                            <p:cond delay="0"/>
                                          </p:stCondLst>
                                        </p:cTn>
                                        <p:tgtEl>
                                          <p:spTgt spid="263171"/>
                                        </p:tgtEl>
                                        <p:attrNameLst>
                                          <p:attrName>style.visibility</p:attrName>
                                        </p:attrNameLst>
                                      </p:cBhvr>
                                      <p:to>
                                        <p:strVal val="visible"/>
                                      </p:to>
                                    </p:set>
                                    <p:animEffect transition="in" filter="wipe(left)">
                                      <p:cBhvr>
                                        <p:cTn id="23" dur="500"/>
                                        <p:tgtEl>
                                          <p:spTgt spid="263171"/>
                                        </p:tgtEl>
                                      </p:cBhvr>
                                    </p:animEffect>
                                  </p:childTnLst>
                                </p:cTn>
                              </p:par>
                            </p:childTnLst>
                          </p:cTn>
                        </p:par>
                        <p:par>
                          <p:cTn id="24" fill="hold">
                            <p:stCondLst>
                              <p:cond delay="1000"/>
                            </p:stCondLst>
                            <p:childTnLst>
                              <p:par>
                                <p:cTn id="25" presetID="1" presetClass="entr" presetSubtype="0" fill="hold" grpId="0" nodeType="afterEffect">
                                  <p:stCondLst>
                                    <p:cond delay="0"/>
                                  </p:stCondLst>
                                  <p:childTnLst>
                                    <p:set>
                                      <p:cBhvr>
                                        <p:cTn id="26" dur="1" fill="hold">
                                          <p:stCondLst>
                                            <p:cond delay="499"/>
                                          </p:stCondLst>
                                        </p:cTn>
                                        <p:tgtEl>
                                          <p:spTgt spid="263174"/>
                                        </p:tgtEl>
                                        <p:attrNameLst>
                                          <p:attrName>style.visibility</p:attrName>
                                        </p:attrNameLst>
                                      </p:cBhvr>
                                      <p:to>
                                        <p:strVal val="visible"/>
                                      </p:to>
                                    </p:set>
                                  </p:childTnLst>
                                </p:cTn>
                              </p:par>
                            </p:childTnLst>
                          </p:cTn>
                        </p:par>
                        <p:par>
                          <p:cTn id="27" fill="hold">
                            <p:stCondLst>
                              <p:cond delay="1500"/>
                            </p:stCondLst>
                            <p:childTnLst>
                              <p:par>
                                <p:cTn id="28" presetID="2" presetClass="entr" presetSubtype="2" fill="hold" grpId="0" nodeType="afterEffect">
                                  <p:stCondLst>
                                    <p:cond delay="0"/>
                                  </p:stCondLst>
                                  <p:childTnLst>
                                    <p:set>
                                      <p:cBhvr>
                                        <p:cTn id="29" dur="1" fill="hold">
                                          <p:stCondLst>
                                            <p:cond delay="0"/>
                                          </p:stCondLst>
                                        </p:cTn>
                                        <p:tgtEl>
                                          <p:spTgt spid="263172"/>
                                        </p:tgtEl>
                                        <p:attrNameLst>
                                          <p:attrName>style.visibility</p:attrName>
                                        </p:attrNameLst>
                                      </p:cBhvr>
                                      <p:to>
                                        <p:strVal val="visible"/>
                                      </p:to>
                                    </p:set>
                                    <p:anim calcmode="lin" valueType="num">
                                      <p:cBhvr additive="base">
                                        <p:cTn id="30" dur="500" fill="hold"/>
                                        <p:tgtEl>
                                          <p:spTgt spid="263172"/>
                                        </p:tgtEl>
                                        <p:attrNameLst>
                                          <p:attrName>ppt_x</p:attrName>
                                        </p:attrNameLst>
                                      </p:cBhvr>
                                      <p:tavLst>
                                        <p:tav tm="0">
                                          <p:val>
                                            <p:strVal val="1+#ppt_w/2"/>
                                          </p:val>
                                        </p:tav>
                                        <p:tav tm="100000">
                                          <p:val>
                                            <p:strVal val="#ppt_x"/>
                                          </p:val>
                                        </p:tav>
                                      </p:tavLst>
                                    </p:anim>
                                    <p:anim calcmode="lin" valueType="num">
                                      <p:cBhvr additive="base">
                                        <p:cTn id="31" dur="500" fill="hold"/>
                                        <p:tgtEl>
                                          <p:spTgt spid="263172"/>
                                        </p:tgtEl>
                                        <p:attrNameLst>
                                          <p:attrName>ppt_y</p:attrName>
                                        </p:attrNameLst>
                                      </p:cBhvr>
                                      <p:tavLst>
                                        <p:tav tm="0">
                                          <p:val>
                                            <p:strVal val="#ppt_y"/>
                                          </p:val>
                                        </p:tav>
                                        <p:tav tm="100000">
                                          <p:val>
                                            <p:strVal val="#ppt_y"/>
                                          </p:val>
                                        </p:tav>
                                      </p:tavLst>
                                    </p:anim>
                                  </p:childTnLst>
                                </p:cTn>
                              </p:par>
                            </p:childTnLst>
                          </p:cTn>
                        </p:par>
                        <p:par>
                          <p:cTn id="32" fill="hold">
                            <p:stCondLst>
                              <p:cond delay="2000"/>
                            </p:stCondLst>
                            <p:childTnLst>
                              <p:par>
                                <p:cTn id="33" presetID="22" presetClass="entr" presetSubtype="8" fill="hold" grpId="0" nodeType="afterEffect">
                                  <p:stCondLst>
                                    <p:cond delay="0"/>
                                  </p:stCondLst>
                                  <p:childTnLst>
                                    <p:set>
                                      <p:cBhvr>
                                        <p:cTn id="34" dur="1" fill="hold">
                                          <p:stCondLst>
                                            <p:cond delay="0"/>
                                          </p:stCondLst>
                                        </p:cTn>
                                        <p:tgtEl>
                                          <p:spTgt spid="263173"/>
                                        </p:tgtEl>
                                        <p:attrNameLst>
                                          <p:attrName>style.visibility</p:attrName>
                                        </p:attrNameLst>
                                      </p:cBhvr>
                                      <p:to>
                                        <p:strVal val="visible"/>
                                      </p:to>
                                    </p:set>
                                    <p:animEffect transition="in" filter="wipe(left)">
                                      <p:cBhvr>
                                        <p:cTn id="35" dur="500"/>
                                        <p:tgtEl>
                                          <p:spTgt spid="263173"/>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2" fill="hold" grpId="0" nodeType="clickEffect">
                                  <p:stCondLst>
                                    <p:cond delay="0"/>
                                  </p:stCondLst>
                                  <p:childTnLst>
                                    <p:set>
                                      <p:cBhvr>
                                        <p:cTn id="39" dur="1" fill="hold">
                                          <p:stCondLst>
                                            <p:cond delay="0"/>
                                          </p:stCondLst>
                                        </p:cTn>
                                        <p:tgtEl>
                                          <p:spTgt spid="263175"/>
                                        </p:tgtEl>
                                        <p:attrNameLst>
                                          <p:attrName>style.visibility</p:attrName>
                                        </p:attrNameLst>
                                      </p:cBhvr>
                                      <p:to>
                                        <p:strVal val="visible"/>
                                      </p:to>
                                    </p:set>
                                    <p:anim calcmode="lin" valueType="num">
                                      <p:cBhvr additive="base">
                                        <p:cTn id="40" dur="500" fill="hold"/>
                                        <p:tgtEl>
                                          <p:spTgt spid="263175"/>
                                        </p:tgtEl>
                                        <p:attrNameLst>
                                          <p:attrName>ppt_x</p:attrName>
                                        </p:attrNameLst>
                                      </p:cBhvr>
                                      <p:tavLst>
                                        <p:tav tm="0">
                                          <p:val>
                                            <p:strVal val="1+#ppt_w/2"/>
                                          </p:val>
                                        </p:tav>
                                        <p:tav tm="100000">
                                          <p:val>
                                            <p:strVal val="#ppt_x"/>
                                          </p:val>
                                        </p:tav>
                                      </p:tavLst>
                                    </p:anim>
                                    <p:anim calcmode="lin" valueType="num">
                                      <p:cBhvr additive="base">
                                        <p:cTn id="41" dur="500" fill="hold"/>
                                        <p:tgtEl>
                                          <p:spTgt spid="263175"/>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263183"/>
                                        </p:tgtEl>
                                        <p:attrNameLst>
                                          <p:attrName>style.visibility</p:attrName>
                                        </p:attrNameLst>
                                      </p:cBhvr>
                                      <p:to>
                                        <p:strVal val="visible"/>
                                      </p:to>
                                    </p:set>
                                    <p:anim calcmode="lin" valueType="num">
                                      <p:cBhvr additive="base">
                                        <p:cTn id="46" dur="500" fill="hold"/>
                                        <p:tgtEl>
                                          <p:spTgt spid="263183"/>
                                        </p:tgtEl>
                                        <p:attrNameLst>
                                          <p:attrName>ppt_x</p:attrName>
                                        </p:attrNameLst>
                                      </p:cBhvr>
                                      <p:tavLst>
                                        <p:tav tm="0">
                                          <p:val>
                                            <p:strVal val="#ppt_x"/>
                                          </p:val>
                                        </p:tav>
                                        <p:tav tm="100000">
                                          <p:val>
                                            <p:strVal val="#ppt_x"/>
                                          </p:val>
                                        </p:tav>
                                      </p:tavLst>
                                    </p:anim>
                                    <p:anim calcmode="lin" valueType="num">
                                      <p:cBhvr additive="base">
                                        <p:cTn id="47" dur="500" fill="hold"/>
                                        <p:tgtEl>
                                          <p:spTgt spid="2631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2" grpId="0" autoUpdateAnimBg="0"/>
      <p:bldP spid="263173" grpId="0" autoUpdateAnimBg="0"/>
      <p:bldP spid="263174" grpId="0" bldLvl="0" animBg="1"/>
      <p:bldP spid="263175" grpId="0" autoUpdateAnimBg="0"/>
      <p:bldP spid="263180" grpId="0" autoUpdateAnimBg="0"/>
      <p:bldP spid="263181" grpId="0" autoUpdateAnimBg="0"/>
      <p:bldP spid="263182" grpId="0" autoUpdateAnimBg="0"/>
      <p:bldP spid="26318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5" name="Rectangle 5"/>
          <p:cNvSpPr>
            <a:spLocks noChangeArrowheads="1"/>
          </p:cNvSpPr>
          <p:nvPr/>
        </p:nvSpPr>
        <p:spPr bwMode="auto">
          <a:xfrm>
            <a:off x="1808163" y="1052513"/>
            <a:ext cx="17256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i="1"/>
              <a:t>X</a:t>
            </a:r>
            <a:r>
              <a:rPr lang="zh-CN" altLang="en-US" sz="2800" b="1"/>
              <a:t>和</a:t>
            </a:r>
            <a:r>
              <a:rPr lang="en-US" altLang="zh-CN" sz="2800" b="1" i="1"/>
              <a:t>Y</a:t>
            </a:r>
            <a:r>
              <a:rPr lang="zh-CN" altLang="en-US" sz="2800" b="1"/>
              <a:t>独立</a:t>
            </a:r>
            <a:endParaRPr lang="en-US" altLang="zh-CN" sz="2800" b="1"/>
          </a:p>
        </p:txBody>
      </p:sp>
      <p:grpSp>
        <p:nvGrpSpPr>
          <p:cNvPr id="3" name="Group 7"/>
          <p:cNvGrpSpPr/>
          <p:nvPr/>
        </p:nvGrpSpPr>
        <p:grpSpPr bwMode="auto">
          <a:xfrm>
            <a:off x="1520825" y="1949450"/>
            <a:ext cx="2500313" cy="565150"/>
            <a:chOff x="2292" y="1746"/>
            <a:chExt cx="1575" cy="356"/>
          </a:xfrm>
        </p:grpSpPr>
        <p:graphicFrame>
          <p:nvGraphicFramePr>
            <p:cNvPr id="89102" name="Object 8"/>
            <p:cNvGraphicFramePr>
              <a:graphicFrameLocks noChangeAspect="1"/>
            </p:cNvGraphicFramePr>
            <p:nvPr/>
          </p:nvGraphicFramePr>
          <p:xfrm>
            <a:off x="2292" y="1800"/>
            <a:ext cx="393" cy="302"/>
          </p:xfrm>
          <a:graphic>
            <a:graphicData uri="http://schemas.openxmlformats.org/presentationml/2006/ole">
              <mc:AlternateContent xmlns:mc="http://schemas.openxmlformats.org/markup-compatibility/2006">
                <mc:Choice xmlns:v="urn:schemas-microsoft-com:vml" Requires="v">
                  <p:oleObj spid="_x0000_s89264" name="Equation" r:id="rId1" imgW="190500" imgH="154305" progId="Equation.DSMT4">
                    <p:embed/>
                  </p:oleObj>
                </mc:Choice>
                <mc:Fallback>
                  <p:oleObj name="Equation" r:id="rId1" imgW="190500" imgH="154305" progId="Equation.DSMT4">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2" y="1800"/>
                          <a:ext cx="393" cy="30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103" name="Rectangle 9"/>
            <p:cNvSpPr>
              <a:spLocks noChangeArrowheads="1"/>
            </p:cNvSpPr>
            <p:nvPr/>
          </p:nvSpPr>
          <p:spPr bwMode="auto">
            <a:xfrm>
              <a:off x="3751" y="1746"/>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sz="2800" b="1"/>
            </a:p>
          </p:txBody>
        </p:sp>
      </p:grpSp>
      <p:grpSp>
        <p:nvGrpSpPr>
          <p:cNvPr id="15" name="Group 7"/>
          <p:cNvGrpSpPr/>
          <p:nvPr/>
        </p:nvGrpSpPr>
        <p:grpSpPr bwMode="auto">
          <a:xfrm>
            <a:off x="1428750" y="2632075"/>
            <a:ext cx="4270375" cy="849313"/>
            <a:chOff x="1177" y="1746"/>
            <a:chExt cx="2690" cy="535"/>
          </a:xfrm>
        </p:grpSpPr>
        <p:graphicFrame>
          <p:nvGraphicFramePr>
            <p:cNvPr id="89100" name="Object 8"/>
            <p:cNvGraphicFramePr>
              <a:graphicFrameLocks noChangeAspect="1"/>
            </p:cNvGraphicFramePr>
            <p:nvPr/>
          </p:nvGraphicFramePr>
          <p:xfrm>
            <a:off x="1177" y="1879"/>
            <a:ext cx="2279" cy="402"/>
          </p:xfrm>
          <a:graphic>
            <a:graphicData uri="http://schemas.openxmlformats.org/presentationml/2006/ole">
              <mc:AlternateContent xmlns:mc="http://schemas.openxmlformats.org/markup-compatibility/2006">
                <mc:Choice xmlns:v="urn:schemas-microsoft-com:vml" Requires="v">
                  <p:oleObj spid="_x0000_s89265" name="Equation" r:id="rId3" imgW="1104900" imgH="201930" progId="Equation.DSMT4">
                    <p:embed/>
                  </p:oleObj>
                </mc:Choice>
                <mc:Fallback>
                  <p:oleObj name="Equation" r:id="rId3" imgW="1104900" imgH="20193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7" y="1879"/>
                          <a:ext cx="2279" cy="40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101" name="Rectangle 9"/>
            <p:cNvSpPr>
              <a:spLocks noChangeArrowheads="1"/>
            </p:cNvSpPr>
            <p:nvPr/>
          </p:nvSpPr>
          <p:spPr bwMode="auto">
            <a:xfrm>
              <a:off x="3751" y="1746"/>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sz="2800" b="1"/>
            </a:p>
          </p:txBody>
        </p:sp>
      </p:grpSp>
      <p:grpSp>
        <p:nvGrpSpPr>
          <p:cNvPr id="18" name="Group 7"/>
          <p:cNvGrpSpPr/>
          <p:nvPr/>
        </p:nvGrpSpPr>
        <p:grpSpPr bwMode="auto">
          <a:xfrm>
            <a:off x="1428750" y="3511550"/>
            <a:ext cx="4822825" cy="755650"/>
            <a:chOff x="1153" y="1746"/>
            <a:chExt cx="3038" cy="476"/>
          </a:xfrm>
        </p:grpSpPr>
        <p:graphicFrame>
          <p:nvGraphicFramePr>
            <p:cNvPr id="89098" name="Object 8"/>
            <p:cNvGraphicFramePr>
              <a:graphicFrameLocks noChangeAspect="1"/>
            </p:cNvGraphicFramePr>
            <p:nvPr/>
          </p:nvGraphicFramePr>
          <p:xfrm>
            <a:off x="1153" y="1820"/>
            <a:ext cx="3038" cy="402"/>
          </p:xfrm>
          <a:graphic>
            <a:graphicData uri="http://schemas.openxmlformats.org/presentationml/2006/ole">
              <mc:AlternateContent xmlns:mc="http://schemas.openxmlformats.org/markup-compatibility/2006">
                <mc:Choice xmlns:v="urn:schemas-microsoft-com:vml" Requires="v">
                  <p:oleObj spid="_x0000_s89266" name="Equation" r:id="rId5" imgW="1476375" imgH="201930" progId="Equation.DSMT4">
                    <p:embed/>
                  </p:oleObj>
                </mc:Choice>
                <mc:Fallback>
                  <p:oleObj name="Equation" r:id="rId5" imgW="1476375" imgH="20193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53" y="1820"/>
                          <a:ext cx="3038" cy="40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099" name="Rectangle 9"/>
            <p:cNvSpPr>
              <a:spLocks noChangeArrowheads="1"/>
            </p:cNvSpPr>
            <p:nvPr/>
          </p:nvSpPr>
          <p:spPr bwMode="auto">
            <a:xfrm>
              <a:off x="3751" y="1746"/>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sz="2800" b="1"/>
            </a:p>
          </p:txBody>
        </p:sp>
      </p:grpSp>
      <p:grpSp>
        <p:nvGrpSpPr>
          <p:cNvPr id="21" name="Group 7"/>
          <p:cNvGrpSpPr/>
          <p:nvPr/>
        </p:nvGrpSpPr>
        <p:grpSpPr bwMode="auto">
          <a:xfrm>
            <a:off x="1403350" y="4413250"/>
            <a:ext cx="5905500" cy="693738"/>
            <a:chOff x="1268" y="1746"/>
            <a:chExt cx="3720" cy="437"/>
          </a:xfrm>
        </p:grpSpPr>
        <p:graphicFrame>
          <p:nvGraphicFramePr>
            <p:cNvPr id="89096" name="Object 8"/>
            <p:cNvGraphicFramePr>
              <a:graphicFrameLocks noChangeAspect="1"/>
            </p:cNvGraphicFramePr>
            <p:nvPr/>
          </p:nvGraphicFramePr>
          <p:xfrm>
            <a:off x="1268" y="1781"/>
            <a:ext cx="3720" cy="402"/>
          </p:xfrm>
          <a:graphic>
            <a:graphicData uri="http://schemas.openxmlformats.org/presentationml/2006/ole">
              <mc:AlternateContent xmlns:mc="http://schemas.openxmlformats.org/markup-compatibility/2006">
                <mc:Choice xmlns:v="urn:schemas-microsoft-com:vml" Requires="v">
                  <p:oleObj spid="_x0000_s89267" name="Equation" r:id="rId7" imgW="1800225" imgH="201930" progId="Equation.DSMT4">
                    <p:embed/>
                  </p:oleObj>
                </mc:Choice>
                <mc:Fallback>
                  <p:oleObj name="Equation" r:id="rId7" imgW="1800225" imgH="20193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68" y="1781"/>
                          <a:ext cx="3720" cy="40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097" name="Rectangle 9"/>
            <p:cNvSpPr>
              <a:spLocks noChangeArrowheads="1"/>
            </p:cNvSpPr>
            <p:nvPr/>
          </p:nvSpPr>
          <p:spPr bwMode="auto">
            <a:xfrm>
              <a:off x="3751" y="1746"/>
              <a:ext cx="11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en-US" altLang="zh-CN" sz="2800" b="1"/>
            </a:p>
          </p:txBody>
        </p:sp>
      </p:grpSp>
      <p:sp>
        <p:nvSpPr>
          <p:cNvPr id="24" name="Rectangle 5"/>
          <p:cNvSpPr>
            <a:spLocks noChangeArrowheads="1"/>
          </p:cNvSpPr>
          <p:nvPr/>
        </p:nvSpPr>
        <p:spPr bwMode="auto">
          <a:xfrm>
            <a:off x="2144713" y="1965325"/>
            <a:ext cx="20859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i="1"/>
              <a:t>X</a:t>
            </a:r>
            <a:r>
              <a:rPr lang="zh-CN" altLang="en-US" sz="2800" b="1"/>
              <a:t>和</a:t>
            </a:r>
            <a:r>
              <a:rPr lang="en-US" altLang="zh-CN" sz="2800" b="1" i="1"/>
              <a:t>Y</a:t>
            </a:r>
            <a:r>
              <a:rPr lang="zh-CN" altLang="en-US" sz="2800" b="1"/>
              <a:t>不相关</a:t>
            </a:r>
            <a:endParaRPr lang="en-US" altLang="zh-CN"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11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5" grpId="0"/>
      <p:bldP spid="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2" name="Rectangle 4"/>
          <p:cNvSpPr>
            <a:spLocks noChangeArrowheads="1"/>
          </p:cNvSpPr>
          <p:nvPr/>
        </p:nvSpPr>
        <p:spPr bwMode="auto">
          <a:xfrm>
            <a:off x="1089025" y="1235075"/>
            <a:ext cx="72294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考虑以</a:t>
            </a:r>
            <a:r>
              <a:rPr lang="en-US" altLang="zh-CN" sz="3200" i="1">
                <a:ea typeface="华文新魏" panose="02010800040101010101" pitchFamily="2" charset="-122"/>
              </a:rPr>
              <a:t>X</a:t>
            </a:r>
            <a:r>
              <a:rPr lang="zh-CN" altLang="en-US" sz="3200">
                <a:ea typeface="华文新魏" panose="02010800040101010101" pitchFamily="2" charset="-122"/>
              </a:rPr>
              <a:t>的线性函数</a:t>
            </a:r>
            <a:r>
              <a:rPr lang="en-US" altLang="zh-CN" sz="3200" i="1">
                <a:ea typeface="华文新魏" panose="02010800040101010101" pitchFamily="2" charset="-122"/>
              </a:rPr>
              <a:t>a</a:t>
            </a:r>
            <a:r>
              <a:rPr lang="en-US" altLang="zh-CN" sz="3200">
                <a:ea typeface="华文新魏" panose="02010800040101010101" pitchFamily="2" charset="-122"/>
              </a:rPr>
              <a:t>+</a:t>
            </a:r>
            <a:r>
              <a:rPr lang="en-US" altLang="zh-CN" sz="3200" i="1">
                <a:ea typeface="华文新魏" panose="02010800040101010101" pitchFamily="2" charset="-122"/>
              </a:rPr>
              <a:t>bX</a:t>
            </a:r>
            <a:r>
              <a:rPr lang="zh-CN" altLang="en-US" sz="3200">
                <a:ea typeface="华文新魏" panose="02010800040101010101" pitchFamily="2" charset="-122"/>
              </a:rPr>
              <a:t>来近似表示</a:t>
            </a:r>
            <a:r>
              <a:rPr lang="en-US" altLang="zh-CN" sz="3200" i="1">
                <a:ea typeface="华文新魏" panose="02010800040101010101" pitchFamily="2" charset="-122"/>
              </a:rPr>
              <a:t>Y</a:t>
            </a:r>
            <a:r>
              <a:rPr lang="zh-CN" altLang="en-US" sz="3200">
                <a:ea typeface="华文新魏" panose="02010800040101010101" pitchFamily="2" charset="-122"/>
              </a:rPr>
              <a:t>，</a:t>
            </a:r>
            <a:endParaRPr lang="zh-CN" altLang="en-US" sz="3200" baseline="-25000">
              <a:solidFill>
                <a:schemeClr val="tx2"/>
              </a:solidFill>
              <a:ea typeface="华文新魏" panose="02010800040101010101" pitchFamily="2" charset="-122"/>
            </a:endParaRPr>
          </a:p>
        </p:txBody>
      </p:sp>
      <p:sp>
        <p:nvSpPr>
          <p:cNvPr id="160773" name="Text Box 5"/>
          <p:cNvSpPr txBox="1">
            <a:spLocks noChangeArrowheads="1"/>
          </p:cNvSpPr>
          <p:nvPr/>
        </p:nvSpPr>
        <p:spPr bwMode="auto">
          <a:xfrm>
            <a:off x="1062038" y="1920875"/>
            <a:ext cx="2216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a:ea typeface="华文新魏" panose="02010800040101010101" pitchFamily="2" charset="-122"/>
              </a:rPr>
              <a:t>以均方误差</a:t>
            </a:r>
            <a:endParaRPr lang="zh-CN" altLang="en-US" sz="3200">
              <a:ea typeface="华文新魏" panose="02010800040101010101" pitchFamily="2" charset="-122"/>
            </a:endParaRPr>
          </a:p>
        </p:txBody>
      </p:sp>
      <p:sp>
        <p:nvSpPr>
          <p:cNvPr id="160774" name="Text Box 6"/>
          <p:cNvSpPr txBox="1">
            <a:spLocks noChangeArrowheads="1"/>
          </p:cNvSpPr>
          <p:nvPr/>
        </p:nvSpPr>
        <p:spPr bwMode="auto">
          <a:xfrm>
            <a:off x="2436813" y="2500313"/>
            <a:ext cx="33416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i="1">
                <a:solidFill>
                  <a:schemeClr val="tx2"/>
                </a:solidFill>
                <a:ea typeface="华文新魏" panose="02010800040101010101" pitchFamily="2" charset="-122"/>
              </a:rPr>
              <a:t>e =E</a:t>
            </a:r>
            <a:r>
              <a:rPr lang="en-US" altLang="zh-CN" sz="3200">
                <a:solidFill>
                  <a:schemeClr val="tx2"/>
                </a:solidFill>
                <a:ea typeface="华文新魏" panose="02010800040101010101" pitchFamily="2" charset="-122"/>
              </a:rPr>
              <a:t>{[</a:t>
            </a:r>
            <a:r>
              <a:rPr lang="en-US" altLang="zh-CN" sz="3200" i="1">
                <a:solidFill>
                  <a:schemeClr val="tx2"/>
                </a:solidFill>
                <a:ea typeface="华文新魏" panose="02010800040101010101" pitchFamily="2" charset="-122"/>
              </a:rPr>
              <a:t>Y</a:t>
            </a:r>
            <a:r>
              <a:rPr lang="en-US" altLang="zh-CN" sz="3200">
                <a:solidFill>
                  <a:schemeClr val="tx2"/>
                </a:solidFill>
                <a:ea typeface="华文新魏" panose="02010800040101010101" pitchFamily="2" charset="-122"/>
              </a:rPr>
              <a:t>-(</a:t>
            </a:r>
            <a:r>
              <a:rPr lang="en-US" altLang="zh-CN" sz="3200" i="1">
                <a:solidFill>
                  <a:schemeClr val="tx2"/>
                </a:solidFill>
                <a:ea typeface="华文新魏" panose="02010800040101010101" pitchFamily="2" charset="-122"/>
              </a:rPr>
              <a:t>a+bX</a:t>
            </a:r>
            <a:r>
              <a:rPr lang="en-US" altLang="zh-CN" sz="3200">
                <a:solidFill>
                  <a:schemeClr val="tx2"/>
                </a:solidFill>
                <a:ea typeface="华文新魏" panose="02010800040101010101" pitchFamily="2" charset="-122"/>
              </a:rPr>
              <a:t>)]</a:t>
            </a:r>
            <a:r>
              <a:rPr lang="en-US" altLang="zh-CN" sz="3200" baseline="30000">
                <a:solidFill>
                  <a:schemeClr val="tx2"/>
                </a:solidFill>
                <a:ea typeface="华文新魏" panose="02010800040101010101" pitchFamily="2" charset="-122"/>
              </a:rPr>
              <a:t>2</a:t>
            </a:r>
            <a:r>
              <a:rPr lang="en-US" altLang="zh-CN" sz="3200">
                <a:solidFill>
                  <a:schemeClr val="tx2"/>
                </a:solidFill>
                <a:ea typeface="华文新魏" panose="02010800040101010101" pitchFamily="2" charset="-122"/>
              </a:rPr>
              <a:t>}</a:t>
            </a:r>
            <a:endParaRPr lang="en-US" altLang="zh-CN" sz="3200">
              <a:ea typeface="华文新魏" panose="02010800040101010101" pitchFamily="2" charset="-122"/>
            </a:endParaRPr>
          </a:p>
        </p:txBody>
      </p:sp>
      <p:sp>
        <p:nvSpPr>
          <p:cNvPr id="160775" name="Text Box 7"/>
          <p:cNvSpPr txBox="1">
            <a:spLocks noChangeArrowheads="1"/>
          </p:cNvSpPr>
          <p:nvPr/>
        </p:nvSpPr>
        <p:spPr bwMode="auto">
          <a:xfrm>
            <a:off x="1122363" y="3186113"/>
            <a:ext cx="67262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a:ea typeface="华文新魏" panose="02010800040101010101" pitchFamily="2" charset="-122"/>
              </a:rPr>
              <a:t>来衡量以</a:t>
            </a:r>
            <a:r>
              <a:rPr lang="en-US" altLang="zh-CN" sz="3200" i="1">
                <a:ea typeface="华文新魏" panose="02010800040101010101" pitchFamily="2" charset="-122"/>
              </a:rPr>
              <a:t>a+bX</a:t>
            </a:r>
            <a:r>
              <a:rPr lang="zh-CN" altLang="en-US" sz="3200">
                <a:ea typeface="华文新魏" panose="02010800040101010101" pitchFamily="2" charset="-122"/>
              </a:rPr>
              <a:t>近似表示</a:t>
            </a:r>
            <a:r>
              <a:rPr lang="en-US" altLang="zh-CN" sz="3200" i="1">
                <a:ea typeface="华文新魏" panose="02010800040101010101" pitchFamily="2" charset="-122"/>
              </a:rPr>
              <a:t>Y</a:t>
            </a:r>
            <a:r>
              <a:rPr lang="zh-CN" altLang="en-US" sz="3200">
                <a:ea typeface="华文新魏" panose="02010800040101010101" pitchFamily="2" charset="-122"/>
              </a:rPr>
              <a:t>的好坏程度</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160776" name="Text Box 8"/>
          <p:cNvSpPr txBox="1">
            <a:spLocks noChangeArrowheads="1"/>
          </p:cNvSpPr>
          <p:nvPr/>
        </p:nvSpPr>
        <p:spPr bwMode="auto">
          <a:xfrm>
            <a:off x="1239838" y="3902075"/>
            <a:ext cx="70088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i="1">
                <a:ea typeface="华文新魏" panose="02010800040101010101" pitchFamily="2" charset="-122"/>
              </a:rPr>
              <a:t>e</a:t>
            </a:r>
            <a:r>
              <a:rPr lang="zh-CN" altLang="en-US" sz="3200">
                <a:ea typeface="华文新魏" panose="02010800040101010101" pitchFamily="2" charset="-122"/>
              </a:rPr>
              <a:t>值越小表示 </a:t>
            </a:r>
            <a:r>
              <a:rPr lang="en-US" altLang="zh-CN" sz="3200" i="1">
                <a:ea typeface="华文新魏" panose="02010800040101010101" pitchFamily="2" charset="-122"/>
              </a:rPr>
              <a:t>a+bX</a:t>
            </a:r>
            <a:r>
              <a:rPr lang="zh-CN" altLang="en-US" sz="3200">
                <a:ea typeface="华文新魏" panose="02010800040101010101" pitchFamily="2" charset="-122"/>
              </a:rPr>
              <a:t>与</a:t>
            </a:r>
            <a:r>
              <a:rPr lang="en-US" altLang="zh-CN" sz="3200" i="1">
                <a:ea typeface="华文新魏" panose="02010800040101010101" pitchFamily="2" charset="-122"/>
              </a:rPr>
              <a:t>Y</a:t>
            </a:r>
            <a:r>
              <a:rPr lang="zh-CN" altLang="en-US" sz="3200">
                <a:ea typeface="华文新魏" panose="02010800040101010101" pitchFamily="2" charset="-122"/>
              </a:rPr>
              <a:t>的近似程度越好</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160778" name="Rectangle 10"/>
          <p:cNvSpPr>
            <a:spLocks noChangeArrowheads="1"/>
          </p:cNvSpPr>
          <p:nvPr/>
        </p:nvSpPr>
        <p:spPr bwMode="auto">
          <a:xfrm>
            <a:off x="1141413" y="4689475"/>
            <a:ext cx="723900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200">
                <a:ea typeface="华文新魏" panose="02010800040101010101" pitchFamily="2" charset="-122"/>
              </a:rPr>
              <a:t>用微积分中求极值的方法，求出使</a:t>
            </a:r>
            <a:r>
              <a:rPr lang="en-US" altLang="zh-CN" sz="3200" i="1">
                <a:ea typeface="华文新魏" panose="02010800040101010101" pitchFamily="2" charset="-122"/>
              </a:rPr>
              <a:t>e</a:t>
            </a:r>
            <a:r>
              <a:rPr lang="en-US" altLang="zh-CN" sz="3200">
                <a:ea typeface="华文新魏" panose="02010800040101010101" pitchFamily="2" charset="-122"/>
              </a:rPr>
              <a:t> </a:t>
            </a:r>
            <a:r>
              <a:rPr lang="zh-CN" altLang="en-US" sz="3200">
                <a:ea typeface="华文新魏" panose="02010800040101010101" pitchFamily="2" charset="-122"/>
              </a:rPr>
              <a:t>达到最小时的</a:t>
            </a:r>
            <a:r>
              <a:rPr lang="en-US" altLang="zh-CN" sz="3200" i="1">
                <a:ea typeface="华文新魏" panose="02010800040101010101" pitchFamily="2" charset="-122"/>
              </a:rPr>
              <a:t>a,b </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160779" name="Rectangle 11"/>
          <p:cNvSpPr>
            <a:spLocks noChangeArrowheads="1"/>
          </p:cNvSpPr>
          <p:nvPr/>
        </p:nvSpPr>
        <p:spPr bwMode="auto">
          <a:xfrm>
            <a:off x="755650" y="473075"/>
            <a:ext cx="76231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相关系数刻划了</a:t>
            </a:r>
            <a:r>
              <a:rPr lang="en-US" altLang="zh-CN" sz="3200" i="1">
                <a:ea typeface="华文新魏" panose="02010800040101010101" pitchFamily="2" charset="-122"/>
              </a:rPr>
              <a:t>X</a:t>
            </a:r>
            <a:r>
              <a:rPr lang="zh-CN" altLang="en-US" sz="3200">
                <a:ea typeface="华文新魏" panose="02010800040101010101" pitchFamily="2" charset="-122"/>
              </a:rPr>
              <a:t>和</a:t>
            </a:r>
            <a:r>
              <a:rPr lang="en-US" altLang="zh-CN" sz="3200" i="1">
                <a:ea typeface="华文新魏" panose="02010800040101010101" pitchFamily="2" charset="-122"/>
              </a:rPr>
              <a:t>Y</a:t>
            </a:r>
            <a:r>
              <a:rPr lang="zh-CN" altLang="en-US" sz="3200">
                <a:ea typeface="华文新魏" panose="02010800040101010101" pitchFamily="2" charset="-122"/>
              </a:rPr>
              <a:t>间“</a:t>
            </a:r>
            <a:r>
              <a:rPr lang="zh-CN" altLang="en-US" sz="3200">
                <a:solidFill>
                  <a:srgbClr val="FF33CC"/>
                </a:solidFill>
                <a:ea typeface="华文新魏" panose="02010800040101010101" pitchFamily="2" charset="-122"/>
              </a:rPr>
              <a:t>线性相关</a:t>
            </a:r>
            <a:r>
              <a:rPr lang="zh-CN" altLang="en-US" sz="3200">
                <a:ea typeface="华文新魏" panose="02010800040101010101" pitchFamily="2" charset="-122"/>
              </a:rPr>
              <a:t>”的程度</a:t>
            </a:r>
            <a:r>
              <a:rPr lang="en-US" altLang="zh-CN" sz="3200">
                <a:ea typeface="华文新魏" panose="02010800040101010101" pitchFamily="2" charset="-122"/>
              </a:rPr>
              <a:t>.</a:t>
            </a:r>
            <a:endParaRPr lang="en-US" altLang="zh-CN" sz="3200">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160779"/>
                                        </p:tgtEl>
                                        <p:attrNameLst>
                                          <p:attrName>style.visibility</p:attrName>
                                        </p:attrNameLst>
                                      </p:cBhvr>
                                      <p:to>
                                        <p:strVal val="visible"/>
                                      </p:to>
                                    </p:set>
                                    <p:animEffect transition="in" filter="barn(outVertical)">
                                      <p:cBhvr>
                                        <p:cTn id="7" dur="500"/>
                                        <p:tgtEl>
                                          <p:spTgt spid="1607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0772"/>
                                        </p:tgtEl>
                                        <p:attrNameLst>
                                          <p:attrName>style.visibility</p:attrName>
                                        </p:attrNameLst>
                                      </p:cBhvr>
                                      <p:to>
                                        <p:strVal val="visible"/>
                                      </p:to>
                                    </p:set>
                                    <p:animEffect transition="in" filter="wipe(left)">
                                      <p:cBhvr>
                                        <p:cTn id="12" dur="500"/>
                                        <p:tgtEl>
                                          <p:spTgt spid="16077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60773"/>
                                        </p:tgtEl>
                                        <p:attrNameLst>
                                          <p:attrName>style.visibility</p:attrName>
                                        </p:attrNameLst>
                                      </p:cBhvr>
                                      <p:to>
                                        <p:strVal val="visible"/>
                                      </p:to>
                                    </p:set>
                                    <p:anim calcmode="lin" valueType="num">
                                      <p:cBhvr additive="base">
                                        <p:cTn id="17" dur="500" fill="hold"/>
                                        <p:tgtEl>
                                          <p:spTgt spid="160773"/>
                                        </p:tgtEl>
                                        <p:attrNameLst>
                                          <p:attrName>ppt_x</p:attrName>
                                        </p:attrNameLst>
                                      </p:cBhvr>
                                      <p:tavLst>
                                        <p:tav tm="0">
                                          <p:val>
                                            <p:strVal val="0-#ppt_w/2"/>
                                          </p:val>
                                        </p:tav>
                                        <p:tav tm="100000">
                                          <p:val>
                                            <p:strVal val="#ppt_x"/>
                                          </p:val>
                                        </p:tav>
                                      </p:tavLst>
                                    </p:anim>
                                    <p:anim calcmode="lin" valueType="num">
                                      <p:cBhvr additive="base">
                                        <p:cTn id="18" dur="500" fill="hold"/>
                                        <p:tgtEl>
                                          <p:spTgt spid="160773"/>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2" presetClass="entr" presetSubtype="2" fill="hold" grpId="0" nodeType="afterEffect">
                                  <p:stCondLst>
                                    <p:cond delay="0"/>
                                  </p:stCondLst>
                                  <p:childTnLst>
                                    <p:set>
                                      <p:cBhvr>
                                        <p:cTn id="21" dur="1" fill="hold">
                                          <p:stCondLst>
                                            <p:cond delay="0"/>
                                          </p:stCondLst>
                                        </p:cTn>
                                        <p:tgtEl>
                                          <p:spTgt spid="160774"/>
                                        </p:tgtEl>
                                        <p:attrNameLst>
                                          <p:attrName>style.visibility</p:attrName>
                                        </p:attrNameLst>
                                      </p:cBhvr>
                                      <p:to>
                                        <p:strVal val="visible"/>
                                      </p:to>
                                    </p:set>
                                    <p:anim calcmode="lin" valueType="num">
                                      <p:cBhvr additive="base">
                                        <p:cTn id="22" dur="500" fill="hold"/>
                                        <p:tgtEl>
                                          <p:spTgt spid="160774"/>
                                        </p:tgtEl>
                                        <p:attrNameLst>
                                          <p:attrName>ppt_x</p:attrName>
                                        </p:attrNameLst>
                                      </p:cBhvr>
                                      <p:tavLst>
                                        <p:tav tm="0">
                                          <p:val>
                                            <p:strVal val="1+#ppt_w/2"/>
                                          </p:val>
                                        </p:tav>
                                        <p:tav tm="100000">
                                          <p:val>
                                            <p:strVal val="#ppt_x"/>
                                          </p:val>
                                        </p:tav>
                                      </p:tavLst>
                                    </p:anim>
                                    <p:anim calcmode="lin" valueType="num">
                                      <p:cBhvr additive="base">
                                        <p:cTn id="23" dur="500" fill="hold"/>
                                        <p:tgtEl>
                                          <p:spTgt spid="160774"/>
                                        </p:tgtEl>
                                        <p:attrNameLst>
                                          <p:attrName>ppt_y</p:attrName>
                                        </p:attrNameLst>
                                      </p:cBhvr>
                                      <p:tavLst>
                                        <p:tav tm="0">
                                          <p:val>
                                            <p:strVal val="#ppt_y"/>
                                          </p:val>
                                        </p:tav>
                                        <p:tav tm="100000">
                                          <p:val>
                                            <p:strVal val="#ppt_y"/>
                                          </p:val>
                                        </p:tav>
                                      </p:tavLst>
                                    </p:anim>
                                  </p:childTnLst>
                                </p:cTn>
                              </p:par>
                            </p:childTnLst>
                          </p:cTn>
                        </p:par>
                        <p:par>
                          <p:cTn id="24" fill="hold">
                            <p:stCondLst>
                              <p:cond delay="1000"/>
                            </p:stCondLst>
                            <p:childTnLst>
                              <p:par>
                                <p:cTn id="25" presetID="16" presetClass="entr" presetSubtype="37" fill="hold" grpId="0" nodeType="afterEffect">
                                  <p:stCondLst>
                                    <p:cond delay="0"/>
                                  </p:stCondLst>
                                  <p:childTnLst>
                                    <p:set>
                                      <p:cBhvr>
                                        <p:cTn id="26" dur="1" fill="hold">
                                          <p:stCondLst>
                                            <p:cond delay="0"/>
                                          </p:stCondLst>
                                        </p:cTn>
                                        <p:tgtEl>
                                          <p:spTgt spid="160775"/>
                                        </p:tgtEl>
                                        <p:attrNameLst>
                                          <p:attrName>style.visibility</p:attrName>
                                        </p:attrNameLst>
                                      </p:cBhvr>
                                      <p:to>
                                        <p:strVal val="visible"/>
                                      </p:to>
                                    </p:set>
                                    <p:animEffect transition="in" filter="barn(outVertical)">
                                      <p:cBhvr>
                                        <p:cTn id="27" dur="500"/>
                                        <p:tgtEl>
                                          <p:spTgt spid="16077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0776"/>
                                        </p:tgtEl>
                                        <p:attrNameLst>
                                          <p:attrName>style.visibility</p:attrName>
                                        </p:attrNameLst>
                                      </p:cBhvr>
                                      <p:to>
                                        <p:strVal val="visible"/>
                                      </p:to>
                                    </p:set>
                                    <p:animEffect transition="in" filter="wipe(left)">
                                      <p:cBhvr>
                                        <p:cTn id="32" dur="500"/>
                                        <p:tgtEl>
                                          <p:spTgt spid="160776"/>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160778"/>
                                        </p:tgtEl>
                                        <p:attrNameLst>
                                          <p:attrName>style.visibility</p:attrName>
                                        </p:attrNameLst>
                                      </p:cBhvr>
                                      <p:to>
                                        <p:strVal val="visible"/>
                                      </p:to>
                                    </p:set>
                                    <p:animEffect transition="in" filter="barn(outVertical)">
                                      <p:cBhvr>
                                        <p:cTn id="37" dur="500"/>
                                        <p:tgtEl>
                                          <p:spTgt spid="1607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2" grpId="0" autoUpdateAnimBg="0"/>
      <p:bldP spid="160773" grpId="0" autoUpdateAnimBg="0"/>
      <p:bldP spid="160774" grpId="0" autoUpdateAnimBg="0"/>
      <p:bldP spid="160775" grpId="0" autoUpdateAnimBg="0"/>
      <p:bldP spid="160776" grpId="0" autoUpdateAnimBg="0"/>
      <p:bldP spid="160778" grpId="0" autoUpdateAnimBg="0"/>
      <p:bldP spid="160779"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6" name="Rectangle 4"/>
          <p:cNvSpPr>
            <a:spLocks noChangeArrowheads="1"/>
          </p:cNvSpPr>
          <p:nvPr/>
        </p:nvSpPr>
        <p:spPr bwMode="auto">
          <a:xfrm>
            <a:off x="914400" y="1138238"/>
            <a:ext cx="8077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ea typeface="华文新魏" panose="02010800040101010101" pitchFamily="2" charset="-122"/>
              </a:rPr>
              <a:t>          =</a:t>
            </a:r>
            <a:r>
              <a:rPr lang="en-US" altLang="zh-CN" sz="3200" i="1">
                <a:ea typeface="华文新魏" panose="02010800040101010101" pitchFamily="2" charset="-122"/>
              </a:rPr>
              <a:t>E</a:t>
            </a:r>
            <a:r>
              <a:rPr lang="en-US" altLang="zh-CN" sz="3200">
                <a:ea typeface="华文新魏" panose="02010800040101010101" pitchFamily="2" charset="-122"/>
              </a:rPr>
              <a:t>(</a:t>
            </a:r>
            <a:r>
              <a:rPr lang="en-US" altLang="zh-CN" sz="3200" i="1">
                <a:ea typeface="华文新魏" panose="02010800040101010101" pitchFamily="2" charset="-122"/>
              </a:rPr>
              <a:t>Y</a:t>
            </a:r>
            <a:r>
              <a:rPr lang="en-US" altLang="zh-CN" sz="3200" i="1" baseline="30000">
                <a:ea typeface="华文新魏" panose="02010800040101010101" pitchFamily="2" charset="-122"/>
              </a:rPr>
              <a:t>2</a:t>
            </a:r>
            <a:r>
              <a:rPr lang="en-US" altLang="zh-CN" sz="3200">
                <a:ea typeface="华文新魏" panose="02010800040101010101" pitchFamily="2" charset="-122"/>
              </a:rPr>
              <a:t>)+</a:t>
            </a:r>
            <a:r>
              <a:rPr lang="en-US" altLang="zh-CN" sz="3200" i="1">
                <a:ea typeface="华文新魏" panose="02010800040101010101" pitchFamily="2" charset="-122"/>
              </a:rPr>
              <a:t>b</a:t>
            </a:r>
            <a:r>
              <a:rPr lang="en-US" altLang="zh-CN" sz="3200" i="1" baseline="30000">
                <a:ea typeface="华文新魏" panose="02010800040101010101" pitchFamily="2" charset="-122"/>
              </a:rPr>
              <a:t>2</a:t>
            </a:r>
            <a:r>
              <a:rPr lang="en-US" altLang="zh-CN" sz="3200" i="1">
                <a:ea typeface="华文新魏" panose="02010800040101010101" pitchFamily="2" charset="-122"/>
              </a:rPr>
              <a:t>E</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i="1" baseline="30000">
                <a:ea typeface="华文新魏" panose="02010800040101010101" pitchFamily="2" charset="-122"/>
              </a:rPr>
              <a:t>2</a:t>
            </a:r>
            <a:r>
              <a:rPr lang="en-US" altLang="zh-CN" sz="3200">
                <a:ea typeface="华文新魏" panose="02010800040101010101" pitchFamily="2" charset="-122"/>
              </a:rPr>
              <a:t>)+</a:t>
            </a:r>
            <a:r>
              <a:rPr lang="en-US" altLang="zh-CN" sz="3200" i="1">
                <a:ea typeface="华文新魏" panose="02010800040101010101" pitchFamily="2" charset="-122"/>
              </a:rPr>
              <a:t>a</a:t>
            </a:r>
            <a:r>
              <a:rPr lang="en-US" altLang="zh-CN" sz="3200" i="1" baseline="30000">
                <a:ea typeface="华文新魏" panose="02010800040101010101" pitchFamily="2" charset="-122"/>
              </a:rPr>
              <a:t>2</a:t>
            </a:r>
            <a:r>
              <a:rPr lang="en-US" altLang="zh-CN" sz="3200">
                <a:ea typeface="华文新魏" panose="02010800040101010101" pitchFamily="2" charset="-122"/>
              </a:rPr>
              <a:t>- 2</a:t>
            </a:r>
            <a:r>
              <a:rPr lang="en-US" altLang="zh-CN" sz="3200" i="1">
                <a:ea typeface="华文新魏" panose="02010800040101010101" pitchFamily="2" charset="-122"/>
              </a:rPr>
              <a:t>bE</a:t>
            </a:r>
            <a:r>
              <a:rPr lang="en-US" altLang="zh-CN" sz="3200">
                <a:ea typeface="华文新魏" panose="02010800040101010101" pitchFamily="2" charset="-122"/>
              </a:rPr>
              <a:t>(</a:t>
            </a:r>
            <a:r>
              <a:rPr lang="en-US" altLang="zh-CN" sz="3200" i="1">
                <a:ea typeface="华文新魏" panose="02010800040101010101" pitchFamily="2" charset="-122"/>
              </a:rPr>
              <a:t>XY</a:t>
            </a:r>
            <a:r>
              <a:rPr lang="en-US" altLang="zh-CN" sz="3200">
                <a:ea typeface="华文新魏" panose="02010800040101010101" pitchFamily="2" charset="-122"/>
              </a:rPr>
              <a:t>)+2</a:t>
            </a:r>
            <a:r>
              <a:rPr lang="en-US" altLang="zh-CN" sz="3200" i="1">
                <a:ea typeface="华文新魏" panose="02010800040101010101" pitchFamily="2" charset="-122"/>
              </a:rPr>
              <a:t>abE</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a:ea typeface="华文新魏" panose="02010800040101010101" pitchFamily="2" charset="-122"/>
              </a:rPr>
              <a:t>)  </a:t>
            </a:r>
            <a:endParaRPr lang="en-US" altLang="zh-CN" sz="3200">
              <a:ea typeface="华文新魏" panose="02010800040101010101" pitchFamily="2" charset="-122"/>
            </a:endParaRPr>
          </a:p>
          <a:p>
            <a:pPr eaLnBrk="1" hangingPunct="1"/>
            <a:r>
              <a:rPr lang="en-US" altLang="zh-CN" sz="3200">
                <a:ea typeface="华文新魏" panose="02010800040101010101" pitchFamily="2" charset="-122"/>
              </a:rPr>
              <a:t>             - 2</a:t>
            </a:r>
            <a:r>
              <a:rPr lang="en-US" altLang="zh-CN" sz="3200" i="1">
                <a:ea typeface="华文新魏" panose="02010800040101010101" pitchFamily="2" charset="-122"/>
              </a:rPr>
              <a:t>aE</a:t>
            </a:r>
            <a:r>
              <a:rPr lang="en-US" altLang="zh-CN" sz="3200">
                <a:ea typeface="华文新魏" panose="02010800040101010101" pitchFamily="2" charset="-122"/>
              </a:rPr>
              <a:t>(</a:t>
            </a:r>
            <a:r>
              <a:rPr lang="en-US" altLang="zh-CN" sz="3200" i="1">
                <a:ea typeface="华文新魏" panose="02010800040101010101" pitchFamily="2" charset="-122"/>
              </a:rPr>
              <a:t>Y</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161797" name="Text Box 5"/>
          <p:cNvSpPr txBox="1">
            <a:spLocks noChangeArrowheads="1"/>
          </p:cNvSpPr>
          <p:nvPr/>
        </p:nvSpPr>
        <p:spPr bwMode="auto">
          <a:xfrm>
            <a:off x="1724025" y="457200"/>
            <a:ext cx="33512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i="1">
                <a:ea typeface="华文新魏" panose="02010800040101010101" pitchFamily="2" charset="-122"/>
              </a:rPr>
              <a:t>e</a:t>
            </a:r>
            <a:r>
              <a:rPr lang="en-US" altLang="zh-CN" sz="3200">
                <a:ea typeface="华文新魏" panose="02010800040101010101" pitchFamily="2" charset="-122"/>
              </a:rPr>
              <a:t> =</a:t>
            </a:r>
            <a:r>
              <a:rPr lang="en-US" altLang="zh-CN" sz="3200" i="1">
                <a:ea typeface="华文新魏" panose="02010800040101010101" pitchFamily="2" charset="-122"/>
              </a:rPr>
              <a:t>E</a:t>
            </a:r>
            <a:r>
              <a:rPr lang="en-US" altLang="zh-CN" sz="3200">
                <a:ea typeface="华文新魏" panose="02010800040101010101" pitchFamily="2" charset="-122"/>
              </a:rPr>
              <a:t>{[</a:t>
            </a:r>
            <a:r>
              <a:rPr lang="en-US" altLang="zh-CN" sz="3200" i="1">
                <a:ea typeface="华文新魏" panose="02010800040101010101" pitchFamily="2" charset="-122"/>
              </a:rPr>
              <a:t>Y</a:t>
            </a:r>
            <a:r>
              <a:rPr lang="en-US" altLang="zh-CN" sz="3200">
                <a:ea typeface="华文新魏" panose="02010800040101010101" pitchFamily="2" charset="-122"/>
              </a:rPr>
              <a:t>-(</a:t>
            </a:r>
            <a:r>
              <a:rPr lang="en-US" altLang="zh-CN" sz="3200" i="1">
                <a:ea typeface="华文新魏" panose="02010800040101010101" pitchFamily="2" charset="-122"/>
              </a:rPr>
              <a:t>a</a:t>
            </a:r>
            <a:r>
              <a:rPr lang="en-US" altLang="zh-CN" sz="3200">
                <a:ea typeface="华文新魏" panose="02010800040101010101" pitchFamily="2" charset="-122"/>
              </a:rPr>
              <a:t>+</a:t>
            </a:r>
            <a:r>
              <a:rPr lang="en-US" altLang="zh-CN" sz="3200" i="1">
                <a:ea typeface="华文新魏" panose="02010800040101010101" pitchFamily="2" charset="-122"/>
              </a:rPr>
              <a:t>bX</a:t>
            </a:r>
            <a:r>
              <a:rPr lang="en-US" altLang="zh-CN" sz="3200">
                <a:ea typeface="华文新魏" panose="02010800040101010101" pitchFamily="2" charset="-122"/>
              </a:rPr>
              <a:t>)]</a:t>
            </a:r>
            <a:r>
              <a:rPr lang="en-US" altLang="zh-CN" sz="3200" baseline="30000">
                <a:ea typeface="华文新魏" panose="02010800040101010101" pitchFamily="2" charset="-122"/>
              </a:rPr>
              <a:t>2</a:t>
            </a:r>
            <a:r>
              <a:rPr lang="en-US" altLang="zh-CN" sz="3200">
                <a:ea typeface="华文新魏" panose="02010800040101010101" pitchFamily="2" charset="-122"/>
              </a:rPr>
              <a:t> }</a:t>
            </a:r>
            <a:endParaRPr lang="en-US" altLang="zh-CN" sz="3200">
              <a:ea typeface="华文新魏" panose="02010800040101010101" pitchFamily="2" charset="-122"/>
            </a:endParaRPr>
          </a:p>
        </p:txBody>
      </p:sp>
      <p:graphicFrame>
        <p:nvGraphicFramePr>
          <p:cNvPr id="161798" name="Object 6"/>
          <p:cNvGraphicFramePr>
            <a:graphicFrameLocks noChangeAspect="1"/>
          </p:cNvGraphicFramePr>
          <p:nvPr/>
        </p:nvGraphicFramePr>
        <p:xfrm>
          <a:off x="1558925" y="2298700"/>
          <a:ext cx="5570538" cy="2109788"/>
        </p:xfrm>
        <a:graphic>
          <a:graphicData uri="http://schemas.openxmlformats.org/presentationml/2006/ole">
            <mc:AlternateContent xmlns:mc="http://schemas.openxmlformats.org/markup-compatibility/2006">
              <mc:Choice xmlns:v="urn:schemas-microsoft-com:vml" Requires="v">
                <p:oleObj spid="_x0000_s91265" name="Equation" r:id="rId1" imgW="2438400" imgH="760095" progId="Equation.DSMT4">
                  <p:embed/>
                </p:oleObj>
              </mc:Choice>
              <mc:Fallback>
                <p:oleObj name="Equation" r:id="rId1" imgW="2438400" imgH="760095" progId="Equation.DSMT4">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8925" y="2298700"/>
                        <a:ext cx="5570538" cy="2109788"/>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1799" name="Object 7"/>
          <p:cNvGraphicFramePr>
            <a:graphicFrameLocks noChangeAspect="1"/>
          </p:cNvGraphicFramePr>
          <p:nvPr/>
        </p:nvGraphicFramePr>
        <p:xfrm>
          <a:off x="2535238" y="4343400"/>
          <a:ext cx="2854325" cy="990600"/>
        </p:xfrm>
        <a:graphic>
          <a:graphicData uri="http://schemas.openxmlformats.org/presentationml/2006/ole">
            <mc:AlternateContent xmlns:mc="http://schemas.openxmlformats.org/markup-compatibility/2006">
              <mc:Choice xmlns:v="urn:schemas-microsoft-com:vml" Requires="v">
                <p:oleObj spid="_x0000_s91266" name="公式" r:id="rId3" imgW="914400" imgH="337185" progId="Equation.3">
                  <p:embed/>
                </p:oleObj>
              </mc:Choice>
              <mc:Fallback>
                <p:oleObj name="公式" r:id="rId3" imgW="914400" imgH="337185"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5238" y="4343400"/>
                        <a:ext cx="2854325" cy="99060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800" name="Text Box 8"/>
          <p:cNvSpPr txBox="1">
            <a:spLocks noChangeArrowheads="1"/>
          </p:cNvSpPr>
          <p:nvPr/>
        </p:nvSpPr>
        <p:spPr bwMode="auto">
          <a:xfrm>
            <a:off x="1069975" y="4724400"/>
            <a:ext cx="996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a:ea typeface="华文新魏" panose="02010800040101010101" pitchFamily="2" charset="-122"/>
              </a:rPr>
              <a:t>解得</a:t>
            </a:r>
            <a:endParaRPr lang="zh-CN" altLang="en-US" sz="3200">
              <a:ea typeface="华文新魏" panose="02010800040101010101" pitchFamily="2" charset="-122"/>
            </a:endParaRPr>
          </a:p>
        </p:txBody>
      </p:sp>
      <p:graphicFrame>
        <p:nvGraphicFramePr>
          <p:cNvPr id="161801" name="Object 9"/>
          <p:cNvGraphicFramePr>
            <a:graphicFrameLocks noChangeAspect="1"/>
          </p:cNvGraphicFramePr>
          <p:nvPr/>
        </p:nvGraphicFramePr>
        <p:xfrm>
          <a:off x="2554288" y="5334000"/>
          <a:ext cx="3706812" cy="647700"/>
        </p:xfrm>
        <a:graphic>
          <a:graphicData uri="http://schemas.openxmlformats.org/presentationml/2006/ole">
            <mc:AlternateContent xmlns:mc="http://schemas.openxmlformats.org/markup-compatibility/2006">
              <mc:Choice xmlns:v="urn:schemas-microsoft-com:vml" Requires="v">
                <p:oleObj spid="_x0000_s91267" name="Equation" r:id="rId5" imgW="1200150" imgH="144145" progId="Equation.DSMT4">
                  <p:embed/>
                </p:oleObj>
              </mc:Choice>
              <mc:Fallback>
                <p:oleObj name="Equation" r:id="rId5" imgW="1200150" imgH="144145"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4288" y="5334000"/>
                        <a:ext cx="3706812" cy="64770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803" name="AutoShape 11"/>
          <p:cNvSpPr/>
          <p:nvPr/>
        </p:nvSpPr>
        <p:spPr bwMode="auto">
          <a:xfrm>
            <a:off x="2362200" y="4800600"/>
            <a:ext cx="76200" cy="990600"/>
          </a:xfrm>
          <a:prstGeom prst="leftBrace">
            <a:avLst>
              <a:gd name="adj1" fmla="val 10833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sz="3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61797"/>
                                        </p:tgtEl>
                                        <p:attrNameLst>
                                          <p:attrName>style.visibility</p:attrName>
                                        </p:attrNameLst>
                                      </p:cBhvr>
                                      <p:to>
                                        <p:strVal val="visible"/>
                                      </p:to>
                                    </p:set>
                                    <p:anim calcmode="lin" valueType="num">
                                      <p:cBhvr additive="base">
                                        <p:cTn id="7" dur="500" fill="hold"/>
                                        <p:tgtEl>
                                          <p:spTgt spid="161797"/>
                                        </p:tgtEl>
                                        <p:attrNameLst>
                                          <p:attrName>ppt_x</p:attrName>
                                        </p:attrNameLst>
                                      </p:cBhvr>
                                      <p:tavLst>
                                        <p:tav tm="0">
                                          <p:val>
                                            <p:strVal val="0-#ppt_w/2"/>
                                          </p:val>
                                        </p:tav>
                                        <p:tav tm="100000">
                                          <p:val>
                                            <p:strVal val="#ppt_x"/>
                                          </p:val>
                                        </p:tav>
                                      </p:tavLst>
                                    </p:anim>
                                    <p:anim calcmode="lin" valueType="num">
                                      <p:cBhvr additive="base">
                                        <p:cTn id="8" dur="500" fill="hold"/>
                                        <p:tgtEl>
                                          <p:spTgt spid="16179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1796"/>
                                        </p:tgtEl>
                                        <p:attrNameLst>
                                          <p:attrName>style.visibility</p:attrName>
                                        </p:attrNameLst>
                                      </p:cBhvr>
                                      <p:to>
                                        <p:strVal val="visible"/>
                                      </p:to>
                                    </p:set>
                                    <p:anim calcmode="lin" valueType="num">
                                      <p:cBhvr additive="base">
                                        <p:cTn id="13" dur="500" fill="hold"/>
                                        <p:tgtEl>
                                          <p:spTgt spid="161796"/>
                                        </p:tgtEl>
                                        <p:attrNameLst>
                                          <p:attrName>ppt_x</p:attrName>
                                        </p:attrNameLst>
                                      </p:cBhvr>
                                      <p:tavLst>
                                        <p:tav tm="0">
                                          <p:val>
                                            <p:strVal val="1+#ppt_w/2"/>
                                          </p:val>
                                        </p:tav>
                                        <p:tav tm="100000">
                                          <p:val>
                                            <p:strVal val="#ppt_x"/>
                                          </p:val>
                                        </p:tav>
                                      </p:tavLst>
                                    </p:anim>
                                    <p:anim calcmode="lin" valueType="num">
                                      <p:cBhvr additive="base">
                                        <p:cTn id="14" dur="500" fill="hold"/>
                                        <p:tgtEl>
                                          <p:spTgt spid="16179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61798"/>
                                        </p:tgtEl>
                                        <p:attrNameLst>
                                          <p:attrName>style.visibility</p:attrName>
                                        </p:attrNameLst>
                                      </p:cBhvr>
                                      <p:to>
                                        <p:strVal val="visible"/>
                                      </p:to>
                                    </p:set>
                                    <p:animEffect transition="in" filter="wipe(left)">
                                      <p:cBhvr>
                                        <p:cTn id="19" dur="500"/>
                                        <p:tgtEl>
                                          <p:spTgt spid="161798"/>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61800"/>
                                        </p:tgtEl>
                                        <p:attrNameLst>
                                          <p:attrName>style.visibility</p:attrName>
                                        </p:attrNameLst>
                                      </p:cBhvr>
                                      <p:to>
                                        <p:strVal val="visible"/>
                                      </p:to>
                                    </p:set>
                                    <p:anim calcmode="lin" valueType="num">
                                      <p:cBhvr additive="base">
                                        <p:cTn id="24" dur="500" fill="hold"/>
                                        <p:tgtEl>
                                          <p:spTgt spid="161800"/>
                                        </p:tgtEl>
                                        <p:attrNameLst>
                                          <p:attrName>ppt_x</p:attrName>
                                        </p:attrNameLst>
                                      </p:cBhvr>
                                      <p:tavLst>
                                        <p:tav tm="0">
                                          <p:val>
                                            <p:strVal val="0-#ppt_w/2"/>
                                          </p:val>
                                        </p:tav>
                                        <p:tav tm="100000">
                                          <p:val>
                                            <p:strVal val="#ppt_x"/>
                                          </p:val>
                                        </p:tav>
                                      </p:tavLst>
                                    </p:anim>
                                    <p:anim calcmode="lin" valueType="num">
                                      <p:cBhvr additive="base">
                                        <p:cTn id="25" dur="500" fill="hold"/>
                                        <p:tgtEl>
                                          <p:spTgt spid="161800"/>
                                        </p:tgtEl>
                                        <p:attrNameLst>
                                          <p:attrName>ppt_y</p:attrName>
                                        </p:attrNameLst>
                                      </p:cBhvr>
                                      <p:tavLst>
                                        <p:tav tm="0">
                                          <p:val>
                                            <p:strVal val="#ppt_y"/>
                                          </p:val>
                                        </p:tav>
                                        <p:tav tm="100000">
                                          <p:val>
                                            <p:strVal val="#ppt_y"/>
                                          </p:val>
                                        </p:tav>
                                      </p:tavLst>
                                    </p:anim>
                                  </p:childTnLst>
                                </p:cTn>
                              </p:par>
                            </p:childTnLst>
                          </p:cTn>
                        </p:par>
                        <p:par>
                          <p:cTn id="26" fill="hold">
                            <p:stCondLst>
                              <p:cond delay="500"/>
                            </p:stCondLst>
                            <p:childTnLst>
                              <p:par>
                                <p:cTn id="27" presetID="2" presetClass="entr" presetSubtype="2" fill="hold" grpId="0" nodeType="afterEffect">
                                  <p:stCondLst>
                                    <p:cond delay="0"/>
                                  </p:stCondLst>
                                  <p:childTnLst>
                                    <p:set>
                                      <p:cBhvr>
                                        <p:cTn id="28" dur="1" fill="hold">
                                          <p:stCondLst>
                                            <p:cond delay="0"/>
                                          </p:stCondLst>
                                        </p:cTn>
                                        <p:tgtEl>
                                          <p:spTgt spid="161803"/>
                                        </p:tgtEl>
                                        <p:attrNameLst>
                                          <p:attrName>style.visibility</p:attrName>
                                        </p:attrNameLst>
                                      </p:cBhvr>
                                      <p:to>
                                        <p:strVal val="visible"/>
                                      </p:to>
                                    </p:set>
                                    <p:anim calcmode="lin" valueType="num">
                                      <p:cBhvr additive="base">
                                        <p:cTn id="29" dur="500" fill="hold"/>
                                        <p:tgtEl>
                                          <p:spTgt spid="161803"/>
                                        </p:tgtEl>
                                        <p:attrNameLst>
                                          <p:attrName>ppt_x</p:attrName>
                                        </p:attrNameLst>
                                      </p:cBhvr>
                                      <p:tavLst>
                                        <p:tav tm="0">
                                          <p:val>
                                            <p:strVal val="1+#ppt_w/2"/>
                                          </p:val>
                                        </p:tav>
                                        <p:tav tm="100000">
                                          <p:val>
                                            <p:strVal val="#ppt_x"/>
                                          </p:val>
                                        </p:tav>
                                      </p:tavLst>
                                    </p:anim>
                                    <p:anim calcmode="lin" valueType="num">
                                      <p:cBhvr additive="base">
                                        <p:cTn id="30" dur="500" fill="hold"/>
                                        <p:tgtEl>
                                          <p:spTgt spid="161803"/>
                                        </p:tgtEl>
                                        <p:attrNameLst>
                                          <p:attrName>ppt_y</p:attrName>
                                        </p:attrNameLst>
                                      </p:cBhvr>
                                      <p:tavLst>
                                        <p:tav tm="0">
                                          <p:val>
                                            <p:strVal val="#ppt_y"/>
                                          </p:val>
                                        </p:tav>
                                        <p:tav tm="100000">
                                          <p:val>
                                            <p:strVal val="#ppt_y"/>
                                          </p:val>
                                        </p:tav>
                                      </p:tavLst>
                                    </p:anim>
                                  </p:childTnLst>
                                </p:cTn>
                              </p:par>
                            </p:childTnLst>
                          </p:cTn>
                        </p:par>
                        <p:par>
                          <p:cTn id="31" fill="hold">
                            <p:stCondLst>
                              <p:cond delay="1000"/>
                            </p:stCondLst>
                            <p:childTnLst>
                              <p:par>
                                <p:cTn id="32" presetID="2" presetClass="entr" presetSubtype="2" fill="hold" nodeType="afterEffect">
                                  <p:stCondLst>
                                    <p:cond delay="0"/>
                                  </p:stCondLst>
                                  <p:childTnLst>
                                    <p:set>
                                      <p:cBhvr>
                                        <p:cTn id="33" dur="1" fill="hold">
                                          <p:stCondLst>
                                            <p:cond delay="0"/>
                                          </p:stCondLst>
                                        </p:cTn>
                                        <p:tgtEl>
                                          <p:spTgt spid="161799"/>
                                        </p:tgtEl>
                                        <p:attrNameLst>
                                          <p:attrName>style.visibility</p:attrName>
                                        </p:attrNameLst>
                                      </p:cBhvr>
                                      <p:to>
                                        <p:strVal val="visible"/>
                                      </p:to>
                                    </p:set>
                                    <p:anim calcmode="lin" valueType="num">
                                      <p:cBhvr additive="base">
                                        <p:cTn id="34" dur="500" fill="hold"/>
                                        <p:tgtEl>
                                          <p:spTgt spid="161799"/>
                                        </p:tgtEl>
                                        <p:attrNameLst>
                                          <p:attrName>ppt_x</p:attrName>
                                        </p:attrNameLst>
                                      </p:cBhvr>
                                      <p:tavLst>
                                        <p:tav tm="0">
                                          <p:val>
                                            <p:strVal val="1+#ppt_w/2"/>
                                          </p:val>
                                        </p:tav>
                                        <p:tav tm="100000">
                                          <p:val>
                                            <p:strVal val="#ppt_x"/>
                                          </p:val>
                                        </p:tav>
                                      </p:tavLst>
                                    </p:anim>
                                    <p:anim calcmode="lin" valueType="num">
                                      <p:cBhvr additive="base">
                                        <p:cTn id="35" dur="500" fill="hold"/>
                                        <p:tgtEl>
                                          <p:spTgt spid="161799"/>
                                        </p:tgtEl>
                                        <p:attrNameLst>
                                          <p:attrName>ppt_y</p:attrName>
                                        </p:attrNameLst>
                                      </p:cBhvr>
                                      <p:tavLst>
                                        <p:tav tm="0">
                                          <p:val>
                                            <p:strVal val="#ppt_y"/>
                                          </p:val>
                                        </p:tav>
                                        <p:tav tm="100000">
                                          <p:val>
                                            <p:strVal val="#ppt_y"/>
                                          </p:val>
                                        </p:tav>
                                      </p:tavLst>
                                    </p:anim>
                                  </p:childTnLst>
                                </p:cTn>
                              </p:par>
                            </p:childTnLst>
                          </p:cTn>
                        </p:par>
                        <p:par>
                          <p:cTn id="36" fill="hold">
                            <p:stCondLst>
                              <p:cond delay="1500"/>
                            </p:stCondLst>
                            <p:childTnLst>
                              <p:par>
                                <p:cTn id="37" presetID="2" presetClass="entr" presetSubtype="2" fill="hold" nodeType="afterEffect">
                                  <p:stCondLst>
                                    <p:cond delay="0"/>
                                  </p:stCondLst>
                                  <p:childTnLst>
                                    <p:set>
                                      <p:cBhvr>
                                        <p:cTn id="38" dur="1" fill="hold">
                                          <p:stCondLst>
                                            <p:cond delay="0"/>
                                          </p:stCondLst>
                                        </p:cTn>
                                        <p:tgtEl>
                                          <p:spTgt spid="161801"/>
                                        </p:tgtEl>
                                        <p:attrNameLst>
                                          <p:attrName>style.visibility</p:attrName>
                                        </p:attrNameLst>
                                      </p:cBhvr>
                                      <p:to>
                                        <p:strVal val="visible"/>
                                      </p:to>
                                    </p:set>
                                    <p:anim calcmode="lin" valueType="num">
                                      <p:cBhvr additive="base">
                                        <p:cTn id="39" dur="500" fill="hold"/>
                                        <p:tgtEl>
                                          <p:spTgt spid="161801"/>
                                        </p:tgtEl>
                                        <p:attrNameLst>
                                          <p:attrName>ppt_x</p:attrName>
                                        </p:attrNameLst>
                                      </p:cBhvr>
                                      <p:tavLst>
                                        <p:tav tm="0">
                                          <p:val>
                                            <p:strVal val="1+#ppt_w/2"/>
                                          </p:val>
                                        </p:tav>
                                        <p:tav tm="100000">
                                          <p:val>
                                            <p:strVal val="#ppt_x"/>
                                          </p:val>
                                        </p:tav>
                                      </p:tavLst>
                                    </p:anim>
                                    <p:anim calcmode="lin" valueType="num">
                                      <p:cBhvr additive="base">
                                        <p:cTn id="40" dur="500" fill="hold"/>
                                        <p:tgtEl>
                                          <p:spTgt spid="16180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6" grpId="0" autoUpdateAnimBg="0"/>
      <p:bldP spid="161797" grpId="0" autoUpdateAnimBg="0"/>
      <p:bldP spid="161800" grpId="0" autoUpdateAnimBg="0"/>
      <p:bldP spid="161803"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4"/>
          <p:cNvSpPr txBox="1">
            <a:spLocks noChangeArrowheads="1"/>
          </p:cNvSpPr>
          <p:nvPr/>
        </p:nvSpPr>
        <p:spPr bwMode="auto">
          <a:xfrm>
            <a:off x="1192213" y="493713"/>
            <a:ext cx="66738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a:ea typeface="华文新魏" panose="02010800040101010101" pitchFamily="2" charset="-122"/>
              </a:rPr>
              <a:t>   </a:t>
            </a:r>
            <a:r>
              <a:rPr lang="zh-CN" altLang="en-US" sz="3200">
                <a:ea typeface="华文新魏" panose="02010800040101010101" pitchFamily="2" charset="-122"/>
              </a:rPr>
              <a:t>这样求出的最佳逼近为</a:t>
            </a:r>
            <a:r>
              <a:rPr lang="en-US" altLang="zh-CN" sz="3200" i="1">
                <a:solidFill>
                  <a:schemeClr val="tx2"/>
                </a:solidFill>
                <a:ea typeface="华文新魏" panose="02010800040101010101" pitchFamily="2" charset="-122"/>
              </a:rPr>
              <a:t>L</a:t>
            </a:r>
            <a:r>
              <a:rPr lang="en-US" altLang="zh-CN" sz="3200">
                <a:solidFill>
                  <a:schemeClr val="tx2"/>
                </a:solidFill>
                <a:ea typeface="华文新魏" panose="02010800040101010101" pitchFamily="2" charset="-122"/>
              </a:rPr>
              <a:t>(</a:t>
            </a:r>
            <a:r>
              <a:rPr lang="en-US" altLang="zh-CN" sz="3200" i="1">
                <a:solidFill>
                  <a:schemeClr val="tx2"/>
                </a:solidFill>
                <a:ea typeface="华文新魏" panose="02010800040101010101" pitchFamily="2" charset="-122"/>
              </a:rPr>
              <a:t>X</a:t>
            </a:r>
            <a:r>
              <a:rPr lang="en-US" altLang="zh-CN" sz="3200">
                <a:solidFill>
                  <a:schemeClr val="tx2"/>
                </a:solidFill>
                <a:ea typeface="华文新魏" panose="02010800040101010101" pitchFamily="2" charset="-122"/>
              </a:rPr>
              <a:t>)=</a:t>
            </a:r>
            <a:r>
              <a:rPr lang="en-US" altLang="zh-CN" sz="3200" i="1">
                <a:solidFill>
                  <a:schemeClr val="tx2"/>
                </a:solidFill>
                <a:ea typeface="华文新魏" panose="02010800040101010101" pitchFamily="2" charset="-122"/>
              </a:rPr>
              <a:t>a</a:t>
            </a:r>
            <a:r>
              <a:rPr lang="en-US" altLang="zh-CN" sz="3200" baseline="-25000">
                <a:solidFill>
                  <a:schemeClr val="tx2"/>
                </a:solidFill>
                <a:ea typeface="华文新魏" panose="02010800040101010101" pitchFamily="2" charset="-122"/>
              </a:rPr>
              <a:t>0</a:t>
            </a:r>
            <a:r>
              <a:rPr lang="en-US" altLang="zh-CN" sz="3200">
                <a:solidFill>
                  <a:schemeClr val="tx2"/>
                </a:solidFill>
                <a:ea typeface="华文新魏" panose="02010800040101010101" pitchFamily="2" charset="-122"/>
              </a:rPr>
              <a:t>+</a:t>
            </a:r>
            <a:r>
              <a:rPr lang="en-US" altLang="zh-CN" sz="3200" i="1">
                <a:solidFill>
                  <a:schemeClr val="tx2"/>
                </a:solidFill>
                <a:ea typeface="华文新魏" panose="02010800040101010101" pitchFamily="2" charset="-122"/>
              </a:rPr>
              <a:t>b</a:t>
            </a:r>
            <a:r>
              <a:rPr lang="en-US" altLang="zh-CN" sz="3200" baseline="-25000">
                <a:solidFill>
                  <a:schemeClr val="tx2"/>
                </a:solidFill>
                <a:ea typeface="华文新魏" panose="02010800040101010101" pitchFamily="2" charset="-122"/>
              </a:rPr>
              <a:t>0</a:t>
            </a:r>
            <a:r>
              <a:rPr lang="en-US" altLang="zh-CN" sz="3200" i="1">
                <a:solidFill>
                  <a:schemeClr val="tx2"/>
                </a:solidFill>
                <a:ea typeface="华文新魏" panose="02010800040101010101" pitchFamily="2" charset="-122"/>
              </a:rPr>
              <a:t>X</a:t>
            </a:r>
            <a:endParaRPr lang="en-US" altLang="zh-CN" sz="3200">
              <a:solidFill>
                <a:schemeClr val="tx2"/>
              </a:solidFill>
              <a:ea typeface="华文新魏" panose="02010800040101010101" pitchFamily="2" charset="-122"/>
            </a:endParaRPr>
          </a:p>
        </p:txBody>
      </p:sp>
      <p:sp>
        <p:nvSpPr>
          <p:cNvPr id="162821" name="Rectangle 5"/>
          <p:cNvSpPr>
            <a:spLocks noChangeArrowheads="1"/>
          </p:cNvSpPr>
          <p:nvPr/>
        </p:nvSpPr>
        <p:spPr bwMode="auto">
          <a:xfrm>
            <a:off x="955675" y="1103313"/>
            <a:ext cx="4419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这一逼近的均方误差是</a:t>
            </a:r>
            <a:endParaRPr lang="zh-CN" altLang="en-US" sz="3200">
              <a:ea typeface="华文新魏" panose="02010800040101010101" pitchFamily="2" charset="-122"/>
            </a:endParaRPr>
          </a:p>
        </p:txBody>
      </p:sp>
      <p:grpSp>
        <p:nvGrpSpPr>
          <p:cNvPr id="2" name="Group 6"/>
          <p:cNvGrpSpPr/>
          <p:nvPr/>
        </p:nvGrpSpPr>
        <p:grpSpPr bwMode="auto">
          <a:xfrm>
            <a:off x="2251075" y="3267075"/>
            <a:ext cx="5410200" cy="585788"/>
            <a:chOff x="1248" y="1891"/>
            <a:chExt cx="3408" cy="369"/>
          </a:xfrm>
        </p:grpSpPr>
        <p:sp>
          <p:nvSpPr>
            <p:cNvPr id="92182" name="Text Box 7"/>
            <p:cNvSpPr txBox="1">
              <a:spLocks noChangeArrowheads="1"/>
            </p:cNvSpPr>
            <p:nvPr/>
          </p:nvSpPr>
          <p:spPr bwMode="auto">
            <a:xfrm>
              <a:off x="1248" y="1891"/>
              <a:ext cx="340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ea typeface="华文新魏" panose="02010800040101010101" pitchFamily="2" charset="-122"/>
                </a:rPr>
                <a:t>若 </a:t>
              </a:r>
              <a:r>
                <a:rPr lang="zh-CN" altLang="en-US" sz="3200">
                  <a:ea typeface="华文新魏" panose="02010800040101010101" pitchFamily="2" charset="-122"/>
                  <a:sym typeface="Math1"/>
                </a:rPr>
                <a:t>    </a:t>
              </a:r>
              <a:r>
                <a:rPr lang="en-US" altLang="zh-CN" sz="3200">
                  <a:ea typeface="华文新魏" panose="02010800040101010101" pitchFamily="2" charset="-122"/>
                  <a:sym typeface="Math1"/>
                </a:rPr>
                <a:t>=0</a:t>
              </a:r>
              <a:r>
                <a:rPr lang="zh-CN" altLang="en-US" sz="3200">
                  <a:ea typeface="华文新魏" panose="02010800040101010101" pitchFamily="2" charset="-122"/>
                </a:rPr>
                <a:t>， </a:t>
              </a:r>
              <a:r>
                <a:rPr lang="en-US" altLang="zh-CN" sz="3200" i="1">
                  <a:ea typeface="华文新魏" panose="02010800040101010101" pitchFamily="2" charset="-122"/>
                </a:rPr>
                <a:t>Y</a:t>
              </a:r>
              <a:r>
                <a:rPr lang="zh-CN" altLang="en-US" sz="3200">
                  <a:ea typeface="华文新魏" panose="02010800040101010101" pitchFamily="2" charset="-122"/>
                </a:rPr>
                <a:t>与</a:t>
              </a:r>
              <a:r>
                <a:rPr lang="en-US" altLang="zh-CN" sz="3200" i="1">
                  <a:ea typeface="华文新魏" panose="02010800040101010101" pitchFamily="2" charset="-122"/>
                </a:rPr>
                <a:t>X</a:t>
              </a:r>
              <a:r>
                <a:rPr lang="zh-CN" altLang="en-US" sz="3200">
                  <a:ea typeface="华文新魏" panose="02010800040101010101" pitchFamily="2" charset="-122"/>
                </a:rPr>
                <a:t>无线性关系</a:t>
              </a:r>
              <a:r>
                <a:rPr lang="en-US" altLang="zh-CN" sz="3200">
                  <a:ea typeface="华文新魏" panose="02010800040101010101" pitchFamily="2" charset="-122"/>
                </a:rPr>
                <a:t>;</a:t>
              </a:r>
              <a:endParaRPr lang="en-US" altLang="zh-CN" sz="3200">
                <a:ea typeface="华文新魏" panose="02010800040101010101" pitchFamily="2" charset="-122"/>
              </a:endParaRPr>
            </a:p>
          </p:txBody>
        </p:sp>
        <p:graphicFrame>
          <p:nvGraphicFramePr>
            <p:cNvPr id="92183" name="Object 8"/>
            <p:cNvGraphicFramePr>
              <a:graphicFrameLocks noChangeAspect="1"/>
            </p:cNvGraphicFramePr>
            <p:nvPr/>
          </p:nvGraphicFramePr>
          <p:xfrm>
            <a:off x="1562" y="1968"/>
            <a:ext cx="269" cy="292"/>
          </p:xfrm>
          <a:graphic>
            <a:graphicData uri="http://schemas.openxmlformats.org/presentationml/2006/ole">
              <mc:AlternateContent xmlns:mc="http://schemas.openxmlformats.org/markup-compatibility/2006">
                <mc:Choice xmlns:v="urn:schemas-microsoft-com:vml" Requires="v">
                  <p:oleObj spid="_x0000_s92424" name="公式" r:id="rId1" imgW="66675" imgH="76835" progId="Equation.3">
                    <p:embed/>
                  </p:oleObj>
                </mc:Choice>
                <mc:Fallback>
                  <p:oleObj name="公式" r:id="rId1" imgW="66675" imgH="76835"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 y="1968"/>
                          <a:ext cx="269"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9"/>
          <p:cNvGrpSpPr/>
          <p:nvPr/>
        </p:nvGrpSpPr>
        <p:grpSpPr bwMode="auto">
          <a:xfrm>
            <a:off x="1035050" y="2530475"/>
            <a:ext cx="7921625" cy="630238"/>
            <a:chOff x="338" y="1427"/>
            <a:chExt cx="4990" cy="397"/>
          </a:xfrm>
        </p:grpSpPr>
        <p:sp>
          <p:nvSpPr>
            <p:cNvPr id="92178" name="Text Box 10"/>
            <p:cNvSpPr txBox="1">
              <a:spLocks noChangeArrowheads="1"/>
            </p:cNvSpPr>
            <p:nvPr/>
          </p:nvSpPr>
          <p:spPr bwMode="auto">
            <a:xfrm>
              <a:off x="2448" y="1449"/>
              <a:ext cx="288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i="1">
                  <a:ea typeface="华文新魏" panose="02010800040101010101" pitchFamily="2" charset="-122"/>
                </a:rPr>
                <a:t>Y</a:t>
              </a:r>
              <a:r>
                <a:rPr lang="zh-CN" altLang="en-US" sz="3200">
                  <a:ea typeface="华文新魏" panose="02010800040101010101" pitchFamily="2" charset="-122"/>
                </a:rPr>
                <a:t>与</a:t>
              </a:r>
              <a:r>
                <a:rPr lang="en-US" altLang="zh-CN" sz="3200" i="1">
                  <a:ea typeface="华文新魏" panose="02010800040101010101" pitchFamily="2" charset="-122"/>
                </a:rPr>
                <a:t>X</a:t>
              </a:r>
              <a:r>
                <a:rPr lang="zh-CN" altLang="en-US" sz="3200">
                  <a:ea typeface="华文新魏" panose="02010800040101010101" pitchFamily="2" charset="-122"/>
                </a:rPr>
                <a:t>有严格线性关系</a:t>
              </a:r>
              <a:r>
                <a:rPr lang="en-US" altLang="zh-CN" sz="3200">
                  <a:ea typeface="华文新魏" panose="02010800040101010101" pitchFamily="2" charset="-122"/>
                </a:rPr>
                <a:t>;</a:t>
              </a:r>
              <a:endParaRPr lang="en-US" altLang="zh-CN" sz="3200">
                <a:ea typeface="华文新魏" panose="02010800040101010101" pitchFamily="2" charset="-122"/>
              </a:endParaRPr>
            </a:p>
          </p:txBody>
        </p:sp>
        <p:graphicFrame>
          <p:nvGraphicFramePr>
            <p:cNvPr id="92179" name="Object 11"/>
            <p:cNvGraphicFramePr>
              <a:graphicFrameLocks noChangeAspect="1"/>
            </p:cNvGraphicFramePr>
            <p:nvPr/>
          </p:nvGraphicFramePr>
          <p:xfrm>
            <a:off x="1392" y="1492"/>
            <a:ext cx="1043" cy="332"/>
          </p:xfrm>
          <a:graphic>
            <a:graphicData uri="http://schemas.openxmlformats.org/presentationml/2006/ole">
              <mc:AlternateContent xmlns:mc="http://schemas.openxmlformats.org/markup-compatibility/2006">
                <mc:Choice xmlns:v="urn:schemas-microsoft-com:vml" Requires="v">
                  <p:oleObj spid="_x0000_s92425" name="公式" r:id="rId3" imgW="409575" imgH="115570" progId="Equation.3">
                    <p:embed/>
                  </p:oleObj>
                </mc:Choice>
                <mc:Fallback>
                  <p:oleObj name="公式" r:id="rId3" imgW="409575" imgH="11557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2" y="1492"/>
                          <a:ext cx="1043" cy="33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80" name="Text Box 12"/>
            <p:cNvSpPr txBox="1">
              <a:spLocks noChangeArrowheads="1"/>
            </p:cNvSpPr>
            <p:nvPr/>
          </p:nvSpPr>
          <p:spPr bwMode="auto">
            <a:xfrm>
              <a:off x="1100" y="1427"/>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a:ea typeface="华文新魏" panose="02010800040101010101" pitchFamily="2" charset="-122"/>
                </a:rPr>
                <a:t>若</a:t>
              </a:r>
              <a:endParaRPr lang="zh-CN" altLang="en-US" sz="3200">
                <a:ea typeface="华文新魏" panose="02010800040101010101" pitchFamily="2" charset="-122"/>
              </a:endParaRPr>
            </a:p>
          </p:txBody>
        </p:sp>
        <p:sp>
          <p:nvSpPr>
            <p:cNvPr id="92181" name="Rectangle 13"/>
            <p:cNvSpPr>
              <a:spLocks noChangeArrowheads="1"/>
            </p:cNvSpPr>
            <p:nvPr/>
          </p:nvSpPr>
          <p:spPr bwMode="auto">
            <a:xfrm>
              <a:off x="338" y="1459"/>
              <a:ext cx="69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可见</a:t>
              </a:r>
              <a:r>
                <a:rPr lang="en-US" altLang="zh-CN" sz="3200">
                  <a:ea typeface="华文新魏" panose="02010800040101010101" pitchFamily="2" charset="-122"/>
                </a:rPr>
                <a:t>,</a:t>
              </a:r>
              <a:endParaRPr lang="en-US" altLang="zh-CN" sz="3200">
                <a:ea typeface="华文新魏" panose="02010800040101010101" pitchFamily="2" charset="-122"/>
              </a:endParaRPr>
            </a:p>
          </p:txBody>
        </p:sp>
      </p:grpSp>
      <p:grpSp>
        <p:nvGrpSpPr>
          <p:cNvPr id="4" name="Group 14"/>
          <p:cNvGrpSpPr/>
          <p:nvPr/>
        </p:nvGrpSpPr>
        <p:grpSpPr bwMode="auto">
          <a:xfrm>
            <a:off x="968375" y="3846513"/>
            <a:ext cx="2124075" cy="609600"/>
            <a:chOff x="476" y="2352"/>
            <a:chExt cx="1338" cy="384"/>
          </a:xfrm>
        </p:grpSpPr>
        <p:sp>
          <p:nvSpPr>
            <p:cNvPr id="92176" name="Rectangle 15"/>
            <p:cNvSpPr>
              <a:spLocks noChangeArrowheads="1"/>
            </p:cNvSpPr>
            <p:nvPr/>
          </p:nvSpPr>
          <p:spPr bwMode="auto">
            <a:xfrm>
              <a:off x="476" y="2352"/>
              <a:ext cx="133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若</a:t>
              </a:r>
              <a:r>
                <a:rPr lang="en-US" altLang="zh-CN" sz="3200">
                  <a:ea typeface="华文新魏" panose="02010800040101010101" pitchFamily="2" charset="-122"/>
                </a:rPr>
                <a:t>0&lt;| </a:t>
              </a:r>
              <a:r>
                <a:rPr lang="en-US" altLang="zh-CN" sz="3200">
                  <a:ea typeface="华文新魏" panose="02010800040101010101" pitchFamily="2" charset="-122"/>
                  <a:sym typeface="Math1"/>
                </a:rPr>
                <a:t>  </a:t>
              </a:r>
              <a:r>
                <a:rPr lang="en-US" altLang="zh-CN" sz="3200">
                  <a:ea typeface="华文新魏" panose="02010800040101010101" pitchFamily="2" charset="-122"/>
                </a:rPr>
                <a:t> |&lt;1,</a:t>
              </a:r>
              <a:endParaRPr lang="en-US" altLang="zh-CN" sz="3200">
                <a:ea typeface="华文新魏" panose="02010800040101010101" pitchFamily="2" charset="-122"/>
              </a:endParaRPr>
            </a:p>
          </p:txBody>
        </p:sp>
        <p:graphicFrame>
          <p:nvGraphicFramePr>
            <p:cNvPr id="92177" name="Object 16"/>
            <p:cNvGraphicFramePr>
              <a:graphicFrameLocks noChangeAspect="1"/>
            </p:cNvGraphicFramePr>
            <p:nvPr/>
          </p:nvGraphicFramePr>
          <p:xfrm>
            <a:off x="1129" y="2444"/>
            <a:ext cx="270" cy="292"/>
          </p:xfrm>
          <a:graphic>
            <a:graphicData uri="http://schemas.openxmlformats.org/presentationml/2006/ole">
              <mc:AlternateContent xmlns:mc="http://schemas.openxmlformats.org/markup-compatibility/2006">
                <mc:Choice xmlns:v="urn:schemas-microsoft-com:vml" Requires="v">
                  <p:oleObj spid="_x0000_s92426" name="公式" r:id="rId5" imgW="66675" imgH="76835" progId="Equation.3">
                    <p:embed/>
                  </p:oleObj>
                </mc:Choice>
                <mc:Fallback>
                  <p:oleObj name="公式" r:id="rId5" imgW="66675" imgH="76835"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9" y="2444"/>
                          <a:ext cx="270"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17"/>
          <p:cNvGrpSpPr/>
          <p:nvPr/>
        </p:nvGrpSpPr>
        <p:grpSpPr bwMode="auto">
          <a:xfrm>
            <a:off x="841375" y="4608513"/>
            <a:ext cx="8247063" cy="579437"/>
            <a:chOff x="360" y="2784"/>
            <a:chExt cx="5195" cy="365"/>
          </a:xfrm>
        </p:grpSpPr>
        <p:sp>
          <p:nvSpPr>
            <p:cNvPr id="92174" name="Rectangle 18"/>
            <p:cNvSpPr>
              <a:spLocks noChangeArrowheads="1"/>
            </p:cNvSpPr>
            <p:nvPr/>
          </p:nvSpPr>
          <p:spPr bwMode="auto">
            <a:xfrm>
              <a:off x="360" y="2784"/>
              <a:ext cx="519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a:ea typeface="华文新魏" panose="02010800040101010101" pitchFamily="2" charset="-122"/>
                </a:rPr>
                <a:t>| </a:t>
              </a:r>
              <a:r>
                <a:rPr lang="en-US" altLang="zh-CN" sz="3200">
                  <a:ea typeface="华文新魏" panose="02010800040101010101" pitchFamily="2" charset="-122"/>
                  <a:sym typeface="Math1"/>
                </a:rPr>
                <a:t>  </a:t>
              </a:r>
              <a:r>
                <a:rPr lang="en-US" altLang="zh-CN" sz="3200">
                  <a:ea typeface="华文新魏" panose="02010800040101010101" pitchFamily="2" charset="-122"/>
                </a:rPr>
                <a:t> |</a:t>
              </a:r>
              <a:r>
                <a:rPr lang="zh-CN" altLang="en-US" sz="3200">
                  <a:ea typeface="华文新魏" panose="02010800040101010101" pitchFamily="2" charset="-122"/>
                </a:rPr>
                <a:t>的值越接近于</a:t>
              </a:r>
              <a:r>
                <a:rPr lang="en-US" altLang="zh-CN" sz="3200">
                  <a:ea typeface="华文新魏" panose="02010800040101010101" pitchFamily="2" charset="-122"/>
                </a:rPr>
                <a:t>1, </a:t>
              </a:r>
              <a:r>
                <a:rPr lang="en-US" altLang="zh-CN" sz="3200" i="1">
                  <a:ea typeface="华文新魏" panose="02010800040101010101" pitchFamily="2" charset="-122"/>
                </a:rPr>
                <a:t>Y</a:t>
              </a:r>
              <a:r>
                <a:rPr lang="zh-CN" altLang="en-US" sz="3200">
                  <a:ea typeface="华文新魏" panose="02010800040101010101" pitchFamily="2" charset="-122"/>
                </a:rPr>
                <a:t>与</a:t>
              </a:r>
              <a:r>
                <a:rPr lang="en-US" altLang="zh-CN" sz="3200" i="1">
                  <a:ea typeface="华文新魏" panose="02010800040101010101" pitchFamily="2" charset="-122"/>
                </a:rPr>
                <a:t>X</a:t>
              </a:r>
              <a:r>
                <a:rPr lang="zh-CN" altLang="en-US" sz="3200">
                  <a:ea typeface="华文新魏" panose="02010800040101010101" pitchFamily="2" charset="-122"/>
                </a:rPr>
                <a:t>的线性相关程度越高</a:t>
              </a:r>
              <a:r>
                <a:rPr lang="en-US" altLang="zh-CN" sz="3200">
                  <a:ea typeface="华文新魏" panose="02010800040101010101" pitchFamily="2" charset="-122"/>
                </a:rPr>
                <a:t>;</a:t>
              </a:r>
              <a:endParaRPr lang="en-US" altLang="zh-CN" sz="3200">
                <a:ea typeface="华文新魏" panose="02010800040101010101" pitchFamily="2" charset="-122"/>
              </a:endParaRPr>
            </a:p>
          </p:txBody>
        </p:sp>
        <p:graphicFrame>
          <p:nvGraphicFramePr>
            <p:cNvPr id="92175" name="Object 19"/>
            <p:cNvGraphicFramePr>
              <a:graphicFrameLocks noChangeAspect="1"/>
            </p:cNvGraphicFramePr>
            <p:nvPr/>
          </p:nvGraphicFramePr>
          <p:xfrm>
            <a:off x="457" y="2832"/>
            <a:ext cx="270" cy="292"/>
          </p:xfrm>
          <a:graphic>
            <a:graphicData uri="http://schemas.openxmlformats.org/presentationml/2006/ole">
              <mc:AlternateContent xmlns:mc="http://schemas.openxmlformats.org/markup-compatibility/2006">
                <mc:Choice xmlns:v="urn:schemas-microsoft-com:vml" Requires="v">
                  <p:oleObj spid="_x0000_s92427" name="公式" r:id="rId7" imgW="66675" imgH="76835" progId="Equation.3">
                    <p:embed/>
                  </p:oleObj>
                </mc:Choice>
                <mc:Fallback>
                  <p:oleObj name="公式" r:id="rId7" imgW="66675" imgH="76835"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 y="2832"/>
                          <a:ext cx="270"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20"/>
          <p:cNvGrpSpPr/>
          <p:nvPr/>
        </p:nvGrpSpPr>
        <p:grpSpPr bwMode="auto">
          <a:xfrm>
            <a:off x="850900" y="5370513"/>
            <a:ext cx="8235950" cy="579437"/>
            <a:chOff x="460" y="3312"/>
            <a:chExt cx="5188" cy="365"/>
          </a:xfrm>
        </p:grpSpPr>
        <p:sp>
          <p:nvSpPr>
            <p:cNvPr id="92172" name="Rectangle 21"/>
            <p:cNvSpPr>
              <a:spLocks noChangeArrowheads="1"/>
            </p:cNvSpPr>
            <p:nvPr/>
          </p:nvSpPr>
          <p:spPr bwMode="auto">
            <a:xfrm>
              <a:off x="460" y="3312"/>
              <a:ext cx="518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a:ea typeface="华文新魏" panose="02010800040101010101" pitchFamily="2" charset="-122"/>
                </a:rPr>
                <a:t>| </a:t>
              </a:r>
              <a:r>
                <a:rPr lang="en-US" altLang="zh-CN" sz="3200">
                  <a:ea typeface="华文新魏" panose="02010800040101010101" pitchFamily="2" charset="-122"/>
                  <a:sym typeface="Math1"/>
                </a:rPr>
                <a:t>  </a:t>
              </a:r>
              <a:r>
                <a:rPr lang="en-US" altLang="zh-CN" sz="3200">
                  <a:ea typeface="华文新魏" panose="02010800040101010101" pitchFamily="2" charset="-122"/>
                </a:rPr>
                <a:t> |</a:t>
              </a:r>
              <a:r>
                <a:rPr lang="zh-CN" altLang="en-US" sz="3200">
                  <a:ea typeface="华文新魏" panose="02010800040101010101" pitchFamily="2" charset="-122"/>
                </a:rPr>
                <a:t>的值越接近于</a:t>
              </a:r>
              <a:r>
                <a:rPr lang="en-US" altLang="zh-CN" sz="3200">
                  <a:ea typeface="华文新魏" panose="02010800040101010101" pitchFamily="2" charset="-122"/>
                </a:rPr>
                <a:t>0, </a:t>
              </a:r>
              <a:r>
                <a:rPr lang="en-US" altLang="zh-CN" sz="3200" i="1">
                  <a:ea typeface="华文新魏" panose="02010800040101010101" pitchFamily="2" charset="-122"/>
                </a:rPr>
                <a:t>Y</a:t>
              </a:r>
              <a:r>
                <a:rPr lang="zh-CN" altLang="en-US" sz="3200">
                  <a:ea typeface="华文新魏" panose="02010800040101010101" pitchFamily="2" charset="-122"/>
                </a:rPr>
                <a:t>与</a:t>
              </a:r>
              <a:r>
                <a:rPr lang="en-US" altLang="zh-CN" sz="3200" i="1">
                  <a:ea typeface="华文新魏" panose="02010800040101010101" pitchFamily="2" charset="-122"/>
                </a:rPr>
                <a:t>X</a:t>
              </a:r>
              <a:r>
                <a:rPr lang="zh-CN" altLang="en-US" sz="3200">
                  <a:ea typeface="华文新魏" panose="02010800040101010101" pitchFamily="2" charset="-122"/>
                </a:rPr>
                <a:t>的线性相关程度越弱</a:t>
              </a:r>
              <a:r>
                <a:rPr lang="en-US" altLang="zh-CN" sz="3200">
                  <a:ea typeface="华文新魏" panose="02010800040101010101" pitchFamily="2" charset="-122"/>
                </a:rPr>
                <a:t>.</a:t>
              </a:r>
              <a:endParaRPr lang="en-US" altLang="zh-CN" sz="3200">
                <a:ea typeface="华文新魏" panose="02010800040101010101" pitchFamily="2" charset="-122"/>
              </a:endParaRPr>
            </a:p>
          </p:txBody>
        </p:sp>
        <p:graphicFrame>
          <p:nvGraphicFramePr>
            <p:cNvPr id="92173" name="Object 22"/>
            <p:cNvGraphicFramePr>
              <a:graphicFrameLocks noChangeAspect="1"/>
            </p:cNvGraphicFramePr>
            <p:nvPr/>
          </p:nvGraphicFramePr>
          <p:xfrm>
            <a:off x="546" y="3360"/>
            <a:ext cx="270" cy="292"/>
          </p:xfrm>
          <a:graphic>
            <a:graphicData uri="http://schemas.openxmlformats.org/presentationml/2006/ole">
              <mc:AlternateContent xmlns:mc="http://schemas.openxmlformats.org/markup-compatibility/2006">
                <mc:Choice xmlns:v="urn:schemas-microsoft-com:vml" Requires="v">
                  <p:oleObj spid="_x0000_s92428" name="公式" r:id="rId9" imgW="66675" imgH="76835" progId="Equation.3">
                    <p:embed/>
                  </p:oleObj>
                </mc:Choice>
                <mc:Fallback>
                  <p:oleObj name="公式" r:id="rId9" imgW="66675" imgH="76835" progId="Equation.3">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6" y="3360"/>
                          <a:ext cx="270"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Group 26"/>
          <p:cNvGrpSpPr/>
          <p:nvPr/>
        </p:nvGrpSpPr>
        <p:grpSpPr bwMode="auto">
          <a:xfrm>
            <a:off x="2174875" y="1819275"/>
            <a:ext cx="4953000" cy="579438"/>
            <a:chOff x="1370" y="979"/>
            <a:chExt cx="3120" cy="365"/>
          </a:xfrm>
        </p:grpSpPr>
        <p:sp>
          <p:nvSpPr>
            <p:cNvPr id="92170" name="Rectangle 24"/>
            <p:cNvSpPr>
              <a:spLocks noChangeArrowheads="1"/>
            </p:cNvSpPr>
            <p:nvPr/>
          </p:nvSpPr>
          <p:spPr bwMode="auto">
            <a:xfrm>
              <a:off x="1370" y="979"/>
              <a:ext cx="3120" cy="36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i="1">
                  <a:ea typeface="华文新魏" panose="02010800040101010101" pitchFamily="2" charset="-122"/>
                </a:rPr>
                <a:t>E</a:t>
              </a:r>
              <a:r>
                <a:rPr lang="en-US" altLang="zh-CN" sz="3200">
                  <a:ea typeface="华文新魏" panose="02010800040101010101" pitchFamily="2" charset="-122"/>
                </a:rPr>
                <a:t>[(</a:t>
              </a:r>
              <a:r>
                <a:rPr lang="en-US" altLang="zh-CN" sz="3200" i="1">
                  <a:ea typeface="华文新魏" panose="02010800040101010101" pitchFamily="2" charset="-122"/>
                </a:rPr>
                <a:t>Y</a:t>
              </a:r>
              <a:r>
                <a:rPr lang="en-US" altLang="zh-CN" sz="3200">
                  <a:ea typeface="华文新魏" panose="02010800040101010101" pitchFamily="2" charset="-122"/>
                </a:rPr>
                <a:t>-</a:t>
              </a:r>
              <a:r>
                <a:rPr lang="en-US" altLang="zh-CN" sz="3200" i="1">
                  <a:ea typeface="华文新魏" panose="02010800040101010101" pitchFamily="2" charset="-122"/>
                </a:rPr>
                <a:t>L</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a:ea typeface="华文新魏" panose="02010800040101010101" pitchFamily="2" charset="-122"/>
                </a:rPr>
                <a:t>))</a:t>
              </a:r>
              <a:r>
                <a:rPr lang="en-US" altLang="zh-CN" sz="3200" baseline="30000">
                  <a:ea typeface="华文新魏" panose="02010800040101010101" pitchFamily="2" charset="-122"/>
                </a:rPr>
                <a:t>2</a:t>
              </a:r>
              <a:r>
                <a:rPr lang="en-US" altLang="zh-CN" sz="3200">
                  <a:ea typeface="华文新魏" panose="02010800040101010101" pitchFamily="2" charset="-122"/>
                </a:rPr>
                <a:t>]= </a:t>
              </a:r>
              <a:r>
                <a:rPr lang="en-US" altLang="zh-CN" sz="3200" i="1">
                  <a:ea typeface="华文新魏" panose="02010800040101010101" pitchFamily="2" charset="-122"/>
                </a:rPr>
                <a:t>D</a:t>
              </a:r>
              <a:r>
                <a:rPr lang="en-US" altLang="zh-CN" sz="3200">
                  <a:ea typeface="华文新魏" panose="02010800040101010101" pitchFamily="2" charset="-122"/>
                </a:rPr>
                <a:t>(</a:t>
              </a:r>
              <a:r>
                <a:rPr lang="en-US" altLang="zh-CN" sz="3200" i="1">
                  <a:ea typeface="华文新魏" panose="02010800040101010101" pitchFamily="2" charset="-122"/>
                </a:rPr>
                <a:t>Y</a:t>
              </a:r>
              <a:r>
                <a:rPr lang="en-US" altLang="zh-CN" sz="3200">
                  <a:ea typeface="华文新魏" panose="02010800040101010101" pitchFamily="2" charset="-122"/>
                </a:rPr>
                <a:t>)(1-</a:t>
              </a:r>
              <a:r>
                <a:rPr lang="en-US" altLang="zh-CN" sz="3200" baseline="30000">
                  <a:ea typeface="华文新魏" panose="02010800040101010101" pitchFamily="2" charset="-122"/>
                </a:rPr>
                <a:t>        </a:t>
              </a:r>
              <a:r>
                <a:rPr lang="en-US" altLang="zh-CN" sz="3200">
                  <a:ea typeface="华文新魏" panose="02010800040101010101" pitchFamily="2" charset="-122"/>
                </a:rPr>
                <a:t>)</a:t>
              </a:r>
              <a:endParaRPr lang="en-US" altLang="zh-CN" sz="3200">
                <a:ea typeface="华文新魏" panose="02010800040101010101" pitchFamily="2" charset="-122"/>
              </a:endParaRPr>
            </a:p>
          </p:txBody>
        </p:sp>
        <p:graphicFrame>
          <p:nvGraphicFramePr>
            <p:cNvPr id="92171" name="Object 25"/>
            <p:cNvGraphicFramePr>
              <a:graphicFrameLocks noChangeAspect="1"/>
            </p:cNvGraphicFramePr>
            <p:nvPr/>
          </p:nvGraphicFramePr>
          <p:xfrm>
            <a:off x="3916" y="1008"/>
            <a:ext cx="308" cy="326"/>
          </p:xfrm>
          <a:graphic>
            <a:graphicData uri="http://schemas.openxmlformats.org/presentationml/2006/ole">
              <mc:AlternateContent xmlns:mc="http://schemas.openxmlformats.org/markup-compatibility/2006">
                <mc:Choice xmlns:v="urn:schemas-microsoft-com:vml" Requires="v">
                  <p:oleObj spid="_x0000_s92429" name="公式" r:id="rId11" imgW="114300" imgH="144145" progId="Equation.3">
                    <p:embed/>
                  </p:oleObj>
                </mc:Choice>
                <mc:Fallback>
                  <p:oleObj name="公式" r:id="rId11" imgW="114300" imgH="144145" progId="Equation.3">
                    <p:embed/>
                    <p:pic>
                      <p:nvPicPr>
                        <p:cNvPr id="0"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16" y="1008"/>
                          <a:ext cx="308" cy="326"/>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821"/>
                                        </p:tgtEl>
                                        <p:attrNameLst>
                                          <p:attrName>style.visibility</p:attrName>
                                        </p:attrNameLst>
                                      </p:cBhvr>
                                      <p:to>
                                        <p:strVal val="visible"/>
                                      </p:to>
                                    </p:set>
                                    <p:animEffect transition="in" filter="wipe(left)">
                                      <p:cBhvr>
                                        <p:cTn id="7" dur="500"/>
                                        <p:tgtEl>
                                          <p:spTgt spid="16282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lef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left)">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right)">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wipe(right)">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1"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
          <p:cNvGrpSpPr/>
          <p:nvPr/>
        </p:nvGrpSpPr>
        <p:grpSpPr bwMode="auto">
          <a:xfrm>
            <a:off x="2195513" y="836613"/>
            <a:ext cx="4953000" cy="579437"/>
            <a:chOff x="1392" y="528"/>
            <a:chExt cx="3120" cy="365"/>
          </a:xfrm>
        </p:grpSpPr>
        <p:sp>
          <p:nvSpPr>
            <p:cNvPr id="93191" name="Rectangle 6"/>
            <p:cNvSpPr>
              <a:spLocks noChangeArrowheads="1"/>
            </p:cNvSpPr>
            <p:nvPr/>
          </p:nvSpPr>
          <p:spPr bwMode="auto">
            <a:xfrm>
              <a:off x="1392" y="528"/>
              <a:ext cx="3120" cy="36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i="1">
                  <a:ea typeface="华文新魏" panose="02010800040101010101" pitchFamily="2" charset="-122"/>
                </a:rPr>
                <a:t>E</a:t>
              </a:r>
              <a:r>
                <a:rPr lang="en-US" altLang="zh-CN" sz="3200">
                  <a:ea typeface="华文新魏" panose="02010800040101010101" pitchFamily="2" charset="-122"/>
                </a:rPr>
                <a:t>[(</a:t>
              </a:r>
              <a:r>
                <a:rPr lang="en-US" altLang="zh-CN" sz="3200" i="1">
                  <a:ea typeface="华文新魏" panose="02010800040101010101" pitchFamily="2" charset="-122"/>
                </a:rPr>
                <a:t>Y</a:t>
              </a:r>
              <a:r>
                <a:rPr lang="en-US" altLang="zh-CN" sz="3200">
                  <a:ea typeface="华文新魏" panose="02010800040101010101" pitchFamily="2" charset="-122"/>
                </a:rPr>
                <a:t>-</a:t>
              </a:r>
              <a:r>
                <a:rPr lang="en-US" altLang="zh-CN" sz="3200" i="1">
                  <a:ea typeface="华文新魏" panose="02010800040101010101" pitchFamily="2" charset="-122"/>
                </a:rPr>
                <a:t>L</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a:ea typeface="华文新魏" panose="02010800040101010101" pitchFamily="2" charset="-122"/>
                </a:rPr>
                <a:t>))</a:t>
              </a:r>
              <a:r>
                <a:rPr lang="en-US" altLang="zh-CN" sz="3200" baseline="30000">
                  <a:ea typeface="华文新魏" panose="02010800040101010101" pitchFamily="2" charset="-122"/>
                </a:rPr>
                <a:t>2</a:t>
              </a:r>
              <a:r>
                <a:rPr lang="en-US" altLang="zh-CN" sz="3200">
                  <a:ea typeface="华文新魏" panose="02010800040101010101" pitchFamily="2" charset="-122"/>
                </a:rPr>
                <a:t>]= </a:t>
              </a:r>
              <a:r>
                <a:rPr lang="en-US" altLang="zh-CN" sz="3200" i="1">
                  <a:ea typeface="华文新魏" panose="02010800040101010101" pitchFamily="2" charset="-122"/>
                </a:rPr>
                <a:t>D</a:t>
              </a:r>
              <a:r>
                <a:rPr lang="en-US" altLang="zh-CN" sz="3200">
                  <a:ea typeface="华文新魏" panose="02010800040101010101" pitchFamily="2" charset="-122"/>
                </a:rPr>
                <a:t>(</a:t>
              </a:r>
              <a:r>
                <a:rPr lang="en-US" altLang="zh-CN" sz="3200" i="1">
                  <a:ea typeface="华文新魏" panose="02010800040101010101" pitchFamily="2" charset="-122"/>
                </a:rPr>
                <a:t>Y</a:t>
              </a:r>
              <a:r>
                <a:rPr lang="en-US" altLang="zh-CN" sz="3200">
                  <a:ea typeface="华文新魏" panose="02010800040101010101" pitchFamily="2" charset="-122"/>
                </a:rPr>
                <a:t>)(1-</a:t>
              </a:r>
              <a:r>
                <a:rPr lang="en-US" altLang="zh-CN" sz="3200" baseline="30000">
                  <a:ea typeface="华文新魏" panose="02010800040101010101" pitchFamily="2" charset="-122"/>
                </a:rPr>
                <a:t>          </a:t>
              </a:r>
              <a:r>
                <a:rPr lang="en-US" altLang="zh-CN" sz="3200">
                  <a:ea typeface="华文新魏" panose="02010800040101010101" pitchFamily="2" charset="-122"/>
                </a:rPr>
                <a:t>)</a:t>
              </a:r>
              <a:endParaRPr lang="en-US" altLang="zh-CN" sz="3200">
                <a:ea typeface="华文新魏" panose="02010800040101010101" pitchFamily="2" charset="-122"/>
              </a:endParaRPr>
            </a:p>
          </p:txBody>
        </p:sp>
        <p:graphicFrame>
          <p:nvGraphicFramePr>
            <p:cNvPr id="93192" name="Object 7"/>
            <p:cNvGraphicFramePr>
              <a:graphicFrameLocks noChangeAspect="1"/>
            </p:cNvGraphicFramePr>
            <p:nvPr/>
          </p:nvGraphicFramePr>
          <p:xfrm>
            <a:off x="3936" y="538"/>
            <a:ext cx="333" cy="326"/>
          </p:xfrm>
          <a:graphic>
            <a:graphicData uri="http://schemas.openxmlformats.org/presentationml/2006/ole">
              <mc:AlternateContent xmlns:mc="http://schemas.openxmlformats.org/markup-compatibility/2006">
                <mc:Choice xmlns:v="urn:schemas-microsoft-com:vml" Requires="v">
                  <p:oleObj spid="_x0000_s93313" name="Equation" r:id="rId1" imgW="114300" imgH="144145" progId="Equation.DSMT4">
                    <p:embed/>
                  </p:oleObj>
                </mc:Choice>
                <mc:Fallback>
                  <p:oleObj name="Equation" r:id="rId1" imgW="114300" imgH="144145" progId="Equation.DSMT4">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6" y="538"/>
                          <a:ext cx="333" cy="326"/>
                        </a:xfrm>
                        <a:prstGeom prst="rect">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0427" name="Group 11"/>
          <p:cNvGrpSpPr/>
          <p:nvPr/>
        </p:nvGrpSpPr>
        <p:grpSpPr bwMode="auto">
          <a:xfrm>
            <a:off x="1187450" y="1773238"/>
            <a:ext cx="7399338" cy="2528887"/>
            <a:chOff x="748" y="1117"/>
            <a:chExt cx="4608" cy="1593"/>
          </a:xfrm>
        </p:grpSpPr>
        <p:sp>
          <p:nvSpPr>
            <p:cNvPr id="93188" name="Rectangle 4"/>
            <p:cNvSpPr>
              <a:spLocks noChangeArrowheads="1"/>
            </p:cNvSpPr>
            <p:nvPr/>
          </p:nvSpPr>
          <p:spPr bwMode="auto">
            <a:xfrm>
              <a:off x="748" y="1117"/>
              <a:ext cx="4608" cy="1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3200">
                  <a:ea typeface="华文新魏" panose="02010800040101010101" pitchFamily="2" charset="-122"/>
                </a:rPr>
                <a:t>        </a:t>
              </a:r>
              <a:r>
                <a:rPr lang="zh-CN" altLang="en-US" sz="3200">
                  <a:ea typeface="华文新魏" panose="02010800040101010101" pitchFamily="2" charset="-122"/>
                </a:rPr>
                <a:t>当</a:t>
              </a:r>
              <a:r>
                <a:rPr lang="en-US" altLang="zh-CN" sz="3200" i="1">
                  <a:ea typeface="华文新魏" panose="02010800040101010101" pitchFamily="2" charset="-122"/>
                </a:rPr>
                <a:t>ρ</a:t>
              </a:r>
              <a:r>
                <a:rPr lang="en-US" altLang="zh-CN" sz="3200">
                  <a:ea typeface="华文新魏" panose="02010800040101010101" pitchFamily="2" charset="-122"/>
                </a:rPr>
                <a:t> &gt;0</a:t>
              </a:r>
              <a:r>
                <a:rPr lang="zh-CN" altLang="en-US" sz="3200">
                  <a:ea typeface="华文新魏" panose="02010800040101010101" pitchFamily="2" charset="-122"/>
                </a:rPr>
                <a:t>时，</a:t>
              </a:r>
              <a:r>
                <a:rPr lang="en-US" altLang="zh-CN" sz="3200">
                  <a:ea typeface="华文新魏" panose="02010800040101010101" pitchFamily="2" charset="-122"/>
                </a:rPr>
                <a:t>L(</a:t>
              </a:r>
              <a:r>
                <a:rPr lang="en-US" altLang="zh-CN" sz="3200" i="1">
                  <a:ea typeface="华文新魏" panose="02010800040101010101" pitchFamily="2" charset="-122"/>
                </a:rPr>
                <a:t>X</a:t>
              </a:r>
              <a:r>
                <a:rPr lang="en-US" altLang="zh-CN" sz="3200">
                  <a:ea typeface="华文新魏" panose="02010800040101010101" pitchFamily="2" charset="-122"/>
                </a:rPr>
                <a:t>)</a:t>
              </a:r>
              <a:r>
                <a:rPr lang="zh-CN" altLang="en-US" sz="3200">
                  <a:ea typeface="华文新魏" panose="02010800040101010101" pitchFamily="2" charset="-122"/>
                </a:rPr>
                <a:t>中</a:t>
              </a:r>
              <a:r>
                <a:rPr lang="en-US" altLang="zh-CN" sz="3200" i="1">
                  <a:ea typeface="华文新魏" panose="02010800040101010101" pitchFamily="2" charset="-122"/>
                </a:rPr>
                <a:t>X</a:t>
              </a:r>
              <a:r>
                <a:rPr lang="zh-CN" altLang="en-US" sz="3200">
                  <a:ea typeface="华文新魏" panose="02010800040101010101" pitchFamily="2" charset="-122"/>
                </a:rPr>
                <a:t>的系数大于</a:t>
              </a:r>
              <a:r>
                <a:rPr lang="en-US" altLang="zh-CN" sz="3200">
                  <a:ea typeface="华文新魏" panose="02010800040101010101" pitchFamily="2" charset="-122"/>
                </a:rPr>
                <a:t>0,</a:t>
              </a:r>
              <a:r>
                <a:rPr lang="zh-CN" altLang="en-US" sz="3200">
                  <a:ea typeface="华文新魏" panose="02010800040101010101" pitchFamily="2" charset="-122"/>
                </a:rPr>
                <a:t>即</a:t>
              </a:r>
              <a:r>
                <a:rPr lang="en-US" altLang="zh-CN" sz="3200" i="1">
                  <a:ea typeface="华文新魏" panose="02010800040101010101" pitchFamily="2" charset="-122"/>
                </a:rPr>
                <a:t>Y </a:t>
              </a:r>
              <a:r>
                <a:rPr lang="zh-CN" altLang="en-US" sz="3200">
                  <a:ea typeface="华文新魏" panose="02010800040101010101" pitchFamily="2" charset="-122"/>
                </a:rPr>
                <a:t>的最佳逼近               随</a:t>
              </a:r>
              <a:r>
                <a:rPr lang="en-US" altLang="zh-CN" sz="3200" i="1">
                  <a:ea typeface="华文新魏" panose="02010800040101010101" pitchFamily="2" charset="-122"/>
                </a:rPr>
                <a:t>X</a:t>
              </a:r>
              <a:r>
                <a:rPr lang="zh-CN" altLang="en-US" sz="3200">
                  <a:ea typeface="华文新魏" panose="02010800040101010101" pitchFamily="2" charset="-122"/>
                </a:rPr>
                <a:t>增加而增加</a:t>
              </a:r>
              <a:r>
                <a:rPr lang="en-US" altLang="zh-CN" sz="3200">
                  <a:ea typeface="华文新魏" panose="02010800040101010101" pitchFamily="2" charset="-122"/>
                </a:rPr>
                <a:t>,  </a:t>
              </a:r>
              <a:r>
                <a:rPr lang="zh-CN" altLang="en-US" sz="3200">
                  <a:ea typeface="华文新魏" panose="02010800040101010101" pitchFamily="2" charset="-122"/>
                </a:rPr>
                <a:t>这就是正向相关；反之</a:t>
              </a:r>
              <a:r>
                <a:rPr lang="en-US" altLang="zh-CN" sz="3200">
                  <a:ea typeface="华文新魏" panose="02010800040101010101" pitchFamily="2" charset="-122"/>
                </a:rPr>
                <a:t>, </a:t>
              </a:r>
              <a:r>
                <a:rPr lang="en-US" altLang="zh-CN" sz="3200" i="1">
                  <a:ea typeface="华文新魏" panose="02010800040101010101" pitchFamily="2" charset="-122"/>
                </a:rPr>
                <a:t>ρ</a:t>
              </a:r>
              <a:r>
                <a:rPr lang="en-US" altLang="zh-CN" sz="3200">
                  <a:ea typeface="华文新魏" panose="02010800040101010101" pitchFamily="2" charset="-122"/>
                </a:rPr>
                <a:t> &lt;0</a:t>
              </a:r>
              <a:r>
                <a:rPr lang="zh-CN" altLang="en-US" sz="3200">
                  <a:ea typeface="华文新魏" panose="02010800040101010101" pitchFamily="2" charset="-122"/>
                </a:rPr>
                <a:t>表示负向相关，此时</a:t>
              </a:r>
              <a:r>
                <a:rPr lang="en-US" altLang="zh-CN" sz="3200" i="1">
                  <a:ea typeface="华文新魏" panose="02010800040101010101" pitchFamily="2" charset="-122"/>
                </a:rPr>
                <a:t>Y</a:t>
              </a:r>
              <a:r>
                <a:rPr lang="zh-CN" altLang="en-US" sz="3200">
                  <a:ea typeface="华文新魏" panose="02010800040101010101" pitchFamily="2" charset="-122"/>
                </a:rPr>
                <a:t>的最佳逼近               随</a:t>
              </a:r>
              <a:r>
                <a:rPr lang="en-US" altLang="zh-CN" sz="3200" i="1">
                  <a:ea typeface="华文新魏" panose="02010800040101010101" pitchFamily="2" charset="-122"/>
                </a:rPr>
                <a:t>X</a:t>
              </a:r>
              <a:r>
                <a:rPr lang="zh-CN" altLang="en-US" sz="3200">
                  <a:ea typeface="华文新魏" panose="02010800040101010101" pitchFamily="2" charset="-122"/>
                </a:rPr>
                <a:t>增加而减小</a:t>
              </a:r>
              <a:r>
                <a:rPr lang="en-US" altLang="zh-CN" sz="3200">
                  <a:ea typeface="华文新魏" panose="02010800040101010101" pitchFamily="2" charset="-122"/>
                </a:rPr>
                <a:t>.</a:t>
              </a:r>
              <a:endParaRPr lang="en-US" altLang="zh-CN" sz="3200">
                <a:ea typeface="华文新魏" panose="02010800040101010101" pitchFamily="2" charset="-122"/>
              </a:endParaRPr>
            </a:p>
          </p:txBody>
        </p:sp>
        <p:graphicFrame>
          <p:nvGraphicFramePr>
            <p:cNvPr id="93189" name="Object 8"/>
            <p:cNvGraphicFramePr>
              <a:graphicFrameLocks noChangeAspect="1"/>
            </p:cNvGraphicFramePr>
            <p:nvPr/>
          </p:nvGraphicFramePr>
          <p:xfrm>
            <a:off x="2093" y="1434"/>
            <a:ext cx="908" cy="372"/>
          </p:xfrm>
          <a:graphic>
            <a:graphicData uri="http://schemas.openxmlformats.org/presentationml/2006/ole">
              <mc:AlternateContent xmlns:mc="http://schemas.openxmlformats.org/markup-compatibility/2006">
                <mc:Choice xmlns:v="urn:schemas-microsoft-com:vml" Requires="v">
                  <p:oleObj spid="_x0000_s93314" name="Equation" r:id="rId3" imgW="558800" imgH="228600" progId="Equation.DSMT4">
                    <p:embed/>
                  </p:oleObj>
                </mc:Choice>
                <mc:Fallback>
                  <p:oleObj name="Equation" r:id="rId3" imgW="558800" imgH="2286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3" y="1434"/>
                          <a:ext cx="908" cy="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3190" name="Object 9"/>
            <p:cNvGraphicFramePr>
              <a:graphicFrameLocks noChangeAspect="1"/>
            </p:cNvGraphicFramePr>
            <p:nvPr/>
          </p:nvGraphicFramePr>
          <p:xfrm>
            <a:off x="3059" y="2024"/>
            <a:ext cx="908" cy="372"/>
          </p:xfrm>
          <a:graphic>
            <a:graphicData uri="http://schemas.openxmlformats.org/presentationml/2006/ole">
              <mc:AlternateContent xmlns:mc="http://schemas.openxmlformats.org/markup-compatibility/2006">
                <mc:Choice xmlns:v="urn:schemas-microsoft-com:vml" Requires="v">
                  <p:oleObj spid="_x0000_s93315" name="Equation" r:id="rId5" imgW="558800" imgH="228600" progId="Equation.DSMT4">
                    <p:embed/>
                  </p:oleObj>
                </mc:Choice>
                <mc:Fallback>
                  <p:oleObj name="Equation" r:id="rId5" imgW="558800" imgH="2286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 y="2024"/>
                          <a:ext cx="908" cy="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04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2"/>
          <p:cNvSpPr txBox="1">
            <a:spLocks noChangeArrowheads="1"/>
          </p:cNvSpPr>
          <p:nvPr/>
        </p:nvSpPr>
        <p:spPr bwMode="auto">
          <a:xfrm>
            <a:off x="609600" y="476250"/>
            <a:ext cx="75628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a:solidFill>
                  <a:srgbClr val="33CCFF"/>
                </a:solidFill>
                <a:latin typeface="宋体" panose="02010600030101010101" pitchFamily="2" charset="-122"/>
              </a:rPr>
              <a:t>　　</a:t>
            </a:r>
            <a:r>
              <a:rPr lang="zh-CN" altLang="en-US" sz="2200" b="1">
                <a:solidFill>
                  <a:srgbClr val="5050CC"/>
                </a:solidFill>
                <a:latin typeface="宋体" panose="02010600030101010101" pitchFamily="2" charset="-122"/>
              </a:rPr>
              <a:t>例</a:t>
            </a:r>
            <a:r>
              <a:rPr lang="zh-CN" altLang="en-US" sz="2200">
                <a:latin typeface="宋体" panose="02010600030101010101" pitchFamily="2" charset="-122"/>
              </a:rPr>
              <a:t>　设</a:t>
            </a:r>
            <a:r>
              <a:rPr lang="zh-CN" altLang="en-US" sz="2200">
                <a:ea typeface="楷体_GB2312" pitchFamily="49" charset="-122"/>
              </a:rPr>
              <a:t> </a:t>
            </a:r>
            <a:r>
              <a:rPr lang="en-US" altLang="zh-CN" sz="2200">
                <a:ea typeface="楷体_GB2312" pitchFamily="49" charset="-122"/>
              </a:rPr>
              <a:t>( </a:t>
            </a:r>
            <a:r>
              <a:rPr lang="en-US" altLang="zh-CN" sz="2200" i="1">
                <a:ea typeface="楷体_GB2312" pitchFamily="49" charset="-122"/>
              </a:rPr>
              <a:t>X </a:t>
            </a:r>
            <a:r>
              <a:rPr lang="zh-CN" altLang="en-US" sz="2200" i="1">
                <a:ea typeface="楷体_GB2312" pitchFamily="49" charset="-122"/>
              </a:rPr>
              <a:t>，</a:t>
            </a:r>
            <a:r>
              <a:rPr lang="en-US" altLang="zh-CN" sz="2200" i="1">
                <a:ea typeface="楷体_GB2312" pitchFamily="49" charset="-122"/>
              </a:rPr>
              <a:t>Y  </a:t>
            </a:r>
            <a:r>
              <a:rPr lang="en-US" altLang="zh-CN" sz="2200">
                <a:ea typeface="楷体_GB2312" pitchFamily="49" charset="-122"/>
              </a:rPr>
              <a:t>) ~ </a:t>
            </a:r>
            <a:r>
              <a:rPr lang="en-US" altLang="zh-CN" sz="2200" i="1">
                <a:ea typeface="楷体_GB2312" pitchFamily="49" charset="-122"/>
              </a:rPr>
              <a:t>N </a:t>
            </a:r>
            <a:r>
              <a:rPr lang="en-US" altLang="zh-CN" sz="2200">
                <a:ea typeface="楷体_GB2312" pitchFamily="49" charset="-122"/>
              </a:rPr>
              <a:t>( </a:t>
            </a:r>
            <a:r>
              <a:rPr lang="en-US" altLang="zh-CN" sz="2200" i="1">
                <a:ea typeface="楷体_GB2312" pitchFamily="49" charset="-122"/>
                <a:sym typeface="Symbol" panose="05050102010706020507" pitchFamily="18" charset="2"/>
              </a:rPr>
              <a:t></a:t>
            </a:r>
            <a:r>
              <a:rPr lang="en-US" altLang="zh-CN" sz="2200" baseline="-25000">
                <a:ea typeface="楷体_GB2312" pitchFamily="49" charset="-122"/>
                <a:sym typeface="Symbol" panose="05050102010706020507" pitchFamily="18" charset="2"/>
              </a:rPr>
              <a:t>1</a:t>
            </a:r>
            <a:r>
              <a:rPr lang="zh-CN" altLang="en-US" sz="2200">
                <a:ea typeface="楷体_GB2312" pitchFamily="49" charset="-122"/>
                <a:sym typeface="Symbol" panose="05050102010706020507" pitchFamily="18" charset="2"/>
              </a:rPr>
              <a:t>，</a:t>
            </a:r>
            <a:r>
              <a:rPr lang="zh-CN" altLang="en-US" sz="2200" i="1">
                <a:ea typeface="楷体_GB2312" pitchFamily="49" charset="-122"/>
                <a:sym typeface="Symbol" panose="05050102010706020507" pitchFamily="18" charset="2"/>
              </a:rPr>
              <a:t></a:t>
            </a:r>
            <a:r>
              <a:rPr lang="en-US" altLang="zh-CN" sz="2200" baseline="-25000">
                <a:ea typeface="楷体_GB2312" pitchFamily="49" charset="-122"/>
                <a:sym typeface="Symbol" panose="05050102010706020507" pitchFamily="18" charset="2"/>
              </a:rPr>
              <a:t>1</a:t>
            </a:r>
            <a:r>
              <a:rPr lang="en-US" altLang="zh-CN" sz="2200" baseline="30000">
                <a:ea typeface="楷体_GB2312" pitchFamily="49" charset="-122"/>
                <a:sym typeface="Symbol" panose="05050102010706020507" pitchFamily="18" charset="2"/>
              </a:rPr>
              <a:t>2</a:t>
            </a:r>
            <a:r>
              <a:rPr lang="zh-CN" altLang="en-US" sz="2200">
                <a:ea typeface="楷体_GB2312" pitchFamily="49" charset="-122"/>
                <a:sym typeface="Symbol" panose="05050102010706020507" pitchFamily="18" charset="2"/>
              </a:rPr>
              <a:t>，</a:t>
            </a:r>
            <a:r>
              <a:rPr lang="zh-CN" altLang="en-US" sz="2200" i="1">
                <a:ea typeface="楷体_GB2312" pitchFamily="49" charset="-122"/>
                <a:sym typeface="Symbol" panose="05050102010706020507" pitchFamily="18" charset="2"/>
              </a:rPr>
              <a:t></a:t>
            </a:r>
            <a:r>
              <a:rPr lang="en-US" altLang="zh-CN" sz="2200" baseline="-25000">
                <a:ea typeface="楷体_GB2312" pitchFamily="49" charset="-122"/>
                <a:sym typeface="Symbol" panose="05050102010706020507" pitchFamily="18" charset="2"/>
              </a:rPr>
              <a:t>2</a:t>
            </a:r>
            <a:r>
              <a:rPr lang="zh-CN" altLang="en-US" sz="2200">
                <a:ea typeface="楷体_GB2312" pitchFamily="49" charset="-122"/>
                <a:sym typeface="Symbol" panose="05050102010706020507" pitchFamily="18" charset="2"/>
              </a:rPr>
              <a:t>，</a:t>
            </a:r>
            <a:r>
              <a:rPr lang="zh-CN" altLang="en-US" sz="2200" i="1">
                <a:ea typeface="楷体_GB2312" pitchFamily="49" charset="-122"/>
                <a:sym typeface="Symbol" panose="05050102010706020507" pitchFamily="18" charset="2"/>
              </a:rPr>
              <a:t></a:t>
            </a:r>
            <a:r>
              <a:rPr lang="en-US" altLang="zh-CN" sz="2200" baseline="-25000">
                <a:ea typeface="楷体_GB2312" pitchFamily="49" charset="-122"/>
                <a:sym typeface="Symbol" panose="05050102010706020507" pitchFamily="18" charset="2"/>
              </a:rPr>
              <a:t>2</a:t>
            </a:r>
            <a:r>
              <a:rPr lang="en-US" altLang="zh-CN" sz="2200" baseline="30000">
                <a:ea typeface="楷体_GB2312" pitchFamily="49" charset="-122"/>
                <a:sym typeface="Symbol" panose="05050102010706020507" pitchFamily="18" charset="2"/>
              </a:rPr>
              <a:t>2</a:t>
            </a:r>
            <a:r>
              <a:rPr lang="zh-CN" altLang="en-US" sz="2200">
                <a:ea typeface="楷体_GB2312" pitchFamily="49" charset="-122"/>
                <a:sym typeface="Symbol" panose="05050102010706020507" pitchFamily="18" charset="2"/>
              </a:rPr>
              <a:t>，</a:t>
            </a:r>
            <a:r>
              <a:rPr lang="zh-CN" altLang="en-US" sz="2200" i="1">
                <a:ea typeface="楷体_GB2312" pitchFamily="49" charset="-122"/>
                <a:sym typeface="Symbol" panose="05050102010706020507" pitchFamily="18" charset="2"/>
              </a:rPr>
              <a:t></a:t>
            </a:r>
            <a:r>
              <a:rPr lang="en-US" altLang="zh-CN" sz="2200">
                <a:ea typeface="楷体_GB2312" pitchFamily="49" charset="-122"/>
              </a:rPr>
              <a:t>)</a:t>
            </a:r>
            <a:r>
              <a:rPr lang="zh-CN" altLang="en-US" sz="2200">
                <a:ea typeface="楷体_GB2312" pitchFamily="49" charset="-122"/>
              </a:rPr>
              <a:t>， </a:t>
            </a:r>
            <a:r>
              <a:rPr lang="zh-CN" altLang="en-US" sz="2200">
                <a:latin typeface="宋体" panose="02010600030101010101" pitchFamily="2" charset="-122"/>
              </a:rPr>
              <a:t> 求</a:t>
            </a:r>
            <a:r>
              <a:rPr lang="zh-CN" altLang="en-US" sz="2200">
                <a:ea typeface="楷体_GB2312" pitchFamily="49" charset="-122"/>
              </a:rPr>
              <a:t> </a:t>
            </a:r>
            <a:r>
              <a:rPr lang="zh-CN" altLang="en-US" sz="2200" i="1">
                <a:ea typeface="楷体_GB2312" pitchFamily="49" charset="-122"/>
                <a:sym typeface="Symbol" panose="05050102010706020507" pitchFamily="18" charset="2"/>
              </a:rPr>
              <a:t></a:t>
            </a:r>
            <a:r>
              <a:rPr lang="en-US" altLang="zh-CN" sz="2200" i="1" baseline="-25000">
                <a:ea typeface="楷体_GB2312" pitchFamily="49" charset="-122"/>
                <a:sym typeface="Symbol" panose="05050102010706020507" pitchFamily="18" charset="2"/>
              </a:rPr>
              <a:t>XY </a:t>
            </a:r>
            <a:r>
              <a:rPr lang="zh-CN" altLang="en-US" sz="2200" i="1" baseline="-25000">
                <a:ea typeface="楷体_GB2312" pitchFamily="49" charset="-122"/>
                <a:sym typeface="Symbol" panose="05050102010706020507" pitchFamily="18" charset="2"/>
              </a:rPr>
              <a:t>．</a:t>
            </a:r>
            <a:endParaRPr lang="zh-CN" altLang="en-US" sz="2200">
              <a:ea typeface="楷体_GB2312" pitchFamily="49" charset="-122"/>
            </a:endParaRPr>
          </a:p>
        </p:txBody>
      </p:sp>
      <p:sp>
        <p:nvSpPr>
          <p:cNvPr id="94211" name="Text Box 3"/>
          <p:cNvSpPr txBox="1">
            <a:spLocks noChangeArrowheads="1"/>
          </p:cNvSpPr>
          <p:nvPr/>
        </p:nvSpPr>
        <p:spPr bwMode="auto">
          <a:xfrm>
            <a:off x="1187450" y="1196975"/>
            <a:ext cx="4635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b="1">
                <a:solidFill>
                  <a:srgbClr val="5050CC"/>
                </a:solidFill>
              </a:rPr>
              <a:t>解</a:t>
            </a:r>
            <a:endParaRPr lang="zh-CN" altLang="en-US" sz="2200" b="1">
              <a:solidFill>
                <a:srgbClr val="5050CC"/>
              </a:solidFill>
            </a:endParaRPr>
          </a:p>
        </p:txBody>
      </p:sp>
      <p:graphicFrame>
        <p:nvGraphicFramePr>
          <p:cNvPr id="61442" name="Object 4"/>
          <p:cNvGraphicFramePr>
            <a:graphicFrameLocks noChangeAspect="1"/>
          </p:cNvGraphicFramePr>
          <p:nvPr/>
        </p:nvGraphicFramePr>
        <p:xfrm>
          <a:off x="1908175" y="1196975"/>
          <a:ext cx="5499100" cy="625475"/>
        </p:xfrm>
        <a:graphic>
          <a:graphicData uri="http://schemas.openxmlformats.org/presentationml/2006/ole">
            <mc:AlternateContent xmlns:mc="http://schemas.openxmlformats.org/markup-compatibility/2006">
              <mc:Choice xmlns:v="urn:schemas-microsoft-com:vml" Requires="v">
                <p:oleObj spid="_x0000_s94376" name="Equation" r:id="rId1" imgW="5924550" imgH="558165" progId="Equation.3">
                  <p:embed/>
                </p:oleObj>
              </mc:Choice>
              <mc:Fallback>
                <p:oleObj name="Equation" r:id="rId1" imgW="5924550" imgH="558165"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1196975"/>
                        <a:ext cx="5499100" cy="62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3" name="Object 5"/>
          <p:cNvGraphicFramePr>
            <a:graphicFrameLocks noChangeAspect="1"/>
          </p:cNvGraphicFramePr>
          <p:nvPr/>
        </p:nvGraphicFramePr>
        <p:xfrm>
          <a:off x="971550" y="3001963"/>
          <a:ext cx="7058025" cy="1806575"/>
        </p:xfrm>
        <a:graphic>
          <a:graphicData uri="http://schemas.openxmlformats.org/presentationml/2006/ole">
            <mc:AlternateContent xmlns:mc="http://schemas.openxmlformats.org/markup-compatibility/2006">
              <mc:Choice xmlns:v="urn:schemas-microsoft-com:vml" Requires="v">
                <p:oleObj spid="_x0000_s94377" name="Equation" r:id="rId3" imgW="4000500" imgH="808355" progId="Equation.DSMT4">
                  <p:embed/>
                </p:oleObj>
              </mc:Choice>
              <mc:Fallback>
                <p:oleObj name="Equation" r:id="rId3" imgW="4000500" imgH="808355"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3001963"/>
                        <a:ext cx="7058025" cy="180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444" name="Object 6"/>
          <p:cNvGraphicFramePr>
            <a:graphicFrameLocks noChangeAspect="1"/>
          </p:cNvGraphicFramePr>
          <p:nvPr/>
        </p:nvGraphicFramePr>
        <p:xfrm>
          <a:off x="1258888" y="4941888"/>
          <a:ext cx="5618162" cy="1090612"/>
        </p:xfrm>
        <a:graphic>
          <a:graphicData uri="http://schemas.openxmlformats.org/presentationml/2006/ole">
            <mc:AlternateContent xmlns:mc="http://schemas.openxmlformats.org/markup-compatibility/2006">
              <mc:Choice xmlns:v="urn:schemas-microsoft-com:vml" Requires="v">
                <p:oleObj spid="_x0000_s94378" name="Equation" r:id="rId5" imgW="6305550" imgH="885825" progId="Equation.3">
                  <p:embed/>
                </p:oleObj>
              </mc:Choice>
              <mc:Fallback>
                <p:oleObj name="Equation" r:id="rId5" imgW="6305550" imgH="885825"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8888" y="4941888"/>
                        <a:ext cx="5618162" cy="1090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49" name="Object 5"/>
          <p:cNvGraphicFramePr>
            <a:graphicFrameLocks noChangeAspect="1"/>
          </p:cNvGraphicFramePr>
          <p:nvPr/>
        </p:nvGraphicFramePr>
        <p:xfrm>
          <a:off x="1109663" y="1720850"/>
          <a:ext cx="7500937" cy="1660525"/>
        </p:xfrm>
        <a:graphic>
          <a:graphicData uri="http://schemas.openxmlformats.org/presentationml/2006/ole">
            <mc:AlternateContent xmlns:mc="http://schemas.openxmlformats.org/markup-compatibility/2006">
              <mc:Choice xmlns:v="urn:schemas-microsoft-com:vml" Requires="v">
                <p:oleObj spid="_x0000_s94379" name="Equation" r:id="rId7" imgW="5886450" imgH="1020445" progId="Equation.DSMT4">
                  <p:embed/>
                </p:oleObj>
              </mc:Choice>
              <mc:Fallback>
                <p:oleObj name="Equation" r:id="rId7" imgW="5886450" imgH="1020445"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9663" y="1720850"/>
                        <a:ext cx="7500937" cy="166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4" name="Object 2"/>
          <p:cNvGraphicFramePr>
            <a:graphicFrameLocks noChangeAspect="1"/>
          </p:cNvGraphicFramePr>
          <p:nvPr/>
        </p:nvGraphicFramePr>
        <p:xfrm>
          <a:off x="2195513" y="1196975"/>
          <a:ext cx="4191000" cy="928688"/>
        </p:xfrm>
        <a:graphic>
          <a:graphicData uri="http://schemas.openxmlformats.org/presentationml/2006/ole">
            <mc:AlternateContent xmlns:mc="http://schemas.openxmlformats.org/markup-compatibility/2006">
              <mc:Choice xmlns:v="urn:schemas-microsoft-com:vml" Requires="v">
                <p:oleObj spid="_x0000_s95361" name="Equation" r:id="rId1" imgW="6019800" imgH="1155065" progId="Equation.3">
                  <p:embed/>
                </p:oleObj>
              </mc:Choice>
              <mc:Fallback>
                <p:oleObj name="Equation" r:id="rId1" imgW="6019800" imgH="115506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1196975"/>
                        <a:ext cx="4191000" cy="928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5" name="Object 3"/>
          <p:cNvGraphicFramePr>
            <a:graphicFrameLocks noChangeAspect="1"/>
          </p:cNvGraphicFramePr>
          <p:nvPr/>
        </p:nvGraphicFramePr>
        <p:xfrm>
          <a:off x="2362200" y="2613025"/>
          <a:ext cx="1025525" cy="358775"/>
        </p:xfrm>
        <a:graphic>
          <a:graphicData uri="http://schemas.openxmlformats.org/presentationml/2006/ole">
            <mc:AlternateContent xmlns:mc="http://schemas.openxmlformats.org/markup-compatibility/2006">
              <mc:Choice xmlns:v="urn:schemas-microsoft-com:vml" Requires="v">
                <p:oleObj spid="_x0000_s95362" name="Equation" r:id="rId3" imgW="1314450" imgH="384810" progId="Equation.3">
                  <p:embed/>
                </p:oleObj>
              </mc:Choice>
              <mc:Fallback>
                <p:oleObj name="Equation" r:id="rId3" imgW="1314450" imgH="38481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2613025"/>
                        <a:ext cx="1025525"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6" name="Object 4"/>
          <p:cNvGraphicFramePr>
            <a:graphicFrameLocks noChangeAspect="1"/>
          </p:cNvGraphicFramePr>
          <p:nvPr/>
        </p:nvGraphicFramePr>
        <p:xfrm>
          <a:off x="2268538" y="3284538"/>
          <a:ext cx="1258887" cy="358775"/>
        </p:xfrm>
        <a:graphic>
          <a:graphicData uri="http://schemas.openxmlformats.org/presentationml/2006/ole">
            <mc:AlternateContent xmlns:mc="http://schemas.openxmlformats.org/markup-compatibility/2006">
              <mc:Choice xmlns:v="urn:schemas-microsoft-com:vml" Requires="v">
                <p:oleObj spid="_x0000_s95363" name="Equation" r:id="rId5" imgW="1257300" imgH="384810" progId="Equation.3">
                  <p:embed/>
                </p:oleObj>
              </mc:Choice>
              <mc:Fallback>
                <p:oleObj name="Equation" r:id="rId5" imgW="1257300" imgH="38481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538" y="3284538"/>
                        <a:ext cx="1258887"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2474" name="Group 10"/>
          <p:cNvGrpSpPr/>
          <p:nvPr/>
        </p:nvGrpSpPr>
        <p:grpSpPr bwMode="auto">
          <a:xfrm>
            <a:off x="609600" y="3951288"/>
            <a:ext cx="6629400" cy="990600"/>
            <a:chOff x="384" y="2489"/>
            <a:chExt cx="4176" cy="624"/>
          </a:xfrm>
        </p:grpSpPr>
        <p:sp>
          <p:nvSpPr>
            <p:cNvPr id="95238" name="Rectangle 5"/>
            <p:cNvSpPr>
              <a:spLocks noChangeArrowheads="1"/>
            </p:cNvSpPr>
            <p:nvPr/>
          </p:nvSpPr>
          <p:spPr bwMode="auto">
            <a:xfrm>
              <a:off x="384" y="2489"/>
              <a:ext cx="4176" cy="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a:t>　　若</a:t>
              </a:r>
              <a:r>
                <a:rPr lang="zh-CN" altLang="en-US" sz="2200">
                  <a:ea typeface="楷体_GB2312" pitchFamily="49" charset="-122"/>
                </a:rPr>
                <a:t> </a:t>
              </a:r>
              <a:r>
                <a:rPr lang="en-US" altLang="zh-CN" sz="2200">
                  <a:ea typeface="楷体_GB2312" pitchFamily="49" charset="-122"/>
                </a:rPr>
                <a:t>( </a:t>
              </a:r>
              <a:r>
                <a:rPr lang="en-US" altLang="zh-CN" sz="2200" i="1">
                  <a:ea typeface="楷体_GB2312" pitchFamily="49" charset="-122"/>
                </a:rPr>
                <a:t>X</a:t>
              </a:r>
              <a:r>
                <a:rPr lang="zh-CN" altLang="en-US" sz="2200" i="1">
                  <a:ea typeface="楷体_GB2312" pitchFamily="49" charset="-122"/>
                </a:rPr>
                <a:t>，</a:t>
              </a:r>
              <a:r>
                <a:rPr lang="en-US" altLang="zh-CN" sz="2200" i="1">
                  <a:ea typeface="楷体_GB2312" pitchFamily="49" charset="-122"/>
                </a:rPr>
                <a:t>Y </a:t>
              </a:r>
              <a:r>
                <a:rPr lang="en-US" altLang="zh-CN" sz="2200">
                  <a:ea typeface="楷体_GB2312" pitchFamily="49" charset="-122"/>
                </a:rPr>
                <a:t>) ~ </a:t>
              </a:r>
              <a:r>
                <a:rPr lang="en-US" altLang="zh-CN" sz="2200" i="1">
                  <a:ea typeface="楷体_GB2312" pitchFamily="49" charset="-122"/>
                </a:rPr>
                <a:t>N </a:t>
              </a:r>
              <a:r>
                <a:rPr lang="en-US" altLang="zh-CN" sz="2200">
                  <a:ea typeface="楷体_GB2312" pitchFamily="49" charset="-122"/>
                </a:rPr>
                <a:t>(</a:t>
              </a:r>
              <a:r>
                <a:rPr lang="en-US" altLang="zh-CN" sz="2200" i="1">
                  <a:ea typeface="楷体_GB2312" pitchFamily="49" charset="-122"/>
                  <a:sym typeface="Symbol" panose="05050102010706020507" pitchFamily="18" charset="2"/>
                </a:rPr>
                <a:t></a:t>
              </a:r>
              <a:r>
                <a:rPr lang="en-US" altLang="zh-CN" sz="2200" baseline="-25000">
                  <a:ea typeface="楷体_GB2312" pitchFamily="49" charset="-122"/>
                  <a:sym typeface="Symbol" panose="05050102010706020507" pitchFamily="18" charset="2"/>
                </a:rPr>
                <a:t>1</a:t>
              </a:r>
              <a:r>
                <a:rPr lang="zh-CN" altLang="en-US" sz="2200">
                  <a:ea typeface="楷体_GB2312" pitchFamily="49" charset="-122"/>
                  <a:sym typeface="Symbol" panose="05050102010706020507" pitchFamily="18" charset="2"/>
                </a:rPr>
                <a:t>，</a:t>
              </a:r>
              <a:r>
                <a:rPr lang="zh-CN" altLang="en-US" sz="2200" i="1">
                  <a:ea typeface="楷体_GB2312" pitchFamily="49" charset="-122"/>
                  <a:sym typeface="Symbol" panose="05050102010706020507" pitchFamily="18" charset="2"/>
                </a:rPr>
                <a:t></a:t>
              </a:r>
              <a:r>
                <a:rPr lang="en-US" altLang="zh-CN" sz="2200" baseline="-25000">
                  <a:ea typeface="楷体_GB2312" pitchFamily="49" charset="-122"/>
                  <a:sym typeface="Symbol" panose="05050102010706020507" pitchFamily="18" charset="2"/>
                </a:rPr>
                <a:t>1</a:t>
              </a:r>
              <a:r>
                <a:rPr lang="en-US" altLang="zh-CN" sz="2200" baseline="30000">
                  <a:ea typeface="楷体_GB2312" pitchFamily="49" charset="-122"/>
                  <a:sym typeface="Symbol" panose="05050102010706020507" pitchFamily="18" charset="2"/>
                </a:rPr>
                <a:t>2</a:t>
              </a:r>
              <a:r>
                <a:rPr lang="zh-CN" altLang="en-US" sz="2200">
                  <a:ea typeface="楷体_GB2312" pitchFamily="49" charset="-122"/>
                  <a:sym typeface="Symbol" panose="05050102010706020507" pitchFamily="18" charset="2"/>
                </a:rPr>
                <a:t>，</a:t>
              </a:r>
              <a:r>
                <a:rPr lang="zh-CN" altLang="en-US" sz="2200" i="1">
                  <a:ea typeface="楷体_GB2312" pitchFamily="49" charset="-122"/>
                  <a:sym typeface="Symbol" panose="05050102010706020507" pitchFamily="18" charset="2"/>
                </a:rPr>
                <a:t></a:t>
              </a:r>
              <a:r>
                <a:rPr lang="en-US" altLang="zh-CN" sz="2200" baseline="-25000">
                  <a:ea typeface="楷体_GB2312" pitchFamily="49" charset="-122"/>
                  <a:sym typeface="Symbol" panose="05050102010706020507" pitchFamily="18" charset="2"/>
                </a:rPr>
                <a:t>2</a:t>
              </a:r>
              <a:r>
                <a:rPr lang="zh-CN" altLang="en-US" sz="2200">
                  <a:ea typeface="楷体_GB2312" pitchFamily="49" charset="-122"/>
                  <a:sym typeface="Symbol" panose="05050102010706020507" pitchFamily="18" charset="2"/>
                </a:rPr>
                <a:t>，</a:t>
              </a:r>
              <a:r>
                <a:rPr lang="zh-CN" altLang="en-US" sz="2200" i="1">
                  <a:ea typeface="楷体_GB2312" pitchFamily="49" charset="-122"/>
                  <a:sym typeface="Symbol" panose="05050102010706020507" pitchFamily="18" charset="2"/>
                </a:rPr>
                <a:t></a:t>
              </a:r>
              <a:r>
                <a:rPr lang="en-US" altLang="zh-CN" sz="2200" baseline="-25000">
                  <a:ea typeface="楷体_GB2312" pitchFamily="49" charset="-122"/>
                  <a:sym typeface="Symbol" panose="05050102010706020507" pitchFamily="18" charset="2"/>
                </a:rPr>
                <a:t>2</a:t>
              </a:r>
              <a:r>
                <a:rPr lang="en-US" altLang="zh-CN" sz="2200" baseline="30000">
                  <a:ea typeface="楷体_GB2312" pitchFamily="49" charset="-122"/>
                  <a:sym typeface="Symbol" panose="05050102010706020507" pitchFamily="18" charset="2"/>
                </a:rPr>
                <a:t>2</a:t>
              </a:r>
              <a:r>
                <a:rPr lang="zh-CN" altLang="en-US" sz="2200">
                  <a:ea typeface="楷体_GB2312" pitchFamily="49" charset="-122"/>
                  <a:sym typeface="Symbol" panose="05050102010706020507" pitchFamily="18" charset="2"/>
                </a:rPr>
                <a:t>，</a:t>
              </a:r>
              <a:r>
                <a:rPr lang="zh-CN" altLang="en-US" sz="2200" i="1">
                  <a:ea typeface="楷体_GB2312" pitchFamily="49" charset="-122"/>
                  <a:sym typeface="Symbol" panose="05050102010706020507" pitchFamily="18" charset="2"/>
                </a:rPr>
                <a:t></a:t>
              </a:r>
              <a:r>
                <a:rPr lang="en-US" altLang="zh-CN" sz="2200">
                  <a:ea typeface="楷体_GB2312" pitchFamily="49" charset="-122"/>
                </a:rPr>
                <a:t>)</a:t>
              </a:r>
              <a:r>
                <a:rPr lang="zh-CN" altLang="en-US" sz="2200">
                  <a:latin typeface="宋体" panose="02010600030101010101" pitchFamily="2" charset="-122"/>
                </a:rPr>
                <a:t>，则</a:t>
              </a:r>
              <a:r>
                <a:rPr lang="en-US" altLang="zh-CN" sz="2200" i="1">
                  <a:ea typeface="楷体_GB2312" pitchFamily="49" charset="-122"/>
                </a:rPr>
                <a:t>X</a:t>
              </a:r>
              <a:r>
                <a:rPr lang="zh-CN" altLang="en-US" sz="2200" i="1">
                  <a:ea typeface="楷体_GB2312" pitchFamily="49" charset="-122"/>
                </a:rPr>
                <a:t>，</a:t>
              </a:r>
              <a:r>
                <a:rPr lang="en-US" altLang="zh-CN" sz="2200" i="1">
                  <a:ea typeface="楷体_GB2312" pitchFamily="49" charset="-122"/>
                </a:rPr>
                <a:t>Y</a:t>
              </a:r>
              <a:r>
                <a:rPr lang="zh-CN" altLang="en-US" sz="2200"/>
                <a:t>相互独立</a:t>
              </a:r>
              <a:endParaRPr lang="zh-CN" altLang="en-US" sz="2200"/>
            </a:p>
          </p:txBody>
        </p:sp>
        <p:sp>
          <p:nvSpPr>
            <p:cNvPr id="95239" name="AutoShape 6"/>
            <p:cNvSpPr>
              <a:spLocks noChangeArrowheads="1"/>
            </p:cNvSpPr>
            <p:nvPr/>
          </p:nvSpPr>
          <p:spPr bwMode="auto">
            <a:xfrm>
              <a:off x="1200" y="2940"/>
              <a:ext cx="432" cy="61"/>
            </a:xfrm>
            <a:prstGeom prst="leftRightArrow">
              <a:avLst>
                <a:gd name="adj1" fmla="val 50000"/>
                <a:gd name="adj2" fmla="val 141639"/>
              </a:avLst>
            </a:prstGeom>
            <a:solidFill>
              <a:srgbClr val="006666"/>
            </a:solidFill>
            <a:ln w="9525">
              <a:solidFill>
                <a:srgbClr val="006666"/>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5240" name="Rectangle 7"/>
            <p:cNvSpPr>
              <a:spLocks noChangeArrowheads="1"/>
            </p:cNvSpPr>
            <p:nvPr/>
          </p:nvSpPr>
          <p:spPr bwMode="auto">
            <a:xfrm>
              <a:off x="1680" y="2844"/>
              <a:ext cx="124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X</a:t>
              </a:r>
              <a:r>
                <a:rPr lang="zh-CN" altLang="en-US" sz="2200" i="1">
                  <a:ea typeface="楷体_GB2312" pitchFamily="49" charset="-122"/>
                </a:rPr>
                <a:t>，</a:t>
              </a:r>
              <a:r>
                <a:rPr lang="en-US" altLang="zh-CN" sz="2200" i="1">
                  <a:ea typeface="楷体_GB2312" pitchFamily="49" charset="-122"/>
                </a:rPr>
                <a:t>Y </a:t>
              </a:r>
              <a:r>
                <a:rPr lang="zh-CN" altLang="en-US" sz="2200"/>
                <a:t>不相关．</a:t>
              </a:r>
              <a:endParaRPr lang="zh-CN" altLang="en-US" sz="2200"/>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4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Text Box 2"/>
          <p:cNvSpPr txBox="1">
            <a:spLocks noChangeArrowheads="1"/>
          </p:cNvSpPr>
          <p:nvPr/>
        </p:nvSpPr>
        <p:spPr bwMode="auto">
          <a:xfrm>
            <a:off x="254000" y="3284538"/>
            <a:ext cx="55419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t>但对下述情形，独立与不相关等价</a:t>
            </a:r>
            <a:endParaRPr lang="zh-CN" altLang="en-US" sz="2800"/>
          </a:p>
        </p:txBody>
      </p:sp>
      <p:grpSp>
        <p:nvGrpSpPr>
          <p:cNvPr id="2" name="Group 3"/>
          <p:cNvGrpSpPr/>
          <p:nvPr/>
        </p:nvGrpSpPr>
        <p:grpSpPr bwMode="auto">
          <a:xfrm>
            <a:off x="1720850" y="4264025"/>
            <a:ext cx="6019800" cy="1828800"/>
            <a:chOff x="480" y="2688"/>
            <a:chExt cx="3792" cy="1152"/>
          </a:xfrm>
        </p:grpSpPr>
        <p:sp>
          <p:nvSpPr>
            <p:cNvPr id="96264" name="Rectangle 4"/>
            <p:cNvSpPr>
              <a:spLocks noChangeArrowheads="1"/>
            </p:cNvSpPr>
            <p:nvPr/>
          </p:nvSpPr>
          <p:spPr bwMode="auto">
            <a:xfrm>
              <a:off x="480" y="2688"/>
              <a:ext cx="3792" cy="115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96265" name="Group 5"/>
            <p:cNvGrpSpPr/>
            <p:nvPr/>
          </p:nvGrpSpPr>
          <p:grpSpPr bwMode="auto">
            <a:xfrm>
              <a:off x="506" y="2755"/>
              <a:ext cx="3504" cy="893"/>
              <a:chOff x="506" y="2755"/>
              <a:chExt cx="3504" cy="893"/>
            </a:xfrm>
          </p:grpSpPr>
          <p:sp>
            <p:nvSpPr>
              <p:cNvPr id="96266" name="Text Box 6"/>
              <p:cNvSpPr txBox="1">
                <a:spLocks noChangeArrowheads="1"/>
              </p:cNvSpPr>
              <p:nvPr/>
            </p:nvSpPr>
            <p:spPr bwMode="auto">
              <a:xfrm>
                <a:off x="506" y="2755"/>
                <a:ext cx="350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solidFill>
                      <a:srgbClr val="003399"/>
                    </a:solidFill>
                  </a:rPr>
                  <a:t>若</a:t>
                </a:r>
                <a:r>
                  <a:rPr lang="en-US" altLang="zh-CN" sz="3200" b="1">
                    <a:solidFill>
                      <a:srgbClr val="003399"/>
                    </a:solidFill>
                  </a:rPr>
                  <a:t>(</a:t>
                </a:r>
                <a:r>
                  <a:rPr lang="en-US" altLang="zh-CN" sz="3200" b="1" i="1">
                    <a:solidFill>
                      <a:srgbClr val="003399"/>
                    </a:solidFill>
                  </a:rPr>
                  <a:t>X</a:t>
                </a:r>
                <a:r>
                  <a:rPr lang="en-US" altLang="zh-CN" sz="3200" b="1">
                    <a:solidFill>
                      <a:srgbClr val="003399"/>
                    </a:solidFill>
                  </a:rPr>
                  <a:t>,</a:t>
                </a:r>
                <a:r>
                  <a:rPr lang="en-US" altLang="zh-CN" sz="3200" b="1" i="1">
                    <a:solidFill>
                      <a:srgbClr val="003399"/>
                    </a:solidFill>
                  </a:rPr>
                  <a:t>Y</a:t>
                </a:r>
                <a:r>
                  <a:rPr lang="en-US" altLang="zh-CN" sz="3200" b="1">
                    <a:solidFill>
                      <a:srgbClr val="003399"/>
                    </a:solidFill>
                  </a:rPr>
                  <a:t>)</a:t>
                </a:r>
                <a:r>
                  <a:rPr lang="zh-CN" altLang="en-US" sz="3200" b="1">
                    <a:solidFill>
                      <a:srgbClr val="003399"/>
                    </a:solidFill>
                  </a:rPr>
                  <a:t>服从二维正态分布，则</a:t>
                </a:r>
                <a:endParaRPr lang="zh-CN" altLang="en-US">
                  <a:solidFill>
                    <a:srgbClr val="003399"/>
                  </a:solidFill>
                </a:endParaRPr>
              </a:p>
            </p:txBody>
          </p:sp>
          <p:grpSp>
            <p:nvGrpSpPr>
              <p:cNvPr id="96267" name="Group 7"/>
              <p:cNvGrpSpPr/>
              <p:nvPr/>
            </p:nvGrpSpPr>
            <p:grpSpPr bwMode="auto">
              <a:xfrm>
                <a:off x="740" y="3264"/>
                <a:ext cx="3225" cy="384"/>
                <a:chOff x="788" y="2112"/>
                <a:chExt cx="3225" cy="384"/>
              </a:xfrm>
            </p:grpSpPr>
            <p:sp>
              <p:nvSpPr>
                <p:cNvPr id="96268" name="Rectangle 8"/>
                <p:cNvSpPr>
                  <a:spLocks noChangeArrowheads="1"/>
                </p:cNvSpPr>
                <p:nvPr/>
              </p:nvSpPr>
              <p:spPr bwMode="auto">
                <a:xfrm>
                  <a:off x="788" y="2112"/>
                  <a:ext cx="121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i="1">
                      <a:solidFill>
                        <a:srgbClr val="003399"/>
                      </a:solidFill>
                    </a:rPr>
                    <a:t>X</a:t>
                  </a:r>
                  <a:r>
                    <a:rPr lang="zh-CN" altLang="en-US" sz="3200" b="1">
                      <a:solidFill>
                        <a:srgbClr val="003399"/>
                      </a:solidFill>
                    </a:rPr>
                    <a:t>与</a:t>
                  </a:r>
                  <a:r>
                    <a:rPr lang="en-US" altLang="zh-CN" sz="3200" b="1" i="1">
                      <a:solidFill>
                        <a:srgbClr val="003399"/>
                      </a:solidFill>
                    </a:rPr>
                    <a:t>Y</a:t>
                  </a:r>
                  <a:r>
                    <a:rPr lang="zh-CN" altLang="en-US" sz="3200" b="1">
                      <a:solidFill>
                        <a:srgbClr val="003399"/>
                      </a:solidFill>
                    </a:rPr>
                    <a:t>独立</a:t>
                  </a:r>
                  <a:endParaRPr lang="zh-CN" altLang="en-US" sz="3200" b="1">
                    <a:solidFill>
                      <a:srgbClr val="003399"/>
                    </a:solidFill>
                  </a:endParaRPr>
                </a:p>
              </p:txBody>
            </p:sp>
            <p:sp>
              <p:nvSpPr>
                <p:cNvPr id="96269" name="Rectangle 9"/>
                <p:cNvSpPr>
                  <a:spLocks noChangeArrowheads="1"/>
                </p:cNvSpPr>
                <p:nvPr/>
              </p:nvSpPr>
              <p:spPr bwMode="auto">
                <a:xfrm>
                  <a:off x="2542" y="2112"/>
                  <a:ext cx="147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i="1">
                      <a:solidFill>
                        <a:srgbClr val="003399"/>
                      </a:solidFill>
                    </a:rPr>
                    <a:t>X</a:t>
                  </a:r>
                  <a:r>
                    <a:rPr lang="zh-CN" altLang="en-US" sz="3200" b="1">
                      <a:solidFill>
                        <a:srgbClr val="003399"/>
                      </a:solidFill>
                    </a:rPr>
                    <a:t>与</a:t>
                  </a:r>
                  <a:r>
                    <a:rPr lang="en-US" altLang="zh-CN" sz="3200" b="1" i="1">
                      <a:solidFill>
                        <a:srgbClr val="003399"/>
                      </a:solidFill>
                    </a:rPr>
                    <a:t>Y</a:t>
                  </a:r>
                  <a:r>
                    <a:rPr lang="zh-CN" altLang="en-US" sz="3200" b="1">
                      <a:solidFill>
                        <a:srgbClr val="003399"/>
                      </a:solidFill>
                    </a:rPr>
                    <a:t>不相关</a:t>
                  </a:r>
                  <a:endParaRPr lang="zh-CN" altLang="en-US" sz="3200" b="1">
                    <a:solidFill>
                      <a:srgbClr val="003399"/>
                    </a:solidFill>
                  </a:endParaRPr>
                </a:p>
              </p:txBody>
            </p:sp>
            <p:graphicFrame>
              <p:nvGraphicFramePr>
                <p:cNvPr id="96270" name="Object 0"/>
                <p:cNvGraphicFramePr>
                  <a:graphicFrameLocks noChangeAspect="1"/>
                </p:cNvGraphicFramePr>
                <p:nvPr/>
              </p:nvGraphicFramePr>
              <p:xfrm>
                <a:off x="2048" y="2160"/>
                <a:ext cx="448" cy="336"/>
              </p:xfrm>
              <a:graphic>
                <a:graphicData uri="http://schemas.openxmlformats.org/presentationml/2006/ole">
                  <mc:AlternateContent xmlns:mc="http://schemas.openxmlformats.org/markup-compatibility/2006">
                    <mc:Choice xmlns:v="urn:schemas-microsoft-com:vml" Requires="v">
                      <p:oleObj spid="_x0000_s96311" name="公式" r:id="rId1" imgW="114300" imgH="67310" progId="Equation.3">
                        <p:embed/>
                      </p:oleObj>
                    </mc:Choice>
                    <mc:Fallback>
                      <p:oleObj name="公式" r:id="rId1" imgW="114300" imgH="67310" progId="Equation.3">
                        <p:embed/>
                        <p:pic>
                          <p:nvPicPr>
                            <p:cNvPr id="0" name="Object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8" y="2160"/>
                              <a:ext cx="448"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sp>
        <p:nvSpPr>
          <p:cNvPr id="316427" name="Rectangle 11"/>
          <p:cNvSpPr>
            <a:spLocks noChangeArrowheads="1"/>
          </p:cNvSpPr>
          <p:nvPr/>
        </p:nvSpPr>
        <p:spPr bwMode="auto">
          <a:xfrm>
            <a:off x="838200" y="990600"/>
            <a:ext cx="37560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zh-CN" sz="2800" b="1"/>
              <a:t>前面，我们已经看到：</a:t>
            </a:r>
            <a:endParaRPr lang="zh-CN" altLang="en-US" sz="2800" b="1"/>
          </a:p>
        </p:txBody>
      </p:sp>
      <p:sp>
        <p:nvSpPr>
          <p:cNvPr id="316428" name="Rectangle 12"/>
          <p:cNvSpPr>
            <a:spLocks noChangeArrowheads="1"/>
          </p:cNvSpPr>
          <p:nvPr/>
        </p:nvSpPr>
        <p:spPr bwMode="auto">
          <a:xfrm>
            <a:off x="1081088" y="1627188"/>
            <a:ext cx="53768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rgbClr val="003399"/>
                </a:solidFill>
              </a:rPr>
              <a:t>若 </a:t>
            </a:r>
            <a:r>
              <a:rPr lang="en-US" altLang="zh-CN" sz="2800" b="1" i="1">
                <a:solidFill>
                  <a:srgbClr val="003399"/>
                </a:solidFill>
              </a:rPr>
              <a:t>X </a:t>
            </a:r>
            <a:r>
              <a:rPr lang="zh-CN" altLang="en-US" sz="2800" b="1">
                <a:solidFill>
                  <a:srgbClr val="003399"/>
                </a:solidFill>
              </a:rPr>
              <a:t>与 </a:t>
            </a:r>
            <a:r>
              <a:rPr lang="en-US" altLang="zh-CN" sz="2800" b="1" i="1">
                <a:solidFill>
                  <a:srgbClr val="003399"/>
                </a:solidFill>
              </a:rPr>
              <a:t>Y </a:t>
            </a:r>
            <a:r>
              <a:rPr lang="zh-CN" altLang="en-US" sz="2800" b="1">
                <a:solidFill>
                  <a:srgbClr val="003399"/>
                </a:solidFill>
              </a:rPr>
              <a:t>独立，则</a:t>
            </a:r>
            <a:r>
              <a:rPr lang="en-US" altLang="zh-CN" sz="2800" b="1" i="1">
                <a:solidFill>
                  <a:srgbClr val="003399"/>
                </a:solidFill>
              </a:rPr>
              <a:t>X</a:t>
            </a:r>
            <a:r>
              <a:rPr lang="zh-CN" altLang="en-US" sz="2800" b="1">
                <a:solidFill>
                  <a:srgbClr val="003399"/>
                </a:solidFill>
              </a:rPr>
              <a:t>与</a:t>
            </a:r>
            <a:r>
              <a:rPr lang="en-US" altLang="zh-CN" sz="2800" b="1" i="1">
                <a:solidFill>
                  <a:srgbClr val="003399"/>
                </a:solidFill>
              </a:rPr>
              <a:t>Y</a:t>
            </a:r>
            <a:r>
              <a:rPr lang="zh-CN" altLang="en-US" sz="2800" b="1">
                <a:solidFill>
                  <a:srgbClr val="003399"/>
                </a:solidFill>
              </a:rPr>
              <a:t>不相关</a:t>
            </a:r>
            <a:r>
              <a:rPr lang="zh-CN" altLang="en-US" sz="2800" b="1"/>
              <a:t>，</a:t>
            </a:r>
            <a:endParaRPr lang="zh-CN" altLang="en-US" sz="2800" b="1"/>
          </a:p>
        </p:txBody>
      </p:sp>
      <p:sp>
        <p:nvSpPr>
          <p:cNvPr id="316429" name="Rectangle 13"/>
          <p:cNvSpPr>
            <a:spLocks noChangeArrowheads="1"/>
          </p:cNvSpPr>
          <p:nvPr/>
        </p:nvSpPr>
        <p:spPr bwMode="auto">
          <a:xfrm>
            <a:off x="1042988" y="2465388"/>
            <a:ext cx="68961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但由</a:t>
            </a:r>
            <a:r>
              <a:rPr lang="en-US" altLang="zh-CN" sz="2800" b="1" i="1"/>
              <a:t>X</a:t>
            </a:r>
            <a:r>
              <a:rPr lang="zh-CN" altLang="en-US" sz="2800" b="1"/>
              <a:t>与</a:t>
            </a:r>
            <a:r>
              <a:rPr lang="en-US" altLang="zh-CN" sz="2800" b="1" i="1"/>
              <a:t>Y</a:t>
            </a:r>
            <a:r>
              <a:rPr lang="zh-CN" altLang="en-US" sz="2800" b="1"/>
              <a:t>不相关，不一定能推出</a:t>
            </a:r>
            <a:r>
              <a:rPr lang="en-US" altLang="zh-CN" sz="2800" b="1" i="1"/>
              <a:t>X</a:t>
            </a:r>
            <a:r>
              <a:rPr lang="zh-CN" altLang="en-US" sz="2800" b="1"/>
              <a:t>与</a:t>
            </a:r>
            <a:r>
              <a:rPr lang="en-US" altLang="zh-CN" sz="2800" b="1" i="1"/>
              <a:t>Y</a:t>
            </a:r>
            <a:r>
              <a:rPr lang="zh-CN" altLang="en-US" sz="2800" b="1"/>
              <a:t>独立</a:t>
            </a:r>
            <a:r>
              <a:rPr lang="en-US" altLang="zh-CN" sz="2800" b="1"/>
              <a:t>.</a:t>
            </a:r>
            <a:endParaRPr lang="en-US" altLang="zh-CN" sz="2800" b="1"/>
          </a:p>
        </p:txBody>
      </p:sp>
      <p:sp>
        <p:nvSpPr>
          <p:cNvPr id="96263" name="Rectangle 14"/>
          <p:cNvSpPr>
            <a:spLocks noChangeArrowheads="1"/>
          </p:cNvSpPr>
          <p:nvPr/>
        </p:nvSpPr>
        <p:spPr bwMode="auto">
          <a:xfrm>
            <a:off x="457200" y="255588"/>
            <a:ext cx="650716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a:solidFill>
                  <a:srgbClr val="003399"/>
                </a:solidFill>
              </a:rPr>
              <a:t>4</a:t>
            </a:r>
            <a:r>
              <a:rPr lang="zh-CN" altLang="en-US" sz="3200" b="1">
                <a:solidFill>
                  <a:srgbClr val="003399"/>
                </a:solidFill>
              </a:rPr>
              <a:t>、二维正态分布独立与相关的关系</a:t>
            </a:r>
            <a:endParaRPr lang="zh-CN" altLang="en-US" sz="3200" b="1">
              <a:solidFill>
                <a:srgbClr val="0033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6427"/>
                                        </p:tgtEl>
                                        <p:attrNameLst>
                                          <p:attrName>style.visibility</p:attrName>
                                        </p:attrNameLst>
                                      </p:cBhvr>
                                      <p:to>
                                        <p:strVal val="visible"/>
                                      </p:to>
                                    </p:set>
                                    <p:anim calcmode="lin" valueType="num">
                                      <p:cBhvr additive="base">
                                        <p:cTn id="7" dur="500" fill="hold"/>
                                        <p:tgtEl>
                                          <p:spTgt spid="316427"/>
                                        </p:tgtEl>
                                        <p:attrNameLst>
                                          <p:attrName>ppt_x</p:attrName>
                                        </p:attrNameLst>
                                      </p:cBhvr>
                                      <p:tavLst>
                                        <p:tav tm="0">
                                          <p:val>
                                            <p:strVal val="0-#ppt_w/2"/>
                                          </p:val>
                                        </p:tav>
                                        <p:tav tm="100000">
                                          <p:val>
                                            <p:strVal val="#ppt_x"/>
                                          </p:val>
                                        </p:tav>
                                      </p:tavLst>
                                    </p:anim>
                                    <p:anim calcmode="lin" valueType="num">
                                      <p:cBhvr additive="base">
                                        <p:cTn id="8" dur="500" fill="hold"/>
                                        <p:tgtEl>
                                          <p:spTgt spid="3164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16428"/>
                                        </p:tgtEl>
                                        <p:attrNameLst>
                                          <p:attrName>style.visibility</p:attrName>
                                        </p:attrNameLst>
                                      </p:cBhvr>
                                      <p:to>
                                        <p:strVal val="visible"/>
                                      </p:to>
                                    </p:set>
                                    <p:animEffect transition="in" filter="wipe(left)">
                                      <p:cBhvr>
                                        <p:cTn id="13" dur="500"/>
                                        <p:tgtEl>
                                          <p:spTgt spid="316428"/>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316429"/>
                                        </p:tgtEl>
                                        <p:attrNameLst>
                                          <p:attrName>style.visibility</p:attrName>
                                        </p:attrNameLst>
                                      </p:cBhvr>
                                      <p:to>
                                        <p:strVal val="visible"/>
                                      </p:to>
                                    </p:set>
                                    <p:animEffect transition="in" filter="barn(outVertical)">
                                      <p:cBhvr>
                                        <p:cTn id="18" dur="500"/>
                                        <p:tgtEl>
                                          <p:spTgt spid="31642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16418"/>
                                        </p:tgtEl>
                                        <p:attrNameLst>
                                          <p:attrName>style.visibility</p:attrName>
                                        </p:attrNameLst>
                                      </p:cBhvr>
                                      <p:to>
                                        <p:strVal val="visible"/>
                                      </p:to>
                                    </p:set>
                                    <p:animEffect transition="in" filter="wipe(left)">
                                      <p:cBhvr>
                                        <p:cTn id="23" dur="500"/>
                                        <p:tgtEl>
                                          <p:spTgt spid="316418"/>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ppt_x"/>
                                          </p:val>
                                        </p:tav>
                                        <p:tav tm="100000">
                                          <p:val>
                                            <p:strVal val="#ppt_x"/>
                                          </p:val>
                                        </p:tav>
                                      </p:tavLst>
                                    </p:anim>
                                    <p:anim calcmode="lin" valueType="num">
                                      <p:cBhvr additive="base">
                                        <p:cTn id="2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8" grpId="0" autoUpdateAnimBg="0"/>
      <p:bldP spid="316427" grpId="0" autoUpdateAnimBg="0"/>
      <p:bldP spid="316428" grpId="0" autoUpdateAnimBg="0"/>
      <p:bldP spid="316429"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755650" y="765175"/>
            <a:ext cx="7200900"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a:solidFill>
                  <a:srgbClr val="5050CC"/>
                </a:solidFill>
                <a:latin typeface="宋体" panose="02010600030101010101" pitchFamily="2" charset="-122"/>
              </a:rPr>
              <a:t>　　例</a:t>
            </a:r>
            <a:r>
              <a:rPr lang="zh-CN" altLang="en-US" sz="2200">
                <a:latin typeface="宋体" panose="02010600030101010101" pitchFamily="2" charset="-122"/>
              </a:rPr>
              <a:t>　设</a:t>
            </a:r>
            <a:r>
              <a:rPr lang="zh-CN" altLang="en-US" sz="2200">
                <a:ea typeface="楷体_GB2312" pitchFamily="49" charset="-122"/>
              </a:rPr>
              <a:t> </a:t>
            </a:r>
            <a:r>
              <a:rPr lang="en-US" altLang="zh-CN" sz="2200">
                <a:ea typeface="楷体_GB2312" pitchFamily="49" charset="-122"/>
              </a:rPr>
              <a:t>( </a:t>
            </a:r>
            <a:r>
              <a:rPr lang="en-US" altLang="zh-CN" sz="2200" i="1">
                <a:ea typeface="楷体_GB2312" pitchFamily="49" charset="-122"/>
              </a:rPr>
              <a:t>X</a:t>
            </a:r>
            <a:r>
              <a:rPr lang="zh-CN" altLang="en-US" sz="2200" i="1">
                <a:ea typeface="楷体_GB2312" pitchFamily="49" charset="-122"/>
              </a:rPr>
              <a:t>，</a:t>
            </a:r>
            <a:r>
              <a:rPr lang="en-US" altLang="zh-CN" sz="2200" i="1">
                <a:ea typeface="楷体_GB2312" pitchFamily="49" charset="-122"/>
              </a:rPr>
              <a:t>Y </a:t>
            </a:r>
            <a:r>
              <a:rPr lang="en-US" altLang="zh-CN" sz="2200">
                <a:ea typeface="楷体_GB2312" pitchFamily="49" charset="-122"/>
              </a:rPr>
              <a:t>) ~ </a:t>
            </a:r>
            <a:r>
              <a:rPr lang="en-US" altLang="zh-CN" sz="2200" i="1">
                <a:ea typeface="楷体_GB2312" pitchFamily="49" charset="-122"/>
              </a:rPr>
              <a:t>N </a:t>
            </a:r>
            <a:r>
              <a:rPr lang="en-US" altLang="zh-CN" sz="2200">
                <a:ea typeface="楷体_GB2312" pitchFamily="49" charset="-122"/>
              </a:rPr>
              <a:t>(1</a:t>
            </a:r>
            <a:r>
              <a:rPr lang="zh-CN" altLang="en-US" sz="2200">
                <a:ea typeface="楷体_GB2312" pitchFamily="49" charset="-122"/>
              </a:rPr>
              <a:t>，</a:t>
            </a:r>
            <a:r>
              <a:rPr lang="en-US" altLang="zh-CN" sz="2200">
                <a:ea typeface="楷体_GB2312" pitchFamily="49" charset="-122"/>
              </a:rPr>
              <a:t>4</a:t>
            </a:r>
            <a:r>
              <a:rPr lang="zh-CN" altLang="en-US" sz="2200">
                <a:ea typeface="楷体_GB2312" pitchFamily="49" charset="-122"/>
              </a:rPr>
              <a:t>；</a:t>
            </a:r>
            <a:r>
              <a:rPr lang="en-US" altLang="zh-CN" sz="2200">
                <a:ea typeface="楷体_GB2312" pitchFamily="49" charset="-122"/>
              </a:rPr>
              <a:t>1</a:t>
            </a:r>
            <a:r>
              <a:rPr lang="zh-CN" altLang="en-US" sz="2200">
                <a:ea typeface="楷体_GB2312" pitchFamily="49" charset="-122"/>
              </a:rPr>
              <a:t>，</a:t>
            </a:r>
            <a:r>
              <a:rPr lang="en-US" altLang="zh-CN" sz="2200">
                <a:ea typeface="楷体_GB2312" pitchFamily="49" charset="-122"/>
              </a:rPr>
              <a:t>4</a:t>
            </a:r>
            <a:r>
              <a:rPr lang="zh-CN" altLang="en-US" sz="2200">
                <a:ea typeface="楷体_GB2312" pitchFamily="49" charset="-122"/>
              </a:rPr>
              <a:t>；</a:t>
            </a:r>
            <a:r>
              <a:rPr lang="en-US" altLang="zh-CN" sz="2200">
                <a:ea typeface="楷体_GB2312" pitchFamily="49" charset="-122"/>
              </a:rPr>
              <a:t>0.5)</a:t>
            </a:r>
            <a:r>
              <a:rPr lang="zh-CN" altLang="en-US" sz="2200">
                <a:ea typeface="楷体_GB2312" pitchFamily="49" charset="-122"/>
              </a:rPr>
              <a:t>，</a:t>
            </a:r>
            <a:r>
              <a:rPr lang="en-US" altLang="zh-CN" sz="2200" i="1">
                <a:ea typeface="楷体_GB2312" pitchFamily="49" charset="-122"/>
              </a:rPr>
              <a:t>Z = X + Y</a:t>
            </a:r>
            <a:r>
              <a:rPr lang="zh-CN" altLang="en-US" sz="2200" i="1">
                <a:ea typeface="楷体_GB2312" pitchFamily="49" charset="-122"/>
              </a:rPr>
              <a:t>，</a:t>
            </a:r>
            <a:r>
              <a:rPr lang="zh-CN" altLang="en-US" sz="2200">
                <a:latin typeface="宋体" panose="02010600030101010101" pitchFamily="2" charset="-122"/>
              </a:rPr>
              <a:t>求</a:t>
            </a:r>
            <a:r>
              <a:rPr lang="zh-CN" altLang="en-US" sz="2200">
                <a:ea typeface="楷体_GB2312" pitchFamily="49" charset="-122"/>
              </a:rPr>
              <a:t> </a:t>
            </a:r>
            <a:r>
              <a:rPr lang="zh-CN" altLang="en-US" sz="2200" i="1">
                <a:ea typeface="楷体_GB2312" pitchFamily="49" charset="-122"/>
                <a:sym typeface="Symbol" panose="05050102010706020507" pitchFamily="18" charset="2"/>
              </a:rPr>
              <a:t></a:t>
            </a:r>
            <a:r>
              <a:rPr lang="zh-CN" altLang="en-US" sz="2200" i="1" baseline="-25000">
                <a:ea typeface="楷体_GB2312" pitchFamily="49" charset="-122"/>
                <a:sym typeface="Symbol" panose="05050102010706020507" pitchFamily="18" charset="2"/>
              </a:rPr>
              <a:t> </a:t>
            </a:r>
            <a:r>
              <a:rPr lang="en-US" altLang="zh-CN" sz="2200" i="1" baseline="-25000">
                <a:ea typeface="楷体_GB2312" pitchFamily="49" charset="-122"/>
                <a:sym typeface="Symbol" panose="05050102010706020507" pitchFamily="18" charset="2"/>
              </a:rPr>
              <a:t>XZ</a:t>
            </a:r>
            <a:r>
              <a:rPr lang="zh-CN" altLang="en-US" sz="2200" i="1" baseline="-25000">
                <a:ea typeface="楷体_GB2312" pitchFamily="49" charset="-122"/>
                <a:sym typeface="Symbol" panose="05050102010706020507" pitchFamily="18" charset="2"/>
              </a:rPr>
              <a:t>．</a:t>
            </a:r>
            <a:endParaRPr lang="zh-CN" altLang="en-US" sz="2200" i="1" baseline="-25000">
              <a:ea typeface="楷体_GB2312" pitchFamily="49" charset="-122"/>
            </a:endParaRPr>
          </a:p>
        </p:txBody>
      </p:sp>
      <p:grpSp>
        <p:nvGrpSpPr>
          <p:cNvPr id="64523" name="Group 11"/>
          <p:cNvGrpSpPr/>
          <p:nvPr/>
        </p:nvGrpSpPr>
        <p:grpSpPr bwMode="auto">
          <a:xfrm>
            <a:off x="1219200" y="2389188"/>
            <a:ext cx="5410200" cy="1755775"/>
            <a:chOff x="768" y="1505"/>
            <a:chExt cx="3408" cy="1106"/>
          </a:xfrm>
        </p:grpSpPr>
        <p:sp>
          <p:nvSpPr>
            <p:cNvPr id="97286" name="Text Box 3"/>
            <p:cNvSpPr txBox="1">
              <a:spLocks noChangeArrowheads="1"/>
            </p:cNvSpPr>
            <p:nvPr/>
          </p:nvSpPr>
          <p:spPr bwMode="auto">
            <a:xfrm>
              <a:off x="768" y="1505"/>
              <a:ext cx="29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b="1">
                  <a:solidFill>
                    <a:srgbClr val="5050CC"/>
                  </a:solidFill>
                </a:rPr>
                <a:t>解</a:t>
              </a:r>
              <a:endParaRPr lang="zh-CN" altLang="en-US" sz="2200" b="1">
                <a:solidFill>
                  <a:srgbClr val="5050CC"/>
                </a:solidFill>
              </a:endParaRPr>
            </a:p>
          </p:txBody>
        </p:sp>
        <p:graphicFrame>
          <p:nvGraphicFramePr>
            <p:cNvPr id="97287" name="Object 4"/>
            <p:cNvGraphicFramePr>
              <a:graphicFrameLocks noChangeAspect="1"/>
            </p:cNvGraphicFramePr>
            <p:nvPr/>
          </p:nvGraphicFramePr>
          <p:xfrm>
            <a:off x="1156" y="1570"/>
            <a:ext cx="2736" cy="206"/>
          </p:xfrm>
          <a:graphic>
            <a:graphicData uri="http://schemas.openxmlformats.org/presentationml/2006/ole">
              <mc:AlternateContent xmlns:mc="http://schemas.openxmlformats.org/markup-compatibility/2006">
                <mc:Choice xmlns:v="urn:schemas-microsoft-com:vml" Requires="v">
                  <p:oleObj spid="_x0000_s97490" name="Equation" r:id="rId1" imgW="5657850" imgH="346710" progId="Equation.3">
                    <p:embed/>
                  </p:oleObj>
                </mc:Choice>
                <mc:Fallback>
                  <p:oleObj name="Equation" r:id="rId1" imgW="5657850" imgH="34671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6" y="1570"/>
                          <a:ext cx="2736" cy="2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288" name="Object 5"/>
            <p:cNvGraphicFramePr>
              <a:graphicFrameLocks noChangeAspect="1"/>
            </p:cNvGraphicFramePr>
            <p:nvPr/>
          </p:nvGraphicFramePr>
          <p:xfrm>
            <a:off x="1166" y="1824"/>
            <a:ext cx="1858" cy="445"/>
          </p:xfrm>
          <a:graphic>
            <a:graphicData uri="http://schemas.openxmlformats.org/presentationml/2006/ole">
              <mc:AlternateContent xmlns:mc="http://schemas.openxmlformats.org/markup-compatibility/2006">
                <mc:Choice xmlns:v="urn:schemas-microsoft-com:vml" Requires="v">
                  <p:oleObj spid="_x0000_s97491" name="Equation" r:id="rId3" imgW="3829050" imgH="866140" progId="Equation.3">
                    <p:embed/>
                  </p:oleObj>
                </mc:Choice>
                <mc:Fallback>
                  <p:oleObj name="Equation" r:id="rId3" imgW="3829050" imgH="86614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6" y="1824"/>
                          <a:ext cx="1858" cy="4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7289" name="Object 6"/>
            <p:cNvGraphicFramePr>
              <a:graphicFrameLocks noChangeAspect="1"/>
            </p:cNvGraphicFramePr>
            <p:nvPr/>
          </p:nvGraphicFramePr>
          <p:xfrm>
            <a:off x="1123" y="2400"/>
            <a:ext cx="3053" cy="211"/>
          </p:xfrm>
          <a:graphic>
            <a:graphicData uri="http://schemas.openxmlformats.org/presentationml/2006/ole">
              <mc:AlternateContent xmlns:mc="http://schemas.openxmlformats.org/markup-compatibility/2006">
                <mc:Choice xmlns:v="urn:schemas-microsoft-com:vml" Requires="v">
                  <p:oleObj spid="_x0000_s97492" name="Equation" r:id="rId5" imgW="6343650" imgH="365760" progId="Equation.3">
                    <p:embed/>
                  </p:oleObj>
                </mc:Choice>
                <mc:Fallback>
                  <p:oleObj name="Equation" r:id="rId5" imgW="6343650" imgH="36576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3" y="2400"/>
                          <a:ext cx="3053" cy="2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64517" name="Object 7"/>
          <p:cNvGraphicFramePr>
            <a:graphicFrameLocks noChangeAspect="1"/>
          </p:cNvGraphicFramePr>
          <p:nvPr/>
        </p:nvGraphicFramePr>
        <p:xfrm>
          <a:off x="1547813" y="4292600"/>
          <a:ext cx="5334000" cy="879475"/>
        </p:xfrm>
        <a:graphic>
          <a:graphicData uri="http://schemas.openxmlformats.org/presentationml/2006/ole">
            <mc:AlternateContent xmlns:mc="http://schemas.openxmlformats.org/markup-compatibility/2006">
              <mc:Choice xmlns:v="urn:schemas-microsoft-com:vml" Requires="v">
                <p:oleObj spid="_x0000_s97493" name="Equation" r:id="rId7" imgW="2505075" imgH="346710" progId="Equation.3">
                  <p:embed/>
                </p:oleObj>
              </mc:Choice>
              <mc:Fallback>
                <p:oleObj name="Equation" r:id="rId7" imgW="2505075" imgH="34671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813" y="4292600"/>
                        <a:ext cx="5334000" cy="87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4518" name="Object 8"/>
          <p:cNvGraphicFramePr>
            <a:graphicFrameLocks noChangeAspect="1"/>
          </p:cNvGraphicFramePr>
          <p:nvPr/>
        </p:nvGraphicFramePr>
        <p:xfrm>
          <a:off x="1835150" y="5300663"/>
          <a:ext cx="2125663" cy="736600"/>
        </p:xfrm>
        <a:graphic>
          <a:graphicData uri="http://schemas.openxmlformats.org/presentationml/2006/ole">
            <mc:AlternateContent xmlns:mc="http://schemas.openxmlformats.org/markup-compatibility/2006">
              <mc:Choice xmlns:v="urn:schemas-microsoft-com:vml" Requires="v">
                <p:oleObj spid="_x0000_s97494" name="Equation" r:id="rId9" imgW="2733675" imgH="904875" progId="Equation.3">
                  <p:embed/>
                </p:oleObj>
              </mc:Choice>
              <mc:Fallback>
                <p:oleObj name="Equation" r:id="rId9" imgW="2733675" imgH="904875"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35150" y="5300663"/>
                        <a:ext cx="2125663"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5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5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p:cNvSpPr txBox="1">
            <a:spLocks noChangeArrowheads="1"/>
          </p:cNvSpPr>
          <p:nvPr/>
        </p:nvSpPr>
        <p:spPr bwMode="auto">
          <a:xfrm>
            <a:off x="533400" y="457200"/>
            <a:ext cx="18732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1">
                <a:ea typeface="黑体" panose="02010609060101010101" pitchFamily="49" charset="-122"/>
              </a:rPr>
              <a:t>三、小结</a:t>
            </a:r>
            <a:endParaRPr lang="zh-CN" altLang="en-US" sz="3200" b="1">
              <a:ea typeface="黑体" panose="02010609060101010101" pitchFamily="49" charset="-122"/>
            </a:endParaRPr>
          </a:p>
        </p:txBody>
      </p:sp>
      <p:sp>
        <p:nvSpPr>
          <p:cNvPr id="317443" name="Rectangle 3"/>
          <p:cNvSpPr>
            <a:spLocks noChangeArrowheads="1"/>
          </p:cNvSpPr>
          <p:nvPr/>
        </p:nvSpPr>
        <p:spPr bwMode="auto">
          <a:xfrm>
            <a:off x="1220788" y="1381125"/>
            <a:ext cx="63452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a:t> </a:t>
            </a:r>
            <a:r>
              <a:rPr lang="zh-CN" altLang="en-US" sz="2800" b="1"/>
              <a:t>这一节我们介绍了协方差、相关系数、</a:t>
            </a:r>
            <a:endParaRPr lang="zh-CN" altLang="en-US" sz="2800" b="1"/>
          </a:p>
        </p:txBody>
      </p:sp>
      <p:sp>
        <p:nvSpPr>
          <p:cNvPr id="317444" name="Rectangle 4"/>
          <p:cNvSpPr>
            <a:spLocks noChangeArrowheads="1"/>
          </p:cNvSpPr>
          <p:nvPr/>
        </p:nvSpPr>
        <p:spPr bwMode="auto">
          <a:xfrm>
            <a:off x="500063" y="1900238"/>
            <a:ext cx="838835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5000"/>
              </a:lnSpc>
            </a:pPr>
            <a:r>
              <a:rPr lang="zh-CN" altLang="en-US" sz="2800" b="1"/>
              <a:t>相关系数是刻划两个变量间</a:t>
            </a:r>
            <a:r>
              <a:rPr lang="zh-CN" altLang="en-US" sz="2800" b="1">
                <a:solidFill>
                  <a:schemeClr val="accent2"/>
                </a:solidFill>
              </a:rPr>
              <a:t>线性相关程度</a:t>
            </a:r>
            <a:r>
              <a:rPr lang="zh-CN" altLang="en-US" sz="2800" b="1"/>
              <a:t>的一个重要的数字特征</a:t>
            </a:r>
            <a:r>
              <a:rPr lang="en-US" altLang="zh-CN" sz="2800" b="1"/>
              <a:t>.</a:t>
            </a:r>
            <a:endParaRPr lang="en-US" altLang="zh-CN" sz="2800" b="1"/>
          </a:p>
        </p:txBody>
      </p:sp>
      <p:sp>
        <p:nvSpPr>
          <p:cNvPr id="317445" name="Rectangle 5"/>
          <p:cNvSpPr>
            <a:spLocks noChangeArrowheads="1"/>
          </p:cNvSpPr>
          <p:nvPr/>
        </p:nvSpPr>
        <p:spPr bwMode="auto">
          <a:xfrm>
            <a:off x="1328738" y="3397250"/>
            <a:ext cx="52736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solidFill>
                  <a:schemeClr val="tx2"/>
                </a:solidFill>
              </a:rPr>
              <a:t>注意独立与不相关并不是等价的</a:t>
            </a:r>
            <a:r>
              <a:rPr lang="en-US" altLang="zh-CN" sz="2800" b="1">
                <a:solidFill>
                  <a:schemeClr val="tx2"/>
                </a:solidFill>
              </a:rPr>
              <a:t>.</a:t>
            </a:r>
            <a:endParaRPr lang="en-US" altLang="zh-CN" sz="2800" b="1">
              <a:solidFill>
                <a:schemeClr val="tx2"/>
              </a:solidFill>
            </a:endParaRPr>
          </a:p>
        </p:txBody>
      </p:sp>
      <p:sp>
        <p:nvSpPr>
          <p:cNvPr id="317446" name="Rectangle 6"/>
          <p:cNvSpPr>
            <a:spLocks noChangeArrowheads="1"/>
          </p:cNvSpPr>
          <p:nvPr/>
        </p:nvSpPr>
        <p:spPr bwMode="auto">
          <a:xfrm>
            <a:off x="492125" y="4205288"/>
            <a:ext cx="5340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当</a:t>
            </a:r>
            <a:r>
              <a:rPr lang="en-US" altLang="zh-CN" sz="2800" b="1"/>
              <a:t>(</a:t>
            </a:r>
            <a:r>
              <a:rPr lang="en-US" altLang="zh-CN" sz="2800" b="1" i="1"/>
              <a:t>X</a:t>
            </a:r>
            <a:r>
              <a:rPr lang="en-US" altLang="zh-CN" sz="2800" b="1"/>
              <a:t>,</a:t>
            </a:r>
            <a:r>
              <a:rPr lang="en-US" altLang="zh-CN" sz="2800" b="1" i="1"/>
              <a:t>Y</a:t>
            </a:r>
            <a:r>
              <a:rPr lang="en-US" altLang="zh-CN" sz="2800" b="1"/>
              <a:t>) </a:t>
            </a:r>
            <a:r>
              <a:rPr lang="zh-CN" altLang="en-US" sz="2800" b="1"/>
              <a:t>服从二维正态分布时，有</a:t>
            </a:r>
            <a:endParaRPr lang="zh-CN" altLang="en-US" sz="2800" b="1"/>
          </a:p>
        </p:txBody>
      </p:sp>
      <p:grpSp>
        <p:nvGrpSpPr>
          <p:cNvPr id="2" name="Group 7"/>
          <p:cNvGrpSpPr/>
          <p:nvPr/>
        </p:nvGrpSpPr>
        <p:grpSpPr bwMode="auto">
          <a:xfrm>
            <a:off x="1760538" y="4891088"/>
            <a:ext cx="5233987" cy="609600"/>
            <a:chOff x="744" y="2112"/>
            <a:chExt cx="3297" cy="384"/>
          </a:xfrm>
        </p:grpSpPr>
        <p:sp>
          <p:nvSpPr>
            <p:cNvPr id="98312" name="Rectangle 8"/>
            <p:cNvSpPr>
              <a:spLocks noChangeArrowheads="1"/>
            </p:cNvSpPr>
            <p:nvPr/>
          </p:nvSpPr>
          <p:spPr bwMode="auto">
            <a:xfrm>
              <a:off x="744" y="2112"/>
              <a:ext cx="130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i="1"/>
                <a:t>X </a:t>
              </a:r>
              <a:r>
                <a:rPr lang="zh-CN" altLang="en-US" sz="2800" b="1"/>
                <a:t>与 </a:t>
              </a:r>
              <a:r>
                <a:rPr lang="en-US" altLang="zh-CN" sz="3200" b="1" i="1"/>
                <a:t>Y </a:t>
              </a:r>
              <a:r>
                <a:rPr lang="zh-CN" altLang="en-US" sz="2800" b="1"/>
                <a:t>独立</a:t>
              </a:r>
              <a:endParaRPr lang="zh-CN" altLang="en-US" sz="2800" b="1"/>
            </a:p>
          </p:txBody>
        </p:sp>
        <p:sp>
          <p:nvSpPr>
            <p:cNvPr id="98313" name="Rectangle 9"/>
            <p:cNvSpPr>
              <a:spLocks noChangeArrowheads="1"/>
            </p:cNvSpPr>
            <p:nvPr/>
          </p:nvSpPr>
          <p:spPr bwMode="auto">
            <a:xfrm>
              <a:off x="2514" y="2112"/>
              <a:ext cx="152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i="1"/>
                <a:t>X </a:t>
              </a:r>
              <a:r>
                <a:rPr lang="zh-CN" altLang="en-US" sz="2800" b="1"/>
                <a:t>与 </a:t>
              </a:r>
              <a:r>
                <a:rPr lang="en-US" altLang="zh-CN" sz="3200" b="1" i="1"/>
                <a:t>Y </a:t>
              </a:r>
              <a:r>
                <a:rPr lang="zh-CN" altLang="en-US" sz="2800" b="1"/>
                <a:t>不相关</a:t>
              </a:r>
              <a:endParaRPr lang="zh-CN" altLang="en-US" sz="2800" b="1"/>
            </a:p>
          </p:txBody>
        </p:sp>
        <p:graphicFrame>
          <p:nvGraphicFramePr>
            <p:cNvPr id="98314" name="Object 0"/>
            <p:cNvGraphicFramePr>
              <a:graphicFrameLocks noChangeAspect="1"/>
            </p:cNvGraphicFramePr>
            <p:nvPr/>
          </p:nvGraphicFramePr>
          <p:xfrm>
            <a:off x="2048" y="2160"/>
            <a:ext cx="448" cy="336"/>
          </p:xfrm>
          <a:graphic>
            <a:graphicData uri="http://schemas.openxmlformats.org/presentationml/2006/ole">
              <mc:AlternateContent xmlns:mc="http://schemas.openxmlformats.org/markup-compatibility/2006">
                <mc:Choice xmlns:v="urn:schemas-microsoft-com:vml" Requires="v">
                  <p:oleObj spid="_x0000_s98355" name="公式" r:id="rId1" imgW="114300" imgH="67310" progId="Equation.3">
                    <p:embed/>
                  </p:oleObj>
                </mc:Choice>
                <mc:Fallback>
                  <p:oleObj name="公式" r:id="rId1" imgW="114300" imgH="67310" progId="Equation.3">
                    <p:embed/>
                    <p:pic>
                      <p:nvPicPr>
                        <p:cNvPr id="0" name="Object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8" y="2160"/>
                          <a:ext cx="448"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317443"/>
                                        </p:tgtEl>
                                        <p:attrNameLst>
                                          <p:attrName>style.visibility</p:attrName>
                                        </p:attrNameLst>
                                      </p:cBhvr>
                                      <p:to>
                                        <p:strVal val="visible"/>
                                      </p:to>
                                    </p:set>
                                    <p:animEffect transition="in" filter="barn(outVertical)">
                                      <p:cBhvr>
                                        <p:cTn id="7" dur="500"/>
                                        <p:tgtEl>
                                          <p:spTgt spid="3174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17444"/>
                                        </p:tgtEl>
                                        <p:attrNameLst>
                                          <p:attrName>style.visibility</p:attrName>
                                        </p:attrNameLst>
                                      </p:cBhvr>
                                      <p:to>
                                        <p:strVal val="visible"/>
                                      </p:to>
                                    </p:set>
                                    <p:animEffect transition="in" filter="wipe(left)">
                                      <p:cBhvr>
                                        <p:cTn id="12" dur="500"/>
                                        <p:tgtEl>
                                          <p:spTgt spid="31744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3174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17446"/>
                                        </p:tgtEl>
                                        <p:attrNameLst>
                                          <p:attrName>style.visibility</p:attrName>
                                        </p:attrNameLst>
                                      </p:cBhvr>
                                      <p:to>
                                        <p:strVal val="visible"/>
                                      </p:to>
                                    </p:set>
                                    <p:animEffect transition="in" filter="wipe(left)">
                                      <p:cBhvr>
                                        <p:cTn id="21" dur="500"/>
                                        <p:tgtEl>
                                          <p:spTgt spid="31744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right)">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43" grpId="0" autoUpdateAnimBg="0"/>
      <p:bldP spid="317444" grpId="0" autoUpdateAnimBg="0"/>
      <p:bldP spid="317445" grpId="0" autoUpdateAnimBg="0"/>
      <p:bldP spid="317446"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ChangeArrowheads="1"/>
          </p:cNvSpPr>
          <p:nvPr/>
        </p:nvSpPr>
        <p:spPr bwMode="auto">
          <a:xfrm>
            <a:off x="1066800" y="914400"/>
            <a:ext cx="6778625"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000">
                <a:solidFill>
                  <a:srgbClr val="000000"/>
                </a:solidFill>
                <a:ea typeface="黑体" panose="02010609060101010101" pitchFamily="49" charset="-122"/>
              </a:rPr>
              <a:t>第四节       矩、协方差矩阵</a:t>
            </a:r>
            <a:endParaRPr lang="zh-CN" altLang="en-US" sz="4000">
              <a:solidFill>
                <a:srgbClr val="000000"/>
              </a:solidFill>
              <a:ea typeface="黑体" panose="02010609060101010101" pitchFamily="49" charset="-122"/>
            </a:endParaRPr>
          </a:p>
        </p:txBody>
      </p:sp>
      <p:sp>
        <p:nvSpPr>
          <p:cNvPr id="99331" name="Text Box 3"/>
          <p:cNvSpPr txBox="1">
            <a:spLocks noChangeArrowheads="1"/>
          </p:cNvSpPr>
          <p:nvPr/>
        </p:nvSpPr>
        <p:spPr bwMode="auto">
          <a:xfrm>
            <a:off x="2362200" y="2209800"/>
            <a:ext cx="5256213" cy="277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1">
                <a:solidFill>
                  <a:schemeClr val="tx2"/>
                </a:solidFill>
              </a:rPr>
              <a:t>原点矩   中心矩</a:t>
            </a:r>
            <a:endParaRPr lang="zh-CN" altLang="en-US" sz="3200" b="1"/>
          </a:p>
          <a:p>
            <a:pPr>
              <a:spcBef>
                <a:spcPct val="50000"/>
              </a:spcBef>
            </a:pPr>
            <a:r>
              <a:rPr lang="zh-CN" altLang="en-US" sz="3200" b="1">
                <a:solidFill>
                  <a:schemeClr val="tx2"/>
                </a:solidFill>
              </a:rPr>
              <a:t>协方差矩阵</a:t>
            </a:r>
            <a:endParaRPr lang="zh-CN" altLang="en-US" sz="3200" b="1"/>
          </a:p>
          <a:p>
            <a:pPr>
              <a:spcBef>
                <a:spcPct val="50000"/>
              </a:spcBef>
            </a:pPr>
            <a:r>
              <a:rPr lang="en-US" altLang="zh-CN" sz="3200" b="1" i="1">
                <a:solidFill>
                  <a:schemeClr val="tx2"/>
                </a:solidFill>
              </a:rPr>
              <a:t>n </a:t>
            </a:r>
            <a:r>
              <a:rPr lang="zh-CN" altLang="en-US" sz="3200" b="1">
                <a:solidFill>
                  <a:schemeClr val="tx2"/>
                </a:solidFill>
              </a:rPr>
              <a:t>元正态分布的概率密度</a:t>
            </a:r>
            <a:endParaRPr lang="zh-CN" altLang="en-US" sz="3200" b="1"/>
          </a:p>
          <a:p>
            <a:pPr>
              <a:spcBef>
                <a:spcPct val="50000"/>
              </a:spcBef>
            </a:pPr>
            <a:r>
              <a:rPr lang="zh-CN" altLang="en-US" sz="3200" b="1"/>
              <a:t>小结</a:t>
            </a:r>
            <a:endParaRPr lang="zh-CN" altLang="en-US" sz="3200" b="1"/>
          </a:p>
        </p:txBody>
      </p:sp>
      <p:pic>
        <p:nvPicPr>
          <p:cNvPr id="99332" name="Picture 4" descr="f012">
            <a:hlinkClick r:id="" action="ppaction://noaction" highlightClick="1"/>
          </p:cNvPr>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1714500" y="2325688"/>
            <a:ext cx="523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3" name="Picture 5" descr="f012">
            <a:hlinkClick r:id="" action="ppaction://noaction" highlightClick="1">
              <a:snd r:embed="rId2" name="chimes.wav"/>
            </a:hlinkClick>
          </p:cNvPr>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1712913" y="3046413"/>
            <a:ext cx="523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4" name="Picture 6" descr="f012">
            <a:hlinkClick r:id="" action="ppaction://noaction" highlightClick="1"/>
          </p:cNvPr>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1712913" y="3765550"/>
            <a:ext cx="523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5" name="Picture 7" descr="f012">
            <a:hlinkClick r:id="" action="ppaction://noaction" highlightClick="1"/>
          </p:cNvPr>
          <p:cNvPicPr>
            <a:picLocks noChangeAspect="1" noChangeArrowheads="1" noCrop="1"/>
          </p:cNvPicPr>
          <p:nvPr/>
        </p:nvPicPr>
        <p:blipFill>
          <a:blip r:embed="rId1">
            <a:extLst>
              <a:ext uri="{28A0092B-C50C-407E-A947-70E740481C1C}">
                <a14:useLocalDpi xmlns:a14="http://schemas.microsoft.com/office/drawing/2010/main" val="0"/>
              </a:ext>
            </a:extLst>
          </a:blip>
          <a:srcRect/>
          <a:stretch>
            <a:fillRect/>
          </a:stretch>
        </p:blipFill>
        <p:spPr bwMode="auto">
          <a:xfrm>
            <a:off x="1712913" y="4484688"/>
            <a:ext cx="5238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p:cNvSpPr txBox="1">
            <a:spLocks noChangeArrowheads="1"/>
          </p:cNvSpPr>
          <p:nvPr/>
        </p:nvSpPr>
        <p:spPr bwMode="auto">
          <a:xfrm>
            <a:off x="1203325" y="228600"/>
            <a:ext cx="426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b="1">
                <a:solidFill>
                  <a:schemeClr val="tx2"/>
                </a:solidFill>
                <a:latin typeface="黑体" panose="02010609060101010101" pitchFamily="49" charset="-122"/>
                <a:ea typeface="黑体" panose="02010609060101010101" pitchFamily="49" charset="-122"/>
              </a:rPr>
              <a:t>一、 原点矩   中心矩</a:t>
            </a:r>
            <a:endParaRPr lang="zh-CN" altLang="en-US" sz="3200" b="1">
              <a:solidFill>
                <a:schemeClr val="tx2"/>
              </a:solidFill>
              <a:latin typeface="黑体" panose="02010609060101010101" pitchFamily="49" charset="-122"/>
              <a:ea typeface="黑体" panose="02010609060101010101" pitchFamily="49" charset="-122"/>
            </a:endParaRPr>
          </a:p>
        </p:txBody>
      </p:sp>
      <p:graphicFrame>
        <p:nvGraphicFramePr>
          <p:cNvPr id="100355" name="Object 0"/>
          <p:cNvGraphicFramePr>
            <a:graphicFrameLocks noChangeAspect="1"/>
          </p:cNvGraphicFramePr>
          <p:nvPr/>
        </p:nvGraphicFramePr>
        <p:xfrm>
          <a:off x="4867275" y="2990850"/>
          <a:ext cx="190500" cy="419100"/>
        </p:xfrm>
        <a:graphic>
          <a:graphicData uri="http://schemas.openxmlformats.org/presentationml/2006/ole">
            <mc:AlternateContent xmlns:mc="http://schemas.openxmlformats.org/markup-compatibility/2006">
              <mc:Choice xmlns:v="urn:schemas-microsoft-com:vml" Requires="v">
                <p:oleObj spid="_x0000_s100483" name="Equation" r:id="rId1" imgW="190500" imgH="419100" progId="Equation.3">
                  <p:embed/>
                </p:oleObj>
              </mc:Choice>
              <mc:Fallback>
                <p:oleObj name="Equation" r:id="rId1" imgW="190500" imgH="419100" progId="Equation.3">
                  <p:embed/>
                  <p:pic>
                    <p:nvPicPr>
                      <p:cNvPr id="0" name="Object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7275" y="2990850"/>
                        <a:ext cx="1905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0516" name="Text Box 4"/>
          <p:cNvSpPr txBox="1">
            <a:spLocks noChangeArrowheads="1"/>
          </p:cNvSpPr>
          <p:nvPr/>
        </p:nvSpPr>
        <p:spPr bwMode="auto">
          <a:xfrm>
            <a:off x="1839913" y="1190625"/>
            <a:ext cx="53387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solidFill>
                  <a:srgbClr val="003399"/>
                </a:solidFill>
              </a:rPr>
              <a:t>定义</a:t>
            </a:r>
            <a:r>
              <a:rPr lang="zh-CN" altLang="en-US" sz="2800" b="1"/>
              <a:t>     设</a:t>
            </a:r>
            <a:r>
              <a:rPr lang="en-US" altLang="zh-CN" sz="2800" b="1"/>
              <a:t>X</a:t>
            </a:r>
            <a:r>
              <a:rPr lang="zh-CN" altLang="en-US" sz="2800" b="1"/>
              <a:t>和</a:t>
            </a:r>
            <a:r>
              <a:rPr lang="en-US" altLang="zh-CN" sz="2800" b="1"/>
              <a:t>Y</a:t>
            </a:r>
            <a:r>
              <a:rPr lang="zh-CN" altLang="en-US" sz="2800" b="1"/>
              <a:t>是随机变量，若   </a:t>
            </a:r>
            <a:endParaRPr lang="zh-CN" altLang="en-US" sz="2800" b="1"/>
          </a:p>
        </p:txBody>
      </p:sp>
      <p:graphicFrame>
        <p:nvGraphicFramePr>
          <p:cNvPr id="399361" name="Object 1"/>
          <p:cNvGraphicFramePr>
            <a:graphicFrameLocks noChangeAspect="1"/>
          </p:cNvGraphicFramePr>
          <p:nvPr/>
        </p:nvGraphicFramePr>
        <p:xfrm>
          <a:off x="3919538" y="1828800"/>
          <a:ext cx="2451100" cy="444500"/>
        </p:xfrm>
        <a:graphic>
          <a:graphicData uri="http://schemas.openxmlformats.org/presentationml/2006/ole">
            <mc:AlternateContent xmlns:mc="http://schemas.openxmlformats.org/markup-compatibility/2006">
              <mc:Choice xmlns:v="urn:schemas-microsoft-com:vml" Requires="v">
                <p:oleObj spid="_x0000_s100484" name="Equation" r:id="rId3" imgW="2362200" imgH="365760" progId="Equation.3">
                  <p:embed/>
                </p:oleObj>
              </mc:Choice>
              <mc:Fallback>
                <p:oleObj name="Equation" r:id="rId3" imgW="2362200" imgH="36576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9538" y="1828800"/>
                        <a:ext cx="245110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0518" name="Text Box 6"/>
          <p:cNvSpPr txBox="1">
            <a:spLocks noChangeArrowheads="1"/>
          </p:cNvSpPr>
          <p:nvPr/>
        </p:nvSpPr>
        <p:spPr bwMode="auto">
          <a:xfrm>
            <a:off x="1098550" y="2486025"/>
            <a:ext cx="673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存在，称它为</a:t>
            </a:r>
            <a:r>
              <a:rPr lang="en-US" altLang="zh-CN" sz="2800" b="1">
                <a:solidFill>
                  <a:schemeClr val="accent2"/>
                </a:solidFill>
              </a:rPr>
              <a:t>X</a:t>
            </a:r>
            <a:r>
              <a:rPr lang="zh-CN" altLang="en-US" sz="2800" b="1">
                <a:solidFill>
                  <a:schemeClr val="accent2"/>
                </a:solidFill>
              </a:rPr>
              <a:t>的</a:t>
            </a:r>
            <a:r>
              <a:rPr lang="en-US" altLang="zh-CN" sz="2800" b="1">
                <a:solidFill>
                  <a:schemeClr val="accent2"/>
                </a:solidFill>
              </a:rPr>
              <a:t>k</a:t>
            </a:r>
            <a:r>
              <a:rPr lang="zh-CN" altLang="en-US" sz="2800" b="1">
                <a:solidFill>
                  <a:schemeClr val="accent2"/>
                </a:solidFill>
              </a:rPr>
              <a:t>阶原点矩</a:t>
            </a:r>
            <a:r>
              <a:rPr lang="zh-CN" altLang="en-US" sz="2800" b="1"/>
              <a:t>，简称 </a:t>
            </a:r>
            <a:r>
              <a:rPr lang="en-US" altLang="zh-CN" sz="2800" b="1">
                <a:solidFill>
                  <a:schemeClr val="accent2"/>
                </a:solidFill>
              </a:rPr>
              <a:t>k</a:t>
            </a:r>
            <a:r>
              <a:rPr lang="zh-CN" altLang="en-US" sz="2800" b="1">
                <a:solidFill>
                  <a:schemeClr val="accent2"/>
                </a:solidFill>
              </a:rPr>
              <a:t>阶矩 </a:t>
            </a:r>
            <a:endParaRPr lang="zh-CN" altLang="en-US" sz="2800" b="1">
              <a:solidFill>
                <a:schemeClr val="accent2"/>
              </a:solidFill>
            </a:endParaRPr>
          </a:p>
        </p:txBody>
      </p:sp>
      <p:graphicFrame>
        <p:nvGraphicFramePr>
          <p:cNvPr id="399362" name="Object 2"/>
          <p:cNvGraphicFramePr>
            <a:graphicFrameLocks noChangeAspect="1"/>
          </p:cNvGraphicFramePr>
          <p:nvPr/>
        </p:nvGraphicFramePr>
        <p:xfrm>
          <a:off x="2413000" y="3270250"/>
          <a:ext cx="4584700" cy="444500"/>
        </p:xfrm>
        <a:graphic>
          <a:graphicData uri="http://schemas.openxmlformats.org/presentationml/2006/ole">
            <mc:AlternateContent xmlns:mc="http://schemas.openxmlformats.org/markup-compatibility/2006">
              <mc:Choice xmlns:v="urn:schemas-microsoft-com:vml" Requires="v">
                <p:oleObj spid="_x0000_s100485" name="Equation" r:id="rId5" imgW="4495800" imgH="365760" progId="Equation.3">
                  <p:embed/>
                </p:oleObj>
              </mc:Choice>
              <mc:Fallback>
                <p:oleObj name="Equation" r:id="rId5" imgW="4495800" imgH="36576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3000" y="3270250"/>
                        <a:ext cx="458470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0520" name="Text Box 8"/>
          <p:cNvSpPr txBox="1">
            <a:spLocks noChangeArrowheads="1"/>
          </p:cNvSpPr>
          <p:nvPr/>
        </p:nvSpPr>
        <p:spPr bwMode="auto">
          <a:xfrm>
            <a:off x="1044575" y="3987800"/>
            <a:ext cx="4568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存在，称它为</a:t>
            </a:r>
            <a:r>
              <a:rPr lang="en-US" altLang="zh-CN" sz="2800" b="1">
                <a:solidFill>
                  <a:schemeClr val="accent2"/>
                </a:solidFill>
              </a:rPr>
              <a:t>X</a:t>
            </a:r>
            <a:r>
              <a:rPr lang="zh-CN" altLang="en-US" sz="2800" b="1">
                <a:solidFill>
                  <a:schemeClr val="accent2"/>
                </a:solidFill>
              </a:rPr>
              <a:t>的</a:t>
            </a:r>
            <a:r>
              <a:rPr lang="en-US" altLang="zh-CN" sz="2800" b="1">
                <a:solidFill>
                  <a:schemeClr val="accent2"/>
                </a:solidFill>
              </a:rPr>
              <a:t>k</a:t>
            </a:r>
            <a:r>
              <a:rPr lang="zh-CN" altLang="en-US" sz="2800" b="1">
                <a:solidFill>
                  <a:schemeClr val="accent2"/>
                </a:solidFill>
              </a:rPr>
              <a:t>阶中心矩</a:t>
            </a:r>
            <a:endParaRPr lang="zh-CN" altLang="en-US" sz="2800" b="1">
              <a:solidFill>
                <a:schemeClr val="accent2"/>
              </a:solidFill>
            </a:endParaRPr>
          </a:p>
        </p:txBody>
      </p:sp>
      <p:sp>
        <p:nvSpPr>
          <p:cNvPr id="320521" name="Text Box 9"/>
          <p:cNvSpPr txBox="1">
            <a:spLocks noChangeArrowheads="1"/>
          </p:cNvSpPr>
          <p:nvPr/>
        </p:nvSpPr>
        <p:spPr bwMode="auto">
          <a:xfrm>
            <a:off x="1003300" y="4572000"/>
            <a:ext cx="81407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可见，均值 </a:t>
            </a:r>
            <a:r>
              <a:rPr lang="en-US" altLang="zh-CN" sz="3200" b="1"/>
              <a:t>E</a:t>
            </a:r>
            <a:r>
              <a:rPr lang="zh-CN" altLang="en-US" sz="3200" b="1"/>
              <a:t>（</a:t>
            </a:r>
            <a:r>
              <a:rPr lang="en-US" altLang="zh-CN" sz="3200" b="1"/>
              <a:t>X</a:t>
            </a:r>
            <a:r>
              <a:rPr lang="zh-CN" altLang="en-US" sz="3200" b="1"/>
              <a:t>）</a:t>
            </a:r>
            <a:r>
              <a:rPr lang="zh-CN" altLang="en-US" sz="2800" b="1"/>
              <a:t>是</a:t>
            </a:r>
            <a:r>
              <a:rPr lang="en-US" altLang="zh-CN" sz="2800" b="1"/>
              <a:t>X</a:t>
            </a:r>
            <a:r>
              <a:rPr lang="zh-CN" altLang="en-US" sz="2800" b="1"/>
              <a:t>一阶原点矩，方差</a:t>
            </a:r>
            <a:r>
              <a:rPr lang="en-US" altLang="zh-CN" sz="2800" b="1"/>
              <a:t>D</a:t>
            </a:r>
            <a:r>
              <a:rPr lang="zh-CN" altLang="en-US" sz="2800" b="1"/>
              <a:t>（</a:t>
            </a:r>
            <a:r>
              <a:rPr lang="en-US" altLang="zh-CN" sz="2800" b="1"/>
              <a:t>X</a:t>
            </a:r>
            <a:r>
              <a:rPr lang="zh-CN" altLang="en-US" sz="2800" b="1"/>
              <a:t>）</a:t>
            </a:r>
            <a:endParaRPr lang="zh-CN" altLang="en-US" sz="2800" b="1"/>
          </a:p>
        </p:txBody>
      </p:sp>
      <p:sp>
        <p:nvSpPr>
          <p:cNvPr id="320522" name="Text Box 10"/>
          <p:cNvSpPr txBox="1">
            <a:spLocks noChangeArrowheads="1"/>
          </p:cNvSpPr>
          <p:nvPr/>
        </p:nvSpPr>
        <p:spPr bwMode="auto">
          <a:xfrm>
            <a:off x="985838" y="5305425"/>
            <a:ext cx="3298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是</a:t>
            </a:r>
            <a:r>
              <a:rPr lang="en-US" altLang="zh-CN" sz="2800" b="1"/>
              <a:t>X</a:t>
            </a:r>
            <a:r>
              <a:rPr lang="zh-CN" altLang="en-US" sz="2800" b="1"/>
              <a:t>的二阶中心矩。</a:t>
            </a:r>
            <a:endParaRPr lang="zh-CN" altLang="en-US"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0516"/>
                                        </p:tgtEl>
                                        <p:attrNameLst>
                                          <p:attrName>style.visibility</p:attrName>
                                        </p:attrNameLst>
                                      </p:cBhvr>
                                      <p:to>
                                        <p:strVal val="visible"/>
                                      </p:to>
                                    </p:set>
                                    <p:anim calcmode="lin" valueType="num">
                                      <p:cBhvr additive="base">
                                        <p:cTn id="7" dur="500" fill="hold"/>
                                        <p:tgtEl>
                                          <p:spTgt spid="320516"/>
                                        </p:tgtEl>
                                        <p:attrNameLst>
                                          <p:attrName>ppt_x</p:attrName>
                                        </p:attrNameLst>
                                      </p:cBhvr>
                                      <p:tavLst>
                                        <p:tav tm="0">
                                          <p:val>
                                            <p:strVal val="0-#ppt_w/2"/>
                                          </p:val>
                                        </p:tav>
                                        <p:tav tm="100000">
                                          <p:val>
                                            <p:strVal val="#ppt_x"/>
                                          </p:val>
                                        </p:tav>
                                      </p:tavLst>
                                    </p:anim>
                                    <p:anim calcmode="lin" valueType="num">
                                      <p:cBhvr additive="base">
                                        <p:cTn id="8" dur="500" fill="hold"/>
                                        <p:tgtEl>
                                          <p:spTgt spid="3205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99361"/>
                                        </p:tgtEl>
                                        <p:attrNameLst>
                                          <p:attrName>style.visibility</p:attrName>
                                        </p:attrNameLst>
                                      </p:cBhvr>
                                      <p:to>
                                        <p:strVal val="visible"/>
                                      </p:to>
                                    </p:set>
                                    <p:anim calcmode="lin" valueType="num">
                                      <p:cBhvr additive="base">
                                        <p:cTn id="13" dur="500" fill="hold"/>
                                        <p:tgtEl>
                                          <p:spTgt spid="399361"/>
                                        </p:tgtEl>
                                        <p:attrNameLst>
                                          <p:attrName>ppt_x</p:attrName>
                                        </p:attrNameLst>
                                      </p:cBhvr>
                                      <p:tavLst>
                                        <p:tav tm="0">
                                          <p:val>
                                            <p:strVal val="0-#ppt_w/2"/>
                                          </p:val>
                                        </p:tav>
                                        <p:tav tm="100000">
                                          <p:val>
                                            <p:strVal val="#ppt_x"/>
                                          </p:val>
                                        </p:tav>
                                      </p:tavLst>
                                    </p:anim>
                                    <p:anim calcmode="lin" valueType="num">
                                      <p:cBhvr additive="base">
                                        <p:cTn id="14" dur="500" fill="hold"/>
                                        <p:tgtEl>
                                          <p:spTgt spid="39936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20518"/>
                                        </p:tgtEl>
                                        <p:attrNameLst>
                                          <p:attrName>style.visibility</p:attrName>
                                        </p:attrNameLst>
                                      </p:cBhvr>
                                      <p:to>
                                        <p:strVal val="visible"/>
                                      </p:to>
                                    </p:set>
                                    <p:anim calcmode="lin" valueType="num">
                                      <p:cBhvr additive="base">
                                        <p:cTn id="19" dur="500" fill="hold"/>
                                        <p:tgtEl>
                                          <p:spTgt spid="320518"/>
                                        </p:tgtEl>
                                        <p:attrNameLst>
                                          <p:attrName>ppt_x</p:attrName>
                                        </p:attrNameLst>
                                      </p:cBhvr>
                                      <p:tavLst>
                                        <p:tav tm="0">
                                          <p:val>
                                            <p:strVal val="0-#ppt_w/2"/>
                                          </p:val>
                                        </p:tav>
                                        <p:tav tm="100000">
                                          <p:val>
                                            <p:strVal val="#ppt_x"/>
                                          </p:val>
                                        </p:tav>
                                      </p:tavLst>
                                    </p:anim>
                                    <p:anim calcmode="lin" valueType="num">
                                      <p:cBhvr additive="base">
                                        <p:cTn id="20" dur="500" fill="hold"/>
                                        <p:tgtEl>
                                          <p:spTgt spid="32051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399362"/>
                                        </p:tgtEl>
                                        <p:attrNameLst>
                                          <p:attrName>style.visibility</p:attrName>
                                        </p:attrNameLst>
                                      </p:cBhvr>
                                      <p:to>
                                        <p:strVal val="visible"/>
                                      </p:to>
                                    </p:set>
                                    <p:anim calcmode="lin" valueType="num">
                                      <p:cBhvr additive="base">
                                        <p:cTn id="25" dur="500" fill="hold"/>
                                        <p:tgtEl>
                                          <p:spTgt spid="399362"/>
                                        </p:tgtEl>
                                        <p:attrNameLst>
                                          <p:attrName>ppt_x</p:attrName>
                                        </p:attrNameLst>
                                      </p:cBhvr>
                                      <p:tavLst>
                                        <p:tav tm="0">
                                          <p:val>
                                            <p:strVal val="0-#ppt_w/2"/>
                                          </p:val>
                                        </p:tav>
                                        <p:tav tm="100000">
                                          <p:val>
                                            <p:strVal val="#ppt_x"/>
                                          </p:val>
                                        </p:tav>
                                      </p:tavLst>
                                    </p:anim>
                                    <p:anim calcmode="lin" valueType="num">
                                      <p:cBhvr additive="base">
                                        <p:cTn id="26" dur="500" fill="hold"/>
                                        <p:tgtEl>
                                          <p:spTgt spid="39936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20520"/>
                                        </p:tgtEl>
                                        <p:attrNameLst>
                                          <p:attrName>style.visibility</p:attrName>
                                        </p:attrNameLst>
                                      </p:cBhvr>
                                      <p:to>
                                        <p:strVal val="visible"/>
                                      </p:to>
                                    </p:set>
                                    <p:anim calcmode="lin" valueType="num">
                                      <p:cBhvr additive="base">
                                        <p:cTn id="31" dur="500" fill="hold"/>
                                        <p:tgtEl>
                                          <p:spTgt spid="320520"/>
                                        </p:tgtEl>
                                        <p:attrNameLst>
                                          <p:attrName>ppt_x</p:attrName>
                                        </p:attrNameLst>
                                      </p:cBhvr>
                                      <p:tavLst>
                                        <p:tav tm="0">
                                          <p:val>
                                            <p:strVal val="0-#ppt_w/2"/>
                                          </p:val>
                                        </p:tav>
                                        <p:tav tm="100000">
                                          <p:val>
                                            <p:strVal val="#ppt_x"/>
                                          </p:val>
                                        </p:tav>
                                      </p:tavLst>
                                    </p:anim>
                                    <p:anim calcmode="lin" valueType="num">
                                      <p:cBhvr additive="base">
                                        <p:cTn id="32" dur="500" fill="hold"/>
                                        <p:tgtEl>
                                          <p:spTgt spid="32052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20521"/>
                                        </p:tgtEl>
                                        <p:attrNameLst>
                                          <p:attrName>style.visibility</p:attrName>
                                        </p:attrNameLst>
                                      </p:cBhvr>
                                      <p:to>
                                        <p:strVal val="visible"/>
                                      </p:to>
                                    </p:set>
                                    <p:anim calcmode="lin" valueType="num">
                                      <p:cBhvr additive="base">
                                        <p:cTn id="37" dur="500" fill="hold"/>
                                        <p:tgtEl>
                                          <p:spTgt spid="320521"/>
                                        </p:tgtEl>
                                        <p:attrNameLst>
                                          <p:attrName>ppt_x</p:attrName>
                                        </p:attrNameLst>
                                      </p:cBhvr>
                                      <p:tavLst>
                                        <p:tav tm="0">
                                          <p:val>
                                            <p:strVal val="0-#ppt_w/2"/>
                                          </p:val>
                                        </p:tav>
                                        <p:tav tm="100000">
                                          <p:val>
                                            <p:strVal val="#ppt_x"/>
                                          </p:val>
                                        </p:tav>
                                      </p:tavLst>
                                    </p:anim>
                                    <p:anim calcmode="lin" valueType="num">
                                      <p:cBhvr additive="base">
                                        <p:cTn id="38" dur="500" fill="hold"/>
                                        <p:tgtEl>
                                          <p:spTgt spid="3205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20522"/>
                                        </p:tgtEl>
                                        <p:attrNameLst>
                                          <p:attrName>style.visibility</p:attrName>
                                        </p:attrNameLst>
                                      </p:cBhvr>
                                      <p:to>
                                        <p:strVal val="visible"/>
                                      </p:to>
                                    </p:set>
                                    <p:anim calcmode="lin" valueType="num">
                                      <p:cBhvr additive="base">
                                        <p:cTn id="43" dur="500" fill="hold"/>
                                        <p:tgtEl>
                                          <p:spTgt spid="320522"/>
                                        </p:tgtEl>
                                        <p:attrNameLst>
                                          <p:attrName>ppt_x</p:attrName>
                                        </p:attrNameLst>
                                      </p:cBhvr>
                                      <p:tavLst>
                                        <p:tav tm="0">
                                          <p:val>
                                            <p:strVal val="0-#ppt_w/2"/>
                                          </p:val>
                                        </p:tav>
                                        <p:tav tm="100000">
                                          <p:val>
                                            <p:strVal val="#ppt_x"/>
                                          </p:val>
                                        </p:tav>
                                      </p:tavLst>
                                    </p:anim>
                                    <p:anim calcmode="lin" valueType="num">
                                      <p:cBhvr additive="base">
                                        <p:cTn id="44" dur="500" fill="hold"/>
                                        <p:tgtEl>
                                          <p:spTgt spid="3205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516" grpId="0" autoUpdateAnimBg="0"/>
      <p:bldP spid="320518" grpId="0" autoUpdateAnimBg="0"/>
      <p:bldP spid="320520" grpId="0" autoUpdateAnimBg="0"/>
      <p:bldP spid="320521" grpId="0" autoUpdateAnimBg="0"/>
      <p:bldP spid="320522"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Text Box 2"/>
          <p:cNvSpPr txBox="1">
            <a:spLocks noChangeArrowheads="1"/>
          </p:cNvSpPr>
          <p:nvPr/>
        </p:nvSpPr>
        <p:spPr bwMode="auto">
          <a:xfrm>
            <a:off x="977900" y="4913313"/>
            <a:ext cx="7129463"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b="1"/>
              <a:t>协方差</a:t>
            </a:r>
            <a:r>
              <a:rPr lang="en-US" altLang="zh-CN" sz="3200" b="1" i="1"/>
              <a:t>Cov</a:t>
            </a:r>
            <a:r>
              <a:rPr lang="en-US" altLang="zh-CN" sz="3200" b="1"/>
              <a:t>(</a:t>
            </a:r>
            <a:r>
              <a:rPr lang="en-US" altLang="zh-CN" sz="3200" b="1" i="1"/>
              <a:t>X</a:t>
            </a:r>
            <a:r>
              <a:rPr lang="en-US" altLang="zh-CN" sz="3200" b="1"/>
              <a:t>,</a:t>
            </a:r>
            <a:r>
              <a:rPr lang="en-US" altLang="zh-CN" sz="3200" b="1" i="1"/>
              <a:t>Y</a:t>
            </a:r>
            <a:r>
              <a:rPr lang="en-US" altLang="zh-CN" sz="3200" b="1"/>
              <a:t>)</a:t>
            </a:r>
            <a:r>
              <a:rPr lang="zh-CN" altLang="en-US" sz="2800" b="1"/>
              <a:t>是</a:t>
            </a:r>
            <a:r>
              <a:rPr lang="en-US" altLang="zh-CN" sz="3200" b="1" i="1"/>
              <a:t>X</a:t>
            </a:r>
            <a:r>
              <a:rPr lang="zh-CN" altLang="en-US" sz="2800" b="1"/>
              <a:t>和</a:t>
            </a:r>
            <a:r>
              <a:rPr lang="en-US" altLang="zh-CN" sz="3200" b="1" i="1"/>
              <a:t>Y</a:t>
            </a:r>
            <a:r>
              <a:rPr lang="zh-CN" altLang="en-US" sz="3200" b="1"/>
              <a:t>的</a:t>
            </a:r>
            <a:r>
              <a:rPr lang="zh-CN" altLang="en-US" sz="2800" b="1"/>
              <a:t>二阶混合中心矩</a:t>
            </a:r>
            <a:r>
              <a:rPr lang="en-US" altLang="zh-CN" sz="3200" b="1"/>
              <a:t>.</a:t>
            </a:r>
            <a:endParaRPr lang="en-US" altLang="zh-CN" sz="3200" b="1"/>
          </a:p>
        </p:txBody>
      </p:sp>
      <p:sp>
        <p:nvSpPr>
          <p:cNvPr id="321539" name="Rectangle 3"/>
          <p:cNvSpPr>
            <a:spLocks noChangeArrowheads="1"/>
          </p:cNvSpPr>
          <p:nvPr/>
        </p:nvSpPr>
        <p:spPr bwMode="auto">
          <a:xfrm>
            <a:off x="1052513" y="1741488"/>
            <a:ext cx="65547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称它为 </a:t>
            </a:r>
            <a:r>
              <a:rPr lang="en-US" altLang="zh-CN" sz="3200" b="1" i="1">
                <a:solidFill>
                  <a:schemeClr val="accent2"/>
                </a:solidFill>
              </a:rPr>
              <a:t>X </a:t>
            </a:r>
            <a:r>
              <a:rPr lang="zh-CN" altLang="en-US" sz="2800" b="1">
                <a:solidFill>
                  <a:schemeClr val="accent2"/>
                </a:solidFill>
              </a:rPr>
              <a:t>和 </a:t>
            </a:r>
            <a:r>
              <a:rPr lang="en-US" altLang="zh-CN" sz="3200" b="1" i="1">
                <a:solidFill>
                  <a:schemeClr val="accent2"/>
                </a:solidFill>
              </a:rPr>
              <a:t>Y </a:t>
            </a:r>
            <a:r>
              <a:rPr lang="zh-CN" altLang="en-US" sz="2800" b="1">
                <a:solidFill>
                  <a:schemeClr val="accent2"/>
                </a:solidFill>
              </a:rPr>
              <a:t>的 </a:t>
            </a:r>
            <a:r>
              <a:rPr lang="en-US" altLang="zh-CN" sz="3200" b="1" i="1">
                <a:solidFill>
                  <a:schemeClr val="accent2"/>
                </a:solidFill>
              </a:rPr>
              <a:t>k+l </a:t>
            </a:r>
            <a:r>
              <a:rPr lang="zh-CN" altLang="en-US" sz="2800" b="1">
                <a:solidFill>
                  <a:schemeClr val="accent2"/>
                </a:solidFill>
              </a:rPr>
              <a:t>阶混合（原点）矩</a:t>
            </a:r>
            <a:r>
              <a:rPr lang="en-US" altLang="zh-CN" sz="2800" b="1"/>
              <a:t>.</a:t>
            </a:r>
            <a:endParaRPr lang="en-US" altLang="zh-CN" sz="2800" b="1"/>
          </a:p>
        </p:txBody>
      </p:sp>
      <p:grpSp>
        <p:nvGrpSpPr>
          <p:cNvPr id="2" name="Group 4"/>
          <p:cNvGrpSpPr/>
          <p:nvPr/>
        </p:nvGrpSpPr>
        <p:grpSpPr bwMode="auto">
          <a:xfrm>
            <a:off x="1692275" y="2636838"/>
            <a:ext cx="7067550" cy="654050"/>
            <a:chOff x="672" y="1747"/>
            <a:chExt cx="4452" cy="412"/>
          </a:xfrm>
        </p:grpSpPr>
        <p:sp>
          <p:nvSpPr>
            <p:cNvPr id="101388" name="Rectangle 5"/>
            <p:cNvSpPr>
              <a:spLocks noChangeArrowheads="1"/>
            </p:cNvSpPr>
            <p:nvPr/>
          </p:nvSpPr>
          <p:spPr bwMode="auto">
            <a:xfrm>
              <a:off x="672" y="1747"/>
              <a:ext cx="37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1"/>
                <a:t>若</a:t>
              </a:r>
              <a:endParaRPr lang="zh-CN" altLang="en-US" sz="3200" b="1"/>
            </a:p>
          </p:txBody>
        </p:sp>
        <p:graphicFrame>
          <p:nvGraphicFramePr>
            <p:cNvPr id="101389" name="Object 1"/>
            <p:cNvGraphicFramePr>
              <a:graphicFrameLocks noChangeAspect="1"/>
            </p:cNvGraphicFramePr>
            <p:nvPr/>
          </p:nvGraphicFramePr>
          <p:xfrm>
            <a:off x="1200" y="1776"/>
            <a:ext cx="2875" cy="383"/>
          </p:xfrm>
          <a:graphic>
            <a:graphicData uri="http://schemas.openxmlformats.org/presentationml/2006/ole">
              <mc:AlternateContent xmlns:mc="http://schemas.openxmlformats.org/markup-compatibility/2006">
                <mc:Choice xmlns:v="urn:schemas-microsoft-com:vml" Requires="v">
                  <p:oleObj spid="_x0000_s101471" name="Equation" r:id="rId1" imgW="1628775" imgH="144145" progId="Equation.DSMT4">
                    <p:embed/>
                  </p:oleObj>
                </mc:Choice>
                <mc:Fallback>
                  <p:oleObj name="Equation" r:id="rId1" imgW="1628775" imgH="144145"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0" y="1776"/>
                          <a:ext cx="2875" cy="383"/>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90" name="Rectangle 7"/>
            <p:cNvSpPr>
              <a:spLocks noChangeArrowheads="1"/>
            </p:cNvSpPr>
            <p:nvPr/>
          </p:nvSpPr>
          <p:spPr bwMode="auto">
            <a:xfrm>
              <a:off x="4237" y="1776"/>
              <a:ext cx="8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1"/>
                <a:t>存在，</a:t>
              </a:r>
              <a:endParaRPr lang="zh-CN" altLang="en-US" sz="3200" b="1"/>
            </a:p>
          </p:txBody>
        </p:sp>
      </p:grpSp>
      <p:sp>
        <p:nvSpPr>
          <p:cNvPr id="321544" name="Rectangle 8"/>
          <p:cNvSpPr>
            <a:spLocks noChangeArrowheads="1"/>
          </p:cNvSpPr>
          <p:nvPr/>
        </p:nvSpPr>
        <p:spPr bwMode="auto">
          <a:xfrm>
            <a:off x="1046163" y="3563938"/>
            <a:ext cx="58912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称它为</a:t>
            </a:r>
            <a:r>
              <a:rPr lang="en-US" altLang="zh-CN" sz="3200" b="1" i="1">
                <a:solidFill>
                  <a:schemeClr val="accent2"/>
                </a:solidFill>
              </a:rPr>
              <a:t>X </a:t>
            </a:r>
            <a:r>
              <a:rPr lang="zh-CN" altLang="en-US" sz="2800" b="1">
                <a:solidFill>
                  <a:schemeClr val="accent2"/>
                </a:solidFill>
              </a:rPr>
              <a:t>和</a:t>
            </a:r>
            <a:r>
              <a:rPr lang="zh-CN" altLang="en-US" sz="3200" b="1">
                <a:solidFill>
                  <a:schemeClr val="accent2"/>
                </a:solidFill>
              </a:rPr>
              <a:t> </a:t>
            </a:r>
            <a:r>
              <a:rPr lang="en-US" altLang="zh-CN" sz="3200" b="1" i="1">
                <a:solidFill>
                  <a:schemeClr val="accent2"/>
                </a:solidFill>
              </a:rPr>
              <a:t>Y </a:t>
            </a:r>
            <a:r>
              <a:rPr lang="zh-CN" altLang="en-US" sz="2800" b="1">
                <a:solidFill>
                  <a:schemeClr val="accent2"/>
                </a:solidFill>
              </a:rPr>
              <a:t>的</a:t>
            </a:r>
            <a:r>
              <a:rPr lang="zh-CN" altLang="en-US" sz="3200" b="1">
                <a:solidFill>
                  <a:schemeClr val="accent2"/>
                </a:solidFill>
              </a:rPr>
              <a:t> </a:t>
            </a:r>
            <a:r>
              <a:rPr lang="en-US" altLang="zh-CN" sz="3200" b="1" i="1">
                <a:solidFill>
                  <a:schemeClr val="accent2"/>
                </a:solidFill>
              </a:rPr>
              <a:t>k</a:t>
            </a:r>
            <a:r>
              <a:rPr lang="en-US" altLang="zh-CN" sz="3200" b="1">
                <a:solidFill>
                  <a:schemeClr val="accent2"/>
                </a:solidFill>
              </a:rPr>
              <a:t>+</a:t>
            </a:r>
            <a:r>
              <a:rPr lang="en-US" altLang="zh-CN" sz="3200" b="1" i="1">
                <a:solidFill>
                  <a:schemeClr val="accent2"/>
                </a:solidFill>
              </a:rPr>
              <a:t>l </a:t>
            </a:r>
            <a:r>
              <a:rPr lang="zh-CN" altLang="en-US" sz="2800" b="1">
                <a:solidFill>
                  <a:schemeClr val="accent2"/>
                </a:solidFill>
              </a:rPr>
              <a:t>阶混合中心矩</a:t>
            </a:r>
            <a:r>
              <a:rPr lang="en-US" altLang="zh-CN" sz="3200" b="1"/>
              <a:t>. </a:t>
            </a:r>
            <a:endParaRPr lang="en-US" altLang="zh-CN" sz="3200" b="1"/>
          </a:p>
        </p:txBody>
      </p:sp>
      <p:grpSp>
        <p:nvGrpSpPr>
          <p:cNvPr id="101382" name="Group 9"/>
          <p:cNvGrpSpPr/>
          <p:nvPr/>
        </p:nvGrpSpPr>
        <p:grpSpPr bwMode="auto">
          <a:xfrm>
            <a:off x="1763713" y="333375"/>
            <a:ext cx="6642100" cy="1333500"/>
            <a:chOff x="796" y="192"/>
            <a:chExt cx="4184" cy="840"/>
          </a:xfrm>
        </p:grpSpPr>
        <p:graphicFrame>
          <p:nvGraphicFramePr>
            <p:cNvPr id="101384" name="Object 0"/>
            <p:cNvGraphicFramePr>
              <a:graphicFrameLocks noChangeAspect="1"/>
            </p:cNvGraphicFramePr>
            <p:nvPr/>
          </p:nvGraphicFramePr>
          <p:xfrm>
            <a:off x="1211" y="624"/>
            <a:ext cx="1065" cy="408"/>
          </p:xfrm>
          <a:graphic>
            <a:graphicData uri="http://schemas.openxmlformats.org/presentationml/2006/ole">
              <mc:AlternateContent xmlns:mc="http://schemas.openxmlformats.org/markup-compatibility/2006">
                <mc:Choice xmlns:v="urn:schemas-microsoft-com:vml" Requires="v">
                  <p:oleObj spid="_x0000_s101472" name="Equation" r:id="rId3" imgW="514350" imgH="144145" progId="Equation.DSMT4">
                    <p:embed/>
                  </p:oleObj>
                </mc:Choice>
                <mc:Fallback>
                  <p:oleObj name="Equation" r:id="rId3" imgW="514350" imgH="144145" progId="Equation.DSMT4">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1" y="624"/>
                          <a:ext cx="1065" cy="408"/>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85" name="Rectangle 11"/>
            <p:cNvSpPr>
              <a:spLocks noChangeArrowheads="1"/>
            </p:cNvSpPr>
            <p:nvPr/>
          </p:nvSpPr>
          <p:spPr bwMode="auto">
            <a:xfrm>
              <a:off x="796" y="192"/>
              <a:ext cx="270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设 </a:t>
              </a:r>
              <a:r>
                <a:rPr lang="en-US" altLang="zh-CN" sz="3200" b="1" i="1"/>
                <a:t>X </a:t>
              </a:r>
              <a:r>
                <a:rPr lang="zh-CN" altLang="en-US" sz="2800" b="1"/>
                <a:t>和 </a:t>
              </a:r>
              <a:r>
                <a:rPr lang="en-US" altLang="zh-CN" sz="3200" b="1" i="1"/>
                <a:t>Y </a:t>
              </a:r>
              <a:r>
                <a:rPr lang="zh-CN" altLang="en-US" sz="2800" b="1"/>
                <a:t>是随机变量，若</a:t>
              </a:r>
              <a:endParaRPr lang="zh-CN" altLang="en-US" sz="2800" b="1"/>
            </a:p>
          </p:txBody>
        </p:sp>
        <p:sp>
          <p:nvSpPr>
            <p:cNvPr id="101386" name="Rectangle 12"/>
            <p:cNvSpPr>
              <a:spLocks noChangeArrowheads="1"/>
            </p:cNvSpPr>
            <p:nvPr/>
          </p:nvSpPr>
          <p:spPr bwMode="auto">
            <a:xfrm>
              <a:off x="2464" y="624"/>
              <a:ext cx="129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b="1" i="1"/>
                <a:t>  k,l</a:t>
              </a:r>
              <a:r>
                <a:rPr lang="en-US" altLang="zh-CN" sz="3200" b="1"/>
                <a:t>=1,2,…</a:t>
              </a:r>
              <a:endParaRPr lang="en-US" altLang="zh-CN" sz="3200" b="1"/>
            </a:p>
          </p:txBody>
        </p:sp>
        <p:sp>
          <p:nvSpPr>
            <p:cNvPr id="101387" name="Rectangle 13"/>
            <p:cNvSpPr>
              <a:spLocks noChangeArrowheads="1"/>
            </p:cNvSpPr>
            <p:nvPr/>
          </p:nvSpPr>
          <p:spPr bwMode="auto">
            <a:xfrm>
              <a:off x="4189" y="595"/>
              <a:ext cx="7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存在，</a:t>
              </a:r>
              <a:endParaRPr lang="zh-CN" altLang="en-US" sz="2800" b="1"/>
            </a:p>
          </p:txBody>
        </p:sp>
      </p:grpSp>
      <p:sp>
        <p:nvSpPr>
          <p:cNvPr id="321550" name="Rectangle 14"/>
          <p:cNvSpPr>
            <a:spLocks noChangeArrowheads="1"/>
          </p:cNvSpPr>
          <p:nvPr/>
        </p:nvSpPr>
        <p:spPr bwMode="auto">
          <a:xfrm>
            <a:off x="946150" y="4310063"/>
            <a:ext cx="12557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rgbClr val="003399"/>
                </a:solidFill>
              </a:rPr>
              <a:t>可见，</a:t>
            </a:r>
            <a:endParaRPr lang="zh-CN" altLang="en-US" sz="2800" b="1">
              <a:solidFill>
                <a:srgbClr val="0033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21539"/>
                                        </p:tgtEl>
                                        <p:attrNameLst>
                                          <p:attrName>style.visibility</p:attrName>
                                        </p:attrNameLst>
                                      </p:cBhvr>
                                      <p:to>
                                        <p:strVal val="visible"/>
                                      </p:to>
                                    </p:set>
                                    <p:animEffect transition="in" filter="wipe(right)">
                                      <p:cBhvr>
                                        <p:cTn id="7" dur="500"/>
                                        <p:tgtEl>
                                          <p:spTgt spid="3215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321544"/>
                                        </p:tgtEl>
                                        <p:attrNameLst>
                                          <p:attrName>style.visibility</p:attrName>
                                        </p:attrNameLst>
                                      </p:cBhvr>
                                      <p:to>
                                        <p:strVal val="visible"/>
                                      </p:to>
                                    </p:set>
                                    <p:animEffect transition="in" filter="wipe(right)">
                                      <p:cBhvr>
                                        <p:cTn id="17" dur="500"/>
                                        <p:tgtEl>
                                          <p:spTgt spid="32154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321550"/>
                                        </p:tgtEl>
                                        <p:attrNameLst>
                                          <p:attrName>style.visibility</p:attrName>
                                        </p:attrNameLst>
                                      </p:cBhvr>
                                      <p:to>
                                        <p:strVal val="visible"/>
                                      </p:to>
                                    </p:set>
                                    <p:anim calcmode="lin" valueType="num">
                                      <p:cBhvr additive="base">
                                        <p:cTn id="22" dur="500" fill="hold"/>
                                        <p:tgtEl>
                                          <p:spTgt spid="321550"/>
                                        </p:tgtEl>
                                        <p:attrNameLst>
                                          <p:attrName>ppt_x</p:attrName>
                                        </p:attrNameLst>
                                      </p:cBhvr>
                                      <p:tavLst>
                                        <p:tav tm="0">
                                          <p:val>
                                            <p:strVal val="0-#ppt_w/2"/>
                                          </p:val>
                                        </p:tav>
                                        <p:tav tm="100000">
                                          <p:val>
                                            <p:strVal val="#ppt_x"/>
                                          </p:val>
                                        </p:tav>
                                      </p:tavLst>
                                    </p:anim>
                                    <p:anim calcmode="lin" valueType="num">
                                      <p:cBhvr additive="base">
                                        <p:cTn id="23" dur="500" fill="hold"/>
                                        <p:tgtEl>
                                          <p:spTgt spid="321550"/>
                                        </p:tgtEl>
                                        <p:attrNameLst>
                                          <p:attrName>ppt_y</p:attrName>
                                        </p:attrNameLst>
                                      </p:cBhvr>
                                      <p:tavLst>
                                        <p:tav tm="0">
                                          <p:val>
                                            <p:strVal val="#ppt_y"/>
                                          </p:val>
                                        </p:tav>
                                        <p:tav tm="100000">
                                          <p:val>
                                            <p:strVal val="#ppt_y"/>
                                          </p:val>
                                        </p:tav>
                                      </p:tavLst>
                                    </p:anim>
                                  </p:childTnLst>
                                </p:cTn>
                              </p:par>
                            </p:childTnLst>
                          </p:cTn>
                        </p:par>
                        <p:par>
                          <p:cTn id="24" fill="hold">
                            <p:stCondLst>
                              <p:cond delay="500"/>
                            </p:stCondLst>
                            <p:childTnLst>
                              <p:par>
                                <p:cTn id="25" presetID="2" presetClass="entr" presetSubtype="2" fill="hold" grpId="0" nodeType="afterEffect">
                                  <p:stCondLst>
                                    <p:cond delay="0"/>
                                  </p:stCondLst>
                                  <p:childTnLst>
                                    <p:set>
                                      <p:cBhvr>
                                        <p:cTn id="26" dur="1" fill="hold">
                                          <p:stCondLst>
                                            <p:cond delay="0"/>
                                          </p:stCondLst>
                                        </p:cTn>
                                        <p:tgtEl>
                                          <p:spTgt spid="321538"/>
                                        </p:tgtEl>
                                        <p:attrNameLst>
                                          <p:attrName>style.visibility</p:attrName>
                                        </p:attrNameLst>
                                      </p:cBhvr>
                                      <p:to>
                                        <p:strVal val="visible"/>
                                      </p:to>
                                    </p:set>
                                    <p:anim calcmode="lin" valueType="num">
                                      <p:cBhvr additive="base">
                                        <p:cTn id="27" dur="500" fill="hold"/>
                                        <p:tgtEl>
                                          <p:spTgt spid="321538"/>
                                        </p:tgtEl>
                                        <p:attrNameLst>
                                          <p:attrName>ppt_x</p:attrName>
                                        </p:attrNameLst>
                                      </p:cBhvr>
                                      <p:tavLst>
                                        <p:tav tm="0">
                                          <p:val>
                                            <p:strVal val="1+#ppt_w/2"/>
                                          </p:val>
                                        </p:tav>
                                        <p:tav tm="100000">
                                          <p:val>
                                            <p:strVal val="#ppt_x"/>
                                          </p:val>
                                        </p:tav>
                                      </p:tavLst>
                                    </p:anim>
                                    <p:anim calcmode="lin" valueType="num">
                                      <p:cBhvr additive="base">
                                        <p:cTn id="28" dur="500" fill="hold"/>
                                        <p:tgtEl>
                                          <p:spTgt spid="3215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1538" grpId="0" autoUpdateAnimBg="0"/>
      <p:bldP spid="321539" grpId="0" autoUpdateAnimBg="0"/>
      <p:bldP spid="321544" grpId="0" autoUpdateAnimBg="0"/>
      <p:bldP spid="321550"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2"/>
          <p:cNvSpPr txBox="1">
            <a:spLocks noChangeArrowheads="1"/>
          </p:cNvSpPr>
          <p:nvPr/>
        </p:nvSpPr>
        <p:spPr bwMode="auto">
          <a:xfrm>
            <a:off x="685800" y="152400"/>
            <a:ext cx="49545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chemeClr val="tx2"/>
                </a:solidFill>
                <a:latin typeface="黑体" panose="02010609060101010101" pitchFamily="49" charset="-122"/>
                <a:ea typeface="黑体" panose="02010609060101010101" pitchFamily="49" charset="-122"/>
              </a:rPr>
              <a:t>二、</a:t>
            </a:r>
            <a:r>
              <a:rPr lang="zh-CN" altLang="en-US" sz="3200" b="1">
                <a:solidFill>
                  <a:schemeClr val="tx2"/>
                </a:solidFill>
                <a:ea typeface="黑体" panose="02010609060101010101" pitchFamily="49" charset="-122"/>
              </a:rPr>
              <a:t>协方差矩阵</a:t>
            </a:r>
            <a:endParaRPr lang="zh-CN" altLang="en-US" sz="3200" b="1">
              <a:solidFill>
                <a:schemeClr val="tx2"/>
              </a:solidFill>
              <a:latin typeface="黑体" panose="02010609060101010101" pitchFamily="49" charset="-122"/>
              <a:ea typeface="黑体" panose="02010609060101010101" pitchFamily="49" charset="-122"/>
            </a:endParaRPr>
          </a:p>
        </p:txBody>
      </p:sp>
      <p:sp>
        <p:nvSpPr>
          <p:cNvPr id="322563" name="Rectangle 3"/>
          <p:cNvSpPr>
            <a:spLocks noChangeArrowheads="1"/>
          </p:cNvSpPr>
          <p:nvPr/>
        </p:nvSpPr>
        <p:spPr bwMode="auto">
          <a:xfrm>
            <a:off x="1401763" y="1016000"/>
            <a:ext cx="70596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将二维随机变量（</a:t>
            </a:r>
            <a:r>
              <a:rPr lang="en-US" altLang="zh-CN" sz="2800" b="1" i="1"/>
              <a:t>X</a:t>
            </a:r>
            <a:r>
              <a:rPr lang="en-US" altLang="zh-CN" sz="2800" b="1" baseline="-25000"/>
              <a:t>1</a:t>
            </a:r>
            <a:r>
              <a:rPr lang="en-US" altLang="zh-CN" sz="2800" b="1"/>
              <a:t>,</a:t>
            </a:r>
            <a:r>
              <a:rPr lang="en-US" altLang="zh-CN" sz="2800" b="1" i="1"/>
              <a:t>X</a:t>
            </a:r>
            <a:r>
              <a:rPr lang="en-US" altLang="zh-CN" sz="2800" b="1" baseline="-25000"/>
              <a:t>2</a:t>
            </a:r>
            <a:r>
              <a:rPr lang="zh-CN" altLang="en-US" sz="2800" b="1"/>
              <a:t>）的四个二阶中心矩</a:t>
            </a:r>
            <a:endParaRPr lang="zh-CN" altLang="en-US" sz="2800" b="1"/>
          </a:p>
        </p:txBody>
      </p:sp>
      <p:graphicFrame>
        <p:nvGraphicFramePr>
          <p:cNvPr id="401408" name="Object 0"/>
          <p:cNvGraphicFramePr>
            <a:graphicFrameLocks noChangeAspect="1"/>
          </p:cNvGraphicFramePr>
          <p:nvPr/>
        </p:nvGraphicFramePr>
        <p:xfrm>
          <a:off x="1579563" y="1592263"/>
          <a:ext cx="3663950" cy="568325"/>
        </p:xfrm>
        <a:graphic>
          <a:graphicData uri="http://schemas.openxmlformats.org/presentationml/2006/ole">
            <mc:AlternateContent xmlns:mc="http://schemas.openxmlformats.org/markup-compatibility/2006">
              <mc:Choice xmlns:v="urn:schemas-microsoft-com:vml" Requires="v">
                <p:oleObj spid="_x0000_s102614" name="公式" r:id="rId1" imgW="1390650" imgH="144145" progId="Equation.3">
                  <p:embed/>
                </p:oleObj>
              </mc:Choice>
              <mc:Fallback>
                <p:oleObj name="公式" r:id="rId1" imgW="1390650" imgH="144145" progId="Equation.3">
                  <p:embed/>
                  <p:pic>
                    <p:nvPicPr>
                      <p:cNvPr id="0" name="Object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9563" y="1592263"/>
                        <a:ext cx="3663950" cy="56832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1409" name="Object 1"/>
          <p:cNvGraphicFramePr>
            <a:graphicFrameLocks noChangeAspect="1"/>
          </p:cNvGraphicFramePr>
          <p:nvPr/>
        </p:nvGraphicFramePr>
        <p:xfrm>
          <a:off x="1581150" y="2201863"/>
          <a:ext cx="5921375" cy="558800"/>
        </p:xfrm>
        <a:graphic>
          <a:graphicData uri="http://schemas.openxmlformats.org/presentationml/2006/ole">
            <mc:AlternateContent xmlns:mc="http://schemas.openxmlformats.org/markup-compatibility/2006">
              <mc:Choice xmlns:v="urn:schemas-microsoft-com:vml" Requires="v">
                <p:oleObj spid="_x0000_s102615" name="公式" r:id="rId3" imgW="2190750" imgH="134620" progId="Equation.3">
                  <p:embed/>
                </p:oleObj>
              </mc:Choice>
              <mc:Fallback>
                <p:oleObj name="公式" r:id="rId3" imgW="2190750" imgH="134620" progId="Equation.3">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1150" y="2201863"/>
                        <a:ext cx="5921375" cy="55880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2566" name="Rectangle 6"/>
          <p:cNvSpPr>
            <a:spLocks noChangeArrowheads="1"/>
          </p:cNvSpPr>
          <p:nvPr/>
        </p:nvSpPr>
        <p:spPr bwMode="auto">
          <a:xfrm>
            <a:off x="685800" y="4302125"/>
            <a:ext cx="2803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排成矩阵的形式</a:t>
            </a:r>
            <a:r>
              <a:rPr lang="en-US" altLang="zh-CN" sz="2800" b="1"/>
              <a:t>:</a:t>
            </a:r>
            <a:endParaRPr lang="en-US" altLang="zh-CN" sz="2800" b="1"/>
          </a:p>
        </p:txBody>
      </p:sp>
      <p:graphicFrame>
        <p:nvGraphicFramePr>
          <p:cNvPr id="401410" name="Object 2"/>
          <p:cNvGraphicFramePr>
            <a:graphicFrameLocks noChangeAspect="1"/>
          </p:cNvGraphicFramePr>
          <p:nvPr/>
        </p:nvGraphicFramePr>
        <p:xfrm>
          <a:off x="1603375" y="2811463"/>
          <a:ext cx="5743575" cy="541337"/>
        </p:xfrm>
        <a:graphic>
          <a:graphicData uri="http://schemas.openxmlformats.org/presentationml/2006/ole">
            <mc:AlternateContent xmlns:mc="http://schemas.openxmlformats.org/markup-compatibility/2006">
              <mc:Choice xmlns:v="urn:schemas-microsoft-com:vml" Requires="v">
                <p:oleObj spid="_x0000_s102616" name="公式" r:id="rId5" imgW="2190750" imgH="134620" progId="Equation.3">
                  <p:embed/>
                </p:oleObj>
              </mc:Choice>
              <mc:Fallback>
                <p:oleObj name="公式" r:id="rId5" imgW="2190750" imgH="13462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3375" y="2811463"/>
                        <a:ext cx="5743575" cy="541337"/>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1411" name="Object 3"/>
          <p:cNvGraphicFramePr>
            <a:graphicFrameLocks noChangeAspect="1"/>
          </p:cNvGraphicFramePr>
          <p:nvPr/>
        </p:nvGraphicFramePr>
        <p:xfrm>
          <a:off x="1579563" y="3416300"/>
          <a:ext cx="3863975" cy="584200"/>
        </p:xfrm>
        <a:graphic>
          <a:graphicData uri="http://schemas.openxmlformats.org/presentationml/2006/ole">
            <mc:AlternateContent xmlns:mc="http://schemas.openxmlformats.org/markup-compatibility/2006">
              <mc:Choice xmlns:v="urn:schemas-microsoft-com:vml" Requires="v">
                <p:oleObj spid="_x0000_s102617" name="公式" r:id="rId7" imgW="1428750" imgH="144145" progId="Equation.3">
                  <p:embed/>
                </p:oleObj>
              </mc:Choice>
              <mc:Fallback>
                <p:oleObj name="公式" r:id="rId7" imgW="1428750" imgH="144145"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79563" y="3416300"/>
                        <a:ext cx="3863975" cy="584200"/>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2569" name="Rectangle 9"/>
          <p:cNvSpPr>
            <a:spLocks noChangeArrowheads="1"/>
          </p:cNvSpPr>
          <p:nvPr/>
        </p:nvSpPr>
        <p:spPr bwMode="auto">
          <a:xfrm>
            <a:off x="708025" y="5481638"/>
            <a:ext cx="57197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称此矩阵为</a:t>
            </a:r>
            <a:r>
              <a:rPr lang="zh-CN" altLang="en-US" sz="2800" b="1">
                <a:solidFill>
                  <a:schemeClr val="accent2"/>
                </a:solidFill>
              </a:rPr>
              <a:t>（</a:t>
            </a:r>
            <a:r>
              <a:rPr lang="en-US" altLang="zh-CN" sz="2800" b="1" i="1">
                <a:solidFill>
                  <a:schemeClr val="accent2"/>
                </a:solidFill>
              </a:rPr>
              <a:t>X</a:t>
            </a:r>
            <a:r>
              <a:rPr lang="en-US" altLang="zh-CN" sz="2800" b="1" baseline="-25000">
                <a:solidFill>
                  <a:schemeClr val="accent2"/>
                </a:solidFill>
              </a:rPr>
              <a:t>1</a:t>
            </a:r>
            <a:r>
              <a:rPr lang="en-US" altLang="zh-CN" sz="2800" b="1">
                <a:solidFill>
                  <a:schemeClr val="accent2"/>
                </a:solidFill>
              </a:rPr>
              <a:t>,</a:t>
            </a:r>
            <a:r>
              <a:rPr lang="en-US" altLang="zh-CN" sz="2800" b="1" i="1">
                <a:solidFill>
                  <a:schemeClr val="accent2"/>
                </a:solidFill>
              </a:rPr>
              <a:t>X</a:t>
            </a:r>
            <a:r>
              <a:rPr lang="en-US" altLang="zh-CN" sz="2800" b="1" baseline="-25000">
                <a:solidFill>
                  <a:schemeClr val="accent2"/>
                </a:solidFill>
              </a:rPr>
              <a:t>2</a:t>
            </a:r>
            <a:r>
              <a:rPr lang="zh-CN" altLang="en-US" sz="2800" b="1">
                <a:solidFill>
                  <a:schemeClr val="accent2"/>
                </a:solidFill>
              </a:rPr>
              <a:t>）的协方差矩阵</a:t>
            </a:r>
            <a:r>
              <a:rPr lang="en-US" altLang="zh-CN" sz="2800" b="1"/>
              <a:t>.</a:t>
            </a:r>
            <a:endParaRPr lang="en-US" altLang="zh-CN" sz="2800" b="1"/>
          </a:p>
        </p:txBody>
      </p:sp>
      <p:graphicFrame>
        <p:nvGraphicFramePr>
          <p:cNvPr id="401412" name="Object 4"/>
          <p:cNvGraphicFramePr>
            <a:graphicFrameLocks noChangeAspect="1"/>
          </p:cNvGraphicFramePr>
          <p:nvPr/>
        </p:nvGraphicFramePr>
        <p:xfrm>
          <a:off x="3835400" y="4040188"/>
          <a:ext cx="1754188" cy="1255712"/>
        </p:xfrm>
        <a:graphic>
          <a:graphicData uri="http://schemas.openxmlformats.org/presentationml/2006/ole">
            <mc:AlternateContent xmlns:mc="http://schemas.openxmlformats.org/markup-compatibility/2006">
              <mc:Choice xmlns:v="urn:schemas-microsoft-com:vml" Requires="v">
                <p:oleObj spid="_x0000_s102618" name="公式" r:id="rId9" imgW="590550" imgH="404495" progId="Equation.3">
                  <p:embed/>
                </p:oleObj>
              </mc:Choice>
              <mc:Fallback>
                <p:oleObj name="公式" r:id="rId9" imgW="590550" imgH="404495" progId="Equation.3">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35400" y="4040188"/>
                        <a:ext cx="1754188" cy="1255712"/>
                      </a:xfrm>
                      <a:prstGeom prst="rect">
                        <a:avLst/>
                      </a:prstGeom>
                      <a:noFill/>
                      <a:ln>
                        <a:noFill/>
                      </a:ln>
                      <a:effectLst/>
                      <a:extLst>
                        <a:ext uri="{909E8E84-426E-40DD-AFC4-6F175D3DCCD1}">
                          <a14:hiddenFill xmlns:a14="http://schemas.microsoft.com/office/drawing/2010/main">
                            <a:solidFill>
                              <a:srgbClr val="660033"/>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1"/>
          <p:cNvGrpSpPr/>
          <p:nvPr/>
        </p:nvGrpSpPr>
        <p:grpSpPr bwMode="auto">
          <a:xfrm>
            <a:off x="6427788" y="3592513"/>
            <a:ext cx="1773237" cy="1600200"/>
            <a:chOff x="4176" y="2160"/>
            <a:chExt cx="1344" cy="1008"/>
          </a:xfrm>
        </p:grpSpPr>
        <p:sp>
          <p:nvSpPr>
            <p:cNvPr id="102412" name="AutoShape 12"/>
            <p:cNvSpPr>
              <a:spLocks noChangeArrowheads="1"/>
            </p:cNvSpPr>
            <p:nvPr/>
          </p:nvSpPr>
          <p:spPr bwMode="auto">
            <a:xfrm>
              <a:off x="4176" y="2160"/>
              <a:ext cx="1344" cy="1008"/>
            </a:xfrm>
            <a:prstGeom prst="wedgeRoundRectCallout">
              <a:avLst>
                <a:gd name="adj1" fmla="val -89287"/>
                <a:gd name="adj2" fmla="val 28375"/>
                <a:gd name="adj3" fmla="val 16667"/>
              </a:avLst>
            </a:prstGeom>
            <a:solidFill>
              <a:srgbClr val="FFFFEF"/>
            </a:solidFill>
            <a:ln w="9525">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800"/>
            </a:p>
          </p:txBody>
        </p:sp>
        <p:sp>
          <p:nvSpPr>
            <p:cNvPr id="102413" name="Text Box 13"/>
            <p:cNvSpPr txBox="1">
              <a:spLocks noChangeArrowheads="1"/>
            </p:cNvSpPr>
            <p:nvPr/>
          </p:nvSpPr>
          <p:spPr bwMode="auto">
            <a:xfrm>
              <a:off x="4187" y="2303"/>
              <a:ext cx="1222" cy="731"/>
            </a:xfrm>
            <a:prstGeom prst="rect">
              <a:avLst/>
            </a:prstGeom>
            <a:solidFill>
              <a:srgbClr val="FFFFE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b="1"/>
                <a:t>这是一个</a:t>
              </a:r>
              <a:endParaRPr lang="zh-CN" altLang="en-US" sz="2800" b="1"/>
            </a:p>
            <a:p>
              <a:pPr algn="ctr" eaLnBrk="1" hangingPunct="1">
                <a:spcBef>
                  <a:spcPct val="50000"/>
                </a:spcBef>
              </a:pPr>
              <a:r>
                <a:rPr lang="zh-CN" altLang="en-US" sz="2800" b="1"/>
                <a:t>对称矩阵</a:t>
              </a:r>
              <a:endParaRPr lang="zh-CN" altLang="en-US" sz="2800" b="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2563"/>
                                        </p:tgtEl>
                                        <p:attrNameLst>
                                          <p:attrName>style.visibility</p:attrName>
                                        </p:attrNameLst>
                                      </p:cBhvr>
                                      <p:to>
                                        <p:strVal val="visible"/>
                                      </p:to>
                                    </p:set>
                                    <p:anim calcmode="lin" valueType="num">
                                      <p:cBhvr additive="base">
                                        <p:cTn id="7" dur="500" fill="hold"/>
                                        <p:tgtEl>
                                          <p:spTgt spid="322563"/>
                                        </p:tgtEl>
                                        <p:attrNameLst>
                                          <p:attrName>ppt_x</p:attrName>
                                        </p:attrNameLst>
                                      </p:cBhvr>
                                      <p:tavLst>
                                        <p:tav tm="0">
                                          <p:val>
                                            <p:strVal val="0-#ppt_w/2"/>
                                          </p:val>
                                        </p:tav>
                                        <p:tav tm="100000">
                                          <p:val>
                                            <p:strVal val="#ppt_x"/>
                                          </p:val>
                                        </p:tav>
                                      </p:tavLst>
                                    </p:anim>
                                    <p:anim calcmode="lin" valueType="num">
                                      <p:cBhvr additive="base">
                                        <p:cTn id="8" dur="500" fill="hold"/>
                                        <p:tgtEl>
                                          <p:spTgt spid="32256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2" fill="hold" nodeType="clickEffect">
                                  <p:stCondLst>
                                    <p:cond delay="0"/>
                                  </p:stCondLst>
                                  <p:childTnLst>
                                    <p:set>
                                      <p:cBhvr>
                                        <p:cTn id="12" dur="1" fill="hold">
                                          <p:stCondLst>
                                            <p:cond delay="0"/>
                                          </p:stCondLst>
                                        </p:cTn>
                                        <p:tgtEl>
                                          <p:spTgt spid="401408"/>
                                        </p:tgtEl>
                                        <p:attrNameLst>
                                          <p:attrName>style.visibility</p:attrName>
                                        </p:attrNameLst>
                                      </p:cBhvr>
                                      <p:to>
                                        <p:strVal val="visible"/>
                                      </p:to>
                                    </p:set>
                                    <p:animEffect transition="in" filter="wipe(right)">
                                      <p:cBhvr>
                                        <p:cTn id="13" dur="500"/>
                                        <p:tgtEl>
                                          <p:spTgt spid="40140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nodeType="clickEffect">
                                  <p:stCondLst>
                                    <p:cond delay="0"/>
                                  </p:stCondLst>
                                  <p:childTnLst>
                                    <p:set>
                                      <p:cBhvr>
                                        <p:cTn id="17" dur="1" fill="hold">
                                          <p:stCondLst>
                                            <p:cond delay="0"/>
                                          </p:stCondLst>
                                        </p:cTn>
                                        <p:tgtEl>
                                          <p:spTgt spid="401409"/>
                                        </p:tgtEl>
                                        <p:attrNameLst>
                                          <p:attrName>style.visibility</p:attrName>
                                        </p:attrNameLst>
                                      </p:cBhvr>
                                      <p:to>
                                        <p:strVal val="visible"/>
                                      </p:to>
                                    </p:set>
                                    <p:animEffect transition="in" filter="wipe(right)">
                                      <p:cBhvr>
                                        <p:cTn id="18" dur="500"/>
                                        <p:tgtEl>
                                          <p:spTgt spid="40140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nodeType="clickEffect">
                                  <p:stCondLst>
                                    <p:cond delay="0"/>
                                  </p:stCondLst>
                                  <p:childTnLst>
                                    <p:set>
                                      <p:cBhvr>
                                        <p:cTn id="22" dur="1" fill="hold">
                                          <p:stCondLst>
                                            <p:cond delay="0"/>
                                          </p:stCondLst>
                                        </p:cTn>
                                        <p:tgtEl>
                                          <p:spTgt spid="401410"/>
                                        </p:tgtEl>
                                        <p:attrNameLst>
                                          <p:attrName>style.visibility</p:attrName>
                                        </p:attrNameLst>
                                      </p:cBhvr>
                                      <p:to>
                                        <p:strVal val="visible"/>
                                      </p:to>
                                    </p:set>
                                    <p:animEffect transition="in" filter="wipe(right)">
                                      <p:cBhvr>
                                        <p:cTn id="23" dur="500"/>
                                        <p:tgtEl>
                                          <p:spTgt spid="4014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nodeType="clickEffect">
                                  <p:stCondLst>
                                    <p:cond delay="0"/>
                                  </p:stCondLst>
                                  <p:childTnLst>
                                    <p:set>
                                      <p:cBhvr>
                                        <p:cTn id="27" dur="1" fill="hold">
                                          <p:stCondLst>
                                            <p:cond delay="0"/>
                                          </p:stCondLst>
                                        </p:cTn>
                                        <p:tgtEl>
                                          <p:spTgt spid="401411"/>
                                        </p:tgtEl>
                                        <p:attrNameLst>
                                          <p:attrName>style.visibility</p:attrName>
                                        </p:attrNameLst>
                                      </p:cBhvr>
                                      <p:to>
                                        <p:strVal val="visible"/>
                                      </p:to>
                                    </p:set>
                                    <p:animEffect transition="in" filter="wipe(right)">
                                      <p:cBhvr>
                                        <p:cTn id="28" dur="500"/>
                                        <p:tgtEl>
                                          <p:spTgt spid="4014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22566"/>
                                        </p:tgtEl>
                                        <p:attrNameLst>
                                          <p:attrName>style.visibility</p:attrName>
                                        </p:attrNameLst>
                                      </p:cBhvr>
                                      <p:to>
                                        <p:strVal val="visible"/>
                                      </p:to>
                                    </p:set>
                                    <p:animEffect transition="in" filter="wipe(left)">
                                      <p:cBhvr>
                                        <p:cTn id="33" dur="500"/>
                                        <p:tgtEl>
                                          <p:spTgt spid="322566"/>
                                        </p:tgtEl>
                                      </p:cBhvr>
                                    </p:animEffect>
                                  </p:childTnLst>
                                </p:cTn>
                              </p:par>
                            </p:childTnLst>
                          </p:cTn>
                        </p:par>
                        <p:par>
                          <p:cTn id="34" fill="hold">
                            <p:stCondLst>
                              <p:cond delay="500"/>
                            </p:stCondLst>
                            <p:childTnLst>
                              <p:par>
                                <p:cTn id="35" presetID="2" presetClass="entr" presetSubtype="2" fill="hold" nodeType="afterEffect">
                                  <p:stCondLst>
                                    <p:cond delay="0"/>
                                  </p:stCondLst>
                                  <p:childTnLst>
                                    <p:set>
                                      <p:cBhvr>
                                        <p:cTn id="36" dur="1" fill="hold">
                                          <p:stCondLst>
                                            <p:cond delay="0"/>
                                          </p:stCondLst>
                                        </p:cTn>
                                        <p:tgtEl>
                                          <p:spTgt spid="401412"/>
                                        </p:tgtEl>
                                        <p:attrNameLst>
                                          <p:attrName>style.visibility</p:attrName>
                                        </p:attrNameLst>
                                      </p:cBhvr>
                                      <p:to>
                                        <p:strVal val="visible"/>
                                      </p:to>
                                    </p:set>
                                    <p:anim calcmode="lin" valueType="num">
                                      <p:cBhvr additive="base">
                                        <p:cTn id="37" dur="500" fill="hold"/>
                                        <p:tgtEl>
                                          <p:spTgt spid="401412"/>
                                        </p:tgtEl>
                                        <p:attrNameLst>
                                          <p:attrName>ppt_x</p:attrName>
                                        </p:attrNameLst>
                                      </p:cBhvr>
                                      <p:tavLst>
                                        <p:tav tm="0">
                                          <p:val>
                                            <p:strVal val="1+#ppt_w/2"/>
                                          </p:val>
                                        </p:tav>
                                        <p:tav tm="100000">
                                          <p:val>
                                            <p:strVal val="#ppt_x"/>
                                          </p:val>
                                        </p:tav>
                                      </p:tavLst>
                                    </p:anim>
                                    <p:anim calcmode="lin" valueType="num">
                                      <p:cBhvr additive="base">
                                        <p:cTn id="38" dur="500" fill="hold"/>
                                        <p:tgtEl>
                                          <p:spTgt spid="40141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22569"/>
                                        </p:tgtEl>
                                        <p:attrNameLst>
                                          <p:attrName>style.visibility</p:attrName>
                                        </p:attrNameLst>
                                      </p:cBhvr>
                                      <p:to>
                                        <p:strVal val="visible"/>
                                      </p:to>
                                    </p:set>
                                    <p:animEffect transition="in" filter="wipe(left)">
                                      <p:cBhvr>
                                        <p:cTn id="43" dur="500"/>
                                        <p:tgtEl>
                                          <p:spTgt spid="322569"/>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 calcmode="lin" valueType="num">
                                      <p:cBhvr additive="base">
                                        <p:cTn id="48" dur="500" fill="hold"/>
                                        <p:tgtEl>
                                          <p:spTgt spid="2"/>
                                        </p:tgtEl>
                                        <p:attrNameLst>
                                          <p:attrName>ppt_x</p:attrName>
                                        </p:attrNameLst>
                                      </p:cBhvr>
                                      <p:tavLst>
                                        <p:tav tm="0">
                                          <p:val>
                                            <p:strVal val="1+#ppt_w/2"/>
                                          </p:val>
                                        </p:tav>
                                        <p:tav tm="100000">
                                          <p:val>
                                            <p:strVal val="#ppt_x"/>
                                          </p:val>
                                        </p:tav>
                                      </p:tavLst>
                                    </p:anim>
                                    <p:anim calcmode="lin" valueType="num">
                                      <p:cBhvr additive="base">
                                        <p:cTn id="49"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3" grpId="0" autoUpdateAnimBg="0"/>
      <p:bldP spid="322566" grpId="0" autoUpdateAnimBg="0"/>
      <p:bldP spid="322569"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2"/>
          <p:cNvSpPr txBox="1">
            <a:spLocks noChangeArrowheads="1"/>
          </p:cNvSpPr>
          <p:nvPr/>
        </p:nvSpPr>
        <p:spPr bwMode="auto">
          <a:xfrm>
            <a:off x="539750" y="533400"/>
            <a:ext cx="860425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zh-CN" sz="2800" b="1">
                <a:solidFill>
                  <a:schemeClr val="hlink"/>
                </a:solidFill>
              </a:rPr>
              <a:t> </a:t>
            </a:r>
            <a:r>
              <a:rPr lang="zh-CN" altLang="zh-CN" sz="2800" b="1">
                <a:solidFill>
                  <a:srgbClr val="003399"/>
                </a:solidFill>
              </a:rPr>
              <a:t>类似定义</a:t>
            </a:r>
            <a:r>
              <a:rPr lang="en-US" altLang="zh-CN" sz="2800" b="1" i="1">
                <a:solidFill>
                  <a:srgbClr val="003399"/>
                </a:solidFill>
              </a:rPr>
              <a:t>n </a:t>
            </a:r>
            <a:r>
              <a:rPr lang="zh-CN" altLang="en-US" sz="2800" b="1">
                <a:solidFill>
                  <a:srgbClr val="003399"/>
                </a:solidFill>
              </a:rPr>
              <a:t>维随机变量</a:t>
            </a:r>
            <a:r>
              <a:rPr lang="en-US" altLang="zh-CN" sz="2800" b="1">
                <a:solidFill>
                  <a:srgbClr val="003399"/>
                </a:solidFill>
              </a:rPr>
              <a:t>(</a:t>
            </a:r>
            <a:r>
              <a:rPr lang="en-US" altLang="zh-CN" sz="2800" b="1" i="1">
                <a:solidFill>
                  <a:srgbClr val="003399"/>
                </a:solidFill>
              </a:rPr>
              <a:t>X</a:t>
            </a:r>
            <a:r>
              <a:rPr lang="en-US" altLang="zh-CN" sz="2800" b="1" baseline="-25000">
                <a:solidFill>
                  <a:srgbClr val="003399"/>
                </a:solidFill>
              </a:rPr>
              <a:t>1</a:t>
            </a:r>
            <a:r>
              <a:rPr lang="en-US" altLang="zh-CN" sz="2800" b="1">
                <a:solidFill>
                  <a:srgbClr val="003399"/>
                </a:solidFill>
              </a:rPr>
              <a:t>,</a:t>
            </a:r>
            <a:r>
              <a:rPr lang="en-US" altLang="zh-CN" sz="2800" b="1" i="1">
                <a:solidFill>
                  <a:srgbClr val="003399"/>
                </a:solidFill>
              </a:rPr>
              <a:t>X</a:t>
            </a:r>
            <a:r>
              <a:rPr lang="en-US" altLang="zh-CN" sz="2800" b="1" baseline="-25000">
                <a:solidFill>
                  <a:srgbClr val="003399"/>
                </a:solidFill>
              </a:rPr>
              <a:t>2</a:t>
            </a:r>
            <a:r>
              <a:rPr lang="en-US" altLang="zh-CN" sz="2800" b="1">
                <a:solidFill>
                  <a:srgbClr val="003399"/>
                </a:solidFill>
              </a:rPr>
              <a:t>, …,</a:t>
            </a:r>
            <a:r>
              <a:rPr lang="en-US" altLang="zh-CN" sz="2800" b="1" i="1">
                <a:solidFill>
                  <a:srgbClr val="003399"/>
                </a:solidFill>
              </a:rPr>
              <a:t>X</a:t>
            </a:r>
            <a:r>
              <a:rPr lang="en-US" altLang="zh-CN" sz="2800" b="1" baseline="-25000">
                <a:solidFill>
                  <a:srgbClr val="003399"/>
                </a:solidFill>
              </a:rPr>
              <a:t>n</a:t>
            </a:r>
            <a:r>
              <a:rPr lang="en-US" altLang="zh-CN" sz="2800" b="1">
                <a:solidFill>
                  <a:srgbClr val="003399"/>
                </a:solidFill>
              </a:rPr>
              <a:t>) </a:t>
            </a:r>
            <a:r>
              <a:rPr lang="zh-CN" altLang="en-US" sz="2800" b="1">
                <a:solidFill>
                  <a:srgbClr val="003399"/>
                </a:solidFill>
              </a:rPr>
              <a:t>的协方差矩阵</a:t>
            </a:r>
            <a:r>
              <a:rPr lang="en-US" altLang="zh-CN" sz="2800" b="1">
                <a:solidFill>
                  <a:srgbClr val="003399"/>
                </a:solidFill>
              </a:rPr>
              <a:t>.</a:t>
            </a:r>
            <a:endParaRPr lang="en-US" altLang="zh-CN" sz="2800">
              <a:solidFill>
                <a:srgbClr val="003399"/>
              </a:solidFill>
            </a:endParaRPr>
          </a:p>
        </p:txBody>
      </p:sp>
      <p:sp>
        <p:nvSpPr>
          <p:cNvPr id="323587" name="Rectangle 3"/>
          <p:cNvSpPr>
            <a:spLocks noChangeArrowheads="1"/>
          </p:cNvSpPr>
          <p:nvPr/>
        </p:nvSpPr>
        <p:spPr bwMode="auto">
          <a:xfrm>
            <a:off x="1600200" y="5715000"/>
            <a:ext cx="59039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为</a:t>
            </a:r>
            <a:r>
              <a:rPr lang="en-US" altLang="zh-CN" sz="2800" b="1">
                <a:solidFill>
                  <a:schemeClr val="accent2"/>
                </a:solidFill>
              </a:rPr>
              <a:t>(</a:t>
            </a:r>
            <a:r>
              <a:rPr lang="en-US" altLang="zh-CN" sz="2800" b="1" i="1">
                <a:solidFill>
                  <a:schemeClr val="accent2"/>
                </a:solidFill>
              </a:rPr>
              <a:t>X</a:t>
            </a:r>
            <a:r>
              <a:rPr lang="en-US" altLang="zh-CN" sz="2800" b="1" baseline="-25000">
                <a:solidFill>
                  <a:schemeClr val="accent2"/>
                </a:solidFill>
              </a:rPr>
              <a:t>1</a:t>
            </a:r>
            <a:r>
              <a:rPr lang="en-US" altLang="zh-CN" sz="2800" b="1">
                <a:solidFill>
                  <a:schemeClr val="accent2"/>
                </a:solidFill>
              </a:rPr>
              <a:t>,</a:t>
            </a:r>
            <a:r>
              <a:rPr lang="en-US" altLang="zh-CN" sz="2800" b="1" i="1">
                <a:solidFill>
                  <a:schemeClr val="accent2"/>
                </a:solidFill>
              </a:rPr>
              <a:t>X</a:t>
            </a:r>
            <a:r>
              <a:rPr lang="en-US" altLang="zh-CN" sz="2800" b="1" baseline="-25000">
                <a:solidFill>
                  <a:schemeClr val="accent2"/>
                </a:solidFill>
              </a:rPr>
              <a:t>2</a:t>
            </a:r>
            <a:r>
              <a:rPr lang="en-US" altLang="zh-CN" sz="2800" b="1">
                <a:solidFill>
                  <a:schemeClr val="accent2"/>
                </a:solidFill>
              </a:rPr>
              <a:t>, …,</a:t>
            </a:r>
            <a:r>
              <a:rPr lang="en-US" altLang="zh-CN" sz="2800" b="1" i="1">
                <a:solidFill>
                  <a:schemeClr val="accent2"/>
                </a:solidFill>
              </a:rPr>
              <a:t>X</a:t>
            </a:r>
            <a:r>
              <a:rPr lang="en-US" altLang="zh-CN" sz="2800" b="1" baseline="-25000">
                <a:solidFill>
                  <a:schemeClr val="accent2"/>
                </a:solidFill>
              </a:rPr>
              <a:t>n</a:t>
            </a:r>
            <a:r>
              <a:rPr lang="en-US" altLang="zh-CN" sz="2800" b="1">
                <a:solidFill>
                  <a:schemeClr val="accent2"/>
                </a:solidFill>
              </a:rPr>
              <a:t>) </a:t>
            </a:r>
            <a:r>
              <a:rPr lang="zh-CN" altLang="zh-CN" sz="2800" b="1">
                <a:solidFill>
                  <a:schemeClr val="accent2"/>
                </a:solidFill>
              </a:rPr>
              <a:t>的</a:t>
            </a:r>
            <a:r>
              <a:rPr lang="zh-CN" altLang="en-US" sz="2800" b="1">
                <a:solidFill>
                  <a:schemeClr val="accent2"/>
                </a:solidFill>
              </a:rPr>
              <a:t>协方差矩阵</a:t>
            </a:r>
            <a:endParaRPr lang="zh-CN" altLang="en-US" sz="2800" b="1">
              <a:solidFill>
                <a:schemeClr val="accent2"/>
              </a:solidFill>
            </a:endParaRPr>
          </a:p>
        </p:txBody>
      </p:sp>
      <p:grpSp>
        <p:nvGrpSpPr>
          <p:cNvPr id="2" name="Group 4"/>
          <p:cNvGrpSpPr/>
          <p:nvPr/>
        </p:nvGrpSpPr>
        <p:grpSpPr bwMode="auto">
          <a:xfrm>
            <a:off x="544513" y="1346200"/>
            <a:ext cx="6965950" cy="2282825"/>
            <a:chOff x="298" y="994"/>
            <a:chExt cx="4388" cy="1438"/>
          </a:xfrm>
        </p:grpSpPr>
        <p:sp>
          <p:nvSpPr>
            <p:cNvPr id="103435" name="Text Box 5"/>
            <p:cNvSpPr txBox="1">
              <a:spLocks noChangeArrowheads="1"/>
            </p:cNvSpPr>
            <p:nvPr/>
          </p:nvSpPr>
          <p:spPr bwMode="auto">
            <a:xfrm>
              <a:off x="298" y="2105"/>
              <a:ext cx="15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800" b="1"/>
                <a:t>都存在</a:t>
              </a:r>
              <a:r>
                <a:rPr lang="en-US" altLang="zh-CN" sz="2800" b="1"/>
                <a:t>,</a:t>
              </a:r>
              <a:endParaRPr lang="en-US" altLang="zh-CN" sz="2800" b="1"/>
            </a:p>
          </p:txBody>
        </p:sp>
        <p:sp>
          <p:nvSpPr>
            <p:cNvPr id="103436" name="Rectangle 6"/>
            <p:cNvSpPr>
              <a:spLocks noChangeArrowheads="1"/>
            </p:cNvSpPr>
            <p:nvPr/>
          </p:nvSpPr>
          <p:spPr bwMode="auto">
            <a:xfrm>
              <a:off x="1882" y="1742"/>
              <a:ext cx="21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chemeClr val="tx2"/>
                  </a:solidFill>
                </a:rPr>
                <a:t>( </a:t>
              </a:r>
              <a:r>
                <a:rPr lang="en-US" altLang="zh-CN" sz="2800" b="1" i="1">
                  <a:solidFill>
                    <a:schemeClr val="tx2"/>
                  </a:solidFill>
                </a:rPr>
                <a:t>i</a:t>
              </a:r>
              <a:r>
                <a:rPr lang="en-US" altLang="zh-CN" sz="2800" b="1">
                  <a:solidFill>
                    <a:schemeClr val="tx2"/>
                  </a:solidFill>
                </a:rPr>
                <a:t>, </a:t>
              </a:r>
              <a:r>
                <a:rPr lang="en-US" altLang="zh-CN" sz="2800" b="1" i="1">
                  <a:solidFill>
                    <a:schemeClr val="tx2"/>
                  </a:solidFill>
                </a:rPr>
                <a:t>j</a:t>
              </a:r>
              <a:r>
                <a:rPr lang="en-US" altLang="zh-CN" sz="2800" b="1">
                  <a:solidFill>
                    <a:schemeClr val="tx2"/>
                  </a:solidFill>
                </a:rPr>
                <a:t>=1,2,…,</a:t>
              </a:r>
              <a:r>
                <a:rPr lang="en-US" altLang="zh-CN" sz="2800" b="1" i="1">
                  <a:solidFill>
                    <a:schemeClr val="tx2"/>
                  </a:solidFill>
                </a:rPr>
                <a:t>n )</a:t>
              </a:r>
              <a:endParaRPr lang="en-US" altLang="zh-CN" sz="2800" b="1"/>
            </a:p>
          </p:txBody>
        </p:sp>
        <p:grpSp>
          <p:nvGrpSpPr>
            <p:cNvPr id="103437" name="Group 7"/>
            <p:cNvGrpSpPr/>
            <p:nvPr/>
          </p:nvGrpSpPr>
          <p:grpSpPr bwMode="auto">
            <a:xfrm>
              <a:off x="776" y="994"/>
              <a:ext cx="3910" cy="712"/>
              <a:chOff x="602" y="902"/>
              <a:chExt cx="3910" cy="712"/>
            </a:xfrm>
          </p:grpSpPr>
          <p:graphicFrame>
            <p:nvGraphicFramePr>
              <p:cNvPr id="103438" name="Object 8"/>
              <p:cNvGraphicFramePr>
                <a:graphicFrameLocks noChangeAspect="1"/>
              </p:cNvGraphicFramePr>
              <p:nvPr/>
            </p:nvGraphicFramePr>
            <p:xfrm>
              <a:off x="1056" y="912"/>
              <a:ext cx="1726" cy="366"/>
            </p:xfrm>
            <a:graphic>
              <a:graphicData uri="http://schemas.openxmlformats.org/presentationml/2006/ole">
                <mc:AlternateContent xmlns:mc="http://schemas.openxmlformats.org/markup-compatibility/2006">
                  <mc:Choice xmlns:v="urn:schemas-microsoft-com:vml" Requires="v">
                    <p:oleObj spid="_x0000_s103561" name="公式" r:id="rId1" imgW="1047750" imgH="154305" progId="Equation.3">
                      <p:embed/>
                    </p:oleObj>
                  </mc:Choice>
                  <mc:Fallback>
                    <p:oleObj name="公式" r:id="rId1" imgW="1047750" imgH="154305"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 y="912"/>
                            <a:ext cx="1726" cy="366"/>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439" name="Rectangle 9"/>
              <p:cNvSpPr>
                <a:spLocks noChangeArrowheads="1"/>
              </p:cNvSpPr>
              <p:nvPr/>
            </p:nvSpPr>
            <p:spPr bwMode="auto">
              <a:xfrm>
                <a:off x="602" y="902"/>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若</a:t>
                </a:r>
                <a:endParaRPr lang="zh-CN" altLang="en-US" sz="2800" b="1"/>
              </a:p>
            </p:txBody>
          </p:sp>
          <p:graphicFrame>
            <p:nvGraphicFramePr>
              <p:cNvPr id="103440" name="Object 10"/>
              <p:cNvGraphicFramePr>
                <a:graphicFrameLocks noChangeAspect="1"/>
              </p:cNvGraphicFramePr>
              <p:nvPr/>
            </p:nvGraphicFramePr>
            <p:xfrm>
              <a:off x="1351" y="1248"/>
              <a:ext cx="3161" cy="366"/>
            </p:xfrm>
            <a:graphic>
              <a:graphicData uri="http://schemas.openxmlformats.org/presentationml/2006/ole">
                <mc:AlternateContent xmlns:mc="http://schemas.openxmlformats.org/markup-compatibility/2006">
                  <mc:Choice xmlns:v="urn:schemas-microsoft-com:vml" Requires="v">
                    <p:oleObj spid="_x0000_s103562" name="公式" r:id="rId3" imgW="1981200" imgH="154305" progId="Equation.3">
                      <p:embed/>
                    </p:oleObj>
                  </mc:Choice>
                  <mc:Fallback>
                    <p:oleObj name="公式" r:id="rId3" imgW="1981200" imgH="154305"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1" y="1248"/>
                            <a:ext cx="3161" cy="366"/>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4" name="Group 11"/>
          <p:cNvGrpSpPr/>
          <p:nvPr/>
        </p:nvGrpSpPr>
        <p:grpSpPr bwMode="auto">
          <a:xfrm>
            <a:off x="1690688" y="2765425"/>
            <a:ext cx="4681537" cy="2835275"/>
            <a:chOff x="1020" y="1888"/>
            <a:chExt cx="2949" cy="1786"/>
          </a:xfrm>
        </p:grpSpPr>
        <p:grpSp>
          <p:nvGrpSpPr>
            <p:cNvPr id="103430" name="Group 12"/>
            <p:cNvGrpSpPr/>
            <p:nvPr/>
          </p:nvGrpSpPr>
          <p:grpSpPr bwMode="auto">
            <a:xfrm>
              <a:off x="1665" y="1888"/>
              <a:ext cx="2304" cy="1786"/>
              <a:chOff x="816" y="1622"/>
              <a:chExt cx="2304" cy="1786"/>
            </a:xfrm>
          </p:grpSpPr>
          <p:graphicFrame>
            <p:nvGraphicFramePr>
              <p:cNvPr id="103433" name="Object 13"/>
              <p:cNvGraphicFramePr>
                <a:graphicFrameLocks noChangeAspect="1"/>
              </p:cNvGraphicFramePr>
              <p:nvPr/>
            </p:nvGraphicFramePr>
            <p:xfrm>
              <a:off x="816" y="2011"/>
              <a:ext cx="2304" cy="1397"/>
            </p:xfrm>
            <a:graphic>
              <a:graphicData uri="http://schemas.openxmlformats.org/presentationml/2006/ole">
                <mc:AlternateContent xmlns:mc="http://schemas.openxmlformats.org/markup-compatibility/2006">
                  <mc:Choice xmlns:v="urn:schemas-microsoft-com:vml" Requires="v">
                    <p:oleObj spid="_x0000_s103563" name="公式" r:id="rId5" imgW="1466850" imgH="866140" progId="Equation.3">
                      <p:embed/>
                    </p:oleObj>
                  </mc:Choice>
                  <mc:Fallback>
                    <p:oleObj name="公式" r:id="rId5" imgW="1466850" imgH="86614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6" y="2011"/>
                            <a:ext cx="2304" cy="1397"/>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434" name="Rectangle 14"/>
              <p:cNvSpPr>
                <a:spLocks noChangeArrowheads="1"/>
              </p:cNvSpPr>
              <p:nvPr/>
            </p:nvSpPr>
            <p:spPr bwMode="auto">
              <a:xfrm>
                <a:off x="2007" y="1622"/>
                <a:ext cx="1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800" b="1"/>
              </a:p>
            </p:txBody>
          </p:sp>
        </p:grpSp>
        <p:sp>
          <p:nvSpPr>
            <p:cNvPr id="103431" name="Rectangle 15"/>
            <p:cNvSpPr>
              <a:spLocks noChangeArrowheads="1"/>
            </p:cNvSpPr>
            <p:nvPr/>
          </p:nvSpPr>
          <p:spPr bwMode="auto">
            <a:xfrm>
              <a:off x="1020" y="2750"/>
              <a:ext cx="5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矩阵</a:t>
              </a:r>
              <a:endParaRPr lang="zh-CN" altLang="en-US" sz="2800" b="1"/>
            </a:p>
          </p:txBody>
        </p:sp>
        <p:sp>
          <p:nvSpPr>
            <p:cNvPr id="103432" name="Rectangle 16"/>
            <p:cNvSpPr>
              <a:spLocks noChangeArrowheads="1"/>
            </p:cNvSpPr>
            <p:nvPr/>
          </p:nvSpPr>
          <p:spPr bwMode="auto">
            <a:xfrm>
              <a:off x="1133" y="2105"/>
              <a:ext cx="3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称</a:t>
              </a:r>
              <a:endParaRPr lang="zh-CN" altLang="en-US" sz="2800" b="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2" presetClass="entr" presetSubtype="2" fill="hold" grpId="0" nodeType="afterEffect">
                                  <p:stCondLst>
                                    <p:cond delay="0"/>
                                  </p:stCondLst>
                                  <p:childTnLst>
                                    <p:set>
                                      <p:cBhvr>
                                        <p:cTn id="15" dur="1" fill="hold">
                                          <p:stCondLst>
                                            <p:cond delay="0"/>
                                          </p:stCondLst>
                                        </p:cTn>
                                        <p:tgtEl>
                                          <p:spTgt spid="323587"/>
                                        </p:tgtEl>
                                        <p:attrNameLst>
                                          <p:attrName>style.visibility</p:attrName>
                                        </p:attrNameLst>
                                      </p:cBhvr>
                                      <p:to>
                                        <p:strVal val="visible"/>
                                      </p:to>
                                    </p:set>
                                    <p:anim calcmode="lin" valueType="num">
                                      <p:cBhvr additive="base">
                                        <p:cTn id="16" dur="500" fill="hold"/>
                                        <p:tgtEl>
                                          <p:spTgt spid="323587"/>
                                        </p:tgtEl>
                                        <p:attrNameLst>
                                          <p:attrName>ppt_x</p:attrName>
                                        </p:attrNameLst>
                                      </p:cBhvr>
                                      <p:tavLst>
                                        <p:tav tm="0">
                                          <p:val>
                                            <p:strVal val="1+#ppt_w/2"/>
                                          </p:val>
                                        </p:tav>
                                        <p:tav tm="100000">
                                          <p:val>
                                            <p:strVal val="#ppt_x"/>
                                          </p:val>
                                        </p:tav>
                                      </p:tavLst>
                                    </p:anim>
                                    <p:anim calcmode="lin" valueType="num">
                                      <p:cBhvr additive="base">
                                        <p:cTn id="17" dur="500" fill="hold"/>
                                        <p:tgtEl>
                                          <p:spTgt spid="32358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7"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ext Box 2"/>
          <p:cNvSpPr txBox="1">
            <a:spLocks noChangeArrowheads="1"/>
          </p:cNvSpPr>
          <p:nvPr/>
        </p:nvSpPr>
        <p:spPr bwMode="auto">
          <a:xfrm>
            <a:off x="790575" y="152400"/>
            <a:ext cx="6121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solidFill>
                  <a:schemeClr val="tx2"/>
                </a:solidFill>
                <a:latin typeface="黑体" panose="02010609060101010101" pitchFamily="49" charset="-122"/>
                <a:ea typeface="黑体" panose="02010609060101010101" pitchFamily="49" charset="-122"/>
              </a:rPr>
              <a:t>三、</a:t>
            </a:r>
            <a:r>
              <a:rPr lang="en-US" altLang="zh-CN" sz="3200" b="1" i="1">
                <a:solidFill>
                  <a:schemeClr val="tx2"/>
                </a:solidFill>
              </a:rPr>
              <a:t>n </a:t>
            </a:r>
            <a:r>
              <a:rPr lang="zh-CN" altLang="en-US" sz="3200" b="1">
                <a:solidFill>
                  <a:schemeClr val="tx2"/>
                </a:solidFill>
                <a:latin typeface="黑体" panose="02010609060101010101" pitchFamily="49" charset="-122"/>
                <a:ea typeface="黑体" panose="02010609060101010101" pitchFamily="49" charset="-122"/>
              </a:rPr>
              <a:t>元正态分布的概率密度</a:t>
            </a:r>
            <a:endParaRPr lang="zh-CN" altLang="en-US" sz="3200" b="1">
              <a:solidFill>
                <a:schemeClr val="tx2"/>
              </a:solidFill>
              <a:ea typeface="黑体" panose="02010609060101010101" pitchFamily="49" charset="-122"/>
            </a:endParaRPr>
          </a:p>
        </p:txBody>
      </p:sp>
      <p:graphicFrame>
        <p:nvGraphicFramePr>
          <p:cNvPr id="402432" name="Object 0"/>
          <p:cNvGraphicFramePr>
            <a:graphicFrameLocks noChangeAspect="1"/>
          </p:cNvGraphicFramePr>
          <p:nvPr/>
        </p:nvGraphicFramePr>
        <p:xfrm>
          <a:off x="3136900" y="2097088"/>
          <a:ext cx="5840413" cy="917575"/>
        </p:xfrm>
        <a:graphic>
          <a:graphicData uri="http://schemas.openxmlformats.org/presentationml/2006/ole">
            <mc:AlternateContent xmlns:mc="http://schemas.openxmlformats.org/markup-compatibility/2006">
              <mc:Choice xmlns:v="urn:schemas-microsoft-com:vml" Requires="v">
                <p:oleObj spid="_x0000_s104665" name="Equation" r:id="rId1" imgW="2581275" imgH="337185" progId="Equation.DSMT4">
                  <p:embed/>
                </p:oleObj>
              </mc:Choice>
              <mc:Fallback>
                <p:oleObj name="Equation" r:id="rId1" imgW="2581275" imgH="337185" progId="Equation.DSMT4">
                  <p:embed/>
                  <p:pic>
                    <p:nvPicPr>
                      <p:cNvPr id="0" name="Object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6900" y="2097088"/>
                        <a:ext cx="5840413" cy="917575"/>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4612" name="Rectangle 4"/>
          <p:cNvSpPr>
            <a:spLocks noChangeArrowheads="1"/>
          </p:cNvSpPr>
          <p:nvPr/>
        </p:nvSpPr>
        <p:spPr bwMode="auto">
          <a:xfrm>
            <a:off x="179388" y="2276475"/>
            <a:ext cx="30321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b="1" i="1"/>
              <a:t>f</a:t>
            </a:r>
            <a:r>
              <a:rPr lang="en-US" altLang="zh-CN" b="1"/>
              <a:t> (</a:t>
            </a:r>
            <a:r>
              <a:rPr lang="en-US" altLang="zh-CN" b="1" i="1"/>
              <a:t>x</a:t>
            </a:r>
            <a:r>
              <a:rPr lang="en-US" altLang="zh-CN" b="1"/>
              <a:t>)</a:t>
            </a:r>
            <a:r>
              <a:rPr lang="en-US" altLang="zh-CN"/>
              <a:t> =</a:t>
            </a:r>
            <a:r>
              <a:rPr lang="en-US" altLang="zh-CN" sz="2800" b="1" i="1"/>
              <a:t>f</a:t>
            </a:r>
            <a:r>
              <a:rPr lang="en-US" altLang="zh-CN" sz="2800" b="1"/>
              <a:t> (</a:t>
            </a:r>
            <a:r>
              <a:rPr lang="en-US" altLang="zh-CN" sz="2800" b="1" i="1"/>
              <a:t>x</a:t>
            </a:r>
            <a:r>
              <a:rPr lang="en-US" altLang="zh-CN" sz="2800" b="1" baseline="-25000"/>
              <a:t>1</a:t>
            </a:r>
            <a:r>
              <a:rPr lang="en-US" altLang="zh-CN" sz="2800" b="1"/>
              <a:t>,</a:t>
            </a:r>
            <a:r>
              <a:rPr lang="en-US" altLang="zh-CN" sz="2800" b="1" i="1"/>
              <a:t>x</a:t>
            </a:r>
            <a:r>
              <a:rPr lang="en-US" altLang="zh-CN" sz="2800" b="1" baseline="-25000"/>
              <a:t>2</a:t>
            </a:r>
            <a:r>
              <a:rPr lang="en-US" altLang="zh-CN" sz="2800" b="1"/>
              <a:t>, …,</a:t>
            </a:r>
            <a:r>
              <a:rPr lang="en-US" altLang="zh-CN" sz="2800" b="1" i="1"/>
              <a:t>x</a:t>
            </a:r>
            <a:r>
              <a:rPr lang="en-US" altLang="zh-CN" sz="2800" b="1" i="1" baseline="-25000"/>
              <a:t>n</a:t>
            </a:r>
            <a:r>
              <a:rPr lang="en-US" altLang="zh-CN" sz="2800" b="1"/>
              <a:t>)</a:t>
            </a:r>
            <a:endParaRPr lang="en-US" altLang="zh-CN" sz="2800" b="1"/>
          </a:p>
        </p:txBody>
      </p:sp>
      <p:sp>
        <p:nvSpPr>
          <p:cNvPr id="324613" name="Rectangle 5"/>
          <p:cNvSpPr>
            <a:spLocks noChangeArrowheads="1"/>
          </p:cNvSpPr>
          <p:nvPr/>
        </p:nvSpPr>
        <p:spPr bwMode="auto">
          <a:xfrm>
            <a:off x="617538" y="3089275"/>
            <a:ext cx="42783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则称 </a:t>
            </a:r>
            <a:r>
              <a:rPr lang="en-US" altLang="zh-CN" sz="2800" b="1" i="1">
                <a:solidFill>
                  <a:schemeClr val="accent2"/>
                </a:solidFill>
              </a:rPr>
              <a:t>X </a:t>
            </a:r>
            <a:r>
              <a:rPr lang="zh-CN" altLang="en-US" sz="2800" b="1">
                <a:solidFill>
                  <a:schemeClr val="accent2"/>
                </a:solidFill>
              </a:rPr>
              <a:t>服从 </a:t>
            </a:r>
            <a:r>
              <a:rPr lang="en-US" altLang="zh-CN" sz="2800" b="1" i="1">
                <a:solidFill>
                  <a:schemeClr val="accent2"/>
                </a:solidFill>
              </a:rPr>
              <a:t>n </a:t>
            </a:r>
            <a:r>
              <a:rPr lang="zh-CN" altLang="en-US" sz="2800" b="1">
                <a:solidFill>
                  <a:schemeClr val="accent2"/>
                </a:solidFill>
              </a:rPr>
              <a:t>元正态分布</a:t>
            </a:r>
            <a:r>
              <a:rPr lang="en-US" altLang="zh-CN" sz="2800" b="1"/>
              <a:t>.</a:t>
            </a:r>
            <a:endParaRPr lang="en-US" altLang="zh-CN" sz="2800" b="1"/>
          </a:p>
        </p:txBody>
      </p:sp>
      <p:sp>
        <p:nvSpPr>
          <p:cNvPr id="324614" name="Rectangle 6"/>
          <p:cNvSpPr>
            <a:spLocks noChangeArrowheads="1"/>
          </p:cNvSpPr>
          <p:nvPr/>
        </p:nvSpPr>
        <p:spPr bwMode="auto">
          <a:xfrm>
            <a:off x="574675" y="3881438"/>
            <a:ext cx="5848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其中</a:t>
            </a:r>
            <a:r>
              <a:rPr lang="en-US" altLang="zh-CN" sz="2800" b="1" i="1"/>
              <a:t>C</a:t>
            </a:r>
            <a:r>
              <a:rPr lang="zh-CN" altLang="en-US" sz="2800" b="1"/>
              <a:t>是</a:t>
            </a:r>
            <a:r>
              <a:rPr lang="en-US" altLang="zh-CN" sz="2800" b="1"/>
              <a:t>(</a:t>
            </a:r>
            <a:r>
              <a:rPr lang="en-US" altLang="zh-CN" sz="2800" b="1" i="1"/>
              <a:t>X</a:t>
            </a:r>
            <a:r>
              <a:rPr lang="en-US" altLang="zh-CN" sz="2800" b="1" baseline="-25000"/>
              <a:t>1</a:t>
            </a:r>
            <a:r>
              <a:rPr lang="en-US" altLang="zh-CN" sz="2800" b="1"/>
              <a:t>,</a:t>
            </a:r>
            <a:r>
              <a:rPr lang="en-US" altLang="zh-CN" sz="2800" b="1" i="1"/>
              <a:t>X</a:t>
            </a:r>
            <a:r>
              <a:rPr lang="en-US" altLang="zh-CN" sz="2800" b="1" baseline="-25000"/>
              <a:t>2</a:t>
            </a:r>
            <a:r>
              <a:rPr lang="en-US" altLang="zh-CN" sz="2800" b="1"/>
              <a:t>, …,</a:t>
            </a:r>
            <a:r>
              <a:rPr lang="en-US" altLang="zh-CN" sz="2800" b="1" i="1"/>
              <a:t>X</a:t>
            </a:r>
            <a:r>
              <a:rPr lang="en-US" altLang="zh-CN" sz="2800" b="1" i="1" baseline="-25000"/>
              <a:t>n</a:t>
            </a:r>
            <a:r>
              <a:rPr lang="en-US" altLang="zh-CN" sz="2800" b="1"/>
              <a:t>) </a:t>
            </a:r>
            <a:r>
              <a:rPr lang="zh-CN" altLang="en-US" sz="2800" b="1"/>
              <a:t>的协方差矩阵</a:t>
            </a:r>
            <a:r>
              <a:rPr lang="en-US" altLang="zh-CN" sz="2800" b="1"/>
              <a:t>.</a:t>
            </a:r>
            <a:endParaRPr lang="en-US" altLang="zh-CN" sz="2800" b="1"/>
          </a:p>
        </p:txBody>
      </p:sp>
      <p:grpSp>
        <p:nvGrpSpPr>
          <p:cNvPr id="2" name="Group 7"/>
          <p:cNvGrpSpPr/>
          <p:nvPr/>
        </p:nvGrpSpPr>
        <p:grpSpPr bwMode="auto">
          <a:xfrm>
            <a:off x="646113" y="4659313"/>
            <a:ext cx="6257925" cy="549275"/>
            <a:chOff x="761" y="2803"/>
            <a:chExt cx="3942" cy="346"/>
          </a:xfrm>
        </p:grpSpPr>
        <p:sp>
          <p:nvSpPr>
            <p:cNvPr id="104463" name="Rectangle 8"/>
            <p:cNvSpPr>
              <a:spLocks noChangeArrowheads="1"/>
            </p:cNvSpPr>
            <p:nvPr/>
          </p:nvSpPr>
          <p:spPr bwMode="auto">
            <a:xfrm>
              <a:off x="761" y="2822"/>
              <a:ext cx="39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dirty="0">
                  <a:solidFill>
                    <a:schemeClr val="tx2"/>
                  </a:solidFill>
                </a:rPr>
                <a:t>|</a:t>
              </a:r>
              <a:r>
                <a:rPr lang="en-US" altLang="zh-CN" sz="2800" b="1" i="1" dirty="0">
                  <a:solidFill>
                    <a:schemeClr val="tx2"/>
                  </a:solidFill>
                </a:rPr>
                <a:t>C</a:t>
              </a:r>
              <a:r>
                <a:rPr lang="en-US" altLang="zh-CN" sz="2800" b="1" dirty="0">
                  <a:solidFill>
                    <a:schemeClr val="tx2"/>
                  </a:solidFill>
                </a:rPr>
                <a:t>|</a:t>
              </a:r>
              <a:r>
                <a:rPr lang="zh-CN" altLang="en-US" sz="2800" b="1" dirty="0"/>
                <a:t>是它的行列式，     表示</a:t>
              </a:r>
              <a:r>
                <a:rPr lang="en-US" altLang="zh-CN" sz="2800" b="1" i="1" dirty="0"/>
                <a:t>C</a:t>
              </a:r>
              <a:r>
                <a:rPr lang="zh-CN" altLang="en-US" sz="2800" b="1" dirty="0"/>
                <a:t>的逆矩阵，</a:t>
              </a:r>
              <a:endParaRPr lang="zh-CN" altLang="en-US" sz="2800" b="1" dirty="0"/>
            </a:p>
          </p:txBody>
        </p:sp>
        <p:graphicFrame>
          <p:nvGraphicFramePr>
            <p:cNvPr id="104464" name="Object 4"/>
            <p:cNvGraphicFramePr>
              <a:graphicFrameLocks noChangeAspect="1"/>
            </p:cNvGraphicFramePr>
            <p:nvPr/>
          </p:nvGraphicFramePr>
          <p:xfrm>
            <a:off x="2515" y="2803"/>
            <a:ext cx="434" cy="346"/>
          </p:xfrm>
          <a:graphic>
            <a:graphicData uri="http://schemas.openxmlformats.org/presentationml/2006/ole">
              <mc:AlternateContent xmlns:mc="http://schemas.openxmlformats.org/markup-compatibility/2006">
                <mc:Choice xmlns:v="urn:schemas-microsoft-com:vml" Requires="v">
                  <p:oleObj spid="_x0000_s104666" name="公式" r:id="rId3" imgW="171450" imgH="115570" progId="Equation.3">
                    <p:embed/>
                  </p:oleObj>
                </mc:Choice>
                <mc:Fallback>
                  <p:oleObj name="公式" r:id="rId3" imgW="171450" imgH="11557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 y="2803"/>
                          <a:ext cx="434" cy="346"/>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10"/>
          <p:cNvGrpSpPr/>
          <p:nvPr/>
        </p:nvGrpSpPr>
        <p:grpSpPr bwMode="auto">
          <a:xfrm>
            <a:off x="741363" y="5337181"/>
            <a:ext cx="6386512" cy="519113"/>
            <a:chOff x="336" y="3741"/>
            <a:chExt cx="4023" cy="327"/>
          </a:xfrm>
        </p:grpSpPr>
        <p:sp>
          <p:nvSpPr>
            <p:cNvPr id="104460" name="Rectangle 11"/>
            <p:cNvSpPr>
              <a:spLocks noChangeArrowheads="1"/>
            </p:cNvSpPr>
            <p:nvPr/>
          </p:nvSpPr>
          <p:spPr bwMode="auto">
            <a:xfrm>
              <a:off x="336" y="3741"/>
              <a:ext cx="402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i="1">
                  <a:solidFill>
                    <a:schemeClr val="tx2"/>
                  </a:solidFill>
                </a:rPr>
                <a:t>X  </a:t>
              </a:r>
              <a:r>
                <a:rPr lang="zh-CN" altLang="en-US" sz="2800" b="1"/>
                <a:t>和    是 </a:t>
              </a:r>
              <a:r>
                <a:rPr lang="en-US" altLang="zh-CN" sz="2800" b="1"/>
                <a:t>n </a:t>
              </a:r>
              <a:r>
                <a:rPr lang="zh-CN" altLang="en-US" sz="2800" b="1"/>
                <a:t>维列向量，    表示</a:t>
              </a:r>
              <a:r>
                <a:rPr lang="en-US" altLang="zh-CN" sz="2800" b="1" i="1"/>
                <a:t>X </a:t>
              </a:r>
              <a:r>
                <a:rPr lang="zh-CN" altLang="en-US" sz="2800" b="1"/>
                <a:t>的转置</a:t>
              </a:r>
              <a:r>
                <a:rPr lang="en-US" altLang="zh-CN" sz="2800" b="1"/>
                <a:t>.</a:t>
              </a:r>
              <a:endParaRPr lang="en-US" altLang="zh-CN" sz="2800" b="1"/>
            </a:p>
          </p:txBody>
        </p:sp>
        <p:graphicFrame>
          <p:nvGraphicFramePr>
            <p:cNvPr id="104461" name="Object 2"/>
            <p:cNvGraphicFramePr>
              <a:graphicFrameLocks noChangeAspect="1"/>
            </p:cNvGraphicFramePr>
            <p:nvPr/>
          </p:nvGraphicFramePr>
          <p:xfrm>
            <a:off x="879" y="3763"/>
            <a:ext cx="260" cy="282"/>
          </p:xfrm>
          <a:graphic>
            <a:graphicData uri="http://schemas.openxmlformats.org/presentationml/2006/ole">
              <mc:AlternateContent xmlns:mc="http://schemas.openxmlformats.org/markup-compatibility/2006">
                <mc:Choice xmlns:v="urn:schemas-microsoft-com:vml" Requires="v">
                  <p:oleObj spid="_x0000_s104667" name="Equation" r:id="rId5" imgW="66675" imgH="76835" progId="Equation.3">
                    <p:embed/>
                  </p:oleObj>
                </mc:Choice>
                <mc:Fallback>
                  <p:oleObj name="Equation" r:id="rId5" imgW="66675" imgH="76835"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9" y="3763"/>
                          <a:ext cx="260" cy="282"/>
                        </a:xfrm>
                        <a:prstGeom prst="rect">
                          <a:avLst/>
                        </a:prstGeom>
                        <a:noFill/>
                        <a:ln>
                          <a:noFill/>
                        </a:ln>
                        <a:effectLst/>
                      </p:spPr>
                    </p:pic>
                  </p:oleObj>
                </mc:Fallback>
              </mc:AlternateContent>
            </a:graphicData>
          </a:graphic>
        </p:graphicFrame>
        <p:graphicFrame>
          <p:nvGraphicFramePr>
            <p:cNvPr id="104462" name="Object 3"/>
            <p:cNvGraphicFramePr>
              <a:graphicFrameLocks noChangeAspect="1"/>
            </p:cNvGraphicFramePr>
            <p:nvPr/>
          </p:nvGraphicFramePr>
          <p:xfrm>
            <a:off x="2572" y="3751"/>
            <a:ext cx="369" cy="282"/>
          </p:xfrm>
          <a:graphic>
            <a:graphicData uri="http://schemas.openxmlformats.org/presentationml/2006/ole">
              <mc:AlternateContent xmlns:mc="http://schemas.openxmlformats.org/markup-compatibility/2006">
                <mc:Choice xmlns:v="urn:schemas-microsoft-com:vml" Requires="v">
                  <p:oleObj spid="_x0000_s104668" name="公式" r:id="rId7" imgW="133350" imgH="76835" progId="Equation.3">
                    <p:embed/>
                  </p:oleObj>
                </mc:Choice>
                <mc:Fallback>
                  <p:oleObj name="公式" r:id="rId7" imgW="133350" imgH="76835"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72" y="3751"/>
                          <a:ext cx="369" cy="282"/>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04457" name="Group 17"/>
          <p:cNvGrpSpPr/>
          <p:nvPr/>
        </p:nvGrpSpPr>
        <p:grpSpPr bwMode="auto">
          <a:xfrm>
            <a:off x="611188" y="908050"/>
            <a:ext cx="8001000" cy="1117600"/>
            <a:chOff x="385" y="572"/>
            <a:chExt cx="5040" cy="704"/>
          </a:xfrm>
        </p:grpSpPr>
        <p:sp>
          <p:nvSpPr>
            <p:cNvPr id="104458" name="Text Box 15"/>
            <p:cNvSpPr txBox="1">
              <a:spLocks noChangeArrowheads="1"/>
            </p:cNvSpPr>
            <p:nvPr/>
          </p:nvSpPr>
          <p:spPr bwMode="auto">
            <a:xfrm>
              <a:off x="385" y="572"/>
              <a:ext cx="5040" cy="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sz="2800" b="1"/>
                <a:t>      </a:t>
              </a:r>
              <a:r>
                <a:rPr lang="zh-CN" altLang="en-US" sz="2800" b="1"/>
                <a:t>设      </a:t>
              </a:r>
              <a:r>
                <a:rPr lang="en-US" altLang="zh-CN" sz="2800" b="1"/>
                <a:t>=(</a:t>
              </a:r>
              <a:r>
                <a:rPr lang="en-US" altLang="zh-CN" sz="2800" b="1" i="1"/>
                <a:t>X</a:t>
              </a:r>
              <a:r>
                <a:rPr lang="en-US" altLang="zh-CN" sz="2800" b="1" baseline="-25000"/>
                <a:t>1</a:t>
              </a:r>
              <a:r>
                <a:rPr lang="en-US" altLang="zh-CN" sz="2800" b="1"/>
                <a:t>,</a:t>
              </a:r>
              <a:r>
                <a:rPr lang="en-US" altLang="zh-CN" sz="2800" b="1" i="1"/>
                <a:t>X</a:t>
              </a:r>
              <a:r>
                <a:rPr lang="en-US" altLang="zh-CN" sz="2800" b="1" baseline="-25000"/>
                <a:t>2</a:t>
              </a:r>
              <a:r>
                <a:rPr lang="en-US" altLang="zh-CN" sz="2800" b="1"/>
                <a:t>, …,</a:t>
              </a:r>
              <a:r>
                <a:rPr lang="en-US" altLang="zh-CN" sz="2800" b="1" i="1"/>
                <a:t>X</a:t>
              </a:r>
              <a:r>
                <a:rPr lang="en-US" altLang="zh-CN" sz="2800" b="1" baseline="-25000"/>
                <a:t>n</a:t>
              </a:r>
              <a:r>
                <a:rPr lang="en-US" altLang="zh-CN" sz="2800" b="1"/>
                <a:t>)</a:t>
              </a:r>
              <a:r>
                <a:rPr lang="zh-CN" altLang="en-US" sz="2800" b="1"/>
                <a:t>是一个</a:t>
              </a:r>
              <a:r>
                <a:rPr lang="en-US" altLang="zh-CN" sz="2800" b="1" i="1"/>
                <a:t>n</a:t>
              </a:r>
              <a:r>
                <a:rPr lang="zh-CN" altLang="en-US" sz="2800" b="1"/>
                <a:t>维随机向量</a:t>
              </a:r>
              <a:r>
                <a:rPr lang="en-US" altLang="zh-CN" sz="2800" b="1"/>
                <a:t>,</a:t>
              </a:r>
              <a:endParaRPr lang="en-US" altLang="zh-CN" sz="2800" b="1"/>
            </a:p>
            <a:p>
              <a:pPr>
                <a:lnSpc>
                  <a:spcPct val="120000"/>
                </a:lnSpc>
              </a:pPr>
              <a:r>
                <a:rPr lang="zh-CN" altLang="en-US" sz="2800" b="1"/>
                <a:t>若它的概率密度为</a:t>
              </a:r>
              <a:endParaRPr lang="zh-CN" altLang="en-US" sz="2800"/>
            </a:p>
          </p:txBody>
        </p:sp>
        <p:graphicFrame>
          <p:nvGraphicFramePr>
            <p:cNvPr id="104459" name="Object 1"/>
            <p:cNvGraphicFramePr>
              <a:graphicFrameLocks noChangeAspect="1"/>
            </p:cNvGraphicFramePr>
            <p:nvPr/>
          </p:nvGraphicFramePr>
          <p:xfrm>
            <a:off x="975" y="663"/>
            <a:ext cx="347" cy="265"/>
          </p:xfrm>
          <a:graphic>
            <a:graphicData uri="http://schemas.openxmlformats.org/presentationml/2006/ole">
              <mc:AlternateContent xmlns:mc="http://schemas.openxmlformats.org/markup-compatibility/2006">
                <mc:Choice xmlns:v="urn:schemas-microsoft-com:vml" Requires="v">
                  <p:oleObj spid="_x0000_s104669" name="Equation" r:id="rId9" imgW="133350" imgH="76835" progId="Equation.DSMT4">
                    <p:embed/>
                  </p:oleObj>
                </mc:Choice>
                <mc:Fallback>
                  <p:oleObj name="Equation" r:id="rId9" imgW="133350" imgH="76835" progId="Equation.DSMT4">
                    <p:embed/>
                    <p:pic>
                      <p:nvPicPr>
                        <p:cNvPr id="0" name="Object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5" y="663"/>
                          <a:ext cx="347"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4612"/>
                                        </p:tgtEl>
                                        <p:attrNameLst>
                                          <p:attrName>style.visibility</p:attrName>
                                        </p:attrNameLst>
                                      </p:cBhvr>
                                      <p:to>
                                        <p:strVal val="visible"/>
                                      </p:to>
                                    </p:set>
                                    <p:animEffect transition="in" filter="wipe(left)">
                                      <p:cBhvr>
                                        <p:cTn id="7" dur="500"/>
                                        <p:tgtEl>
                                          <p:spTgt spid="324612"/>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402432"/>
                                        </p:tgtEl>
                                        <p:attrNameLst>
                                          <p:attrName>style.visibility</p:attrName>
                                        </p:attrNameLst>
                                      </p:cBhvr>
                                      <p:to>
                                        <p:strVal val="visible"/>
                                      </p:to>
                                    </p:set>
                                    <p:animEffect transition="in" filter="wipe(right)">
                                      <p:cBhvr>
                                        <p:cTn id="11" dur="500"/>
                                        <p:tgtEl>
                                          <p:spTgt spid="40243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24613"/>
                                        </p:tgtEl>
                                        <p:attrNameLst>
                                          <p:attrName>style.visibility</p:attrName>
                                        </p:attrNameLst>
                                      </p:cBhvr>
                                      <p:to>
                                        <p:strVal val="visible"/>
                                      </p:to>
                                    </p:set>
                                    <p:animEffect transition="in" filter="wipe(left)">
                                      <p:cBhvr>
                                        <p:cTn id="16" dur="500"/>
                                        <p:tgtEl>
                                          <p:spTgt spid="32461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24614"/>
                                        </p:tgtEl>
                                        <p:attrNameLst>
                                          <p:attrName>style.visibility</p:attrName>
                                        </p:attrNameLst>
                                      </p:cBhvr>
                                      <p:to>
                                        <p:strVal val="visible"/>
                                      </p:to>
                                    </p:set>
                                    <p:animEffect transition="in" filter="wipe(left)">
                                      <p:cBhvr>
                                        <p:cTn id="21" dur="500"/>
                                        <p:tgtEl>
                                          <p:spTgt spid="32461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down)">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2" grpId="0" autoUpdateAnimBg="0"/>
      <p:bldP spid="324613" grpId="0" autoUpdateAnimBg="0"/>
      <p:bldP spid="324614"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ChangeArrowheads="1"/>
          </p:cNvSpPr>
          <p:nvPr/>
        </p:nvSpPr>
        <p:spPr bwMode="auto">
          <a:xfrm>
            <a:off x="900113" y="1125538"/>
            <a:ext cx="46688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i="1">
                <a:solidFill>
                  <a:srgbClr val="003399"/>
                </a:solidFill>
              </a:rPr>
              <a:t>n</a:t>
            </a:r>
            <a:r>
              <a:rPr lang="zh-CN" altLang="zh-CN" sz="2800" b="1">
                <a:solidFill>
                  <a:srgbClr val="003399"/>
                </a:solidFill>
              </a:rPr>
              <a:t>元</a:t>
            </a:r>
            <a:r>
              <a:rPr lang="zh-CN" altLang="en-US" sz="2800" b="1">
                <a:solidFill>
                  <a:srgbClr val="003399"/>
                </a:solidFill>
              </a:rPr>
              <a:t>正态分布的几条重要性质</a:t>
            </a:r>
            <a:endParaRPr lang="zh-CN" altLang="en-US" sz="2800" b="1">
              <a:solidFill>
                <a:srgbClr val="003399"/>
              </a:solidFill>
            </a:endParaRPr>
          </a:p>
        </p:txBody>
      </p:sp>
      <p:grpSp>
        <p:nvGrpSpPr>
          <p:cNvPr id="2" name="Group 4"/>
          <p:cNvGrpSpPr/>
          <p:nvPr/>
        </p:nvGrpSpPr>
        <p:grpSpPr bwMode="auto">
          <a:xfrm>
            <a:off x="215900" y="3965575"/>
            <a:ext cx="7616825" cy="1293813"/>
            <a:chOff x="240" y="2065"/>
            <a:chExt cx="4798" cy="815"/>
          </a:xfrm>
        </p:grpSpPr>
        <p:sp>
          <p:nvSpPr>
            <p:cNvPr id="105480" name="Rectangle 5"/>
            <p:cNvSpPr>
              <a:spLocks noChangeArrowheads="1"/>
            </p:cNvSpPr>
            <p:nvPr/>
          </p:nvSpPr>
          <p:spPr bwMode="auto">
            <a:xfrm>
              <a:off x="240" y="2515"/>
              <a:ext cx="479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2"/>
              <a:r>
                <a:rPr lang="en-US" altLang="zh-CN" sz="3200" b="1" i="1"/>
                <a:t>a</a:t>
              </a:r>
              <a:r>
                <a:rPr lang="en-US" altLang="zh-CN" sz="3200" b="1" baseline="-25000"/>
                <a:t>1</a:t>
              </a:r>
              <a:r>
                <a:rPr lang="en-US" altLang="zh-CN" sz="3200" b="1" i="1"/>
                <a:t>X</a:t>
              </a:r>
              <a:r>
                <a:rPr lang="en-US" altLang="zh-CN" sz="3200" b="1" baseline="-25000"/>
                <a:t>1</a:t>
              </a:r>
              <a:r>
                <a:rPr lang="en-US" altLang="zh-CN" sz="3200" b="1"/>
                <a:t>+ </a:t>
              </a:r>
              <a:r>
                <a:rPr lang="en-US" altLang="zh-CN" sz="3200" b="1" i="1"/>
                <a:t>a</a:t>
              </a:r>
              <a:r>
                <a:rPr lang="en-US" altLang="zh-CN" sz="3200" b="1" baseline="-25000"/>
                <a:t>2</a:t>
              </a:r>
              <a:r>
                <a:rPr lang="en-US" altLang="zh-CN" sz="3200" b="1"/>
                <a:t> </a:t>
              </a:r>
              <a:r>
                <a:rPr lang="en-US" altLang="zh-CN" sz="3200" b="1" i="1"/>
                <a:t>X</a:t>
              </a:r>
              <a:r>
                <a:rPr lang="en-US" altLang="zh-CN" sz="3200" b="1" baseline="-25000"/>
                <a:t>2</a:t>
              </a:r>
              <a:r>
                <a:rPr lang="en-US" altLang="zh-CN" sz="3200" b="1"/>
                <a:t>+ …+ </a:t>
              </a:r>
              <a:r>
                <a:rPr lang="en-US" altLang="zh-CN" sz="3200" b="1" i="1"/>
                <a:t>a</a:t>
              </a:r>
              <a:r>
                <a:rPr lang="en-US" altLang="zh-CN" sz="3200" b="1" i="1" baseline="-25000"/>
                <a:t>n</a:t>
              </a:r>
              <a:r>
                <a:rPr lang="en-US" altLang="zh-CN" sz="3200" b="1" i="1"/>
                <a:t> X</a:t>
              </a:r>
              <a:r>
                <a:rPr lang="en-US" altLang="zh-CN" sz="3200" b="1" i="1" baseline="-25000"/>
                <a:t>n </a:t>
              </a:r>
              <a:r>
                <a:rPr lang="zh-CN" altLang="en-US" sz="2800" b="1"/>
                <a:t>均服从正态分布</a:t>
              </a:r>
              <a:r>
                <a:rPr lang="en-US" altLang="zh-CN" sz="2800" b="1"/>
                <a:t>.</a:t>
              </a:r>
              <a:endParaRPr lang="en-US" altLang="zh-CN" sz="2800"/>
            </a:p>
          </p:txBody>
        </p:sp>
        <p:sp>
          <p:nvSpPr>
            <p:cNvPr id="105481" name="Rectangle 6"/>
            <p:cNvSpPr>
              <a:spLocks noChangeArrowheads="1"/>
            </p:cNvSpPr>
            <p:nvPr/>
          </p:nvSpPr>
          <p:spPr bwMode="auto">
            <a:xfrm>
              <a:off x="558" y="2065"/>
              <a:ext cx="423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2" algn="ctr"/>
              <a:r>
                <a:rPr lang="zh-CN" altLang="en-US" sz="2800" b="1"/>
                <a:t>对一切不全为</a:t>
              </a:r>
              <a:r>
                <a:rPr lang="en-US" altLang="zh-CN" sz="2800" b="1"/>
                <a:t>0</a:t>
              </a:r>
              <a:r>
                <a:rPr lang="zh-CN" altLang="en-US" sz="2800" b="1"/>
                <a:t>的实数 </a:t>
              </a:r>
              <a:r>
                <a:rPr lang="en-US" altLang="zh-CN" sz="3200" b="1" i="1"/>
                <a:t>a</a:t>
              </a:r>
              <a:r>
                <a:rPr lang="en-US" altLang="zh-CN" sz="3200" b="1" baseline="-25000"/>
                <a:t>1</a:t>
              </a:r>
              <a:r>
                <a:rPr lang="en-US" altLang="zh-CN" sz="3200" b="1"/>
                <a:t>,</a:t>
              </a:r>
              <a:r>
                <a:rPr lang="en-US" altLang="zh-CN" sz="3200" b="1" i="1"/>
                <a:t>a</a:t>
              </a:r>
              <a:r>
                <a:rPr lang="en-US" altLang="zh-CN" sz="3200" b="1" baseline="-25000"/>
                <a:t>2</a:t>
              </a:r>
              <a:r>
                <a:rPr lang="en-US" altLang="zh-CN" sz="3200" b="1"/>
                <a:t>,…,</a:t>
              </a:r>
              <a:r>
                <a:rPr lang="en-US" altLang="zh-CN" sz="3200" b="1" i="1"/>
                <a:t>a</a:t>
              </a:r>
              <a:r>
                <a:rPr lang="en-US" altLang="zh-CN" sz="3200" b="1" i="1" baseline="-25000"/>
                <a:t>n</a:t>
              </a:r>
              <a:r>
                <a:rPr lang="zh-CN" altLang="en-US" sz="3200" b="1"/>
                <a:t>，</a:t>
              </a:r>
              <a:endParaRPr lang="zh-CN" altLang="en-US" sz="3200" b="1"/>
            </a:p>
          </p:txBody>
        </p:sp>
      </p:grpSp>
      <p:sp>
        <p:nvSpPr>
          <p:cNvPr id="325639" name="AutoShape 7"/>
          <p:cNvSpPr>
            <a:spLocks noChangeArrowheads="1"/>
          </p:cNvSpPr>
          <p:nvPr/>
        </p:nvSpPr>
        <p:spPr bwMode="auto">
          <a:xfrm>
            <a:off x="4038600" y="2833688"/>
            <a:ext cx="228600" cy="1066800"/>
          </a:xfrm>
          <a:prstGeom prst="upDownArrow">
            <a:avLst>
              <a:gd name="adj1" fmla="val 50000"/>
              <a:gd name="adj2" fmla="val 93333"/>
            </a:avLst>
          </a:prstGeom>
          <a:solidFill>
            <a:schemeClr val="tx2"/>
          </a:solidFill>
          <a:ln w="9525">
            <a:solidFill>
              <a:srgbClr val="FF3300"/>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105477" name="Group 18"/>
          <p:cNvGrpSpPr/>
          <p:nvPr/>
        </p:nvGrpSpPr>
        <p:grpSpPr bwMode="auto">
          <a:xfrm>
            <a:off x="1114425" y="2101850"/>
            <a:ext cx="5372100" cy="519113"/>
            <a:chOff x="702" y="1324"/>
            <a:chExt cx="3384" cy="327"/>
          </a:xfrm>
        </p:grpSpPr>
        <p:sp>
          <p:nvSpPr>
            <p:cNvPr id="105478" name="Rectangle 3"/>
            <p:cNvSpPr>
              <a:spLocks noChangeArrowheads="1"/>
            </p:cNvSpPr>
            <p:nvPr/>
          </p:nvSpPr>
          <p:spPr bwMode="auto">
            <a:xfrm>
              <a:off x="702" y="1324"/>
              <a:ext cx="338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a:t>1.     </a:t>
              </a:r>
              <a:r>
                <a:rPr lang="en-US" altLang="zh-CN" sz="2800" b="1" i="1"/>
                <a:t>                    </a:t>
              </a:r>
              <a:r>
                <a:rPr lang="zh-CN" altLang="en-US" sz="2800" b="1"/>
                <a:t>服从</a:t>
              </a:r>
              <a:r>
                <a:rPr lang="en-US" altLang="zh-CN" sz="2800" b="1" i="1"/>
                <a:t>n</a:t>
              </a:r>
              <a:r>
                <a:rPr lang="zh-CN" altLang="en-US" sz="2800" b="1"/>
                <a:t>元正态分布</a:t>
              </a:r>
              <a:endParaRPr lang="zh-CN" altLang="en-US" sz="2800" b="1"/>
            </a:p>
          </p:txBody>
        </p:sp>
        <p:graphicFrame>
          <p:nvGraphicFramePr>
            <p:cNvPr id="105479" name="Object 0"/>
            <p:cNvGraphicFramePr>
              <a:graphicFrameLocks noChangeAspect="1"/>
            </p:cNvGraphicFramePr>
            <p:nvPr/>
          </p:nvGraphicFramePr>
          <p:xfrm>
            <a:off x="930" y="1344"/>
            <a:ext cx="1361" cy="288"/>
          </p:xfrm>
          <a:graphic>
            <a:graphicData uri="http://schemas.openxmlformats.org/presentationml/2006/ole">
              <mc:AlternateContent xmlns:mc="http://schemas.openxmlformats.org/markup-compatibility/2006">
                <mc:Choice xmlns:v="urn:schemas-microsoft-com:vml" Requires="v">
                  <p:oleObj spid="_x0000_s105522" name="Equation" r:id="rId1" imgW="1079500" imgH="228600" progId="Equation.DSMT4">
                    <p:embed/>
                  </p:oleObj>
                </mc:Choice>
                <mc:Fallback>
                  <p:oleObj name="Equation" r:id="rId1" imgW="1079500" imgH="228600" progId="Equation.DSMT4">
                    <p:embed/>
                    <p:pic>
                      <p:nvPicPr>
                        <p:cNvPr id="0" name="Object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0" y="1344"/>
                          <a:ext cx="13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5639"/>
                                        </p:tgtEl>
                                        <p:attrNameLst>
                                          <p:attrName>style.visibility</p:attrName>
                                        </p:attrNameLst>
                                      </p:cBhvr>
                                      <p:to>
                                        <p:strVal val="visible"/>
                                      </p:to>
                                    </p:set>
                                    <p:animEffect transition="in" filter="wipe(up)">
                                      <p:cBhvr>
                                        <p:cTn id="7" dur="500"/>
                                        <p:tgtEl>
                                          <p:spTgt spid="325639"/>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9"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ChangeArrowheads="1"/>
          </p:cNvSpPr>
          <p:nvPr/>
        </p:nvSpPr>
        <p:spPr bwMode="auto">
          <a:xfrm>
            <a:off x="5100638" y="965200"/>
            <a:ext cx="18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3200" b="1"/>
          </a:p>
        </p:txBody>
      </p:sp>
      <p:sp>
        <p:nvSpPr>
          <p:cNvPr id="326659" name="Rectangle 3"/>
          <p:cNvSpPr>
            <a:spLocks noChangeArrowheads="1"/>
          </p:cNvSpPr>
          <p:nvPr/>
        </p:nvSpPr>
        <p:spPr bwMode="auto">
          <a:xfrm>
            <a:off x="698500" y="1612900"/>
            <a:ext cx="80502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dirty="0"/>
              <a:t>  </a:t>
            </a:r>
            <a:r>
              <a:rPr lang="en-US" altLang="zh-CN" sz="3200" b="1" i="1" dirty="0"/>
              <a:t>Y</a:t>
            </a:r>
            <a:r>
              <a:rPr lang="en-US" altLang="zh-CN" sz="3200" b="1" baseline="-25000" dirty="0"/>
              <a:t>1</a:t>
            </a:r>
            <a:r>
              <a:rPr lang="en-US" altLang="zh-CN" sz="3200" b="1" dirty="0"/>
              <a:t>,</a:t>
            </a:r>
            <a:r>
              <a:rPr lang="en-US" altLang="zh-CN" sz="3200" b="1" i="1" dirty="0"/>
              <a:t>Y</a:t>
            </a:r>
            <a:r>
              <a:rPr lang="en-US" altLang="zh-CN" sz="3200" b="1" baseline="-25000" dirty="0"/>
              <a:t>2</a:t>
            </a:r>
            <a:r>
              <a:rPr lang="en-US" altLang="zh-CN" sz="3200" b="1" dirty="0"/>
              <a:t>, …</a:t>
            </a:r>
            <a:r>
              <a:rPr lang="zh-CN" altLang="en-US" sz="3200" b="1" dirty="0"/>
              <a:t>，</a:t>
            </a:r>
            <a:r>
              <a:rPr lang="en-US" altLang="zh-CN" sz="3200" b="1" i="1" dirty="0" err="1"/>
              <a:t>Y</a:t>
            </a:r>
            <a:r>
              <a:rPr lang="en-US" altLang="zh-CN" sz="3200" b="1" i="1" baseline="-25000" dirty="0" err="1"/>
              <a:t>k</a:t>
            </a:r>
            <a:r>
              <a:rPr lang="zh-CN" altLang="en-US" sz="2800" b="1" dirty="0"/>
              <a:t>是</a:t>
            </a:r>
            <a:r>
              <a:rPr lang="en-US" altLang="zh-CN" sz="3200" b="1" i="1" dirty="0" err="1"/>
              <a:t>X</a:t>
            </a:r>
            <a:r>
              <a:rPr lang="en-US" altLang="zh-CN" sz="3200" b="1" i="1" baseline="-25000" dirty="0" err="1"/>
              <a:t>j</a:t>
            </a:r>
            <a:r>
              <a:rPr lang="zh-CN" altLang="en-US" sz="3200" b="1" dirty="0"/>
              <a:t>（</a:t>
            </a:r>
            <a:r>
              <a:rPr lang="en-US" altLang="zh-CN" sz="3200" b="1" i="1" dirty="0"/>
              <a:t>j</a:t>
            </a:r>
            <a:r>
              <a:rPr lang="en-US" altLang="zh-CN" sz="3200" b="1" dirty="0"/>
              <a:t>=1,2,…,</a:t>
            </a:r>
            <a:r>
              <a:rPr lang="en-US" altLang="zh-CN" sz="3200" b="1" i="1" dirty="0"/>
              <a:t>n</a:t>
            </a:r>
            <a:r>
              <a:rPr lang="zh-CN" altLang="en-US" sz="3200" b="1" dirty="0"/>
              <a:t>）</a:t>
            </a:r>
            <a:r>
              <a:rPr lang="zh-CN" altLang="en-US" sz="2800" b="1" dirty="0"/>
              <a:t>的线性函数</a:t>
            </a:r>
            <a:r>
              <a:rPr lang="zh-CN" altLang="en-US" sz="3200" b="1" dirty="0"/>
              <a:t>，</a:t>
            </a:r>
            <a:endParaRPr lang="zh-CN" altLang="en-US" sz="3200" b="1" dirty="0"/>
          </a:p>
        </p:txBody>
      </p:sp>
      <p:sp>
        <p:nvSpPr>
          <p:cNvPr id="326660" name="Rectangle 4"/>
          <p:cNvSpPr>
            <a:spLocks noChangeArrowheads="1"/>
          </p:cNvSpPr>
          <p:nvPr/>
        </p:nvSpPr>
        <p:spPr bwMode="auto">
          <a:xfrm>
            <a:off x="698500" y="2407663"/>
            <a:ext cx="730520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dirty="0"/>
              <a:t>则                                      也服从多元正态分布</a:t>
            </a:r>
            <a:r>
              <a:rPr lang="en-US" altLang="zh-CN" sz="3200" b="1" dirty="0"/>
              <a:t>.</a:t>
            </a:r>
            <a:endParaRPr lang="en-US" altLang="zh-CN" sz="3200" b="1" dirty="0"/>
          </a:p>
        </p:txBody>
      </p:sp>
      <p:sp>
        <p:nvSpPr>
          <p:cNvPr id="106501" name="Rectangle 5"/>
          <p:cNvSpPr>
            <a:spLocks noChangeArrowheads="1"/>
          </p:cNvSpPr>
          <p:nvPr/>
        </p:nvSpPr>
        <p:spPr bwMode="auto">
          <a:xfrm>
            <a:off x="468313" y="252413"/>
            <a:ext cx="518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a:solidFill>
                  <a:schemeClr val="tx2"/>
                </a:solidFill>
              </a:rPr>
              <a:t>2.  </a:t>
            </a:r>
            <a:r>
              <a:rPr lang="zh-CN" altLang="en-US" sz="2800" b="1">
                <a:solidFill>
                  <a:schemeClr val="tx2"/>
                </a:solidFill>
              </a:rPr>
              <a:t>正态变量的线性变换不变性</a:t>
            </a:r>
            <a:r>
              <a:rPr lang="en-US" altLang="zh-CN" sz="2800" b="1">
                <a:solidFill>
                  <a:schemeClr val="tx2"/>
                </a:solidFill>
              </a:rPr>
              <a:t>.  </a:t>
            </a:r>
            <a:endParaRPr lang="en-US" altLang="zh-CN" sz="2800"/>
          </a:p>
        </p:txBody>
      </p:sp>
      <p:sp>
        <p:nvSpPr>
          <p:cNvPr id="106502" name="Rectangle 6"/>
          <p:cNvSpPr>
            <a:spLocks noChangeArrowheads="1"/>
          </p:cNvSpPr>
          <p:nvPr/>
        </p:nvSpPr>
        <p:spPr bwMode="auto">
          <a:xfrm>
            <a:off x="3413125" y="3295650"/>
            <a:ext cx="2419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2" algn="ctr"/>
            <a:r>
              <a:rPr lang="en-US" altLang="zh-CN" sz="3200" b="1"/>
              <a:t>             </a:t>
            </a:r>
            <a:endParaRPr lang="en-US" altLang="zh-CN" sz="3200" b="1"/>
          </a:p>
        </p:txBody>
      </p:sp>
      <p:sp>
        <p:nvSpPr>
          <p:cNvPr id="326663" name="Rectangle 7"/>
          <p:cNvSpPr>
            <a:spLocks noChangeArrowheads="1"/>
          </p:cNvSpPr>
          <p:nvPr/>
        </p:nvSpPr>
        <p:spPr bwMode="auto">
          <a:xfrm>
            <a:off x="588963" y="3189288"/>
            <a:ext cx="68135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b="1" dirty="0"/>
              <a:t>3.</a:t>
            </a:r>
            <a:r>
              <a:rPr lang="en-US" altLang="zh-CN" sz="3200" b="1" dirty="0"/>
              <a:t>  </a:t>
            </a:r>
            <a:r>
              <a:rPr lang="zh-CN" altLang="en-US" sz="2800" b="1" dirty="0"/>
              <a:t>设</a:t>
            </a:r>
            <a:r>
              <a:rPr lang="en-US" altLang="zh-CN" sz="3200" b="1" dirty="0"/>
              <a:t>(</a:t>
            </a:r>
            <a:r>
              <a:rPr lang="en-US" altLang="zh-CN" sz="3200" b="1" i="1" dirty="0"/>
              <a:t>X</a:t>
            </a:r>
            <a:r>
              <a:rPr lang="en-US" altLang="zh-CN" sz="3200" b="1" baseline="-25000" dirty="0"/>
              <a:t>1</a:t>
            </a:r>
            <a:r>
              <a:rPr lang="en-US" altLang="zh-CN" sz="3200" b="1" dirty="0"/>
              <a:t>,</a:t>
            </a:r>
            <a:r>
              <a:rPr lang="en-US" altLang="zh-CN" sz="3200" b="1" i="1" dirty="0"/>
              <a:t>X</a:t>
            </a:r>
            <a:r>
              <a:rPr lang="en-US" altLang="zh-CN" sz="3200" b="1" baseline="-25000" dirty="0"/>
              <a:t>2</a:t>
            </a:r>
            <a:r>
              <a:rPr lang="en-US" altLang="zh-CN" sz="3200" b="1" dirty="0"/>
              <a:t>, …,</a:t>
            </a:r>
            <a:r>
              <a:rPr lang="en-US" altLang="zh-CN" sz="3200" b="1" i="1" dirty="0" err="1"/>
              <a:t>X</a:t>
            </a:r>
            <a:r>
              <a:rPr lang="en-US" altLang="zh-CN" sz="3200" b="1" i="1" baseline="-25000" dirty="0" err="1"/>
              <a:t>n</a:t>
            </a:r>
            <a:r>
              <a:rPr lang="en-US" altLang="zh-CN" sz="3200" b="1" dirty="0"/>
              <a:t>)</a:t>
            </a:r>
            <a:r>
              <a:rPr lang="zh-CN" altLang="en-US" sz="2800" b="1" dirty="0"/>
              <a:t>服从</a:t>
            </a:r>
            <a:r>
              <a:rPr lang="en-US" altLang="zh-CN" sz="3200" b="1" i="1" dirty="0"/>
              <a:t>n</a:t>
            </a:r>
            <a:r>
              <a:rPr lang="zh-CN" altLang="en-US" sz="2800" b="1" dirty="0"/>
              <a:t>元正态分布</a:t>
            </a:r>
            <a:r>
              <a:rPr lang="zh-CN" altLang="en-US" sz="3200" b="1" dirty="0"/>
              <a:t>，</a:t>
            </a:r>
            <a:r>
              <a:rPr lang="zh-CN" altLang="en-US" sz="2800" b="1" dirty="0"/>
              <a:t>则</a:t>
            </a:r>
            <a:endParaRPr lang="zh-CN" altLang="en-US" sz="2800" b="1" dirty="0"/>
          </a:p>
        </p:txBody>
      </p:sp>
      <p:sp>
        <p:nvSpPr>
          <p:cNvPr id="326664" name="Rectangle 8"/>
          <p:cNvSpPr>
            <a:spLocks noChangeArrowheads="1"/>
          </p:cNvSpPr>
          <p:nvPr/>
        </p:nvSpPr>
        <p:spPr bwMode="auto">
          <a:xfrm>
            <a:off x="1508125" y="3965575"/>
            <a:ext cx="49752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2" algn="ctr"/>
            <a:r>
              <a:rPr lang="en-US" altLang="zh-CN" sz="3200" b="1"/>
              <a:t>“</a:t>
            </a:r>
            <a:r>
              <a:rPr lang="en-US" altLang="zh-CN" sz="3200" b="1" i="1"/>
              <a:t>X</a:t>
            </a:r>
            <a:r>
              <a:rPr lang="en-US" altLang="zh-CN" sz="3200" b="1" baseline="-25000"/>
              <a:t>1</a:t>
            </a:r>
            <a:r>
              <a:rPr lang="en-US" altLang="zh-CN" sz="3200" b="1"/>
              <a:t>,</a:t>
            </a:r>
            <a:r>
              <a:rPr lang="en-US" altLang="zh-CN" sz="3200" b="1" i="1"/>
              <a:t>X</a:t>
            </a:r>
            <a:r>
              <a:rPr lang="en-US" altLang="zh-CN" sz="3200" b="1" baseline="-25000"/>
              <a:t>2</a:t>
            </a:r>
            <a:r>
              <a:rPr lang="en-US" altLang="zh-CN" sz="3200" b="1"/>
              <a:t>, …,</a:t>
            </a:r>
            <a:r>
              <a:rPr lang="en-US" altLang="zh-CN" sz="3200" b="1" i="1"/>
              <a:t>X</a:t>
            </a:r>
            <a:r>
              <a:rPr lang="en-US" altLang="zh-CN" sz="3200" b="1" i="1" baseline="-25000"/>
              <a:t>n</a:t>
            </a:r>
            <a:r>
              <a:rPr lang="zh-CN" altLang="en-US" sz="2800" b="1"/>
              <a:t>相互独立</a:t>
            </a:r>
            <a:r>
              <a:rPr lang="zh-CN" altLang="en-US" sz="3200" b="1"/>
              <a:t>”</a:t>
            </a:r>
            <a:endParaRPr lang="zh-CN" altLang="en-US" sz="3200" b="1"/>
          </a:p>
        </p:txBody>
      </p:sp>
      <p:sp>
        <p:nvSpPr>
          <p:cNvPr id="326665" name="Rectangle 9"/>
          <p:cNvSpPr>
            <a:spLocks noChangeArrowheads="1"/>
          </p:cNvSpPr>
          <p:nvPr/>
        </p:nvSpPr>
        <p:spPr bwMode="auto">
          <a:xfrm>
            <a:off x="3668713" y="4727575"/>
            <a:ext cx="12557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solidFill>
                  <a:schemeClr val="tx2"/>
                </a:solidFill>
              </a:rPr>
              <a:t>等价于</a:t>
            </a:r>
            <a:endParaRPr lang="zh-CN" altLang="en-US" sz="2800" b="1"/>
          </a:p>
        </p:txBody>
      </p:sp>
      <p:sp>
        <p:nvSpPr>
          <p:cNvPr id="326666" name="Rectangle 10"/>
          <p:cNvSpPr>
            <a:spLocks noChangeArrowheads="1"/>
          </p:cNvSpPr>
          <p:nvPr/>
        </p:nvSpPr>
        <p:spPr bwMode="auto">
          <a:xfrm>
            <a:off x="2444750" y="5360988"/>
            <a:ext cx="4418013"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b="1"/>
              <a:t>“</a:t>
            </a:r>
            <a:r>
              <a:rPr lang="en-US" altLang="zh-CN" sz="3200" b="1" i="1"/>
              <a:t>X</a:t>
            </a:r>
            <a:r>
              <a:rPr lang="en-US" altLang="zh-CN" sz="3200" b="1" baseline="-25000"/>
              <a:t>1</a:t>
            </a:r>
            <a:r>
              <a:rPr lang="en-US" altLang="zh-CN" sz="3200" b="1"/>
              <a:t>,</a:t>
            </a:r>
            <a:r>
              <a:rPr lang="en-US" altLang="zh-CN" sz="3200" b="1" i="1"/>
              <a:t>X</a:t>
            </a:r>
            <a:r>
              <a:rPr lang="en-US" altLang="zh-CN" sz="3200" b="1" baseline="-25000"/>
              <a:t>2</a:t>
            </a:r>
            <a:r>
              <a:rPr lang="en-US" altLang="zh-CN" sz="3200" b="1"/>
              <a:t>, …,</a:t>
            </a:r>
            <a:r>
              <a:rPr lang="en-US" altLang="zh-CN" sz="3200" b="1" i="1"/>
              <a:t>X</a:t>
            </a:r>
            <a:r>
              <a:rPr lang="en-US" altLang="zh-CN" sz="3200" b="1" i="1" baseline="-25000"/>
              <a:t>n</a:t>
            </a:r>
            <a:r>
              <a:rPr lang="zh-CN" altLang="en-US" sz="2800" b="1"/>
              <a:t>两两不相关</a:t>
            </a:r>
            <a:r>
              <a:rPr lang="zh-CN" altLang="en-US" sz="3200" b="1"/>
              <a:t>”</a:t>
            </a:r>
            <a:endParaRPr lang="zh-CN" altLang="en-US" sz="3200" b="1"/>
          </a:p>
        </p:txBody>
      </p:sp>
      <p:sp>
        <p:nvSpPr>
          <p:cNvPr id="106507" name="Rectangle 12"/>
          <p:cNvSpPr>
            <a:spLocks noChangeArrowheads="1"/>
          </p:cNvSpPr>
          <p:nvPr/>
        </p:nvSpPr>
        <p:spPr bwMode="auto">
          <a:xfrm>
            <a:off x="1263650" y="949325"/>
            <a:ext cx="57292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a:t>设       </a:t>
            </a:r>
            <a:r>
              <a:rPr lang="zh-CN" altLang="en-US" sz="2800" b="1" i="1"/>
              <a:t>                  </a:t>
            </a:r>
            <a:r>
              <a:rPr lang="zh-CN" altLang="en-US" sz="2800" b="1"/>
              <a:t>服从</a:t>
            </a:r>
            <a:r>
              <a:rPr lang="en-US" altLang="zh-CN" sz="2800" b="1" i="1"/>
              <a:t>n</a:t>
            </a:r>
            <a:r>
              <a:rPr lang="zh-CN" altLang="en-US" sz="2800" b="1"/>
              <a:t>元正态分布</a:t>
            </a:r>
            <a:endParaRPr lang="zh-CN" altLang="en-US" sz="2800" b="1"/>
          </a:p>
        </p:txBody>
      </p:sp>
      <p:graphicFrame>
        <p:nvGraphicFramePr>
          <p:cNvPr id="106508" name="Object 13"/>
          <p:cNvGraphicFramePr>
            <a:graphicFrameLocks noChangeAspect="1"/>
          </p:cNvGraphicFramePr>
          <p:nvPr/>
        </p:nvGraphicFramePr>
        <p:xfrm>
          <a:off x="1947863" y="981075"/>
          <a:ext cx="2232025" cy="473075"/>
        </p:xfrm>
        <a:graphic>
          <a:graphicData uri="http://schemas.openxmlformats.org/presentationml/2006/ole">
            <mc:AlternateContent xmlns:mc="http://schemas.openxmlformats.org/markup-compatibility/2006">
              <mc:Choice xmlns:v="urn:schemas-microsoft-com:vml" Requires="v">
                <p:oleObj spid="_x0000_s106552" name="Equation" r:id="rId1" imgW="1079500" imgH="228600" progId="Equation.DSMT4">
                  <p:embed/>
                </p:oleObj>
              </mc:Choice>
              <mc:Fallback>
                <p:oleObj name="Equation" r:id="rId1" imgW="1079500" imgH="228600" progId="Equation.DSMT4">
                  <p:embed/>
                  <p:pic>
                    <p:nvPicPr>
                      <p:cNvPr id="0" name="Object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7863" y="981075"/>
                        <a:ext cx="2232025"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13"/>
          <p:cNvGraphicFramePr>
            <a:graphicFrameLocks noChangeAspect="1"/>
          </p:cNvGraphicFramePr>
          <p:nvPr/>
        </p:nvGraphicFramePr>
        <p:xfrm>
          <a:off x="1263650" y="2483318"/>
          <a:ext cx="3236119" cy="507026"/>
        </p:xfrm>
        <a:graphic>
          <a:graphicData uri="http://schemas.openxmlformats.org/presentationml/2006/ole">
            <mc:AlternateContent xmlns:mc="http://schemas.openxmlformats.org/markup-compatibility/2006">
              <mc:Choice xmlns:v="urn:schemas-microsoft-com:vml" Requires="v">
                <p:oleObj spid="_x0000_s106553" name="Equation" r:id="rId3" imgW="35052000" imgH="5486400" progId="Equation.DSMT4">
                  <p:embed/>
                </p:oleObj>
              </mc:Choice>
              <mc:Fallback>
                <p:oleObj name="Equation" r:id="rId3" imgW="35052000" imgH="5486400" progId="Equation.DSMT4">
                  <p:embed/>
                  <p:pic>
                    <p:nvPicPr>
                      <p:cNvPr id="0" name="Object 13"/>
                      <p:cNvPicPr>
                        <a:picLocks noChangeAspect="1" noChangeArrowheads="1"/>
                      </p:cNvPicPr>
                      <p:nvPr/>
                    </p:nvPicPr>
                    <p:blipFill>
                      <a:blip r:embed="rId4"/>
                      <a:srcRect/>
                      <a:stretch>
                        <a:fillRect/>
                      </a:stretch>
                    </p:blipFill>
                    <p:spPr bwMode="auto">
                      <a:xfrm>
                        <a:off x="1263650" y="2483318"/>
                        <a:ext cx="3236119" cy="507026"/>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064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50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65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66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666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26663"/>
                                        </p:tgtEl>
                                        <p:attrNameLst>
                                          <p:attrName>style.visibility</p:attrName>
                                        </p:attrNameLst>
                                      </p:cBhvr>
                                      <p:to>
                                        <p:strVal val="visible"/>
                                      </p:to>
                                    </p:set>
                                    <p:animEffect transition="in" filter="wipe(left)">
                                      <p:cBhvr>
                                        <p:cTn id="25" dur="500"/>
                                        <p:tgtEl>
                                          <p:spTgt spid="326663"/>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32666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326665"/>
                                        </p:tgtEl>
                                        <p:attrNameLst>
                                          <p:attrName>style.visibility</p:attrName>
                                        </p:attrNameLst>
                                      </p:cBhvr>
                                      <p:to>
                                        <p:strVal val="visible"/>
                                      </p:to>
                                    </p:set>
                                    <p:anim calcmode="lin" valueType="num">
                                      <p:cBhvr additive="base">
                                        <p:cTn id="34" dur="500" fill="hold"/>
                                        <p:tgtEl>
                                          <p:spTgt spid="326665"/>
                                        </p:tgtEl>
                                        <p:attrNameLst>
                                          <p:attrName>ppt_x</p:attrName>
                                        </p:attrNameLst>
                                      </p:cBhvr>
                                      <p:tavLst>
                                        <p:tav tm="0">
                                          <p:val>
                                            <p:strVal val="#ppt_x"/>
                                          </p:val>
                                        </p:tav>
                                        <p:tav tm="100000">
                                          <p:val>
                                            <p:strVal val="#ppt_x"/>
                                          </p:val>
                                        </p:tav>
                                      </p:tavLst>
                                    </p:anim>
                                    <p:anim calcmode="lin" valueType="num">
                                      <p:cBhvr additive="base">
                                        <p:cTn id="35" dur="500" fill="hold"/>
                                        <p:tgtEl>
                                          <p:spTgt spid="326665"/>
                                        </p:tgtEl>
                                        <p:attrNameLst>
                                          <p:attrName>ppt_y</p:attrName>
                                        </p:attrNameLst>
                                      </p:cBhvr>
                                      <p:tavLst>
                                        <p:tav tm="0">
                                          <p:val>
                                            <p:strVal val="1+#ppt_h/2"/>
                                          </p:val>
                                        </p:tav>
                                        <p:tav tm="100000">
                                          <p:val>
                                            <p:strVal val="#ppt_y"/>
                                          </p:val>
                                        </p:tav>
                                      </p:tavLst>
                                    </p:anim>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499"/>
                                          </p:stCondLst>
                                        </p:cTn>
                                        <p:tgtEl>
                                          <p:spTgt spid="3266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8" grpId="0"/>
      <p:bldP spid="326659" grpId="0"/>
      <p:bldP spid="326660" grpId="0"/>
      <p:bldP spid="326663" grpId="0" autoUpdateAnimBg="0"/>
      <p:bldP spid="326664" grpId="0" autoUpdateAnimBg="0"/>
      <p:bldP spid="326665" grpId="0" autoUpdateAnimBg="0"/>
      <p:bldP spid="326666" grpId="0" autoUpdateAnimBg="0"/>
      <p:bldP spid="10650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ChangeArrowheads="1"/>
          </p:cNvSpPr>
          <p:nvPr/>
        </p:nvSpPr>
        <p:spPr bwMode="auto">
          <a:xfrm>
            <a:off x="323850" y="404813"/>
            <a:ext cx="8208963"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sz="2800" b="1">
                <a:solidFill>
                  <a:schemeClr val="hlink"/>
                </a:solidFill>
              </a:rPr>
              <a:t>        </a:t>
            </a:r>
            <a:r>
              <a:rPr lang="zh-CN" altLang="en-US" sz="2800" b="1">
                <a:solidFill>
                  <a:srgbClr val="003399"/>
                </a:solidFill>
              </a:rPr>
              <a:t>例 </a:t>
            </a:r>
            <a:r>
              <a:rPr lang="zh-CN" altLang="en-US" sz="2800" b="1">
                <a:solidFill>
                  <a:schemeClr val="hlink"/>
                </a:solidFill>
              </a:rPr>
              <a:t>    </a:t>
            </a:r>
            <a:r>
              <a:rPr lang="zh-CN" altLang="en-US" sz="2800" b="1"/>
              <a:t>设随机变量</a:t>
            </a:r>
            <a:r>
              <a:rPr lang="en-US" altLang="zh-CN" sz="2800" b="1" i="1"/>
              <a:t>X</a:t>
            </a:r>
            <a:r>
              <a:rPr lang="zh-CN" altLang="en-US" sz="2800" b="1"/>
              <a:t>和</a:t>
            </a:r>
            <a:r>
              <a:rPr lang="en-US" altLang="zh-CN" sz="2800" b="1" i="1"/>
              <a:t>Y</a:t>
            </a:r>
            <a:r>
              <a:rPr lang="zh-CN" altLang="en-US" sz="2800" b="1"/>
              <a:t>相互独立且</a:t>
            </a:r>
            <a:r>
              <a:rPr lang="en-US" altLang="zh-CN" sz="3200" b="1" i="1"/>
              <a:t>X</a:t>
            </a:r>
            <a:r>
              <a:rPr lang="en-US" altLang="zh-CN" sz="3200" b="1"/>
              <a:t>~</a:t>
            </a:r>
            <a:r>
              <a:rPr lang="en-US" altLang="zh-CN" sz="3200" b="1" i="1"/>
              <a:t>N</a:t>
            </a:r>
            <a:r>
              <a:rPr lang="en-US" altLang="zh-CN" sz="3200" b="1"/>
              <a:t>(1,2), </a:t>
            </a:r>
            <a:r>
              <a:rPr lang="en-US" altLang="zh-CN" sz="3200" b="1" i="1"/>
              <a:t>Y</a:t>
            </a:r>
            <a:r>
              <a:rPr lang="en-US" altLang="zh-CN" sz="3200" b="1"/>
              <a:t>~</a:t>
            </a:r>
            <a:r>
              <a:rPr lang="en-US" altLang="zh-CN" sz="3200" b="1" i="1"/>
              <a:t>N</a:t>
            </a:r>
            <a:r>
              <a:rPr lang="en-US" altLang="zh-CN" sz="3200" b="1"/>
              <a:t>(0,1). </a:t>
            </a:r>
            <a:r>
              <a:rPr lang="zh-CN" altLang="en-US" sz="2800" b="1"/>
              <a:t>试求</a:t>
            </a:r>
            <a:r>
              <a:rPr lang="en-US" altLang="zh-CN" sz="3200" b="1" i="1"/>
              <a:t>Z</a:t>
            </a:r>
            <a:r>
              <a:rPr lang="en-US" altLang="zh-CN" sz="3200" b="1"/>
              <a:t>=2</a:t>
            </a:r>
            <a:r>
              <a:rPr lang="en-US" altLang="zh-CN" sz="3200" b="1" i="1"/>
              <a:t>X</a:t>
            </a:r>
            <a:r>
              <a:rPr lang="en-US" altLang="zh-CN" sz="3200" b="1"/>
              <a:t>-</a:t>
            </a:r>
            <a:r>
              <a:rPr lang="en-US" altLang="zh-CN" sz="3200" b="1" i="1"/>
              <a:t>Y</a:t>
            </a:r>
            <a:r>
              <a:rPr lang="en-US" altLang="zh-CN" sz="3200" b="1"/>
              <a:t>+3</a:t>
            </a:r>
            <a:r>
              <a:rPr lang="zh-CN" altLang="en-US" sz="2800" b="1"/>
              <a:t>的概率密度</a:t>
            </a:r>
            <a:r>
              <a:rPr lang="en-US" altLang="zh-CN" sz="3200" b="1"/>
              <a:t>.</a:t>
            </a:r>
            <a:endParaRPr lang="en-US" altLang="zh-CN" sz="3200" b="1"/>
          </a:p>
        </p:txBody>
      </p:sp>
      <p:sp>
        <p:nvSpPr>
          <p:cNvPr id="107523" name="Rectangle 3"/>
          <p:cNvSpPr>
            <a:spLocks noChangeArrowheads="1"/>
          </p:cNvSpPr>
          <p:nvPr/>
        </p:nvSpPr>
        <p:spPr bwMode="auto">
          <a:xfrm>
            <a:off x="3359150" y="2268538"/>
            <a:ext cx="24193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marL="342900" indent="-342900">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2" algn="ctr"/>
            <a:r>
              <a:rPr lang="en-US" altLang="zh-CN" sz="3200" b="1"/>
              <a:t>             </a:t>
            </a:r>
            <a:endParaRPr lang="en-US" altLang="zh-CN" sz="3200" b="1"/>
          </a:p>
        </p:txBody>
      </p:sp>
      <p:sp>
        <p:nvSpPr>
          <p:cNvPr id="327684" name="Text Box 4"/>
          <p:cNvSpPr txBox="1">
            <a:spLocks noChangeArrowheads="1"/>
          </p:cNvSpPr>
          <p:nvPr/>
        </p:nvSpPr>
        <p:spPr bwMode="auto">
          <a:xfrm>
            <a:off x="384175" y="2519363"/>
            <a:ext cx="8424863"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2800" b="1"/>
              <a:t>故</a:t>
            </a:r>
            <a:r>
              <a:rPr lang="en-US" altLang="zh-CN" sz="3200" b="1" i="1"/>
              <a:t>X </a:t>
            </a:r>
            <a:r>
              <a:rPr lang="zh-CN" altLang="en-US" sz="2800" b="1"/>
              <a:t>和</a:t>
            </a:r>
            <a:r>
              <a:rPr lang="en-US" altLang="zh-CN" sz="3200" b="1" i="1"/>
              <a:t>Y </a:t>
            </a:r>
            <a:r>
              <a:rPr lang="zh-CN" altLang="en-US" sz="2800" b="1"/>
              <a:t>的联合分布为正态分布</a:t>
            </a:r>
            <a:r>
              <a:rPr lang="zh-CN" altLang="en-US" sz="3200" b="1"/>
              <a:t>，</a:t>
            </a:r>
            <a:r>
              <a:rPr lang="en-US" altLang="zh-CN" sz="3200" b="1" i="1"/>
              <a:t>X </a:t>
            </a:r>
            <a:r>
              <a:rPr lang="zh-CN" altLang="en-US" sz="2800" b="1"/>
              <a:t>和</a:t>
            </a:r>
            <a:r>
              <a:rPr lang="en-US" altLang="zh-CN" sz="3200" b="1" i="1"/>
              <a:t>Y </a:t>
            </a:r>
            <a:r>
              <a:rPr lang="zh-CN" altLang="en-US" sz="2800" b="1"/>
              <a:t>的任意线性组合是正态分布</a:t>
            </a:r>
            <a:r>
              <a:rPr lang="en-US" altLang="zh-CN" sz="3200" b="1"/>
              <a:t>.</a:t>
            </a:r>
            <a:endParaRPr lang="en-US" altLang="zh-CN" sz="3200" b="1"/>
          </a:p>
        </p:txBody>
      </p:sp>
      <p:sp>
        <p:nvSpPr>
          <p:cNvPr id="327685" name="Rectangle 5"/>
          <p:cNvSpPr>
            <a:spLocks noChangeArrowheads="1"/>
          </p:cNvSpPr>
          <p:nvPr/>
        </p:nvSpPr>
        <p:spPr bwMode="auto">
          <a:xfrm>
            <a:off x="957263" y="1841500"/>
            <a:ext cx="67992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解</a:t>
            </a:r>
            <a:r>
              <a:rPr lang="en-US" altLang="zh-CN" sz="2800" b="1"/>
              <a:t>:</a:t>
            </a:r>
            <a:r>
              <a:rPr lang="en-US" altLang="zh-CN" sz="3200" b="1"/>
              <a:t>  </a:t>
            </a:r>
            <a:r>
              <a:rPr lang="en-US" altLang="zh-CN" sz="3200" b="1" i="1"/>
              <a:t>X</a:t>
            </a:r>
            <a:r>
              <a:rPr lang="en-US" altLang="zh-CN" sz="3200" b="1"/>
              <a:t>~</a:t>
            </a:r>
            <a:r>
              <a:rPr lang="en-US" altLang="zh-CN" sz="3200" b="1" i="1"/>
              <a:t>N</a:t>
            </a:r>
            <a:r>
              <a:rPr lang="en-US" altLang="zh-CN" sz="3200" b="1"/>
              <a:t>(1,2),</a:t>
            </a:r>
            <a:r>
              <a:rPr lang="en-US" altLang="zh-CN" sz="3200" b="1" i="1"/>
              <a:t>Y</a:t>
            </a:r>
            <a:r>
              <a:rPr lang="en-US" altLang="zh-CN" sz="3200" b="1"/>
              <a:t>~</a:t>
            </a:r>
            <a:r>
              <a:rPr lang="en-US" altLang="zh-CN" sz="3200" b="1" i="1"/>
              <a:t>N</a:t>
            </a:r>
            <a:r>
              <a:rPr lang="en-US" altLang="zh-CN" sz="3200" b="1"/>
              <a:t>(0,1)</a:t>
            </a:r>
            <a:r>
              <a:rPr lang="zh-CN" altLang="en-US" sz="3200" b="1"/>
              <a:t>，</a:t>
            </a:r>
            <a:r>
              <a:rPr lang="zh-CN" altLang="en-US" sz="2800" b="1"/>
              <a:t>且 </a:t>
            </a:r>
            <a:r>
              <a:rPr lang="en-US" altLang="zh-CN" sz="3200" b="1" i="1"/>
              <a:t>X </a:t>
            </a:r>
            <a:r>
              <a:rPr lang="zh-CN" altLang="en-US" sz="2800" b="1"/>
              <a:t>与</a:t>
            </a:r>
            <a:r>
              <a:rPr lang="en-US" altLang="zh-CN" sz="3200" b="1" i="1"/>
              <a:t>Y </a:t>
            </a:r>
            <a:r>
              <a:rPr lang="zh-CN" altLang="en-US" sz="2800" b="1"/>
              <a:t>独立</a:t>
            </a:r>
            <a:r>
              <a:rPr lang="en-US" altLang="zh-CN" sz="3200" b="1"/>
              <a:t>,</a:t>
            </a:r>
            <a:endParaRPr lang="en-US" altLang="zh-CN" sz="3200" b="1"/>
          </a:p>
        </p:txBody>
      </p:sp>
      <p:sp>
        <p:nvSpPr>
          <p:cNvPr id="327686" name="Rectangle 6"/>
          <p:cNvSpPr>
            <a:spLocks noChangeArrowheads="1"/>
          </p:cNvSpPr>
          <p:nvPr/>
        </p:nvSpPr>
        <p:spPr bwMode="auto">
          <a:xfrm>
            <a:off x="1555750" y="5310188"/>
            <a:ext cx="46132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b="1" i="1"/>
              <a:t>D</a:t>
            </a:r>
            <a:r>
              <a:rPr lang="en-US" altLang="zh-CN" sz="3200" b="1"/>
              <a:t>(</a:t>
            </a:r>
            <a:r>
              <a:rPr lang="en-US" altLang="zh-CN" sz="3200" b="1" i="1"/>
              <a:t>Z</a:t>
            </a:r>
            <a:r>
              <a:rPr lang="en-US" altLang="zh-CN" sz="3200" b="1"/>
              <a:t>)=4</a:t>
            </a:r>
            <a:r>
              <a:rPr lang="en-US" altLang="zh-CN" sz="3200" b="1" i="1"/>
              <a:t>D</a:t>
            </a:r>
            <a:r>
              <a:rPr lang="en-US" altLang="zh-CN" sz="3200" b="1"/>
              <a:t>(</a:t>
            </a:r>
            <a:r>
              <a:rPr lang="en-US" altLang="zh-CN" sz="3200" b="1" i="1"/>
              <a:t>X</a:t>
            </a:r>
            <a:r>
              <a:rPr lang="en-US" altLang="zh-CN" sz="3200" b="1"/>
              <a:t>)+</a:t>
            </a:r>
            <a:r>
              <a:rPr lang="en-US" altLang="zh-CN" sz="3200" b="1" i="1"/>
              <a:t>D</a:t>
            </a:r>
            <a:r>
              <a:rPr lang="en-US" altLang="zh-CN" sz="3200" b="1"/>
              <a:t>(</a:t>
            </a:r>
            <a:r>
              <a:rPr lang="en-US" altLang="zh-CN" sz="3200" b="1" i="1"/>
              <a:t>Y</a:t>
            </a:r>
            <a:r>
              <a:rPr lang="en-US" altLang="zh-CN" sz="3200" b="1"/>
              <a:t>)=8+1=9</a:t>
            </a:r>
            <a:endParaRPr lang="en-US" altLang="zh-CN" sz="3200" b="1"/>
          </a:p>
        </p:txBody>
      </p:sp>
      <p:sp>
        <p:nvSpPr>
          <p:cNvPr id="327687" name="Rectangle 7"/>
          <p:cNvSpPr>
            <a:spLocks noChangeArrowheads="1"/>
          </p:cNvSpPr>
          <p:nvPr/>
        </p:nvSpPr>
        <p:spPr bwMode="auto">
          <a:xfrm>
            <a:off x="1555750" y="4518025"/>
            <a:ext cx="53927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b="1" i="1"/>
              <a:t>E</a:t>
            </a:r>
            <a:r>
              <a:rPr lang="en-US" altLang="zh-CN" sz="3200" b="1"/>
              <a:t>(</a:t>
            </a:r>
            <a:r>
              <a:rPr lang="en-US" altLang="zh-CN" sz="3200" b="1" i="1"/>
              <a:t>Z</a:t>
            </a:r>
            <a:r>
              <a:rPr lang="en-US" altLang="zh-CN" sz="3200" b="1"/>
              <a:t>)=2</a:t>
            </a:r>
            <a:r>
              <a:rPr lang="en-US" altLang="zh-CN" sz="3200" b="1" i="1"/>
              <a:t>E</a:t>
            </a:r>
            <a:r>
              <a:rPr lang="en-US" altLang="zh-CN" sz="3200" b="1"/>
              <a:t>(</a:t>
            </a:r>
            <a:r>
              <a:rPr lang="en-US" altLang="zh-CN" sz="3200" b="1" i="1"/>
              <a:t>X</a:t>
            </a:r>
            <a:r>
              <a:rPr lang="en-US" altLang="zh-CN" sz="3200" b="1"/>
              <a:t>)-</a:t>
            </a:r>
            <a:r>
              <a:rPr lang="en-US" altLang="zh-CN" sz="3200" b="1" i="1"/>
              <a:t>E</a:t>
            </a:r>
            <a:r>
              <a:rPr lang="en-US" altLang="zh-CN" sz="3200" b="1"/>
              <a:t>(</a:t>
            </a:r>
            <a:r>
              <a:rPr lang="en-US" altLang="zh-CN" sz="3200" b="1" i="1"/>
              <a:t>Y</a:t>
            </a:r>
            <a:r>
              <a:rPr lang="en-US" altLang="zh-CN" sz="3200" b="1"/>
              <a:t>)+3=2+3=5     </a:t>
            </a:r>
            <a:endParaRPr lang="en-US" altLang="zh-CN" sz="3200" b="1"/>
          </a:p>
        </p:txBody>
      </p:sp>
      <p:sp>
        <p:nvSpPr>
          <p:cNvPr id="327688" name="Rectangle 8"/>
          <p:cNvSpPr>
            <a:spLocks noChangeArrowheads="1"/>
          </p:cNvSpPr>
          <p:nvPr/>
        </p:nvSpPr>
        <p:spPr bwMode="auto">
          <a:xfrm>
            <a:off x="312738" y="3802063"/>
            <a:ext cx="53990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2800" b="1"/>
              <a:t>即</a:t>
            </a:r>
            <a:r>
              <a:rPr lang="zh-CN" altLang="en-US" sz="3200" b="1"/>
              <a:t>                    </a:t>
            </a:r>
            <a:r>
              <a:rPr lang="en-US" altLang="zh-CN" sz="3200" b="1" i="1"/>
              <a:t>Z</a:t>
            </a:r>
            <a:r>
              <a:rPr lang="en-US" altLang="zh-CN" sz="3200" b="1"/>
              <a:t>~</a:t>
            </a:r>
            <a:r>
              <a:rPr lang="en-US" altLang="zh-CN" sz="3200" b="1" i="1"/>
              <a:t>N</a:t>
            </a:r>
            <a:r>
              <a:rPr lang="en-US" altLang="zh-CN" sz="3200" b="1"/>
              <a:t>(</a:t>
            </a:r>
            <a:r>
              <a:rPr lang="en-US" altLang="zh-CN" sz="3200" b="1" i="1"/>
              <a:t>E</a:t>
            </a:r>
            <a:r>
              <a:rPr lang="en-US" altLang="zh-CN" sz="3200" b="1"/>
              <a:t>(</a:t>
            </a:r>
            <a:r>
              <a:rPr lang="en-US" altLang="zh-CN" sz="3200" b="1" i="1"/>
              <a:t>Z</a:t>
            </a:r>
            <a:r>
              <a:rPr lang="en-US" altLang="zh-CN" sz="3200" b="1"/>
              <a:t>), </a:t>
            </a:r>
            <a:r>
              <a:rPr lang="en-US" altLang="zh-CN" sz="3200" b="1" i="1"/>
              <a:t>D</a:t>
            </a:r>
            <a:r>
              <a:rPr lang="en-US" altLang="zh-CN" sz="3200" b="1"/>
              <a:t>(</a:t>
            </a:r>
            <a:r>
              <a:rPr lang="en-US" altLang="zh-CN" sz="3200" b="1" i="1"/>
              <a:t>Z</a:t>
            </a:r>
            <a:r>
              <a:rPr lang="en-US" altLang="zh-CN" sz="3200" b="1"/>
              <a:t>))</a:t>
            </a:r>
            <a:endParaRPr lang="en-US" altLang="zh-CN" sz="3200" b="1"/>
          </a:p>
        </p:txBody>
      </p:sp>
      <p:sp>
        <p:nvSpPr>
          <p:cNvPr id="327689" name="Rectangle 9"/>
          <p:cNvSpPr>
            <a:spLocks noChangeArrowheads="1"/>
          </p:cNvSpPr>
          <p:nvPr/>
        </p:nvSpPr>
        <p:spPr bwMode="auto">
          <a:xfrm>
            <a:off x="6858000" y="5181600"/>
            <a:ext cx="19732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3200" b="1" i="1">
                <a:solidFill>
                  <a:srgbClr val="000066"/>
                </a:solidFill>
              </a:rPr>
              <a:t>Z</a:t>
            </a:r>
            <a:r>
              <a:rPr lang="en-US" altLang="zh-CN" sz="3200" b="1">
                <a:solidFill>
                  <a:srgbClr val="000066"/>
                </a:solidFill>
              </a:rPr>
              <a:t>~</a:t>
            </a:r>
            <a:r>
              <a:rPr lang="en-US" altLang="zh-CN" sz="3200" b="1" i="1">
                <a:solidFill>
                  <a:srgbClr val="000066"/>
                </a:solidFill>
              </a:rPr>
              <a:t>N</a:t>
            </a:r>
            <a:r>
              <a:rPr lang="en-US" altLang="zh-CN" sz="3200" b="1">
                <a:solidFill>
                  <a:srgbClr val="000066"/>
                </a:solidFill>
              </a:rPr>
              <a:t>(5, 3</a:t>
            </a:r>
            <a:r>
              <a:rPr lang="en-US" altLang="zh-CN" sz="3200" b="1" baseline="30000">
                <a:solidFill>
                  <a:srgbClr val="000066"/>
                </a:solidFill>
              </a:rPr>
              <a:t>2</a:t>
            </a:r>
            <a:r>
              <a:rPr lang="en-US" altLang="zh-CN" sz="3200" b="1">
                <a:solidFill>
                  <a:srgbClr val="000066"/>
                </a:solidFill>
              </a:rPr>
              <a:t>)</a:t>
            </a:r>
            <a:endParaRPr lang="en-US" altLang="zh-CN" sz="3200" b="1">
              <a:solidFill>
                <a:srgbClr val="000066"/>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685"/>
                                        </p:tgtEl>
                                        <p:attrNameLst>
                                          <p:attrName>style.visibility</p:attrName>
                                        </p:attrNameLst>
                                      </p:cBhvr>
                                      <p:to>
                                        <p:strVal val="visible"/>
                                      </p:to>
                                    </p:set>
                                    <p:animEffect transition="in" filter="wipe(left)">
                                      <p:cBhvr>
                                        <p:cTn id="7" dur="500"/>
                                        <p:tgtEl>
                                          <p:spTgt spid="32768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327684"/>
                                        </p:tgtEl>
                                        <p:attrNameLst>
                                          <p:attrName>style.visibility</p:attrName>
                                        </p:attrNameLst>
                                      </p:cBhvr>
                                      <p:to>
                                        <p:strVal val="visible"/>
                                      </p:to>
                                    </p:set>
                                    <p:anim calcmode="lin" valueType="num">
                                      <p:cBhvr additive="base">
                                        <p:cTn id="12" dur="500" fill="hold"/>
                                        <p:tgtEl>
                                          <p:spTgt spid="327684"/>
                                        </p:tgtEl>
                                        <p:attrNameLst>
                                          <p:attrName>ppt_x</p:attrName>
                                        </p:attrNameLst>
                                      </p:cBhvr>
                                      <p:tavLst>
                                        <p:tav tm="0">
                                          <p:val>
                                            <p:strVal val="1+#ppt_w/2"/>
                                          </p:val>
                                        </p:tav>
                                        <p:tav tm="100000">
                                          <p:val>
                                            <p:strVal val="#ppt_x"/>
                                          </p:val>
                                        </p:tav>
                                      </p:tavLst>
                                    </p:anim>
                                    <p:anim calcmode="lin" valueType="num">
                                      <p:cBhvr additive="base">
                                        <p:cTn id="13" dur="500" fill="hold"/>
                                        <p:tgtEl>
                                          <p:spTgt spid="32768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27688"/>
                                        </p:tgtEl>
                                        <p:attrNameLst>
                                          <p:attrName>style.visibility</p:attrName>
                                        </p:attrNameLst>
                                      </p:cBhvr>
                                      <p:to>
                                        <p:strVal val="visible"/>
                                      </p:to>
                                    </p:set>
                                    <p:animEffect transition="in" filter="wipe(left)">
                                      <p:cBhvr>
                                        <p:cTn id="18" dur="500"/>
                                        <p:tgtEl>
                                          <p:spTgt spid="32768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grpId="0" nodeType="clickEffect">
                                  <p:stCondLst>
                                    <p:cond delay="0"/>
                                  </p:stCondLst>
                                  <p:childTnLst>
                                    <p:set>
                                      <p:cBhvr>
                                        <p:cTn id="22" dur="1" fill="hold">
                                          <p:stCondLst>
                                            <p:cond delay="0"/>
                                          </p:stCondLst>
                                        </p:cTn>
                                        <p:tgtEl>
                                          <p:spTgt spid="327687"/>
                                        </p:tgtEl>
                                        <p:attrNameLst>
                                          <p:attrName>style.visibility</p:attrName>
                                        </p:attrNameLst>
                                      </p:cBhvr>
                                      <p:to>
                                        <p:strVal val="visible"/>
                                      </p:to>
                                    </p:set>
                                    <p:animEffect transition="in" filter="wipe(right)">
                                      <p:cBhvr>
                                        <p:cTn id="23" dur="500"/>
                                        <p:tgtEl>
                                          <p:spTgt spid="32768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grpId="0" nodeType="clickEffect">
                                  <p:stCondLst>
                                    <p:cond delay="0"/>
                                  </p:stCondLst>
                                  <p:childTnLst>
                                    <p:set>
                                      <p:cBhvr>
                                        <p:cTn id="27" dur="1" fill="hold">
                                          <p:stCondLst>
                                            <p:cond delay="0"/>
                                          </p:stCondLst>
                                        </p:cTn>
                                        <p:tgtEl>
                                          <p:spTgt spid="327686"/>
                                        </p:tgtEl>
                                        <p:attrNameLst>
                                          <p:attrName>style.visibility</p:attrName>
                                        </p:attrNameLst>
                                      </p:cBhvr>
                                      <p:to>
                                        <p:strVal val="visible"/>
                                      </p:to>
                                    </p:set>
                                    <p:animEffect transition="in" filter="wipe(right)">
                                      <p:cBhvr>
                                        <p:cTn id="28" dur="500"/>
                                        <p:tgtEl>
                                          <p:spTgt spid="327686"/>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327689"/>
                                        </p:tgtEl>
                                        <p:attrNameLst>
                                          <p:attrName>style.visibility</p:attrName>
                                        </p:attrNameLst>
                                      </p:cBhvr>
                                      <p:to>
                                        <p:strVal val="visible"/>
                                      </p:to>
                                    </p:set>
                                    <p:anim calcmode="lin" valueType="num">
                                      <p:cBhvr additive="base">
                                        <p:cTn id="33" dur="500" fill="hold"/>
                                        <p:tgtEl>
                                          <p:spTgt spid="327689"/>
                                        </p:tgtEl>
                                        <p:attrNameLst>
                                          <p:attrName>ppt_x</p:attrName>
                                        </p:attrNameLst>
                                      </p:cBhvr>
                                      <p:tavLst>
                                        <p:tav tm="0">
                                          <p:val>
                                            <p:strVal val="0-#ppt_w/2"/>
                                          </p:val>
                                        </p:tav>
                                        <p:tav tm="100000">
                                          <p:val>
                                            <p:strVal val="#ppt_x"/>
                                          </p:val>
                                        </p:tav>
                                      </p:tavLst>
                                    </p:anim>
                                    <p:anim calcmode="lin" valueType="num">
                                      <p:cBhvr additive="base">
                                        <p:cTn id="34" dur="500" fill="hold"/>
                                        <p:tgtEl>
                                          <p:spTgt spid="3276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684" grpId="0" autoUpdateAnimBg="0"/>
      <p:bldP spid="327685" grpId="0" autoUpdateAnimBg="0"/>
      <p:bldP spid="327686" grpId="0" autoUpdateAnimBg="0"/>
      <p:bldP spid="327687" grpId="0" autoUpdateAnimBg="0"/>
      <p:bldP spid="327688" grpId="0" autoUpdateAnimBg="0"/>
      <p:bldP spid="327689"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ChangeArrowheads="1"/>
          </p:cNvSpPr>
          <p:nvPr/>
        </p:nvSpPr>
        <p:spPr bwMode="auto">
          <a:xfrm>
            <a:off x="-108520" y="115151"/>
            <a:ext cx="8208962" cy="559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en-US" altLang="zh-CN" sz="2800" b="1" dirty="0">
                <a:solidFill>
                  <a:schemeClr val="hlink"/>
                </a:solidFill>
              </a:rPr>
              <a:t>        </a:t>
            </a:r>
            <a:r>
              <a:rPr lang="zh-CN" altLang="en-US" sz="2800" b="1" dirty="0">
                <a:solidFill>
                  <a:srgbClr val="003399"/>
                </a:solidFill>
              </a:rPr>
              <a:t>例 </a:t>
            </a:r>
            <a:r>
              <a:rPr lang="zh-CN" altLang="en-US" sz="2800" b="1" dirty="0">
                <a:solidFill>
                  <a:schemeClr val="hlink"/>
                </a:solidFill>
              </a:rPr>
              <a:t>    </a:t>
            </a:r>
            <a:r>
              <a:rPr lang="zh-CN" altLang="en-US" sz="2800" b="1" dirty="0"/>
              <a:t>补充题第</a:t>
            </a:r>
            <a:r>
              <a:rPr lang="en-US" altLang="zh-CN" sz="2800" b="1" dirty="0"/>
              <a:t>6</a:t>
            </a:r>
            <a:r>
              <a:rPr lang="zh-CN" altLang="en-US" sz="2800" b="1" dirty="0"/>
              <a:t>题</a:t>
            </a:r>
            <a:endParaRPr lang="zh-CN" altLang="en-US" sz="3200" b="1" dirty="0"/>
          </a:p>
        </p:txBody>
      </p:sp>
      <p:graphicFrame>
        <p:nvGraphicFramePr>
          <p:cNvPr id="108555" name="Object 4"/>
          <p:cNvGraphicFramePr>
            <a:graphicFrameLocks noChangeAspect="1"/>
          </p:cNvGraphicFramePr>
          <p:nvPr/>
        </p:nvGraphicFramePr>
        <p:xfrm>
          <a:off x="3606800" y="5597525"/>
          <a:ext cx="161925" cy="284163"/>
        </p:xfrm>
        <a:graphic>
          <a:graphicData uri="http://schemas.openxmlformats.org/presentationml/2006/ole">
            <mc:AlternateContent xmlns:mc="http://schemas.openxmlformats.org/markup-compatibility/2006">
              <mc:Choice xmlns:v="urn:schemas-microsoft-com:vml" Requires="v">
                <p:oleObj spid="_x0000_s121894" name="Equation" r:id="rId1" imgW="85725" imgH="154305" progId="Equation.DSMT4">
                  <p:embed/>
                </p:oleObj>
              </mc:Choice>
              <mc:Fallback>
                <p:oleObj name="Equation" r:id="rId1" imgW="85725" imgH="154305"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6800" y="5597525"/>
                        <a:ext cx="161925"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2"/>
          <p:cNvGraphicFramePr>
            <a:graphicFrameLocks noChangeAspect="1"/>
          </p:cNvGraphicFramePr>
          <p:nvPr/>
        </p:nvGraphicFramePr>
        <p:xfrm>
          <a:off x="395536" y="769036"/>
          <a:ext cx="8609694" cy="3643784"/>
        </p:xfrm>
        <a:graphic>
          <a:graphicData uri="http://schemas.openxmlformats.org/presentationml/2006/ole">
            <mc:AlternateContent xmlns:mc="http://schemas.openxmlformats.org/markup-compatibility/2006">
              <mc:Choice xmlns:v="urn:schemas-microsoft-com:vml" Requires="v">
                <p:oleObj spid="_x0000_s121895" name="Document" r:id="rId3" imgW="5220970" imgH="2205355" progId="Word.Document.8">
                  <p:embed/>
                </p:oleObj>
              </mc:Choice>
              <mc:Fallback>
                <p:oleObj name="Document" r:id="rId3" imgW="5220970" imgH="2205355" progId="Word.Document.8">
                  <p:embed/>
                  <p:pic>
                    <p:nvPicPr>
                      <p:cNvPr id="0" name="Object 2"/>
                      <p:cNvPicPr>
                        <a:picLocks noChangeAspect="1" noChangeArrowheads="1"/>
                      </p:cNvPicPr>
                      <p:nvPr/>
                    </p:nvPicPr>
                    <p:blipFill>
                      <a:blip r:embed="rId4"/>
                      <a:srcRect/>
                      <a:stretch>
                        <a:fillRect/>
                      </a:stretch>
                    </p:blipFill>
                    <p:spPr bwMode="auto">
                      <a:xfrm>
                        <a:off x="395536" y="769036"/>
                        <a:ext cx="8609694" cy="3643784"/>
                      </a:xfrm>
                      <a:prstGeom prst="rect">
                        <a:avLst/>
                      </a:prstGeom>
                      <a:noFill/>
                      <a:ln>
                        <a:noFill/>
                      </a:ln>
                    </p:spPr>
                  </p:pic>
                </p:oleObj>
              </mc:Fallback>
            </mc:AlternateContent>
          </a:graphicData>
        </a:graphic>
      </p:graphicFrame>
      <p:graphicFrame>
        <p:nvGraphicFramePr>
          <p:cNvPr id="15" name="Object 5"/>
          <p:cNvGraphicFramePr>
            <a:graphicFrameLocks noChangeAspect="1"/>
          </p:cNvGraphicFramePr>
          <p:nvPr/>
        </p:nvGraphicFramePr>
        <p:xfrm>
          <a:off x="1115616" y="3933056"/>
          <a:ext cx="6073775" cy="1592262"/>
        </p:xfrm>
        <a:graphic>
          <a:graphicData uri="http://schemas.openxmlformats.org/presentationml/2006/ole">
            <mc:AlternateContent xmlns:mc="http://schemas.openxmlformats.org/markup-compatibility/2006">
              <mc:Choice xmlns:v="urn:schemas-microsoft-com:vml" Requires="v">
                <p:oleObj spid="_x0000_s121896" name="Equation" r:id="rId5" imgW="101193600" imgH="26212800" progId="Equation.DSMT4">
                  <p:embed/>
                </p:oleObj>
              </mc:Choice>
              <mc:Fallback>
                <p:oleObj name="Equation" r:id="rId5" imgW="101193600" imgH="26212800" progId="Equation.DSMT4">
                  <p:embed/>
                  <p:pic>
                    <p:nvPicPr>
                      <p:cNvPr id="0" name="Object 5"/>
                      <p:cNvPicPr>
                        <a:picLocks noChangeAspect="1" noChangeArrowheads="1"/>
                      </p:cNvPicPr>
                      <p:nvPr/>
                    </p:nvPicPr>
                    <p:blipFill>
                      <a:blip r:embed="rId6"/>
                      <a:srcRect/>
                      <a:stretch>
                        <a:fillRect/>
                      </a:stretch>
                    </p:blipFill>
                    <p:spPr bwMode="auto">
                      <a:xfrm>
                        <a:off x="1115616" y="3933056"/>
                        <a:ext cx="6073775" cy="1592262"/>
                      </a:xfrm>
                      <a:prstGeom prst="rect">
                        <a:avLst/>
                      </a:prstGeom>
                      <a:noFill/>
                      <a:ln>
                        <a:noFill/>
                      </a:ln>
                      <a:effectLst/>
                    </p:spPr>
                  </p:pic>
                </p:oleObj>
              </mc:Fallback>
            </mc:AlternateContent>
          </a:graphicData>
        </a:graphic>
      </p:graphicFrame>
      <p:graphicFrame>
        <p:nvGraphicFramePr>
          <p:cNvPr id="18" name="Object 2"/>
          <p:cNvGraphicFramePr>
            <a:graphicFrameLocks noChangeAspect="1"/>
          </p:cNvGraphicFramePr>
          <p:nvPr/>
        </p:nvGraphicFramePr>
        <p:xfrm>
          <a:off x="643731" y="5597525"/>
          <a:ext cx="5926138" cy="1495425"/>
        </p:xfrm>
        <a:graphic>
          <a:graphicData uri="http://schemas.openxmlformats.org/presentationml/2006/ole">
            <mc:AlternateContent xmlns:mc="http://schemas.openxmlformats.org/markup-compatibility/2006">
              <mc:Choice xmlns:v="urn:schemas-microsoft-com:vml" Requires="v">
                <p:oleObj spid="_x0000_s121897" name="Document" r:id="rId7" imgW="3157855" imgH="800100" progId="Word.Document.8">
                  <p:embed/>
                </p:oleObj>
              </mc:Choice>
              <mc:Fallback>
                <p:oleObj name="Document" r:id="rId7" imgW="3157855" imgH="800100" progId="Word.Document.8">
                  <p:embed/>
                  <p:pic>
                    <p:nvPicPr>
                      <p:cNvPr id="0" name="Object 2"/>
                      <p:cNvPicPr>
                        <a:picLocks noChangeAspect="1" noChangeArrowheads="1"/>
                      </p:cNvPicPr>
                      <p:nvPr/>
                    </p:nvPicPr>
                    <p:blipFill>
                      <a:blip r:embed="rId8"/>
                      <a:srcRect/>
                      <a:stretch>
                        <a:fillRect/>
                      </a:stretch>
                    </p:blipFill>
                    <p:spPr bwMode="auto">
                      <a:xfrm>
                        <a:off x="643731" y="5597525"/>
                        <a:ext cx="5926138" cy="1495425"/>
                      </a:xfrm>
                      <a:prstGeom prst="rect">
                        <a:avLst/>
                      </a:prstGeom>
                      <a:no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p:cNvSpPr txBox="1">
            <a:spLocks noChangeArrowheads="1"/>
          </p:cNvSpPr>
          <p:nvPr/>
        </p:nvSpPr>
        <p:spPr bwMode="auto">
          <a:xfrm>
            <a:off x="754063" y="1193800"/>
            <a:ext cx="18732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1">
                <a:ea typeface="黑体" panose="02010609060101010101" pitchFamily="49" charset="-122"/>
              </a:rPr>
              <a:t>四、小结</a:t>
            </a:r>
            <a:endParaRPr lang="zh-CN" altLang="en-US" sz="3200" b="1">
              <a:ea typeface="黑体" panose="02010609060101010101" pitchFamily="49" charset="-122"/>
            </a:endParaRPr>
          </a:p>
        </p:txBody>
      </p:sp>
      <p:sp>
        <p:nvSpPr>
          <p:cNvPr id="329731" name="Text Box 3"/>
          <p:cNvSpPr txBox="1">
            <a:spLocks noChangeArrowheads="1"/>
          </p:cNvSpPr>
          <p:nvPr/>
        </p:nvSpPr>
        <p:spPr bwMode="auto">
          <a:xfrm>
            <a:off x="755650" y="2060575"/>
            <a:ext cx="7488238" cy="133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45000"/>
              </a:lnSpc>
              <a:spcBef>
                <a:spcPct val="50000"/>
              </a:spcBef>
            </a:pPr>
            <a:r>
              <a:rPr lang="en-US" altLang="zh-CN" sz="2800" b="1"/>
              <a:t>        </a:t>
            </a:r>
            <a:r>
              <a:rPr lang="zh-CN" altLang="en-US" sz="2800" b="1"/>
              <a:t>在这一节中我们学习了随机变量的原点矩和中心矩以及协方差矩阵 </a:t>
            </a:r>
            <a:r>
              <a:rPr lang="en-US" altLang="zh-CN" sz="2800" b="1"/>
              <a:t>.</a:t>
            </a:r>
            <a:endParaRPr lang="en-US" altLang="zh-CN" sz="2800" b="1"/>
          </a:p>
        </p:txBody>
      </p:sp>
      <p:sp>
        <p:nvSpPr>
          <p:cNvPr id="329732" name="Text Box 4"/>
          <p:cNvSpPr txBox="1">
            <a:spLocks noChangeArrowheads="1"/>
          </p:cNvSpPr>
          <p:nvPr/>
        </p:nvSpPr>
        <p:spPr bwMode="auto">
          <a:xfrm>
            <a:off x="755650" y="3573463"/>
            <a:ext cx="7488238" cy="194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45000"/>
              </a:lnSpc>
              <a:spcBef>
                <a:spcPct val="50000"/>
              </a:spcBef>
            </a:pPr>
            <a:r>
              <a:rPr lang="en-US" altLang="zh-CN" sz="2800" b="1"/>
              <a:t>        </a:t>
            </a:r>
            <a:r>
              <a:rPr lang="zh-CN" altLang="en-US" sz="2800" b="1"/>
              <a:t>一般地 </a:t>
            </a:r>
            <a:r>
              <a:rPr lang="en-US" altLang="zh-CN" sz="2800" b="1"/>
              <a:t>, n</a:t>
            </a:r>
            <a:r>
              <a:rPr lang="zh-CN" altLang="en-US" sz="2800" b="1"/>
              <a:t>维随机变量的分布是不知道的 </a:t>
            </a:r>
            <a:r>
              <a:rPr lang="en-US" altLang="zh-CN" sz="2800" b="1"/>
              <a:t>, </a:t>
            </a:r>
            <a:r>
              <a:rPr lang="zh-CN" altLang="en-US" sz="2800" b="1"/>
              <a:t>或者太复杂 </a:t>
            </a:r>
            <a:r>
              <a:rPr lang="en-US" altLang="zh-CN" sz="2800" b="1"/>
              <a:t>, </a:t>
            </a:r>
            <a:r>
              <a:rPr lang="zh-CN" altLang="en-US" sz="2800" b="1"/>
              <a:t>以至于在数学上不易处理 </a:t>
            </a:r>
            <a:r>
              <a:rPr lang="en-US" altLang="zh-CN" sz="2800" b="1"/>
              <a:t>, </a:t>
            </a:r>
            <a:r>
              <a:rPr lang="zh-CN" altLang="en-US" sz="2800" b="1"/>
              <a:t>因此在实际中协方差矩阵就显得重要了 </a:t>
            </a:r>
            <a:r>
              <a:rPr lang="en-US" altLang="zh-CN" sz="2800" b="1"/>
              <a:t>.</a:t>
            </a:r>
            <a:endParaRPr lang="en-US" altLang="zh-CN" sz="28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9731"/>
                                        </p:tgtEl>
                                        <p:attrNameLst>
                                          <p:attrName>style.visibility</p:attrName>
                                        </p:attrNameLst>
                                      </p:cBhvr>
                                      <p:to>
                                        <p:strVal val="visible"/>
                                      </p:to>
                                    </p:set>
                                    <p:animEffect transition="in" filter="wipe(left)">
                                      <p:cBhvr>
                                        <p:cTn id="7" dur="500"/>
                                        <p:tgtEl>
                                          <p:spTgt spid="3297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9732"/>
                                        </p:tgtEl>
                                        <p:attrNameLst>
                                          <p:attrName>style.visibility</p:attrName>
                                        </p:attrNameLst>
                                      </p:cBhvr>
                                      <p:to>
                                        <p:strVal val="visible"/>
                                      </p:to>
                                    </p:set>
                                    <p:animEffect transition="in" filter="wipe(left)">
                                      <p:cBhvr>
                                        <p:cTn id="12" dur="500"/>
                                        <p:tgtEl>
                                          <p:spTgt spid="329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1" grpId="0" autoUpdateAnimBg="0"/>
      <p:bldP spid="329732"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Text Box 3"/>
          <p:cNvSpPr txBox="1">
            <a:spLocks noChangeArrowheads="1"/>
          </p:cNvSpPr>
          <p:nvPr/>
        </p:nvSpPr>
        <p:spPr bwMode="auto">
          <a:xfrm>
            <a:off x="2481263" y="1412875"/>
            <a:ext cx="284003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本章要解决的问题：</a:t>
            </a:r>
            <a:r>
              <a:rPr lang="zh-CN" altLang="en-US" sz="2200" b="1">
                <a:latin typeface="宋体" panose="02010600030101010101" pitchFamily="2" charset="-122"/>
              </a:rPr>
              <a:t> </a:t>
            </a:r>
            <a:endParaRPr lang="zh-CN" altLang="en-US" sz="2200" b="1">
              <a:latin typeface="宋体" panose="02010600030101010101" pitchFamily="2" charset="-122"/>
            </a:endParaRPr>
          </a:p>
        </p:txBody>
      </p:sp>
      <p:sp>
        <p:nvSpPr>
          <p:cNvPr id="3075" name="Text Box 4"/>
          <p:cNvSpPr txBox="1">
            <a:spLocks noChangeArrowheads="1"/>
          </p:cNvSpPr>
          <p:nvPr/>
        </p:nvSpPr>
        <p:spPr bwMode="auto">
          <a:xfrm>
            <a:off x="1543050" y="1981200"/>
            <a:ext cx="419100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a:latin typeface="宋体" panose="02010600030101010101" pitchFamily="2" charset="-122"/>
              </a:rPr>
              <a:t>　　</a:t>
            </a:r>
            <a:r>
              <a:rPr lang="en-US" altLang="zh-CN" sz="2200">
                <a:latin typeface="宋体" panose="02010600030101010101" pitchFamily="2" charset="-122"/>
              </a:rPr>
              <a:t>1</a:t>
            </a:r>
            <a:r>
              <a:rPr lang="zh-CN" altLang="en-US" sz="2200">
                <a:latin typeface="宋体" panose="02010600030101010101" pitchFamily="2" charset="-122"/>
              </a:rPr>
              <a:t>．为何能以某事件发生的频率作为该事件的概率的估计？</a:t>
            </a:r>
            <a:endParaRPr lang="zh-CN" altLang="en-US" sz="2200">
              <a:latin typeface="宋体" panose="02010600030101010101" pitchFamily="2" charset="-122"/>
            </a:endParaRPr>
          </a:p>
        </p:txBody>
      </p:sp>
      <p:sp>
        <p:nvSpPr>
          <p:cNvPr id="3076" name="Text Box 5"/>
          <p:cNvSpPr txBox="1">
            <a:spLocks noChangeArrowheads="1"/>
          </p:cNvSpPr>
          <p:nvPr/>
        </p:nvSpPr>
        <p:spPr bwMode="auto">
          <a:xfrm>
            <a:off x="1543050" y="2895600"/>
            <a:ext cx="403860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a:latin typeface="宋体" panose="02010600030101010101" pitchFamily="2" charset="-122"/>
              </a:rPr>
              <a:t>　　</a:t>
            </a:r>
            <a:r>
              <a:rPr lang="en-US" altLang="zh-CN" sz="2200">
                <a:latin typeface="宋体" panose="02010600030101010101" pitchFamily="2" charset="-122"/>
              </a:rPr>
              <a:t>2</a:t>
            </a:r>
            <a:r>
              <a:rPr lang="zh-CN" altLang="en-US" sz="2200">
                <a:latin typeface="宋体" panose="02010600030101010101" pitchFamily="2" charset="-122"/>
              </a:rPr>
              <a:t>．为何能以样本均值作为总体期望的估计？</a:t>
            </a:r>
            <a:endParaRPr lang="zh-CN" altLang="en-US" sz="2200">
              <a:latin typeface="宋体" panose="02010600030101010101" pitchFamily="2" charset="-122"/>
            </a:endParaRPr>
          </a:p>
        </p:txBody>
      </p:sp>
      <p:sp>
        <p:nvSpPr>
          <p:cNvPr id="3077" name="Text Box 6"/>
          <p:cNvSpPr txBox="1">
            <a:spLocks noChangeArrowheads="1"/>
          </p:cNvSpPr>
          <p:nvPr/>
        </p:nvSpPr>
        <p:spPr bwMode="auto">
          <a:xfrm>
            <a:off x="1543050" y="3810000"/>
            <a:ext cx="403860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a:latin typeface="宋体" panose="02010600030101010101" pitchFamily="2" charset="-122"/>
              </a:rPr>
              <a:t>　　</a:t>
            </a:r>
            <a:r>
              <a:rPr lang="en-US" altLang="zh-CN" sz="2200">
                <a:latin typeface="宋体" panose="02010600030101010101" pitchFamily="2" charset="-122"/>
              </a:rPr>
              <a:t>3</a:t>
            </a:r>
            <a:r>
              <a:rPr lang="zh-CN" altLang="en-US" sz="2200">
                <a:latin typeface="宋体" panose="02010600030101010101" pitchFamily="2" charset="-122"/>
              </a:rPr>
              <a:t>．为何正态分布在概率论中占有极其重要的地位？</a:t>
            </a:r>
            <a:endParaRPr lang="zh-CN" altLang="en-US" sz="2200">
              <a:latin typeface="宋体" panose="02010600030101010101" pitchFamily="2" charset="-122"/>
            </a:endParaRPr>
          </a:p>
        </p:txBody>
      </p:sp>
      <p:sp>
        <p:nvSpPr>
          <p:cNvPr id="3078" name="Text Box 7"/>
          <p:cNvSpPr txBox="1">
            <a:spLocks noChangeArrowheads="1"/>
          </p:cNvSpPr>
          <p:nvPr/>
        </p:nvSpPr>
        <p:spPr bwMode="auto">
          <a:xfrm>
            <a:off x="1543050" y="4724400"/>
            <a:ext cx="396240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a:latin typeface="宋体" panose="02010600030101010101" pitchFamily="2" charset="-122"/>
              </a:rPr>
              <a:t>　　</a:t>
            </a:r>
            <a:r>
              <a:rPr lang="en-US" altLang="zh-CN" sz="2200">
                <a:latin typeface="宋体" panose="02010600030101010101" pitchFamily="2" charset="-122"/>
              </a:rPr>
              <a:t>4</a:t>
            </a:r>
            <a:r>
              <a:rPr lang="zh-CN" altLang="en-US" sz="2200">
                <a:latin typeface="宋体" panose="02010600030101010101" pitchFamily="2" charset="-122"/>
              </a:rPr>
              <a:t>．大样本统计推断的理论基础是什么？</a:t>
            </a:r>
            <a:endParaRPr lang="zh-CN" altLang="en-US" sz="2200">
              <a:latin typeface="宋体" panose="02010600030101010101" pitchFamily="2" charset="-122"/>
            </a:endParaRPr>
          </a:p>
        </p:txBody>
      </p:sp>
      <p:sp>
        <p:nvSpPr>
          <p:cNvPr id="3079" name="AutoShape 8"/>
          <p:cNvSpPr/>
          <p:nvPr/>
        </p:nvSpPr>
        <p:spPr bwMode="auto">
          <a:xfrm>
            <a:off x="5734050" y="2209800"/>
            <a:ext cx="173038" cy="1447800"/>
          </a:xfrm>
          <a:prstGeom prst="rightBrace">
            <a:avLst>
              <a:gd name="adj1" fmla="val 69725"/>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sp>
        <p:nvSpPr>
          <p:cNvPr id="3080" name="Text Box 9"/>
          <p:cNvSpPr txBox="1">
            <a:spLocks noChangeArrowheads="1"/>
          </p:cNvSpPr>
          <p:nvPr/>
        </p:nvSpPr>
        <p:spPr bwMode="auto">
          <a:xfrm>
            <a:off x="6191250" y="1554163"/>
            <a:ext cx="10445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200">
                <a:latin typeface="宋体" panose="02010600030101010101" pitchFamily="2" charset="-122"/>
              </a:rPr>
              <a:t>答案</a:t>
            </a:r>
            <a:endParaRPr lang="zh-CN" altLang="en-US" sz="2200">
              <a:latin typeface="宋体" panose="02010600030101010101" pitchFamily="2" charset="-122"/>
            </a:endParaRPr>
          </a:p>
        </p:txBody>
      </p:sp>
      <p:sp>
        <p:nvSpPr>
          <p:cNvPr id="3081" name="Text Box 10"/>
          <p:cNvSpPr txBox="1">
            <a:spLocks noChangeArrowheads="1"/>
          </p:cNvSpPr>
          <p:nvPr/>
        </p:nvSpPr>
        <p:spPr bwMode="auto">
          <a:xfrm>
            <a:off x="6191250" y="2590800"/>
            <a:ext cx="7429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solidFill>
                  <a:srgbClr val="006666"/>
                </a:solidFill>
                <a:latin typeface="宋体" panose="02010600030101010101" pitchFamily="2" charset="-122"/>
              </a:rPr>
              <a:t>大数</a:t>
            </a:r>
            <a:endParaRPr lang="zh-CN" altLang="en-US" sz="2200">
              <a:solidFill>
                <a:srgbClr val="006666"/>
              </a:solidFill>
              <a:latin typeface="宋体" panose="02010600030101010101" pitchFamily="2" charset="-122"/>
            </a:endParaRPr>
          </a:p>
          <a:p>
            <a:pPr eaLnBrk="1" hangingPunct="1"/>
            <a:r>
              <a:rPr lang="zh-CN" altLang="en-US" sz="2200">
                <a:solidFill>
                  <a:srgbClr val="006666"/>
                </a:solidFill>
                <a:latin typeface="宋体" panose="02010600030101010101" pitchFamily="2" charset="-122"/>
              </a:rPr>
              <a:t>定律</a:t>
            </a:r>
            <a:endParaRPr lang="zh-CN" altLang="en-US" sz="2200">
              <a:solidFill>
                <a:srgbClr val="006666"/>
              </a:solidFill>
              <a:latin typeface="宋体" panose="02010600030101010101" pitchFamily="2" charset="-122"/>
            </a:endParaRPr>
          </a:p>
        </p:txBody>
      </p:sp>
      <p:sp>
        <p:nvSpPr>
          <p:cNvPr id="3082" name="Text Box 11"/>
          <p:cNvSpPr txBox="1">
            <a:spLocks noChangeArrowheads="1"/>
          </p:cNvSpPr>
          <p:nvPr/>
        </p:nvSpPr>
        <p:spPr bwMode="auto">
          <a:xfrm>
            <a:off x="6115050" y="4495800"/>
            <a:ext cx="10223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solidFill>
                  <a:srgbClr val="006666"/>
                </a:solidFill>
                <a:latin typeface="宋体" panose="02010600030101010101" pitchFamily="2" charset="-122"/>
              </a:rPr>
              <a:t>中心极</a:t>
            </a:r>
            <a:endParaRPr lang="zh-CN" altLang="en-US" sz="2200">
              <a:solidFill>
                <a:srgbClr val="006666"/>
              </a:solidFill>
              <a:latin typeface="宋体" panose="02010600030101010101" pitchFamily="2" charset="-122"/>
            </a:endParaRPr>
          </a:p>
          <a:p>
            <a:pPr eaLnBrk="1" hangingPunct="1"/>
            <a:r>
              <a:rPr lang="zh-CN" altLang="en-US" sz="2200">
                <a:solidFill>
                  <a:srgbClr val="006666"/>
                </a:solidFill>
                <a:latin typeface="宋体" panose="02010600030101010101" pitchFamily="2" charset="-122"/>
              </a:rPr>
              <a:t>限定理</a:t>
            </a:r>
            <a:endParaRPr lang="zh-CN" altLang="en-US" sz="2200">
              <a:solidFill>
                <a:srgbClr val="006666"/>
              </a:solidFill>
              <a:latin typeface="宋体" panose="02010600030101010101" pitchFamily="2" charset="-122"/>
            </a:endParaRPr>
          </a:p>
        </p:txBody>
      </p:sp>
      <p:sp>
        <p:nvSpPr>
          <p:cNvPr id="3083" name="AutoShape 12"/>
          <p:cNvSpPr/>
          <p:nvPr/>
        </p:nvSpPr>
        <p:spPr bwMode="auto">
          <a:xfrm>
            <a:off x="5734050" y="4114800"/>
            <a:ext cx="173038" cy="1447800"/>
          </a:xfrm>
          <a:prstGeom prst="rightBrace">
            <a:avLst>
              <a:gd name="adj1" fmla="val 69725"/>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sp>
        <p:nvSpPr>
          <p:cNvPr id="3084" name="Rectangle 13"/>
          <p:cNvSpPr>
            <a:spLocks noChangeArrowheads="1"/>
          </p:cNvSpPr>
          <p:nvPr/>
        </p:nvSpPr>
        <p:spPr bwMode="auto">
          <a:xfrm>
            <a:off x="-1044575" y="0"/>
            <a:ext cx="7772400"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zh-CN" altLang="en-US" sz="4400">
                <a:latin typeface="Arial" panose="020B0604020202020204" pitchFamily="34" charset="0"/>
                <a:ea typeface="华文新魏" panose="02010800040101010101" pitchFamily="2" charset="-122"/>
              </a:rPr>
              <a:t>第五章 极限定理</a:t>
            </a:r>
            <a:endParaRPr kumimoji="0" lang="zh-CN" altLang="en-US" sz="4400">
              <a:latin typeface="Arial" panose="020B0604020202020204" pitchFamily="34" charset="0"/>
              <a:ea typeface="华文新魏" panose="02010800040101010101" pitchFamily="2" charset="-122"/>
            </a:endParaRPr>
          </a:p>
        </p:txBody>
      </p:sp>
    </p:spTree>
  </p:cSld>
  <p:clrMapOvr>
    <a:masterClrMapping/>
  </p:clrMapOvr>
  <p:transition advClick="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body" idx="4294967295"/>
          </p:nvPr>
        </p:nvSpPr>
        <p:spPr bwMode="auto">
          <a:xfrm>
            <a:off x="684213" y="836613"/>
            <a:ext cx="7772400" cy="719137"/>
          </a:xfrm>
          <a:prstGeom prst="rect">
            <a:avLst/>
          </a:prstGeom>
          <a:solidFill>
            <a:srgbClr val="FFFFFF"/>
          </a:solidFill>
          <a:ln>
            <a:solidFill>
              <a:srgbClr val="000000"/>
            </a:solidFill>
            <a:miter lim="800000"/>
          </a:ln>
        </p:spPr>
        <p:txBody>
          <a:bodyPr/>
          <a:lstStyle/>
          <a:p>
            <a:pPr>
              <a:buFontTx/>
              <a:buNone/>
            </a:pPr>
            <a:r>
              <a:rPr lang="zh-CN" altLang="en-US">
                <a:ea typeface="华文新魏" panose="02010800040101010101" pitchFamily="2" charset="-122"/>
              </a:rPr>
              <a:t>伯努利试验场合的极限定理</a:t>
            </a:r>
            <a:endParaRPr lang="zh-CN" altLang="el-GR">
              <a:ea typeface="华文新魏" panose="02010800040101010101" pitchFamily="2" charset="-122"/>
            </a:endParaRPr>
          </a:p>
        </p:txBody>
      </p:sp>
      <p:sp>
        <p:nvSpPr>
          <p:cNvPr id="233475" name="Text Box 3"/>
          <p:cNvSpPr txBox="1">
            <a:spLocks noChangeArrowheads="1"/>
          </p:cNvSpPr>
          <p:nvPr/>
        </p:nvSpPr>
        <p:spPr bwMode="auto">
          <a:xfrm>
            <a:off x="790102" y="4509120"/>
            <a:ext cx="8135938"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Clr>
                <a:schemeClr val="tx2"/>
              </a:buClr>
              <a:buSzPct val="90000"/>
              <a:buFont typeface="Symbol" panose="05050102010706020507" pitchFamily="18" charset="2"/>
              <a:buNone/>
            </a:pPr>
            <a:r>
              <a:rPr lang="zh-CN" altLang="en-US" sz="3200" dirty="0">
                <a:ea typeface="华文新魏" panose="02010800040101010101" pitchFamily="2" charset="-122"/>
              </a:rPr>
              <a:t>我们已得到   </a:t>
            </a:r>
            <a:r>
              <a:rPr lang="en-US" altLang="zh-CN" sz="3200" i="1" dirty="0">
                <a:ea typeface="华文新魏" panose="02010800040101010101" pitchFamily="2" charset="-122"/>
              </a:rPr>
              <a:t>E</a:t>
            </a:r>
            <a:r>
              <a:rPr lang="en-US" altLang="zh-CN" sz="3200" dirty="0">
                <a:ea typeface="华文新魏" panose="02010800040101010101" pitchFamily="2" charset="-122"/>
              </a:rPr>
              <a:t>(</a:t>
            </a:r>
            <a:r>
              <a:rPr lang="el-GR" altLang="zh-CN" sz="3600" dirty="0">
                <a:ea typeface="华文新魏" panose="02010800040101010101" pitchFamily="2" charset="-122"/>
              </a:rPr>
              <a:t>μ</a:t>
            </a:r>
            <a:r>
              <a:rPr lang="en-US" altLang="zh-CN" sz="2000" i="1" dirty="0">
                <a:ea typeface="华文新魏" panose="02010800040101010101" pitchFamily="2" charset="-122"/>
              </a:rPr>
              <a:t>n</a:t>
            </a:r>
            <a:r>
              <a:rPr lang="en-US" altLang="zh-CN" sz="3200" dirty="0">
                <a:ea typeface="华文新魏" panose="02010800040101010101" pitchFamily="2" charset="-122"/>
              </a:rPr>
              <a:t> /</a:t>
            </a:r>
            <a:r>
              <a:rPr lang="en-US" altLang="zh-CN" sz="3200" i="1" dirty="0">
                <a:ea typeface="华文新魏" panose="02010800040101010101" pitchFamily="2" charset="-122"/>
              </a:rPr>
              <a:t>n</a:t>
            </a:r>
            <a:r>
              <a:rPr lang="en-US" altLang="zh-CN" sz="3200" dirty="0">
                <a:ea typeface="华文新魏" panose="02010800040101010101" pitchFamily="2" charset="-122"/>
              </a:rPr>
              <a:t>)=</a:t>
            </a:r>
            <a:r>
              <a:rPr lang="en-US" altLang="zh-CN" sz="3200" i="1" dirty="0">
                <a:ea typeface="华文新魏" panose="02010800040101010101" pitchFamily="2" charset="-122"/>
              </a:rPr>
              <a:t>P</a:t>
            </a:r>
            <a:r>
              <a:rPr lang="en-US" altLang="zh-CN" sz="3200" dirty="0">
                <a:ea typeface="华文新魏" panose="02010800040101010101" pitchFamily="2" charset="-122"/>
              </a:rPr>
              <a:t>(</a:t>
            </a:r>
            <a:r>
              <a:rPr lang="en-US" altLang="zh-CN" sz="3200" i="1" dirty="0">
                <a:ea typeface="华文新魏" panose="02010800040101010101" pitchFamily="2" charset="-122"/>
              </a:rPr>
              <a:t>A</a:t>
            </a:r>
            <a:r>
              <a:rPr lang="en-US" altLang="zh-CN" sz="3200" dirty="0">
                <a:ea typeface="华文新魏" panose="02010800040101010101" pitchFamily="2" charset="-122"/>
              </a:rPr>
              <a:t>)=</a:t>
            </a:r>
            <a:r>
              <a:rPr lang="en-US" altLang="zh-CN" sz="3200" i="1" dirty="0">
                <a:ea typeface="华文新魏" panose="02010800040101010101" pitchFamily="2" charset="-122"/>
              </a:rPr>
              <a:t>p </a:t>
            </a:r>
            <a:r>
              <a:rPr lang="en-US" altLang="zh-CN" sz="3200" dirty="0">
                <a:ea typeface="华文新魏" panose="02010800040101010101" pitchFamily="2" charset="-122"/>
              </a:rPr>
              <a:t>                                                       </a:t>
            </a:r>
            <a:r>
              <a:rPr lang="en-US" altLang="zh-CN" sz="3200" i="1" dirty="0">
                <a:ea typeface="华文新魏" panose="02010800040101010101" pitchFamily="2" charset="-122"/>
              </a:rPr>
              <a:t>D</a:t>
            </a:r>
            <a:r>
              <a:rPr lang="en-US" altLang="zh-CN" sz="3200" dirty="0">
                <a:ea typeface="华文新魏" panose="02010800040101010101" pitchFamily="2" charset="-122"/>
              </a:rPr>
              <a:t>(</a:t>
            </a:r>
            <a:r>
              <a:rPr lang="el-GR" altLang="zh-CN" sz="3600" dirty="0">
                <a:ea typeface="华文新魏" panose="02010800040101010101" pitchFamily="2" charset="-122"/>
              </a:rPr>
              <a:t>μ</a:t>
            </a:r>
            <a:r>
              <a:rPr lang="en-US" altLang="zh-CN" sz="2000" i="1" dirty="0">
                <a:ea typeface="华文新魏" panose="02010800040101010101" pitchFamily="2" charset="-122"/>
              </a:rPr>
              <a:t>n</a:t>
            </a:r>
            <a:r>
              <a:rPr lang="en-US" altLang="zh-CN" sz="3200" dirty="0">
                <a:ea typeface="华文新魏" panose="02010800040101010101" pitchFamily="2" charset="-122"/>
              </a:rPr>
              <a:t> /</a:t>
            </a:r>
            <a:r>
              <a:rPr lang="en-US" altLang="zh-CN" sz="3200" i="1" dirty="0">
                <a:ea typeface="华文新魏" panose="02010800040101010101" pitchFamily="2" charset="-122"/>
              </a:rPr>
              <a:t>n</a:t>
            </a:r>
            <a:r>
              <a:rPr lang="en-US" altLang="zh-CN" sz="3200" dirty="0">
                <a:ea typeface="华文新魏" panose="02010800040101010101" pitchFamily="2" charset="-122"/>
              </a:rPr>
              <a:t>)=</a:t>
            </a:r>
            <a:r>
              <a:rPr lang="en-US" altLang="zh-CN" sz="3200" i="1" dirty="0" err="1">
                <a:ea typeface="华文新魏" panose="02010800040101010101" pitchFamily="2" charset="-122"/>
              </a:rPr>
              <a:t>pq</a:t>
            </a:r>
            <a:r>
              <a:rPr lang="en-US" altLang="zh-CN" sz="3200" dirty="0">
                <a:ea typeface="华文新魏" panose="02010800040101010101" pitchFamily="2" charset="-122"/>
              </a:rPr>
              <a:t>/</a:t>
            </a:r>
            <a:r>
              <a:rPr lang="en-US" altLang="zh-CN" sz="3200" i="1" dirty="0">
                <a:ea typeface="华文新魏" panose="02010800040101010101" pitchFamily="2" charset="-122"/>
              </a:rPr>
              <a:t>n</a:t>
            </a:r>
            <a:endParaRPr lang="en-US" altLang="zh-CN" i="1" dirty="0">
              <a:ea typeface="华文新魏" panose="02010800040101010101" pitchFamily="2" charset="-122"/>
            </a:endParaRPr>
          </a:p>
        </p:txBody>
      </p:sp>
      <p:sp>
        <p:nvSpPr>
          <p:cNvPr id="233476" name="Text Box 4"/>
          <p:cNvSpPr txBox="1">
            <a:spLocks noChangeArrowheads="1"/>
          </p:cNvSpPr>
          <p:nvPr/>
        </p:nvSpPr>
        <p:spPr bwMode="auto">
          <a:xfrm>
            <a:off x="971600" y="3773984"/>
            <a:ext cx="68405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solidFill>
                  <a:srgbClr val="990000"/>
                </a:solidFill>
                <a:ea typeface="华文新魏" panose="02010800040101010101" pitchFamily="2" charset="-122"/>
              </a:rPr>
              <a:t>作为随机变量 如何表述它的极限行为</a:t>
            </a:r>
            <a:r>
              <a:rPr lang="en-US" altLang="zh-CN" sz="2800" dirty="0">
                <a:solidFill>
                  <a:srgbClr val="990000"/>
                </a:solidFill>
                <a:ea typeface="华文新魏" panose="02010800040101010101" pitchFamily="2" charset="-122"/>
              </a:rPr>
              <a:t>?</a:t>
            </a:r>
            <a:endParaRPr lang="en-US" altLang="zh-CN" sz="2800" dirty="0">
              <a:solidFill>
                <a:srgbClr val="990000"/>
              </a:solidFill>
              <a:ea typeface="华文新魏" panose="02010800040101010101" pitchFamily="2" charset="-122"/>
            </a:endParaRPr>
          </a:p>
        </p:txBody>
      </p:sp>
      <p:sp>
        <p:nvSpPr>
          <p:cNvPr id="233477" name="Text Box 5"/>
          <p:cNvSpPr txBox="1">
            <a:spLocks noChangeArrowheads="1"/>
          </p:cNvSpPr>
          <p:nvPr/>
        </p:nvSpPr>
        <p:spPr bwMode="auto">
          <a:xfrm>
            <a:off x="755650" y="1916113"/>
            <a:ext cx="7885113" cy="167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rgbClr val="990000"/>
                </a:solidFill>
                <a:ea typeface="华文新魏" panose="02010800040101010101" pitchFamily="2" charset="-122"/>
              </a:rPr>
              <a:t>　　回忆</a:t>
            </a:r>
            <a:r>
              <a:rPr lang="en-US" altLang="zh-CN" sz="3200">
                <a:solidFill>
                  <a:srgbClr val="990000"/>
                </a:solidFill>
                <a:ea typeface="华文新魏" panose="02010800040101010101" pitchFamily="2" charset="-122"/>
              </a:rPr>
              <a:t>:</a:t>
            </a:r>
            <a:r>
              <a:rPr lang="en-US" altLang="zh-CN" sz="3200">
                <a:ea typeface="华文新魏" panose="02010800040101010101" pitchFamily="2" charset="-122"/>
              </a:rPr>
              <a:t> </a:t>
            </a:r>
            <a:r>
              <a:rPr lang="zh-CN" altLang="en-US" sz="3200">
                <a:ea typeface="华文新魏" panose="02010800040101010101" pitchFamily="2" charset="-122"/>
              </a:rPr>
              <a:t>在伯努利试验中</a:t>
            </a:r>
            <a:r>
              <a:rPr lang="en-US" altLang="zh-CN" sz="3200">
                <a:ea typeface="华文新魏" panose="02010800040101010101" pitchFamily="2" charset="-122"/>
              </a:rPr>
              <a:t>,</a:t>
            </a:r>
            <a:r>
              <a:rPr lang="zh-CN" altLang="en-US" sz="3200">
                <a:ea typeface="华文新魏" panose="02010800040101010101" pitchFamily="2" charset="-122"/>
              </a:rPr>
              <a:t>事件</a:t>
            </a:r>
            <a:r>
              <a:rPr lang="en-US" altLang="zh-CN" sz="3200" i="1">
                <a:ea typeface="华文新魏" panose="02010800040101010101" pitchFamily="2" charset="-122"/>
              </a:rPr>
              <a:t>A</a:t>
            </a:r>
            <a:r>
              <a:rPr lang="zh-CN" altLang="en-US" sz="3200">
                <a:ea typeface="华文新魏" panose="02010800040101010101" pitchFamily="2" charset="-122"/>
              </a:rPr>
              <a:t>发生的概率</a:t>
            </a:r>
            <a:r>
              <a:rPr lang="en-US" altLang="zh-CN" sz="3200" i="1">
                <a:ea typeface="华文新魏" panose="02010800040101010101" pitchFamily="2" charset="-122"/>
              </a:rPr>
              <a:t>P</a:t>
            </a:r>
            <a:r>
              <a:rPr lang="en-US" altLang="zh-CN" sz="3200">
                <a:ea typeface="华文新魏" panose="02010800040101010101" pitchFamily="2" charset="-122"/>
              </a:rPr>
              <a:t>(</a:t>
            </a:r>
            <a:r>
              <a:rPr lang="en-US" altLang="zh-CN" sz="3200" i="1">
                <a:ea typeface="华文新魏" panose="02010800040101010101" pitchFamily="2" charset="-122"/>
              </a:rPr>
              <a:t>A</a:t>
            </a:r>
            <a:r>
              <a:rPr lang="en-US" altLang="zh-CN" sz="3200">
                <a:ea typeface="华文新魏" panose="02010800040101010101" pitchFamily="2" charset="-122"/>
              </a:rPr>
              <a:t>) </a:t>
            </a:r>
            <a:r>
              <a:rPr lang="zh-CN" altLang="en-US" sz="3200">
                <a:ea typeface="华文新魏" panose="02010800040101010101" pitchFamily="2" charset="-122"/>
              </a:rPr>
              <a:t>　以 </a:t>
            </a:r>
            <a:r>
              <a:rPr lang="el-GR" altLang="zh-CN" sz="3600">
                <a:ea typeface="华文新魏" panose="02010800040101010101" pitchFamily="2" charset="-122"/>
                <a:cs typeface="Arial Unicode MS" pitchFamily="34" charset="-122"/>
              </a:rPr>
              <a:t>μ</a:t>
            </a:r>
            <a:r>
              <a:rPr lang="en-US" altLang="zh-CN" i="1">
                <a:ea typeface="华文新魏" panose="02010800040101010101" pitchFamily="2" charset="-122"/>
              </a:rPr>
              <a:t>n</a:t>
            </a:r>
            <a:r>
              <a:rPr lang="en-US" altLang="zh-CN" sz="3200">
                <a:ea typeface="华文新魏" panose="02010800040101010101" pitchFamily="2" charset="-122"/>
              </a:rPr>
              <a:t> </a:t>
            </a:r>
            <a:r>
              <a:rPr lang="zh-CN" altLang="en-US" sz="3200">
                <a:ea typeface="华文新魏" panose="02010800040101010101" pitchFamily="2" charset="-122"/>
              </a:rPr>
              <a:t>记试验中</a:t>
            </a:r>
            <a:r>
              <a:rPr lang="en-US" altLang="zh-CN" sz="3200" i="1">
                <a:ea typeface="华文新魏" panose="02010800040101010101" pitchFamily="2" charset="-122"/>
              </a:rPr>
              <a:t>A</a:t>
            </a:r>
            <a:r>
              <a:rPr lang="zh-CN" altLang="en-US" sz="3200">
                <a:ea typeface="华文新魏" panose="02010800040101010101" pitchFamily="2" charset="-122"/>
              </a:rPr>
              <a:t>出现的次数　　　　 　　　</a:t>
            </a:r>
            <a:r>
              <a:rPr lang="en-US" altLang="zh-CN" sz="3200" i="1">
                <a:ea typeface="华文新魏" panose="02010800040101010101" pitchFamily="2" charset="-122"/>
              </a:rPr>
              <a:t>n</a:t>
            </a:r>
            <a:r>
              <a:rPr lang="en-US" altLang="zh-CN" sz="3200">
                <a:ea typeface="华文新魏" panose="02010800040101010101" pitchFamily="2" charset="-122"/>
              </a:rPr>
              <a:t>→∞</a:t>
            </a:r>
            <a:r>
              <a:rPr lang="zh-CN" altLang="en-US" sz="3200">
                <a:ea typeface="华文新魏" panose="02010800040101010101" pitchFamily="2" charset="-122"/>
              </a:rPr>
              <a:t>　频率 </a:t>
            </a:r>
            <a:r>
              <a:rPr lang="el-GR" altLang="zh-CN" sz="3600">
                <a:solidFill>
                  <a:srgbClr val="990000"/>
                </a:solidFill>
                <a:ea typeface="华文新魏" panose="02010800040101010101" pitchFamily="2" charset="-122"/>
              </a:rPr>
              <a:t>μ</a:t>
            </a:r>
            <a:r>
              <a:rPr lang="en-US" altLang="zh-CN" sz="2000" i="1">
                <a:solidFill>
                  <a:srgbClr val="990000"/>
                </a:solidFill>
                <a:ea typeface="华文新魏" panose="02010800040101010101" pitchFamily="2" charset="-122"/>
              </a:rPr>
              <a:t>n</a:t>
            </a:r>
            <a:r>
              <a:rPr lang="en-US" altLang="zh-CN" sz="3200" i="1">
                <a:solidFill>
                  <a:srgbClr val="990000"/>
                </a:solidFill>
                <a:ea typeface="华文新魏" panose="02010800040101010101" pitchFamily="2" charset="-122"/>
              </a:rPr>
              <a:t> </a:t>
            </a:r>
            <a:r>
              <a:rPr lang="en-US" altLang="zh-CN" sz="3200">
                <a:solidFill>
                  <a:srgbClr val="990000"/>
                </a:solidFill>
                <a:ea typeface="华文新魏" panose="02010800040101010101" pitchFamily="2" charset="-122"/>
              </a:rPr>
              <a:t>/</a:t>
            </a:r>
            <a:r>
              <a:rPr lang="en-US" altLang="zh-CN" sz="3200" i="1">
                <a:solidFill>
                  <a:srgbClr val="990000"/>
                </a:solidFill>
                <a:ea typeface="华文新魏" panose="02010800040101010101" pitchFamily="2" charset="-122"/>
              </a:rPr>
              <a:t>n</a:t>
            </a:r>
            <a:r>
              <a:rPr lang="en-US" altLang="zh-CN" sz="3200" i="1">
                <a:ea typeface="华文新魏" panose="02010800040101010101" pitchFamily="2" charset="-122"/>
              </a:rPr>
              <a:t> </a:t>
            </a:r>
            <a:r>
              <a:rPr lang="zh-CN" altLang="en-US" sz="3200">
                <a:ea typeface="华文新魏" panose="02010800040101010101" pitchFamily="2" charset="-122"/>
              </a:rPr>
              <a:t>趋近于常数 </a:t>
            </a:r>
            <a:r>
              <a:rPr lang="en-US" altLang="zh-CN" sz="3200" i="1">
                <a:solidFill>
                  <a:srgbClr val="990000"/>
                </a:solidFill>
                <a:ea typeface="华文新魏" panose="02010800040101010101" pitchFamily="2" charset="-122"/>
              </a:rPr>
              <a:t>P</a:t>
            </a:r>
            <a:r>
              <a:rPr lang="en-US" altLang="zh-CN" sz="3200">
                <a:solidFill>
                  <a:srgbClr val="990000"/>
                </a:solidFill>
                <a:ea typeface="华文新魏" panose="02010800040101010101" pitchFamily="2" charset="-122"/>
              </a:rPr>
              <a:t>(</a:t>
            </a:r>
            <a:r>
              <a:rPr lang="en-US" altLang="zh-CN" sz="3200" i="1">
                <a:solidFill>
                  <a:srgbClr val="990000"/>
                </a:solidFill>
                <a:ea typeface="华文新魏" panose="02010800040101010101" pitchFamily="2" charset="-122"/>
              </a:rPr>
              <a:t>A</a:t>
            </a:r>
            <a:r>
              <a:rPr lang="en-US" altLang="zh-CN" sz="3200">
                <a:solidFill>
                  <a:srgbClr val="990000"/>
                </a:solidFill>
                <a:ea typeface="华文新魏" panose="02010800040101010101" pitchFamily="2" charset="-122"/>
              </a:rPr>
              <a:t>)</a:t>
            </a:r>
            <a:endParaRPr lang="en-US" altLang="zh-CN" sz="3200">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3474">
                                            <p:txEl>
                                              <p:pRg st="4294967295" end="4294967295"/>
                                            </p:txEl>
                                          </p:spTgt>
                                        </p:tgtEl>
                                        <p:attrNameLst>
                                          <p:attrName>style.visibility</p:attrName>
                                        </p:attrNameLst>
                                      </p:cBhvr>
                                      <p:to>
                                        <p:strVal val="visible"/>
                                      </p:to>
                                    </p:set>
                                    <p:animEffect transition="in" filter="blinds(horizontal)">
                                      <p:cBhvr>
                                        <p:cTn id="7" dur="500"/>
                                        <p:tgtEl>
                                          <p:spTgt spid="233474">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3474">
                                            <p:txEl>
                                              <p:pRg st="0" end="0"/>
                                            </p:txEl>
                                          </p:spTgt>
                                        </p:tgtEl>
                                        <p:attrNameLst>
                                          <p:attrName>style.visibility</p:attrName>
                                        </p:attrNameLst>
                                      </p:cBhvr>
                                      <p:to>
                                        <p:strVal val="visible"/>
                                      </p:to>
                                    </p:set>
                                    <p:animEffect transition="in" filter="blinds(horizontal)">
                                      <p:cBhvr>
                                        <p:cTn id="12" dur="500"/>
                                        <p:tgtEl>
                                          <p:spTgt spid="23347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33477"/>
                                        </p:tgtEl>
                                        <p:attrNameLst>
                                          <p:attrName>style.visibility</p:attrName>
                                        </p:attrNameLst>
                                      </p:cBhvr>
                                      <p:to>
                                        <p:strVal val="visible"/>
                                      </p:to>
                                    </p:set>
                                    <p:animEffect transition="in" filter="wipe(down)">
                                      <p:cBhvr>
                                        <p:cTn id="17" dur="500"/>
                                        <p:tgtEl>
                                          <p:spTgt spid="23347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33476"/>
                                        </p:tgtEl>
                                        <p:attrNameLst>
                                          <p:attrName>style.visibility</p:attrName>
                                        </p:attrNameLst>
                                      </p:cBhvr>
                                      <p:to>
                                        <p:strVal val="visible"/>
                                      </p:to>
                                    </p:set>
                                    <p:anim calcmode="lin" valueType="num">
                                      <p:cBhvr additive="base">
                                        <p:cTn id="22" dur="500" fill="hold"/>
                                        <p:tgtEl>
                                          <p:spTgt spid="233476"/>
                                        </p:tgtEl>
                                        <p:attrNameLst>
                                          <p:attrName>ppt_x</p:attrName>
                                        </p:attrNameLst>
                                      </p:cBhvr>
                                      <p:tavLst>
                                        <p:tav tm="0">
                                          <p:val>
                                            <p:strVal val="#ppt_x"/>
                                          </p:val>
                                        </p:tav>
                                        <p:tav tm="100000">
                                          <p:val>
                                            <p:strVal val="#ppt_x"/>
                                          </p:val>
                                        </p:tav>
                                      </p:tavLst>
                                    </p:anim>
                                    <p:anim calcmode="lin" valueType="num">
                                      <p:cBhvr additive="base">
                                        <p:cTn id="23" dur="500" fill="hold"/>
                                        <p:tgtEl>
                                          <p:spTgt spid="233476"/>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233475"/>
                                        </p:tgtEl>
                                        <p:attrNameLst>
                                          <p:attrName>style.visibility</p:attrName>
                                        </p:attrNameLst>
                                      </p:cBhvr>
                                      <p:to>
                                        <p:strVal val="visible"/>
                                      </p:to>
                                    </p:set>
                                    <p:animEffect transition="in" filter="dissolve">
                                      <p:cBhvr>
                                        <p:cTn id="28" dur="500"/>
                                        <p:tgtEl>
                                          <p:spTgt spid="233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4" grpId="0" build="p"/>
      <p:bldP spid="233475" grpId="0"/>
      <p:bldP spid="233476" grpId="0"/>
      <p:bldP spid="23347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idx="4294967295"/>
          </p:nvPr>
        </p:nvSpPr>
        <p:spPr>
          <a:xfrm>
            <a:off x="941388" y="152400"/>
            <a:ext cx="4567237" cy="1176338"/>
          </a:xfrm>
        </p:spPr>
        <p:txBody>
          <a:bodyPr/>
          <a:lstStyle/>
          <a:p>
            <a:r>
              <a:rPr lang="zh-CN" altLang="en-US">
                <a:ea typeface="华文新魏" panose="02010800040101010101" pitchFamily="2" charset="-122"/>
              </a:rPr>
              <a:t>极限的两种提法</a:t>
            </a:r>
            <a:endParaRPr lang="zh-CN" altLang="en-US">
              <a:ea typeface="华文新魏" panose="02010800040101010101" pitchFamily="2" charset="-122"/>
            </a:endParaRPr>
          </a:p>
        </p:txBody>
      </p:sp>
      <p:sp>
        <p:nvSpPr>
          <p:cNvPr id="234499" name="AutoShape 3"/>
          <p:cNvSpPr>
            <a:spLocks noChangeArrowheads="1"/>
          </p:cNvSpPr>
          <p:nvPr/>
        </p:nvSpPr>
        <p:spPr bwMode="auto">
          <a:xfrm>
            <a:off x="5580063" y="-133350"/>
            <a:ext cx="1944687" cy="476250"/>
          </a:xfrm>
          <a:prstGeom prst="wedgeRoundRectCallout">
            <a:avLst>
              <a:gd name="adj1" fmla="val -62815"/>
              <a:gd name="adj2" fmla="val 121667"/>
              <a:gd name="adj3" fmla="val 16667"/>
            </a:avLst>
          </a:prstGeom>
          <a:solidFill>
            <a:schemeClr val="accent1"/>
          </a:solidFill>
          <a:ln w="12700" cap="sq">
            <a:solidFill>
              <a:schemeClr val="tx1"/>
            </a:solidFill>
            <a:miter lim="800000"/>
            <a:headEnd type="none" w="sm" len="sm"/>
            <a:tailEnd type="none" w="sm" len="sm"/>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a:solidFill>
                  <a:srgbClr val="990000"/>
                </a:solidFill>
                <a:ea typeface="华文新魏" panose="02010800040101010101" pitchFamily="2" charset="-122"/>
              </a:rPr>
              <a:t>(</a:t>
            </a:r>
            <a:r>
              <a:rPr lang="zh-CN" altLang="en-US">
                <a:solidFill>
                  <a:srgbClr val="990000"/>
                </a:solidFill>
                <a:ea typeface="华文新魏" panose="02010800040101010101" pitchFamily="2" charset="-122"/>
              </a:rPr>
              <a:t>孰强</a:t>
            </a:r>
            <a:r>
              <a:rPr lang="en-US" altLang="zh-CN">
                <a:solidFill>
                  <a:srgbClr val="990000"/>
                </a:solidFill>
                <a:ea typeface="华文新魏" panose="02010800040101010101" pitchFamily="2" charset="-122"/>
              </a:rPr>
              <a:t>?why?)</a:t>
            </a:r>
            <a:endParaRPr lang="en-US" altLang="zh-CN">
              <a:solidFill>
                <a:srgbClr val="990000"/>
              </a:solidFill>
              <a:ea typeface="华文新魏" panose="02010800040101010101" pitchFamily="2" charset="-122"/>
            </a:endParaRPr>
          </a:p>
        </p:txBody>
      </p:sp>
      <p:graphicFrame>
        <p:nvGraphicFramePr>
          <p:cNvPr id="234500" name="Object 2"/>
          <p:cNvGraphicFramePr>
            <a:graphicFrameLocks noChangeAspect="1"/>
          </p:cNvGraphicFramePr>
          <p:nvPr/>
        </p:nvGraphicFramePr>
        <p:xfrm>
          <a:off x="1835150" y="1162050"/>
          <a:ext cx="2952750" cy="914400"/>
        </p:xfrm>
        <a:graphic>
          <a:graphicData uri="http://schemas.openxmlformats.org/presentationml/2006/ole">
            <mc:AlternateContent xmlns:mc="http://schemas.openxmlformats.org/markup-compatibility/2006">
              <mc:Choice xmlns:v="urn:schemas-microsoft-com:vml" Requires="v">
                <p:oleObj spid="_x0000_s5231" name="Equation" r:id="rId1" imgW="1473200" imgH="457200" progId="Equation.DSMT4">
                  <p:embed/>
                </p:oleObj>
              </mc:Choice>
              <mc:Fallback>
                <p:oleObj name="Equation" r:id="rId1" imgW="1473200" imgH="457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1162050"/>
                        <a:ext cx="295275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4501" name="Object 3"/>
          <p:cNvGraphicFramePr>
            <a:graphicFrameLocks noChangeAspect="1"/>
          </p:cNvGraphicFramePr>
          <p:nvPr/>
        </p:nvGraphicFramePr>
        <p:xfrm>
          <a:off x="1835150" y="2170113"/>
          <a:ext cx="2901950" cy="914400"/>
        </p:xfrm>
        <a:graphic>
          <a:graphicData uri="http://schemas.openxmlformats.org/presentationml/2006/ole">
            <mc:AlternateContent xmlns:mc="http://schemas.openxmlformats.org/markup-compatibility/2006">
              <mc:Choice xmlns:v="urn:schemas-microsoft-com:vml" Requires="v">
                <p:oleObj spid="_x0000_s5232" name="Equation" r:id="rId3" imgW="1447800" imgH="457200" progId="Equation.DSMT4">
                  <p:embed/>
                </p:oleObj>
              </mc:Choice>
              <mc:Fallback>
                <p:oleObj name="Equation" r:id="rId3" imgW="1447800" imgH="457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2170113"/>
                        <a:ext cx="290195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4502" name="Text Box 6"/>
          <p:cNvSpPr txBox="1">
            <a:spLocks noChangeArrowheads="1"/>
          </p:cNvSpPr>
          <p:nvPr/>
        </p:nvSpPr>
        <p:spPr bwMode="auto">
          <a:xfrm>
            <a:off x="827088" y="3106738"/>
            <a:ext cx="6624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990000"/>
                </a:solidFill>
                <a:ea typeface="华文新魏" panose="02010800040101010101" pitchFamily="2" charset="-122"/>
              </a:rPr>
              <a:t>依概率收敛</a:t>
            </a:r>
            <a:r>
              <a:rPr lang="en-US" altLang="zh-CN">
                <a:ea typeface="华文新魏" panose="02010800040101010101" pitchFamily="2" charset="-122"/>
              </a:rPr>
              <a:t>(convergence in probability)</a:t>
            </a:r>
            <a:endParaRPr lang="en-US" altLang="zh-CN">
              <a:ea typeface="华文新魏" panose="02010800040101010101" pitchFamily="2" charset="-122"/>
            </a:endParaRPr>
          </a:p>
        </p:txBody>
      </p:sp>
      <p:graphicFrame>
        <p:nvGraphicFramePr>
          <p:cNvPr id="234503" name="Object 4"/>
          <p:cNvGraphicFramePr>
            <a:graphicFrameLocks noChangeAspect="1"/>
          </p:cNvGraphicFramePr>
          <p:nvPr/>
        </p:nvGraphicFramePr>
        <p:xfrm>
          <a:off x="1908175" y="3538538"/>
          <a:ext cx="2366963" cy="863600"/>
        </p:xfrm>
        <a:graphic>
          <a:graphicData uri="http://schemas.openxmlformats.org/presentationml/2006/ole">
            <mc:AlternateContent xmlns:mc="http://schemas.openxmlformats.org/markup-compatibility/2006">
              <mc:Choice xmlns:v="urn:schemas-microsoft-com:vml" Requires="v">
                <p:oleObj spid="_x0000_s5233" name="Equation" r:id="rId5" imgW="1180465" imgH="431800" progId="Equation.DSMT4">
                  <p:embed/>
                </p:oleObj>
              </mc:Choice>
              <mc:Fallback>
                <p:oleObj name="Equation" r:id="rId5" imgW="1180465" imgH="4318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3538538"/>
                        <a:ext cx="2366963"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4504" name="Text Box 8"/>
          <p:cNvSpPr txBox="1">
            <a:spLocks noChangeArrowheads="1"/>
          </p:cNvSpPr>
          <p:nvPr/>
        </p:nvSpPr>
        <p:spPr bwMode="auto">
          <a:xfrm>
            <a:off x="900113" y="4475163"/>
            <a:ext cx="6624637"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990000"/>
                </a:solidFill>
                <a:ea typeface="华文新魏" panose="02010800040101010101" pitchFamily="2" charset="-122"/>
              </a:rPr>
              <a:t>以概率</a:t>
            </a:r>
            <a:r>
              <a:rPr lang="en-US" altLang="zh-CN">
                <a:solidFill>
                  <a:srgbClr val="990000"/>
                </a:solidFill>
                <a:ea typeface="华文新魏" panose="02010800040101010101" pitchFamily="2" charset="-122"/>
              </a:rPr>
              <a:t>1</a:t>
            </a:r>
            <a:r>
              <a:rPr lang="zh-CN" altLang="en-US">
                <a:solidFill>
                  <a:srgbClr val="990000"/>
                </a:solidFill>
                <a:ea typeface="华文新魏" panose="02010800040101010101" pitchFamily="2" charset="-122"/>
              </a:rPr>
              <a:t>收敛</a:t>
            </a:r>
            <a:r>
              <a:rPr lang="en-US" altLang="zh-CN">
                <a:ea typeface="华文新魏" panose="02010800040101010101" pitchFamily="2" charset="-122"/>
              </a:rPr>
              <a:t>(convergence in probability 1)</a:t>
            </a:r>
            <a:endParaRPr lang="en-US" altLang="zh-CN">
              <a:ea typeface="华文新魏" panose="02010800040101010101" pitchFamily="2" charset="-122"/>
            </a:endParaRPr>
          </a:p>
          <a:p>
            <a:pPr eaLnBrk="1" hangingPunct="1">
              <a:spcBef>
                <a:spcPct val="50000"/>
              </a:spcBef>
            </a:pPr>
            <a:r>
              <a:rPr lang="zh-CN" altLang="en-US">
                <a:ea typeface="华文新魏" panose="02010800040101010101" pitchFamily="2" charset="-122"/>
              </a:rPr>
              <a:t>几乎处处</a:t>
            </a:r>
            <a:r>
              <a:rPr lang="en-US" altLang="zh-CN">
                <a:ea typeface="华文新魏" panose="02010800040101010101" pitchFamily="2" charset="-122"/>
              </a:rPr>
              <a:t>(almost everywhere\ a.e. ) </a:t>
            </a:r>
            <a:r>
              <a:rPr lang="zh-CN" altLang="en-US">
                <a:ea typeface="华文新魏" panose="02010800040101010101" pitchFamily="2" charset="-122"/>
              </a:rPr>
              <a:t>收敛</a:t>
            </a:r>
            <a:endParaRPr lang="zh-CN" altLang="en-US">
              <a:ea typeface="华文新魏" panose="02010800040101010101" pitchFamily="2" charset="-122"/>
            </a:endParaRPr>
          </a:p>
        </p:txBody>
      </p:sp>
      <p:graphicFrame>
        <p:nvGraphicFramePr>
          <p:cNvPr id="2" name="Object 3"/>
          <p:cNvGraphicFramePr>
            <a:graphicFrameLocks noChangeAspect="1"/>
          </p:cNvGraphicFramePr>
          <p:nvPr/>
        </p:nvGraphicFramePr>
        <p:xfrm>
          <a:off x="6443663" y="2852738"/>
          <a:ext cx="1476375" cy="787400"/>
        </p:xfrm>
        <a:graphic>
          <a:graphicData uri="http://schemas.openxmlformats.org/presentationml/2006/ole">
            <mc:AlternateContent xmlns:mc="http://schemas.openxmlformats.org/markup-compatibility/2006">
              <mc:Choice xmlns:v="urn:schemas-microsoft-com:vml" Requires="v">
                <p:oleObj spid="_x0000_s5234" name="Equation" r:id="rId7" imgW="735965" imgH="393700" progId="Equation.DSMT4">
                  <p:embed/>
                </p:oleObj>
              </mc:Choice>
              <mc:Fallback>
                <p:oleObj name="Equation" r:id="rId7" imgW="735965" imgH="3937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3663" y="2852738"/>
                        <a:ext cx="1476375"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 name="Object 4"/>
          <p:cNvGraphicFramePr>
            <a:graphicFrameLocks noChangeAspect="1"/>
          </p:cNvGraphicFramePr>
          <p:nvPr/>
        </p:nvGraphicFramePr>
        <p:xfrm>
          <a:off x="2411413" y="5516563"/>
          <a:ext cx="1603375" cy="787400"/>
        </p:xfrm>
        <a:graphic>
          <a:graphicData uri="http://schemas.openxmlformats.org/presentationml/2006/ole">
            <mc:AlternateContent xmlns:mc="http://schemas.openxmlformats.org/markup-compatibility/2006">
              <mc:Choice xmlns:v="urn:schemas-microsoft-com:vml" Requires="v">
                <p:oleObj spid="_x0000_s5235" name="Equation" r:id="rId9" imgW="799465" imgH="393700" progId="Equation.DSMT4">
                  <p:embed/>
                </p:oleObj>
              </mc:Choice>
              <mc:Fallback>
                <p:oleObj name="Equation" r:id="rId9" imgW="799465" imgH="3937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1413" y="5516563"/>
                        <a:ext cx="1603375" cy="78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4498"/>
                                        </p:tgtEl>
                                        <p:attrNameLst>
                                          <p:attrName>style.visibility</p:attrName>
                                        </p:attrNameLst>
                                      </p:cBhvr>
                                      <p:to>
                                        <p:strVal val="visible"/>
                                      </p:to>
                                    </p:set>
                                    <p:animEffect transition="in" filter="blinds(horizontal)">
                                      <p:cBhvr>
                                        <p:cTn id="7" dur="500"/>
                                        <p:tgtEl>
                                          <p:spTgt spid="23449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34500"/>
                                        </p:tgtEl>
                                        <p:attrNameLst>
                                          <p:attrName>style.visibility</p:attrName>
                                        </p:attrNameLst>
                                      </p:cBhvr>
                                      <p:to>
                                        <p:strVal val="visible"/>
                                      </p:to>
                                    </p:set>
                                    <p:animEffect transition="in" filter="box(in)">
                                      <p:cBhvr>
                                        <p:cTn id="12" dur="500"/>
                                        <p:tgtEl>
                                          <p:spTgt spid="23450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34501"/>
                                        </p:tgtEl>
                                        <p:attrNameLst>
                                          <p:attrName>style.visibility</p:attrName>
                                        </p:attrNameLst>
                                      </p:cBhvr>
                                      <p:to>
                                        <p:strVal val="visible"/>
                                      </p:to>
                                    </p:set>
                                    <p:animEffect transition="in" filter="box(in)">
                                      <p:cBhvr>
                                        <p:cTn id="17" dur="500"/>
                                        <p:tgtEl>
                                          <p:spTgt spid="23450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34502"/>
                                        </p:tgtEl>
                                        <p:attrNameLst>
                                          <p:attrName>style.visibility</p:attrName>
                                        </p:attrNameLst>
                                      </p:cBhvr>
                                      <p:to>
                                        <p:strVal val="visible"/>
                                      </p:to>
                                    </p:set>
                                    <p:anim calcmode="lin" valueType="num">
                                      <p:cBhvr additive="base">
                                        <p:cTn id="22" dur="500" fill="hold"/>
                                        <p:tgtEl>
                                          <p:spTgt spid="234502"/>
                                        </p:tgtEl>
                                        <p:attrNameLst>
                                          <p:attrName>ppt_x</p:attrName>
                                        </p:attrNameLst>
                                      </p:cBhvr>
                                      <p:tavLst>
                                        <p:tav tm="0">
                                          <p:val>
                                            <p:strVal val="#ppt_x"/>
                                          </p:val>
                                        </p:tav>
                                        <p:tav tm="100000">
                                          <p:val>
                                            <p:strVal val="#ppt_x"/>
                                          </p:val>
                                        </p:tav>
                                      </p:tavLst>
                                    </p:anim>
                                    <p:anim calcmode="lin" valueType="num">
                                      <p:cBhvr additive="base">
                                        <p:cTn id="23" dur="500" fill="hold"/>
                                        <p:tgtEl>
                                          <p:spTgt spid="23450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ox(in)">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234503"/>
                                        </p:tgtEl>
                                        <p:attrNameLst>
                                          <p:attrName>style.visibility</p:attrName>
                                        </p:attrNameLst>
                                      </p:cBhvr>
                                      <p:to>
                                        <p:strVal val="visible"/>
                                      </p:to>
                                    </p:set>
                                    <p:animEffect transition="in" filter="box(in)">
                                      <p:cBhvr>
                                        <p:cTn id="33" dur="500"/>
                                        <p:tgtEl>
                                          <p:spTgt spid="234503"/>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34504"/>
                                        </p:tgtEl>
                                        <p:attrNameLst>
                                          <p:attrName>style.visibility</p:attrName>
                                        </p:attrNameLst>
                                      </p:cBhvr>
                                      <p:to>
                                        <p:strVal val="visible"/>
                                      </p:to>
                                    </p:set>
                                    <p:anim calcmode="lin" valueType="num">
                                      <p:cBhvr additive="base">
                                        <p:cTn id="38" dur="500" fill="hold"/>
                                        <p:tgtEl>
                                          <p:spTgt spid="234504"/>
                                        </p:tgtEl>
                                        <p:attrNameLst>
                                          <p:attrName>ppt_x</p:attrName>
                                        </p:attrNameLst>
                                      </p:cBhvr>
                                      <p:tavLst>
                                        <p:tav tm="0">
                                          <p:val>
                                            <p:strVal val="#ppt_x"/>
                                          </p:val>
                                        </p:tav>
                                        <p:tav tm="100000">
                                          <p:val>
                                            <p:strVal val="#ppt_x"/>
                                          </p:val>
                                        </p:tav>
                                      </p:tavLst>
                                    </p:anim>
                                    <p:anim calcmode="lin" valueType="num">
                                      <p:cBhvr additive="base">
                                        <p:cTn id="39" dur="500" fill="hold"/>
                                        <p:tgtEl>
                                          <p:spTgt spid="234504"/>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box(in)">
                                      <p:cBhvr>
                                        <p:cTn id="44" dur="500"/>
                                        <p:tgtEl>
                                          <p:spTgt spid="3"/>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34499"/>
                                        </p:tgtEl>
                                        <p:attrNameLst>
                                          <p:attrName>style.visibility</p:attrName>
                                        </p:attrNameLst>
                                      </p:cBhvr>
                                      <p:to>
                                        <p:strVal val="visible"/>
                                      </p:to>
                                    </p:set>
                                    <p:anim calcmode="lin" valueType="num">
                                      <p:cBhvr additive="base">
                                        <p:cTn id="49" dur="500" fill="hold"/>
                                        <p:tgtEl>
                                          <p:spTgt spid="234499"/>
                                        </p:tgtEl>
                                        <p:attrNameLst>
                                          <p:attrName>ppt_x</p:attrName>
                                        </p:attrNameLst>
                                      </p:cBhvr>
                                      <p:tavLst>
                                        <p:tav tm="0">
                                          <p:val>
                                            <p:strVal val="#ppt_x"/>
                                          </p:val>
                                        </p:tav>
                                        <p:tav tm="100000">
                                          <p:val>
                                            <p:strVal val="#ppt_x"/>
                                          </p:val>
                                        </p:tav>
                                      </p:tavLst>
                                    </p:anim>
                                    <p:anim calcmode="lin" valueType="num">
                                      <p:cBhvr additive="base">
                                        <p:cTn id="50" dur="500" fill="hold"/>
                                        <p:tgtEl>
                                          <p:spTgt spid="234499"/>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3449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8" grpId="0"/>
      <p:bldP spid="234499" grpId="0" bldLvl="0" animBg="1"/>
      <p:bldP spid="234502" grpId="0"/>
      <p:bldP spid="23450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idx="4294967295"/>
          </p:nvPr>
        </p:nvSpPr>
        <p:spPr>
          <a:xfrm>
            <a:off x="685800" y="152400"/>
            <a:ext cx="4813300" cy="990600"/>
          </a:xfrm>
        </p:spPr>
        <p:txBody>
          <a:bodyPr/>
          <a:lstStyle/>
          <a:p>
            <a:r>
              <a:rPr lang="zh-CN" altLang="en-US" sz="2800">
                <a:ea typeface="华文新魏" panose="02010800040101010101" pitchFamily="2" charset="-122"/>
              </a:rPr>
              <a:t>进一步研究</a:t>
            </a:r>
            <a:r>
              <a:rPr lang="zh-CN" altLang="en-US" sz="3200">
                <a:ea typeface="华文新魏" panose="02010800040101010101" pitchFamily="2" charset="-122"/>
              </a:rPr>
              <a:t> </a:t>
            </a:r>
            <a:r>
              <a:rPr lang="el-GR" altLang="zh-CN" sz="3200">
                <a:ea typeface="华文新魏" panose="02010800040101010101" pitchFamily="2" charset="-122"/>
              </a:rPr>
              <a:t>μ</a:t>
            </a:r>
            <a:r>
              <a:rPr lang="en-US" altLang="zh-CN" sz="2000">
                <a:ea typeface="华文新魏" panose="02010800040101010101" pitchFamily="2" charset="-122"/>
              </a:rPr>
              <a:t>n</a:t>
            </a:r>
            <a:r>
              <a:rPr lang="en-US" altLang="zh-CN" sz="3200">
                <a:ea typeface="华文新魏" panose="02010800040101010101" pitchFamily="2" charset="-122"/>
              </a:rPr>
              <a:t> </a:t>
            </a:r>
            <a:r>
              <a:rPr lang="zh-CN" altLang="en-US" sz="2800">
                <a:ea typeface="华文新魏" panose="02010800040101010101" pitchFamily="2" charset="-122"/>
              </a:rPr>
              <a:t>的极限行为</a:t>
            </a:r>
            <a:endParaRPr lang="zh-CN" altLang="en-US" sz="2800">
              <a:ea typeface="华文新魏" panose="02010800040101010101" pitchFamily="2" charset="-122"/>
            </a:endParaRPr>
          </a:p>
        </p:txBody>
      </p:sp>
      <p:graphicFrame>
        <p:nvGraphicFramePr>
          <p:cNvPr id="235523" name="Object 2"/>
          <p:cNvGraphicFramePr>
            <a:graphicFrameLocks noChangeAspect="1"/>
          </p:cNvGraphicFramePr>
          <p:nvPr/>
        </p:nvGraphicFramePr>
        <p:xfrm>
          <a:off x="1619250" y="1268413"/>
          <a:ext cx="1439863" cy="508000"/>
        </p:xfrm>
        <a:graphic>
          <a:graphicData uri="http://schemas.openxmlformats.org/presentationml/2006/ole">
            <mc:AlternateContent xmlns:mc="http://schemas.openxmlformats.org/markup-compatibility/2006">
              <mc:Choice xmlns:v="urn:schemas-microsoft-com:vml" Requires="v">
                <p:oleObj spid="_x0000_s6254" name="Equation" r:id="rId1" imgW="647700" imgH="228600" progId="Equation.DSMT4">
                  <p:embed/>
                </p:oleObj>
              </mc:Choice>
              <mc:Fallback>
                <p:oleObj name="Equation" r:id="rId1" imgW="647700" imgH="2286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1268413"/>
                        <a:ext cx="1439863"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24" name="Object 3"/>
          <p:cNvGraphicFramePr>
            <a:graphicFrameLocks noChangeAspect="1"/>
          </p:cNvGraphicFramePr>
          <p:nvPr/>
        </p:nvGraphicFramePr>
        <p:xfrm>
          <a:off x="2887663" y="1989138"/>
          <a:ext cx="1835150" cy="987425"/>
        </p:xfrm>
        <a:graphic>
          <a:graphicData uri="http://schemas.openxmlformats.org/presentationml/2006/ole">
            <mc:AlternateContent xmlns:mc="http://schemas.openxmlformats.org/markup-compatibility/2006">
              <mc:Choice xmlns:v="urn:schemas-microsoft-com:vml" Requires="v">
                <p:oleObj spid="_x0000_s6255" name="Equation" r:id="rId3" imgW="824865" imgH="444500" progId="Equation.DSMT4">
                  <p:embed/>
                </p:oleObj>
              </mc:Choice>
              <mc:Fallback>
                <p:oleObj name="Equation" r:id="rId3" imgW="824865" imgH="4445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7663" y="1989138"/>
                        <a:ext cx="1835150" cy="987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25" name="Object 4"/>
          <p:cNvGraphicFramePr>
            <a:graphicFrameLocks noChangeAspect="1"/>
          </p:cNvGraphicFramePr>
          <p:nvPr/>
        </p:nvGraphicFramePr>
        <p:xfrm>
          <a:off x="1677988" y="3213100"/>
          <a:ext cx="1411287" cy="508000"/>
        </p:xfrm>
        <a:graphic>
          <a:graphicData uri="http://schemas.openxmlformats.org/presentationml/2006/ole">
            <mc:AlternateContent xmlns:mc="http://schemas.openxmlformats.org/markup-compatibility/2006">
              <mc:Choice xmlns:v="urn:schemas-microsoft-com:vml" Requires="v">
                <p:oleObj spid="_x0000_s6256" name="Equation" r:id="rId5" imgW="635000" imgH="228600" progId="Equation.DSMT4">
                  <p:embed/>
                </p:oleObj>
              </mc:Choice>
              <mc:Fallback>
                <p:oleObj name="Equation" r:id="rId5" imgW="635000" imgH="2286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7988" y="3213100"/>
                        <a:ext cx="1411287"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26" name="Object 5"/>
          <p:cNvGraphicFramePr>
            <a:graphicFrameLocks noChangeAspect="1"/>
          </p:cNvGraphicFramePr>
          <p:nvPr/>
        </p:nvGraphicFramePr>
        <p:xfrm>
          <a:off x="3059113" y="1268413"/>
          <a:ext cx="3500437" cy="508000"/>
        </p:xfrm>
        <a:graphic>
          <a:graphicData uri="http://schemas.openxmlformats.org/presentationml/2006/ole">
            <mc:AlternateContent xmlns:mc="http://schemas.openxmlformats.org/markup-compatibility/2006">
              <mc:Choice xmlns:v="urn:schemas-microsoft-com:vml" Requires="v">
                <p:oleObj spid="_x0000_s6257" name="Equation" r:id="rId7" imgW="1574800" imgH="228600" progId="Equation.DSMT4">
                  <p:embed/>
                </p:oleObj>
              </mc:Choice>
              <mc:Fallback>
                <p:oleObj name="Equation" r:id="rId7" imgW="1574800" imgH="228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59113" y="1268413"/>
                        <a:ext cx="3500437" cy="50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27" name="Text Box 7"/>
          <p:cNvSpPr txBox="1">
            <a:spLocks noChangeArrowheads="1"/>
          </p:cNvSpPr>
          <p:nvPr/>
        </p:nvSpPr>
        <p:spPr bwMode="auto">
          <a:xfrm>
            <a:off x="1258888" y="1989138"/>
            <a:ext cx="1225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000000"/>
                </a:solidFill>
                <a:ea typeface="华文新魏" panose="02010800040101010101" pitchFamily="2" charset="-122"/>
              </a:rPr>
              <a:t>标准化</a:t>
            </a:r>
            <a:endParaRPr lang="zh-CN" altLang="en-US">
              <a:solidFill>
                <a:srgbClr val="000000"/>
              </a:solidFill>
              <a:ea typeface="华文新魏" panose="02010800040101010101" pitchFamily="2" charset="-122"/>
            </a:endParaRPr>
          </a:p>
        </p:txBody>
      </p:sp>
      <p:graphicFrame>
        <p:nvGraphicFramePr>
          <p:cNvPr id="235528" name="Object 6"/>
          <p:cNvGraphicFramePr>
            <a:graphicFrameLocks noChangeAspect="1"/>
          </p:cNvGraphicFramePr>
          <p:nvPr/>
        </p:nvGraphicFramePr>
        <p:xfrm>
          <a:off x="909638" y="4005263"/>
          <a:ext cx="5362575" cy="931862"/>
        </p:xfrm>
        <a:graphic>
          <a:graphicData uri="http://schemas.openxmlformats.org/presentationml/2006/ole">
            <mc:AlternateContent xmlns:mc="http://schemas.openxmlformats.org/markup-compatibility/2006">
              <mc:Choice xmlns:v="urn:schemas-microsoft-com:vml" Requires="v">
                <p:oleObj spid="_x0000_s6258" name="Equation" r:id="rId9" imgW="2413000" imgH="419100" progId="Equation.DSMT4">
                  <p:embed/>
                </p:oleObj>
              </mc:Choice>
              <mc:Fallback>
                <p:oleObj name="Equation" r:id="rId9" imgW="2413000" imgH="4191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9638" y="4005263"/>
                        <a:ext cx="5362575" cy="931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529" name="Text Box 9"/>
          <p:cNvSpPr txBox="1">
            <a:spLocks noChangeArrowheads="1"/>
          </p:cNvSpPr>
          <p:nvPr/>
        </p:nvSpPr>
        <p:spPr bwMode="auto">
          <a:xfrm>
            <a:off x="1692275" y="5516563"/>
            <a:ext cx="55435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a:solidFill>
                  <a:srgbClr val="990000"/>
                </a:solidFill>
                <a:ea typeface="华文新魏" panose="02010800040101010101" pitchFamily="2" charset="-122"/>
              </a:rPr>
              <a:t>中心极限定理</a:t>
            </a:r>
            <a:endParaRPr lang="zh-CN" altLang="en-US" sz="3600">
              <a:solidFill>
                <a:srgbClr val="990000"/>
              </a:solidFill>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22"/>
                                        </p:tgtEl>
                                        <p:attrNameLst>
                                          <p:attrName>style.visibility</p:attrName>
                                        </p:attrNameLst>
                                      </p:cBhvr>
                                      <p:to>
                                        <p:strVal val="visible"/>
                                      </p:to>
                                    </p:set>
                                    <p:animEffect transition="in" filter="blinds(horizontal)">
                                      <p:cBhvr>
                                        <p:cTn id="7" dur="500"/>
                                        <p:tgtEl>
                                          <p:spTgt spid="23552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35523"/>
                                        </p:tgtEl>
                                        <p:attrNameLst>
                                          <p:attrName>style.visibility</p:attrName>
                                        </p:attrNameLst>
                                      </p:cBhvr>
                                      <p:to>
                                        <p:strVal val="visible"/>
                                      </p:to>
                                    </p:set>
                                    <p:anim calcmode="lin" valueType="num">
                                      <p:cBhvr additive="base">
                                        <p:cTn id="12" dur="500" fill="hold"/>
                                        <p:tgtEl>
                                          <p:spTgt spid="235523"/>
                                        </p:tgtEl>
                                        <p:attrNameLst>
                                          <p:attrName>ppt_x</p:attrName>
                                        </p:attrNameLst>
                                      </p:cBhvr>
                                      <p:tavLst>
                                        <p:tav tm="0">
                                          <p:val>
                                            <p:strVal val="#ppt_x"/>
                                          </p:val>
                                        </p:tav>
                                        <p:tav tm="100000">
                                          <p:val>
                                            <p:strVal val="#ppt_x"/>
                                          </p:val>
                                        </p:tav>
                                      </p:tavLst>
                                    </p:anim>
                                    <p:anim calcmode="lin" valueType="num">
                                      <p:cBhvr additive="base">
                                        <p:cTn id="13" dur="500" fill="hold"/>
                                        <p:tgtEl>
                                          <p:spTgt spid="23552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35526"/>
                                        </p:tgtEl>
                                        <p:attrNameLst>
                                          <p:attrName>style.visibility</p:attrName>
                                        </p:attrNameLst>
                                      </p:cBhvr>
                                      <p:to>
                                        <p:strVal val="visible"/>
                                      </p:to>
                                    </p:set>
                                    <p:anim calcmode="lin" valueType="num">
                                      <p:cBhvr additive="base">
                                        <p:cTn id="18" dur="500" fill="hold"/>
                                        <p:tgtEl>
                                          <p:spTgt spid="235526"/>
                                        </p:tgtEl>
                                        <p:attrNameLst>
                                          <p:attrName>ppt_x</p:attrName>
                                        </p:attrNameLst>
                                      </p:cBhvr>
                                      <p:tavLst>
                                        <p:tav tm="0">
                                          <p:val>
                                            <p:strVal val="#ppt_x"/>
                                          </p:val>
                                        </p:tav>
                                        <p:tav tm="100000">
                                          <p:val>
                                            <p:strVal val="#ppt_x"/>
                                          </p:val>
                                        </p:tav>
                                      </p:tavLst>
                                    </p:anim>
                                    <p:anim calcmode="lin" valueType="num">
                                      <p:cBhvr additive="base">
                                        <p:cTn id="19" dur="500" fill="hold"/>
                                        <p:tgtEl>
                                          <p:spTgt spid="23552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35527"/>
                                        </p:tgtEl>
                                        <p:attrNameLst>
                                          <p:attrName>style.visibility</p:attrName>
                                        </p:attrNameLst>
                                      </p:cBhvr>
                                      <p:to>
                                        <p:strVal val="visible"/>
                                      </p:to>
                                    </p:set>
                                    <p:anim calcmode="lin" valueType="num">
                                      <p:cBhvr additive="base">
                                        <p:cTn id="24" dur="500" fill="hold"/>
                                        <p:tgtEl>
                                          <p:spTgt spid="235527"/>
                                        </p:tgtEl>
                                        <p:attrNameLst>
                                          <p:attrName>ppt_x</p:attrName>
                                        </p:attrNameLst>
                                      </p:cBhvr>
                                      <p:tavLst>
                                        <p:tav tm="0">
                                          <p:val>
                                            <p:strVal val="#ppt_x"/>
                                          </p:val>
                                        </p:tav>
                                        <p:tav tm="100000">
                                          <p:val>
                                            <p:strVal val="#ppt_x"/>
                                          </p:val>
                                        </p:tav>
                                      </p:tavLst>
                                    </p:anim>
                                    <p:anim calcmode="lin" valueType="num">
                                      <p:cBhvr additive="base">
                                        <p:cTn id="25" dur="500" fill="hold"/>
                                        <p:tgtEl>
                                          <p:spTgt spid="23552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35524"/>
                                        </p:tgtEl>
                                        <p:attrNameLst>
                                          <p:attrName>style.visibility</p:attrName>
                                        </p:attrNameLst>
                                      </p:cBhvr>
                                      <p:to>
                                        <p:strVal val="visible"/>
                                      </p:to>
                                    </p:set>
                                    <p:anim calcmode="lin" valueType="num">
                                      <p:cBhvr additive="base">
                                        <p:cTn id="30" dur="500" fill="hold"/>
                                        <p:tgtEl>
                                          <p:spTgt spid="235524"/>
                                        </p:tgtEl>
                                        <p:attrNameLst>
                                          <p:attrName>ppt_x</p:attrName>
                                        </p:attrNameLst>
                                      </p:cBhvr>
                                      <p:tavLst>
                                        <p:tav tm="0">
                                          <p:val>
                                            <p:strVal val="#ppt_x"/>
                                          </p:val>
                                        </p:tav>
                                        <p:tav tm="100000">
                                          <p:val>
                                            <p:strVal val="#ppt_x"/>
                                          </p:val>
                                        </p:tav>
                                      </p:tavLst>
                                    </p:anim>
                                    <p:anim calcmode="lin" valueType="num">
                                      <p:cBhvr additive="base">
                                        <p:cTn id="31" dur="500" fill="hold"/>
                                        <p:tgtEl>
                                          <p:spTgt spid="235524"/>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35525"/>
                                        </p:tgtEl>
                                        <p:attrNameLst>
                                          <p:attrName>style.visibility</p:attrName>
                                        </p:attrNameLst>
                                      </p:cBhvr>
                                      <p:to>
                                        <p:strVal val="visible"/>
                                      </p:to>
                                    </p:set>
                                    <p:anim calcmode="lin" valueType="num">
                                      <p:cBhvr additive="base">
                                        <p:cTn id="36" dur="500" fill="hold"/>
                                        <p:tgtEl>
                                          <p:spTgt spid="235525"/>
                                        </p:tgtEl>
                                        <p:attrNameLst>
                                          <p:attrName>ppt_x</p:attrName>
                                        </p:attrNameLst>
                                      </p:cBhvr>
                                      <p:tavLst>
                                        <p:tav tm="0">
                                          <p:val>
                                            <p:strVal val="#ppt_x"/>
                                          </p:val>
                                        </p:tav>
                                        <p:tav tm="100000">
                                          <p:val>
                                            <p:strVal val="#ppt_x"/>
                                          </p:val>
                                        </p:tav>
                                      </p:tavLst>
                                    </p:anim>
                                    <p:anim calcmode="lin" valueType="num">
                                      <p:cBhvr additive="base">
                                        <p:cTn id="37" dur="500" fill="hold"/>
                                        <p:tgtEl>
                                          <p:spTgt spid="235525"/>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35528"/>
                                        </p:tgtEl>
                                        <p:attrNameLst>
                                          <p:attrName>style.visibility</p:attrName>
                                        </p:attrNameLst>
                                      </p:cBhvr>
                                      <p:to>
                                        <p:strVal val="visible"/>
                                      </p:to>
                                    </p:set>
                                    <p:animEffect transition="in" filter="dissolve">
                                      <p:cBhvr>
                                        <p:cTn id="42" dur="500"/>
                                        <p:tgtEl>
                                          <p:spTgt spid="235528"/>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35529"/>
                                        </p:tgtEl>
                                        <p:attrNameLst>
                                          <p:attrName>style.visibility</p:attrName>
                                        </p:attrNameLst>
                                      </p:cBhvr>
                                      <p:to>
                                        <p:strVal val="visible"/>
                                      </p:to>
                                    </p:set>
                                    <p:animEffect transition="in" filter="dissolve">
                                      <p:cBhvr>
                                        <p:cTn id="47" dur="500"/>
                                        <p:tgtEl>
                                          <p:spTgt spid="2355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2" grpId="0"/>
      <p:bldP spid="235527" grpId="0"/>
      <p:bldP spid="23552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Text Box 2"/>
          <p:cNvSpPr txBox="1">
            <a:spLocks noChangeArrowheads="1"/>
          </p:cNvSpPr>
          <p:nvPr/>
        </p:nvSpPr>
        <p:spPr bwMode="auto">
          <a:xfrm>
            <a:off x="1187450" y="649288"/>
            <a:ext cx="7848600" cy="23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spcBef>
                <a:spcPct val="50000"/>
              </a:spcBef>
            </a:pPr>
            <a:r>
              <a:rPr lang="zh-CN" altLang="en-US" sz="3200">
                <a:ea typeface="华文新魏" panose="02010800040101010101" pitchFamily="2" charset="-122"/>
              </a:rPr>
              <a:t>        研究大量的随机现象，自然需要常常采用极限形式，由此导致对随机变量极限定理进行研究</a:t>
            </a:r>
            <a:r>
              <a:rPr lang="en-US" altLang="zh-CN" sz="3200">
                <a:ea typeface="华文新魏" panose="02010800040101010101" pitchFamily="2" charset="-122"/>
              </a:rPr>
              <a:t>.   </a:t>
            </a:r>
            <a:r>
              <a:rPr lang="zh-CN" altLang="en-US" sz="3200">
                <a:ea typeface="华文新魏" panose="02010800040101010101" pitchFamily="2" charset="-122"/>
              </a:rPr>
              <a:t>极限定理的内容很广泛，其中最重要的有两种</a:t>
            </a:r>
            <a:r>
              <a:rPr lang="en-US" altLang="zh-CN" sz="3200">
                <a:ea typeface="华文新魏" panose="02010800040101010101" pitchFamily="2" charset="-122"/>
              </a:rPr>
              <a:t>:</a:t>
            </a:r>
            <a:endParaRPr lang="en-US" altLang="zh-CN" sz="3200">
              <a:ea typeface="华文新魏" panose="02010800040101010101" pitchFamily="2" charset="-122"/>
            </a:endParaRPr>
          </a:p>
        </p:txBody>
      </p:sp>
      <p:grpSp>
        <p:nvGrpSpPr>
          <p:cNvPr id="2" name="Group 3"/>
          <p:cNvGrpSpPr/>
          <p:nvPr/>
        </p:nvGrpSpPr>
        <p:grpSpPr bwMode="auto">
          <a:xfrm>
            <a:off x="2178050" y="3352800"/>
            <a:ext cx="5791200" cy="579438"/>
            <a:chOff x="1104" y="2112"/>
            <a:chExt cx="3648" cy="365"/>
          </a:xfrm>
        </p:grpSpPr>
        <p:sp>
          <p:nvSpPr>
            <p:cNvPr id="7173" name="Rectangle 4"/>
            <p:cNvSpPr>
              <a:spLocks noChangeArrowheads="1"/>
            </p:cNvSpPr>
            <p:nvPr/>
          </p:nvSpPr>
          <p:spPr bwMode="auto">
            <a:xfrm>
              <a:off x="2438" y="2112"/>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a:ea typeface="华文新魏" panose="02010800040101010101" pitchFamily="2" charset="-122"/>
                </a:rPr>
                <a:t>与</a:t>
              </a:r>
              <a:endParaRPr lang="zh-CN" altLang="en-US" sz="3200">
                <a:ea typeface="华文新魏" panose="02010800040101010101" pitchFamily="2" charset="-122"/>
              </a:endParaRPr>
            </a:p>
          </p:txBody>
        </p:sp>
        <p:sp>
          <p:nvSpPr>
            <p:cNvPr id="7174" name="Rectangle 5"/>
            <p:cNvSpPr>
              <a:spLocks noChangeArrowheads="1"/>
            </p:cNvSpPr>
            <p:nvPr/>
          </p:nvSpPr>
          <p:spPr bwMode="auto">
            <a:xfrm>
              <a:off x="1104" y="2112"/>
              <a:ext cx="1248" cy="36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大数定律</a:t>
              </a:r>
              <a:endParaRPr lang="zh-CN" altLang="en-US" sz="3200">
                <a:ea typeface="华文新魏" panose="02010800040101010101" pitchFamily="2" charset="-122"/>
              </a:endParaRPr>
            </a:p>
          </p:txBody>
        </p:sp>
        <p:sp>
          <p:nvSpPr>
            <p:cNvPr id="7175" name="Rectangle 6"/>
            <p:cNvSpPr>
              <a:spLocks noChangeArrowheads="1"/>
            </p:cNvSpPr>
            <p:nvPr/>
          </p:nvSpPr>
          <p:spPr bwMode="auto">
            <a:xfrm>
              <a:off x="2937" y="2112"/>
              <a:ext cx="1815" cy="36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中心极限定理</a:t>
              </a:r>
              <a:endParaRPr lang="zh-CN" altLang="en-US" sz="3200">
                <a:ea typeface="华文新魏" panose="02010800040101010101" pitchFamily="2" charset="-122"/>
              </a:endParaRPr>
            </a:p>
          </p:txBody>
        </p:sp>
      </p:grpSp>
      <p:sp>
        <p:nvSpPr>
          <p:cNvPr id="236551" name="Rectangle 7"/>
          <p:cNvSpPr>
            <a:spLocks noChangeArrowheads="1"/>
          </p:cNvSpPr>
          <p:nvPr/>
        </p:nvSpPr>
        <p:spPr bwMode="auto">
          <a:xfrm>
            <a:off x="2668588" y="4373563"/>
            <a:ext cx="49958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下面我们先介绍大数定律</a:t>
            </a:r>
            <a:endParaRPr lang="zh-CN" altLang="en-US" sz="3200">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36546"/>
                                        </p:tgtEl>
                                        <p:attrNameLst>
                                          <p:attrName>style.visibility</p:attrName>
                                        </p:attrNameLst>
                                      </p:cBhvr>
                                      <p:to>
                                        <p:strVal val="visible"/>
                                      </p:to>
                                    </p:set>
                                    <p:animEffect transition="in" filter="barn(outVertical)">
                                      <p:cBhvr>
                                        <p:cTn id="7" dur="500"/>
                                        <p:tgtEl>
                                          <p:spTgt spid="236546"/>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52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 calcmode="lin" valueType="num">
                                      <p:cBhvr>
                                        <p:cTn id="14" dur="500" fill="hold"/>
                                        <p:tgtEl>
                                          <p:spTgt spid="2"/>
                                        </p:tgtEl>
                                        <p:attrNameLst>
                                          <p:attrName>ppt_x</p:attrName>
                                        </p:attrNameLst>
                                      </p:cBhvr>
                                      <p:tavLst>
                                        <p:tav tm="0">
                                          <p:val>
                                            <p:fltVal val="0.5"/>
                                          </p:val>
                                        </p:tav>
                                        <p:tav tm="100000">
                                          <p:val>
                                            <p:strVal val="#ppt_x"/>
                                          </p:val>
                                        </p:tav>
                                      </p:tavLst>
                                    </p:anim>
                                    <p:anim calcmode="lin" valueType="num">
                                      <p:cBhvr>
                                        <p:cTn id="15" dur="500" fill="hold"/>
                                        <p:tgtEl>
                                          <p:spTgt spid="2"/>
                                        </p:tgtEl>
                                        <p:attrNameLst>
                                          <p:attrName>ppt_y</p:attrName>
                                        </p:attrNameLst>
                                      </p:cBhvr>
                                      <p:tavLst>
                                        <p:tav tm="0">
                                          <p:val>
                                            <p:fltVal val="0.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10" fill="hold" grpId="0" nodeType="clickEffect">
                                  <p:stCondLst>
                                    <p:cond delay="0"/>
                                  </p:stCondLst>
                                  <p:childTnLst>
                                    <p:set>
                                      <p:cBhvr>
                                        <p:cTn id="19" dur="1" fill="hold">
                                          <p:stCondLst>
                                            <p:cond delay="0"/>
                                          </p:stCondLst>
                                        </p:cTn>
                                        <p:tgtEl>
                                          <p:spTgt spid="236551"/>
                                        </p:tgtEl>
                                        <p:attrNameLst>
                                          <p:attrName>style.visibility</p:attrName>
                                        </p:attrNameLst>
                                      </p:cBhvr>
                                      <p:to>
                                        <p:strVal val="visible"/>
                                      </p:to>
                                    </p:set>
                                    <p:anim calcmode="lin" valueType="num">
                                      <p:cBhvr>
                                        <p:cTn id="20" dur="500" fill="hold"/>
                                        <p:tgtEl>
                                          <p:spTgt spid="236551"/>
                                        </p:tgtEl>
                                        <p:attrNameLst>
                                          <p:attrName>ppt_w</p:attrName>
                                        </p:attrNameLst>
                                      </p:cBhvr>
                                      <p:tavLst>
                                        <p:tav tm="0">
                                          <p:val>
                                            <p:fltVal val="0"/>
                                          </p:val>
                                        </p:tav>
                                        <p:tav tm="100000">
                                          <p:val>
                                            <p:strVal val="#ppt_w"/>
                                          </p:val>
                                        </p:tav>
                                      </p:tavLst>
                                    </p:anim>
                                    <p:anim calcmode="lin" valueType="num">
                                      <p:cBhvr>
                                        <p:cTn id="21" dur="500" fill="hold"/>
                                        <p:tgtEl>
                                          <p:spTgt spid="23655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546" grpId="0" autoUpdateAnimBg="0"/>
      <p:bldP spid="236551"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1219200" y="0"/>
            <a:ext cx="3929063" cy="1052513"/>
          </a:xfrm>
        </p:spPr>
        <p:txBody>
          <a:bodyPr/>
          <a:lstStyle/>
          <a:p>
            <a:r>
              <a:rPr lang="zh-CN" altLang="en-US">
                <a:ea typeface="华文新魏" panose="02010800040101010101" pitchFamily="2" charset="-122"/>
              </a:rPr>
              <a:t>大数定律</a:t>
            </a:r>
            <a:endParaRPr lang="zh-CN" altLang="en-US">
              <a:ea typeface="华文新魏" panose="02010800040101010101" pitchFamily="2" charset="-122"/>
            </a:endParaRPr>
          </a:p>
        </p:txBody>
      </p:sp>
      <p:sp>
        <p:nvSpPr>
          <p:cNvPr id="237571" name="Text Box 3"/>
          <p:cNvSpPr txBox="1">
            <a:spLocks noChangeArrowheads="1"/>
          </p:cNvSpPr>
          <p:nvPr/>
        </p:nvSpPr>
        <p:spPr bwMode="auto">
          <a:xfrm>
            <a:off x="609600" y="1654175"/>
            <a:ext cx="7772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latin typeface="华文新魏" panose="02010800040101010101" pitchFamily="2" charset="-122"/>
                <a:ea typeface="华文新魏" panose="02010800040101010101" pitchFamily="2" charset="-122"/>
              </a:rPr>
              <a:t>      大量的随机现象中平均结果的稳定性</a:t>
            </a:r>
            <a:r>
              <a:rPr lang="zh-CN" altLang="en-US" sz="3200">
                <a:solidFill>
                  <a:schemeClr val="tx2"/>
                </a:solidFill>
                <a:latin typeface="华文新魏" panose="02010800040101010101" pitchFamily="2" charset="-122"/>
                <a:ea typeface="华文新魏" panose="02010800040101010101" pitchFamily="2" charset="-122"/>
              </a:rPr>
              <a:t> </a:t>
            </a:r>
            <a:r>
              <a:rPr lang="zh-CN" altLang="en-US" sz="3200">
                <a:latin typeface="华文新魏" panose="02010800040101010101" pitchFamily="2" charset="-122"/>
                <a:ea typeface="华文新魏" panose="02010800040101010101" pitchFamily="2" charset="-122"/>
              </a:rPr>
              <a:t> </a:t>
            </a:r>
            <a:endParaRPr lang="zh-CN" altLang="en-US" sz="3200">
              <a:latin typeface="华文新魏" panose="02010800040101010101" pitchFamily="2" charset="-122"/>
              <a:ea typeface="华文新魏" panose="02010800040101010101" pitchFamily="2" charset="-122"/>
            </a:endParaRPr>
          </a:p>
        </p:txBody>
      </p:sp>
      <p:sp>
        <p:nvSpPr>
          <p:cNvPr id="237572" name="Rectangle 4"/>
          <p:cNvSpPr>
            <a:spLocks noChangeArrowheads="1"/>
          </p:cNvSpPr>
          <p:nvPr/>
        </p:nvSpPr>
        <p:spPr bwMode="auto">
          <a:xfrm>
            <a:off x="1231900" y="904875"/>
            <a:ext cx="3841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latin typeface="华文新魏" panose="02010800040101010101" pitchFamily="2" charset="-122"/>
                <a:ea typeface="华文新魏" panose="02010800040101010101" pitchFamily="2" charset="-122"/>
              </a:rPr>
              <a:t>大数定律的客观背景</a:t>
            </a:r>
            <a:endParaRPr lang="zh-CN" altLang="en-US" sz="3200">
              <a:latin typeface="华文新魏" panose="02010800040101010101" pitchFamily="2" charset="-122"/>
              <a:ea typeface="华文新魏" panose="02010800040101010101" pitchFamily="2" charset="-122"/>
            </a:endParaRPr>
          </a:p>
        </p:txBody>
      </p:sp>
      <p:grpSp>
        <p:nvGrpSpPr>
          <p:cNvPr id="2" name="Group 5"/>
          <p:cNvGrpSpPr/>
          <p:nvPr/>
        </p:nvGrpSpPr>
        <p:grpSpPr bwMode="auto">
          <a:xfrm>
            <a:off x="971550" y="2636838"/>
            <a:ext cx="3048000" cy="3048000"/>
            <a:chOff x="480" y="1440"/>
            <a:chExt cx="1920" cy="1920"/>
          </a:xfrm>
        </p:grpSpPr>
        <p:pic>
          <p:nvPicPr>
            <p:cNvPr id="8202" name="Picture 6" descr="specl04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0" y="1440"/>
              <a:ext cx="1920" cy="1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Rectangle 7"/>
            <p:cNvSpPr>
              <a:spLocks noChangeArrowheads="1"/>
            </p:cNvSpPr>
            <p:nvPr/>
          </p:nvSpPr>
          <p:spPr bwMode="auto">
            <a:xfrm>
              <a:off x="600" y="2764"/>
              <a:ext cx="1460"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a:latin typeface="华文新魏" panose="02010800040101010101" pitchFamily="2" charset="-122"/>
                  <a:ea typeface="华文新魏" panose="02010800040101010101" pitchFamily="2" charset="-122"/>
                </a:rPr>
                <a:t>大量抛掷硬币</a:t>
              </a:r>
              <a:endParaRPr lang="zh-CN" altLang="en-US" sz="2800">
                <a:latin typeface="华文新魏" panose="02010800040101010101" pitchFamily="2" charset="-122"/>
                <a:ea typeface="华文新魏" panose="02010800040101010101" pitchFamily="2" charset="-122"/>
              </a:endParaRPr>
            </a:p>
            <a:p>
              <a:pPr algn="ctr" eaLnBrk="1" hangingPunct="1"/>
              <a:r>
                <a:rPr lang="zh-CN" altLang="en-US" sz="2800">
                  <a:latin typeface="华文新魏" panose="02010800040101010101" pitchFamily="2" charset="-122"/>
                  <a:ea typeface="华文新魏" panose="02010800040101010101" pitchFamily="2" charset="-122"/>
                </a:rPr>
                <a:t>正面出现频率</a:t>
              </a:r>
              <a:endParaRPr lang="zh-CN" altLang="en-US" sz="3200">
                <a:latin typeface="华文新魏" panose="02010800040101010101" pitchFamily="2" charset="-122"/>
                <a:ea typeface="华文新魏" panose="02010800040101010101" pitchFamily="2" charset="-122"/>
              </a:endParaRPr>
            </a:p>
          </p:txBody>
        </p:sp>
      </p:grpSp>
      <p:grpSp>
        <p:nvGrpSpPr>
          <p:cNvPr id="4" name="Group 11"/>
          <p:cNvGrpSpPr/>
          <p:nvPr/>
        </p:nvGrpSpPr>
        <p:grpSpPr bwMode="auto">
          <a:xfrm>
            <a:off x="5219700" y="2420938"/>
            <a:ext cx="2317750" cy="3581400"/>
            <a:chOff x="2331" y="1248"/>
            <a:chExt cx="1460" cy="2256"/>
          </a:xfrm>
        </p:grpSpPr>
        <p:pic>
          <p:nvPicPr>
            <p:cNvPr id="8200" name="Picture 12" descr="DW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8" y="1248"/>
              <a:ext cx="1239" cy="1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1" name="Rectangle 13"/>
            <p:cNvSpPr>
              <a:spLocks noChangeArrowheads="1"/>
            </p:cNvSpPr>
            <p:nvPr/>
          </p:nvSpPr>
          <p:spPr bwMode="auto">
            <a:xfrm>
              <a:off x="2331" y="2908"/>
              <a:ext cx="1460"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a:latin typeface="华文新魏" panose="02010800040101010101" pitchFamily="2" charset="-122"/>
                  <a:ea typeface="华文新魏" panose="02010800040101010101" pitchFamily="2" charset="-122"/>
                </a:rPr>
                <a:t>生产过程中的</a:t>
              </a:r>
              <a:endParaRPr lang="zh-CN" altLang="en-US" sz="2800">
                <a:latin typeface="华文新魏" panose="02010800040101010101" pitchFamily="2" charset="-122"/>
                <a:ea typeface="华文新魏" panose="02010800040101010101" pitchFamily="2" charset="-122"/>
              </a:endParaRPr>
            </a:p>
            <a:p>
              <a:pPr algn="ctr" eaLnBrk="1" hangingPunct="1"/>
              <a:r>
                <a:rPr lang="zh-CN" altLang="en-US" sz="2800">
                  <a:latin typeface="华文新魏" panose="02010800040101010101" pitchFamily="2" charset="-122"/>
                  <a:ea typeface="华文新魏" panose="02010800040101010101" pitchFamily="2" charset="-122"/>
                </a:rPr>
                <a:t>废品率</a:t>
              </a:r>
              <a:endParaRPr lang="zh-CN" altLang="en-US" sz="3200">
                <a:latin typeface="华文新魏" panose="02010800040101010101" pitchFamily="2" charset="-122"/>
                <a:ea typeface="华文新魏" panose="02010800040101010101" pitchFamily="2" charset="-122"/>
              </a:endParaRPr>
            </a:p>
          </p:txBody>
        </p:sp>
      </p:grpSp>
      <p:sp>
        <p:nvSpPr>
          <p:cNvPr id="237582" name="Text Box 14"/>
          <p:cNvSpPr txBox="1">
            <a:spLocks noChangeArrowheads="1"/>
          </p:cNvSpPr>
          <p:nvPr/>
        </p:nvSpPr>
        <p:spPr bwMode="auto">
          <a:xfrm>
            <a:off x="2892425" y="6089650"/>
            <a:ext cx="996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3200">
                <a:ea typeface="华文新魏" panose="02010800040101010101" pitchFamily="2" charset="-122"/>
              </a:rPr>
              <a:t>……</a:t>
            </a:r>
            <a:endParaRPr lang="en-US" altLang="zh-CN" sz="320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afterEffect">
                                  <p:stCondLst>
                                    <p:cond delay="0"/>
                                  </p:stCondLst>
                                  <p:childTnLst>
                                    <p:set>
                                      <p:cBhvr>
                                        <p:cTn id="6" dur="1" fill="hold">
                                          <p:stCondLst>
                                            <p:cond delay="0"/>
                                          </p:stCondLst>
                                        </p:cTn>
                                        <p:tgtEl>
                                          <p:spTgt spid="237572"/>
                                        </p:tgtEl>
                                        <p:attrNameLst>
                                          <p:attrName>style.visibility</p:attrName>
                                        </p:attrNameLst>
                                      </p:cBhvr>
                                      <p:to>
                                        <p:strVal val="visible"/>
                                      </p:to>
                                    </p:set>
                                    <p:anim calcmode="lin" valueType="num">
                                      <p:cBhvr>
                                        <p:cTn id="7" dur="500" fill="hold"/>
                                        <p:tgtEl>
                                          <p:spTgt spid="237572"/>
                                        </p:tgtEl>
                                        <p:attrNameLst>
                                          <p:attrName>ppt_w</p:attrName>
                                        </p:attrNameLst>
                                      </p:cBhvr>
                                      <p:tavLst>
                                        <p:tav tm="0">
                                          <p:val>
                                            <p:strVal val="2/3*#ppt_w"/>
                                          </p:val>
                                        </p:tav>
                                        <p:tav tm="100000">
                                          <p:val>
                                            <p:strVal val="#ppt_w"/>
                                          </p:val>
                                        </p:tav>
                                      </p:tavLst>
                                    </p:anim>
                                    <p:anim calcmode="lin" valueType="num">
                                      <p:cBhvr>
                                        <p:cTn id="8" dur="500" fill="hold"/>
                                        <p:tgtEl>
                                          <p:spTgt spid="237572"/>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37" fill="hold" grpId="0" nodeType="clickEffect">
                                  <p:stCondLst>
                                    <p:cond delay="0"/>
                                  </p:stCondLst>
                                  <p:childTnLst>
                                    <p:set>
                                      <p:cBhvr>
                                        <p:cTn id="12" dur="1" fill="hold">
                                          <p:stCondLst>
                                            <p:cond delay="0"/>
                                          </p:stCondLst>
                                        </p:cTn>
                                        <p:tgtEl>
                                          <p:spTgt spid="237571"/>
                                        </p:tgtEl>
                                        <p:attrNameLst>
                                          <p:attrName>style.visibility</p:attrName>
                                        </p:attrNameLst>
                                      </p:cBhvr>
                                      <p:to>
                                        <p:strVal val="visible"/>
                                      </p:to>
                                    </p:set>
                                    <p:animEffect transition="in" filter="barn(outVertical)">
                                      <p:cBhvr>
                                        <p:cTn id="13" dur="500"/>
                                        <p:tgtEl>
                                          <p:spTgt spid="237571"/>
                                        </p:tgtEl>
                                      </p:cBhvr>
                                    </p:animEffect>
                                  </p:childTnLst>
                                </p:cTn>
                              </p:par>
                            </p:childTnLst>
                          </p:cTn>
                        </p:par>
                        <p:par>
                          <p:cTn id="14" fill="hold">
                            <p:stCondLst>
                              <p:cond delay="500"/>
                            </p:stCondLst>
                            <p:childTnLst>
                              <p:par>
                                <p:cTn id="15" presetID="22" presetClass="entr" presetSubtype="2"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right)">
                                      <p:cBhvr>
                                        <p:cTn id="17" dur="500"/>
                                        <p:tgtEl>
                                          <p:spTgt spid="2"/>
                                        </p:tgtEl>
                                      </p:cBhvr>
                                    </p:animEffect>
                                  </p:childTnLst>
                                </p:cTn>
                              </p:par>
                            </p:childTnLst>
                          </p:cTn>
                        </p:par>
                        <p:par>
                          <p:cTn id="18" fill="hold">
                            <p:stCondLst>
                              <p:cond delay="1000"/>
                            </p:stCondLst>
                            <p:childTnLst>
                              <p:par>
                                <p:cTn id="19" presetID="2" presetClass="entr" presetSubtype="2"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1+#ppt_w/2"/>
                                          </p:val>
                                        </p:tav>
                                        <p:tav tm="100000">
                                          <p:val>
                                            <p:strVal val="#ppt_x"/>
                                          </p:val>
                                        </p:tav>
                                      </p:tavLst>
                                    </p:anim>
                                    <p:anim calcmode="lin" valueType="num">
                                      <p:cBhvr additive="base">
                                        <p:cTn id="22" dur="500" fill="hold"/>
                                        <p:tgtEl>
                                          <p:spTgt spid="4"/>
                                        </p:tgtEl>
                                        <p:attrNameLst>
                                          <p:attrName>ppt_y</p:attrName>
                                        </p:attrNameLst>
                                      </p:cBhvr>
                                      <p:tavLst>
                                        <p:tav tm="0">
                                          <p:val>
                                            <p:strVal val="#ppt_y"/>
                                          </p:val>
                                        </p:tav>
                                        <p:tav tm="100000">
                                          <p:val>
                                            <p:strVal val="#ppt_y"/>
                                          </p:val>
                                        </p:tav>
                                      </p:tavLst>
                                    </p:anim>
                                  </p:childTnLst>
                                </p:cTn>
                              </p:par>
                            </p:childTnLst>
                          </p:cTn>
                        </p:par>
                        <p:par>
                          <p:cTn id="23" fill="hold">
                            <p:stCondLst>
                              <p:cond delay="1500"/>
                            </p:stCondLst>
                            <p:childTnLst>
                              <p:par>
                                <p:cTn id="24" presetID="2" presetClass="entr" presetSubtype="4" fill="hold" grpId="0" nodeType="afterEffect">
                                  <p:stCondLst>
                                    <p:cond delay="0"/>
                                  </p:stCondLst>
                                  <p:childTnLst>
                                    <p:set>
                                      <p:cBhvr>
                                        <p:cTn id="25" dur="1" fill="hold">
                                          <p:stCondLst>
                                            <p:cond delay="0"/>
                                          </p:stCondLst>
                                        </p:cTn>
                                        <p:tgtEl>
                                          <p:spTgt spid="237582"/>
                                        </p:tgtEl>
                                        <p:attrNameLst>
                                          <p:attrName>style.visibility</p:attrName>
                                        </p:attrNameLst>
                                      </p:cBhvr>
                                      <p:to>
                                        <p:strVal val="visible"/>
                                      </p:to>
                                    </p:set>
                                    <p:anim calcmode="lin" valueType="num">
                                      <p:cBhvr additive="base">
                                        <p:cTn id="26" dur="500" fill="hold"/>
                                        <p:tgtEl>
                                          <p:spTgt spid="237582"/>
                                        </p:tgtEl>
                                        <p:attrNameLst>
                                          <p:attrName>ppt_x</p:attrName>
                                        </p:attrNameLst>
                                      </p:cBhvr>
                                      <p:tavLst>
                                        <p:tav tm="0">
                                          <p:val>
                                            <p:strVal val="#ppt_x"/>
                                          </p:val>
                                        </p:tav>
                                        <p:tav tm="100000">
                                          <p:val>
                                            <p:strVal val="#ppt_x"/>
                                          </p:val>
                                        </p:tav>
                                      </p:tavLst>
                                    </p:anim>
                                    <p:anim calcmode="lin" valueType="num">
                                      <p:cBhvr additive="base">
                                        <p:cTn id="27" dur="500" fill="hold"/>
                                        <p:tgtEl>
                                          <p:spTgt spid="2375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1" grpId="0" autoUpdateAnimBg="0"/>
      <p:bldP spid="237572" grpId="0" autoUpdateAnimBg="0"/>
      <p:bldP spid="237582"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微信图片_20200420145353"/>
          <p:cNvPicPr>
            <a:picLocks noChangeAspect="1"/>
          </p:cNvPicPr>
          <p:nvPr/>
        </p:nvPicPr>
        <p:blipFill>
          <a:blip r:embed="rId1"/>
          <a:stretch>
            <a:fillRect/>
          </a:stretch>
        </p:blipFill>
        <p:spPr>
          <a:xfrm>
            <a:off x="-457200" y="600075"/>
            <a:ext cx="10058400" cy="565721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微信图片_20200420145433"/>
          <p:cNvPicPr>
            <a:picLocks noChangeAspect="1"/>
          </p:cNvPicPr>
          <p:nvPr/>
        </p:nvPicPr>
        <p:blipFill>
          <a:blip r:embed="rId1"/>
          <a:stretch>
            <a:fillRect/>
          </a:stretch>
        </p:blipFill>
        <p:spPr>
          <a:xfrm>
            <a:off x="-457200" y="600075"/>
            <a:ext cx="10058400" cy="565721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微信图片_20200420145520"/>
          <p:cNvPicPr>
            <a:picLocks noChangeAspect="1"/>
          </p:cNvPicPr>
          <p:nvPr/>
        </p:nvPicPr>
        <p:blipFill>
          <a:blip r:embed="rId1"/>
          <a:stretch>
            <a:fillRect/>
          </a:stretch>
        </p:blipFill>
        <p:spPr>
          <a:xfrm>
            <a:off x="-117475" y="222885"/>
            <a:ext cx="8391525" cy="641159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微信图片_20200420145603"/>
          <p:cNvPicPr>
            <a:picLocks noChangeAspect="1"/>
          </p:cNvPicPr>
          <p:nvPr/>
        </p:nvPicPr>
        <p:blipFill>
          <a:blip r:embed="rId1"/>
          <a:stretch>
            <a:fillRect/>
          </a:stretch>
        </p:blipFill>
        <p:spPr>
          <a:xfrm>
            <a:off x="382905" y="600075"/>
            <a:ext cx="8323580" cy="565721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928688" y="627063"/>
            <a:ext cx="7966075" cy="3200400"/>
            <a:chOff x="277" y="259"/>
            <a:chExt cx="5018" cy="2016"/>
          </a:xfrm>
        </p:grpSpPr>
        <p:graphicFrame>
          <p:nvGraphicFramePr>
            <p:cNvPr id="11273" name="Object 3"/>
            <p:cNvGraphicFramePr>
              <a:graphicFrameLocks noChangeAspect="1"/>
            </p:cNvGraphicFramePr>
            <p:nvPr/>
          </p:nvGraphicFramePr>
          <p:xfrm>
            <a:off x="2796" y="2140"/>
            <a:ext cx="71" cy="135"/>
          </p:xfrm>
          <a:graphic>
            <a:graphicData uri="http://schemas.openxmlformats.org/presentationml/2006/ole">
              <mc:AlternateContent xmlns:mc="http://schemas.openxmlformats.org/markup-compatibility/2006">
                <mc:Choice xmlns:v="urn:schemas-microsoft-com:vml" Requires="v">
                  <p:oleObj spid="_x0000_s11381" name="公式" r:id="rId1" imgW="114300" imgH="215900" progId="Equation.3">
                    <p:embed/>
                  </p:oleObj>
                </mc:Choice>
                <mc:Fallback>
                  <p:oleObj name="公式" r:id="rId1" imgW="114300" imgH="215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6" y="2140"/>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4" name="Object 4"/>
            <p:cNvGraphicFramePr>
              <a:graphicFrameLocks noChangeAspect="1"/>
            </p:cNvGraphicFramePr>
            <p:nvPr/>
          </p:nvGraphicFramePr>
          <p:xfrm>
            <a:off x="2796" y="2140"/>
            <a:ext cx="71" cy="135"/>
          </p:xfrm>
          <a:graphic>
            <a:graphicData uri="http://schemas.openxmlformats.org/presentationml/2006/ole">
              <mc:AlternateContent xmlns:mc="http://schemas.openxmlformats.org/markup-compatibility/2006">
                <mc:Choice xmlns:v="urn:schemas-microsoft-com:vml" Requires="v">
                  <p:oleObj spid="_x0000_s11382" name="公式" r:id="rId3" imgW="114300" imgH="215900" progId="Equation.3">
                    <p:embed/>
                  </p:oleObj>
                </mc:Choice>
                <mc:Fallback>
                  <p:oleObj name="公式" r:id="rId3" imgW="114300" imgH="2159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6" y="2140"/>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5" name="Rectangle 5"/>
            <p:cNvSpPr>
              <a:spLocks noChangeArrowheads="1"/>
            </p:cNvSpPr>
            <p:nvPr/>
          </p:nvSpPr>
          <p:spPr bwMode="auto">
            <a:xfrm>
              <a:off x="384" y="259"/>
              <a:ext cx="4911" cy="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sz="2800">
                  <a:ea typeface="华文新魏" panose="02010800040101010101" pitchFamily="2" charset="-122"/>
                </a:rPr>
                <a:t>        切比雪夫</a:t>
              </a:r>
              <a:r>
                <a:rPr lang="zh-CN" altLang="en-US" sz="3200">
                  <a:ea typeface="华文新魏" panose="02010800040101010101" pitchFamily="2" charset="-122"/>
                </a:rPr>
                <a:t>大数定律表明，独立随机变量序列</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i="1" baseline="-25000">
                  <a:ea typeface="华文新魏" panose="02010800040101010101" pitchFamily="2" charset="-122"/>
                </a:rPr>
                <a:t>n</a:t>
              </a:r>
              <a:r>
                <a:rPr lang="en-US" altLang="zh-CN" sz="3200">
                  <a:ea typeface="华文新魏" panose="02010800040101010101" pitchFamily="2" charset="-122"/>
                </a:rPr>
                <a:t>}</a:t>
              </a:r>
              <a:r>
                <a:rPr lang="zh-CN" altLang="en-US" sz="3200">
                  <a:ea typeface="华文新魏" panose="02010800040101010101" pitchFamily="2" charset="-122"/>
                </a:rPr>
                <a:t>，如果方差有共同的上界，则</a:t>
              </a:r>
              <a:endParaRPr lang="zh-CN" altLang="en-US" sz="3200">
                <a:ea typeface="华文新魏" panose="02010800040101010101" pitchFamily="2" charset="-122"/>
              </a:endParaRPr>
            </a:p>
          </p:txBody>
        </p:sp>
        <p:graphicFrame>
          <p:nvGraphicFramePr>
            <p:cNvPr id="11276" name="Object 5"/>
            <p:cNvGraphicFramePr>
              <a:graphicFrameLocks noChangeAspect="1"/>
            </p:cNvGraphicFramePr>
            <p:nvPr/>
          </p:nvGraphicFramePr>
          <p:xfrm>
            <a:off x="470" y="1117"/>
            <a:ext cx="817" cy="707"/>
          </p:xfrm>
          <a:graphic>
            <a:graphicData uri="http://schemas.openxmlformats.org/presentationml/2006/ole">
              <mc:AlternateContent xmlns:mc="http://schemas.openxmlformats.org/markup-compatibility/2006">
                <mc:Choice xmlns:v="urn:schemas-microsoft-com:vml" Requires="v">
                  <p:oleObj spid="_x0000_s11383" name="公式" r:id="rId4" imgW="485775" imgH="394335" progId="Equation.3">
                    <p:embed/>
                  </p:oleObj>
                </mc:Choice>
                <mc:Fallback>
                  <p:oleObj name="公式" r:id="rId4" imgW="485775" imgH="394335"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0" y="1117"/>
                          <a:ext cx="817" cy="70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7" name="Rectangle 7"/>
            <p:cNvSpPr>
              <a:spLocks noChangeArrowheads="1"/>
            </p:cNvSpPr>
            <p:nvPr/>
          </p:nvSpPr>
          <p:spPr bwMode="auto">
            <a:xfrm>
              <a:off x="288" y="1248"/>
              <a:ext cx="350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与其数学期望</a:t>
              </a:r>
              <a:endParaRPr lang="zh-CN" altLang="en-US" sz="3200">
                <a:ea typeface="华文新魏" panose="02010800040101010101" pitchFamily="2" charset="-122"/>
              </a:endParaRPr>
            </a:p>
          </p:txBody>
        </p:sp>
        <p:graphicFrame>
          <p:nvGraphicFramePr>
            <p:cNvPr id="11278" name="Object 6"/>
            <p:cNvGraphicFramePr>
              <a:graphicFrameLocks noChangeAspect="1"/>
            </p:cNvGraphicFramePr>
            <p:nvPr/>
          </p:nvGraphicFramePr>
          <p:xfrm>
            <a:off x="2782" y="1104"/>
            <a:ext cx="1175" cy="707"/>
          </p:xfrm>
          <a:graphic>
            <a:graphicData uri="http://schemas.openxmlformats.org/presentationml/2006/ole">
              <mc:AlternateContent xmlns:mc="http://schemas.openxmlformats.org/markup-compatibility/2006">
                <mc:Choice xmlns:v="urn:schemas-microsoft-com:vml" Requires="v">
                  <p:oleObj spid="_x0000_s11384" name="公式" r:id="rId6" imgW="714375" imgH="394335" progId="Equation.3">
                    <p:embed/>
                  </p:oleObj>
                </mc:Choice>
                <mc:Fallback>
                  <p:oleObj name="公式" r:id="rId6" imgW="714375" imgH="394335"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82" y="1104"/>
                          <a:ext cx="1175" cy="70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9" name="Rectangle 9"/>
            <p:cNvSpPr>
              <a:spLocks noChangeArrowheads="1"/>
            </p:cNvSpPr>
            <p:nvPr/>
          </p:nvSpPr>
          <p:spPr bwMode="auto">
            <a:xfrm>
              <a:off x="3770" y="1248"/>
              <a:ext cx="145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 偏差很小的</a:t>
              </a:r>
              <a:endParaRPr lang="zh-CN" altLang="en-US" sz="3200">
                <a:ea typeface="华文新魏" panose="02010800040101010101" pitchFamily="2" charset="-122"/>
              </a:endParaRPr>
            </a:p>
          </p:txBody>
        </p:sp>
        <p:sp>
          <p:nvSpPr>
            <p:cNvPr id="11280" name="Rectangle 10"/>
            <p:cNvSpPr>
              <a:spLocks noChangeArrowheads="1"/>
            </p:cNvSpPr>
            <p:nvPr/>
          </p:nvSpPr>
          <p:spPr bwMode="auto">
            <a:xfrm>
              <a:off x="277" y="1872"/>
              <a:ext cx="190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   概率接近于</a:t>
              </a:r>
              <a:r>
                <a:rPr lang="en-US" altLang="zh-CN" sz="3200">
                  <a:ea typeface="华文新魏" panose="02010800040101010101" pitchFamily="2" charset="-122"/>
                </a:rPr>
                <a:t>1.  </a:t>
              </a:r>
              <a:endParaRPr lang="en-US" altLang="zh-CN" sz="3200">
                <a:ea typeface="华文新魏" panose="02010800040101010101" pitchFamily="2" charset="-122"/>
              </a:endParaRPr>
            </a:p>
          </p:txBody>
        </p:sp>
      </p:grpSp>
      <p:grpSp>
        <p:nvGrpSpPr>
          <p:cNvPr id="3" name="Group 11"/>
          <p:cNvGrpSpPr/>
          <p:nvPr/>
        </p:nvGrpSpPr>
        <p:grpSpPr bwMode="auto">
          <a:xfrm>
            <a:off x="1098550" y="3665538"/>
            <a:ext cx="8153400" cy="2133600"/>
            <a:chOff x="384" y="2173"/>
            <a:chExt cx="5136" cy="1344"/>
          </a:xfrm>
        </p:grpSpPr>
        <p:graphicFrame>
          <p:nvGraphicFramePr>
            <p:cNvPr id="11269" name="Object 2"/>
            <p:cNvGraphicFramePr>
              <a:graphicFrameLocks noChangeAspect="1"/>
            </p:cNvGraphicFramePr>
            <p:nvPr/>
          </p:nvGraphicFramePr>
          <p:xfrm>
            <a:off x="2975" y="2173"/>
            <a:ext cx="817" cy="707"/>
          </p:xfrm>
          <a:graphic>
            <a:graphicData uri="http://schemas.openxmlformats.org/presentationml/2006/ole">
              <mc:AlternateContent xmlns:mc="http://schemas.openxmlformats.org/markup-compatibility/2006">
                <mc:Choice xmlns:v="urn:schemas-microsoft-com:vml" Requires="v">
                  <p:oleObj spid="_x0000_s11385" name="公式" r:id="rId8" imgW="485775" imgH="394335" progId="Equation.3">
                    <p:embed/>
                  </p:oleObj>
                </mc:Choice>
                <mc:Fallback>
                  <p:oleObj name="公式" r:id="rId8" imgW="485775" imgH="394335" progId="Equation.3">
                    <p:embed/>
                    <p:pic>
                      <p:nvPicPr>
                        <p:cNvPr id="0" name="Object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5" y="2173"/>
                          <a:ext cx="817" cy="70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0" name="Rectangle 13"/>
            <p:cNvSpPr>
              <a:spLocks noChangeArrowheads="1"/>
            </p:cNvSpPr>
            <p:nvPr/>
          </p:nvSpPr>
          <p:spPr bwMode="auto">
            <a:xfrm>
              <a:off x="384" y="2723"/>
              <a:ext cx="5136" cy="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a:ea typeface="华文新魏" panose="02010800040101010101" pitchFamily="2" charset="-122"/>
                </a:rPr>
                <a:t>随机的了，取值接近于其数学期望的概率接近于</a:t>
              </a:r>
              <a:r>
                <a:rPr lang="en-US" altLang="zh-CN" sz="3200">
                  <a:ea typeface="华文新魏" panose="02010800040101010101" pitchFamily="2" charset="-122"/>
                </a:rPr>
                <a:t>1.</a:t>
              </a:r>
              <a:endParaRPr lang="en-US" altLang="zh-CN" sz="3200">
                <a:ea typeface="华文新魏" panose="02010800040101010101" pitchFamily="2" charset="-122"/>
              </a:endParaRPr>
            </a:p>
          </p:txBody>
        </p:sp>
        <p:sp>
          <p:nvSpPr>
            <p:cNvPr id="11271" name="Rectangle 14"/>
            <p:cNvSpPr>
              <a:spLocks noChangeArrowheads="1"/>
            </p:cNvSpPr>
            <p:nvPr/>
          </p:nvSpPr>
          <p:spPr bwMode="auto">
            <a:xfrm>
              <a:off x="960" y="2352"/>
              <a:ext cx="20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即当</a:t>
              </a:r>
              <a:r>
                <a:rPr lang="en-US" altLang="zh-CN" sz="3200" i="1">
                  <a:ea typeface="华文新魏" panose="02010800040101010101" pitchFamily="2" charset="-122"/>
                </a:rPr>
                <a:t>n</a:t>
              </a:r>
              <a:r>
                <a:rPr lang="zh-CN" altLang="en-US" sz="3200">
                  <a:ea typeface="华文新魏" panose="02010800040101010101" pitchFamily="2" charset="-122"/>
                </a:rPr>
                <a:t>充分大时，</a:t>
              </a:r>
              <a:endParaRPr lang="zh-CN" altLang="en-US" sz="3200">
                <a:ea typeface="华文新魏" panose="02010800040101010101" pitchFamily="2" charset="-122"/>
              </a:endParaRPr>
            </a:p>
          </p:txBody>
        </p:sp>
        <p:sp>
          <p:nvSpPr>
            <p:cNvPr id="11272" name="Rectangle 15"/>
            <p:cNvSpPr>
              <a:spLocks noChangeArrowheads="1"/>
            </p:cNvSpPr>
            <p:nvPr/>
          </p:nvSpPr>
          <p:spPr bwMode="auto">
            <a:xfrm>
              <a:off x="3718" y="2352"/>
              <a:ext cx="165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差不多不再是</a:t>
              </a:r>
              <a:endParaRPr lang="zh-CN" altLang="en-US" sz="3200">
                <a:ea typeface="华文新魏" panose="020108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微信图片_20200420145637"/>
          <p:cNvPicPr>
            <a:picLocks noChangeAspect="1"/>
          </p:cNvPicPr>
          <p:nvPr/>
        </p:nvPicPr>
        <p:blipFill>
          <a:blip r:embed="rId1"/>
          <a:stretch>
            <a:fillRect/>
          </a:stretch>
        </p:blipFill>
        <p:spPr>
          <a:xfrm>
            <a:off x="112395" y="600075"/>
            <a:ext cx="8841105" cy="565721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微信图片_20200420145712"/>
          <p:cNvPicPr>
            <a:picLocks noChangeAspect="1"/>
          </p:cNvPicPr>
          <p:nvPr/>
        </p:nvPicPr>
        <p:blipFill>
          <a:blip r:embed="rId1"/>
          <a:stretch>
            <a:fillRect/>
          </a:stretch>
        </p:blipFill>
        <p:spPr>
          <a:xfrm>
            <a:off x="205105" y="600075"/>
            <a:ext cx="8286115" cy="565721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微信图片_20200420145744"/>
          <p:cNvPicPr>
            <a:picLocks noChangeAspect="1"/>
          </p:cNvPicPr>
          <p:nvPr/>
        </p:nvPicPr>
        <p:blipFill>
          <a:blip r:embed="rId1"/>
          <a:stretch>
            <a:fillRect/>
          </a:stretch>
        </p:blipFill>
        <p:spPr>
          <a:xfrm>
            <a:off x="-457200" y="600075"/>
            <a:ext cx="9218295" cy="565721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微信图片_20200420145814"/>
          <p:cNvPicPr>
            <a:picLocks noChangeAspect="1"/>
          </p:cNvPicPr>
          <p:nvPr/>
        </p:nvPicPr>
        <p:blipFill>
          <a:blip r:embed="rId1"/>
          <a:stretch>
            <a:fillRect/>
          </a:stretch>
        </p:blipFill>
        <p:spPr>
          <a:xfrm>
            <a:off x="-341630" y="600075"/>
            <a:ext cx="9194165" cy="565721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ChangeArrowheads="1"/>
          </p:cNvSpPr>
          <p:nvPr/>
        </p:nvSpPr>
        <p:spPr bwMode="auto">
          <a:xfrm>
            <a:off x="539552" y="836712"/>
            <a:ext cx="7453312" cy="12604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dirty="0">
                <a:ea typeface="华文新魏" panose="02010800040101010101" pitchFamily="2" charset="-122"/>
              </a:rPr>
              <a:t>        辛钦大数定律为寻找随机变量的期望值提供了一条实际可行的途径</a:t>
            </a:r>
            <a:r>
              <a:rPr lang="en-US" altLang="zh-CN" sz="3200" dirty="0">
                <a:ea typeface="华文新魏" panose="02010800040101010101" pitchFamily="2" charset="-122"/>
              </a:rPr>
              <a:t>.</a:t>
            </a:r>
            <a:endParaRPr lang="en-US" altLang="zh-CN" sz="3200" dirty="0">
              <a:ea typeface="华文新魏" panose="02010800040101010101" pitchFamily="2" charset="-122"/>
            </a:endParaRPr>
          </a:p>
        </p:txBody>
      </p:sp>
      <p:sp>
        <p:nvSpPr>
          <p:cNvPr id="248835" name="Rectangle 3"/>
          <p:cNvSpPr>
            <a:spLocks noChangeArrowheads="1"/>
          </p:cNvSpPr>
          <p:nvPr/>
        </p:nvSpPr>
        <p:spPr bwMode="auto">
          <a:xfrm>
            <a:off x="971550" y="2997200"/>
            <a:ext cx="7696200"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pPr>
            <a:r>
              <a:rPr lang="zh-CN" altLang="en-US" sz="3200">
                <a:ea typeface="华文新魏" panose="02010800040101010101" pitchFamily="2" charset="-122"/>
              </a:rPr>
              <a:t>         例如要估计某地区的平均亩产量，要收割某些有代表性的地块，例如</a:t>
            </a:r>
            <a:r>
              <a:rPr lang="en-US" altLang="zh-CN" sz="3200" i="1">
                <a:ea typeface="华文新魏" panose="02010800040101010101" pitchFamily="2" charset="-122"/>
              </a:rPr>
              <a:t>n </a:t>
            </a:r>
            <a:r>
              <a:rPr lang="zh-CN" altLang="en-US" sz="3200">
                <a:ea typeface="华文新魏" panose="02010800040101010101" pitchFamily="2" charset="-122"/>
              </a:rPr>
              <a:t>块</a:t>
            </a:r>
            <a:r>
              <a:rPr lang="en-US" altLang="zh-CN" sz="3200">
                <a:ea typeface="华文新魏" panose="02010800040101010101" pitchFamily="2" charset="-122"/>
              </a:rPr>
              <a:t>.   </a:t>
            </a:r>
            <a:r>
              <a:rPr lang="zh-CN" altLang="en-US" sz="3200">
                <a:ea typeface="华文新魏" panose="02010800040101010101" pitchFamily="2" charset="-122"/>
              </a:rPr>
              <a:t>计算其平均亩产量，则当</a:t>
            </a:r>
            <a:r>
              <a:rPr lang="en-US" altLang="zh-CN" sz="3200" i="1">
                <a:ea typeface="华文新魏" panose="02010800040101010101" pitchFamily="2" charset="-122"/>
              </a:rPr>
              <a:t>n</a:t>
            </a:r>
            <a:r>
              <a:rPr lang="en-US" altLang="zh-CN" sz="3200">
                <a:ea typeface="华文新魏" panose="02010800040101010101" pitchFamily="2" charset="-122"/>
              </a:rPr>
              <a:t> </a:t>
            </a:r>
            <a:r>
              <a:rPr lang="zh-CN" altLang="en-US" sz="3200">
                <a:ea typeface="华文新魏" panose="02010800040101010101" pitchFamily="2" charset="-122"/>
              </a:rPr>
              <a:t>较大时，可用它作为整个地区平均亩产量的一个估计</a:t>
            </a:r>
            <a:r>
              <a:rPr lang="en-US" altLang="zh-CN" sz="3200">
                <a:ea typeface="华文新魏" panose="02010800040101010101" pitchFamily="2" charset="-122"/>
              </a:rPr>
              <a:t>.</a:t>
            </a:r>
            <a:endParaRPr lang="en-US" altLang="zh-CN" sz="3200">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48834"/>
                                        </p:tgtEl>
                                        <p:attrNameLst>
                                          <p:attrName>style.visibility</p:attrName>
                                        </p:attrNameLst>
                                      </p:cBhvr>
                                      <p:to>
                                        <p:strVal val="visible"/>
                                      </p:to>
                                    </p:set>
                                    <p:animEffect transition="in" filter="barn(outVertical)">
                                      <p:cBhvr>
                                        <p:cTn id="7" dur="500"/>
                                        <p:tgtEl>
                                          <p:spTgt spid="24883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488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834" grpId="0" bldLvl="0" animBg="1" autoUpdateAnimBg="0"/>
      <p:bldP spid="24883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微信图片_20200420145854"/>
          <p:cNvPicPr>
            <a:picLocks noChangeAspect="1"/>
          </p:cNvPicPr>
          <p:nvPr/>
        </p:nvPicPr>
        <p:blipFill>
          <a:blip r:embed="rId1"/>
          <a:stretch>
            <a:fillRect/>
          </a:stretch>
        </p:blipFill>
        <p:spPr>
          <a:xfrm>
            <a:off x="-179705" y="600075"/>
            <a:ext cx="8994140" cy="565721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微信图片_20200420145930"/>
          <p:cNvPicPr>
            <a:picLocks noChangeAspect="1"/>
          </p:cNvPicPr>
          <p:nvPr/>
        </p:nvPicPr>
        <p:blipFill>
          <a:blip r:embed="rId1"/>
          <a:stretch>
            <a:fillRect/>
          </a:stretch>
        </p:blipFill>
        <p:spPr>
          <a:xfrm>
            <a:off x="-457200" y="600075"/>
            <a:ext cx="10058400" cy="565721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ChangeArrowheads="1"/>
          </p:cNvSpPr>
          <p:nvPr/>
        </p:nvSpPr>
        <p:spPr bwMode="auto">
          <a:xfrm>
            <a:off x="1598613" y="1227138"/>
            <a:ext cx="69342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      下面我们举一例说明强大数定律的应用</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249859" name="Rectangle 3"/>
          <p:cNvSpPr>
            <a:spLocks noChangeArrowheads="1"/>
          </p:cNvSpPr>
          <p:nvPr/>
        </p:nvSpPr>
        <p:spPr bwMode="auto">
          <a:xfrm>
            <a:off x="1217613" y="2603500"/>
            <a:ext cx="5562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定积分的概率计算法</a:t>
            </a:r>
            <a:endParaRPr lang="zh-CN" altLang="en-US" sz="3200">
              <a:ea typeface="华文新魏" panose="02010800040101010101" pitchFamily="2" charset="-122"/>
            </a:endParaRPr>
          </a:p>
        </p:txBody>
      </p:sp>
      <p:grpSp>
        <p:nvGrpSpPr>
          <p:cNvPr id="2" name="Group 4"/>
          <p:cNvGrpSpPr/>
          <p:nvPr/>
        </p:nvGrpSpPr>
        <p:grpSpPr bwMode="auto">
          <a:xfrm>
            <a:off x="2205038" y="3563938"/>
            <a:ext cx="3889375" cy="944562"/>
            <a:chOff x="1056" y="1632"/>
            <a:chExt cx="2450" cy="595"/>
          </a:xfrm>
        </p:grpSpPr>
        <p:graphicFrame>
          <p:nvGraphicFramePr>
            <p:cNvPr id="19461" name="Object 2"/>
            <p:cNvGraphicFramePr>
              <a:graphicFrameLocks noChangeAspect="1"/>
            </p:cNvGraphicFramePr>
            <p:nvPr/>
          </p:nvGraphicFramePr>
          <p:xfrm>
            <a:off x="2844" y="2092"/>
            <a:ext cx="71" cy="135"/>
          </p:xfrm>
          <a:graphic>
            <a:graphicData uri="http://schemas.openxmlformats.org/presentationml/2006/ole">
              <mc:AlternateContent xmlns:mc="http://schemas.openxmlformats.org/markup-compatibility/2006">
                <mc:Choice xmlns:v="urn:schemas-microsoft-com:vml" Requires="v">
                  <p:oleObj spid="_x0000_s19526" name="公式" r:id="rId1" imgW="114300" imgH="215900" progId="Equation.3">
                    <p:embed/>
                  </p:oleObj>
                </mc:Choice>
                <mc:Fallback>
                  <p:oleObj name="公式" r:id="rId1" imgW="114300" imgH="2159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4" y="2092"/>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2" name="Object 3"/>
            <p:cNvGraphicFramePr>
              <a:graphicFrameLocks noChangeAspect="1"/>
            </p:cNvGraphicFramePr>
            <p:nvPr/>
          </p:nvGraphicFramePr>
          <p:xfrm>
            <a:off x="2844" y="2092"/>
            <a:ext cx="71" cy="135"/>
          </p:xfrm>
          <a:graphic>
            <a:graphicData uri="http://schemas.openxmlformats.org/presentationml/2006/ole">
              <mc:AlternateContent xmlns:mc="http://schemas.openxmlformats.org/markup-compatibility/2006">
                <mc:Choice xmlns:v="urn:schemas-microsoft-com:vml" Requires="v">
                  <p:oleObj spid="_x0000_s19527" name="公式" r:id="rId3" imgW="114300" imgH="215900" progId="Equation.3">
                    <p:embed/>
                  </p:oleObj>
                </mc:Choice>
                <mc:Fallback>
                  <p:oleObj name="公式" r:id="rId3" imgW="114300" imgH="215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4" y="2092"/>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3" name="Rectangle 7"/>
            <p:cNvSpPr>
              <a:spLocks noChangeArrowheads="1"/>
            </p:cNvSpPr>
            <p:nvPr/>
          </p:nvSpPr>
          <p:spPr bwMode="auto">
            <a:xfrm>
              <a:off x="1056" y="1724"/>
              <a:ext cx="37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求</a:t>
              </a:r>
              <a:endParaRPr lang="zh-CN" altLang="en-US" sz="3200">
                <a:ea typeface="华文新魏" panose="02010800040101010101" pitchFamily="2" charset="-122"/>
              </a:endParaRPr>
            </a:p>
          </p:txBody>
        </p:sp>
        <p:sp>
          <p:nvSpPr>
            <p:cNvPr id="19464" name="Rectangle 8"/>
            <p:cNvSpPr>
              <a:spLocks noChangeArrowheads="1"/>
            </p:cNvSpPr>
            <p:nvPr/>
          </p:nvSpPr>
          <p:spPr bwMode="auto">
            <a:xfrm>
              <a:off x="2876" y="1724"/>
              <a:ext cx="63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的值</a:t>
              </a:r>
              <a:endParaRPr lang="zh-CN" altLang="en-US" sz="3200">
                <a:ea typeface="华文新魏" panose="02010800040101010101" pitchFamily="2" charset="-122"/>
              </a:endParaRPr>
            </a:p>
          </p:txBody>
        </p:sp>
        <p:graphicFrame>
          <p:nvGraphicFramePr>
            <p:cNvPr id="19465" name="Object 4"/>
            <p:cNvGraphicFramePr>
              <a:graphicFrameLocks noChangeAspect="1"/>
            </p:cNvGraphicFramePr>
            <p:nvPr/>
          </p:nvGraphicFramePr>
          <p:xfrm>
            <a:off x="1435" y="1632"/>
            <a:ext cx="1449" cy="571"/>
          </p:xfrm>
          <a:graphic>
            <a:graphicData uri="http://schemas.openxmlformats.org/presentationml/2006/ole">
              <mc:AlternateContent xmlns:mc="http://schemas.openxmlformats.org/markup-compatibility/2006">
                <mc:Choice xmlns:v="urn:schemas-microsoft-com:vml" Requires="v">
                  <p:oleObj spid="_x0000_s19528" name="公式" r:id="rId4" imgW="800100" imgH="298450" progId="Equation.3">
                    <p:embed/>
                  </p:oleObj>
                </mc:Choice>
                <mc:Fallback>
                  <p:oleObj name="公式" r:id="rId4" imgW="800100" imgH="29845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5" y="1632"/>
                          <a:ext cx="1449" cy="5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49858"/>
                                        </p:tgtEl>
                                        <p:attrNameLst>
                                          <p:attrName>style.visibility</p:attrName>
                                        </p:attrNameLst>
                                      </p:cBhvr>
                                      <p:to>
                                        <p:strVal val="visible"/>
                                      </p:to>
                                    </p:set>
                                    <p:animEffect transition="in" filter="barn(outVertical)">
                                      <p:cBhvr>
                                        <p:cTn id="7" dur="500"/>
                                        <p:tgtEl>
                                          <p:spTgt spid="2498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249859"/>
                                        </p:tgtEl>
                                        <p:attrNameLst>
                                          <p:attrName>style.visibility</p:attrName>
                                        </p:attrNameLst>
                                      </p:cBhvr>
                                      <p:to>
                                        <p:strVal val="visible"/>
                                      </p:to>
                                    </p:set>
                                    <p:animEffect transition="in" filter="wipe(right)">
                                      <p:cBhvr>
                                        <p:cTn id="12" dur="500"/>
                                        <p:tgtEl>
                                          <p:spTgt spid="2498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9858" grpId="0" autoUpdateAnimBg="0"/>
      <p:bldP spid="249859"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Object 2"/>
          <p:cNvGraphicFramePr>
            <a:graphicFrameLocks noChangeAspect="1"/>
          </p:cNvGraphicFramePr>
          <p:nvPr/>
        </p:nvGraphicFramePr>
        <p:xfrm>
          <a:off x="5105400" y="3662363"/>
          <a:ext cx="112713" cy="214312"/>
        </p:xfrm>
        <a:graphic>
          <a:graphicData uri="http://schemas.openxmlformats.org/presentationml/2006/ole">
            <mc:AlternateContent xmlns:mc="http://schemas.openxmlformats.org/markup-compatibility/2006">
              <mc:Choice xmlns:v="urn:schemas-microsoft-com:vml" Requires="v">
                <p:oleObj spid="_x0000_s20617" name="公式" r:id="rId1" imgW="114300" imgH="215900" progId="Equation.3">
                  <p:embed/>
                </p:oleObj>
              </mc:Choice>
              <mc:Fallback>
                <p:oleObj name="公式" r:id="rId1" imgW="114300" imgH="2159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3662363"/>
                        <a:ext cx="112713"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3" name="Object 3"/>
          <p:cNvGraphicFramePr>
            <a:graphicFrameLocks noChangeAspect="1"/>
          </p:cNvGraphicFramePr>
          <p:nvPr/>
        </p:nvGraphicFramePr>
        <p:xfrm>
          <a:off x="5105400" y="3662363"/>
          <a:ext cx="112713" cy="214312"/>
        </p:xfrm>
        <a:graphic>
          <a:graphicData uri="http://schemas.openxmlformats.org/presentationml/2006/ole">
            <mc:AlternateContent xmlns:mc="http://schemas.openxmlformats.org/markup-compatibility/2006">
              <mc:Choice xmlns:v="urn:schemas-microsoft-com:vml" Requires="v">
                <p:oleObj spid="_x0000_s20618" name="公式" r:id="rId3" imgW="114300" imgH="215900" progId="Equation.3">
                  <p:embed/>
                </p:oleObj>
              </mc:Choice>
              <mc:Fallback>
                <p:oleObj name="公式" r:id="rId3" imgW="114300" imgH="215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3662363"/>
                        <a:ext cx="112713"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0884" name="Rectangle 4"/>
          <p:cNvSpPr>
            <a:spLocks noChangeArrowheads="1"/>
          </p:cNvSpPr>
          <p:nvPr/>
        </p:nvSpPr>
        <p:spPr bwMode="auto">
          <a:xfrm>
            <a:off x="1123950" y="1438275"/>
            <a:ext cx="6324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solidFill>
                  <a:schemeClr val="tx2"/>
                </a:solidFill>
                <a:ea typeface="华文新魏" panose="02010800040101010101" pitchFamily="2" charset="-122"/>
              </a:rPr>
              <a:t>    </a:t>
            </a:r>
            <a:r>
              <a:rPr lang="zh-CN" altLang="en-US" sz="3200">
                <a:ea typeface="华文新魏" panose="02010800040101010101" pitchFamily="2" charset="-122"/>
              </a:rPr>
              <a:t>我们介绍</a:t>
            </a:r>
            <a:r>
              <a:rPr lang="zh-CN" altLang="en-US" sz="3200">
                <a:solidFill>
                  <a:schemeClr val="tx2"/>
                </a:solidFill>
                <a:ea typeface="华文新魏" panose="02010800040101010101" pitchFamily="2" charset="-122"/>
              </a:rPr>
              <a:t>均值法，</a:t>
            </a:r>
            <a:r>
              <a:rPr lang="zh-CN" altLang="en-US" sz="3200">
                <a:ea typeface="华文新魏" panose="02010800040101010101" pitchFamily="2" charset="-122"/>
              </a:rPr>
              <a:t>步骤是</a:t>
            </a:r>
            <a:endParaRPr lang="zh-CN" altLang="en-US" sz="3200">
              <a:ea typeface="华文新魏" panose="02010800040101010101" pitchFamily="2" charset="-122"/>
            </a:endParaRPr>
          </a:p>
        </p:txBody>
      </p:sp>
      <p:sp>
        <p:nvSpPr>
          <p:cNvPr id="250885" name="Rectangle 5"/>
          <p:cNvSpPr>
            <a:spLocks noChangeArrowheads="1"/>
          </p:cNvSpPr>
          <p:nvPr/>
        </p:nvSpPr>
        <p:spPr bwMode="auto">
          <a:xfrm>
            <a:off x="1452563" y="2093913"/>
            <a:ext cx="67738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a:ea typeface="华文新魏" panose="02010800040101010101" pitchFamily="2" charset="-122"/>
              </a:rPr>
              <a:t>1)  </a:t>
            </a:r>
            <a:r>
              <a:rPr lang="zh-CN" altLang="en-US" sz="3200">
                <a:ea typeface="华文新魏" panose="02010800040101010101" pitchFamily="2" charset="-122"/>
              </a:rPr>
              <a:t>产生在</a:t>
            </a:r>
            <a:r>
              <a:rPr lang="en-US" altLang="zh-CN" sz="3200">
                <a:ea typeface="华文新魏" panose="02010800040101010101" pitchFamily="2" charset="-122"/>
              </a:rPr>
              <a:t>(0,1)</a:t>
            </a:r>
            <a:r>
              <a:rPr lang="zh-CN" altLang="en-US" sz="3200">
                <a:ea typeface="华文新魏" panose="02010800040101010101" pitchFamily="2" charset="-122"/>
              </a:rPr>
              <a:t>上均匀分布的随机数</a:t>
            </a:r>
            <a:r>
              <a:rPr lang="en-US" altLang="zh-CN" sz="3200" i="1">
                <a:ea typeface="华文新魏" panose="02010800040101010101" pitchFamily="2" charset="-122"/>
              </a:rPr>
              <a:t>r</a:t>
            </a:r>
            <a:r>
              <a:rPr lang="en-US" altLang="zh-CN" sz="3200" i="1" baseline="-25000">
                <a:ea typeface="华文新魏" panose="02010800040101010101" pitchFamily="2" charset="-122"/>
              </a:rPr>
              <a:t>n</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250886" name="Rectangle 6"/>
          <p:cNvSpPr>
            <a:spLocks noChangeArrowheads="1"/>
          </p:cNvSpPr>
          <p:nvPr/>
        </p:nvSpPr>
        <p:spPr bwMode="auto">
          <a:xfrm>
            <a:off x="1504950" y="3236913"/>
            <a:ext cx="463232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ea typeface="华文新魏" panose="02010800040101010101" pitchFamily="2" charset="-122"/>
              </a:rPr>
              <a:t>2)  </a:t>
            </a:r>
            <a:r>
              <a:rPr lang="zh-CN" altLang="en-US" sz="3200">
                <a:ea typeface="华文新魏" panose="02010800040101010101" pitchFamily="2" charset="-122"/>
              </a:rPr>
              <a:t>计算</a:t>
            </a:r>
            <a:r>
              <a:rPr lang="en-US" altLang="zh-CN" sz="3200" i="1">
                <a:ea typeface="华文新魏" panose="02010800040101010101" pitchFamily="2" charset="-122"/>
              </a:rPr>
              <a:t>g</a:t>
            </a:r>
            <a:r>
              <a:rPr lang="en-US" altLang="zh-CN" sz="3200">
                <a:ea typeface="华文新魏" panose="02010800040101010101" pitchFamily="2" charset="-122"/>
              </a:rPr>
              <a:t>(</a:t>
            </a:r>
            <a:r>
              <a:rPr lang="en-US" altLang="zh-CN" sz="3200" i="1">
                <a:ea typeface="华文新魏" panose="02010800040101010101" pitchFamily="2" charset="-122"/>
              </a:rPr>
              <a:t>r</a:t>
            </a:r>
            <a:r>
              <a:rPr lang="en-US" altLang="zh-CN" sz="3200" i="1" baseline="-25000">
                <a:ea typeface="华文新魏" panose="02010800040101010101" pitchFamily="2" charset="-122"/>
              </a:rPr>
              <a:t>n</a:t>
            </a:r>
            <a:r>
              <a:rPr lang="en-US" altLang="zh-CN" sz="3200">
                <a:ea typeface="华文新魏" panose="02010800040101010101" pitchFamily="2" charset="-122"/>
              </a:rPr>
              <a:t>)</a:t>
            </a:r>
            <a:r>
              <a:rPr lang="zh-CN" altLang="en-US" sz="3200">
                <a:ea typeface="华文新魏" panose="02010800040101010101" pitchFamily="2" charset="-122"/>
              </a:rPr>
              <a:t>， </a:t>
            </a:r>
            <a:r>
              <a:rPr lang="en-US" altLang="zh-CN" sz="3200" i="1">
                <a:ea typeface="华文新魏" panose="02010800040101010101" pitchFamily="2" charset="-122"/>
              </a:rPr>
              <a:t>n</a:t>
            </a:r>
            <a:r>
              <a:rPr lang="en-US" altLang="zh-CN" sz="3200">
                <a:ea typeface="华文新魏" panose="02010800040101010101" pitchFamily="2" charset="-122"/>
              </a:rPr>
              <a:t>=1,2,…,</a:t>
            </a:r>
            <a:r>
              <a:rPr lang="en-US" altLang="zh-CN" sz="3200" i="1">
                <a:ea typeface="华文新魏" panose="02010800040101010101" pitchFamily="2" charset="-122"/>
              </a:rPr>
              <a:t>N</a:t>
            </a:r>
            <a:endParaRPr lang="en-US" altLang="zh-CN" sz="3200">
              <a:ea typeface="华文新魏" panose="02010800040101010101" pitchFamily="2" charset="-122"/>
            </a:endParaRPr>
          </a:p>
        </p:txBody>
      </p:sp>
      <p:sp>
        <p:nvSpPr>
          <p:cNvPr id="250887" name="Rectangle 7"/>
          <p:cNvSpPr>
            <a:spLocks noChangeArrowheads="1"/>
          </p:cNvSpPr>
          <p:nvPr/>
        </p:nvSpPr>
        <p:spPr bwMode="auto">
          <a:xfrm>
            <a:off x="4043363" y="2627313"/>
            <a:ext cx="20050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i="1">
                <a:ea typeface="华文新魏" panose="02010800040101010101" pitchFamily="2" charset="-122"/>
              </a:rPr>
              <a:t>n</a:t>
            </a:r>
            <a:r>
              <a:rPr lang="en-US" altLang="zh-CN" sz="3200">
                <a:ea typeface="华文新魏" panose="02010800040101010101" pitchFamily="2" charset="-122"/>
              </a:rPr>
              <a:t>=1,2,…,</a:t>
            </a:r>
            <a:r>
              <a:rPr lang="en-US" altLang="zh-CN" sz="3200" i="1">
                <a:ea typeface="华文新魏" panose="02010800040101010101" pitchFamily="2" charset="-122"/>
              </a:rPr>
              <a:t>N</a:t>
            </a:r>
            <a:endParaRPr lang="en-US" altLang="zh-CN" sz="3200">
              <a:ea typeface="华文新魏" panose="02010800040101010101" pitchFamily="2" charset="-122"/>
            </a:endParaRPr>
          </a:p>
        </p:txBody>
      </p:sp>
      <p:grpSp>
        <p:nvGrpSpPr>
          <p:cNvPr id="2" name="Group 8"/>
          <p:cNvGrpSpPr/>
          <p:nvPr/>
        </p:nvGrpSpPr>
        <p:grpSpPr bwMode="auto">
          <a:xfrm>
            <a:off x="2490788" y="4837113"/>
            <a:ext cx="3759200" cy="1106487"/>
            <a:chOff x="1197" y="2832"/>
            <a:chExt cx="2368" cy="697"/>
          </a:xfrm>
        </p:grpSpPr>
        <p:sp>
          <p:nvSpPr>
            <p:cNvPr id="20495" name="Rectangle 9"/>
            <p:cNvSpPr>
              <a:spLocks noChangeArrowheads="1"/>
            </p:cNvSpPr>
            <p:nvPr/>
          </p:nvSpPr>
          <p:spPr bwMode="auto">
            <a:xfrm>
              <a:off x="1197" y="2947"/>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即</a:t>
              </a:r>
              <a:endParaRPr lang="zh-CN" altLang="en-US" sz="3200">
                <a:ea typeface="华文新魏" panose="02010800040101010101" pitchFamily="2" charset="-122"/>
              </a:endParaRPr>
            </a:p>
          </p:txBody>
        </p:sp>
        <p:graphicFrame>
          <p:nvGraphicFramePr>
            <p:cNvPr id="20496" name="Object 7"/>
            <p:cNvGraphicFramePr>
              <a:graphicFrameLocks noChangeAspect="1"/>
            </p:cNvGraphicFramePr>
            <p:nvPr/>
          </p:nvGraphicFramePr>
          <p:xfrm>
            <a:off x="1608" y="2832"/>
            <a:ext cx="1957" cy="697"/>
          </p:xfrm>
          <a:graphic>
            <a:graphicData uri="http://schemas.openxmlformats.org/presentationml/2006/ole">
              <mc:AlternateContent xmlns:mc="http://schemas.openxmlformats.org/markup-compatibility/2006">
                <mc:Choice xmlns:v="urn:schemas-microsoft-com:vml" Requires="v">
                  <p:oleObj spid="_x0000_s20619" name="公式" r:id="rId4" imgW="1171575" imgH="394335" progId="Equation.3">
                    <p:embed/>
                  </p:oleObj>
                </mc:Choice>
                <mc:Fallback>
                  <p:oleObj name="公式" r:id="rId4" imgW="1171575" imgH="394335"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8" y="2832"/>
                          <a:ext cx="1957" cy="697"/>
                        </a:xfrm>
                        <a:prstGeom prst="rect">
                          <a:avLst/>
                        </a:prstGeom>
                        <a:noFill/>
                        <a:ln>
                          <a:noFill/>
                        </a:ln>
                        <a:effectLst/>
                        <a:extLst>
                          <a:ext uri="{909E8E84-426E-40DD-AFC4-6F175D3DCCD1}">
                            <a14:hiddenFill xmlns:a14="http://schemas.microsoft.com/office/drawing/2010/main">
                              <a:solidFill>
                                <a:srgbClr val="0000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50891" name="Rectangle 11"/>
          <p:cNvSpPr>
            <a:spLocks noChangeArrowheads="1"/>
          </p:cNvSpPr>
          <p:nvPr/>
        </p:nvSpPr>
        <p:spPr bwMode="auto">
          <a:xfrm>
            <a:off x="1593850" y="4151313"/>
            <a:ext cx="43830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3200">
                <a:ea typeface="华文新魏" panose="02010800040101010101" pitchFamily="2" charset="-122"/>
              </a:rPr>
              <a:t>3)  </a:t>
            </a:r>
            <a:r>
              <a:rPr lang="zh-CN" altLang="en-US" sz="3200">
                <a:ea typeface="华文新魏" panose="02010800040101010101" pitchFamily="2" charset="-122"/>
              </a:rPr>
              <a:t>用平均值近似积分值</a:t>
            </a:r>
            <a:endParaRPr lang="zh-CN" altLang="en-US" sz="3200">
              <a:ea typeface="华文新魏" panose="02010800040101010101" pitchFamily="2" charset="-122"/>
            </a:endParaRPr>
          </a:p>
        </p:txBody>
      </p:sp>
      <p:graphicFrame>
        <p:nvGraphicFramePr>
          <p:cNvPr id="20490" name="Object 4"/>
          <p:cNvGraphicFramePr>
            <a:graphicFrameLocks noChangeAspect="1"/>
          </p:cNvGraphicFramePr>
          <p:nvPr/>
        </p:nvGraphicFramePr>
        <p:xfrm>
          <a:off x="5181600" y="1117600"/>
          <a:ext cx="112713" cy="214313"/>
        </p:xfrm>
        <a:graphic>
          <a:graphicData uri="http://schemas.openxmlformats.org/presentationml/2006/ole">
            <mc:AlternateContent xmlns:mc="http://schemas.openxmlformats.org/markup-compatibility/2006">
              <mc:Choice xmlns:v="urn:schemas-microsoft-com:vml" Requires="v">
                <p:oleObj spid="_x0000_s20620" name="公式" r:id="rId6" imgW="114300" imgH="215900" progId="Equation.3">
                  <p:embed/>
                </p:oleObj>
              </mc:Choice>
              <mc:Fallback>
                <p:oleObj name="公式" r:id="rId6" imgW="114300" imgH="2159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111760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1" name="Object 5"/>
          <p:cNvGraphicFramePr>
            <a:graphicFrameLocks noChangeAspect="1"/>
          </p:cNvGraphicFramePr>
          <p:nvPr/>
        </p:nvGraphicFramePr>
        <p:xfrm>
          <a:off x="5181600" y="1117600"/>
          <a:ext cx="112713" cy="214313"/>
        </p:xfrm>
        <a:graphic>
          <a:graphicData uri="http://schemas.openxmlformats.org/presentationml/2006/ole">
            <mc:AlternateContent xmlns:mc="http://schemas.openxmlformats.org/markup-compatibility/2006">
              <mc:Choice xmlns:v="urn:schemas-microsoft-com:vml" Requires="v">
                <p:oleObj spid="_x0000_s20621" name="公式" r:id="rId7" imgW="114300" imgH="215900" progId="Equation.3">
                  <p:embed/>
                </p:oleObj>
              </mc:Choice>
              <mc:Fallback>
                <p:oleObj name="公式" r:id="rId7" imgW="114300" imgH="2159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0" y="111760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2" name="Rectangle 14"/>
          <p:cNvSpPr>
            <a:spLocks noChangeArrowheads="1"/>
          </p:cNvSpPr>
          <p:nvPr/>
        </p:nvSpPr>
        <p:spPr bwMode="auto">
          <a:xfrm>
            <a:off x="2343150" y="533400"/>
            <a:ext cx="590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求</a:t>
            </a:r>
            <a:endParaRPr lang="zh-CN" altLang="en-US" sz="3200">
              <a:ea typeface="华文新魏" panose="02010800040101010101" pitchFamily="2" charset="-122"/>
            </a:endParaRPr>
          </a:p>
        </p:txBody>
      </p:sp>
      <p:sp>
        <p:nvSpPr>
          <p:cNvPr id="20493" name="Rectangle 15"/>
          <p:cNvSpPr>
            <a:spLocks noChangeArrowheads="1"/>
          </p:cNvSpPr>
          <p:nvPr/>
        </p:nvSpPr>
        <p:spPr bwMode="auto">
          <a:xfrm>
            <a:off x="5233988" y="533400"/>
            <a:ext cx="996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的值</a:t>
            </a:r>
            <a:endParaRPr lang="zh-CN" altLang="en-US" sz="3200">
              <a:ea typeface="华文新魏" panose="02010800040101010101" pitchFamily="2" charset="-122"/>
            </a:endParaRPr>
          </a:p>
        </p:txBody>
      </p:sp>
      <p:graphicFrame>
        <p:nvGraphicFramePr>
          <p:cNvPr id="20494" name="Object 6"/>
          <p:cNvGraphicFramePr>
            <a:graphicFrameLocks noChangeAspect="1"/>
          </p:cNvGraphicFramePr>
          <p:nvPr/>
        </p:nvGraphicFramePr>
        <p:xfrm>
          <a:off x="2916238" y="404813"/>
          <a:ext cx="2298700" cy="906462"/>
        </p:xfrm>
        <a:graphic>
          <a:graphicData uri="http://schemas.openxmlformats.org/presentationml/2006/ole">
            <mc:AlternateContent xmlns:mc="http://schemas.openxmlformats.org/markup-compatibility/2006">
              <mc:Choice xmlns:v="urn:schemas-microsoft-com:vml" Requires="v">
                <p:oleObj spid="_x0000_s20622" name="公式" r:id="rId8" imgW="800100" imgH="298450" progId="Equation.3">
                  <p:embed/>
                </p:oleObj>
              </mc:Choice>
              <mc:Fallback>
                <p:oleObj name="公式" r:id="rId8" imgW="800100" imgH="29845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6238" y="404813"/>
                        <a:ext cx="2298700" cy="906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50884"/>
                                        </p:tgtEl>
                                        <p:attrNameLst>
                                          <p:attrName>style.visibility</p:attrName>
                                        </p:attrNameLst>
                                      </p:cBhvr>
                                      <p:to>
                                        <p:strVal val="visible"/>
                                      </p:to>
                                    </p:set>
                                    <p:anim calcmode="lin" valueType="num">
                                      <p:cBhvr additive="base">
                                        <p:cTn id="7" dur="500" fill="hold"/>
                                        <p:tgtEl>
                                          <p:spTgt spid="250884"/>
                                        </p:tgtEl>
                                        <p:attrNameLst>
                                          <p:attrName>ppt_x</p:attrName>
                                        </p:attrNameLst>
                                      </p:cBhvr>
                                      <p:tavLst>
                                        <p:tav tm="0">
                                          <p:val>
                                            <p:strVal val="0-#ppt_w/2"/>
                                          </p:val>
                                        </p:tav>
                                        <p:tav tm="100000">
                                          <p:val>
                                            <p:strVal val="#ppt_x"/>
                                          </p:val>
                                        </p:tav>
                                      </p:tavLst>
                                    </p:anim>
                                    <p:anim calcmode="lin" valueType="num">
                                      <p:cBhvr additive="base">
                                        <p:cTn id="8" dur="500" fill="hold"/>
                                        <p:tgtEl>
                                          <p:spTgt spid="25088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37" fill="hold" grpId="0" nodeType="clickEffect">
                                  <p:stCondLst>
                                    <p:cond delay="0"/>
                                  </p:stCondLst>
                                  <p:childTnLst>
                                    <p:set>
                                      <p:cBhvr>
                                        <p:cTn id="12" dur="1" fill="hold">
                                          <p:stCondLst>
                                            <p:cond delay="0"/>
                                          </p:stCondLst>
                                        </p:cTn>
                                        <p:tgtEl>
                                          <p:spTgt spid="250885"/>
                                        </p:tgtEl>
                                        <p:attrNameLst>
                                          <p:attrName>style.visibility</p:attrName>
                                        </p:attrNameLst>
                                      </p:cBhvr>
                                      <p:to>
                                        <p:strVal val="visible"/>
                                      </p:to>
                                    </p:set>
                                    <p:animEffect transition="in" filter="barn(outVertical)">
                                      <p:cBhvr>
                                        <p:cTn id="13" dur="500"/>
                                        <p:tgtEl>
                                          <p:spTgt spid="25088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250887"/>
                                        </p:tgtEl>
                                        <p:attrNameLst>
                                          <p:attrName>style.visibility</p:attrName>
                                        </p:attrNameLst>
                                      </p:cBhvr>
                                      <p:to>
                                        <p:strVal val="visible"/>
                                      </p:to>
                                    </p:set>
                                    <p:anim calcmode="lin" valueType="num">
                                      <p:cBhvr additive="base">
                                        <p:cTn id="18" dur="500" fill="hold"/>
                                        <p:tgtEl>
                                          <p:spTgt spid="250887"/>
                                        </p:tgtEl>
                                        <p:attrNameLst>
                                          <p:attrName>ppt_x</p:attrName>
                                        </p:attrNameLst>
                                      </p:cBhvr>
                                      <p:tavLst>
                                        <p:tav tm="0">
                                          <p:val>
                                            <p:strVal val="1+#ppt_w/2"/>
                                          </p:val>
                                        </p:tav>
                                        <p:tav tm="100000">
                                          <p:val>
                                            <p:strVal val="#ppt_x"/>
                                          </p:val>
                                        </p:tav>
                                      </p:tavLst>
                                    </p:anim>
                                    <p:anim calcmode="lin" valueType="num">
                                      <p:cBhvr additive="base">
                                        <p:cTn id="19" dur="500" fill="hold"/>
                                        <p:tgtEl>
                                          <p:spTgt spid="250887"/>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50886"/>
                                        </p:tgtEl>
                                        <p:attrNameLst>
                                          <p:attrName>style.visibility</p:attrName>
                                        </p:attrNameLst>
                                      </p:cBhvr>
                                      <p:to>
                                        <p:strVal val="visible"/>
                                      </p:to>
                                    </p:set>
                                    <p:anim calcmode="lin" valueType="num">
                                      <p:cBhvr additive="base">
                                        <p:cTn id="24" dur="500" fill="hold"/>
                                        <p:tgtEl>
                                          <p:spTgt spid="250886"/>
                                        </p:tgtEl>
                                        <p:attrNameLst>
                                          <p:attrName>ppt_x</p:attrName>
                                        </p:attrNameLst>
                                      </p:cBhvr>
                                      <p:tavLst>
                                        <p:tav tm="0">
                                          <p:val>
                                            <p:strVal val="#ppt_x"/>
                                          </p:val>
                                        </p:tav>
                                        <p:tav tm="100000">
                                          <p:val>
                                            <p:strVal val="#ppt_x"/>
                                          </p:val>
                                        </p:tav>
                                      </p:tavLst>
                                    </p:anim>
                                    <p:anim calcmode="lin" valueType="num">
                                      <p:cBhvr additive="base">
                                        <p:cTn id="25" dur="500" fill="hold"/>
                                        <p:tgtEl>
                                          <p:spTgt spid="25088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50891"/>
                                        </p:tgtEl>
                                        <p:attrNameLst>
                                          <p:attrName>style.visibility</p:attrName>
                                        </p:attrNameLst>
                                      </p:cBhvr>
                                      <p:to>
                                        <p:strVal val="visible"/>
                                      </p:to>
                                    </p:set>
                                    <p:anim calcmode="lin" valueType="num">
                                      <p:cBhvr additive="base">
                                        <p:cTn id="30" dur="500" fill="hold"/>
                                        <p:tgtEl>
                                          <p:spTgt spid="250891"/>
                                        </p:tgtEl>
                                        <p:attrNameLst>
                                          <p:attrName>ppt_x</p:attrName>
                                        </p:attrNameLst>
                                      </p:cBhvr>
                                      <p:tavLst>
                                        <p:tav tm="0">
                                          <p:val>
                                            <p:strVal val="#ppt_x"/>
                                          </p:val>
                                        </p:tav>
                                        <p:tav tm="100000">
                                          <p:val>
                                            <p:strVal val="#ppt_x"/>
                                          </p:val>
                                        </p:tav>
                                      </p:tavLst>
                                    </p:anim>
                                    <p:anim calcmode="lin" valueType="num">
                                      <p:cBhvr additive="base">
                                        <p:cTn id="31" dur="500" fill="hold"/>
                                        <p:tgtEl>
                                          <p:spTgt spid="250891"/>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left)">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84" grpId="0" autoUpdateAnimBg="0"/>
      <p:bldP spid="250885" grpId="0" autoUpdateAnimBg="0"/>
      <p:bldP spid="250886" grpId="0" autoUpdateAnimBg="0"/>
      <p:bldP spid="250887" grpId="0" autoUpdateAnimBg="0"/>
      <p:bldP spid="250891"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微信图片_20200420151827"/>
          <p:cNvPicPr>
            <a:picLocks noChangeAspect="1"/>
          </p:cNvPicPr>
          <p:nvPr/>
        </p:nvPicPr>
        <p:blipFill>
          <a:blip r:embed="rId1"/>
          <a:stretch>
            <a:fillRect/>
          </a:stretch>
        </p:blipFill>
        <p:spPr>
          <a:xfrm>
            <a:off x="-965835" y="368935"/>
            <a:ext cx="10667365" cy="605091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2"/>
          <p:cNvSpPr>
            <a:spLocks noChangeArrowheads="1"/>
          </p:cNvSpPr>
          <p:nvPr/>
        </p:nvSpPr>
        <p:spPr bwMode="auto">
          <a:xfrm>
            <a:off x="1128713" y="1189038"/>
            <a:ext cx="7678737"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a:ea typeface="华文新魏" panose="02010800040101010101" pitchFamily="2" charset="-122"/>
              </a:rPr>
              <a:t>        大数定律以严格的数学形式表达了随机现象最根本的性质之一：</a:t>
            </a:r>
            <a:endParaRPr lang="zh-CN" altLang="en-US" sz="3200">
              <a:ea typeface="华文新魏" panose="02010800040101010101" pitchFamily="2" charset="-122"/>
            </a:endParaRPr>
          </a:p>
        </p:txBody>
      </p:sp>
      <p:sp>
        <p:nvSpPr>
          <p:cNvPr id="252931" name="Rectangle 3"/>
          <p:cNvSpPr>
            <a:spLocks noChangeArrowheads="1"/>
          </p:cNvSpPr>
          <p:nvPr/>
        </p:nvSpPr>
        <p:spPr bwMode="auto">
          <a:xfrm>
            <a:off x="1644650" y="3535363"/>
            <a:ext cx="6381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它是随机现象统计规律的具体表现</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252932" name="Rectangle 4"/>
          <p:cNvSpPr>
            <a:spLocks noChangeArrowheads="1"/>
          </p:cNvSpPr>
          <p:nvPr/>
        </p:nvSpPr>
        <p:spPr bwMode="auto">
          <a:xfrm>
            <a:off x="1276350" y="4297363"/>
            <a:ext cx="7600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大数定律在理论和实际中都有广泛的应用</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252933" name="Rectangle 5"/>
          <p:cNvSpPr>
            <a:spLocks noChangeArrowheads="1"/>
          </p:cNvSpPr>
          <p:nvPr/>
        </p:nvSpPr>
        <p:spPr bwMode="auto">
          <a:xfrm>
            <a:off x="3024188" y="2667000"/>
            <a:ext cx="3435350" cy="57943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solidFill>
                  <a:srgbClr val="990000"/>
                </a:solidFill>
                <a:ea typeface="华文新魏" panose="02010800040101010101" pitchFamily="2" charset="-122"/>
              </a:rPr>
              <a:t>平均结果的稳定性</a:t>
            </a:r>
            <a:endParaRPr lang="zh-CN" altLang="en-US" sz="3200">
              <a:solidFill>
                <a:srgbClr val="990000"/>
              </a:solidFill>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2930"/>
                                        </p:tgtEl>
                                        <p:attrNameLst>
                                          <p:attrName>style.visibility</p:attrName>
                                        </p:attrNameLst>
                                      </p:cBhvr>
                                      <p:to>
                                        <p:strVal val="visible"/>
                                      </p:to>
                                    </p:set>
                                    <p:animEffect transition="in" filter="wipe(left)">
                                      <p:cBhvr>
                                        <p:cTn id="7" dur="500"/>
                                        <p:tgtEl>
                                          <p:spTgt spid="252930"/>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252933"/>
                                        </p:tgtEl>
                                        <p:attrNameLst>
                                          <p:attrName>style.visibility</p:attrName>
                                        </p:attrNameLst>
                                      </p:cBhvr>
                                      <p:to>
                                        <p:strVal val="visible"/>
                                      </p:to>
                                    </p:set>
                                    <p:animEffect transition="in" filter="box(out)">
                                      <p:cBhvr>
                                        <p:cTn id="11" dur="500"/>
                                        <p:tgtEl>
                                          <p:spTgt spid="25293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grpId="0" nodeType="clickEffect">
                                  <p:stCondLst>
                                    <p:cond delay="0"/>
                                  </p:stCondLst>
                                  <p:childTnLst>
                                    <p:set>
                                      <p:cBhvr>
                                        <p:cTn id="15" dur="1" fill="hold">
                                          <p:stCondLst>
                                            <p:cond delay="0"/>
                                          </p:stCondLst>
                                        </p:cTn>
                                        <p:tgtEl>
                                          <p:spTgt spid="252931"/>
                                        </p:tgtEl>
                                        <p:attrNameLst>
                                          <p:attrName>style.visibility</p:attrName>
                                        </p:attrNameLst>
                                      </p:cBhvr>
                                      <p:to>
                                        <p:strVal val="visible"/>
                                      </p:to>
                                    </p:set>
                                    <p:animEffect transition="in" filter="wipe(right)">
                                      <p:cBhvr>
                                        <p:cTn id="16" dur="500"/>
                                        <p:tgtEl>
                                          <p:spTgt spid="252931"/>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37" fill="hold" grpId="0" nodeType="clickEffect">
                                  <p:stCondLst>
                                    <p:cond delay="0"/>
                                  </p:stCondLst>
                                  <p:childTnLst>
                                    <p:set>
                                      <p:cBhvr>
                                        <p:cTn id="20" dur="1" fill="hold">
                                          <p:stCondLst>
                                            <p:cond delay="0"/>
                                          </p:stCondLst>
                                        </p:cTn>
                                        <p:tgtEl>
                                          <p:spTgt spid="252932"/>
                                        </p:tgtEl>
                                        <p:attrNameLst>
                                          <p:attrName>style.visibility</p:attrName>
                                        </p:attrNameLst>
                                      </p:cBhvr>
                                      <p:to>
                                        <p:strVal val="visible"/>
                                      </p:to>
                                    </p:set>
                                    <p:animEffect transition="in" filter="barn(outVertical)">
                                      <p:cBhvr>
                                        <p:cTn id="21" dur="500"/>
                                        <p:tgtEl>
                                          <p:spTgt spid="252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0" grpId="0" autoUpdateAnimBg="0"/>
      <p:bldP spid="252931" grpId="0" autoUpdateAnimBg="0"/>
      <p:bldP spid="252932" grpId="0" autoUpdateAnimBg="0"/>
      <p:bldP spid="252933" grpId="0" bldLvl="0" animBg="1"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Text Box 2"/>
          <p:cNvSpPr txBox="1">
            <a:spLocks noChangeArrowheads="1"/>
          </p:cNvSpPr>
          <p:nvPr/>
        </p:nvSpPr>
        <p:spPr bwMode="auto">
          <a:xfrm>
            <a:off x="1116013" y="476250"/>
            <a:ext cx="5903912"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3200">
                <a:ea typeface="华文新魏" panose="02010800040101010101" pitchFamily="2" charset="-122"/>
              </a:rPr>
              <a:t>　　</a:t>
            </a:r>
            <a:r>
              <a:rPr lang="zh-CN" altLang="en-US" sz="3200">
                <a:latin typeface="华文新魏" panose="02010800040101010101" pitchFamily="2" charset="-122"/>
                <a:ea typeface="华文新魏" panose="02010800040101010101" pitchFamily="2" charset="-122"/>
              </a:rPr>
              <a:t>自从高斯指出测量误差服从正态分布之后，人们发现，正态分布在自然界中极为常见</a:t>
            </a:r>
            <a:r>
              <a:rPr lang="en-US" altLang="zh-CN" sz="3200">
                <a:latin typeface="华文新魏" panose="02010800040101010101" pitchFamily="2" charset="-122"/>
                <a:ea typeface="华文新魏" panose="02010800040101010101" pitchFamily="2" charset="-122"/>
              </a:rPr>
              <a:t>.</a:t>
            </a:r>
            <a:endParaRPr lang="en-US" altLang="zh-CN" sz="3200">
              <a:latin typeface="华文新魏" panose="02010800040101010101" pitchFamily="2" charset="-122"/>
              <a:ea typeface="华文新魏" panose="02010800040101010101" pitchFamily="2" charset="-122"/>
            </a:endParaRPr>
          </a:p>
        </p:txBody>
      </p:sp>
      <p:sp>
        <p:nvSpPr>
          <p:cNvPr id="254979" name="Rectangle 3"/>
          <p:cNvSpPr>
            <a:spLocks noChangeArrowheads="1"/>
          </p:cNvSpPr>
          <p:nvPr/>
        </p:nvSpPr>
        <p:spPr bwMode="auto">
          <a:xfrm>
            <a:off x="900113" y="2819400"/>
            <a:ext cx="7772400"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3200">
                <a:latin typeface="华文新魏" panose="02010800040101010101" pitchFamily="2" charset="-122"/>
                <a:ea typeface="华文新魏" panose="02010800040101010101" pitchFamily="2" charset="-122"/>
              </a:rPr>
              <a:t>如果一个量是由大量相互独立的随机因素的影响所造成，而每一个别因素在总影响中所起的作用不大</a:t>
            </a:r>
            <a:r>
              <a:rPr lang="en-US" altLang="zh-CN" sz="3200">
                <a:latin typeface="华文新魏" panose="02010800040101010101" pitchFamily="2" charset="-122"/>
                <a:ea typeface="华文新魏" panose="02010800040101010101" pitchFamily="2" charset="-122"/>
              </a:rPr>
              <a:t>.   </a:t>
            </a:r>
            <a:r>
              <a:rPr lang="zh-CN" altLang="en-US" sz="3200">
                <a:latin typeface="华文新魏" panose="02010800040101010101" pitchFamily="2" charset="-122"/>
                <a:ea typeface="华文新魏" panose="02010800040101010101" pitchFamily="2" charset="-122"/>
              </a:rPr>
              <a:t>则这种量一般都服从或近似服从正态分布</a:t>
            </a:r>
            <a:r>
              <a:rPr lang="en-US" altLang="zh-CN" sz="3200">
                <a:latin typeface="华文新魏" panose="02010800040101010101" pitchFamily="2" charset="-122"/>
                <a:ea typeface="华文新魏" panose="02010800040101010101" pitchFamily="2" charset="-122"/>
              </a:rPr>
              <a:t>.</a:t>
            </a:r>
            <a:endParaRPr lang="en-US" altLang="zh-CN" sz="3200">
              <a:latin typeface="华文新魏" panose="02010800040101010101" pitchFamily="2" charset="-122"/>
              <a:ea typeface="华文新魏" panose="02010800040101010101" pitchFamily="2" charset="-122"/>
            </a:endParaRPr>
          </a:p>
        </p:txBody>
      </p:sp>
      <p:pic>
        <p:nvPicPr>
          <p:cNvPr id="253956" name="Picture 4" descr="高斯"/>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08850" y="476250"/>
            <a:ext cx="1436688"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54978"/>
                                        </p:tgtEl>
                                        <p:attrNameLst>
                                          <p:attrName>style.visibility</p:attrName>
                                        </p:attrNameLst>
                                      </p:cBhvr>
                                      <p:to>
                                        <p:strVal val="visible"/>
                                      </p:to>
                                    </p:set>
                                    <p:animEffect transition="in" filter="barn(outVertical)">
                                      <p:cBhvr>
                                        <p:cTn id="7" dur="500"/>
                                        <p:tgtEl>
                                          <p:spTgt spid="254978"/>
                                        </p:tgtEl>
                                      </p:cBhvr>
                                    </p:animEffect>
                                  </p:childTnLst>
                                </p:cTn>
                              </p:par>
                            </p:childTnLst>
                          </p:cTn>
                        </p:par>
                        <p:par>
                          <p:cTn id="8" fill="hold">
                            <p:stCondLst>
                              <p:cond delay="500"/>
                            </p:stCondLst>
                            <p:childTnLst>
                              <p:par>
                                <p:cTn id="9" presetID="2" presetClass="entr" presetSubtype="2" fill="hold" nodeType="afterEffect">
                                  <p:stCondLst>
                                    <p:cond delay="0"/>
                                  </p:stCondLst>
                                  <p:childTnLst>
                                    <p:set>
                                      <p:cBhvr>
                                        <p:cTn id="10" dur="1" fill="hold">
                                          <p:stCondLst>
                                            <p:cond delay="0"/>
                                          </p:stCondLst>
                                        </p:cTn>
                                        <p:tgtEl>
                                          <p:spTgt spid="253956"/>
                                        </p:tgtEl>
                                        <p:attrNameLst>
                                          <p:attrName>style.visibility</p:attrName>
                                        </p:attrNameLst>
                                      </p:cBhvr>
                                      <p:to>
                                        <p:strVal val="visible"/>
                                      </p:to>
                                    </p:set>
                                    <p:anim calcmode="lin" valueType="num">
                                      <p:cBhvr additive="base">
                                        <p:cTn id="11" dur="500" fill="hold"/>
                                        <p:tgtEl>
                                          <p:spTgt spid="253956"/>
                                        </p:tgtEl>
                                        <p:attrNameLst>
                                          <p:attrName>ppt_x</p:attrName>
                                        </p:attrNameLst>
                                      </p:cBhvr>
                                      <p:tavLst>
                                        <p:tav tm="0">
                                          <p:val>
                                            <p:strVal val="1+#ppt_w/2"/>
                                          </p:val>
                                        </p:tav>
                                        <p:tav tm="100000">
                                          <p:val>
                                            <p:strVal val="#ppt_x"/>
                                          </p:val>
                                        </p:tav>
                                      </p:tavLst>
                                    </p:anim>
                                    <p:anim calcmode="lin" valueType="num">
                                      <p:cBhvr additive="base">
                                        <p:cTn id="12" dur="500" fill="hold"/>
                                        <p:tgtEl>
                                          <p:spTgt spid="253956"/>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49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8" grpId="0" autoUpdateAnimBg="0"/>
      <p:bldP spid="25497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Text Box 2"/>
          <p:cNvSpPr txBox="1">
            <a:spLocks noChangeArrowheads="1"/>
          </p:cNvSpPr>
          <p:nvPr/>
        </p:nvSpPr>
        <p:spPr bwMode="auto">
          <a:xfrm>
            <a:off x="684213" y="835025"/>
            <a:ext cx="800100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3200">
                <a:ea typeface="华文新魏" panose="02010800040101010101" pitchFamily="2" charset="-122"/>
              </a:rPr>
              <a:t>　　人们开始研究独立随机变量之和所特有的规律性问题</a:t>
            </a:r>
            <a:r>
              <a:rPr lang="en-US" altLang="zh-CN" sz="3200">
                <a:ea typeface="华文新魏" panose="02010800040101010101" pitchFamily="2" charset="-122"/>
              </a:rPr>
              <a:t>.</a:t>
            </a:r>
            <a:endParaRPr lang="en-US" altLang="zh-CN">
              <a:ea typeface="华文新魏" panose="02010800040101010101" pitchFamily="2" charset="-122"/>
            </a:endParaRPr>
          </a:p>
        </p:txBody>
      </p:sp>
      <p:sp>
        <p:nvSpPr>
          <p:cNvPr id="254979" name="Rectangle 3"/>
          <p:cNvSpPr>
            <a:spLocks noChangeArrowheads="1"/>
          </p:cNvSpPr>
          <p:nvPr/>
        </p:nvSpPr>
        <p:spPr bwMode="auto">
          <a:xfrm>
            <a:off x="836613" y="2552700"/>
            <a:ext cx="7772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a:ea typeface="华文新魏" panose="02010800040101010101" pitchFamily="2" charset="-122"/>
              </a:rPr>
              <a:t>       即　当</a:t>
            </a:r>
            <a:r>
              <a:rPr lang="en-US" altLang="zh-CN" sz="3200" i="1">
                <a:ea typeface="华文新魏" panose="02010800040101010101" pitchFamily="2" charset="-122"/>
              </a:rPr>
              <a:t>n</a:t>
            </a:r>
            <a:r>
              <a:rPr lang="zh-CN" altLang="en-US" sz="3200">
                <a:ea typeface="华文新魏" panose="02010800040101010101" pitchFamily="2" charset="-122"/>
              </a:rPr>
              <a:t>无限增大时，这个和的极限分布是什么呢？</a:t>
            </a:r>
            <a:endParaRPr lang="zh-CN" altLang="en-US" sz="3200">
              <a:ea typeface="华文新魏" panose="02010800040101010101" pitchFamily="2" charset="-122"/>
            </a:endParaRPr>
          </a:p>
        </p:txBody>
      </p:sp>
      <p:sp>
        <p:nvSpPr>
          <p:cNvPr id="254980" name="Rectangle 4"/>
          <p:cNvSpPr>
            <a:spLocks noChangeArrowheads="1"/>
          </p:cNvSpPr>
          <p:nvPr/>
        </p:nvSpPr>
        <p:spPr bwMode="auto">
          <a:xfrm>
            <a:off x="763588" y="3716338"/>
            <a:ext cx="77406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a:ea typeface="华文新魏" panose="02010800040101010101" pitchFamily="2" charset="-122"/>
              </a:rPr>
              <a:t>　　和　在什么条件下极限分布会是正态分布的呢？</a:t>
            </a:r>
            <a:endParaRPr lang="zh-CN" altLang="en-US" sz="3200">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54978"/>
                                        </p:tgtEl>
                                        <p:attrNameLst>
                                          <p:attrName>style.visibility</p:attrName>
                                        </p:attrNameLst>
                                      </p:cBhvr>
                                      <p:to>
                                        <p:strVal val="visible"/>
                                      </p:to>
                                    </p:set>
                                    <p:animEffect transition="in" filter="barn(outVertical)">
                                      <p:cBhvr>
                                        <p:cTn id="7" dur="500"/>
                                        <p:tgtEl>
                                          <p:spTgt spid="2549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4979"/>
                                        </p:tgtEl>
                                        <p:attrNameLst>
                                          <p:attrName>style.visibility</p:attrName>
                                        </p:attrNameLst>
                                      </p:cBhvr>
                                      <p:to>
                                        <p:strVal val="visible"/>
                                      </p:to>
                                    </p:set>
                                    <p:animEffect transition="in" filter="wipe(left)">
                                      <p:cBhvr>
                                        <p:cTn id="12" dur="500"/>
                                        <p:tgtEl>
                                          <p:spTgt spid="25497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4980"/>
                                        </p:tgtEl>
                                        <p:attrNameLst>
                                          <p:attrName>style.visibility</p:attrName>
                                        </p:attrNameLst>
                                      </p:cBhvr>
                                      <p:to>
                                        <p:strVal val="visible"/>
                                      </p:to>
                                    </p:set>
                                    <p:animEffect transition="in" filter="wipe(left)">
                                      <p:cBhvr>
                                        <p:cTn id="17" dur="500"/>
                                        <p:tgtEl>
                                          <p:spTgt spid="254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8" grpId="0" autoUpdateAnimBg="0"/>
      <p:bldP spid="254979" grpId="0" autoUpdateAnimBg="0"/>
      <p:bldP spid="254980"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Text Box 2"/>
          <p:cNvSpPr txBox="1">
            <a:spLocks noChangeArrowheads="1"/>
          </p:cNvSpPr>
          <p:nvPr/>
        </p:nvSpPr>
        <p:spPr bwMode="auto">
          <a:xfrm>
            <a:off x="684213" y="381000"/>
            <a:ext cx="815340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3200">
                <a:ea typeface="华文新魏" panose="02010800040101010101" pitchFamily="2" charset="-122"/>
              </a:rPr>
              <a:t>        由于无穷个随机变量之和可能趋于∞，故我们不研究</a:t>
            </a:r>
            <a:r>
              <a:rPr lang="en-US" altLang="zh-CN" sz="3200" i="1">
                <a:ea typeface="华文新魏" panose="02010800040101010101" pitchFamily="2" charset="-122"/>
              </a:rPr>
              <a:t>n</a:t>
            </a:r>
            <a:r>
              <a:rPr lang="zh-CN" altLang="en-US" sz="3200">
                <a:ea typeface="华文新魏" panose="02010800040101010101" pitchFamily="2" charset="-122"/>
              </a:rPr>
              <a:t>个随机变量之和本身而考虑它的标准化的随机变量</a:t>
            </a:r>
            <a:endParaRPr lang="zh-CN" altLang="en-US">
              <a:ea typeface="华文新魏" panose="02010800040101010101" pitchFamily="2" charset="-122"/>
            </a:endParaRPr>
          </a:p>
        </p:txBody>
      </p:sp>
      <p:graphicFrame>
        <p:nvGraphicFramePr>
          <p:cNvPr id="256003" name="Object 2"/>
          <p:cNvGraphicFramePr>
            <a:graphicFrameLocks noChangeAspect="1"/>
          </p:cNvGraphicFramePr>
          <p:nvPr/>
        </p:nvGraphicFramePr>
        <p:xfrm>
          <a:off x="2800350" y="2544763"/>
          <a:ext cx="3751263" cy="2176462"/>
        </p:xfrm>
        <a:graphic>
          <a:graphicData uri="http://schemas.openxmlformats.org/presentationml/2006/ole">
            <mc:AlternateContent xmlns:mc="http://schemas.openxmlformats.org/markup-compatibility/2006">
              <mc:Choice xmlns:v="urn:schemas-microsoft-com:vml" Requires="v">
                <p:oleObj spid="_x0000_s27673" name="Equation" r:id="rId1" imgW="1476375" imgH="847090" progId="Equation.DSMT4">
                  <p:embed/>
                </p:oleObj>
              </mc:Choice>
              <mc:Fallback>
                <p:oleObj name="Equation" r:id="rId1" imgW="1476375" imgH="84709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0350" y="2544763"/>
                        <a:ext cx="3751263" cy="2176462"/>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04" name="Text Box 4"/>
          <p:cNvSpPr txBox="1">
            <a:spLocks noChangeArrowheads="1"/>
          </p:cNvSpPr>
          <p:nvPr/>
        </p:nvSpPr>
        <p:spPr bwMode="auto">
          <a:xfrm>
            <a:off x="1074738" y="4830763"/>
            <a:ext cx="3536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a:ea typeface="华文新魏" panose="02010800040101010101" pitchFamily="2" charset="-122"/>
              </a:rPr>
              <a:t>的分布函数的极限</a:t>
            </a:r>
            <a:r>
              <a:rPr lang="en-US" altLang="zh-CN" sz="3200">
                <a:ea typeface="华文新魏" panose="02010800040101010101" pitchFamily="2" charset="-122"/>
              </a:rPr>
              <a:t>.</a:t>
            </a:r>
            <a:endParaRPr lang="en-US" altLang="zh-CN" sz="3200">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56002"/>
                                        </p:tgtEl>
                                        <p:attrNameLst>
                                          <p:attrName>style.visibility</p:attrName>
                                        </p:attrNameLst>
                                      </p:cBhvr>
                                      <p:to>
                                        <p:strVal val="visible"/>
                                      </p:to>
                                    </p:set>
                                    <p:animEffect transition="in" filter="blinds(horizontal)">
                                      <p:cBhvr>
                                        <p:cTn id="7" dur="500"/>
                                        <p:tgtEl>
                                          <p:spTgt spid="25600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56003"/>
                                        </p:tgtEl>
                                        <p:attrNameLst>
                                          <p:attrName>style.visibility</p:attrName>
                                        </p:attrNameLst>
                                      </p:cBhvr>
                                      <p:to>
                                        <p:strVal val="visible"/>
                                      </p:to>
                                    </p:set>
                                    <p:anim calcmode="lin" valueType="num">
                                      <p:cBhvr additive="base">
                                        <p:cTn id="12" dur="500" fill="hold"/>
                                        <p:tgtEl>
                                          <p:spTgt spid="256003"/>
                                        </p:tgtEl>
                                        <p:attrNameLst>
                                          <p:attrName>ppt_x</p:attrName>
                                        </p:attrNameLst>
                                      </p:cBhvr>
                                      <p:tavLst>
                                        <p:tav tm="0">
                                          <p:val>
                                            <p:strVal val="#ppt_x"/>
                                          </p:val>
                                        </p:tav>
                                        <p:tav tm="100000">
                                          <p:val>
                                            <p:strVal val="#ppt_x"/>
                                          </p:val>
                                        </p:tav>
                                      </p:tavLst>
                                    </p:anim>
                                    <p:anim calcmode="lin" valueType="num">
                                      <p:cBhvr additive="base">
                                        <p:cTn id="13" dur="500" fill="hold"/>
                                        <p:tgtEl>
                                          <p:spTgt spid="25600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2560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2" grpId="0" autoUpdateAnimBg="0"/>
      <p:bldP spid="256004"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2"/>
          <p:cNvGraphicFramePr>
            <a:graphicFrameLocks noChangeAspect="1"/>
          </p:cNvGraphicFramePr>
          <p:nvPr/>
        </p:nvGraphicFramePr>
        <p:xfrm>
          <a:off x="1774825" y="639763"/>
          <a:ext cx="3517900" cy="2039937"/>
        </p:xfrm>
        <a:graphic>
          <a:graphicData uri="http://schemas.openxmlformats.org/presentationml/2006/ole">
            <mc:AlternateContent xmlns:mc="http://schemas.openxmlformats.org/markup-compatibility/2006">
              <mc:Choice xmlns:v="urn:schemas-microsoft-com:vml" Requires="v">
                <p:oleObj spid="_x0000_s28702" name="公式" r:id="rId1" imgW="1476375" imgH="847090" progId="Equation.3">
                  <p:embed/>
                </p:oleObj>
              </mc:Choice>
              <mc:Fallback>
                <p:oleObj name="公式" r:id="rId1" imgW="1476375" imgH="84709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825" y="639763"/>
                        <a:ext cx="3517900" cy="2039937"/>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5" name="Text Box 3"/>
          <p:cNvSpPr txBox="1">
            <a:spLocks noChangeArrowheads="1"/>
          </p:cNvSpPr>
          <p:nvPr/>
        </p:nvSpPr>
        <p:spPr bwMode="auto">
          <a:xfrm>
            <a:off x="5434013" y="1308100"/>
            <a:ext cx="3536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a:ea typeface="华文新魏" panose="02010800040101010101" pitchFamily="2" charset="-122"/>
              </a:rPr>
              <a:t>的分布函数的极限</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257028" name="Text Box 4"/>
          <p:cNvSpPr txBox="1">
            <a:spLocks noChangeArrowheads="1"/>
          </p:cNvSpPr>
          <p:nvPr/>
        </p:nvSpPr>
        <p:spPr bwMode="auto">
          <a:xfrm>
            <a:off x="871538" y="2895600"/>
            <a:ext cx="7826375"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3200">
                <a:ea typeface="华文新魏" panose="02010800040101010101" pitchFamily="2" charset="-122"/>
              </a:rPr>
              <a:t>        可以证明，满足一定的条件，上述极限分布是标准正态分布</a:t>
            </a:r>
            <a:r>
              <a:rPr lang="en-US" altLang="zh-CN" sz="3200">
                <a:ea typeface="华文新魏" panose="02010800040101010101" pitchFamily="2" charset="-122"/>
              </a:rPr>
              <a:t>.   </a:t>
            </a:r>
            <a:endParaRPr lang="en-US" altLang="zh-CN" sz="3200">
              <a:ea typeface="华文新魏" panose="02010800040101010101" pitchFamily="2" charset="-122"/>
            </a:endParaRPr>
          </a:p>
        </p:txBody>
      </p:sp>
      <p:sp>
        <p:nvSpPr>
          <p:cNvPr id="28677" name="Rectangle 5"/>
          <p:cNvSpPr>
            <a:spLocks noChangeArrowheads="1"/>
          </p:cNvSpPr>
          <p:nvPr/>
        </p:nvSpPr>
        <p:spPr bwMode="auto">
          <a:xfrm>
            <a:off x="755650" y="1262063"/>
            <a:ext cx="996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考虑</a:t>
            </a:r>
            <a:endParaRPr lang="zh-CN" altLang="en-US" sz="3200">
              <a:ea typeface="华文新魏" panose="02010800040101010101" pitchFamily="2" charset="-122"/>
            </a:endParaRPr>
          </a:p>
        </p:txBody>
      </p:sp>
      <p:sp>
        <p:nvSpPr>
          <p:cNvPr id="257030" name="Rectangle 6"/>
          <p:cNvSpPr>
            <a:spLocks noChangeArrowheads="1"/>
          </p:cNvSpPr>
          <p:nvPr/>
        </p:nvSpPr>
        <p:spPr bwMode="auto">
          <a:xfrm>
            <a:off x="2981325" y="4602163"/>
            <a:ext cx="2622550" cy="57943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中心极限定理</a:t>
            </a:r>
            <a:endParaRPr lang="zh-CN" altLang="en-US" sz="3200">
              <a:ea typeface="华文新魏" panose="02010800040101010101" pitchFamily="2" charset="-122"/>
            </a:endParaRPr>
          </a:p>
        </p:txBody>
      </p:sp>
      <p:grpSp>
        <p:nvGrpSpPr>
          <p:cNvPr id="2" name="Group 7"/>
          <p:cNvGrpSpPr/>
          <p:nvPr/>
        </p:nvGrpSpPr>
        <p:grpSpPr bwMode="auto">
          <a:xfrm>
            <a:off x="923925" y="3429000"/>
            <a:ext cx="7448550" cy="1371600"/>
            <a:chOff x="431" y="2112"/>
            <a:chExt cx="4692" cy="864"/>
          </a:xfrm>
        </p:grpSpPr>
        <p:sp>
          <p:nvSpPr>
            <p:cNvPr id="28680" name="Rectangle 8"/>
            <p:cNvSpPr>
              <a:spLocks noChangeArrowheads="1"/>
            </p:cNvSpPr>
            <p:nvPr/>
          </p:nvSpPr>
          <p:spPr bwMode="auto">
            <a:xfrm>
              <a:off x="3215" y="2112"/>
              <a:ext cx="1908"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lnSpc>
                  <a:spcPct val="120000"/>
                </a:lnSpc>
              </a:pPr>
              <a:r>
                <a:rPr lang="zh-CN" altLang="en-US" sz="3200">
                  <a:ea typeface="华文新魏" panose="02010800040101010101" pitchFamily="2" charset="-122"/>
                </a:rPr>
                <a:t>这就是下面要介</a:t>
              </a:r>
              <a:endParaRPr lang="zh-CN" altLang="en-US" sz="3200">
                <a:ea typeface="华文新魏" panose="02010800040101010101" pitchFamily="2" charset="-122"/>
              </a:endParaRPr>
            </a:p>
          </p:txBody>
        </p:sp>
        <p:sp>
          <p:nvSpPr>
            <p:cNvPr id="28681" name="Rectangle 9"/>
            <p:cNvSpPr>
              <a:spLocks noChangeArrowheads="1"/>
            </p:cNvSpPr>
            <p:nvPr/>
          </p:nvSpPr>
          <p:spPr bwMode="auto">
            <a:xfrm>
              <a:off x="431" y="2611"/>
              <a:ext cx="63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绍的</a:t>
              </a:r>
              <a:endParaRPr lang="zh-CN" altLang="en-US" sz="3200">
                <a:ea typeface="华文新魏" panose="020108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57028"/>
                                        </p:tgtEl>
                                        <p:attrNameLst>
                                          <p:attrName>style.visibility</p:attrName>
                                        </p:attrNameLst>
                                      </p:cBhvr>
                                      <p:to>
                                        <p:strVal val="visible"/>
                                      </p:to>
                                    </p:set>
                                    <p:animEffect transition="in" filter="barn(outVertical)">
                                      <p:cBhvr>
                                        <p:cTn id="7" dur="500"/>
                                        <p:tgtEl>
                                          <p:spTgt spid="25702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
                                        </p:tgtEl>
                                        <p:attrNameLst>
                                          <p:attrName>style.visibility</p:attrName>
                                        </p:attrNameLst>
                                      </p:cBhvr>
                                      <p:to>
                                        <p:strVal val="visible"/>
                                      </p:to>
                                    </p:set>
                                  </p:childTnLst>
                                </p:cTn>
                              </p:par>
                            </p:childTnLst>
                          </p:cTn>
                        </p:par>
                        <p:par>
                          <p:cTn id="12" fill="hold">
                            <p:stCondLst>
                              <p:cond delay="500"/>
                            </p:stCondLst>
                            <p:childTnLst>
                              <p:par>
                                <p:cTn id="13" presetID="23" presetClass="entr" presetSubtype="16" fill="hold" grpId="0" nodeType="afterEffect">
                                  <p:stCondLst>
                                    <p:cond delay="0"/>
                                  </p:stCondLst>
                                  <p:childTnLst>
                                    <p:set>
                                      <p:cBhvr>
                                        <p:cTn id="14" dur="1" fill="hold">
                                          <p:stCondLst>
                                            <p:cond delay="0"/>
                                          </p:stCondLst>
                                        </p:cTn>
                                        <p:tgtEl>
                                          <p:spTgt spid="257030"/>
                                        </p:tgtEl>
                                        <p:attrNameLst>
                                          <p:attrName>style.visibility</p:attrName>
                                        </p:attrNameLst>
                                      </p:cBhvr>
                                      <p:to>
                                        <p:strVal val="visible"/>
                                      </p:to>
                                    </p:set>
                                    <p:anim calcmode="lin" valueType="num">
                                      <p:cBhvr>
                                        <p:cTn id="15" dur="500" fill="hold"/>
                                        <p:tgtEl>
                                          <p:spTgt spid="257030"/>
                                        </p:tgtEl>
                                        <p:attrNameLst>
                                          <p:attrName>ppt_w</p:attrName>
                                        </p:attrNameLst>
                                      </p:cBhvr>
                                      <p:tavLst>
                                        <p:tav tm="0">
                                          <p:val>
                                            <p:fltVal val="0"/>
                                          </p:val>
                                        </p:tav>
                                        <p:tav tm="100000">
                                          <p:val>
                                            <p:strVal val="#ppt_w"/>
                                          </p:val>
                                        </p:tav>
                                      </p:tavLst>
                                    </p:anim>
                                    <p:anim calcmode="lin" valueType="num">
                                      <p:cBhvr>
                                        <p:cTn id="16" dur="500" fill="hold"/>
                                        <p:tgtEl>
                                          <p:spTgt spid="25703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8" grpId="0" autoUpdateAnimBg="0"/>
      <p:bldP spid="257030" grpId="0" bldLvl="0" animBg="1"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8" name="Object 2"/>
          <p:cNvGraphicFramePr>
            <a:graphicFrameLocks noChangeAspect="1"/>
          </p:cNvGraphicFramePr>
          <p:nvPr/>
        </p:nvGraphicFramePr>
        <p:xfrm>
          <a:off x="4873625" y="3282950"/>
          <a:ext cx="112713" cy="214313"/>
        </p:xfrm>
        <a:graphic>
          <a:graphicData uri="http://schemas.openxmlformats.org/presentationml/2006/ole">
            <mc:AlternateContent xmlns:mc="http://schemas.openxmlformats.org/markup-compatibility/2006">
              <mc:Choice xmlns:v="urn:schemas-microsoft-com:vml" Requires="v">
                <p:oleObj spid="_x0000_s29743" name="公式" r:id="rId1" imgW="114300" imgH="215900" progId="Equation.3">
                  <p:embed/>
                </p:oleObj>
              </mc:Choice>
              <mc:Fallback>
                <p:oleObj name="公式" r:id="rId1" imgW="114300" imgH="2159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3625" y="328295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699" name="Object 3"/>
          <p:cNvGraphicFramePr>
            <a:graphicFrameLocks noChangeAspect="1"/>
          </p:cNvGraphicFramePr>
          <p:nvPr/>
        </p:nvGraphicFramePr>
        <p:xfrm>
          <a:off x="4873625" y="3282950"/>
          <a:ext cx="112713" cy="214313"/>
        </p:xfrm>
        <a:graphic>
          <a:graphicData uri="http://schemas.openxmlformats.org/presentationml/2006/ole">
            <mc:AlternateContent xmlns:mc="http://schemas.openxmlformats.org/markup-compatibility/2006">
              <mc:Choice xmlns:v="urn:schemas-microsoft-com:vml" Requires="v">
                <p:oleObj spid="_x0000_s29744" name="公式" r:id="rId3" imgW="114300" imgH="215900" progId="Equation.3">
                  <p:embed/>
                </p:oleObj>
              </mc:Choice>
              <mc:Fallback>
                <p:oleObj name="公式" r:id="rId3" imgW="114300" imgH="215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3625" y="3282950"/>
                        <a:ext cx="112713" cy="214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8052" name="Rectangle 4"/>
          <p:cNvSpPr>
            <a:spLocks noChangeArrowheads="1"/>
          </p:cNvSpPr>
          <p:nvPr/>
        </p:nvSpPr>
        <p:spPr bwMode="auto">
          <a:xfrm>
            <a:off x="1323975" y="692150"/>
            <a:ext cx="741680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a:ea typeface="华文新魏" panose="02010800040101010101" pitchFamily="2" charset="-122"/>
              </a:rPr>
              <a:t>           在概率论中，习惯于把和的分布收敛于正态分布这一类定理都叫做</a:t>
            </a:r>
            <a:r>
              <a:rPr lang="zh-CN" altLang="en-US" sz="3200">
                <a:solidFill>
                  <a:schemeClr val="tx2"/>
                </a:solidFill>
                <a:ea typeface="华文新魏" panose="02010800040101010101" pitchFamily="2" charset="-122"/>
              </a:rPr>
              <a:t>中心极限定理</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258053" name="Rectangle 5"/>
          <p:cNvSpPr>
            <a:spLocks noChangeArrowheads="1"/>
          </p:cNvSpPr>
          <p:nvPr/>
        </p:nvSpPr>
        <p:spPr bwMode="auto">
          <a:xfrm>
            <a:off x="2355850" y="2857500"/>
            <a:ext cx="4756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我们只讨论几种简单情形</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258054" name="Text Box 6"/>
          <p:cNvSpPr txBox="1">
            <a:spLocks noChangeArrowheads="1"/>
          </p:cNvSpPr>
          <p:nvPr/>
        </p:nvSpPr>
        <p:spPr bwMode="auto">
          <a:xfrm>
            <a:off x="1273175" y="3946525"/>
            <a:ext cx="76200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ea typeface="华文新魏" panose="02010800040101010101" pitchFamily="2" charset="-122"/>
              </a:rPr>
              <a:t>        下面给出的独立同分布随机变量序列的中心极限定理，也称林德贝格－莱维（ </a:t>
            </a:r>
            <a:r>
              <a:rPr lang="en-US" altLang="zh-CN" sz="3200">
                <a:ea typeface="华文新魏" panose="02010800040101010101" pitchFamily="2" charset="-122"/>
              </a:rPr>
              <a:t>Lindberg </a:t>
            </a:r>
            <a:r>
              <a:rPr lang="zh-CN" altLang="en-US" sz="3200">
                <a:ea typeface="华文新魏" panose="02010800040101010101" pitchFamily="2" charset="-122"/>
              </a:rPr>
              <a:t>－</a:t>
            </a:r>
            <a:r>
              <a:rPr lang="en-US" altLang="zh-CN" sz="3200">
                <a:ea typeface="华文新魏" panose="02010800040101010101" pitchFamily="2" charset="-122"/>
              </a:rPr>
              <a:t>Levy</a:t>
            </a:r>
            <a:r>
              <a:rPr lang="zh-CN" altLang="en-US" sz="3200">
                <a:ea typeface="华文新魏" panose="02010800040101010101" pitchFamily="2" charset="-122"/>
              </a:rPr>
              <a:t>）定理</a:t>
            </a:r>
            <a:r>
              <a:rPr lang="en-US" altLang="zh-CN" sz="3200">
                <a:ea typeface="华文新魏" panose="02010800040101010101" pitchFamily="2" charset="-122"/>
              </a:rPr>
              <a:t>.</a:t>
            </a:r>
            <a:endParaRPr lang="en-US" altLang="zh-CN" sz="3200">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58052"/>
                                        </p:tgtEl>
                                        <p:attrNameLst>
                                          <p:attrName>style.visibility</p:attrName>
                                        </p:attrNameLst>
                                      </p:cBhvr>
                                      <p:to>
                                        <p:strVal val="visible"/>
                                      </p:to>
                                    </p:set>
                                    <p:animEffect transition="in" filter="barn(outVertical)">
                                      <p:cBhvr>
                                        <p:cTn id="7" dur="500"/>
                                        <p:tgtEl>
                                          <p:spTgt spid="25805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58053"/>
                                        </p:tgtEl>
                                        <p:attrNameLst>
                                          <p:attrName>style.visibility</p:attrName>
                                        </p:attrNameLst>
                                      </p:cBhvr>
                                      <p:to>
                                        <p:strVal val="visible"/>
                                      </p:to>
                                    </p:set>
                                    <p:anim calcmode="lin" valueType="num">
                                      <p:cBhvr additive="base">
                                        <p:cTn id="12" dur="500" fill="hold"/>
                                        <p:tgtEl>
                                          <p:spTgt spid="258053"/>
                                        </p:tgtEl>
                                        <p:attrNameLst>
                                          <p:attrName>ppt_x</p:attrName>
                                        </p:attrNameLst>
                                      </p:cBhvr>
                                      <p:tavLst>
                                        <p:tav tm="0">
                                          <p:val>
                                            <p:strVal val="#ppt_x"/>
                                          </p:val>
                                        </p:tav>
                                        <p:tav tm="100000">
                                          <p:val>
                                            <p:strVal val="#ppt_x"/>
                                          </p:val>
                                        </p:tav>
                                      </p:tavLst>
                                    </p:anim>
                                    <p:anim calcmode="lin" valueType="num">
                                      <p:cBhvr additive="base">
                                        <p:cTn id="13" dur="500" fill="hold"/>
                                        <p:tgtEl>
                                          <p:spTgt spid="25805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258054"/>
                                        </p:tgtEl>
                                        <p:attrNameLst>
                                          <p:attrName>style.visibility</p:attrName>
                                        </p:attrNameLst>
                                      </p:cBhvr>
                                      <p:to>
                                        <p:strVal val="visible"/>
                                      </p:to>
                                    </p:set>
                                    <p:animEffect transition="in" filter="barn(outVertical)">
                                      <p:cBhvr>
                                        <p:cTn id="18" dur="500"/>
                                        <p:tgtEl>
                                          <p:spTgt spid="258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2" grpId="0" autoUpdateAnimBg="0"/>
      <p:bldP spid="258053" grpId="0" autoUpdateAnimBg="0"/>
      <p:bldP spid="258054"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9074" name="Object 2"/>
          <p:cNvGraphicFramePr>
            <a:graphicFrameLocks noChangeAspect="1"/>
          </p:cNvGraphicFramePr>
          <p:nvPr/>
        </p:nvGraphicFramePr>
        <p:xfrm>
          <a:off x="1603375" y="2819400"/>
          <a:ext cx="3606800" cy="1652588"/>
        </p:xfrm>
        <a:graphic>
          <a:graphicData uri="http://schemas.openxmlformats.org/presentationml/2006/ole">
            <mc:AlternateContent xmlns:mc="http://schemas.openxmlformats.org/markup-compatibility/2006">
              <mc:Choice xmlns:v="urn:schemas-microsoft-com:vml" Requires="v">
                <p:oleObj spid="_x0000_s30852" name="公式" r:id="rId1" imgW="1409700" imgH="606425" progId="Equation.3">
                  <p:embed/>
                </p:oleObj>
              </mc:Choice>
              <mc:Fallback>
                <p:oleObj name="公式" r:id="rId1" imgW="1409700" imgH="60642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3375" y="2819400"/>
                        <a:ext cx="3606800" cy="1652588"/>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9075" name="Rectangle 3"/>
          <p:cNvSpPr>
            <a:spLocks noChangeArrowheads="1"/>
          </p:cNvSpPr>
          <p:nvPr/>
        </p:nvSpPr>
        <p:spPr bwMode="auto">
          <a:xfrm>
            <a:off x="1235075" y="381000"/>
            <a:ext cx="70929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定理（</a:t>
            </a:r>
            <a:r>
              <a:rPr lang="zh-CN" altLang="en-US" sz="3200">
                <a:solidFill>
                  <a:schemeClr val="tx2"/>
                </a:solidFill>
                <a:ea typeface="华文新魏" panose="02010800040101010101" pitchFamily="2" charset="-122"/>
              </a:rPr>
              <a:t>独立同分布下的中心极限定理</a:t>
            </a:r>
            <a:r>
              <a:rPr lang="zh-CN" altLang="en-US" sz="3200">
                <a:ea typeface="华文新魏" panose="02010800040101010101" pitchFamily="2" charset="-122"/>
              </a:rPr>
              <a:t>）</a:t>
            </a:r>
            <a:endParaRPr lang="zh-CN" altLang="en-US" sz="3200">
              <a:ea typeface="华文新魏" panose="02010800040101010101" pitchFamily="2" charset="-122"/>
            </a:endParaRPr>
          </a:p>
        </p:txBody>
      </p:sp>
      <p:graphicFrame>
        <p:nvGraphicFramePr>
          <p:cNvPr id="259076" name="Object 3"/>
          <p:cNvGraphicFramePr>
            <a:graphicFrameLocks noChangeAspect="1"/>
          </p:cNvGraphicFramePr>
          <p:nvPr/>
        </p:nvGraphicFramePr>
        <p:xfrm>
          <a:off x="5060950" y="3357563"/>
          <a:ext cx="2844800" cy="1168400"/>
        </p:xfrm>
        <a:graphic>
          <a:graphicData uri="http://schemas.openxmlformats.org/presentationml/2006/ole">
            <mc:AlternateContent xmlns:mc="http://schemas.openxmlformats.org/markup-compatibility/2006">
              <mc:Choice xmlns:v="urn:schemas-microsoft-com:vml" Requires="v">
                <p:oleObj spid="_x0000_s30853" name="Equation" r:id="rId3" imgW="1028700" imgH="384810" progId="Equation.DSMT4">
                  <p:embed/>
                </p:oleObj>
              </mc:Choice>
              <mc:Fallback>
                <p:oleObj name="Equation" r:id="rId3" imgW="1028700" imgH="38481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0950" y="3357563"/>
                        <a:ext cx="2844800" cy="11684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9077" name="Rectangle 5"/>
          <p:cNvSpPr>
            <a:spLocks noChangeArrowheads="1"/>
          </p:cNvSpPr>
          <p:nvPr/>
        </p:nvSpPr>
        <p:spPr bwMode="auto">
          <a:xfrm>
            <a:off x="650875" y="4729163"/>
            <a:ext cx="8458200" cy="116363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r>
              <a:rPr lang="zh-CN" altLang="en-US" sz="3200">
                <a:ea typeface="华文新魏" panose="02010800040101010101" pitchFamily="2" charset="-122"/>
              </a:rPr>
              <a:t>  它表明，当</a:t>
            </a:r>
            <a:r>
              <a:rPr lang="en-US" altLang="zh-CN" sz="3200" i="1">
                <a:ea typeface="华文新魏" panose="02010800040101010101" pitchFamily="2" charset="-122"/>
              </a:rPr>
              <a:t>n</a:t>
            </a:r>
            <a:r>
              <a:rPr lang="zh-CN" altLang="en-US" sz="3200">
                <a:ea typeface="华文新魏" panose="02010800040101010101" pitchFamily="2" charset="-122"/>
              </a:rPr>
              <a:t>充分大时，</a:t>
            </a:r>
            <a:r>
              <a:rPr lang="en-US" altLang="zh-CN" sz="3200" i="1">
                <a:ea typeface="华文新魏" panose="02010800040101010101" pitchFamily="2" charset="-122"/>
              </a:rPr>
              <a:t>n</a:t>
            </a:r>
            <a:r>
              <a:rPr lang="zh-CN" altLang="en-US" sz="3200">
                <a:ea typeface="华文新魏" panose="02010800040101010101" pitchFamily="2" charset="-122"/>
              </a:rPr>
              <a:t>个具有期望和方差</a:t>
            </a:r>
            <a:endParaRPr lang="zh-CN" altLang="en-US" sz="3200">
              <a:ea typeface="华文新魏" panose="02010800040101010101" pitchFamily="2" charset="-122"/>
            </a:endParaRPr>
          </a:p>
          <a:p>
            <a:pPr algn="ctr" eaLnBrk="1" hangingPunct="1"/>
            <a:r>
              <a:rPr lang="zh-CN" altLang="en-US" sz="3200">
                <a:ea typeface="华文新魏" panose="02010800040101010101" pitchFamily="2" charset="-122"/>
              </a:rPr>
              <a:t>的独立同分布的</a:t>
            </a:r>
            <a:r>
              <a:rPr lang="en-US" altLang="zh-CN" sz="3200" i="1">
                <a:ea typeface="华文新魏" panose="02010800040101010101" pitchFamily="2" charset="-122"/>
              </a:rPr>
              <a:t>r.v</a:t>
            </a:r>
            <a:r>
              <a:rPr lang="zh-CN" altLang="en-US" sz="3200">
                <a:ea typeface="华文新魏" panose="02010800040101010101" pitchFamily="2" charset="-122"/>
              </a:rPr>
              <a:t>之和近似服从正态分布</a:t>
            </a:r>
            <a:r>
              <a:rPr lang="en-US" altLang="zh-CN" sz="3200">
                <a:ea typeface="华文新魏" panose="02010800040101010101" pitchFamily="2" charset="-122"/>
              </a:rPr>
              <a:t>.</a:t>
            </a:r>
            <a:endParaRPr lang="en-US" altLang="zh-CN" sz="3200">
              <a:ea typeface="华文新魏" panose="02010800040101010101" pitchFamily="2" charset="-122"/>
            </a:endParaRPr>
          </a:p>
        </p:txBody>
      </p:sp>
      <p:grpSp>
        <p:nvGrpSpPr>
          <p:cNvPr id="2" name="Group 6"/>
          <p:cNvGrpSpPr/>
          <p:nvPr/>
        </p:nvGrpSpPr>
        <p:grpSpPr bwMode="auto">
          <a:xfrm>
            <a:off x="1184275" y="1066800"/>
            <a:ext cx="7772400" cy="1752600"/>
            <a:chOff x="528" y="763"/>
            <a:chExt cx="4896" cy="1104"/>
          </a:xfrm>
        </p:grpSpPr>
        <p:graphicFrame>
          <p:nvGraphicFramePr>
            <p:cNvPr id="30727" name="Object 4"/>
            <p:cNvGraphicFramePr>
              <a:graphicFrameLocks noChangeAspect="1"/>
            </p:cNvGraphicFramePr>
            <p:nvPr/>
          </p:nvGraphicFramePr>
          <p:xfrm>
            <a:off x="2940" y="1420"/>
            <a:ext cx="71" cy="135"/>
          </p:xfrm>
          <a:graphic>
            <a:graphicData uri="http://schemas.openxmlformats.org/presentationml/2006/ole">
              <mc:AlternateContent xmlns:mc="http://schemas.openxmlformats.org/markup-compatibility/2006">
                <mc:Choice xmlns:v="urn:schemas-microsoft-com:vml" Requires="v">
                  <p:oleObj spid="_x0000_s30854" name="公式" r:id="rId5" imgW="114300" imgH="215900" progId="Equation.3">
                    <p:embed/>
                  </p:oleObj>
                </mc:Choice>
                <mc:Fallback>
                  <p:oleObj name="公式" r:id="rId5" imgW="114300" imgH="2159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0" y="1420"/>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8" name="Object 5"/>
            <p:cNvGraphicFramePr>
              <a:graphicFrameLocks noChangeAspect="1"/>
            </p:cNvGraphicFramePr>
            <p:nvPr/>
          </p:nvGraphicFramePr>
          <p:xfrm>
            <a:off x="2940" y="1420"/>
            <a:ext cx="71" cy="135"/>
          </p:xfrm>
          <a:graphic>
            <a:graphicData uri="http://schemas.openxmlformats.org/presentationml/2006/ole">
              <mc:AlternateContent xmlns:mc="http://schemas.openxmlformats.org/markup-compatibility/2006">
                <mc:Choice xmlns:v="urn:schemas-microsoft-com:vml" Requires="v">
                  <p:oleObj spid="_x0000_s30855" name="公式" r:id="rId7" imgW="114300" imgH="215900" progId="Equation.3">
                    <p:embed/>
                  </p:oleObj>
                </mc:Choice>
                <mc:Fallback>
                  <p:oleObj name="公式" r:id="rId7" imgW="114300" imgH="2159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0" y="1420"/>
                          <a:ext cx="7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29" name="Rectangle 9"/>
            <p:cNvSpPr>
              <a:spLocks noChangeArrowheads="1"/>
            </p:cNvSpPr>
            <p:nvPr/>
          </p:nvSpPr>
          <p:spPr bwMode="auto">
            <a:xfrm>
              <a:off x="528" y="763"/>
              <a:ext cx="4896" cy="1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pPr>
              <a:r>
                <a:rPr lang="zh-CN" altLang="en-US" sz="3200">
                  <a:ea typeface="华文新魏" panose="02010800040101010101" pitchFamily="2" charset="-122"/>
                </a:rPr>
                <a:t>设</a:t>
              </a:r>
              <a:r>
                <a:rPr lang="en-US" altLang="zh-CN" sz="3200" i="1">
                  <a:ea typeface="华文新魏" panose="02010800040101010101" pitchFamily="2" charset="-122"/>
                </a:rPr>
                <a:t>X</a:t>
              </a:r>
              <a:r>
                <a:rPr lang="en-US" altLang="zh-CN" sz="3200" baseline="-25000">
                  <a:ea typeface="华文新魏" panose="02010800040101010101" pitchFamily="2" charset="-122"/>
                </a:rPr>
                <a:t>1</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baseline="-25000">
                  <a:ea typeface="华文新魏" panose="02010800040101010101" pitchFamily="2" charset="-122"/>
                </a:rPr>
                <a:t>2</a:t>
              </a:r>
              <a:r>
                <a:rPr lang="en-US" altLang="zh-CN" sz="3200">
                  <a:ea typeface="华文新魏" panose="02010800040101010101" pitchFamily="2" charset="-122"/>
                </a:rPr>
                <a:t>, …</a:t>
              </a:r>
              <a:r>
                <a:rPr lang="zh-CN" altLang="en-US" sz="3200">
                  <a:ea typeface="华文新魏" panose="02010800040101010101" pitchFamily="2" charset="-122"/>
                </a:rPr>
                <a:t>是独立同分布的随机</a:t>
              </a:r>
              <a:endParaRPr lang="zh-CN" altLang="en-US" sz="3200">
                <a:ea typeface="华文新魏" panose="02010800040101010101" pitchFamily="2" charset="-122"/>
              </a:endParaRPr>
            </a:p>
            <a:p>
              <a:pPr eaLnBrk="1" hangingPunct="1">
                <a:lnSpc>
                  <a:spcPct val="80000"/>
                </a:lnSpc>
                <a:spcBef>
                  <a:spcPct val="50000"/>
                </a:spcBef>
              </a:pPr>
              <a:r>
                <a:rPr lang="zh-CN" altLang="en-US" sz="3200">
                  <a:ea typeface="华文新魏" panose="02010800040101010101" pitchFamily="2" charset="-122"/>
                </a:rPr>
                <a:t>变量序列，且</a:t>
              </a:r>
              <a:r>
                <a:rPr lang="en-US" altLang="zh-CN" sz="3200" i="1">
                  <a:ea typeface="华文新魏" panose="02010800040101010101" pitchFamily="2" charset="-122"/>
                </a:rPr>
                <a:t>E</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i="1" baseline="-25000">
                  <a:ea typeface="华文新魏" panose="02010800040101010101" pitchFamily="2" charset="-122"/>
                </a:rPr>
                <a:t>i</a:t>
              </a:r>
              <a:r>
                <a:rPr lang="en-US" altLang="zh-CN" sz="3200">
                  <a:ea typeface="华文新魏" panose="02010800040101010101" pitchFamily="2" charset="-122"/>
                </a:rPr>
                <a:t>)=    </a:t>
              </a:r>
              <a:r>
                <a:rPr lang="zh-CN" altLang="en-US" sz="3200">
                  <a:ea typeface="华文新魏" panose="02010800040101010101" pitchFamily="2" charset="-122"/>
                </a:rPr>
                <a:t>，</a:t>
              </a:r>
              <a:r>
                <a:rPr lang="en-US" altLang="zh-CN" sz="3200" i="1">
                  <a:ea typeface="华文新魏" panose="02010800040101010101" pitchFamily="2" charset="-122"/>
                </a:rPr>
                <a:t>D</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baseline="-25000">
                  <a:ea typeface="华文新魏" panose="02010800040101010101" pitchFamily="2" charset="-122"/>
                </a:rPr>
                <a:t>i</a:t>
              </a:r>
              <a:r>
                <a:rPr lang="en-US" altLang="zh-CN" sz="3200">
                  <a:ea typeface="华文新魏" panose="02010800040101010101" pitchFamily="2" charset="-122"/>
                </a:rPr>
                <a:t>)=       </a:t>
              </a:r>
              <a:r>
                <a:rPr lang="zh-CN" altLang="en-US" sz="3200">
                  <a:ea typeface="华文新魏" panose="02010800040101010101" pitchFamily="2" charset="-122"/>
                </a:rPr>
                <a:t>，</a:t>
              </a:r>
              <a:endParaRPr lang="zh-CN" altLang="en-US" sz="3200">
                <a:ea typeface="华文新魏" panose="02010800040101010101" pitchFamily="2" charset="-122"/>
              </a:endParaRPr>
            </a:p>
            <a:p>
              <a:pPr eaLnBrk="1" hangingPunct="1">
                <a:lnSpc>
                  <a:spcPct val="80000"/>
                </a:lnSpc>
                <a:spcBef>
                  <a:spcPct val="50000"/>
                </a:spcBef>
              </a:pPr>
              <a:r>
                <a:rPr lang="en-US" altLang="zh-CN" sz="3200" i="1">
                  <a:ea typeface="华文新魏" panose="02010800040101010101" pitchFamily="2" charset="-122"/>
                </a:rPr>
                <a:t>i</a:t>
              </a:r>
              <a:r>
                <a:rPr lang="en-US" altLang="zh-CN" sz="3200">
                  <a:ea typeface="华文新魏" panose="02010800040101010101" pitchFamily="2" charset="-122"/>
                </a:rPr>
                <a:t>=1,2,…</a:t>
              </a:r>
              <a:r>
                <a:rPr lang="zh-CN" altLang="en-US" sz="3200">
                  <a:ea typeface="华文新魏" panose="02010800040101010101" pitchFamily="2" charset="-122"/>
                </a:rPr>
                <a:t>，则</a:t>
              </a:r>
              <a:endParaRPr lang="zh-CN" altLang="en-US" sz="3200">
                <a:ea typeface="华文新魏" panose="02010800040101010101" pitchFamily="2" charset="-122"/>
              </a:endParaRPr>
            </a:p>
          </p:txBody>
        </p:sp>
        <p:graphicFrame>
          <p:nvGraphicFramePr>
            <p:cNvPr id="30730" name="Object 6"/>
            <p:cNvGraphicFramePr>
              <a:graphicFrameLocks noChangeAspect="1"/>
            </p:cNvGraphicFramePr>
            <p:nvPr/>
          </p:nvGraphicFramePr>
          <p:xfrm>
            <a:off x="4076" y="1115"/>
            <a:ext cx="357" cy="373"/>
          </p:xfrm>
          <a:graphic>
            <a:graphicData uri="http://schemas.openxmlformats.org/presentationml/2006/ole">
              <mc:AlternateContent xmlns:mc="http://schemas.openxmlformats.org/markup-compatibility/2006">
                <mc:Choice xmlns:v="urn:schemas-microsoft-com:vml" Requires="v">
                  <p:oleObj spid="_x0000_s30856" name="公式" r:id="rId8" imgW="161925" imgH="163830" progId="Equation.3">
                    <p:embed/>
                  </p:oleObj>
                </mc:Choice>
                <mc:Fallback>
                  <p:oleObj name="公式" r:id="rId8" imgW="161925" imgH="16383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76" y="1115"/>
                          <a:ext cx="357" cy="37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31" name="Object 7"/>
            <p:cNvGraphicFramePr>
              <a:graphicFrameLocks noChangeAspect="1"/>
            </p:cNvGraphicFramePr>
            <p:nvPr/>
          </p:nvGraphicFramePr>
          <p:xfrm>
            <a:off x="2784" y="1200"/>
            <a:ext cx="267" cy="303"/>
          </p:xfrm>
          <a:graphic>
            <a:graphicData uri="http://schemas.openxmlformats.org/presentationml/2006/ole">
              <mc:AlternateContent xmlns:mc="http://schemas.openxmlformats.org/markup-compatibility/2006">
                <mc:Choice xmlns:v="urn:schemas-microsoft-com:vml" Requires="v">
                  <p:oleObj spid="_x0000_s30857" name="公式" r:id="rId10" imgW="114300" imgH="125095" progId="Equation.3">
                    <p:embed/>
                  </p:oleObj>
                </mc:Choice>
                <mc:Fallback>
                  <p:oleObj name="公式" r:id="rId10" imgW="114300" imgH="125095"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84" y="1200"/>
                          <a:ext cx="267" cy="30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59075"/>
                                        </p:tgtEl>
                                        <p:attrNameLst>
                                          <p:attrName>style.visibility</p:attrName>
                                        </p:attrNameLst>
                                      </p:cBhvr>
                                      <p:to>
                                        <p:strVal val="visible"/>
                                      </p:to>
                                    </p:set>
                                    <p:animEffect transition="in" filter="barn(outVertical)">
                                      <p:cBhvr>
                                        <p:cTn id="7" dur="500"/>
                                        <p:tgtEl>
                                          <p:spTgt spid="25907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9074"/>
                                        </p:tgtEl>
                                        <p:attrNameLst>
                                          <p:attrName>style.visibility</p:attrName>
                                        </p:attrNameLst>
                                      </p:cBhvr>
                                      <p:to>
                                        <p:strVal val="visible"/>
                                      </p:to>
                                    </p:set>
                                    <p:animEffect transition="in" filter="wipe(left)">
                                      <p:cBhvr>
                                        <p:cTn id="17" dur="500"/>
                                        <p:tgtEl>
                                          <p:spTgt spid="25907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259076"/>
                                        </p:tgtEl>
                                        <p:attrNameLst>
                                          <p:attrName>style.visibility</p:attrName>
                                        </p:attrNameLst>
                                      </p:cBhvr>
                                      <p:to>
                                        <p:strVal val="visible"/>
                                      </p:to>
                                    </p:set>
                                    <p:anim calcmode="lin" valueType="num">
                                      <p:cBhvr additive="base">
                                        <p:cTn id="22" dur="500" fill="hold"/>
                                        <p:tgtEl>
                                          <p:spTgt spid="259076"/>
                                        </p:tgtEl>
                                        <p:attrNameLst>
                                          <p:attrName>ppt_x</p:attrName>
                                        </p:attrNameLst>
                                      </p:cBhvr>
                                      <p:tavLst>
                                        <p:tav tm="0">
                                          <p:val>
                                            <p:strVal val="1+#ppt_w/2"/>
                                          </p:val>
                                        </p:tav>
                                        <p:tav tm="100000">
                                          <p:val>
                                            <p:strVal val="#ppt_x"/>
                                          </p:val>
                                        </p:tav>
                                      </p:tavLst>
                                    </p:anim>
                                    <p:anim calcmode="lin" valueType="num">
                                      <p:cBhvr additive="base">
                                        <p:cTn id="23" dur="500" fill="hold"/>
                                        <p:tgtEl>
                                          <p:spTgt spid="259076"/>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37" fill="hold" grpId="0" nodeType="clickEffect">
                                  <p:stCondLst>
                                    <p:cond delay="0"/>
                                  </p:stCondLst>
                                  <p:childTnLst>
                                    <p:set>
                                      <p:cBhvr>
                                        <p:cTn id="27" dur="1" fill="hold">
                                          <p:stCondLst>
                                            <p:cond delay="0"/>
                                          </p:stCondLst>
                                        </p:cTn>
                                        <p:tgtEl>
                                          <p:spTgt spid="259077"/>
                                        </p:tgtEl>
                                        <p:attrNameLst>
                                          <p:attrName>style.visibility</p:attrName>
                                        </p:attrNameLst>
                                      </p:cBhvr>
                                      <p:to>
                                        <p:strVal val="visible"/>
                                      </p:to>
                                    </p:set>
                                    <p:animEffect transition="in" filter="barn(outVertical)">
                                      <p:cBhvr>
                                        <p:cTn id="28" dur="500"/>
                                        <p:tgtEl>
                                          <p:spTgt spid="259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5" grpId="0" autoUpdateAnimBg="0"/>
      <p:bldP spid="259077" grpId="0" bldLvl="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746" name="Object 2"/>
          <p:cNvGraphicFramePr>
            <a:graphicFrameLocks noChangeAspect="1"/>
          </p:cNvGraphicFramePr>
          <p:nvPr/>
        </p:nvGraphicFramePr>
        <p:xfrm>
          <a:off x="4948238" y="3500438"/>
          <a:ext cx="112712" cy="214312"/>
        </p:xfrm>
        <a:graphic>
          <a:graphicData uri="http://schemas.openxmlformats.org/presentationml/2006/ole">
            <mc:AlternateContent xmlns:mc="http://schemas.openxmlformats.org/markup-compatibility/2006">
              <mc:Choice xmlns:v="urn:schemas-microsoft-com:vml" Requires="v">
                <p:oleObj spid="_x0000_s31790" name="公式" r:id="rId1" imgW="114300" imgH="215900" progId="Equation.3">
                  <p:embed/>
                </p:oleObj>
              </mc:Choice>
              <mc:Fallback>
                <p:oleObj name="公式" r:id="rId1" imgW="114300" imgH="2159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8238" y="3500438"/>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47" name="Object 3"/>
          <p:cNvGraphicFramePr>
            <a:graphicFrameLocks noChangeAspect="1"/>
          </p:cNvGraphicFramePr>
          <p:nvPr/>
        </p:nvGraphicFramePr>
        <p:xfrm>
          <a:off x="4948238" y="3500438"/>
          <a:ext cx="112712" cy="214312"/>
        </p:xfrm>
        <a:graphic>
          <a:graphicData uri="http://schemas.openxmlformats.org/presentationml/2006/ole">
            <mc:AlternateContent xmlns:mc="http://schemas.openxmlformats.org/markup-compatibility/2006">
              <mc:Choice xmlns:v="urn:schemas-microsoft-com:vml" Requires="v">
                <p:oleObj spid="_x0000_s31791" name="公式" r:id="rId3" imgW="114300" imgH="215900" progId="Equation.3">
                  <p:embed/>
                </p:oleObj>
              </mc:Choice>
              <mc:Fallback>
                <p:oleObj name="公式" r:id="rId3" imgW="114300" imgH="215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8238" y="3500438"/>
                        <a:ext cx="112712" cy="214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0100" name="Rectangle 4"/>
          <p:cNvSpPr>
            <a:spLocks noChangeArrowheads="1"/>
          </p:cNvSpPr>
          <p:nvPr/>
        </p:nvSpPr>
        <p:spPr bwMode="auto">
          <a:xfrm>
            <a:off x="1119188" y="407988"/>
            <a:ext cx="7796212"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a:ea typeface="华文新魏" panose="02010800040101010101" pitchFamily="2" charset="-122"/>
              </a:rPr>
              <a:t>        虽然在一般情况下，我们很难求出</a:t>
            </a:r>
            <a:r>
              <a:rPr lang="en-US" altLang="zh-CN" sz="3200" i="1">
                <a:ea typeface="华文新魏" panose="02010800040101010101" pitchFamily="2" charset="-122"/>
              </a:rPr>
              <a:t>X</a:t>
            </a:r>
            <a:r>
              <a:rPr lang="en-US" altLang="zh-CN" sz="3200" baseline="-25000">
                <a:ea typeface="华文新魏" panose="02010800040101010101" pitchFamily="2" charset="-122"/>
              </a:rPr>
              <a:t>1</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baseline="-25000">
                <a:ea typeface="华文新魏" panose="02010800040101010101" pitchFamily="2" charset="-122"/>
              </a:rPr>
              <a:t>2</a:t>
            </a:r>
            <a:r>
              <a:rPr lang="en-US" altLang="zh-CN" sz="3200">
                <a:ea typeface="华文新魏" panose="02010800040101010101" pitchFamily="2" charset="-122"/>
              </a:rPr>
              <a:t>+ …+</a:t>
            </a:r>
            <a:r>
              <a:rPr lang="en-US" altLang="zh-CN" sz="3200" i="1">
                <a:ea typeface="华文新魏" panose="02010800040101010101" pitchFamily="2" charset="-122"/>
              </a:rPr>
              <a:t>X</a:t>
            </a:r>
            <a:r>
              <a:rPr lang="en-US" altLang="zh-CN" sz="3200" i="1" baseline="-25000">
                <a:ea typeface="华文新魏" panose="02010800040101010101" pitchFamily="2" charset="-122"/>
              </a:rPr>
              <a:t>n</a:t>
            </a:r>
            <a:r>
              <a:rPr lang="en-US" altLang="zh-CN" sz="3200">
                <a:ea typeface="华文新魏" panose="02010800040101010101" pitchFamily="2" charset="-122"/>
              </a:rPr>
              <a:t> </a:t>
            </a:r>
            <a:r>
              <a:rPr lang="zh-CN" altLang="en-US" sz="3200">
                <a:ea typeface="华文新魏" panose="02010800040101010101" pitchFamily="2" charset="-122"/>
              </a:rPr>
              <a:t>的分布的确切形式，但当</a:t>
            </a:r>
            <a:r>
              <a:rPr lang="en-US" altLang="zh-CN" sz="3200" i="1">
                <a:ea typeface="华文新魏" panose="02010800040101010101" pitchFamily="2" charset="-122"/>
              </a:rPr>
              <a:t>n</a:t>
            </a:r>
            <a:r>
              <a:rPr lang="zh-CN" altLang="en-US" sz="3200">
                <a:ea typeface="华文新魏" panose="02010800040101010101" pitchFamily="2" charset="-122"/>
              </a:rPr>
              <a:t>很大时，可以求出近似分布</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260101" name="Rectangle 5"/>
          <p:cNvSpPr>
            <a:spLocks noChangeArrowheads="1"/>
          </p:cNvSpPr>
          <p:nvPr/>
        </p:nvSpPr>
        <p:spPr bwMode="auto">
          <a:xfrm>
            <a:off x="1042988" y="2813050"/>
            <a:ext cx="8066087"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a:ea typeface="华文新魏" panose="02010800040101010101" pitchFamily="2" charset="-122"/>
              </a:rPr>
              <a:t>      棣莫弗－拉普拉斯定理（二项分布的正态近似）是上述定理的特殊情况</a:t>
            </a:r>
            <a:r>
              <a:rPr lang="en-US" altLang="zh-CN" sz="3200">
                <a:ea typeface="华文新魏" panose="02010800040101010101" pitchFamily="2" charset="-122"/>
              </a:rPr>
              <a:t>.</a:t>
            </a:r>
            <a:endParaRPr lang="en-US" altLang="zh-CN" sz="3200">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60100"/>
                                        </p:tgtEl>
                                        <p:attrNameLst>
                                          <p:attrName>style.visibility</p:attrName>
                                        </p:attrNameLst>
                                      </p:cBhvr>
                                      <p:to>
                                        <p:strVal val="visible"/>
                                      </p:to>
                                    </p:set>
                                    <p:animEffect transition="in" filter="barn(outVertical)">
                                      <p:cBhvr>
                                        <p:cTn id="7" dur="500"/>
                                        <p:tgtEl>
                                          <p:spTgt spid="26010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60101"/>
                                        </p:tgtEl>
                                        <p:attrNameLst>
                                          <p:attrName>style.visibility</p:attrName>
                                        </p:attrNameLst>
                                      </p:cBhvr>
                                      <p:to>
                                        <p:strVal val="visible"/>
                                      </p:to>
                                    </p:set>
                                    <p:anim calcmode="lin" valueType="num">
                                      <p:cBhvr additive="base">
                                        <p:cTn id="12" dur="500" fill="hold"/>
                                        <p:tgtEl>
                                          <p:spTgt spid="260101"/>
                                        </p:tgtEl>
                                        <p:attrNameLst>
                                          <p:attrName>ppt_x</p:attrName>
                                        </p:attrNameLst>
                                      </p:cBhvr>
                                      <p:tavLst>
                                        <p:tav tm="0">
                                          <p:val>
                                            <p:strVal val="#ppt_x"/>
                                          </p:val>
                                        </p:tav>
                                        <p:tav tm="100000">
                                          <p:val>
                                            <p:strVal val="#ppt_x"/>
                                          </p:val>
                                        </p:tav>
                                      </p:tavLst>
                                    </p:anim>
                                    <p:anim calcmode="lin" valueType="num">
                                      <p:cBhvr additive="base">
                                        <p:cTn id="13" dur="500" fill="hold"/>
                                        <p:tgtEl>
                                          <p:spTgt spid="2601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0" grpId="0" autoUpdateAnimBg="0"/>
      <p:bldP spid="260101"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ChangeArrowheads="1"/>
          </p:cNvSpPr>
          <p:nvPr>
            <p:ph type="title" idx="4294967295"/>
          </p:nvPr>
        </p:nvSpPr>
        <p:spPr>
          <a:xfrm>
            <a:off x="250825" y="-26988"/>
            <a:ext cx="7772400" cy="1206501"/>
          </a:xfrm>
        </p:spPr>
        <p:txBody>
          <a:bodyPr/>
          <a:lstStyle/>
          <a:p>
            <a:r>
              <a:rPr lang="zh-CN" altLang="en-US" sz="3200">
                <a:ea typeface="华文新魏" panose="02010800040101010101" pitchFamily="2" charset="-122"/>
              </a:rPr>
              <a:t>　棣莫弗－拉普拉斯极限定理</a:t>
            </a:r>
            <a:br>
              <a:rPr lang="zh-CN" altLang="en-US" sz="3200">
                <a:ea typeface="华文新魏" panose="02010800040101010101" pitchFamily="2" charset="-122"/>
              </a:rPr>
            </a:br>
            <a:r>
              <a:rPr lang="zh-CN" altLang="en-US" sz="3200">
                <a:ea typeface="华文新魏" panose="02010800040101010101" pitchFamily="2" charset="-122"/>
              </a:rPr>
              <a:t>（二项分布的正态近似）</a:t>
            </a:r>
            <a:endParaRPr lang="zh-CN" altLang="en-US" sz="3200">
              <a:ea typeface="华文新魏" panose="02010800040101010101" pitchFamily="2" charset="-122"/>
            </a:endParaRPr>
          </a:p>
        </p:txBody>
      </p:sp>
      <p:sp>
        <p:nvSpPr>
          <p:cNvPr id="261123" name="Text Box 3"/>
          <p:cNvSpPr txBox="1">
            <a:spLocks noChangeArrowheads="1"/>
          </p:cNvSpPr>
          <p:nvPr/>
        </p:nvSpPr>
        <p:spPr bwMode="auto">
          <a:xfrm>
            <a:off x="1187450" y="1196975"/>
            <a:ext cx="77771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 hangingPunct="1">
              <a:spcBef>
                <a:spcPct val="50000"/>
              </a:spcBef>
            </a:pPr>
            <a:r>
              <a:rPr lang="zh-CN" altLang="en-US" sz="3200">
                <a:ea typeface="华文新魏" panose="02010800040101010101" pitchFamily="2" charset="-122"/>
              </a:rPr>
              <a:t>定理：设</a:t>
            </a:r>
            <a:r>
              <a:rPr lang="el-GR" altLang="zh-CN" sz="3200">
                <a:solidFill>
                  <a:srgbClr val="000000"/>
                </a:solidFill>
                <a:ea typeface="华文新魏" panose="02010800040101010101" pitchFamily="2" charset="-122"/>
                <a:cs typeface="Arial Unicode MS" pitchFamily="34" charset="-122"/>
              </a:rPr>
              <a:t>μ</a:t>
            </a:r>
            <a:r>
              <a:rPr lang="en-US" altLang="zh-CN" sz="2800">
                <a:solidFill>
                  <a:srgbClr val="000000"/>
                </a:solidFill>
                <a:ea typeface="华文新魏" panose="02010800040101010101" pitchFamily="2" charset="-122"/>
              </a:rPr>
              <a:t>n</a:t>
            </a:r>
            <a:r>
              <a:rPr lang="zh-CN" altLang="en-US" sz="3200">
                <a:ea typeface="华文新魏" panose="02010800040101010101" pitchFamily="2" charset="-122"/>
              </a:rPr>
              <a:t>是 </a:t>
            </a:r>
            <a:r>
              <a:rPr lang="en-US" altLang="zh-CN" sz="3200">
                <a:ea typeface="华文新魏" panose="02010800040101010101" pitchFamily="2" charset="-122"/>
              </a:rPr>
              <a:t>n </a:t>
            </a:r>
            <a:r>
              <a:rPr lang="zh-CN" altLang="en-US" sz="3200">
                <a:ea typeface="华文新魏" panose="02010800040101010101" pitchFamily="2" charset="-122"/>
              </a:rPr>
              <a:t>次伯努利试验中事件</a:t>
            </a:r>
            <a:r>
              <a:rPr lang="en-US" altLang="zh-CN" sz="3200">
                <a:ea typeface="华文新魏" panose="02010800040101010101" pitchFamily="2" charset="-122"/>
              </a:rPr>
              <a:t>A</a:t>
            </a:r>
            <a:r>
              <a:rPr lang="zh-CN" altLang="en-US" sz="3200">
                <a:ea typeface="华文新魏" panose="02010800040101010101" pitchFamily="2" charset="-122"/>
              </a:rPr>
              <a:t>出现的次数</a:t>
            </a:r>
            <a:r>
              <a:rPr lang="en-US" altLang="zh-CN" sz="3200">
                <a:ea typeface="华文新魏" panose="02010800040101010101" pitchFamily="2" charset="-122"/>
              </a:rPr>
              <a:t>,0&lt;p&lt;1,</a:t>
            </a:r>
            <a:r>
              <a:rPr lang="zh-CN" altLang="en-US" sz="3200">
                <a:ea typeface="华文新魏" panose="02010800040101010101" pitchFamily="2" charset="-122"/>
              </a:rPr>
              <a:t>则对任意实数 </a:t>
            </a:r>
            <a:r>
              <a:rPr lang="en-US" altLang="zh-CN" sz="3200" i="1">
                <a:ea typeface="华文新魏" panose="02010800040101010101" pitchFamily="2" charset="-122"/>
              </a:rPr>
              <a:t>x</a:t>
            </a:r>
            <a:r>
              <a:rPr lang="zh-CN" altLang="en-US" sz="3200">
                <a:ea typeface="华文新魏" panose="02010800040101010101" pitchFamily="2" charset="-122"/>
              </a:rPr>
              <a:t>：</a:t>
            </a:r>
            <a:endParaRPr lang="zh-CN" altLang="el-GR" sz="3200">
              <a:ea typeface="华文新魏" panose="02010800040101010101" pitchFamily="2" charset="-122"/>
            </a:endParaRPr>
          </a:p>
        </p:txBody>
      </p:sp>
      <p:graphicFrame>
        <p:nvGraphicFramePr>
          <p:cNvPr id="261127" name="Object 4"/>
          <p:cNvGraphicFramePr>
            <a:graphicFrameLocks noChangeAspect="1"/>
          </p:cNvGraphicFramePr>
          <p:nvPr/>
        </p:nvGraphicFramePr>
        <p:xfrm>
          <a:off x="1450975" y="2625725"/>
          <a:ext cx="3416300" cy="519113"/>
        </p:xfrm>
        <a:graphic>
          <a:graphicData uri="http://schemas.openxmlformats.org/presentationml/2006/ole">
            <mc:AlternateContent xmlns:mc="http://schemas.openxmlformats.org/markup-compatibility/2006">
              <mc:Choice xmlns:v="urn:schemas-microsoft-com:vml" Requires="v">
                <p:oleObj spid="_x0000_s32878" name="Equation" r:id="rId1" imgW="1422400" imgH="215900" progId="Equation.DSMT4">
                  <p:embed/>
                </p:oleObj>
              </mc:Choice>
              <mc:Fallback>
                <p:oleObj name="Equation" r:id="rId1" imgW="1422400" imgH="215900" progId="Equation.DSMT4">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0975" y="2625725"/>
                        <a:ext cx="34163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1128" name="Object 5"/>
          <p:cNvGraphicFramePr>
            <a:graphicFrameLocks noChangeAspect="1"/>
          </p:cNvGraphicFramePr>
          <p:nvPr/>
        </p:nvGraphicFramePr>
        <p:xfrm>
          <a:off x="2268538" y="3140075"/>
          <a:ext cx="4357687" cy="1219200"/>
        </p:xfrm>
        <a:graphic>
          <a:graphicData uri="http://schemas.openxmlformats.org/presentationml/2006/ole">
            <mc:AlternateContent xmlns:mc="http://schemas.openxmlformats.org/markup-compatibility/2006">
              <mc:Choice xmlns:v="urn:schemas-microsoft-com:vml" Requires="v">
                <p:oleObj spid="_x0000_s32879" name="Equation" r:id="rId3" imgW="1816100" imgH="508000" progId="Equation.DSMT4">
                  <p:embed/>
                </p:oleObj>
              </mc:Choice>
              <mc:Fallback>
                <p:oleObj name="Equation" r:id="rId3" imgW="1816100" imgH="50800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3140075"/>
                        <a:ext cx="4357687" cy="121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1129" name="AutoShape 9"/>
          <p:cNvSpPr>
            <a:spLocks noChangeArrowheads="1"/>
          </p:cNvSpPr>
          <p:nvPr/>
        </p:nvSpPr>
        <p:spPr bwMode="auto">
          <a:xfrm>
            <a:off x="6518910" y="2263775"/>
            <a:ext cx="2592388" cy="1152525"/>
          </a:xfrm>
          <a:prstGeom prst="wedgeRoundRectCallout">
            <a:avLst>
              <a:gd name="adj1" fmla="val -44120"/>
              <a:gd name="adj2" fmla="val 69972"/>
              <a:gd name="adj3" fmla="val 16667"/>
            </a:avLst>
          </a:prstGeom>
          <a:solidFill>
            <a:schemeClr val="accent1"/>
          </a:solidFill>
          <a:ln w="12700" cap="sq" algn="ctr">
            <a:solidFill>
              <a:schemeClr val="tx1"/>
            </a:solidFill>
            <a:miter lim="800000"/>
          </a:ln>
        </p:spPr>
        <p:txBody>
          <a:bodyPr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a:ea typeface="华文新魏" panose="02010800040101010101" pitchFamily="2" charset="-122"/>
              </a:rPr>
              <a:t>标准化渐近分布积分极限定理</a:t>
            </a:r>
            <a:endParaRPr lang="zh-CN" altLang="en-US">
              <a:ea typeface="华文新魏" panose="02010800040101010101" pitchFamily="2" charset="-122"/>
            </a:endParaRPr>
          </a:p>
        </p:txBody>
      </p:sp>
      <p:graphicFrame>
        <p:nvGraphicFramePr>
          <p:cNvPr id="261130" name="Object 6"/>
          <p:cNvGraphicFramePr>
            <a:graphicFrameLocks noChangeAspect="1"/>
          </p:cNvGraphicFramePr>
          <p:nvPr/>
        </p:nvGraphicFramePr>
        <p:xfrm>
          <a:off x="2268538" y="4348163"/>
          <a:ext cx="2192337" cy="1041400"/>
        </p:xfrm>
        <a:graphic>
          <a:graphicData uri="http://schemas.openxmlformats.org/presentationml/2006/ole">
            <mc:AlternateContent xmlns:mc="http://schemas.openxmlformats.org/markup-compatibility/2006">
              <mc:Choice xmlns:v="urn:schemas-microsoft-com:vml" Requires="v">
                <p:oleObj spid="_x0000_s32880" name="Equation" r:id="rId5" imgW="989965" imgH="469900" progId="Equation.DSMT4">
                  <p:embed/>
                </p:oleObj>
              </mc:Choice>
              <mc:Fallback>
                <p:oleObj name="Equation" r:id="rId5" imgW="989965" imgH="4699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538" y="4348163"/>
                        <a:ext cx="2192337"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49" name="Object 2"/>
          <p:cNvGraphicFramePr>
            <a:graphicFrameLocks noChangeAspect="1"/>
          </p:cNvGraphicFramePr>
          <p:nvPr/>
        </p:nvGraphicFramePr>
        <p:xfrm>
          <a:off x="1822450" y="5354638"/>
          <a:ext cx="1993900" cy="908050"/>
        </p:xfrm>
        <a:graphic>
          <a:graphicData uri="http://schemas.openxmlformats.org/presentationml/2006/ole">
            <mc:AlternateContent xmlns:mc="http://schemas.openxmlformats.org/markup-compatibility/2006">
              <mc:Choice xmlns:v="urn:schemas-microsoft-com:vml" Requires="v">
                <p:oleObj spid="_x0000_s32881" name="Equation" r:id="rId7" imgW="977265" imgH="444500" progId="Equation.DSMT4">
                  <p:embed/>
                </p:oleObj>
              </mc:Choice>
              <mc:Fallback>
                <p:oleObj name="Equation" r:id="rId7" imgW="977265" imgH="444500" progId="Equation.DSMT4">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2450" y="5354638"/>
                        <a:ext cx="1993900"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2150" name="Object 3"/>
          <p:cNvGraphicFramePr>
            <a:graphicFrameLocks noChangeAspect="1"/>
          </p:cNvGraphicFramePr>
          <p:nvPr/>
        </p:nvGraphicFramePr>
        <p:xfrm>
          <a:off x="3851275" y="5516563"/>
          <a:ext cx="1368425" cy="438150"/>
        </p:xfrm>
        <a:graphic>
          <a:graphicData uri="http://schemas.openxmlformats.org/presentationml/2006/ole">
            <mc:AlternateContent xmlns:mc="http://schemas.openxmlformats.org/markup-compatibility/2006">
              <mc:Choice xmlns:v="urn:schemas-microsoft-com:vml" Requires="v">
                <p:oleObj spid="_x0000_s32882" name="Equation" r:id="rId9" imgW="635000" imgH="203200" progId="Equation.DSMT4">
                  <p:embed/>
                </p:oleObj>
              </mc:Choice>
              <mc:Fallback>
                <p:oleObj name="Equation" r:id="rId9" imgW="635000" imgH="203200" progId="Equation.DSMT4">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1275" y="5516563"/>
                        <a:ext cx="1368425" cy="438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1122"/>
                                        </p:tgtEl>
                                        <p:attrNameLst>
                                          <p:attrName>style.visibility</p:attrName>
                                        </p:attrNameLst>
                                      </p:cBhvr>
                                      <p:to>
                                        <p:strVal val="visible"/>
                                      </p:to>
                                    </p:set>
                                    <p:animEffect transition="in" filter="blinds(horizontal)">
                                      <p:cBhvr>
                                        <p:cTn id="7" dur="500"/>
                                        <p:tgtEl>
                                          <p:spTgt spid="26112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1123">
                                            <p:txEl>
                                              <p:pRg st="0" end="0"/>
                                            </p:txEl>
                                          </p:spTgt>
                                        </p:tgtEl>
                                        <p:attrNameLst>
                                          <p:attrName>style.visibility</p:attrName>
                                        </p:attrNameLst>
                                      </p:cBhvr>
                                      <p:to>
                                        <p:strVal val="visible"/>
                                      </p:to>
                                    </p:set>
                                    <p:animEffect transition="in" filter="dissolve">
                                      <p:cBhvr>
                                        <p:cTn id="12" dur="500"/>
                                        <p:tgtEl>
                                          <p:spTgt spid="2611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61127"/>
                                        </p:tgtEl>
                                        <p:attrNameLst>
                                          <p:attrName>style.visibility</p:attrName>
                                        </p:attrNameLst>
                                      </p:cBhvr>
                                      <p:to>
                                        <p:strVal val="visible"/>
                                      </p:to>
                                    </p:set>
                                    <p:animEffect transition="in" filter="dissolve">
                                      <p:cBhvr>
                                        <p:cTn id="17" dur="500"/>
                                        <p:tgtEl>
                                          <p:spTgt spid="26112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61128"/>
                                        </p:tgtEl>
                                        <p:attrNameLst>
                                          <p:attrName>style.visibility</p:attrName>
                                        </p:attrNameLst>
                                      </p:cBhvr>
                                      <p:to>
                                        <p:strVal val="visible"/>
                                      </p:to>
                                    </p:set>
                                    <p:animEffect transition="in" filter="dissolve">
                                      <p:cBhvr>
                                        <p:cTn id="22" dur="500"/>
                                        <p:tgtEl>
                                          <p:spTgt spid="26112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61130"/>
                                        </p:tgtEl>
                                        <p:attrNameLst>
                                          <p:attrName>style.visibility</p:attrName>
                                        </p:attrNameLst>
                                      </p:cBhvr>
                                      <p:to>
                                        <p:strVal val="visible"/>
                                      </p:to>
                                    </p:set>
                                    <p:animEffect transition="in" filter="dissolve">
                                      <p:cBhvr>
                                        <p:cTn id="27" dur="500"/>
                                        <p:tgtEl>
                                          <p:spTgt spid="26113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61129"/>
                                        </p:tgtEl>
                                        <p:attrNameLst>
                                          <p:attrName>style.visibility</p:attrName>
                                        </p:attrNameLst>
                                      </p:cBhvr>
                                      <p:to>
                                        <p:strVal val="visible"/>
                                      </p:to>
                                    </p:set>
                                    <p:anim calcmode="lin" valueType="num">
                                      <p:cBhvr additive="base">
                                        <p:cTn id="32" dur="500" fill="hold"/>
                                        <p:tgtEl>
                                          <p:spTgt spid="261129"/>
                                        </p:tgtEl>
                                        <p:attrNameLst>
                                          <p:attrName>ppt_x</p:attrName>
                                        </p:attrNameLst>
                                      </p:cBhvr>
                                      <p:tavLst>
                                        <p:tav tm="0">
                                          <p:val>
                                            <p:strVal val="#ppt_x"/>
                                          </p:val>
                                        </p:tav>
                                        <p:tav tm="100000">
                                          <p:val>
                                            <p:strVal val="#ppt_x"/>
                                          </p:val>
                                        </p:tav>
                                      </p:tavLst>
                                    </p:anim>
                                    <p:anim calcmode="lin" valueType="num">
                                      <p:cBhvr additive="base">
                                        <p:cTn id="33" dur="500" fill="hold"/>
                                        <p:tgtEl>
                                          <p:spTgt spid="261129"/>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61129"/>
                                        </p:tgtEl>
                                        <p:attrNameLst>
                                          <p:attrName>style.visibility</p:attrName>
                                        </p:attrNameLst>
                                      </p:cBhvr>
                                      <p:to>
                                        <p:strVal val="hidden"/>
                                      </p:to>
                                    </p:set>
                                  </p:sub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262149"/>
                                        </p:tgtEl>
                                        <p:attrNameLst>
                                          <p:attrName>style.visibility</p:attrName>
                                        </p:attrNameLst>
                                      </p:cBhvr>
                                      <p:to>
                                        <p:strVal val="visible"/>
                                      </p:to>
                                    </p:set>
                                    <p:animEffect transition="in" filter="dissolve">
                                      <p:cBhvr>
                                        <p:cTn id="38" dur="500"/>
                                        <p:tgtEl>
                                          <p:spTgt spid="262149"/>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262150"/>
                                        </p:tgtEl>
                                        <p:attrNameLst>
                                          <p:attrName>style.visibility</p:attrName>
                                        </p:attrNameLst>
                                      </p:cBhvr>
                                      <p:to>
                                        <p:strVal val="visible"/>
                                      </p:to>
                                    </p:set>
                                    <p:animEffect transition="in" filter="dissolve">
                                      <p:cBhvr>
                                        <p:cTn id="43" dur="500"/>
                                        <p:tgtEl>
                                          <p:spTgt spid="262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2" grpId="0"/>
      <p:bldP spid="261129"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微信图片_20200420151237"/>
          <p:cNvPicPr>
            <a:picLocks noChangeAspect="1"/>
          </p:cNvPicPr>
          <p:nvPr/>
        </p:nvPicPr>
        <p:blipFill>
          <a:blip r:embed="rId1"/>
          <a:stretch>
            <a:fillRect/>
          </a:stretch>
        </p:blipFill>
        <p:spPr>
          <a:xfrm>
            <a:off x="228600" y="600075"/>
            <a:ext cx="8616315" cy="5657215"/>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微信图片_20200420151240"/>
          <p:cNvPicPr>
            <a:picLocks noChangeAspect="1"/>
          </p:cNvPicPr>
          <p:nvPr/>
        </p:nvPicPr>
        <p:blipFill>
          <a:blip r:embed="rId1"/>
          <a:stretch>
            <a:fillRect/>
          </a:stretch>
        </p:blipFill>
        <p:spPr>
          <a:xfrm>
            <a:off x="66040" y="600075"/>
            <a:ext cx="8802370" cy="565721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微信图片_20200420151658"/>
          <p:cNvPicPr>
            <a:picLocks noChangeAspect="1"/>
          </p:cNvPicPr>
          <p:nvPr/>
        </p:nvPicPr>
        <p:blipFill>
          <a:blip r:embed="rId1"/>
          <a:stretch>
            <a:fillRect/>
          </a:stretch>
        </p:blipFill>
        <p:spPr>
          <a:xfrm>
            <a:off x="105410" y="600075"/>
            <a:ext cx="8879205" cy="5657215"/>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Text Box 2"/>
          <p:cNvSpPr txBox="1">
            <a:spLocks noChangeArrowheads="1"/>
          </p:cNvSpPr>
          <p:nvPr/>
        </p:nvSpPr>
        <p:spPr bwMode="auto">
          <a:xfrm>
            <a:off x="862013" y="449263"/>
            <a:ext cx="8027987"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ea typeface="华文新魏" panose="02010800040101010101" pitchFamily="2" charset="-122"/>
              </a:rPr>
              <a:t>例：武大学生</a:t>
            </a:r>
            <a:r>
              <a:rPr lang="en-US" altLang="zh-CN">
                <a:ea typeface="华文新魏" panose="02010800040101010101" pitchFamily="2" charset="-122"/>
              </a:rPr>
              <a:t>10000</a:t>
            </a:r>
            <a:r>
              <a:rPr lang="zh-CN" altLang="en-US">
                <a:ea typeface="华文新魏" panose="02010800040101010101" pitchFamily="2" charset="-122"/>
              </a:rPr>
              <a:t>名，在周一晚上去自习的概率为</a:t>
            </a:r>
            <a:r>
              <a:rPr lang="en-US" altLang="zh-CN">
                <a:ea typeface="华文新魏" panose="02010800040101010101" pitchFamily="2" charset="-122"/>
              </a:rPr>
              <a:t>0.7</a:t>
            </a:r>
            <a:r>
              <a:rPr lang="zh-CN" altLang="en-US">
                <a:ea typeface="华文新魏" panose="02010800040101010101" pitchFamily="2" charset="-122"/>
              </a:rPr>
              <a:t>，假设彼此自习是相互独立的，设</a:t>
            </a:r>
            <a:r>
              <a:rPr lang="en-US" altLang="zh-CN" i="1">
                <a:ea typeface="华文新魏" panose="02010800040101010101" pitchFamily="2" charset="-122"/>
              </a:rPr>
              <a:t>X </a:t>
            </a:r>
            <a:r>
              <a:rPr lang="zh-CN" altLang="en-US">
                <a:ea typeface="华文新魏" panose="02010800040101010101" pitchFamily="2" charset="-122"/>
              </a:rPr>
              <a:t>为周一晚上武大学生去上自习的人数。</a:t>
            </a:r>
            <a:endParaRPr lang="zh-CN" altLang="en-US">
              <a:ea typeface="华文新魏" panose="02010800040101010101" pitchFamily="2" charset="-122"/>
            </a:endParaRPr>
          </a:p>
          <a:p>
            <a:pPr eaLnBrk="1" hangingPunct="1">
              <a:spcBef>
                <a:spcPct val="50000"/>
              </a:spcBef>
            </a:pPr>
            <a:r>
              <a:rPr lang="zh-CN" altLang="en-US">
                <a:ea typeface="华文新魏" panose="02010800040101010101" pitchFamily="2" charset="-122"/>
              </a:rPr>
              <a:t>（</a:t>
            </a:r>
            <a:r>
              <a:rPr lang="en-US" altLang="zh-CN">
                <a:ea typeface="华文新魏" panose="02010800040101010101" pitchFamily="2" charset="-122"/>
              </a:rPr>
              <a:t>1</a:t>
            </a:r>
            <a:r>
              <a:rPr lang="zh-CN" altLang="en-US">
                <a:ea typeface="华文新魏" panose="02010800040101010101" pitchFamily="2" charset="-122"/>
              </a:rPr>
              <a:t>）写出</a:t>
            </a:r>
            <a:r>
              <a:rPr lang="en-US" altLang="zh-CN">
                <a:ea typeface="华文新魏" panose="02010800040101010101" pitchFamily="2" charset="-122"/>
              </a:rPr>
              <a:t>X </a:t>
            </a:r>
            <a:r>
              <a:rPr lang="zh-CN" altLang="en-US">
                <a:ea typeface="华文新魏" panose="02010800040101010101" pitchFamily="2" charset="-122"/>
              </a:rPr>
              <a:t>的分布；</a:t>
            </a:r>
            <a:endParaRPr lang="zh-CN" altLang="en-US">
              <a:ea typeface="华文新魏" panose="02010800040101010101" pitchFamily="2" charset="-122"/>
            </a:endParaRPr>
          </a:p>
          <a:p>
            <a:pPr eaLnBrk="1" hangingPunct="1">
              <a:spcBef>
                <a:spcPct val="50000"/>
              </a:spcBef>
            </a:pPr>
            <a:r>
              <a:rPr lang="zh-CN" altLang="en-US">
                <a:ea typeface="华文新魏" panose="02010800040101010101" pitchFamily="2" charset="-122"/>
              </a:rPr>
              <a:t>（</a:t>
            </a:r>
            <a:r>
              <a:rPr lang="en-US" altLang="zh-CN">
                <a:ea typeface="华文新魏" panose="02010800040101010101" pitchFamily="2" charset="-122"/>
              </a:rPr>
              <a:t>2</a:t>
            </a:r>
            <a:r>
              <a:rPr lang="zh-CN" altLang="en-US">
                <a:ea typeface="华文新魏" panose="02010800040101010101" pitchFamily="2" charset="-122"/>
              </a:rPr>
              <a:t>）用切比雪夫不等式估算周一晚上武大上自习的人数在</a:t>
            </a:r>
            <a:endParaRPr lang="zh-CN" altLang="en-US">
              <a:ea typeface="华文新魏" panose="02010800040101010101" pitchFamily="2" charset="-122"/>
            </a:endParaRPr>
          </a:p>
          <a:p>
            <a:pPr eaLnBrk="1" hangingPunct="1">
              <a:spcBef>
                <a:spcPct val="50000"/>
              </a:spcBef>
            </a:pPr>
            <a:r>
              <a:rPr lang="zh-CN" altLang="en-US">
                <a:ea typeface="华文新魏" panose="02010800040101010101" pitchFamily="2" charset="-122"/>
              </a:rPr>
              <a:t>          </a:t>
            </a:r>
            <a:r>
              <a:rPr lang="en-US" altLang="zh-CN">
                <a:ea typeface="华文新魏" panose="02010800040101010101" pitchFamily="2" charset="-122"/>
              </a:rPr>
              <a:t>6800~7200</a:t>
            </a:r>
            <a:r>
              <a:rPr lang="zh-CN" altLang="en-US">
                <a:ea typeface="华文新魏" panose="02010800040101010101" pitchFamily="2" charset="-122"/>
              </a:rPr>
              <a:t>之间的概率的近似值；</a:t>
            </a:r>
            <a:endParaRPr lang="zh-CN" altLang="en-US">
              <a:ea typeface="华文新魏" panose="02010800040101010101" pitchFamily="2" charset="-122"/>
            </a:endParaRPr>
          </a:p>
          <a:p>
            <a:pPr eaLnBrk="1" hangingPunct="1">
              <a:spcBef>
                <a:spcPct val="50000"/>
              </a:spcBef>
            </a:pPr>
            <a:r>
              <a:rPr lang="zh-CN" altLang="en-US">
                <a:ea typeface="华文新魏" panose="02010800040101010101" pitchFamily="2" charset="-122"/>
              </a:rPr>
              <a:t>（</a:t>
            </a:r>
            <a:r>
              <a:rPr lang="en-US" altLang="zh-CN">
                <a:ea typeface="华文新魏" panose="02010800040101010101" pitchFamily="2" charset="-122"/>
              </a:rPr>
              <a:t>3</a:t>
            </a:r>
            <a:r>
              <a:rPr lang="zh-CN" altLang="en-US">
                <a:ea typeface="华文新魏" panose="02010800040101010101" pitchFamily="2" charset="-122"/>
              </a:rPr>
              <a:t>）用棣莫弗</a:t>
            </a:r>
            <a:r>
              <a:rPr lang="en-US" altLang="zh-CN">
                <a:ea typeface="华文新魏" panose="02010800040101010101" pitchFamily="2" charset="-122"/>
              </a:rPr>
              <a:t>-</a:t>
            </a:r>
            <a:r>
              <a:rPr lang="zh-CN" altLang="en-US">
                <a:ea typeface="华文新魏" panose="02010800040101010101" pitchFamily="2" charset="-122"/>
              </a:rPr>
              <a:t>拉普拉斯定理计算周一晚上武大学生上自</a:t>
            </a:r>
            <a:endParaRPr lang="zh-CN" altLang="en-US">
              <a:ea typeface="华文新魏" panose="02010800040101010101" pitchFamily="2" charset="-122"/>
            </a:endParaRPr>
          </a:p>
          <a:p>
            <a:pPr eaLnBrk="1" hangingPunct="1">
              <a:spcBef>
                <a:spcPct val="50000"/>
              </a:spcBef>
            </a:pPr>
            <a:r>
              <a:rPr lang="zh-CN" altLang="en-US">
                <a:ea typeface="华文新魏" panose="02010800040101010101" pitchFamily="2" charset="-122"/>
              </a:rPr>
              <a:t>       习人数在</a:t>
            </a:r>
            <a:r>
              <a:rPr lang="en-US" altLang="zh-CN">
                <a:ea typeface="华文新魏" panose="02010800040101010101" pitchFamily="2" charset="-122"/>
              </a:rPr>
              <a:t>6800~7200</a:t>
            </a:r>
            <a:r>
              <a:rPr lang="zh-CN" altLang="en-US">
                <a:ea typeface="华文新魏" panose="02010800040101010101" pitchFamily="2" charset="-122"/>
              </a:rPr>
              <a:t>之间的概率的近似值。</a:t>
            </a:r>
            <a:endParaRPr lang="zh-CN" altLang="en-US">
              <a:ea typeface="华文新魏" panose="02010800040101010101" pitchFamily="2" charset="-122"/>
            </a:endParaRPr>
          </a:p>
          <a:p>
            <a:pPr eaLnBrk="1" hangingPunct="1">
              <a:spcBef>
                <a:spcPct val="50000"/>
              </a:spcBef>
            </a:pPr>
            <a:endParaRPr lang="zh-CN" altLang="en-US">
              <a:ea typeface="华文新魏" panose="02010800040101010101" pitchFamily="2" charset="-122"/>
            </a:endParaRPr>
          </a:p>
        </p:txBody>
      </p:sp>
      <p:sp>
        <p:nvSpPr>
          <p:cNvPr id="263171" name="Rectangle 3"/>
          <p:cNvSpPr>
            <a:spLocks noChangeArrowheads="1"/>
          </p:cNvSpPr>
          <p:nvPr/>
        </p:nvSpPr>
        <p:spPr bwMode="auto">
          <a:xfrm>
            <a:off x="682625" y="4629150"/>
            <a:ext cx="1428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ea typeface="华文新魏" panose="02010800040101010101" pitchFamily="2" charset="-122"/>
              </a:rPr>
              <a:t>解</a:t>
            </a:r>
            <a:r>
              <a:rPr lang="en-US" altLang="zh-CN" b="1">
                <a:ea typeface="华文新魏" panose="02010800040101010101" pitchFamily="2" charset="-122"/>
              </a:rPr>
              <a:t>:</a:t>
            </a:r>
            <a:r>
              <a:rPr lang="zh-CN" altLang="en-US" b="1">
                <a:ea typeface="华文新魏" panose="02010800040101010101" pitchFamily="2" charset="-122"/>
              </a:rPr>
              <a:t>（</a:t>
            </a:r>
            <a:r>
              <a:rPr lang="en-US" altLang="zh-CN" b="1">
                <a:ea typeface="华文新魏" panose="02010800040101010101" pitchFamily="2" charset="-122"/>
              </a:rPr>
              <a:t>1</a:t>
            </a:r>
            <a:r>
              <a:rPr lang="zh-CN" altLang="en-US" b="1">
                <a:ea typeface="华文新魏" panose="02010800040101010101" pitchFamily="2" charset="-122"/>
              </a:rPr>
              <a:t>）</a:t>
            </a:r>
            <a:r>
              <a:rPr lang="zh-CN" altLang="en-US">
                <a:ea typeface="华文新魏" panose="02010800040101010101" pitchFamily="2" charset="-122"/>
              </a:rPr>
              <a:t> </a:t>
            </a:r>
            <a:endParaRPr lang="zh-CN" altLang="en-US">
              <a:ea typeface="华文新魏" panose="02010800040101010101" pitchFamily="2" charset="-122"/>
            </a:endParaRPr>
          </a:p>
        </p:txBody>
      </p:sp>
      <p:sp>
        <p:nvSpPr>
          <p:cNvPr id="34820" name="Rectangle 4"/>
          <p:cNvSpPr>
            <a:spLocks noChangeArrowheads="1"/>
          </p:cNvSpPr>
          <p:nvPr/>
        </p:nvSpPr>
        <p:spPr bwMode="auto">
          <a:xfrm>
            <a:off x="358775" y="382905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3173" name="Object 2"/>
          <p:cNvGraphicFramePr>
            <a:graphicFrameLocks noChangeAspect="1"/>
          </p:cNvGraphicFramePr>
          <p:nvPr/>
        </p:nvGraphicFramePr>
        <p:xfrm>
          <a:off x="2051050" y="4652963"/>
          <a:ext cx="1728788" cy="492125"/>
        </p:xfrm>
        <a:graphic>
          <a:graphicData uri="http://schemas.openxmlformats.org/presentationml/2006/ole">
            <mc:AlternateContent xmlns:mc="http://schemas.openxmlformats.org/markup-compatibility/2006">
              <mc:Choice xmlns:v="urn:schemas-microsoft-com:vml" Requires="v">
                <p:oleObj spid="_x0000_s34908" name="Equation" r:id="rId1" imgW="774065" imgH="215900" progId="Equation.DSMT4">
                  <p:embed/>
                </p:oleObj>
              </mc:Choice>
              <mc:Fallback>
                <p:oleObj name="Equation" r:id="rId1" imgW="774065" imgH="2159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4652963"/>
                        <a:ext cx="17287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2" name="Rectangle 6"/>
          <p:cNvSpPr>
            <a:spLocks noChangeArrowheads="1"/>
          </p:cNvSpPr>
          <p:nvPr/>
        </p:nvSpPr>
        <p:spPr bwMode="auto">
          <a:xfrm>
            <a:off x="358775" y="383857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3175" name="Object 3"/>
          <p:cNvGraphicFramePr>
            <a:graphicFrameLocks noChangeAspect="1"/>
          </p:cNvGraphicFramePr>
          <p:nvPr/>
        </p:nvGraphicFramePr>
        <p:xfrm>
          <a:off x="6010275" y="4649788"/>
          <a:ext cx="1008063" cy="407987"/>
        </p:xfrm>
        <a:graphic>
          <a:graphicData uri="http://schemas.openxmlformats.org/presentationml/2006/ole">
            <mc:AlternateContent xmlns:mc="http://schemas.openxmlformats.org/markup-compatibility/2006">
              <mc:Choice xmlns:v="urn:schemas-microsoft-com:vml" Requires="v">
                <p:oleObj spid="_x0000_s34909" name="Equation" r:id="rId3" imgW="494665" imgH="203200" progId="Equation.DSMT4">
                  <p:embed/>
                </p:oleObj>
              </mc:Choice>
              <mc:Fallback>
                <p:oleObj name="Equation" r:id="rId3" imgW="494665" imgH="203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0275" y="4649788"/>
                        <a:ext cx="1008063" cy="40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4" name="Rectangle 8"/>
          <p:cNvSpPr>
            <a:spLocks noChangeArrowheads="1"/>
          </p:cNvSpPr>
          <p:nvPr/>
        </p:nvSpPr>
        <p:spPr bwMode="auto">
          <a:xfrm>
            <a:off x="358775" y="38481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3177" name="Object 4"/>
          <p:cNvGraphicFramePr>
            <a:graphicFrameLocks noChangeAspect="1"/>
          </p:cNvGraphicFramePr>
          <p:nvPr/>
        </p:nvGraphicFramePr>
        <p:xfrm>
          <a:off x="4210050" y="4695825"/>
          <a:ext cx="1296988" cy="361950"/>
        </p:xfrm>
        <a:graphic>
          <a:graphicData uri="http://schemas.openxmlformats.org/presentationml/2006/ole">
            <mc:AlternateContent xmlns:mc="http://schemas.openxmlformats.org/markup-compatibility/2006">
              <mc:Choice xmlns:v="urn:schemas-microsoft-com:vml" Requires="v">
                <p:oleObj spid="_x0000_s34910" name="Equation" r:id="rId5" imgW="647700" imgH="177800" progId="Equation.DSMT4">
                  <p:embed/>
                </p:oleObj>
              </mc:Choice>
              <mc:Fallback>
                <p:oleObj name="Equation" r:id="rId5" imgW="647700" imgH="1778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10050" y="4695825"/>
                        <a:ext cx="129698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6" name="Rectangle 10"/>
          <p:cNvSpPr>
            <a:spLocks noChangeArrowheads="1"/>
          </p:cNvSpPr>
          <p:nvPr/>
        </p:nvSpPr>
        <p:spPr bwMode="auto">
          <a:xfrm>
            <a:off x="358775" y="379412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3179" name="Object 5"/>
          <p:cNvGraphicFramePr>
            <a:graphicFrameLocks noChangeAspect="1"/>
          </p:cNvGraphicFramePr>
          <p:nvPr/>
        </p:nvGraphicFramePr>
        <p:xfrm>
          <a:off x="827088" y="5561013"/>
          <a:ext cx="8424862" cy="604837"/>
        </p:xfrm>
        <a:graphic>
          <a:graphicData uri="http://schemas.openxmlformats.org/presentationml/2006/ole">
            <mc:AlternateContent xmlns:mc="http://schemas.openxmlformats.org/markup-compatibility/2006">
              <mc:Choice xmlns:v="urn:schemas-microsoft-com:vml" Requires="v">
                <p:oleObj spid="_x0000_s34911" name="Equation" r:id="rId7" imgW="3314700" imgH="241300" progId="Equation.DSMT4">
                  <p:embed/>
                </p:oleObj>
              </mc:Choice>
              <mc:Fallback>
                <p:oleObj name="Equation" r:id="rId7" imgW="3314700" imgH="2413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7088" y="5561013"/>
                        <a:ext cx="8424862"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3170"/>
                                        </p:tgtEl>
                                        <p:attrNameLst>
                                          <p:attrName>style.visibility</p:attrName>
                                        </p:attrNameLst>
                                      </p:cBhvr>
                                      <p:to>
                                        <p:strVal val="visible"/>
                                      </p:to>
                                    </p:set>
                                    <p:animEffect transition="in" filter="box(in)">
                                      <p:cBhvr>
                                        <p:cTn id="7" dur="500"/>
                                        <p:tgtEl>
                                          <p:spTgt spid="26317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63171"/>
                                        </p:tgtEl>
                                        <p:attrNameLst>
                                          <p:attrName>style.visibility</p:attrName>
                                        </p:attrNameLst>
                                      </p:cBhvr>
                                      <p:to>
                                        <p:strVal val="visible"/>
                                      </p:to>
                                    </p:set>
                                    <p:anim calcmode="lin" valueType="num">
                                      <p:cBhvr additive="base">
                                        <p:cTn id="12" dur="500" fill="hold"/>
                                        <p:tgtEl>
                                          <p:spTgt spid="263171"/>
                                        </p:tgtEl>
                                        <p:attrNameLst>
                                          <p:attrName>ppt_x</p:attrName>
                                        </p:attrNameLst>
                                      </p:cBhvr>
                                      <p:tavLst>
                                        <p:tav tm="0">
                                          <p:val>
                                            <p:strVal val="#ppt_x"/>
                                          </p:val>
                                        </p:tav>
                                        <p:tav tm="100000">
                                          <p:val>
                                            <p:strVal val="#ppt_x"/>
                                          </p:val>
                                        </p:tav>
                                      </p:tavLst>
                                    </p:anim>
                                    <p:anim calcmode="lin" valueType="num">
                                      <p:cBhvr additive="base">
                                        <p:cTn id="13" dur="500" fill="hold"/>
                                        <p:tgtEl>
                                          <p:spTgt spid="26317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63173"/>
                                        </p:tgtEl>
                                        <p:attrNameLst>
                                          <p:attrName>style.visibility</p:attrName>
                                        </p:attrNameLst>
                                      </p:cBhvr>
                                      <p:to>
                                        <p:strVal val="visible"/>
                                      </p:to>
                                    </p:set>
                                    <p:animEffect transition="in" filter="wipe(down)">
                                      <p:cBhvr>
                                        <p:cTn id="18" dur="500"/>
                                        <p:tgtEl>
                                          <p:spTgt spid="26317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63177"/>
                                        </p:tgtEl>
                                        <p:attrNameLst>
                                          <p:attrName>style.visibility</p:attrName>
                                        </p:attrNameLst>
                                      </p:cBhvr>
                                      <p:to>
                                        <p:strVal val="visible"/>
                                      </p:to>
                                    </p:set>
                                    <p:animEffect transition="in" filter="wipe(down)">
                                      <p:cBhvr>
                                        <p:cTn id="23" dur="500"/>
                                        <p:tgtEl>
                                          <p:spTgt spid="26317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63175"/>
                                        </p:tgtEl>
                                        <p:attrNameLst>
                                          <p:attrName>style.visibility</p:attrName>
                                        </p:attrNameLst>
                                      </p:cBhvr>
                                      <p:to>
                                        <p:strVal val="visible"/>
                                      </p:to>
                                    </p:set>
                                    <p:animEffect transition="in" filter="wipe(down)">
                                      <p:cBhvr>
                                        <p:cTn id="28" dur="500"/>
                                        <p:tgtEl>
                                          <p:spTgt spid="26317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263179"/>
                                        </p:tgtEl>
                                        <p:attrNameLst>
                                          <p:attrName>style.visibility</p:attrName>
                                        </p:attrNameLst>
                                      </p:cBhvr>
                                      <p:to>
                                        <p:strVal val="visible"/>
                                      </p:to>
                                    </p:set>
                                    <p:animEffect transition="in" filter="dissolve">
                                      <p:cBhvr>
                                        <p:cTn id="33" dur="500"/>
                                        <p:tgtEl>
                                          <p:spTgt spid="263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70" grpId="0"/>
      <p:bldP spid="263171"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323850" y="3146425"/>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4195" name="Object 2"/>
          <p:cNvGraphicFramePr>
            <a:graphicFrameLocks noChangeAspect="1"/>
          </p:cNvGraphicFramePr>
          <p:nvPr/>
        </p:nvGraphicFramePr>
        <p:xfrm>
          <a:off x="1941513" y="765175"/>
          <a:ext cx="4683125" cy="433388"/>
        </p:xfrm>
        <a:graphic>
          <a:graphicData uri="http://schemas.openxmlformats.org/presentationml/2006/ole">
            <mc:AlternateContent xmlns:mc="http://schemas.openxmlformats.org/markup-compatibility/2006">
              <mc:Choice xmlns:v="urn:schemas-microsoft-com:vml" Requires="v">
                <p:oleObj spid="_x0000_s35974" name="Equation" r:id="rId1" imgW="2159000" imgH="203200" progId="Equation.DSMT4">
                  <p:embed/>
                </p:oleObj>
              </mc:Choice>
              <mc:Fallback>
                <p:oleObj name="Equation" r:id="rId1" imgW="2159000" imgH="203200" progId="Equation.DSMT4">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1513" y="765175"/>
                        <a:ext cx="46831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4" name="Rectangle 4"/>
          <p:cNvSpPr>
            <a:spLocks noChangeArrowheads="1"/>
          </p:cNvSpPr>
          <p:nvPr/>
        </p:nvSpPr>
        <p:spPr bwMode="auto">
          <a:xfrm>
            <a:off x="936625" y="739775"/>
            <a:ext cx="94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ea typeface="华文新魏" panose="02010800040101010101" pitchFamily="2" charset="-122"/>
              </a:rPr>
              <a:t>（</a:t>
            </a:r>
            <a:r>
              <a:rPr lang="en-US" altLang="zh-CN" b="1">
                <a:ea typeface="华文新魏" panose="02010800040101010101" pitchFamily="2" charset="-122"/>
              </a:rPr>
              <a:t>2</a:t>
            </a:r>
            <a:r>
              <a:rPr lang="zh-CN" altLang="en-US" b="1">
                <a:ea typeface="华文新魏" panose="02010800040101010101" pitchFamily="2" charset="-122"/>
              </a:rPr>
              <a:t>）</a:t>
            </a:r>
            <a:endParaRPr lang="zh-CN" altLang="en-US" b="1">
              <a:ea typeface="华文新魏" panose="02010800040101010101" pitchFamily="2" charset="-122"/>
            </a:endParaRPr>
          </a:p>
        </p:txBody>
      </p:sp>
      <p:sp>
        <p:nvSpPr>
          <p:cNvPr id="264197" name="Rectangle 5"/>
          <p:cNvSpPr>
            <a:spLocks noChangeArrowheads="1"/>
          </p:cNvSpPr>
          <p:nvPr/>
        </p:nvSpPr>
        <p:spPr bwMode="auto">
          <a:xfrm>
            <a:off x="755650" y="3068638"/>
            <a:ext cx="946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a:ea typeface="华文新魏" panose="02010800040101010101" pitchFamily="2" charset="-122"/>
              </a:rPr>
              <a:t>（</a:t>
            </a:r>
            <a:r>
              <a:rPr lang="en-US" altLang="zh-CN" b="1">
                <a:ea typeface="华文新魏" panose="02010800040101010101" pitchFamily="2" charset="-122"/>
              </a:rPr>
              <a:t>3</a:t>
            </a:r>
            <a:r>
              <a:rPr lang="zh-CN" altLang="en-US" b="1">
                <a:ea typeface="华文新魏" panose="02010800040101010101" pitchFamily="2" charset="-122"/>
              </a:rPr>
              <a:t>）</a:t>
            </a:r>
            <a:endParaRPr lang="zh-CN" altLang="en-US" b="1">
              <a:ea typeface="华文新魏" panose="02010800040101010101" pitchFamily="2" charset="-122"/>
            </a:endParaRPr>
          </a:p>
        </p:txBody>
      </p:sp>
      <p:graphicFrame>
        <p:nvGraphicFramePr>
          <p:cNvPr id="264198" name="Object 3"/>
          <p:cNvGraphicFramePr>
            <a:graphicFrameLocks noChangeAspect="1"/>
          </p:cNvGraphicFramePr>
          <p:nvPr/>
        </p:nvGraphicFramePr>
        <p:xfrm>
          <a:off x="935038" y="1341438"/>
          <a:ext cx="6121400" cy="428625"/>
        </p:xfrm>
        <a:graphic>
          <a:graphicData uri="http://schemas.openxmlformats.org/presentationml/2006/ole">
            <mc:AlternateContent xmlns:mc="http://schemas.openxmlformats.org/markup-compatibility/2006">
              <mc:Choice xmlns:v="urn:schemas-microsoft-com:vml" Requires="v">
                <p:oleObj spid="_x0000_s35975" name="Equation" r:id="rId3" imgW="3124200" imgH="215900" progId="Equation.DSMT4">
                  <p:embed/>
                </p:oleObj>
              </mc:Choice>
              <mc:Fallback>
                <p:oleObj name="Equation" r:id="rId3" imgW="3124200" imgH="2159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038" y="1341438"/>
                        <a:ext cx="61214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4199" name="Object 4"/>
          <p:cNvGraphicFramePr>
            <a:graphicFrameLocks noChangeAspect="1"/>
          </p:cNvGraphicFramePr>
          <p:nvPr/>
        </p:nvGraphicFramePr>
        <p:xfrm>
          <a:off x="3429000" y="1858963"/>
          <a:ext cx="5211763" cy="777875"/>
        </p:xfrm>
        <a:graphic>
          <a:graphicData uri="http://schemas.openxmlformats.org/presentationml/2006/ole">
            <mc:AlternateContent xmlns:mc="http://schemas.openxmlformats.org/markup-compatibility/2006">
              <mc:Choice xmlns:v="urn:schemas-microsoft-com:vml" Requires="v">
                <p:oleObj spid="_x0000_s35976" name="Equation" r:id="rId5" imgW="2616200" imgH="393700" progId="Equation.DSMT4">
                  <p:embed/>
                </p:oleObj>
              </mc:Choice>
              <mc:Fallback>
                <p:oleObj name="Equation" r:id="rId5" imgW="2616200" imgH="3937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1858963"/>
                        <a:ext cx="5211763"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8" name="Rectangle 8"/>
          <p:cNvSpPr>
            <a:spLocks noChangeArrowheads="1"/>
          </p:cNvSpPr>
          <p:nvPr/>
        </p:nvSpPr>
        <p:spPr bwMode="auto">
          <a:xfrm>
            <a:off x="-323850" y="30178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4201" name="Object 5"/>
          <p:cNvGraphicFramePr>
            <a:graphicFrameLocks noChangeAspect="1"/>
          </p:cNvGraphicFramePr>
          <p:nvPr/>
        </p:nvGraphicFramePr>
        <p:xfrm>
          <a:off x="1416050" y="2924175"/>
          <a:ext cx="7431088" cy="885825"/>
        </p:xfrm>
        <a:graphic>
          <a:graphicData uri="http://schemas.openxmlformats.org/presentationml/2006/ole">
            <mc:AlternateContent xmlns:mc="http://schemas.openxmlformats.org/markup-compatibility/2006">
              <mc:Choice xmlns:v="urn:schemas-microsoft-com:vml" Requires="v">
                <p:oleObj spid="_x0000_s35977" name="Equation" r:id="rId7" imgW="3835400" imgH="457200" progId="Equation.DSMT4">
                  <p:embed/>
                </p:oleObj>
              </mc:Choice>
              <mc:Fallback>
                <p:oleObj name="Equation" r:id="rId7" imgW="3835400" imgH="457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16050" y="2924175"/>
                        <a:ext cx="7431088"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0" name="Rectangle 10"/>
          <p:cNvSpPr>
            <a:spLocks noChangeArrowheads="1"/>
          </p:cNvSpPr>
          <p:nvPr/>
        </p:nvSpPr>
        <p:spPr bwMode="auto">
          <a:xfrm>
            <a:off x="-323850" y="30178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4203" name="Object 6"/>
          <p:cNvGraphicFramePr>
            <a:graphicFrameLocks noChangeAspect="1"/>
          </p:cNvGraphicFramePr>
          <p:nvPr/>
        </p:nvGraphicFramePr>
        <p:xfrm>
          <a:off x="3887788" y="4149725"/>
          <a:ext cx="3529012" cy="811213"/>
        </p:xfrm>
        <a:graphic>
          <a:graphicData uri="http://schemas.openxmlformats.org/presentationml/2006/ole">
            <mc:AlternateContent xmlns:mc="http://schemas.openxmlformats.org/markup-compatibility/2006">
              <mc:Choice xmlns:v="urn:schemas-microsoft-com:vml" Requires="v">
                <p:oleObj spid="_x0000_s35978" name="Equation" r:id="rId9" imgW="1993900" imgH="457200" progId="Equation.DSMT4">
                  <p:embed/>
                </p:oleObj>
              </mc:Choice>
              <mc:Fallback>
                <p:oleObj name="Equation" r:id="rId9" imgW="1993900" imgH="4572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87788" y="4149725"/>
                        <a:ext cx="3529012"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52" name="Rectangle 12"/>
          <p:cNvSpPr>
            <a:spLocks noChangeArrowheads="1"/>
          </p:cNvSpPr>
          <p:nvPr/>
        </p:nvSpPr>
        <p:spPr bwMode="auto">
          <a:xfrm>
            <a:off x="-323850" y="3017838"/>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kumimoji="0" lang="zh-CN" altLang="en-US" sz="1800">
              <a:latin typeface="Arial" panose="020B0604020202020204" pitchFamily="34" charset="0"/>
            </a:endParaRPr>
          </a:p>
        </p:txBody>
      </p:sp>
      <p:graphicFrame>
        <p:nvGraphicFramePr>
          <p:cNvPr id="264205" name="Object 7"/>
          <p:cNvGraphicFramePr>
            <a:graphicFrameLocks noChangeAspect="1"/>
          </p:cNvGraphicFramePr>
          <p:nvPr/>
        </p:nvGraphicFramePr>
        <p:xfrm>
          <a:off x="3898900" y="5191125"/>
          <a:ext cx="2208213" cy="830263"/>
        </p:xfrm>
        <a:graphic>
          <a:graphicData uri="http://schemas.openxmlformats.org/presentationml/2006/ole">
            <mc:AlternateContent xmlns:mc="http://schemas.openxmlformats.org/markup-compatibility/2006">
              <mc:Choice xmlns:v="urn:schemas-microsoft-com:vml" Requires="v">
                <p:oleObj spid="_x0000_s35979" name="Equation" r:id="rId11" imgW="1219200" imgH="457200" progId="Equation.DSMT4">
                  <p:embed/>
                </p:oleObj>
              </mc:Choice>
              <mc:Fallback>
                <p:oleObj name="Equation" r:id="rId11" imgW="1219200" imgH="457200"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98900" y="5191125"/>
                        <a:ext cx="22082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4195"/>
                                        </p:tgtEl>
                                        <p:attrNameLst>
                                          <p:attrName>style.visibility</p:attrName>
                                        </p:attrNameLst>
                                      </p:cBhvr>
                                      <p:to>
                                        <p:strVal val="visible"/>
                                      </p:to>
                                    </p:set>
                                    <p:animEffect transition="in" filter="dissolve">
                                      <p:cBhvr>
                                        <p:cTn id="7" dur="500"/>
                                        <p:tgtEl>
                                          <p:spTgt spid="26419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64198"/>
                                        </p:tgtEl>
                                        <p:attrNameLst>
                                          <p:attrName>style.visibility</p:attrName>
                                        </p:attrNameLst>
                                      </p:cBhvr>
                                      <p:to>
                                        <p:strVal val="visible"/>
                                      </p:to>
                                    </p:set>
                                    <p:anim calcmode="lin" valueType="num">
                                      <p:cBhvr additive="base">
                                        <p:cTn id="12" dur="500" fill="hold"/>
                                        <p:tgtEl>
                                          <p:spTgt spid="264198"/>
                                        </p:tgtEl>
                                        <p:attrNameLst>
                                          <p:attrName>ppt_x</p:attrName>
                                        </p:attrNameLst>
                                      </p:cBhvr>
                                      <p:tavLst>
                                        <p:tav tm="0">
                                          <p:val>
                                            <p:strVal val="#ppt_x"/>
                                          </p:val>
                                        </p:tav>
                                        <p:tav tm="100000">
                                          <p:val>
                                            <p:strVal val="#ppt_x"/>
                                          </p:val>
                                        </p:tav>
                                      </p:tavLst>
                                    </p:anim>
                                    <p:anim calcmode="lin" valueType="num">
                                      <p:cBhvr additive="base">
                                        <p:cTn id="13" dur="500" fill="hold"/>
                                        <p:tgtEl>
                                          <p:spTgt spid="26419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64199"/>
                                        </p:tgtEl>
                                        <p:attrNameLst>
                                          <p:attrName>style.visibility</p:attrName>
                                        </p:attrNameLst>
                                      </p:cBhvr>
                                      <p:to>
                                        <p:strVal val="visible"/>
                                      </p:to>
                                    </p:set>
                                    <p:anim calcmode="lin" valueType="num">
                                      <p:cBhvr additive="base">
                                        <p:cTn id="18" dur="500" fill="hold"/>
                                        <p:tgtEl>
                                          <p:spTgt spid="264199"/>
                                        </p:tgtEl>
                                        <p:attrNameLst>
                                          <p:attrName>ppt_x</p:attrName>
                                        </p:attrNameLst>
                                      </p:cBhvr>
                                      <p:tavLst>
                                        <p:tav tm="0">
                                          <p:val>
                                            <p:strVal val="#ppt_x"/>
                                          </p:val>
                                        </p:tav>
                                        <p:tav tm="100000">
                                          <p:val>
                                            <p:strVal val="#ppt_x"/>
                                          </p:val>
                                        </p:tav>
                                      </p:tavLst>
                                    </p:anim>
                                    <p:anim calcmode="lin" valueType="num">
                                      <p:cBhvr additive="base">
                                        <p:cTn id="19" dur="500" fill="hold"/>
                                        <p:tgtEl>
                                          <p:spTgt spid="26419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64197"/>
                                        </p:tgtEl>
                                        <p:attrNameLst>
                                          <p:attrName>style.visibility</p:attrName>
                                        </p:attrNameLst>
                                      </p:cBhvr>
                                      <p:to>
                                        <p:strVal val="visible"/>
                                      </p:to>
                                    </p:set>
                                    <p:anim calcmode="lin" valueType="num">
                                      <p:cBhvr additive="base">
                                        <p:cTn id="24" dur="500" fill="hold"/>
                                        <p:tgtEl>
                                          <p:spTgt spid="264197"/>
                                        </p:tgtEl>
                                        <p:attrNameLst>
                                          <p:attrName>ppt_x</p:attrName>
                                        </p:attrNameLst>
                                      </p:cBhvr>
                                      <p:tavLst>
                                        <p:tav tm="0">
                                          <p:val>
                                            <p:strVal val="#ppt_x"/>
                                          </p:val>
                                        </p:tav>
                                        <p:tav tm="100000">
                                          <p:val>
                                            <p:strVal val="#ppt_x"/>
                                          </p:val>
                                        </p:tav>
                                      </p:tavLst>
                                    </p:anim>
                                    <p:anim calcmode="lin" valueType="num">
                                      <p:cBhvr additive="base">
                                        <p:cTn id="25" dur="500" fill="hold"/>
                                        <p:tgtEl>
                                          <p:spTgt spid="26419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64201"/>
                                        </p:tgtEl>
                                        <p:attrNameLst>
                                          <p:attrName>style.visibility</p:attrName>
                                        </p:attrNameLst>
                                      </p:cBhvr>
                                      <p:to>
                                        <p:strVal val="visible"/>
                                      </p:to>
                                    </p:set>
                                    <p:animEffect transition="in" filter="dissolve">
                                      <p:cBhvr>
                                        <p:cTn id="30" dur="500"/>
                                        <p:tgtEl>
                                          <p:spTgt spid="264201"/>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64203"/>
                                        </p:tgtEl>
                                        <p:attrNameLst>
                                          <p:attrName>style.visibility</p:attrName>
                                        </p:attrNameLst>
                                      </p:cBhvr>
                                      <p:to>
                                        <p:strVal val="visible"/>
                                      </p:to>
                                    </p:set>
                                    <p:animEffect transition="in" filter="dissolve">
                                      <p:cBhvr>
                                        <p:cTn id="35" dur="500"/>
                                        <p:tgtEl>
                                          <p:spTgt spid="26420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64205"/>
                                        </p:tgtEl>
                                        <p:attrNameLst>
                                          <p:attrName>style.visibility</p:attrName>
                                        </p:attrNameLst>
                                      </p:cBhvr>
                                      <p:to>
                                        <p:strVal val="visible"/>
                                      </p:to>
                                    </p:set>
                                    <p:animEffect transition="in" filter="dissolve">
                                      <p:cBhvr>
                                        <p:cTn id="40" dur="500"/>
                                        <p:tgtEl>
                                          <p:spTgt spid="264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419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ChangeArrowheads="1"/>
          </p:cNvSpPr>
          <p:nvPr/>
        </p:nvSpPr>
        <p:spPr bwMode="auto">
          <a:xfrm>
            <a:off x="1027113" y="381000"/>
            <a:ext cx="8153400" cy="252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例</a:t>
            </a:r>
            <a:r>
              <a:rPr lang="zh-CN" altLang="en-US" sz="3200">
                <a:solidFill>
                  <a:srgbClr val="000000"/>
                </a:solidFill>
                <a:ea typeface="华文新魏" panose="02010800040101010101" pitchFamily="2" charset="-122"/>
              </a:rPr>
              <a:t> </a:t>
            </a:r>
            <a:r>
              <a:rPr lang="en-US" altLang="zh-CN" sz="3200">
                <a:ea typeface="华文新魏" panose="02010800040101010101" pitchFamily="2" charset="-122"/>
              </a:rPr>
              <a:t>(</a:t>
            </a:r>
            <a:r>
              <a:rPr lang="zh-CN" altLang="en-US" sz="3200">
                <a:ea typeface="华文新魏" panose="02010800040101010101" pitchFamily="2" charset="-122"/>
              </a:rPr>
              <a:t>供电问题</a:t>
            </a:r>
            <a:r>
              <a:rPr lang="en-US" altLang="zh-CN" sz="3200">
                <a:ea typeface="华文新魏" panose="02010800040101010101" pitchFamily="2" charset="-122"/>
              </a:rPr>
              <a:t>)</a:t>
            </a:r>
            <a:r>
              <a:rPr lang="zh-CN" altLang="en-US" sz="3200">
                <a:ea typeface="华文新魏" panose="02010800040101010101" pitchFamily="2" charset="-122"/>
              </a:rPr>
              <a:t>某车间有</a:t>
            </a:r>
            <a:r>
              <a:rPr lang="en-US" altLang="zh-CN" sz="3200">
                <a:ea typeface="华文新魏" panose="02010800040101010101" pitchFamily="2" charset="-122"/>
              </a:rPr>
              <a:t>200</a:t>
            </a:r>
            <a:r>
              <a:rPr lang="zh-CN" altLang="en-US" sz="3200">
                <a:ea typeface="华文新魏" panose="02010800040101010101" pitchFamily="2" charset="-122"/>
              </a:rPr>
              <a:t>台车床</a:t>
            </a:r>
            <a:r>
              <a:rPr lang="en-US" altLang="zh-CN" sz="3200">
                <a:ea typeface="华文新魏" panose="02010800040101010101" pitchFamily="2" charset="-122"/>
              </a:rPr>
              <a:t>,</a:t>
            </a:r>
            <a:r>
              <a:rPr lang="zh-CN" altLang="en-US" sz="3200">
                <a:ea typeface="华文新魏" panose="02010800040101010101" pitchFamily="2" charset="-122"/>
              </a:rPr>
              <a:t>在生产期间由于需要检修、调换刀具、变换位置及调换工件等常需停车</a:t>
            </a:r>
            <a:r>
              <a:rPr lang="en-US" altLang="zh-CN" sz="3200">
                <a:ea typeface="华文新魏" panose="02010800040101010101" pitchFamily="2" charset="-122"/>
              </a:rPr>
              <a:t>.   </a:t>
            </a:r>
            <a:r>
              <a:rPr lang="zh-CN" altLang="en-US" sz="3200">
                <a:ea typeface="华文新魏" panose="02010800040101010101" pitchFamily="2" charset="-122"/>
              </a:rPr>
              <a:t>设开工率为</a:t>
            </a:r>
            <a:r>
              <a:rPr lang="en-US" altLang="zh-CN" sz="3200">
                <a:ea typeface="华文新魏" panose="02010800040101010101" pitchFamily="2" charset="-122"/>
              </a:rPr>
              <a:t>0.6,  </a:t>
            </a:r>
            <a:r>
              <a:rPr lang="zh-CN" altLang="en-US" sz="3200">
                <a:ea typeface="华文新魏" panose="02010800040101010101" pitchFamily="2" charset="-122"/>
              </a:rPr>
              <a:t>并设每台车床的工作是独立的，且在开工时需电力</a:t>
            </a:r>
            <a:r>
              <a:rPr lang="en-US" altLang="zh-CN" sz="3200">
                <a:ea typeface="华文新魏" panose="02010800040101010101" pitchFamily="2" charset="-122"/>
              </a:rPr>
              <a:t>1</a:t>
            </a:r>
            <a:r>
              <a:rPr lang="zh-CN" altLang="en-US" sz="3200">
                <a:ea typeface="华文新魏" panose="02010800040101010101" pitchFamily="2" charset="-122"/>
              </a:rPr>
              <a:t>千瓦</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265219" name="Rectangle 3"/>
          <p:cNvSpPr>
            <a:spLocks noChangeArrowheads="1"/>
          </p:cNvSpPr>
          <p:nvPr/>
        </p:nvSpPr>
        <p:spPr bwMode="auto">
          <a:xfrm>
            <a:off x="1027113" y="3048000"/>
            <a:ext cx="8077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问应供应多少瓦电力就能以</a:t>
            </a:r>
            <a:r>
              <a:rPr lang="en-US" altLang="zh-CN" sz="3200">
                <a:ea typeface="华文新魏" panose="02010800040101010101" pitchFamily="2" charset="-122"/>
              </a:rPr>
              <a:t>99.9%</a:t>
            </a:r>
            <a:r>
              <a:rPr lang="zh-CN" altLang="en-US" sz="3200">
                <a:ea typeface="华文新魏" panose="02010800040101010101" pitchFamily="2" charset="-122"/>
              </a:rPr>
              <a:t>的概率保证该车间不会因供电不足而影响生产</a:t>
            </a:r>
            <a:r>
              <a:rPr lang="en-US" altLang="zh-CN" sz="3200">
                <a:ea typeface="华文新魏" panose="02010800040101010101" pitchFamily="2" charset="-122"/>
              </a:rPr>
              <a:t>?</a:t>
            </a:r>
            <a:endParaRPr lang="en-US" altLang="zh-CN" sz="3200">
              <a:ea typeface="华文新魏" panose="02010800040101010101" pitchFamily="2" charset="-122"/>
            </a:endParaRPr>
          </a:p>
        </p:txBody>
      </p:sp>
      <p:pic>
        <p:nvPicPr>
          <p:cNvPr id="36868" name="Picture 4" descr="AUTOMAT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75113" y="4267200"/>
            <a:ext cx="2743200"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65218"/>
                                        </p:tgtEl>
                                        <p:attrNameLst>
                                          <p:attrName>style.visibility</p:attrName>
                                        </p:attrNameLst>
                                      </p:cBhvr>
                                      <p:to>
                                        <p:strVal val="visible"/>
                                      </p:to>
                                    </p:set>
                                    <p:animEffect transition="in" filter="barn(outVertical)">
                                      <p:cBhvr>
                                        <p:cTn id="7" dur="500"/>
                                        <p:tgtEl>
                                          <p:spTgt spid="26521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65219"/>
                                        </p:tgtEl>
                                        <p:attrNameLst>
                                          <p:attrName>style.visibility</p:attrName>
                                        </p:attrNameLst>
                                      </p:cBhvr>
                                      <p:to>
                                        <p:strVal val="visible"/>
                                      </p:to>
                                    </p:set>
                                    <p:animEffect transition="in" filter="box(in)">
                                      <p:cBhvr>
                                        <p:cTn id="12" dur="500"/>
                                        <p:tgtEl>
                                          <p:spTgt spid="265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18" grpId="0" autoUpdateAnimBg="0"/>
      <p:bldP spid="265219"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ChangeArrowheads="1"/>
          </p:cNvSpPr>
          <p:nvPr/>
        </p:nvSpPr>
        <p:spPr bwMode="auto">
          <a:xfrm>
            <a:off x="1250950" y="2133600"/>
            <a:ext cx="7239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a:ea typeface="华文新魏" panose="02010800040101010101" pitchFamily="2" charset="-122"/>
              </a:rPr>
              <a:t>用</a:t>
            </a:r>
            <a:r>
              <a:rPr lang="en-US" altLang="zh-CN" sz="3200" i="1">
                <a:ea typeface="华文新魏" panose="02010800040101010101" pitchFamily="2" charset="-122"/>
              </a:rPr>
              <a:t>X</a:t>
            </a:r>
            <a:r>
              <a:rPr lang="zh-CN" altLang="en-US" sz="3200">
                <a:ea typeface="华文新魏" panose="02010800040101010101" pitchFamily="2" charset="-122"/>
              </a:rPr>
              <a:t>表示在某时刻工作着的车床数，</a:t>
            </a:r>
            <a:endParaRPr lang="zh-CN" altLang="en-US" sz="3200">
              <a:ea typeface="华文新魏" panose="02010800040101010101" pitchFamily="2" charset="-122"/>
            </a:endParaRPr>
          </a:p>
        </p:txBody>
      </p:sp>
      <p:sp>
        <p:nvSpPr>
          <p:cNvPr id="266243" name="Rectangle 3"/>
          <p:cNvSpPr>
            <a:spLocks noChangeArrowheads="1"/>
          </p:cNvSpPr>
          <p:nvPr/>
        </p:nvSpPr>
        <p:spPr bwMode="auto">
          <a:xfrm>
            <a:off x="1250950" y="350838"/>
            <a:ext cx="7092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解：对每台车床的观察作为一次试验，</a:t>
            </a:r>
            <a:endParaRPr lang="zh-CN" altLang="en-US" sz="3200">
              <a:ea typeface="华文新魏" panose="02010800040101010101" pitchFamily="2" charset="-122"/>
            </a:endParaRPr>
          </a:p>
        </p:txBody>
      </p:sp>
      <p:sp>
        <p:nvSpPr>
          <p:cNvPr id="266244" name="Rectangle 4"/>
          <p:cNvSpPr>
            <a:spLocks noChangeArrowheads="1"/>
          </p:cNvSpPr>
          <p:nvPr/>
        </p:nvSpPr>
        <p:spPr bwMode="auto">
          <a:xfrm>
            <a:off x="1174750" y="838200"/>
            <a:ext cx="807720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120000"/>
              </a:lnSpc>
            </a:pPr>
            <a:r>
              <a:rPr lang="zh-CN" altLang="en-US" sz="3200">
                <a:ea typeface="华文新魏" panose="02010800040101010101" pitchFamily="2" charset="-122"/>
              </a:rPr>
              <a:t>每次试验观察该台车床在某时刻是否工作， 工作的概率为</a:t>
            </a:r>
            <a:r>
              <a:rPr lang="en-US" altLang="zh-CN" sz="3200">
                <a:ea typeface="华文新魏" panose="02010800040101010101" pitchFamily="2" charset="-122"/>
              </a:rPr>
              <a:t>0.6</a:t>
            </a:r>
            <a:r>
              <a:rPr lang="zh-CN" altLang="en-US" sz="3200">
                <a:ea typeface="华文新魏" panose="02010800040101010101" pitchFamily="2" charset="-122"/>
              </a:rPr>
              <a:t>，共进行</a:t>
            </a:r>
            <a:r>
              <a:rPr lang="en-US" altLang="zh-CN" sz="3200">
                <a:ea typeface="华文新魏" panose="02010800040101010101" pitchFamily="2" charset="-122"/>
              </a:rPr>
              <a:t>200</a:t>
            </a:r>
            <a:r>
              <a:rPr lang="zh-CN" altLang="en-US" sz="3200">
                <a:ea typeface="华文新魏" panose="02010800040101010101" pitchFamily="2" charset="-122"/>
              </a:rPr>
              <a:t>次试验</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266245" name="Rectangle 5"/>
          <p:cNvSpPr>
            <a:spLocks noChangeArrowheads="1"/>
          </p:cNvSpPr>
          <p:nvPr/>
        </p:nvSpPr>
        <p:spPr bwMode="auto">
          <a:xfrm>
            <a:off x="1443038" y="2865438"/>
            <a:ext cx="1809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依题意，</a:t>
            </a:r>
            <a:endParaRPr lang="zh-CN" altLang="en-US" sz="3200">
              <a:ea typeface="华文新魏" panose="02010800040101010101" pitchFamily="2" charset="-122"/>
            </a:endParaRPr>
          </a:p>
        </p:txBody>
      </p:sp>
      <p:sp>
        <p:nvSpPr>
          <p:cNvPr id="266246" name="Rectangle 6"/>
          <p:cNvSpPr>
            <a:spLocks noChangeArrowheads="1"/>
          </p:cNvSpPr>
          <p:nvPr/>
        </p:nvSpPr>
        <p:spPr bwMode="auto">
          <a:xfrm>
            <a:off x="3119438" y="2827338"/>
            <a:ext cx="2490787" cy="57943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i="1">
                <a:ea typeface="华文新魏" panose="02010800040101010101" pitchFamily="2" charset="-122"/>
              </a:rPr>
              <a:t>X</a:t>
            </a:r>
            <a:r>
              <a:rPr lang="en-US" altLang="zh-CN" sz="3200">
                <a:ea typeface="华文新魏" panose="02010800040101010101" pitchFamily="2" charset="-122"/>
              </a:rPr>
              <a:t>~</a:t>
            </a:r>
            <a:r>
              <a:rPr lang="en-US" altLang="zh-CN" sz="3200" i="1">
                <a:ea typeface="华文新魏" panose="02010800040101010101" pitchFamily="2" charset="-122"/>
              </a:rPr>
              <a:t>B</a:t>
            </a:r>
            <a:r>
              <a:rPr lang="en-US" altLang="zh-CN" sz="3200">
                <a:ea typeface="华文新魏" panose="02010800040101010101" pitchFamily="2" charset="-122"/>
              </a:rPr>
              <a:t>(200,0.6),</a:t>
            </a:r>
            <a:endParaRPr lang="en-US" altLang="zh-CN" sz="3200">
              <a:ea typeface="华文新魏" panose="02010800040101010101" pitchFamily="2" charset="-122"/>
            </a:endParaRPr>
          </a:p>
        </p:txBody>
      </p:sp>
      <p:sp>
        <p:nvSpPr>
          <p:cNvPr id="266247" name="Rectangle 7"/>
          <p:cNvSpPr>
            <a:spLocks noChangeArrowheads="1"/>
          </p:cNvSpPr>
          <p:nvPr/>
        </p:nvSpPr>
        <p:spPr bwMode="auto">
          <a:xfrm>
            <a:off x="4908550" y="3551238"/>
            <a:ext cx="3028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a:ea typeface="华文新魏" panose="02010800040101010101" pitchFamily="2" charset="-122"/>
              </a:rPr>
              <a:t>现在的问题是：</a:t>
            </a:r>
            <a:endParaRPr lang="zh-CN" altLang="en-US" sz="3200">
              <a:ea typeface="华文新魏" panose="02010800040101010101" pitchFamily="2" charset="-122"/>
            </a:endParaRPr>
          </a:p>
        </p:txBody>
      </p:sp>
      <p:grpSp>
        <p:nvGrpSpPr>
          <p:cNvPr id="2" name="Group 8"/>
          <p:cNvGrpSpPr/>
          <p:nvPr/>
        </p:nvGrpSpPr>
        <p:grpSpPr bwMode="auto">
          <a:xfrm>
            <a:off x="2927350" y="4351338"/>
            <a:ext cx="5307013" cy="601662"/>
            <a:chOff x="672" y="1301"/>
            <a:chExt cx="3343" cy="379"/>
          </a:xfrm>
        </p:grpSpPr>
        <p:sp>
          <p:nvSpPr>
            <p:cNvPr id="37900" name="Text Box 9"/>
            <p:cNvSpPr txBox="1">
              <a:spLocks noChangeArrowheads="1"/>
            </p:cNvSpPr>
            <p:nvPr/>
          </p:nvSpPr>
          <p:spPr bwMode="auto">
            <a:xfrm>
              <a:off x="672" y="1315"/>
              <a:ext cx="1920" cy="36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en-US" altLang="zh-CN" sz="3200" i="1">
                  <a:ea typeface="华文新魏" panose="02010800040101010101" pitchFamily="2" charset="-122"/>
                </a:rPr>
                <a:t>P</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a:ea typeface="华文新魏" panose="02010800040101010101" pitchFamily="2" charset="-122"/>
                </a:rPr>
                <a:t>≤</a:t>
              </a:r>
              <a:r>
                <a:rPr lang="en-US" altLang="zh-CN" sz="3200" i="1">
                  <a:ea typeface="华文新魏" panose="02010800040101010101" pitchFamily="2" charset="-122"/>
                </a:rPr>
                <a:t>N</a:t>
              </a:r>
              <a:r>
                <a:rPr lang="en-US" altLang="zh-CN" sz="3200">
                  <a:ea typeface="华文新魏" panose="02010800040101010101" pitchFamily="2" charset="-122"/>
                </a:rPr>
                <a:t>)≥0.999</a:t>
              </a:r>
              <a:endParaRPr lang="en-US" altLang="zh-CN" sz="3200" baseline="30000">
                <a:ea typeface="华文新魏" panose="02010800040101010101" pitchFamily="2" charset="-122"/>
              </a:endParaRPr>
            </a:p>
          </p:txBody>
        </p:sp>
        <p:sp>
          <p:nvSpPr>
            <p:cNvPr id="37901" name="Rectangle 10"/>
            <p:cNvSpPr>
              <a:spLocks noChangeArrowheads="1"/>
            </p:cNvSpPr>
            <p:nvPr/>
          </p:nvSpPr>
          <p:spPr bwMode="auto">
            <a:xfrm>
              <a:off x="2640" y="1301"/>
              <a:ext cx="137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a:ea typeface="华文新魏" panose="02010800040101010101" pitchFamily="2" charset="-122"/>
                </a:rPr>
                <a:t>的最小的</a:t>
              </a:r>
              <a:r>
                <a:rPr lang="en-US" altLang="zh-CN" sz="3200" i="1">
                  <a:ea typeface="华文新魏" panose="02010800040101010101" pitchFamily="2" charset="-122"/>
                </a:rPr>
                <a:t>N</a:t>
              </a:r>
              <a:r>
                <a:rPr lang="en-US" altLang="zh-CN" sz="3200">
                  <a:ea typeface="华文新魏" panose="02010800040101010101" pitchFamily="2" charset="-122"/>
                </a:rPr>
                <a:t>.</a:t>
              </a:r>
              <a:endParaRPr lang="en-US" altLang="zh-CN" sz="3200">
                <a:ea typeface="华文新魏" panose="02010800040101010101" pitchFamily="2" charset="-122"/>
              </a:endParaRPr>
            </a:p>
          </p:txBody>
        </p:sp>
      </p:grpSp>
      <p:sp>
        <p:nvSpPr>
          <p:cNvPr id="266251" name="Rectangle 11"/>
          <p:cNvSpPr>
            <a:spLocks noChangeArrowheads="1"/>
          </p:cNvSpPr>
          <p:nvPr/>
        </p:nvSpPr>
        <p:spPr bwMode="auto">
          <a:xfrm>
            <a:off x="1406525" y="4343400"/>
            <a:ext cx="1403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3200">
                <a:ea typeface="华文新魏" panose="02010800040101010101" pitchFamily="2" charset="-122"/>
              </a:rPr>
              <a:t>求满足</a:t>
            </a:r>
            <a:endParaRPr lang="zh-CN" altLang="en-US" sz="3200">
              <a:ea typeface="华文新魏" panose="02010800040101010101" pitchFamily="2" charset="-122"/>
            </a:endParaRPr>
          </a:p>
        </p:txBody>
      </p:sp>
      <p:sp>
        <p:nvSpPr>
          <p:cNvPr id="266252" name="Rectangle 12"/>
          <p:cNvSpPr>
            <a:spLocks noChangeArrowheads="1"/>
          </p:cNvSpPr>
          <p:nvPr/>
        </p:nvSpPr>
        <p:spPr bwMode="auto">
          <a:xfrm>
            <a:off x="1370013" y="3581400"/>
            <a:ext cx="37068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zh-CN" altLang="en-US" sz="3200">
                <a:ea typeface="华文新魏" panose="02010800040101010101" pitchFamily="2" charset="-122"/>
              </a:rPr>
              <a:t>设需</a:t>
            </a:r>
            <a:r>
              <a:rPr lang="en-US" altLang="zh-CN" sz="3200" i="1">
                <a:ea typeface="华文新魏" panose="02010800040101010101" pitchFamily="2" charset="-122"/>
              </a:rPr>
              <a:t>N</a:t>
            </a:r>
            <a:r>
              <a:rPr lang="zh-CN" altLang="en-US" sz="3200">
                <a:ea typeface="华文新魏" panose="02010800040101010101" pitchFamily="2" charset="-122"/>
              </a:rPr>
              <a:t>台车床工作，</a:t>
            </a:r>
            <a:endParaRPr lang="zh-CN" altLang="en-US" sz="3200">
              <a:ea typeface="华文新魏" panose="02010800040101010101" pitchFamily="2" charset="-122"/>
            </a:endParaRPr>
          </a:p>
        </p:txBody>
      </p:sp>
      <p:sp>
        <p:nvSpPr>
          <p:cNvPr id="266253" name="Rectangle 13"/>
          <p:cNvSpPr>
            <a:spLocks noChangeArrowheads="1"/>
          </p:cNvSpPr>
          <p:nvPr/>
        </p:nvSpPr>
        <p:spPr bwMode="auto">
          <a:xfrm>
            <a:off x="1327150" y="5181600"/>
            <a:ext cx="7043738"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（由于每台车床在开工时需电力</a:t>
            </a:r>
            <a:r>
              <a:rPr lang="en-US" altLang="zh-CN" sz="3200">
                <a:ea typeface="华文新魏" panose="02010800040101010101" pitchFamily="2" charset="-122"/>
              </a:rPr>
              <a:t>1</a:t>
            </a:r>
            <a:r>
              <a:rPr lang="zh-CN" altLang="en-US" sz="3200">
                <a:ea typeface="华文新魏" panose="02010800040101010101" pitchFamily="2" charset="-122"/>
              </a:rPr>
              <a:t>千瓦，</a:t>
            </a:r>
            <a:r>
              <a:rPr lang="en-US" altLang="zh-CN" sz="3200" i="1">
                <a:ea typeface="华文新魏" panose="02010800040101010101" pitchFamily="2" charset="-122"/>
              </a:rPr>
              <a:t>N</a:t>
            </a:r>
            <a:r>
              <a:rPr lang="zh-CN" altLang="en-US" sz="3200">
                <a:ea typeface="华文新魏" panose="02010800040101010101" pitchFamily="2" charset="-122"/>
              </a:rPr>
              <a:t>台工作所需电力即</a:t>
            </a:r>
            <a:r>
              <a:rPr lang="en-US" altLang="zh-CN" sz="3200" i="1">
                <a:ea typeface="华文新魏" panose="02010800040101010101" pitchFamily="2" charset="-122"/>
              </a:rPr>
              <a:t>N</a:t>
            </a:r>
            <a:r>
              <a:rPr lang="zh-CN" altLang="en-US" sz="3200">
                <a:ea typeface="华文新魏" panose="02010800040101010101" pitchFamily="2" charset="-122"/>
              </a:rPr>
              <a:t>千瓦</a:t>
            </a:r>
            <a:r>
              <a:rPr lang="en-US" altLang="zh-CN" sz="3200">
                <a:ea typeface="华文新魏" panose="02010800040101010101" pitchFamily="2" charset="-122"/>
              </a:rPr>
              <a:t>.</a:t>
            </a:r>
            <a:r>
              <a:rPr lang="zh-CN" altLang="en-US" sz="3200">
                <a:ea typeface="华文新魏" panose="02010800040101010101" pitchFamily="2" charset="-122"/>
              </a:rPr>
              <a:t>）</a:t>
            </a:r>
            <a:endParaRPr lang="zh-CN" altLang="en-US" sz="3200">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6243"/>
                                        </p:tgtEl>
                                        <p:attrNameLst>
                                          <p:attrName>style.visibility</p:attrName>
                                        </p:attrNameLst>
                                      </p:cBhvr>
                                      <p:to>
                                        <p:strVal val="visible"/>
                                      </p:to>
                                    </p:set>
                                    <p:animEffect transition="in" filter="wipe(left)">
                                      <p:cBhvr>
                                        <p:cTn id="7" dur="500"/>
                                        <p:tgtEl>
                                          <p:spTgt spid="26624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266244"/>
                                        </p:tgtEl>
                                        <p:attrNameLst>
                                          <p:attrName>style.visibility</p:attrName>
                                        </p:attrNameLst>
                                      </p:cBhvr>
                                      <p:to>
                                        <p:strVal val="visible"/>
                                      </p:to>
                                    </p:set>
                                    <p:animEffect transition="in" filter="barn(outVertical)">
                                      <p:cBhvr>
                                        <p:cTn id="12" dur="500"/>
                                        <p:tgtEl>
                                          <p:spTgt spid="2662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6242"/>
                                        </p:tgtEl>
                                        <p:attrNameLst>
                                          <p:attrName>style.visibility</p:attrName>
                                        </p:attrNameLst>
                                      </p:cBhvr>
                                      <p:to>
                                        <p:strVal val="visible"/>
                                      </p:to>
                                    </p:set>
                                    <p:animEffect transition="in" filter="wipe(left)">
                                      <p:cBhvr>
                                        <p:cTn id="17" dur="500"/>
                                        <p:tgtEl>
                                          <p:spTgt spid="26624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266245"/>
                                        </p:tgtEl>
                                        <p:attrNameLst>
                                          <p:attrName>style.visibility</p:attrName>
                                        </p:attrNameLst>
                                      </p:cBhvr>
                                      <p:to>
                                        <p:strVal val="visible"/>
                                      </p:to>
                                    </p:set>
                                    <p:anim calcmode="lin" valueType="num">
                                      <p:cBhvr additive="base">
                                        <p:cTn id="22" dur="500" fill="hold"/>
                                        <p:tgtEl>
                                          <p:spTgt spid="266245"/>
                                        </p:tgtEl>
                                        <p:attrNameLst>
                                          <p:attrName>ppt_x</p:attrName>
                                        </p:attrNameLst>
                                      </p:cBhvr>
                                      <p:tavLst>
                                        <p:tav tm="0">
                                          <p:val>
                                            <p:strVal val="0-#ppt_w/2"/>
                                          </p:val>
                                        </p:tav>
                                        <p:tav tm="100000">
                                          <p:val>
                                            <p:strVal val="#ppt_x"/>
                                          </p:val>
                                        </p:tav>
                                      </p:tavLst>
                                    </p:anim>
                                    <p:anim calcmode="lin" valueType="num">
                                      <p:cBhvr additive="base">
                                        <p:cTn id="23" dur="500" fill="hold"/>
                                        <p:tgtEl>
                                          <p:spTgt spid="266245"/>
                                        </p:tgtEl>
                                        <p:attrNameLst>
                                          <p:attrName>ppt_y</p:attrName>
                                        </p:attrNameLst>
                                      </p:cBhvr>
                                      <p:tavLst>
                                        <p:tav tm="0">
                                          <p:val>
                                            <p:strVal val="#ppt_y"/>
                                          </p:val>
                                        </p:tav>
                                        <p:tav tm="100000">
                                          <p:val>
                                            <p:strVal val="#ppt_y"/>
                                          </p:val>
                                        </p:tav>
                                      </p:tavLst>
                                    </p:anim>
                                  </p:childTnLst>
                                </p:cTn>
                              </p:par>
                            </p:childTnLst>
                          </p:cTn>
                        </p:par>
                        <p:par>
                          <p:cTn id="24" fill="hold">
                            <p:stCondLst>
                              <p:cond delay="500"/>
                            </p:stCondLst>
                            <p:childTnLst>
                              <p:par>
                                <p:cTn id="25" presetID="22" presetClass="entr" presetSubtype="2" fill="hold" grpId="0" nodeType="afterEffect">
                                  <p:stCondLst>
                                    <p:cond delay="0"/>
                                  </p:stCondLst>
                                  <p:childTnLst>
                                    <p:set>
                                      <p:cBhvr>
                                        <p:cTn id="26" dur="1" fill="hold">
                                          <p:stCondLst>
                                            <p:cond delay="0"/>
                                          </p:stCondLst>
                                        </p:cTn>
                                        <p:tgtEl>
                                          <p:spTgt spid="266246"/>
                                        </p:tgtEl>
                                        <p:attrNameLst>
                                          <p:attrName>style.visibility</p:attrName>
                                        </p:attrNameLst>
                                      </p:cBhvr>
                                      <p:to>
                                        <p:strVal val="visible"/>
                                      </p:to>
                                    </p:set>
                                    <p:animEffect transition="in" filter="wipe(right)">
                                      <p:cBhvr>
                                        <p:cTn id="27" dur="500"/>
                                        <p:tgtEl>
                                          <p:spTgt spid="26624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66252"/>
                                        </p:tgtEl>
                                        <p:attrNameLst>
                                          <p:attrName>style.visibility</p:attrName>
                                        </p:attrNameLst>
                                      </p:cBhvr>
                                      <p:to>
                                        <p:strVal val="visible"/>
                                      </p:to>
                                    </p:set>
                                    <p:animEffect transition="in" filter="wipe(left)">
                                      <p:cBhvr>
                                        <p:cTn id="32" dur="500"/>
                                        <p:tgtEl>
                                          <p:spTgt spid="266252"/>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2662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66251"/>
                                        </p:tgtEl>
                                        <p:attrNameLst>
                                          <p:attrName>style.visibility</p:attrName>
                                        </p:attrNameLst>
                                      </p:cBhvr>
                                      <p:to>
                                        <p:strVal val="visible"/>
                                      </p:to>
                                    </p:set>
                                    <p:animEffect transition="in" filter="wipe(left)">
                                      <p:cBhvr>
                                        <p:cTn id="41" dur="500"/>
                                        <p:tgtEl>
                                          <p:spTgt spid="266251"/>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2"/>
                                        </p:tgtEl>
                                        <p:attrNameLst>
                                          <p:attrName>style.visibility</p:attrName>
                                        </p:attrNameLst>
                                      </p:cBhvr>
                                      <p:to>
                                        <p:strVal val="visible"/>
                                      </p:to>
                                    </p:set>
                                    <p:animEffect transition="in" filter="wipe(left)">
                                      <p:cBhvr>
                                        <p:cTn id="45" dur="500"/>
                                        <p:tgtEl>
                                          <p:spTgt spid="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66253"/>
                                        </p:tgtEl>
                                        <p:attrNameLst>
                                          <p:attrName>style.visibility</p:attrName>
                                        </p:attrNameLst>
                                      </p:cBhvr>
                                      <p:to>
                                        <p:strVal val="visible"/>
                                      </p:to>
                                    </p:set>
                                    <p:animEffect transition="in" filter="wipe(left)">
                                      <p:cBhvr>
                                        <p:cTn id="50" dur="500"/>
                                        <p:tgtEl>
                                          <p:spTgt spid="266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2" grpId="0" autoUpdateAnimBg="0"/>
      <p:bldP spid="266243" grpId="0" autoUpdateAnimBg="0"/>
      <p:bldP spid="266244" grpId="0" autoUpdateAnimBg="0"/>
      <p:bldP spid="266245" grpId="0" autoUpdateAnimBg="0"/>
      <p:bldP spid="266246" grpId="0" bldLvl="0" animBg="1" autoUpdateAnimBg="0"/>
      <p:bldP spid="266247" grpId="0" autoUpdateAnimBg="0"/>
      <p:bldP spid="266251" grpId="0" autoUpdateAnimBg="0"/>
      <p:bldP spid="266252" grpId="0" autoUpdateAnimBg="0"/>
      <p:bldP spid="266253"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ChangeArrowheads="1"/>
          </p:cNvSpPr>
          <p:nvPr/>
        </p:nvSpPr>
        <p:spPr bwMode="auto">
          <a:xfrm>
            <a:off x="1060450" y="446088"/>
            <a:ext cx="519588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由德莫弗</a:t>
            </a:r>
            <a:r>
              <a:rPr lang="en-US" altLang="zh-CN" sz="3200">
                <a:ea typeface="华文新魏" panose="02010800040101010101" pitchFamily="2" charset="-122"/>
              </a:rPr>
              <a:t>-</a:t>
            </a:r>
            <a:r>
              <a:rPr lang="zh-CN" altLang="en-US" sz="3200">
                <a:ea typeface="华文新魏" panose="02010800040101010101" pitchFamily="2" charset="-122"/>
              </a:rPr>
              <a:t>拉普拉斯极限定理</a:t>
            </a:r>
            <a:endParaRPr lang="zh-CN" altLang="en-US" sz="3200">
              <a:ea typeface="华文新魏" panose="02010800040101010101" pitchFamily="2" charset="-122"/>
            </a:endParaRPr>
          </a:p>
        </p:txBody>
      </p:sp>
      <p:grpSp>
        <p:nvGrpSpPr>
          <p:cNvPr id="2" name="Group 3"/>
          <p:cNvGrpSpPr/>
          <p:nvPr/>
        </p:nvGrpSpPr>
        <p:grpSpPr bwMode="auto">
          <a:xfrm>
            <a:off x="1441450" y="1200150"/>
            <a:ext cx="3824288" cy="1028700"/>
            <a:chOff x="576" y="720"/>
            <a:chExt cx="2409" cy="648"/>
          </a:xfrm>
        </p:grpSpPr>
        <p:graphicFrame>
          <p:nvGraphicFramePr>
            <p:cNvPr id="38921" name="Object 4"/>
            <p:cNvGraphicFramePr>
              <a:graphicFrameLocks noChangeAspect="1"/>
            </p:cNvGraphicFramePr>
            <p:nvPr/>
          </p:nvGraphicFramePr>
          <p:xfrm>
            <a:off x="576" y="720"/>
            <a:ext cx="1096" cy="648"/>
          </p:xfrm>
          <a:graphic>
            <a:graphicData uri="http://schemas.openxmlformats.org/presentationml/2006/ole">
              <mc:AlternateContent xmlns:mc="http://schemas.openxmlformats.org/markup-compatibility/2006">
                <mc:Choice xmlns:v="urn:schemas-microsoft-com:vml" Requires="v">
                  <p:oleObj spid="_x0000_s38983" name="公式" r:id="rId1" imgW="714375" imgH="414020" progId="Equation.3">
                    <p:embed/>
                  </p:oleObj>
                </mc:Choice>
                <mc:Fallback>
                  <p:oleObj name="公式" r:id="rId1" imgW="714375" imgH="41402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 y="720"/>
                          <a:ext cx="1096" cy="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2" name="Rectangle 5"/>
            <p:cNvSpPr>
              <a:spLocks noChangeArrowheads="1"/>
            </p:cNvSpPr>
            <p:nvPr/>
          </p:nvSpPr>
          <p:spPr bwMode="auto">
            <a:xfrm>
              <a:off x="1632" y="869"/>
              <a:ext cx="135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近似</a:t>
              </a:r>
              <a:r>
                <a:rPr lang="en-US" altLang="zh-CN" sz="3200" i="1">
                  <a:solidFill>
                    <a:srgbClr val="990000"/>
                  </a:solidFill>
                  <a:ea typeface="华文新魏" panose="02010800040101010101" pitchFamily="2" charset="-122"/>
                </a:rPr>
                <a:t>N</a:t>
              </a:r>
              <a:r>
                <a:rPr lang="en-US" altLang="zh-CN" sz="3200">
                  <a:solidFill>
                    <a:srgbClr val="990000"/>
                  </a:solidFill>
                  <a:ea typeface="华文新魏" panose="02010800040101010101" pitchFamily="2" charset="-122"/>
                </a:rPr>
                <a:t>(0,1),</a:t>
              </a:r>
              <a:endParaRPr lang="en-US" altLang="zh-CN" sz="3200">
                <a:solidFill>
                  <a:srgbClr val="990000"/>
                </a:solidFill>
                <a:ea typeface="华文新魏" panose="02010800040101010101" pitchFamily="2" charset="-122"/>
              </a:endParaRPr>
            </a:p>
          </p:txBody>
        </p:sp>
      </p:grpSp>
      <p:sp>
        <p:nvSpPr>
          <p:cNvPr id="267270" name="Text Box 6"/>
          <p:cNvSpPr txBox="1">
            <a:spLocks noChangeArrowheads="1"/>
          </p:cNvSpPr>
          <p:nvPr/>
        </p:nvSpPr>
        <p:spPr bwMode="auto">
          <a:xfrm>
            <a:off x="1212850" y="2343150"/>
            <a:ext cx="5257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ea typeface="华文新魏" panose="02010800040101010101" pitchFamily="2" charset="-122"/>
              </a:rPr>
              <a:t>于是 </a:t>
            </a:r>
            <a:r>
              <a:rPr lang="en-US" altLang="zh-CN" sz="3200" i="1">
                <a:ea typeface="华文新魏" panose="02010800040101010101" pitchFamily="2" charset="-122"/>
              </a:rPr>
              <a:t>P</a:t>
            </a:r>
            <a:r>
              <a:rPr lang="en-US" altLang="zh-CN" sz="3200">
                <a:ea typeface="华文新魏" panose="02010800040101010101" pitchFamily="2" charset="-122"/>
              </a:rPr>
              <a:t>(</a:t>
            </a:r>
            <a:r>
              <a:rPr lang="en-US" altLang="zh-CN" sz="3200" i="1">
                <a:ea typeface="华文新魏" panose="02010800040101010101" pitchFamily="2" charset="-122"/>
              </a:rPr>
              <a:t>X</a:t>
            </a:r>
            <a:r>
              <a:rPr lang="en-US" altLang="zh-CN" sz="3200">
                <a:ea typeface="华文新魏" panose="02010800040101010101" pitchFamily="2" charset="-122"/>
              </a:rPr>
              <a:t>≤</a:t>
            </a:r>
            <a:r>
              <a:rPr lang="en-US" altLang="zh-CN" sz="3200" i="1">
                <a:ea typeface="华文新魏" panose="02010800040101010101" pitchFamily="2" charset="-122"/>
              </a:rPr>
              <a:t>N</a:t>
            </a:r>
            <a:r>
              <a:rPr lang="en-US" altLang="zh-CN" sz="3200">
                <a:ea typeface="华文新魏" panose="02010800040101010101" pitchFamily="2" charset="-122"/>
              </a:rPr>
              <a:t>)= </a:t>
            </a:r>
            <a:r>
              <a:rPr lang="en-US" altLang="zh-CN" sz="3200" i="1">
                <a:ea typeface="华文新魏" panose="02010800040101010101" pitchFamily="2" charset="-122"/>
              </a:rPr>
              <a:t>P</a:t>
            </a:r>
            <a:r>
              <a:rPr lang="en-US" altLang="zh-CN" sz="3200">
                <a:ea typeface="华文新魏" panose="02010800040101010101" pitchFamily="2" charset="-122"/>
              </a:rPr>
              <a:t>(0≤</a:t>
            </a:r>
            <a:r>
              <a:rPr lang="en-US" altLang="zh-CN" sz="3200" i="1">
                <a:ea typeface="华文新魏" panose="02010800040101010101" pitchFamily="2" charset="-122"/>
              </a:rPr>
              <a:t>X</a:t>
            </a:r>
            <a:r>
              <a:rPr lang="en-US" altLang="zh-CN" sz="3200">
                <a:ea typeface="华文新魏" panose="02010800040101010101" pitchFamily="2" charset="-122"/>
              </a:rPr>
              <a:t>≤</a:t>
            </a:r>
            <a:r>
              <a:rPr lang="en-US" altLang="zh-CN" sz="3200" i="1">
                <a:ea typeface="华文新魏" panose="02010800040101010101" pitchFamily="2" charset="-122"/>
              </a:rPr>
              <a:t>N</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267271" name="AutoShape 7"/>
          <p:cNvSpPr>
            <a:spLocks noChangeArrowheads="1"/>
          </p:cNvSpPr>
          <p:nvPr/>
        </p:nvSpPr>
        <p:spPr bwMode="auto">
          <a:xfrm>
            <a:off x="6699250" y="819150"/>
            <a:ext cx="2514600" cy="1371600"/>
          </a:xfrm>
          <a:prstGeom prst="wedgeRoundRectCallout">
            <a:avLst>
              <a:gd name="adj1" fmla="val -114204"/>
              <a:gd name="adj2" fmla="val -10532"/>
              <a:gd name="adj3" fmla="val 16667"/>
            </a:avLst>
          </a:prstGeom>
          <a:solidFill>
            <a:schemeClr val="accent1"/>
          </a:solidFill>
          <a:ln w="9525">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a:ea typeface="华文新魏" panose="02010800040101010101" pitchFamily="2" charset="-122"/>
              </a:rPr>
              <a:t>这里</a:t>
            </a:r>
            <a:r>
              <a:rPr lang="zh-CN" altLang="en-US" sz="2800" i="1">
                <a:ea typeface="华文新魏" panose="02010800040101010101" pitchFamily="2" charset="-122"/>
              </a:rPr>
              <a:t> </a:t>
            </a:r>
            <a:r>
              <a:rPr lang="en-US" altLang="zh-CN" sz="2800" i="1">
                <a:ea typeface="华文新魏" panose="02010800040101010101" pitchFamily="2" charset="-122"/>
              </a:rPr>
              <a:t>np</a:t>
            </a:r>
            <a:r>
              <a:rPr lang="en-US" altLang="zh-CN" sz="2800">
                <a:ea typeface="华文新魏" panose="02010800040101010101" pitchFamily="2" charset="-122"/>
              </a:rPr>
              <a:t>=120, </a:t>
            </a:r>
            <a:endParaRPr lang="en-US" altLang="zh-CN" sz="2800">
              <a:ea typeface="华文新魏" panose="02010800040101010101" pitchFamily="2" charset="-122"/>
            </a:endParaRPr>
          </a:p>
          <a:p>
            <a:pPr algn="ctr" eaLnBrk="1" hangingPunct="1"/>
            <a:r>
              <a:rPr lang="en-US" altLang="zh-CN" sz="2800" i="1">
                <a:ea typeface="华文新魏" panose="02010800040101010101" pitchFamily="2" charset="-122"/>
              </a:rPr>
              <a:t>np</a:t>
            </a:r>
            <a:r>
              <a:rPr lang="en-US" altLang="zh-CN" sz="2800">
                <a:ea typeface="华文新魏" panose="02010800040101010101" pitchFamily="2" charset="-122"/>
              </a:rPr>
              <a:t>(1-</a:t>
            </a:r>
            <a:r>
              <a:rPr lang="en-US" altLang="zh-CN" sz="2800" i="1">
                <a:ea typeface="华文新魏" panose="02010800040101010101" pitchFamily="2" charset="-122"/>
              </a:rPr>
              <a:t>p</a:t>
            </a:r>
            <a:r>
              <a:rPr lang="en-US" altLang="zh-CN" sz="2800">
                <a:ea typeface="华文新魏" panose="02010800040101010101" pitchFamily="2" charset="-122"/>
              </a:rPr>
              <a:t>)=48</a:t>
            </a:r>
            <a:endParaRPr lang="en-US" altLang="zh-CN" sz="2800">
              <a:ea typeface="华文新魏" panose="02010800040101010101" pitchFamily="2" charset="-122"/>
            </a:endParaRPr>
          </a:p>
        </p:txBody>
      </p:sp>
      <p:graphicFrame>
        <p:nvGraphicFramePr>
          <p:cNvPr id="267272" name="Object 2"/>
          <p:cNvGraphicFramePr>
            <a:graphicFrameLocks noChangeAspect="1"/>
          </p:cNvGraphicFramePr>
          <p:nvPr/>
        </p:nvGraphicFramePr>
        <p:xfrm>
          <a:off x="2247900" y="3028950"/>
          <a:ext cx="3797300" cy="993775"/>
        </p:xfrm>
        <a:graphic>
          <a:graphicData uri="http://schemas.openxmlformats.org/presentationml/2006/ole">
            <mc:AlternateContent xmlns:mc="http://schemas.openxmlformats.org/markup-compatibility/2006">
              <mc:Choice xmlns:v="urn:schemas-microsoft-com:vml" Requires="v">
                <p:oleObj spid="_x0000_s38984" name="Equation" r:id="rId3" imgW="1562100" imgH="384810" progId="Equation.DSMT4">
                  <p:embed/>
                </p:oleObj>
              </mc:Choice>
              <mc:Fallback>
                <p:oleObj name="Equation" r:id="rId3" imgW="1562100" imgH="38481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7900" y="3028950"/>
                        <a:ext cx="3797300" cy="99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7273" name="AutoShape 9"/>
          <p:cNvSpPr>
            <a:spLocks noChangeArrowheads="1"/>
          </p:cNvSpPr>
          <p:nvPr/>
        </p:nvSpPr>
        <p:spPr bwMode="auto">
          <a:xfrm>
            <a:off x="7315200" y="2492375"/>
            <a:ext cx="1828800" cy="1600200"/>
          </a:xfrm>
          <a:prstGeom prst="wedgeRoundRectCallout">
            <a:avLst>
              <a:gd name="adj1" fmla="val -126824"/>
              <a:gd name="adj2" fmla="val 18352"/>
              <a:gd name="adj3" fmla="val 16667"/>
            </a:avLst>
          </a:prstGeom>
          <a:solidFill>
            <a:schemeClr val="accent1"/>
          </a:solidFill>
          <a:ln w="9525">
            <a:solidFill>
              <a:schemeClr val="tx1"/>
            </a:solidFill>
            <a:miter lim="800000"/>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aseline="30000">
                <a:ea typeface="华文新魏" panose="02010800040101010101" pitchFamily="2" charset="-122"/>
              </a:rPr>
              <a:t>此项为</a:t>
            </a:r>
            <a:r>
              <a:rPr lang="en-US" altLang="zh-CN" sz="3200" baseline="30000">
                <a:ea typeface="华文新魏" panose="02010800040101010101" pitchFamily="2" charset="-122"/>
              </a:rPr>
              <a:t>0.</a:t>
            </a:r>
            <a:endParaRPr lang="en-US" altLang="zh-CN" sz="3200" baseline="30000">
              <a:ea typeface="华文新魏" panose="02010800040101010101" pitchFamily="2" charset="-122"/>
            </a:endParaRPr>
          </a:p>
        </p:txBody>
      </p:sp>
      <p:graphicFrame>
        <p:nvGraphicFramePr>
          <p:cNvPr id="267274" name="Object 3"/>
          <p:cNvGraphicFramePr>
            <a:graphicFrameLocks noChangeAspect="1"/>
          </p:cNvGraphicFramePr>
          <p:nvPr/>
        </p:nvGraphicFramePr>
        <p:xfrm>
          <a:off x="2112963" y="4019550"/>
          <a:ext cx="2109787" cy="993775"/>
        </p:xfrm>
        <a:graphic>
          <a:graphicData uri="http://schemas.openxmlformats.org/presentationml/2006/ole">
            <mc:AlternateContent xmlns:mc="http://schemas.openxmlformats.org/markup-compatibility/2006">
              <mc:Choice xmlns:v="urn:schemas-microsoft-com:vml" Requires="v">
                <p:oleObj spid="_x0000_s38985" name="Equation" r:id="rId5" imgW="847725" imgH="384810" progId="Equation.3">
                  <p:embed/>
                </p:oleObj>
              </mc:Choice>
              <mc:Fallback>
                <p:oleObj name="Equation" r:id="rId5" imgW="847725" imgH="38481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2963" y="4019550"/>
                        <a:ext cx="2109787" cy="99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67266"/>
                                        </p:tgtEl>
                                        <p:attrNameLst>
                                          <p:attrName>style.visibility</p:attrName>
                                        </p:attrNameLst>
                                      </p:cBhvr>
                                      <p:to>
                                        <p:strVal val="visible"/>
                                      </p:to>
                                    </p:set>
                                    <p:animEffect transition="in" filter="wipe(left)">
                                      <p:cBhvr>
                                        <p:cTn id="7" dur="500"/>
                                        <p:tgtEl>
                                          <p:spTgt spid="2672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right)">
                                      <p:cBhvr>
                                        <p:cTn id="12" dur="500"/>
                                        <p:tgtEl>
                                          <p:spTgt spid="2"/>
                                        </p:tgtEl>
                                      </p:cBhvr>
                                    </p:animEffect>
                                  </p:childTnLst>
                                </p:cTn>
                              </p:par>
                            </p:childTnLst>
                          </p:cTn>
                        </p:par>
                        <p:par>
                          <p:cTn id="13" fill="hold">
                            <p:stCondLst>
                              <p:cond delay="500"/>
                            </p:stCondLst>
                            <p:childTnLst>
                              <p:par>
                                <p:cTn id="14" presetID="2" presetClass="entr" presetSubtype="2" fill="hold" grpId="0" nodeType="afterEffect">
                                  <p:stCondLst>
                                    <p:cond delay="0"/>
                                  </p:stCondLst>
                                  <p:childTnLst>
                                    <p:set>
                                      <p:cBhvr>
                                        <p:cTn id="15" dur="1" fill="hold">
                                          <p:stCondLst>
                                            <p:cond delay="0"/>
                                          </p:stCondLst>
                                        </p:cTn>
                                        <p:tgtEl>
                                          <p:spTgt spid="267271"/>
                                        </p:tgtEl>
                                        <p:attrNameLst>
                                          <p:attrName>style.visibility</p:attrName>
                                        </p:attrNameLst>
                                      </p:cBhvr>
                                      <p:to>
                                        <p:strVal val="visible"/>
                                      </p:to>
                                    </p:set>
                                    <p:anim calcmode="lin" valueType="num">
                                      <p:cBhvr additive="base">
                                        <p:cTn id="16" dur="500" fill="hold"/>
                                        <p:tgtEl>
                                          <p:spTgt spid="267271"/>
                                        </p:tgtEl>
                                        <p:attrNameLst>
                                          <p:attrName>ppt_x</p:attrName>
                                        </p:attrNameLst>
                                      </p:cBhvr>
                                      <p:tavLst>
                                        <p:tav tm="0">
                                          <p:val>
                                            <p:strVal val="1+#ppt_w/2"/>
                                          </p:val>
                                        </p:tav>
                                        <p:tav tm="100000">
                                          <p:val>
                                            <p:strVal val="#ppt_x"/>
                                          </p:val>
                                        </p:tav>
                                      </p:tavLst>
                                    </p:anim>
                                    <p:anim calcmode="lin" valueType="num">
                                      <p:cBhvr additive="base">
                                        <p:cTn id="17" dur="500" fill="hold"/>
                                        <p:tgtEl>
                                          <p:spTgt spid="267271"/>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67270"/>
                                        </p:tgtEl>
                                        <p:attrNameLst>
                                          <p:attrName>style.visibility</p:attrName>
                                        </p:attrNameLst>
                                      </p:cBhvr>
                                      <p:to>
                                        <p:strVal val="visible"/>
                                      </p:to>
                                    </p:set>
                                    <p:animEffect transition="in" filter="wipe(left)">
                                      <p:cBhvr>
                                        <p:cTn id="22" dur="500"/>
                                        <p:tgtEl>
                                          <p:spTgt spid="2672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67272"/>
                                        </p:tgtEl>
                                        <p:attrNameLst>
                                          <p:attrName>style.visibility</p:attrName>
                                        </p:attrNameLst>
                                      </p:cBhvr>
                                      <p:to>
                                        <p:strVal val="visible"/>
                                      </p:to>
                                    </p:set>
                                    <p:animEffect transition="in" filter="wipe(left)">
                                      <p:cBhvr>
                                        <p:cTn id="27" dur="500"/>
                                        <p:tgtEl>
                                          <p:spTgt spid="26727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grpId="0" nodeType="clickEffect">
                                  <p:stCondLst>
                                    <p:cond delay="0"/>
                                  </p:stCondLst>
                                  <p:childTnLst>
                                    <p:set>
                                      <p:cBhvr>
                                        <p:cTn id="31" dur="1" fill="hold">
                                          <p:stCondLst>
                                            <p:cond delay="0"/>
                                          </p:stCondLst>
                                        </p:cTn>
                                        <p:tgtEl>
                                          <p:spTgt spid="267273"/>
                                        </p:tgtEl>
                                        <p:attrNameLst>
                                          <p:attrName>style.visibility</p:attrName>
                                        </p:attrNameLst>
                                      </p:cBhvr>
                                      <p:to>
                                        <p:strVal val="visible"/>
                                      </p:to>
                                    </p:set>
                                    <p:anim calcmode="lin" valueType="num">
                                      <p:cBhvr additive="base">
                                        <p:cTn id="32" dur="500" fill="hold"/>
                                        <p:tgtEl>
                                          <p:spTgt spid="267273"/>
                                        </p:tgtEl>
                                        <p:attrNameLst>
                                          <p:attrName>ppt_x</p:attrName>
                                        </p:attrNameLst>
                                      </p:cBhvr>
                                      <p:tavLst>
                                        <p:tav tm="0">
                                          <p:val>
                                            <p:strVal val="1+#ppt_w/2"/>
                                          </p:val>
                                        </p:tav>
                                        <p:tav tm="100000">
                                          <p:val>
                                            <p:strVal val="#ppt_x"/>
                                          </p:val>
                                        </p:tav>
                                      </p:tavLst>
                                    </p:anim>
                                    <p:anim calcmode="lin" valueType="num">
                                      <p:cBhvr additive="base">
                                        <p:cTn id="33" dur="500" fill="hold"/>
                                        <p:tgtEl>
                                          <p:spTgt spid="267273"/>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67274"/>
                                        </p:tgtEl>
                                        <p:attrNameLst>
                                          <p:attrName>style.visibility</p:attrName>
                                        </p:attrNameLst>
                                      </p:cBhvr>
                                      <p:to>
                                        <p:strVal val="visible"/>
                                      </p:to>
                                    </p:set>
                                    <p:animEffect transition="in" filter="wipe(left)">
                                      <p:cBhvr>
                                        <p:cTn id="38" dur="500"/>
                                        <p:tgtEl>
                                          <p:spTgt spid="2672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6" grpId="0" autoUpdateAnimBg="0"/>
      <p:bldP spid="267270" grpId="0" autoUpdateAnimBg="0"/>
      <p:bldP spid="267271" grpId="0" bldLvl="0" animBg="1" autoUpdateAnimBg="0"/>
      <p:bldP spid="267273" grpId="0" bldLvl="0" animBg="1"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ChangeArrowheads="1"/>
          </p:cNvSpPr>
          <p:nvPr/>
        </p:nvSpPr>
        <p:spPr bwMode="auto">
          <a:xfrm>
            <a:off x="5253038" y="579438"/>
            <a:ext cx="38417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a:ea typeface="华文新魏" panose="02010800040101010101" pitchFamily="2" charset="-122"/>
              </a:rPr>
              <a:t>查正态分布函数表得</a:t>
            </a:r>
            <a:endParaRPr lang="zh-CN" altLang="en-US" sz="3200">
              <a:ea typeface="华文新魏" panose="02010800040101010101" pitchFamily="2" charset="-122"/>
            </a:endParaRPr>
          </a:p>
        </p:txBody>
      </p:sp>
      <p:grpSp>
        <p:nvGrpSpPr>
          <p:cNvPr id="2" name="Group 3"/>
          <p:cNvGrpSpPr/>
          <p:nvPr/>
        </p:nvGrpSpPr>
        <p:grpSpPr bwMode="auto">
          <a:xfrm>
            <a:off x="1062038" y="457200"/>
            <a:ext cx="4953000" cy="993775"/>
            <a:chOff x="384" y="288"/>
            <a:chExt cx="3120" cy="626"/>
          </a:xfrm>
        </p:grpSpPr>
        <p:sp>
          <p:nvSpPr>
            <p:cNvPr id="39948" name="Text Box 4"/>
            <p:cNvSpPr txBox="1">
              <a:spLocks noChangeArrowheads="1"/>
            </p:cNvSpPr>
            <p:nvPr/>
          </p:nvSpPr>
          <p:spPr bwMode="auto">
            <a:xfrm>
              <a:off x="384" y="388"/>
              <a:ext cx="312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sz="3200">
                  <a:ea typeface="华文新魏" panose="02010800040101010101" pitchFamily="2" charset="-122"/>
                </a:rPr>
                <a:t>由                   ≥</a:t>
              </a:r>
              <a:r>
                <a:rPr lang="en-US" altLang="zh-CN" sz="3200">
                  <a:ea typeface="华文新魏" panose="02010800040101010101" pitchFamily="2" charset="-122"/>
                </a:rPr>
                <a:t>0.999</a:t>
              </a:r>
              <a:r>
                <a:rPr lang="zh-CN" altLang="en-US" sz="3200">
                  <a:ea typeface="华文新魏" panose="02010800040101010101" pitchFamily="2" charset="-122"/>
                </a:rPr>
                <a:t>，</a:t>
              </a:r>
              <a:endParaRPr lang="zh-CN" altLang="en-US" sz="3200">
                <a:ea typeface="华文新魏" panose="02010800040101010101" pitchFamily="2" charset="-122"/>
              </a:endParaRPr>
            </a:p>
          </p:txBody>
        </p:sp>
        <p:graphicFrame>
          <p:nvGraphicFramePr>
            <p:cNvPr id="39949" name="Object 4"/>
            <p:cNvGraphicFramePr>
              <a:graphicFrameLocks noChangeAspect="1"/>
            </p:cNvGraphicFramePr>
            <p:nvPr/>
          </p:nvGraphicFramePr>
          <p:xfrm>
            <a:off x="740" y="288"/>
            <a:ext cx="1196" cy="626"/>
          </p:xfrm>
          <a:graphic>
            <a:graphicData uri="http://schemas.openxmlformats.org/presentationml/2006/ole">
              <mc:AlternateContent xmlns:mc="http://schemas.openxmlformats.org/markup-compatibility/2006">
                <mc:Choice xmlns:v="urn:schemas-microsoft-com:vml" Requires="v">
                  <p:oleObj spid="_x0000_s40010" name="公式" r:id="rId1" imgW="762000" imgH="384810" progId="Equation.3">
                    <p:embed/>
                  </p:oleObj>
                </mc:Choice>
                <mc:Fallback>
                  <p:oleObj name="公式" r:id="rId1" imgW="762000" imgH="38481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 y="288"/>
                          <a:ext cx="1196" cy="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68294" name="Rectangle 6"/>
          <p:cNvSpPr>
            <a:spLocks noChangeArrowheads="1"/>
          </p:cNvSpPr>
          <p:nvPr/>
        </p:nvSpPr>
        <p:spPr bwMode="auto">
          <a:xfrm>
            <a:off x="1366838" y="3009900"/>
            <a:ext cx="3503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从中解得</a:t>
            </a:r>
            <a:r>
              <a:rPr lang="en-US" altLang="zh-CN" sz="3200" i="1">
                <a:ea typeface="华文新魏" panose="02010800040101010101" pitchFamily="2" charset="-122"/>
              </a:rPr>
              <a:t>N</a:t>
            </a:r>
            <a:r>
              <a:rPr lang="en-US" altLang="zh-CN" sz="3200">
                <a:ea typeface="华文新魏" panose="02010800040101010101" pitchFamily="2" charset="-122"/>
              </a:rPr>
              <a:t>≥141.5,</a:t>
            </a:r>
            <a:endParaRPr lang="en-US" altLang="zh-CN" sz="3200">
              <a:ea typeface="华文新魏" panose="02010800040101010101" pitchFamily="2" charset="-122"/>
            </a:endParaRPr>
          </a:p>
        </p:txBody>
      </p:sp>
      <p:sp>
        <p:nvSpPr>
          <p:cNvPr id="268295" name="Rectangle 7"/>
          <p:cNvSpPr>
            <a:spLocks noChangeArrowheads="1"/>
          </p:cNvSpPr>
          <p:nvPr/>
        </p:nvSpPr>
        <p:spPr bwMode="auto">
          <a:xfrm>
            <a:off x="5253038" y="3086100"/>
            <a:ext cx="26146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3200">
                <a:ea typeface="华文新魏" panose="02010800040101010101" pitchFamily="2" charset="-122"/>
              </a:rPr>
              <a:t>即所求</a:t>
            </a:r>
            <a:r>
              <a:rPr lang="en-US" altLang="zh-CN" sz="3200" i="1">
                <a:solidFill>
                  <a:srgbClr val="990000"/>
                </a:solidFill>
                <a:ea typeface="华文新魏" panose="02010800040101010101" pitchFamily="2" charset="-122"/>
              </a:rPr>
              <a:t>N</a:t>
            </a:r>
            <a:r>
              <a:rPr lang="en-US" altLang="zh-CN" sz="3200">
                <a:solidFill>
                  <a:srgbClr val="990000"/>
                </a:solidFill>
                <a:ea typeface="华文新魏" panose="02010800040101010101" pitchFamily="2" charset="-122"/>
              </a:rPr>
              <a:t>=142</a:t>
            </a:r>
            <a:r>
              <a:rPr lang="en-US" altLang="zh-CN" sz="3200">
                <a:ea typeface="华文新魏" panose="02010800040101010101" pitchFamily="2" charset="-122"/>
              </a:rPr>
              <a:t>.</a:t>
            </a:r>
            <a:endParaRPr lang="en-US" altLang="zh-CN" sz="3200">
              <a:ea typeface="华文新魏" panose="02010800040101010101" pitchFamily="2" charset="-122"/>
            </a:endParaRPr>
          </a:p>
        </p:txBody>
      </p:sp>
      <p:sp>
        <p:nvSpPr>
          <p:cNvPr id="268296" name="Text Box 8"/>
          <p:cNvSpPr txBox="1">
            <a:spLocks noChangeArrowheads="1"/>
          </p:cNvSpPr>
          <p:nvPr/>
        </p:nvSpPr>
        <p:spPr bwMode="auto">
          <a:xfrm>
            <a:off x="1366838" y="3932238"/>
            <a:ext cx="7391400"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sz="3200">
                <a:ea typeface="华文新魏" panose="02010800040101010101" pitchFamily="2" charset="-122"/>
              </a:rPr>
              <a:t>    也就是说</a:t>
            </a:r>
            <a:r>
              <a:rPr lang="en-US" altLang="zh-CN" sz="3200">
                <a:ea typeface="华文新魏" panose="02010800040101010101" pitchFamily="2" charset="-122"/>
              </a:rPr>
              <a:t>, </a:t>
            </a:r>
            <a:r>
              <a:rPr lang="zh-CN" altLang="en-US" sz="3200">
                <a:ea typeface="华文新魏" panose="02010800040101010101" pitchFamily="2" charset="-122"/>
              </a:rPr>
              <a:t>应供应</a:t>
            </a:r>
            <a:r>
              <a:rPr lang="en-US" altLang="zh-CN" sz="3200">
                <a:ea typeface="华文新魏" panose="02010800040101010101" pitchFamily="2" charset="-122"/>
              </a:rPr>
              <a:t>142 </a:t>
            </a:r>
            <a:r>
              <a:rPr lang="zh-CN" altLang="en-US" sz="3200">
                <a:ea typeface="华文新魏" panose="02010800040101010101" pitchFamily="2" charset="-122"/>
              </a:rPr>
              <a:t>千瓦电力就能以</a:t>
            </a:r>
            <a:r>
              <a:rPr lang="en-US" altLang="zh-CN" sz="3200">
                <a:ea typeface="华文新魏" panose="02010800040101010101" pitchFamily="2" charset="-122"/>
              </a:rPr>
              <a:t>99.9%</a:t>
            </a:r>
            <a:r>
              <a:rPr lang="zh-CN" altLang="en-US" sz="3200">
                <a:ea typeface="华文新魏" panose="02010800040101010101" pitchFamily="2" charset="-122"/>
              </a:rPr>
              <a:t>的概率保证该车间不会因供电不足而影响生产</a:t>
            </a:r>
            <a:r>
              <a:rPr lang="en-US" altLang="zh-CN" sz="3200">
                <a:ea typeface="华文新魏" panose="02010800040101010101" pitchFamily="2" charset="-122"/>
              </a:rPr>
              <a:t>.</a:t>
            </a:r>
            <a:endParaRPr lang="en-US" altLang="zh-CN" sz="3200" baseline="30000">
              <a:ea typeface="华文新魏" panose="02010800040101010101" pitchFamily="2" charset="-122"/>
            </a:endParaRPr>
          </a:p>
        </p:txBody>
      </p:sp>
      <p:graphicFrame>
        <p:nvGraphicFramePr>
          <p:cNvPr id="268297" name="Object 2"/>
          <p:cNvGraphicFramePr>
            <a:graphicFrameLocks noChangeAspect="1"/>
          </p:cNvGraphicFramePr>
          <p:nvPr/>
        </p:nvGraphicFramePr>
        <p:xfrm>
          <a:off x="5845175" y="1295400"/>
          <a:ext cx="2259013" cy="477838"/>
        </p:xfrm>
        <a:graphic>
          <a:graphicData uri="http://schemas.openxmlformats.org/presentationml/2006/ole">
            <mc:AlternateContent xmlns:mc="http://schemas.openxmlformats.org/markup-compatibility/2006">
              <mc:Choice xmlns:v="urn:schemas-microsoft-com:vml" Requires="v">
                <p:oleObj spid="_x0000_s40011" name="公式" r:id="rId3" imgW="914400" imgH="163830" progId="Equation.3">
                  <p:embed/>
                </p:oleObj>
              </mc:Choice>
              <mc:Fallback>
                <p:oleObj name="公式" r:id="rId3" imgW="914400" imgH="16383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5175" y="1295400"/>
                        <a:ext cx="2259013"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10"/>
          <p:cNvGrpSpPr/>
          <p:nvPr/>
        </p:nvGrpSpPr>
        <p:grpSpPr bwMode="auto">
          <a:xfrm>
            <a:off x="1519238" y="1751013"/>
            <a:ext cx="3092450" cy="992187"/>
            <a:chOff x="672" y="912"/>
            <a:chExt cx="1948" cy="625"/>
          </a:xfrm>
        </p:grpSpPr>
        <p:graphicFrame>
          <p:nvGraphicFramePr>
            <p:cNvPr id="39945" name="Object 3"/>
            <p:cNvGraphicFramePr>
              <a:graphicFrameLocks noChangeAspect="1"/>
            </p:cNvGraphicFramePr>
            <p:nvPr/>
          </p:nvGraphicFramePr>
          <p:xfrm>
            <a:off x="1084" y="912"/>
            <a:ext cx="832" cy="625"/>
          </p:xfrm>
          <a:graphic>
            <a:graphicData uri="http://schemas.openxmlformats.org/presentationml/2006/ole">
              <mc:AlternateContent xmlns:mc="http://schemas.openxmlformats.org/markup-compatibility/2006">
                <mc:Choice xmlns:v="urn:schemas-microsoft-com:vml" Requires="v">
                  <p:oleObj spid="_x0000_s40012" name="公式" r:id="rId5" imgW="523875" imgH="384810" progId="Equation.3">
                    <p:embed/>
                  </p:oleObj>
                </mc:Choice>
                <mc:Fallback>
                  <p:oleObj name="公式" r:id="rId5" imgW="523875" imgH="38481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4" y="912"/>
                          <a:ext cx="832" cy="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6" name="Rectangle 12"/>
            <p:cNvSpPr>
              <a:spLocks noChangeArrowheads="1"/>
            </p:cNvSpPr>
            <p:nvPr/>
          </p:nvSpPr>
          <p:spPr bwMode="auto">
            <a:xfrm>
              <a:off x="1800" y="1032"/>
              <a:ext cx="82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a:ea typeface="华文新魏" panose="02010800040101010101" pitchFamily="2" charset="-122"/>
                </a:rPr>
                <a:t>≥ </a:t>
              </a:r>
              <a:r>
                <a:rPr lang="en-US" altLang="zh-CN" sz="3200">
                  <a:ea typeface="华文新魏" panose="02010800040101010101" pitchFamily="2" charset="-122"/>
                </a:rPr>
                <a:t>3.1,</a:t>
              </a:r>
              <a:endParaRPr lang="en-US" altLang="zh-CN" sz="3200">
                <a:ea typeface="华文新魏" panose="02010800040101010101" pitchFamily="2" charset="-122"/>
              </a:endParaRPr>
            </a:p>
          </p:txBody>
        </p:sp>
        <p:sp>
          <p:nvSpPr>
            <p:cNvPr id="39947" name="Rectangle 13"/>
            <p:cNvSpPr>
              <a:spLocks noChangeArrowheads="1"/>
            </p:cNvSpPr>
            <p:nvPr/>
          </p:nvSpPr>
          <p:spPr bwMode="auto">
            <a:xfrm>
              <a:off x="672" y="1008"/>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a:ea typeface="华文新魏" panose="02010800040101010101" pitchFamily="2" charset="-122"/>
                </a:rPr>
                <a:t>故</a:t>
              </a:r>
              <a:endParaRPr lang="zh-CN" altLang="en-US" sz="3200">
                <a:ea typeface="华文新魏" panose="02010800040101010101"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268290"/>
                                        </p:tgtEl>
                                        <p:attrNameLst>
                                          <p:attrName>style.visibility</p:attrName>
                                        </p:attrNameLst>
                                      </p:cBhvr>
                                      <p:to>
                                        <p:strVal val="visible"/>
                                      </p:to>
                                    </p:set>
                                    <p:anim calcmode="lin" valueType="num">
                                      <p:cBhvr additive="base">
                                        <p:cTn id="12" dur="500" fill="hold"/>
                                        <p:tgtEl>
                                          <p:spTgt spid="268290"/>
                                        </p:tgtEl>
                                        <p:attrNameLst>
                                          <p:attrName>ppt_x</p:attrName>
                                        </p:attrNameLst>
                                      </p:cBhvr>
                                      <p:tavLst>
                                        <p:tav tm="0">
                                          <p:val>
                                            <p:strVal val="1+#ppt_w/2"/>
                                          </p:val>
                                        </p:tav>
                                        <p:tav tm="100000">
                                          <p:val>
                                            <p:strVal val="#ppt_x"/>
                                          </p:val>
                                        </p:tav>
                                      </p:tavLst>
                                    </p:anim>
                                    <p:anim calcmode="lin" valueType="num">
                                      <p:cBhvr additive="base">
                                        <p:cTn id="13" dur="500" fill="hold"/>
                                        <p:tgtEl>
                                          <p:spTgt spid="268290"/>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68297"/>
                                        </p:tgtEl>
                                        <p:attrNameLst>
                                          <p:attrName>style.visibility</p:attrName>
                                        </p:attrNameLst>
                                      </p:cBhvr>
                                      <p:to>
                                        <p:strVal val="visible"/>
                                      </p:to>
                                    </p:set>
                                    <p:animEffect transition="in" filter="wipe(left)">
                                      <p:cBhvr>
                                        <p:cTn id="18" dur="500"/>
                                        <p:tgtEl>
                                          <p:spTgt spid="26829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68294"/>
                                        </p:tgtEl>
                                        <p:attrNameLst>
                                          <p:attrName>style.visibility</p:attrName>
                                        </p:attrNameLst>
                                      </p:cBhvr>
                                      <p:to>
                                        <p:strVal val="visible"/>
                                      </p:to>
                                    </p:set>
                                    <p:animEffect transition="in" filter="wipe(left)">
                                      <p:cBhvr>
                                        <p:cTn id="28" dur="500"/>
                                        <p:tgtEl>
                                          <p:spTgt spid="268294"/>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268295"/>
                                        </p:tgtEl>
                                        <p:attrNameLst>
                                          <p:attrName>style.visibility</p:attrName>
                                        </p:attrNameLst>
                                      </p:cBhvr>
                                      <p:to>
                                        <p:strVal val="visible"/>
                                      </p:to>
                                    </p:set>
                                    <p:anim calcmode="lin" valueType="num">
                                      <p:cBhvr additive="base">
                                        <p:cTn id="33" dur="500" fill="hold"/>
                                        <p:tgtEl>
                                          <p:spTgt spid="268295"/>
                                        </p:tgtEl>
                                        <p:attrNameLst>
                                          <p:attrName>ppt_x</p:attrName>
                                        </p:attrNameLst>
                                      </p:cBhvr>
                                      <p:tavLst>
                                        <p:tav tm="0">
                                          <p:val>
                                            <p:strVal val="1+#ppt_w/2"/>
                                          </p:val>
                                        </p:tav>
                                        <p:tav tm="100000">
                                          <p:val>
                                            <p:strVal val="#ppt_x"/>
                                          </p:val>
                                        </p:tav>
                                      </p:tavLst>
                                    </p:anim>
                                    <p:anim calcmode="lin" valueType="num">
                                      <p:cBhvr additive="base">
                                        <p:cTn id="34" dur="500" fill="hold"/>
                                        <p:tgtEl>
                                          <p:spTgt spid="268295"/>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grpId="0" nodeType="clickEffect">
                                  <p:stCondLst>
                                    <p:cond delay="0"/>
                                  </p:stCondLst>
                                  <p:childTnLst>
                                    <p:set>
                                      <p:cBhvr>
                                        <p:cTn id="38" dur="1" fill="hold">
                                          <p:stCondLst>
                                            <p:cond delay="0"/>
                                          </p:stCondLst>
                                        </p:cTn>
                                        <p:tgtEl>
                                          <p:spTgt spid="268296"/>
                                        </p:tgtEl>
                                        <p:attrNameLst>
                                          <p:attrName>style.visibility</p:attrName>
                                        </p:attrNameLst>
                                      </p:cBhvr>
                                      <p:to>
                                        <p:strVal val="visible"/>
                                      </p:to>
                                    </p:set>
                                    <p:animEffect transition="in" filter="barn(outVertical)">
                                      <p:cBhvr>
                                        <p:cTn id="39" dur="500"/>
                                        <p:tgtEl>
                                          <p:spTgt spid="268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0" grpId="0" autoUpdateAnimBg="0"/>
      <p:bldP spid="268294" grpId="0" autoUpdateAnimBg="0"/>
      <p:bldP spid="268295" grpId="0" autoUpdateAnimBg="0"/>
      <p:bldP spid="268296"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1287463" y="476250"/>
            <a:ext cx="6610350"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dirty="0">
                <a:solidFill>
                  <a:srgbClr val="99CCFF"/>
                </a:solidFill>
                <a:latin typeface="宋体" panose="02010600030101010101" pitchFamily="2" charset="-122"/>
              </a:rPr>
              <a:t>　　</a:t>
            </a:r>
            <a:r>
              <a:rPr lang="zh-CN" altLang="en-US" sz="2200" b="1" dirty="0">
                <a:solidFill>
                  <a:srgbClr val="5050CC"/>
                </a:solidFill>
                <a:latin typeface="宋体" panose="02010600030101010101" pitchFamily="2" charset="-122"/>
              </a:rPr>
              <a:t>例</a:t>
            </a:r>
            <a:r>
              <a:rPr lang="zh-CN" altLang="en-US" sz="2200" dirty="0">
                <a:latin typeface="宋体" panose="02010600030101010101" pitchFamily="2" charset="-122"/>
              </a:rPr>
              <a:t>　检查员逐个地检查某种产品，每检查一只产品需要用</a:t>
            </a:r>
            <a:r>
              <a:rPr lang="en-US" altLang="zh-CN" sz="2200" dirty="0"/>
              <a:t>10</a:t>
            </a:r>
            <a:r>
              <a:rPr lang="zh-CN" altLang="en-US" sz="2200" dirty="0">
                <a:latin typeface="宋体" panose="02010600030101010101" pitchFamily="2" charset="-122"/>
              </a:rPr>
              <a:t>秒钟．但有的产品需重复检查一次，再用去</a:t>
            </a:r>
            <a:r>
              <a:rPr lang="en-US" altLang="zh-CN" sz="2200" dirty="0"/>
              <a:t>10</a:t>
            </a:r>
            <a:r>
              <a:rPr lang="zh-CN" altLang="en-US" sz="2200" dirty="0">
                <a:latin typeface="宋体" panose="02010600030101010101" pitchFamily="2" charset="-122"/>
              </a:rPr>
              <a:t>秒钟．假设产品需要重复检查的概率为</a:t>
            </a:r>
            <a:r>
              <a:rPr lang="en-US" altLang="zh-CN" sz="2200" dirty="0"/>
              <a:t>0.5</a:t>
            </a:r>
            <a:r>
              <a:rPr lang="zh-CN" altLang="en-US" sz="2200" dirty="0">
                <a:latin typeface="宋体" panose="02010600030101010101" pitchFamily="2" charset="-122"/>
              </a:rPr>
              <a:t>，求检验员在</a:t>
            </a:r>
            <a:r>
              <a:rPr lang="en-US" altLang="zh-CN" sz="2200" dirty="0"/>
              <a:t>8</a:t>
            </a:r>
            <a:r>
              <a:rPr lang="zh-CN" altLang="en-US" sz="2200" dirty="0">
                <a:latin typeface="宋体" panose="02010600030101010101" pitchFamily="2" charset="-122"/>
              </a:rPr>
              <a:t>小时内检查的产品多于</a:t>
            </a:r>
            <a:r>
              <a:rPr lang="en-US" altLang="zh-CN" sz="2200" dirty="0"/>
              <a:t>1900</a:t>
            </a:r>
            <a:r>
              <a:rPr lang="zh-CN" altLang="en-US" sz="2200" dirty="0">
                <a:latin typeface="宋体" panose="02010600030101010101" pitchFamily="2" charset="-122"/>
              </a:rPr>
              <a:t>个的概率．</a:t>
            </a:r>
            <a:endParaRPr lang="zh-CN" altLang="en-US" sz="2200" dirty="0">
              <a:latin typeface="宋体" panose="02010600030101010101" pitchFamily="2" charset="-122"/>
            </a:endParaRPr>
          </a:p>
        </p:txBody>
      </p:sp>
      <p:sp>
        <p:nvSpPr>
          <p:cNvPr id="41987" name="Text Box 3"/>
          <p:cNvSpPr txBox="1">
            <a:spLocks noChangeArrowheads="1"/>
          </p:cNvSpPr>
          <p:nvPr/>
        </p:nvSpPr>
        <p:spPr bwMode="auto">
          <a:xfrm>
            <a:off x="1268413" y="2276475"/>
            <a:ext cx="655320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dirty="0">
                <a:solidFill>
                  <a:srgbClr val="99CCFF"/>
                </a:solidFill>
                <a:latin typeface="宋体" panose="02010600030101010101" pitchFamily="2" charset="-122"/>
              </a:rPr>
              <a:t>　　</a:t>
            </a:r>
            <a:r>
              <a:rPr lang="zh-CN" altLang="en-US" sz="2200" b="1" dirty="0">
                <a:solidFill>
                  <a:srgbClr val="5050CC"/>
                </a:solidFill>
                <a:latin typeface="宋体" panose="02010600030101010101" pitchFamily="2" charset="-122"/>
              </a:rPr>
              <a:t>解</a:t>
            </a:r>
            <a:r>
              <a:rPr lang="zh-CN" altLang="en-US" sz="2200" dirty="0">
                <a:latin typeface="宋体" panose="02010600030101010101" pitchFamily="2" charset="-122"/>
              </a:rPr>
              <a:t>　检验员在</a:t>
            </a:r>
            <a:r>
              <a:rPr lang="en-US" altLang="zh-CN" sz="2200" dirty="0"/>
              <a:t>8</a:t>
            </a:r>
            <a:r>
              <a:rPr lang="zh-CN" altLang="en-US" sz="2200" dirty="0">
                <a:latin typeface="宋体" panose="02010600030101010101" pitchFamily="2" charset="-122"/>
              </a:rPr>
              <a:t>小时内检查的产品多于</a:t>
            </a:r>
            <a:r>
              <a:rPr lang="en-US" altLang="zh-CN" sz="2200" dirty="0"/>
              <a:t>1900</a:t>
            </a:r>
            <a:r>
              <a:rPr lang="zh-CN" altLang="en-US" sz="2200" dirty="0">
                <a:latin typeface="宋体" panose="02010600030101010101" pitchFamily="2" charset="-122"/>
              </a:rPr>
              <a:t>个即检查</a:t>
            </a:r>
            <a:r>
              <a:rPr lang="en-US" altLang="zh-CN" sz="2200" dirty="0"/>
              <a:t>1900</a:t>
            </a:r>
            <a:r>
              <a:rPr lang="zh-CN" altLang="en-US" sz="2200" dirty="0">
                <a:latin typeface="宋体" panose="02010600030101010101" pitchFamily="2" charset="-122"/>
              </a:rPr>
              <a:t>个产品所用的时间小于</a:t>
            </a:r>
            <a:r>
              <a:rPr lang="en-US" altLang="zh-CN" sz="2200" dirty="0"/>
              <a:t>8</a:t>
            </a:r>
            <a:r>
              <a:rPr lang="zh-CN" altLang="en-US" sz="2200" dirty="0">
                <a:latin typeface="宋体" panose="02010600030101010101" pitchFamily="2" charset="-122"/>
              </a:rPr>
              <a:t>小时．</a:t>
            </a:r>
            <a:endParaRPr lang="zh-CN" altLang="en-US" sz="2200" dirty="0">
              <a:latin typeface="宋体" panose="02010600030101010101" pitchFamily="2" charset="-122"/>
            </a:endParaRPr>
          </a:p>
        </p:txBody>
      </p:sp>
      <p:sp>
        <p:nvSpPr>
          <p:cNvPr id="41988" name="Text Box 4"/>
          <p:cNvSpPr txBox="1">
            <a:spLocks noChangeArrowheads="1"/>
          </p:cNvSpPr>
          <p:nvPr/>
        </p:nvSpPr>
        <p:spPr bwMode="auto">
          <a:xfrm>
            <a:off x="1801813" y="3190875"/>
            <a:ext cx="6264275"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dirty="0">
                <a:latin typeface="宋体" panose="02010600030101010101" pitchFamily="2" charset="-122"/>
              </a:rPr>
              <a:t>设</a:t>
            </a:r>
            <a:r>
              <a:rPr lang="zh-CN" altLang="en-US" sz="2200" dirty="0"/>
              <a:t> </a:t>
            </a:r>
            <a:r>
              <a:rPr lang="en-US" altLang="zh-CN" sz="2200" i="1" dirty="0"/>
              <a:t>X </a:t>
            </a:r>
            <a:r>
              <a:rPr lang="zh-CN" altLang="en-US" sz="2200" dirty="0">
                <a:latin typeface="宋体" panose="02010600030101010101" pitchFamily="2" charset="-122"/>
              </a:rPr>
              <a:t>为检查</a:t>
            </a:r>
            <a:r>
              <a:rPr lang="en-US" altLang="zh-CN" sz="2200" dirty="0"/>
              <a:t>1900</a:t>
            </a:r>
            <a:r>
              <a:rPr lang="zh-CN" altLang="en-US" sz="2200" dirty="0">
                <a:latin typeface="宋体" panose="02010600030101010101" pitchFamily="2" charset="-122"/>
              </a:rPr>
              <a:t>个产品所用的时间</a:t>
            </a:r>
            <a:r>
              <a:rPr lang="en-US" altLang="zh-CN" sz="2200" dirty="0">
                <a:latin typeface="宋体" panose="02010600030101010101" pitchFamily="2" charset="-122"/>
              </a:rPr>
              <a:t>(</a:t>
            </a:r>
            <a:r>
              <a:rPr lang="zh-CN" altLang="en-US" sz="2200" dirty="0">
                <a:latin typeface="宋体" panose="02010600030101010101" pitchFamily="2" charset="-122"/>
              </a:rPr>
              <a:t>单位：秒</a:t>
            </a:r>
            <a:r>
              <a:rPr lang="en-US" altLang="zh-CN" sz="2200" dirty="0">
                <a:latin typeface="宋体" panose="02010600030101010101" pitchFamily="2" charset="-122"/>
              </a:rPr>
              <a:t>)</a:t>
            </a:r>
            <a:r>
              <a:rPr lang="zh-CN" altLang="en-US" sz="2200" dirty="0">
                <a:latin typeface="宋体" panose="02010600030101010101" pitchFamily="2" charset="-122"/>
              </a:rPr>
              <a:t>．</a:t>
            </a:r>
            <a:endParaRPr lang="zh-CN" altLang="en-US" sz="2200" dirty="0">
              <a:latin typeface="宋体" panose="02010600030101010101" pitchFamily="2" charset="-122"/>
            </a:endParaRPr>
          </a:p>
        </p:txBody>
      </p:sp>
      <p:sp>
        <p:nvSpPr>
          <p:cNvPr id="41989" name="Rectangle 5"/>
          <p:cNvSpPr>
            <a:spLocks noChangeArrowheads="1"/>
          </p:cNvSpPr>
          <p:nvPr/>
        </p:nvSpPr>
        <p:spPr bwMode="auto">
          <a:xfrm>
            <a:off x="1258888" y="3648075"/>
            <a:ext cx="6878637"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pPr>
            <a:r>
              <a:rPr lang="zh-CN" altLang="en-US" sz="2200" dirty="0">
                <a:latin typeface="宋体" panose="02010600030101010101" pitchFamily="2" charset="-122"/>
              </a:rPr>
              <a:t>　　设</a:t>
            </a:r>
            <a:r>
              <a:rPr lang="zh-CN" altLang="en-US" sz="2200" dirty="0"/>
              <a:t> </a:t>
            </a:r>
            <a:r>
              <a:rPr lang="en-US" altLang="zh-CN" sz="2200" i="1" dirty="0" err="1"/>
              <a:t>X</a:t>
            </a:r>
            <a:r>
              <a:rPr lang="en-US" altLang="zh-CN" sz="2200" i="1" baseline="-25000" dirty="0" err="1"/>
              <a:t>k</a:t>
            </a:r>
            <a:r>
              <a:rPr lang="en-US" altLang="zh-CN" sz="2200" i="1" dirty="0"/>
              <a:t> </a:t>
            </a:r>
            <a:r>
              <a:rPr lang="zh-CN" altLang="en-US" sz="2200" dirty="0">
                <a:latin typeface="宋体" panose="02010600030101010101" pitchFamily="2" charset="-122"/>
              </a:rPr>
              <a:t>为检查第</a:t>
            </a:r>
            <a:r>
              <a:rPr lang="zh-CN" altLang="en-US" sz="2200" dirty="0"/>
              <a:t> </a:t>
            </a:r>
            <a:r>
              <a:rPr lang="en-US" altLang="zh-CN" sz="2200" i="1" dirty="0"/>
              <a:t>k</a:t>
            </a:r>
            <a:r>
              <a:rPr lang="en-US" altLang="zh-CN" sz="2200" dirty="0"/>
              <a:t> </a:t>
            </a:r>
            <a:r>
              <a:rPr lang="zh-CN" altLang="en-US" sz="2200" dirty="0">
                <a:latin typeface="宋体" panose="02010600030101010101" pitchFamily="2" charset="-122"/>
              </a:rPr>
              <a:t>个产品所用的时间</a:t>
            </a:r>
            <a:r>
              <a:rPr lang="en-US" altLang="zh-CN" sz="2200" dirty="0">
                <a:latin typeface="宋体" panose="02010600030101010101" pitchFamily="2" charset="-122"/>
              </a:rPr>
              <a:t>(</a:t>
            </a:r>
            <a:r>
              <a:rPr lang="zh-CN" altLang="en-US" sz="2200" dirty="0">
                <a:latin typeface="宋体" panose="02010600030101010101" pitchFamily="2" charset="-122"/>
              </a:rPr>
              <a:t>单位：秒</a:t>
            </a:r>
            <a:r>
              <a:rPr lang="en-US" altLang="zh-CN" sz="2200" dirty="0">
                <a:latin typeface="宋体" panose="02010600030101010101" pitchFamily="2" charset="-122"/>
              </a:rPr>
              <a:t>)</a:t>
            </a:r>
            <a:r>
              <a:rPr lang="zh-CN" altLang="en-US" sz="2200" dirty="0">
                <a:latin typeface="宋体" panose="02010600030101010101" pitchFamily="2" charset="-122"/>
              </a:rPr>
              <a:t>， </a:t>
            </a:r>
            <a:endParaRPr lang="zh-CN" altLang="en-US" sz="2200" dirty="0">
              <a:latin typeface="宋体" panose="02010600030101010101" pitchFamily="2" charset="-122"/>
            </a:endParaRPr>
          </a:p>
          <a:p>
            <a:pPr eaLnBrk="1" hangingPunct="1">
              <a:lnSpc>
                <a:spcPct val="130000"/>
              </a:lnSpc>
              <a:spcBef>
                <a:spcPct val="50000"/>
              </a:spcBef>
            </a:pPr>
            <a:r>
              <a:rPr lang="zh-CN" altLang="en-US" sz="2200" dirty="0">
                <a:latin typeface="宋体" panose="02010600030101010101" pitchFamily="2" charset="-122"/>
              </a:rPr>
              <a:t>  </a:t>
            </a:r>
            <a:r>
              <a:rPr lang="en-US" altLang="zh-CN" sz="2200" i="1" dirty="0"/>
              <a:t>k = </a:t>
            </a:r>
            <a:r>
              <a:rPr lang="en-US" altLang="zh-CN" sz="2200" dirty="0"/>
              <a:t>1,2,…,1900</a:t>
            </a:r>
            <a:r>
              <a:rPr lang="zh-CN" altLang="en-US" sz="2200" dirty="0"/>
              <a:t>．</a:t>
            </a:r>
            <a:endParaRPr lang="zh-CN" altLang="en-US" sz="2200" dirty="0"/>
          </a:p>
        </p:txBody>
      </p:sp>
      <p:grpSp>
        <p:nvGrpSpPr>
          <p:cNvPr id="41990" name="Group 6"/>
          <p:cNvGrpSpPr/>
          <p:nvPr/>
        </p:nvGrpSpPr>
        <p:grpSpPr bwMode="auto">
          <a:xfrm>
            <a:off x="1692275" y="4868863"/>
            <a:ext cx="2338388" cy="1189037"/>
            <a:chOff x="1311" y="403"/>
            <a:chExt cx="1473" cy="749"/>
          </a:xfrm>
        </p:grpSpPr>
        <p:sp>
          <p:nvSpPr>
            <p:cNvPr id="41992" name="Line 7"/>
            <p:cNvSpPr>
              <a:spLocks noChangeShapeType="1"/>
            </p:cNvSpPr>
            <p:nvPr/>
          </p:nvSpPr>
          <p:spPr bwMode="auto">
            <a:xfrm>
              <a:off x="1344" y="768"/>
              <a:ext cx="1440" cy="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1993" name="Line 8"/>
            <p:cNvSpPr>
              <a:spLocks noChangeShapeType="1"/>
            </p:cNvSpPr>
            <p:nvPr/>
          </p:nvSpPr>
          <p:spPr bwMode="auto">
            <a:xfrm>
              <a:off x="1728" y="432"/>
              <a:ext cx="0" cy="72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41994" name="Rectangle 9"/>
            <p:cNvSpPr>
              <a:spLocks noChangeArrowheads="1"/>
            </p:cNvSpPr>
            <p:nvPr/>
          </p:nvSpPr>
          <p:spPr bwMode="auto">
            <a:xfrm>
              <a:off x="1311" y="403"/>
              <a:ext cx="32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ea typeface="楷体_GB2312" pitchFamily="49" charset="-122"/>
                </a:rPr>
                <a:t> </a:t>
              </a:r>
              <a:r>
                <a:rPr lang="en-US" altLang="zh-CN" sz="2200" i="1">
                  <a:ea typeface="楷体_GB2312" pitchFamily="49" charset="-122"/>
                </a:rPr>
                <a:t>X</a:t>
              </a:r>
              <a:r>
                <a:rPr lang="en-US" altLang="zh-CN" sz="2200" i="1" baseline="-25000">
                  <a:ea typeface="楷体_GB2312" pitchFamily="49" charset="-122"/>
                </a:rPr>
                <a:t>k</a:t>
              </a:r>
              <a:endParaRPr lang="en-US" altLang="zh-CN" sz="2200" i="1" baseline="-25000">
                <a:ea typeface="楷体_GB2312" pitchFamily="49" charset="-122"/>
              </a:endParaRPr>
            </a:p>
          </p:txBody>
        </p:sp>
        <p:sp>
          <p:nvSpPr>
            <p:cNvPr id="41995" name="Rectangle 10"/>
            <p:cNvSpPr>
              <a:spLocks noChangeArrowheads="1"/>
            </p:cNvSpPr>
            <p:nvPr/>
          </p:nvSpPr>
          <p:spPr bwMode="auto">
            <a:xfrm>
              <a:off x="1364" y="864"/>
              <a:ext cx="26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i="1">
                  <a:ea typeface="楷体_GB2312" pitchFamily="49" charset="-122"/>
                </a:rPr>
                <a:t>P </a:t>
              </a:r>
              <a:endParaRPr lang="en-US" altLang="zh-CN" sz="2200" i="1" baseline="-25000">
                <a:ea typeface="楷体_GB2312" pitchFamily="49" charset="-122"/>
              </a:endParaRPr>
            </a:p>
          </p:txBody>
        </p:sp>
        <p:sp>
          <p:nvSpPr>
            <p:cNvPr id="41996" name="Text Box 11"/>
            <p:cNvSpPr txBox="1">
              <a:spLocks noChangeArrowheads="1"/>
            </p:cNvSpPr>
            <p:nvPr/>
          </p:nvSpPr>
          <p:spPr bwMode="auto">
            <a:xfrm>
              <a:off x="1776" y="403"/>
              <a:ext cx="90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a:ea typeface="楷体_GB2312" pitchFamily="49" charset="-122"/>
                </a:rPr>
                <a:t>10          20</a:t>
              </a:r>
              <a:endParaRPr lang="en-US" altLang="zh-CN" sz="2200">
                <a:ea typeface="楷体_GB2312" pitchFamily="49" charset="-122"/>
              </a:endParaRPr>
            </a:p>
          </p:txBody>
        </p:sp>
        <p:sp>
          <p:nvSpPr>
            <p:cNvPr id="41997" name="Text Box 12"/>
            <p:cNvSpPr txBox="1">
              <a:spLocks noChangeArrowheads="1"/>
            </p:cNvSpPr>
            <p:nvPr/>
          </p:nvSpPr>
          <p:spPr bwMode="auto">
            <a:xfrm>
              <a:off x="1776" y="864"/>
              <a:ext cx="95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a:ea typeface="楷体_GB2312" pitchFamily="49" charset="-122"/>
                </a:rPr>
                <a:t>0.5         0.5</a:t>
              </a:r>
              <a:endParaRPr lang="en-US" altLang="zh-CN" sz="2200">
                <a:ea typeface="楷体_GB2312" pitchFamily="49" charset="-122"/>
              </a:endParaRPr>
            </a:p>
          </p:txBody>
        </p:sp>
      </p:grpSp>
      <p:graphicFrame>
        <p:nvGraphicFramePr>
          <p:cNvPr id="41991" name="Object 2"/>
          <p:cNvGraphicFramePr>
            <a:graphicFrameLocks noChangeAspect="1"/>
          </p:cNvGraphicFramePr>
          <p:nvPr/>
        </p:nvGraphicFramePr>
        <p:xfrm>
          <a:off x="4500563" y="5229225"/>
          <a:ext cx="2971800" cy="341313"/>
        </p:xfrm>
        <a:graphic>
          <a:graphicData uri="http://schemas.openxmlformats.org/presentationml/2006/ole">
            <mc:AlternateContent xmlns:mc="http://schemas.openxmlformats.org/markup-compatibility/2006">
              <mc:Choice xmlns:v="urn:schemas-microsoft-com:vml" Requires="v">
                <p:oleObj spid="_x0000_s42019" name="Equation" r:id="rId1" imgW="4152900" imgH="452120" progId="Equation.3">
                  <p:embed/>
                </p:oleObj>
              </mc:Choice>
              <mc:Fallback>
                <p:oleObj name="Equation" r:id="rId1" imgW="4152900" imgH="45212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0563" y="5229225"/>
                        <a:ext cx="2971800" cy="341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9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9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p:bldP spid="41988" grpId="0"/>
      <p:bldP spid="4198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010" name="Object 2"/>
          <p:cNvGraphicFramePr>
            <a:graphicFrameLocks noChangeAspect="1"/>
          </p:cNvGraphicFramePr>
          <p:nvPr/>
        </p:nvGraphicFramePr>
        <p:xfrm>
          <a:off x="6232525" y="981075"/>
          <a:ext cx="1219200" cy="690563"/>
        </p:xfrm>
        <a:graphic>
          <a:graphicData uri="http://schemas.openxmlformats.org/presentationml/2006/ole">
            <mc:AlternateContent xmlns:mc="http://schemas.openxmlformats.org/markup-compatibility/2006">
              <mc:Choice xmlns:v="urn:schemas-microsoft-com:vml" Requires="v">
                <p:oleObj spid="_x0000_s43187" name="Equation" r:id="rId1" imgW="1714500" imgH="962660" progId="Equation.3">
                  <p:embed/>
                </p:oleObj>
              </mc:Choice>
              <mc:Fallback>
                <p:oleObj name="Equation" r:id="rId1" imgW="1714500" imgH="96266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2525" y="981075"/>
                        <a:ext cx="1219200" cy="690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1" name="Object 3"/>
          <p:cNvGraphicFramePr>
            <a:graphicFrameLocks noChangeAspect="1"/>
          </p:cNvGraphicFramePr>
          <p:nvPr/>
        </p:nvGraphicFramePr>
        <p:xfrm>
          <a:off x="1736725" y="1098550"/>
          <a:ext cx="1811338" cy="346075"/>
        </p:xfrm>
        <a:graphic>
          <a:graphicData uri="http://schemas.openxmlformats.org/presentationml/2006/ole">
            <mc:AlternateContent xmlns:mc="http://schemas.openxmlformats.org/markup-compatibility/2006">
              <mc:Choice xmlns:v="urn:schemas-microsoft-com:vml" Requires="v">
                <p:oleObj spid="_x0000_s43188" name="Equation" r:id="rId3" imgW="2486025" imgH="452120" progId="Equation.3">
                  <p:embed/>
                </p:oleObj>
              </mc:Choice>
              <mc:Fallback>
                <p:oleObj name="Equation" r:id="rId3" imgW="2486025" imgH="45212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6725" y="1098550"/>
                        <a:ext cx="1811338"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2" name="Text Box 4"/>
          <p:cNvSpPr txBox="1">
            <a:spLocks noChangeArrowheads="1"/>
          </p:cNvSpPr>
          <p:nvPr/>
        </p:nvSpPr>
        <p:spPr bwMode="auto">
          <a:xfrm>
            <a:off x="3533775" y="1033463"/>
            <a:ext cx="26987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相互独立</a:t>
            </a:r>
            <a:r>
              <a:rPr lang="en-US" altLang="zh-CN" sz="2200">
                <a:latin typeface="宋体" panose="02010600030101010101" pitchFamily="2" charset="-122"/>
              </a:rPr>
              <a:t>,</a:t>
            </a:r>
            <a:r>
              <a:rPr lang="zh-CN" altLang="en-US" sz="2200">
                <a:latin typeface="宋体" panose="02010600030101010101" pitchFamily="2" charset="-122"/>
              </a:rPr>
              <a:t>且同分布</a:t>
            </a:r>
            <a:r>
              <a:rPr lang="en-US" altLang="zh-CN" sz="2200">
                <a:latin typeface="宋体" panose="02010600030101010101" pitchFamily="2" charset="-122"/>
              </a:rPr>
              <a:t>,</a:t>
            </a:r>
            <a:endParaRPr lang="en-US" altLang="zh-CN" sz="2200">
              <a:latin typeface="宋体" panose="02010600030101010101" pitchFamily="2" charset="-122"/>
            </a:endParaRPr>
          </a:p>
        </p:txBody>
      </p:sp>
      <p:graphicFrame>
        <p:nvGraphicFramePr>
          <p:cNvPr id="43013" name="Object 4"/>
          <p:cNvGraphicFramePr>
            <a:graphicFrameLocks noChangeAspect="1"/>
          </p:cNvGraphicFramePr>
          <p:nvPr/>
        </p:nvGraphicFramePr>
        <p:xfrm>
          <a:off x="1736725" y="1747838"/>
          <a:ext cx="3124200" cy="728662"/>
        </p:xfrm>
        <a:graphic>
          <a:graphicData uri="http://schemas.openxmlformats.org/presentationml/2006/ole">
            <mc:AlternateContent xmlns:mc="http://schemas.openxmlformats.org/markup-compatibility/2006">
              <mc:Choice xmlns:v="urn:schemas-microsoft-com:vml" Requires="v">
                <p:oleObj spid="_x0000_s43189" name="Equation" r:id="rId5" imgW="4276725" imgH="1010920" progId="Equation.3">
                  <p:embed/>
                </p:oleObj>
              </mc:Choice>
              <mc:Fallback>
                <p:oleObj name="Equation" r:id="rId5" imgW="4276725" imgH="101092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36725" y="1747838"/>
                        <a:ext cx="3124200" cy="728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4" name="Object 5"/>
          <p:cNvGraphicFramePr>
            <a:graphicFrameLocks noChangeAspect="1"/>
          </p:cNvGraphicFramePr>
          <p:nvPr/>
        </p:nvGraphicFramePr>
        <p:xfrm>
          <a:off x="1763713" y="2636838"/>
          <a:ext cx="3065462" cy="561975"/>
        </p:xfrm>
        <a:graphic>
          <a:graphicData uri="http://schemas.openxmlformats.org/presentationml/2006/ole">
            <mc:AlternateContent xmlns:mc="http://schemas.openxmlformats.org/markup-compatibility/2006">
              <mc:Choice xmlns:v="urn:schemas-microsoft-com:vml" Requires="v">
                <p:oleObj spid="_x0000_s43190" name="Equation" r:id="rId7" imgW="2752725" imgH="567690" progId="Equation.DSMT4">
                  <p:embed/>
                </p:oleObj>
              </mc:Choice>
              <mc:Fallback>
                <p:oleObj name="Equation" r:id="rId7" imgW="2752725" imgH="56769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3713" y="2636838"/>
                        <a:ext cx="3065462"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5" name="Object 6"/>
          <p:cNvGraphicFramePr>
            <a:graphicFrameLocks noChangeAspect="1"/>
          </p:cNvGraphicFramePr>
          <p:nvPr/>
        </p:nvGraphicFramePr>
        <p:xfrm>
          <a:off x="2112963" y="3357563"/>
          <a:ext cx="2146300" cy="809625"/>
        </p:xfrm>
        <a:graphic>
          <a:graphicData uri="http://schemas.openxmlformats.org/presentationml/2006/ole">
            <mc:AlternateContent xmlns:mc="http://schemas.openxmlformats.org/markup-compatibility/2006">
              <mc:Choice xmlns:v="urn:schemas-microsoft-com:vml" Requires="v">
                <p:oleObj spid="_x0000_s43191" name="Equation" r:id="rId9" imgW="1114425" imgH="394335" progId="Equation.DSMT4">
                  <p:embed/>
                </p:oleObj>
              </mc:Choice>
              <mc:Fallback>
                <p:oleObj name="Equation" r:id="rId9" imgW="1114425" imgH="394335"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12963" y="3357563"/>
                        <a:ext cx="2146300" cy="809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6" name="Object 7"/>
          <p:cNvGraphicFramePr>
            <a:graphicFrameLocks noChangeAspect="1"/>
          </p:cNvGraphicFramePr>
          <p:nvPr/>
        </p:nvGraphicFramePr>
        <p:xfrm>
          <a:off x="2195513" y="5373688"/>
          <a:ext cx="1408112" cy="503237"/>
        </p:xfrm>
        <a:graphic>
          <a:graphicData uri="http://schemas.openxmlformats.org/presentationml/2006/ole">
            <mc:AlternateContent xmlns:mc="http://schemas.openxmlformats.org/markup-compatibility/2006">
              <mc:Choice xmlns:v="urn:schemas-microsoft-com:vml" Requires="v">
                <p:oleObj spid="_x0000_s43192" name="Equation" r:id="rId11" imgW="714375" imgH="221615" progId="Equation.DSMT4">
                  <p:embed/>
                </p:oleObj>
              </mc:Choice>
              <mc:Fallback>
                <p:oleObj name="Equation" r:id="rId11" imgW="714375" imgH="221615" progId="Equation.DSMT4">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95513" y="5373688"/>
                        <a:ext cx="1408112"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7" name="Object 8"/>
          <p:cNvGraphicFramePr>
            <a:graphicFrameLocks noChangeAspect="1"/>
          </p:cNvGraphicFramePr>
          <p:nvPr/>
        </p:nvGraphicFramePr>
        <p:xfrm>
          <a:off x="3635375" y="5445125"/>
          <a:ext cx="1066800" cy="249238"/>
        </p:xfrm>
        <a:graphic>
          <a:graphicData uri="http://schemas.openxmlformats.org/presentationml/2006/ole">
            <mc:AlternateContent xmlns:mc="http://schemas.openxmlformats.org/markup-compatibility/2006">
              <mc:Choice xmlns:v="urn:schemas-microsoft-com:vml" Requires="v">
                <p:oleObj spid="_x0000_s43193" name="Equation" r:id="rId13" imgW="1419225" imgH="307975" progId="Equation.3">
                  <p:embed/>
                </p:oleObj>
              </mc:Choice>
              <mc:Fallback>
                <p:oleObj name="Equation" r:id="rId13" imgW="1419225" imgH="307975"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35375" y="5445125"/>
                        <a:ext cx="1066800" cy="249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8" name="Object 9"/>
          <p:cNvGraphicFramePr>
            <a:graphicFrameLocks noChangeAspect="1"/>
          </p:cNvGraphicFramePr>
          <p:nvPr/>
        </p:nvGraphicFramePr>
        <p:xfrm>
          <a:off x="2124075" y="4365625"/>
          <a:ext cx="2411413" cy="854075"/>
        </p:xfrm>
        <a:graphic>
          <a:graphicData uri="http://schemas.openxmlformats.org/presentationml/2006/ole">
            <mc:AlternateContent xmlns:mc="http://schemas.openxmlformats.org/markup-compatibility/2006">
              <mc:Choice xmlns:v="urn:schemas-microsoft-com:vml" Requires="v">
                <p:oleObj spid="_x0000_s43194" name="Equation" r:id="rId15" imgW="1333500" imgH="423545" progId="Equation.DSMT4">
                  <p:embed/>
                </p:oleObj>
              </mc:Choice>
              <mc:Fallback>
                <p:oleObj name="Equation" r:id="rId15" imgW="1333500" imgH="423545" progId="Equation.DSMT4">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24075" y="4365625"/>
                        <a:ext cx="2411413" cy="854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0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30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0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0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30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0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1611313" y="836613"/>
            <a:ext cx="6416675" cy="270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dirty="0">
                <a:solidFill>
                  <a:srgbClr val="99CCFF"/>
                </a:solidFill>
                <a:latin typeface="宋体" panose="02010600030101010101" pitchFamily="2" charset="-122"/>
              </a:rPr>
              <a:t>　　</a:t>
            </a:r>
            <a:r>
              <a:rPr lang="zh-CN" altLang="en-US" sz="2200" b="1" dirty="0">
                <a:solidFill>
                  <a:srgbClr val="5050CC"/>
                </a:solidFill>
                <a:latin typeface="宋体" panose="02010600030101010101" pitchFamily="2" charset="-122"/>
              </a:rPr>
              <a:t>例</a:t>
            </a:r>
            <a:r>
              <a:rPr lang="zh-CN" altLang="en-US" sz="2200" dirty="0">
                <a:latin typeface="宋体" panose="02010600030101010101" pitchFamily="2" charset="-122"/>
              </a:rPr>
              <a:t>　对敌人的防御工事用炮火进行</a:t>
            </a:r>
            <a:r>
              <a:rPr lang="en-US" altLang="zh-CN" sz="2200" dirty="0"/>
              <a:t>100</a:t>
            </a:r>
            <a:r>
              <a:rPr lang="zh-CN" altLang="en-US" sz="2200" dirty="0">
                <a:latin typeface="宋体" panose="02010600030101010101" pitchFamily="2" charset="-122"/>
              </a:rPr>
              <a:t>次轰击，设每次轰击命中的炮弹数服从同一分布</a:t>
            </a:r>
            <a:r>
              <a:rPr lang="en-US" altLang="zh-CN" sz="2200" dirty="0">
                <a:latin typeface="宋体" panose="02010600030101010101" pitchFamily="2" charset="-122"/>
              </a:rPr>
              <a:t>, </a:t>
            </a:r>
            <a:r>
              <a:rPr lang="zh-CN" altLang="en-US" sz="2200" dirty="0">
                <a:latin typeface="宋体" panose="02010600030101010101" pitchFamily="2" charset="-122"/>
              </a:rPr>
              <a:t>其数学期望为</a:t>
            </a:r>
            <a:r>
              <a:rPr lang="en-US" altLang="zh-CN" sz="2200" dirty="0"/>
              <a:t>2</a:t>
            </a:r>
            <a:r>
              <a:rPr lang="zh-CN" altLang="en-US" sz="2200" dirty="0">
                <a:latin typeface="宋体" panose="02010600030101010101" pitchFamily="2" charset="-122"/>
              </a:rPr>
              <a:t>，均方差为</a:t>
            </a:r>
            <a:r>
              <a:rPr lang="en-US" altLang="zh-CN" sz="2200" dirty="0"/>
              <a:t>1.5</a:t>
            </a:r>
            <a:r>
              <a:rPr lang="zh-CN" altLang="en-US" sz="2200" b="1" dirty="0">
                <a:latin typeface="宋体" panose="02010600030101010101" pitchFamily="2" charset="-122"/>
              </a:rPr>
              <a:t>．</a:t>
            </a:r>
            <a:r>
              <a:rPr lang="zh-CN" altLang="en-US" sz="2200" dirty="0">
                <a:latin typeface="宋体" panose="02010600030101010101" pitchFamily="2" charset="-122"/>
              </a:rPr>
              <a:t>如果各次轰击命中的炮弹数是相互独立的，求</a:t>
            </a:r>
            <a:r>
              <a:rPr lang="en-US" altLang="zh-CN" sz="2200" dirty="0"/>
              <a:t>100</a:t>
            </a:r>
            <a:r>
              <a:rPr lang="zh-CN" altLang="en-US" sz="2200" dirty="0">
                <a:latin typeface="宋体" panose="02010600030101010101" pitchFamily="2" charset="-122"/>
              </a:rPr>
              <a:t>次轰击</a:t>
            </a:r>
            <a:endParaRPr lang="zh-CN" altLang="en-US" sz="2200" dirty="0">
              <a:latin typeface="宋体" panose="02010600030101010101" pitchFamily="2" charset="-122"/>
            </a:endParaRPr>
          </a:p>
          <a:p>
            <a:pPr eaLnBrk="1" hangingPunct="1">
              <a:lnSpc>
                <a:spcPct val="130000"/>
              </a:lnSpc>
            </a:pPr>
            <a:r>
              <a:rPr lang="zh-CN" altLang="en-US" sz="2200" dirty="0"/>
              <a:t>　　</a:t>
            </a:r>
            <a:r>
              <a:rPr lang="en-US" altLang="zh-CN" sz="2200" dirty="0"/>
              <a:t>(1) </a:t>
            </a:r>
            <a:r>
              <a:rPr lang="zh-CN" altLang="en-US" sz="2200" dirty="0">
                <a:latin typeface="宋体" panose="02010600030101010101" pitchFamily="2" charset="-122"/>
              </a:rPr>
              <a:t>至少命中</a:t>
            </a:r>
            <a:r>
              <a:rPr lang="en-US" altLang="zh-CN" sz="2200" dirty="0"/>
              <a:t>180</a:t>
            </a:r>
            <a:r>
              <a:rPr lang="zh-CN" altLang="en-US" sz="2200" dirty="0">
                <a:latin typeface="宋体" panose="02010600030101010101" pitchFamily="2" charset="-122"/>
              </a:rPr>
              <a:t>发炮弹的概率</a:t>
            </a:r>
            <a:r>
              <a:rPr lang="zh-CN" altLang="en-US" sz="2200" b="1" dirty="0">
                <a:latin typeface="宋体" panose="02010600030101010101" pitchFamily="2" charset="-122"/>
              </a:rPr>
              <a:t>；</a:t>
            </a:r>
            <a:endParaRPr lang="zh-CN" altLang="en-US" sz="2200" b="1" dirty="0">
              <a:latin typeface="宋体" panose="02010600030101010101" pitchFamily="2" charset="-122"/>
            </a:endParaRPr>
          </a:p>
          <a:p>
            <a:pPr eaLnBrk="1" hangingPunct="1">
              <a:lnSpc>
                <a:spcPct val="130000"/>
              </a:lnSpc>
            </a:pPr>
            <a:r>
              <a:rPr lang="zh-CN" altLang="en-US" sz="2200" dirty="0"/>
              <a:t>　　</a:t>
            </a:r>
            <a:r>
              <a:rPr lang="en-US" altLang="zh-CN" sz="2200" dirty="0"/>
              <a:t>(2) </a:t>
            </a:r>
            <a:r>
              <a:rPr lang="zh-CN" altLang="en-US" sz="2200" dirty="0">
                <a:latin typeface="宋体" panose="02010600030101010101" pitchFamily="2" charset="-122"/>
              </a:rPr>
              <a:t>命中的炮弹数不到</a:t>
            </a:r>
            <a:r>
              <a:rPr lang="en-US" altLang="zh-CN" sz="2200" dirty="0"/>
              <a:t>200</a:t>
            </a:r>
            <a:r>
              <a:rPr lang="zh-CN" altLang="en-US" sz="2200" dirty="0">
                <a:latin typeface="宋体" panose="02010600030101010101" pitchFamily="2" charset="-122"/>
              </a:rPr>
              <a:t>发的概率</a:t>
            </a:r>
            <a:r>
              <a:rPr lang="zh-CN" altLang="en-US" sz="2200" b="1" dirty="0">
                <a:latin typeface="宋体" panose="02010600030101010101" pitchFamily="2" charset="-122"/>
              </a:rPr>
              <a:t>．</a:t>
            </a:r>
            <a:endParaRPr lang="zh-CN" altLang="en-US" sz="2200" b="1" dirty="0">
              <a:latin typeface="宋体" panose="02010600030101010101" pitchFamily="2" charset="-122"/>
            </a:endParaRPr>
          </a:p>
        </p:txBody>
      </p:sp>
      <p:sp>
        <p:nvSpPr>
          <p:cNvPr id="44035" name="Text Box 3"/>
          <p:cNvSpPr txBox="1">
            <a:spLocks noChangeArrowheads="1"/>
          </p:cNvSpPr>
          <p:nvPr/>
        </p:nvSpPr>
        <p:spPr bwMode="auto">
          <a:xfrm>
            <a:off x="1570038" y="3544888"/>
            <a:ext cx="5808662"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dirty="0">
                <a:solidFill>
                  <a:srgbClr val="99CCFF"/>
                </a:solidFill>
                <a:latin typeface="宋体" panose="02010600030101010101" pitchFamily="2" charset="-122"/>
              </a:rPr>
              <a:t>　　</a:t>
            </a:r>
            <a:r>
              <a:rPr lang="zh-CN" altLang="en-US" sz="2200" b="1" dirty="0">
                <a:solidFill>
                  <a:srgbClr val="5050CC"/>
                </a:solidFill>
                <a:latin typeface="宋体" panose="02010600030101010101" pitchFamily="2" charset="-122"/>
              </a:rPr>
              <a:t>解</a:t>
            </a:r>
            <a:r>
              <a:rPr lang="zh-CN" altLang="en-US" sz="2200" b="1" dirty="0">
                <a:solidFill>
                  <a:srgbClr val="99CCFF"/>
                </a:solidFill>
                <a:latin typeface="宋体" panose="02010600030101010101" pitchFamily="2" charset="-122"/>
              </a:rPr>
              <a:t>　</a:t>
            </a:r>
            <a:r>
              <a:rPr lang="zh-CN" altLang="en-US" sz="2200" dirty="0">
                <a:latin typeface="宋体" panose="02010600030101010101" pitchFamily="2" charset="-122"/>
              </a:rPr>
              <a:t>设</a:t>
            </a:r>
            <a:r>
              <a:rPr lang="en-US" altLang="zh-CN" sz="2200" i="1" dirty="0"/>
              <a:t>X </a:t>
            </a:r>
            <a:r>
              <a:rPr lang="en-US" altLang="zh-CN" sz="2200" i="1" baseline="-25000" dirty="0"/>
              <a:t>k</a:t>
            </a:r>
            <a:r>
              <a:rPr lang="zh-CN" altLang="en-US" sz="2200" dirty="0">
                <a:latin typeface="宋体" panose="02010600030101010101" pitchFamily="2" charset="-122"/>
              </a:rPr>
              <a:t>表示第</a:t>
            </a:r>
            <a:r>
              <a:rPr lang="zh-CN" altLang="en-US" sz="2200" i="1" dirty="0"/>
              <a:t> </a:t>
            </a:r>
            <a:r>
              <a:rPr lang="en-US" altLang="zh-CN" sz="2200" i="1" dirty="0"/>
              <a:t>k </a:t>
            </a:r>
            <a:r>
              <a:rPr lang="zh-CN" altLang="en-US" sz="2200" dirty="0">
                <a:latin typeface="宋体" panose="02010600030101010101" pitchFamily="2" charset="-122"/>
              </a:rPr>
              <a:t>次轰击命中的炮弹数．</a:t>
            </a:r>
            <a:endParaRPr lang="zh-CN" altLang="en-US" sz="2200" dirty="0">
              <a:latin typeface="宋体" panose="02010600030101010101" pitchFamily="2" charset="-122"/>
            </a:endParaRPr>
          </a:p>
        </p:txBody>
      </p:sp>
      <p:graphicFrame>
        <p:nvGraphicFramePr>
          <p:cNvPr id="44036" name="Object 2"/>
          <p:cNvGraphicFramePr>
            <a:graphicFrameLocks noChangeAspect="1"/>
          </p:cNvGraphicFramePr>
          <p:nvPr/>
        </p:nvGraphicFramePr>
        <p:xfrm>
          <a:off x="2297113" y="4165600"/>
          <a:ext cx="4876800" cy="377825"/>
        </p:xfrm>
        <a:graphic>
          <a:graphicData uri="http://schemas.openxmlformats.org/presentationml/2006/ole">
            <mc:AlternateContent xmlns:mc="http://schemas.openxmlformats.org/markup-compatibility/2006">
              <mc:Choice xmlns:v="urn:schemas-microsoft-com:vml" Requires="v">
                <p:oleObj spid="_x0000_s44081" name="Equation" r:id="rId1" imgW="6886575" imgH="500380" progId="Equation.3">
                  <p:embed/>
                </p:oleObj>
              </mc:Choice>
              <mc:Fallback>
                <p:oleObj name="Equation" r:id="rId1" imgW="6886575" imgH="50038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7113" y="4165600"/>
                        <a:ext cx="4876800" cy="37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7" name="Object 3"/>
          <p:cNvGraphicFramePr>
            <a:graphicFrameLocks noChangeAspect="1"/>
          </p:cNvGraphicFramePr>
          <p:nvPr/>
        </p:nvGraphicFramePr>
        <p:xfrm>
          <a:off x="1741488" y="4732338"/>
          <a:ext cx="1754187" cy="350837"/>
        </p:xfrm>
        <a:graphic>
          <a:graphicData uri="http://schemas.openxmlformats.org/presentationml/2006/ole">
            <mc:AlternateContent xmlns:mc="http://schemas.openxmlformats.org/markup-compatibility/2006">
              <mc:Choice xmlns:v="urn:schemas-microsoft-com:vml" Requires="v">
                <p:oleObj spid="_x0000_s44082" name="Equation" r:id="rId3" imgW="2371725" imgH="452120" progId="Equation.3">
                  <p:embed/>
                </p:oleObj>
              </mc:Choice>
              <mc:Fallback>
                <p:oleObj name="Equation" r:id="rId3" imgW="2371725" imgH="45212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1488" y="4732338"/>
                        <a:ext cx="1754187" cy="350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8" name="Text Box 6"/>
          <p:cNvSpPr txBox="1">
            <a:spLocks noChangeArrowheads="1"/>
          </p:cNvSpPr>
          <p:nvPr/>
        </p:nvSpPr>
        <p:spPr bwMode="auto">
          <a:xfrm>
            <a:off x="3554413" y="4605338"/>
            <a:ext cx="15811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a:latin typeface="宋体" panose="02010600030101010101" pitchFamily="2" charset="-122"/>
              </a:rPr>
              <a:t>相互独立．</a:t>
            </a:r>
            <a:endParaRPr lang="zh-CN" altLang="en-US" sz="2200">
              <a:latin typeface="宋体" panose="02010600030101010101" pitchFamily="2" charset="-122"/>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0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0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p:bldP spid="44035" grpId="0"/>
      <p:bldP spid="44038"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1690688" y="476672"/>
            <a:ext cx="48260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设</a:t>
            </a:r>
            <a:r>
              <a:rPr lang="zh-CN" altLang="en-US" sz="2200">
                <a:ea typeface="楷体_GB2312" pitchFamily="49" charset="-122"/>
              </a:rPr>
              <a:t> </a:t>
            </a:r>
            <a:r>
              <a:rPr lang="en-US" altLang="zh-CN" sz="2200" i="1">
                <a:ea typeface="楷体_GB2312" pitchFamily="49" charset="-122"/>
              </a:rPr>
              <a:t>X </a:t>
            </a:r>
            <a:r>
              <a:rPr lang="zh-CN" altLang="en-US" sz="2200"/>
              <a:t>表示</a:t>
            </a:r>
            <a:r>
              <a:rPr lang="en-US" altLang="zh-CN" sz="2200">
                <a:ea typeface="楷体_GB2312" pitchFamily="49" charset="-122"/>
              </a:rPr>
              <a:t>100</a:t>
            </a:r>
            <a:r>
              <a:rPr lang="zh-CN" altLang="en-US" sz="2200">
                <a:latin typeface="宋体" panose="02010600030101010101" pitchFamily="2" charset="-122"/>
              </a:rPr>
              <a:t>次轰击命中的炮弹数，则</a:t>
            </a:r>
            <a:endParaRPr lang="zh-CN" altLang="en-US" sz="2200">
              <a:latin typeface="宋体" panose="02010600030101010101" pitchFamily="2" charset="-122"/>
            </a:endParaRPr>
          </a:p>
        </p:txBody>
      </p:sp>
      <p:graphicFrame>
        <p:nvGraphicFramePr>
          <p:cNvPr id="45059" name="Object 2"/>
          <p:cNvGraphicFramePr>
            <a:graphicFrameLocks noChangeAspect="1"/>
          </p:cNvGraphicFramePr>
          <p:nvPr/>
        </p:nvGraphicFramePr>
        <p:xfrm>
          <a:off x="1803400" y="1022772"/>
          <a:ext cx="4484688" cy="700087"/>
        </p:xfrm>
        <a:graphic>
          <a:graphicData uri="http://schemas.openxmlformats.org/presentationml/2006/ole">
            <mc:AlternateContent xmlns:mc="http://schemas.openxmlformats.org/markup-compatibility/2006">
              <mc:Choice xmlns:v="urn:schemas-microsoft-com:vml" Requires="v">
                <p:oleObj spid="_x0000_s45171" name="Equation" r:id="rId1" imgW="6286500" imgH="962660" progId="Equation.3">
                  <p:embed/>
                </p:oleObj>
              </mc:Choice>
              <mc:Fallback>
                <p:oleObj name="Equation" r:id="rId1" imgW="6286500" imgH="96266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3400" y="1022772"/>
                        <a:ext cx="4484688" cy="700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0" name="Text Box 4"/>
          <p:cNvSpPr txBox="1">
            <a:spLocks noChangeArrowheads="1"/>
          </p:cNvSpPr>
          <p:nvPr/>
        </p:nvSpPr>
        <p:spPr bwMode="auto">
          <a:xfrm>
            <a:off x="1716088" y="3038475"/>
            <a:ext cx="5810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a:ea typeface="楷体_GB2312" pitchFamily="49" charset="-122"/>
              </a:rPr>
              <a:t>(1) </a:t>
            </a:r>
            <a:endParaRPr lang="en-US" altLang="zh-CN" sz="2200">
              <a:ea typeface="楷体_GB2312" pitchFamily="49" charset="-122"/>
            </a:endParaRPr>
          </a:p>
        </p:txBody>
      </p:sp>
      <p:graphicFrame>
        <p:nvGraphicFramePr>
          <p:cNvPr id="45061" name="Object 3"/>
          <p:cNvGraphicFramePr>
            <a:graphicFrameLocks noChangeAspect="1"/>
          </p:cNvGraphicFramePr>
          <p:nvPr/>
        </p:nvGraphicFramePr>
        <p:xfrm>
          <a:off x="2325688" y="2919413"/>
          <a:ext cx="3657600" cy="758825"/>
        </p:xfrm>
        <a:graphic>
          <a:graphicData uri="http://schemas.openxmlformats.org/presentationml/2006/ole">
            <mc:AlternateContent xmlns:mc="http://schemas.openxmlformats.org/markup-compatibility/2006">
              <mc:Choice xmlns:v="urn:schemas-microsoft-com:vml" Requires="v">
                <p:oleObj spid="_x0000_s45172" name="Equation" r:id="rId3" imgW="3771900" imgH="760095" progId="Equation.3">
                  <p:embed/>
                </p:oleObj>
              </mc:Choice>
              <mc:Fallback>
                <p:oleObj name="Equation" r:id="rId3" imgW="3771900" imgH="760095"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5688" y="2919413"/>
                        <a:ext cx="3657600"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2" name="Text Box 6"/>
          <p:cNvSpPr txBox="1">
            <a:spLocks noChangeArrowheads="1"/>
          </p:cNvSpPr>
          <p:nvPr/>
        </p:nvSpPr>
        <p:spPr bwMode="auto">
          <a:xfrm>
            <a:off x="1716088" y="4294188"/>
            <a:ext cx="51117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200">
                <a:ea typeface="楷体_GB2312" pitchFamily="49" charset="-122"/>
              </a:rPr>
              <a:t>(2)</a:t>
            </a:r>
            <a:endParaRPr lang="en-US" altLang="zh-CN" sz="2200">
              <a:ea typeface="楷体_GB2312" pitchFamily="49" charset="-122"/>
            </a:endParaRPr>
          </a:p>
        </p:txBody>
      </p:sp>
      <p:graphicFrame>
        <p:nvGraphicFramePr>
          <p:cNvPr id="45063" name="Object 4"/>
          <p:cNvGraphicFramePr>
            <a:graphicFrameLocks noChangeAspect="1"/>
          </p:cNvGraphicFramePr>
          <p:nvPr/>
        </p:nvGraphicFramePr>
        <p:xfrm>
          <a:off x="2195513" y="4437063"/>
          <a:ext cx="3986212" cy="1416050"/>
        </p:xfrm>
        <a:graphic>
          <a:graphicData uri="http://schemas.openxmlformats.org/presentationml/2006/ole">
            <mc:AlternateContent xmlns:mc="http://schemas.openxmlformats.org/markup-compatibility/2006">
              <mc:Choice xmlns:v="urn:schemas-microsoft-com:vml" Requires="v">
                <p:oleObj spid="_x0000_s45173" name="Equation" r:id="rId5" imgW="1819275" imgH="625475" progId="Equation.DSMT4">
                  <p:embed/>
                </p:oleObj>
              </mc:Choice>
              <mc:Fallback>
                <p:oleObj name="Equation" r:id="rId5" imgW="1819275" imgH="625475"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4437063"/>
                        <a:ext cx="3986212" cy="1416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4" name="Object 5"/>
          <p:cNvGraphicFramePr>
            <a:graphicFrameLocks noChangeAspect="1"/>
          </p:cNvGraphicFramePr>
          <p:nvPr/>
        </p:nvGraphicFramePr>
        <p:xfrm>
          <a:off x="2173288" y="3832225"/>
          <a:ext cx="3344862" cy="323850"/>
        </p:xfrm>
        <a:graphic>
          <a:graphicData uri="http://schemas.openxmlformats.org/presentationml/2006/ole">
            <mc:AlternateContent xmlns:mc="http://schemas.openxmlformats.org/markup-compatibility/2006">
              <mc:Choice xmlns:v="urn:schemas-microsoft-com:vml" Requires="v">
                <p:oleObj spid="_x0000_s45174" name="Equation" r:id="rId7" imgW="3495675" imgH="307975" progId="Equation.3">
                  <p:embed/>
                </p:oleObj>
              </mc:Choice>
              <mc:Fallback>
                <p:oleObj name="Equation" r:id="rId7" imgW="3495675" imgH="307975"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73288" y="3832225"/>
                        <a:ext cx="3344862"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5" name="Object 7"/>
          <p:cNvGraphicFramePr>
            <a:graphicFrameLocks noChangeAspect="1"/>
          </p:cNvGraphicFramePr>
          <p:nvPr/>
        </p:nvGraphicFramePr>
        <p:xfrm>
          <a:off x="1812637" y="2012950"/>
          <a:ext cx="3167336" cy="625475"/>
        </p:xfrm>
        <a:graphic>
          <a:graphicData uri="http://schemas.openxmlformats.org/presentationml/2006/ole">
            <mc:AlternateContent xmlns:mc="http://schemas.openxmlformats.org/markup-compatibility/2006">
              <mc:Choice xmlns:v="urn:schemas-microsoft-com:vml" Requires="v">
                <p:oleObj spid="_x0000_s45175" name="Equation" r:id="rId9" imgW="2143125" imgH="567690" progId="Equation.DSMT4">
                  <p:embed/>
                </p:oleObj>
              </mc:Choice>
              <mc:Fallback>
                <p:oleObj name="Equation" r:id="rId9" imgW="2143125" imgH="56769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12637" y="2012950"/>
                        <a:ext cx="3167336" cy="625475"/>
                      </a:xfrm>
                      <a:prstGeom prst="rect">
                        <a:avLst/>
                      </a:prstGeom>
                      <a:noFill/>
                      <a:ln>
                        <a:noFill/>
                      </a:ln>
                      <a:effectLst/>
                    </p:spPr>
                  </p:pic>
                </p:oleObj>
              </mc:Fallback>
            </mc:AlternateContent>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05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506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06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06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06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506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0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P spid="45060" grpId="0"/>
      <p:bldP spid="45062"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1187450" y="836613"/>
            <a:ext cx="6553200"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dirty="0">
                <a:solidFill>
                  <a:srgbClr val="99CCFF"/>
                </a:solidFill>
                <a:latin typeface="宋体" panose="02010600030101010101" pitchFamily="2" charset="-122"/>
              </a:rPr>
              <a:t>　　</a:t>
            </a:r>
            <a:r>
              <a:rPr lang="zh-CN" altLang="en-US" sz="2200" b="1" dirty="0">
                <a:solidFill>
                  <a:srgbClr val="5050CC"/>
                </a:solidFill>
                <a:latin typeface="宋体" panose="02010600030101010101" pitchFamily="2" charset="-122"/>
              </a:rPr>
              <a:t>例</a:t>
            </a:r>
            <a:r>
              <a:rPr lang="zh-CN" altLang="en-US" sz="2200" dirty="0">
                <a:latin typeface="宋体" panose="02010600030101010101" pitchFamily="2" charset="-122"/>
              </a:rPr>
              <a:t>　售报员在报摊上卖报，已知每个过路人在报摊上买报的概率为</a:t>
            </a:r>
            <a:r>
              <a:rPr lang="en-US" altLang="zh-CN" sz="2200" dirty="0"/>
              <a:t>1/3</a:t>
            </a:r>
            <a:r>
              <a:rPr lang="zh-CN" altLang="en-US" sz="2200" dirty="0">
                <a:latin typeface="宋体" panose="02010600030101010101" pitchFamily="2" charset="-122"/>
              </a:rPr>
              <a:t>．令</a:t>
            </a:r>
            <a:r>
              <a:rPr lang="en-US" altLang="zh-CN" sz="2200" i="1" dirty="0"/>
              <a:t>X</a:t>
            </a:r>
            <a:r>
              <a:rPr lang="en-US" altLang="zh-CN" sz="2200" dirty="0"/>
              <a:t> </a:t>
            </a:r>
            <a:r>
              <a:rPr lang="zh-CN" altLang="en-US" sz="2200" dirty="0">
                <a:latin typeface="宋体" panose="02010600030101010101" pitchFamily="2" charset="-122"/>
              </a:rPr>
              <a:t>是出售了</a:t>
            </a:r>
            <a:r>
              <a:rPr lang="en-US" altLang="zh-CN" sz="2200" dirty="0"/>
              <a:t>100</a:t>
            </a:r>
            <a:r>
              <a:rPr lang="zh-CN" altLang="en-US" sz="2200" dirty="0">
                <a:latin typeface="宋体" panose="02010600030101010101" pitchFamily="2" charset="-122"/>
              </a:rPr>
              <a:t>份报时过路人的数目，求</a:t>
            </a:r>
            <a:r>
              <a:rPr lang="en-US" altLang="zh-CN" sz="2200" i="1" dirty="0"/>
              <a:t>P </a:t>
            </a:r>
            <a:r>
              <a:rPr lang="en-US" altLang="zh-CN" sz="2200" dirty="0"/>
              <a:t>(280 </a:t>
            </a:r>
            <a:r>
              <a:rPr lang="en-US" altLang="zh-CN" sz="2200" dirty="0">
                <a:sym typeface="Symbol" panose="05050102010706020507" pitchFamily="18" charset="2"/>
              </a:rPr>
              <a:t> </a:t>
            </a:r>
            <a:r>
              <a:rPr lang="en-US" altLang="zh-CN" sz="2200" i="1" dirty="0">
                <a:sym typeface="Symbol" panose="05050102010706020507" pitchFamily="18" charset="2"/>
              </a:rPr>
              <a:t>X </a:t>
            </a:r>
            <a:r>
              <a:rPr lang="en-US" altLang="zh-CN" sz="2200" dirty="0">
                <a:sym typeface="Symbol" panose="05050102010706020507" pitchFamily="18" charset="2"/>
              </a:rPr>
              <a:t> 320</a:t>
            </a:r>
            <a:r>
              <a:rPr lang="en-US" altLang="zh-CN" sz="2200" dirty="0"/>
              <a:t>)</a:t>
            </a:r>
            <a:r>
              <a:rPr lang="zh-CN" altLang="en-US" sz="2200" dirty="0"/>
              <a:t>．</a:t>
            </a:r>
            <a:endParaRPr lang="zh-CN" altLang="en-US" sz="2200" dirty="0"/>
          </a:p>
        </p:txBody>
      </p:sp>
      <p:sp>
        <p:nvSpPr>
          <p:cNvPr id="46083" name="Text Box 3"/>
          <p:cNvSpPr txBox="1">
            <a:spLocks noChangeArrowheads="1"/>
          </p:cNvSpPr>
          <p:nvPr/>
        </p:nvSpPr>
        <p:spPr bwMode="auto">
          <a:xfrm>
            <a:off x="1187450" y="2141538"/>
            <a:ext cx="647700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a:solidFill>
                  <a:srgbClr val="99CCFF"/>
                </a:solidFill>
                <a:latin typeface="宋体" panose="02010600030101010101" pitchFamily="2" charset="-122"/>
              </a:rPr>
              <a:t>　　</a:t>
            </a:r>
            <a:r>
              <a:rPr lang="zh-CN" altLang="en-US" sz="2200" b="1">
                <a:solidFill>
                  <a:srgbClr val="5050CC"/>
                </a:solidFill>
                <a:latin typeface="宋体" panose="02010600030101010101" pitchFamily="2" charset="-122"/>
              </a:rPr>
              <a:t>解</a:t>
            </a:r>
            <a:r>
              <a:rPr lang="zh-CN" altLang="en-US" sz="2200">
                <a:latin typeface="宋体" panose="02010600030101010101" pitchFamily="2" charset="-122"/>
              </a:rPr>
              <a:t>　令</a:t>
            </a:r>
            <a:r>
              <a:rPr lang="en-US" altLang="zh-CN" sz="2200" i="1"/>
              <a:t>X</a:t>
            </a:r>
            <a:r>
              <a:rPr lang="en-US" altLang="zh-CN" sz="2200" i="1" baseline="-25000"/>
              <a:t>i</a:t>
            </a:r>
            <a:r>
              <a:rPr lang="en-US" altLang="zh-CN" sz="2200" i="1"/>
              <a:t> </a:t>
            </a:r>
            <a:r>
              <a:rPr lang="zh-CN" altLang="en-US" sz="2200">
                <a:latin typeface="宋体" panose="02010600030101010101" pitchFamily="2" charset="-122"/>
              </a:rPr>
              <a:t>为售出了第</a:t>
            </a:r>
            <a:r>
              <a:rPr lang="en-US" altLang="zh-CN" sz="2200" i="1"/>
              <a:t>i – </a:t>
            </a:r>
            <a:r>
              <a:rPr lang="en-US" altLang="zh-CN" sz="2200"/>
              <a:t>1</a:t>
            </a:r>
            <a:r>
              <a:rPr lang="zh-CN" altLang="en-US" sz="2200">
                <a:latin typeface="宋体" panose="02010600030101010101" pitchFamily="2" charset="-122"/>
              </a:rPr>
              <a:t>份报纸后到售出第</a:t>
            </a:r>
            <a:r>
              <a:rPr lang="en-US" altLang="zh-CN" sz="2200" i="1"/>
              <a:t>i</a:t>
            </a:r>
            <a:r>
              <a:rPr lang="zh-CN" altLang="en-US" sz="2200">
                <a:latin typeface="宋体" panose="02010600030101010101" pitchFamily="2" charset="-122"/>
              </a:rPr>
              <a:t>份报纸时的过路人数，</a:t>
            </a:r>
            <a:r>
              <a:rPr lang="en-US" altLang="zh-CN" sz="2200" i="1"/>
              <a:t>i</a:t>
            </a:r>
            <a:r>
              <a:rPr lang="en-US" altLang="zh-CN" sz="2200"/>
              <a:t> = 1,2,…,100</a:t>
            </a:r>
            <a:r>
              <a:rPr lang="zh-CN" altLang="en-US" sz="2200"/>
              <a:t>．</a:t>
            </a:r>
            <a:endParaRPr lang="zh-CN" altLang="en-US" sz="2200"/>
          </a:p>
        </p:txBody>
      </p:sp>
      <p:graphicFrame>
        <p:nvGraphicFramePr>
          <p:cNvPr id="46084" name="Object 2"/>
          <p:cNvGraphicFramePr>
            <a:graphicFrameLocks noChangeAspect="1"/>
          </p:cNvGraphicFramePr>
          <p:nvPr/>
        </p:nvGraphicFramePr>
        <p:xfrm>
          <a:off x="1828800" y="3205163"/>
          <a:ext cx="4632325" cy="433387"/>
        </p:xfrm>
        <a:graphic>
          <a:graphicData uri="http://schemas.openxmlformats.org/presentationml/2006/ole">
            <mc:AlternateContent xmlns:mc="http://schemas.openxmlformats.org/markup-compatibility/2006">
              <mc:Choice xmlns:v="urn:schemas-microsoft-com:vml" Requires="v">
                <p:oleObj spid="_x0000_s46129" name="Equation" r:id="rId1" imgW="6486525" imgH="577215" progId="Equation.3">
                  <p:embed/>
                </p:oleObj>
              </mc:Choice>
              <mc:Fallback>
                <p:oleObj name="Equation" r:id="rId1" imgW="6486525" imgH="57721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205163"/>
                        <a:ext cx="4632325"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5" name="Text Box 5"/>
          <p:cNvSpPr txBox="1">
            <a:spLocks noChangeArrowheads="1"/>
          </p:cNvSpPr>
          <p:nvPr/>
        </p:nvSpPr>
        <p:spPr bwMode="auto">
          <a:xfrm>
            <a:off x="5321300" y="3662363"/>
            <a:ext cx="15811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en-US" altLang="zh-CN" sz="2200">
                <a:latin typeface="宋体" panose="02010600030101010101" pitchFamily="2" charset="-122"/>
              </a:rPr>
              <a:t>(</a:t>
            </a:r>
            <a:r>
              <a:rPr lang="zh-CN" altLang="en-US" sz="2200">
                <a:latin typeface="宋体" panose="02010600030101010101" pitchFamily="2" charset="-122"/>
              </a:rPr>
              <a:t>几何分布</a:t>
            </a:r>
            <a:r>
              <a:rPr lang="en-US" altLang="zh-CN" sz="2200">
                <a:latin typeface="宋体" panose="02010600030101010101" pitchFamily="2" charset="-122"/>
              </a:rPr>
              <a:t>)</a:t>
            </a:r>
            <a:endParaRPr lang="en-US" altLang="zh-CN" sz="2200">
              <a:latin typeface="宋体" panose="02010600030101010101" pitchFamily="2" charset="-122"/>
            </a:endParaRPr>
          </a:p>
        </p:txBody>
      </p:sp>
      <p:graphicFrame>
        <p:nvGraphicFramePr>
          <p:cNvPr id="46086" name="Object 3"/>
          <p:cNvGraphicFramePr>
            <a:graphicFrameLocks noChangeAspect="1"/>
          </p:cNvGraphicFramePr>
          <p:nvPr/>
        </p:nvGraphicFramePr>
        <p:xfrm>
          <a:off x="1797050" y="4356100"/>
          <a:ext cx="4876800" cy="820738"/>
        </p:xfrm>
        <a:graphic>
          <a:graphicData uri="http://schemas.openxmlformats.org/presentationml/2006/ole">
            <mc:AlternateContent xmlns:mc="http://schemas.openxmlformats.org/markup-compatibility/2006">
              <mc:Choice xmlns:v="urn:schemas-microsoft-com:vml" Requires="v">
                <p:oleObj spid="_x0000_s46130" name="Equation" r:id="rId3" imgW="6810375" imgH="1125855" progId="Equation.3">
                  <p:embed/>
                </p:oleObj>
              </mc:Choice>
              <mc:Fallback>
                <p:oleObj name="Equation" r:id="rId3" imgW="6810375" imgH="1125855"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7050" y="4356100"/>
                        <a:ext cx="4876800" cy="820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08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08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60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p:bldP spid="46083" grpId="0"/>
      <p:bldP spid="46085"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6" name="Object 2"/>
          <p:cNvGraphicFramePr>
            <a:graphicFrameLocks noChangeAspect="1"/>
          </p:cNvGraphicFramePr>
          <p:nvPr/>
        </p:nvGraphicFramePr>
        <p:xfrm>
          <a:off x="5075238" y="981075"/>
          <a:ext cx="1241425" cy="750888"/>
        </p:xfrm>
        <a:graphic>
          <a:graphicData uri="http://schemas.openxmlformats.org/presentationml/2006/ole">
            <mc:AlternateContent xmlns:mc="http://schemas.openxmlformats.org/markup-compatibility/2006">
              <mc:Choice xmlns:v="urn:schemas-microsoft-com:vml" Requires="v">
                <p:oleObj spid="_x0000_s47284" name="Equation" r:id="rId1" imgW="1304925" imgH="779780" progId="Equation.3">
                  <p:embed/>
                </p:oleObj>
              </mc:Choice>
              <mc:Fallback>
                <p:oleObj name="Equation" r:id="rId1" imgW="1304925" imgH="77978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5238" y="981075"/>
                        <a:ext cx="1241425" cy="750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07" name="Object 3"/>
          <p:cNvGraphicFramePr>
            <a:graphicFrameLocks noChangeAspect="1"/>
          </p:cNvGraphicFramePr>
          <p:nvPr/>
        </p:nvGraphicFramePr>
        <p:xfrm>
          <a:off x="1979613" y="1196975"/>
          <a:ext cx="1697037" cy="352425"/>
        </p:xfrm>
        <a:graphic>
          <a:graphicData uri="http://schemas.openxmlformats.org/presentationml/2006/ole">
            <mc:AlternateContent xmlns:mc="http://schemas.openxmlformats.org/markup-compatibility/2006">
              <mc:Choice xmlns:v="urn:schemas-microsoft-com:vml" Requires="v">
                <p:oleObj spid="_x0000_s47285" name="Equation" r:id="rId3" imgW="1800225" imgH="346710" progId="Equation.3">
                  <p:embed/>
                </p:oleObj>
              </mc:Choice>
              <mc:Fallback>
                <p:oleObj name="Equation" r:id="rId3" imgW="1800225" imgH="34671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1196975"/>
                        <a:ext cx="1697037"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08" name="Text Box 4"/>
          <p:cNvSpPr txBox="1">
            <a:spLocks noChangeArrowheads="1"/>
          </p:cNvSpPr>
          <p:nvPr/>
        </p:nvSpPr>
        <p:spPr bwMode="auto">
          <a:xfrm>
            <a:off x="3678238" y="1133475"/>
            <a:ext cx="14414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相互独立</a:t>
            </a:r>
            <a:r>
              <a:rPr lang="en-US" altLang="zh-CN" sz="2200">
                <a:latin typeface="宋体" panose="02010600030101010101" pitchFamily="2" charset="-122"/>
              </a:rPr>
              <a:t>,</a:t>
            </a:r>
            <a:endParaRPr lang="en-US" altLang="zh-CN" sz="2200">
              <a:latin typeface="宋体" panose="02010600030101010101" pitchFamily="2" charset="-122"/>
            </a:endParaRPr>
          </a:p>
        </p:txBody>
      </p:sp>
      <p:graphicFrame>
        <p:nvGraphicFramePr>
          <p:cNvPr id="47109" name="Object 4"/>
          <p:cNvGraphicFramePr>
            <a:graphicFrameLocks noChangeAspect="1"/>
          </p:cNvGraphicFramePr>
          <p:nvPr/>
        </p:nvGraphicFramePr>
        <p:xfrm>
          <a:off x="2027238" y="1920875"/>
          <a:ext cx="2928937" cy="315913"/>
        </p:xfrm>
        <a:graphic>
          <a:graphicData uri="http://schemas.openxmlformats.org/presentationml/2006/ole">
            <mc:AlternateContent xmlns:mc="http://schemas.openxmlformats.org/markup-compatibility/2006">
              <mc:Choice xmlns:v="urn:schemas-microsoft-com:vml" Requires="v">
                <p:oleObj spid="_x0000_s47286" name="Equation" r:id="rId5" imgW="3133725" imgH="307975" progId="Equation.3">
                  <p:embed/>
                </p:oleObj>
              </mc:Choice>
              <mc:Fallback>
                <p:oleObj name="Equation" r:id="rId5" imgW="3133725" imgH="307975"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7238" y="1920875"/>
                        <a:ext cx="2928937"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0" name="Object 5"/>
          <p:cNvGraphicFramePr>
            <a:graphicFrameLocks noChangeAspect="1"/>
          </p:cNvGraphicFramePr>
          <p:nvPr/>
        </p:nvGraphicFramePr>
        <p:xfrm>
          <a:off x="2001838" y="2371725"/>
          <a:ext cx="2740025" cy="346075"/>
        </p:xfrm>
        <a:graphic>
          <a:graphicData uri="http://schemas.openxmlformats.org/presentationml/2006/ole">
            <mc:AlternateContent xmlns:mc="http://schemas.openxmlformats.org/markup-compatibility/2006">
              <mc:Choice xmlns:v="urn:schemas-microsoft-com:vml" Requires="v">
                <p:oleObj spid="_x0000_s47287" name="Equation" r:id="rId7" imgW="2981325" imgH="346710" progId="Equation.3">
                  <p:embed/>
                </p:oleObj>
              </mc:Choice>
              <mc:Fallback>
                <p:oleObj name="Equation" r:id="rId7" imgW="2981325" imgH="34671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01838" y="2371725"/>
                        <a:ext cx="2740025"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1" name="Object 6"/>
          <p:cNvGraphicFramePr>
            <a:graphicFrameLocks noChangeAspect="1"/>
          </p:cNvGraphicFramePr>
          <p:nvPr/>
        </p:nvGraphicFramePr>
        <p:xfrm>
          <a:off x="1557338" y="2968625"/>
          <a:ext cx="5751512" cy="725488"/>
        </p:xfrm>
        <a:graphic>
          <a:graphicData uri="http://schemas.openxmlformats.org/presentationml/2006/ole">
            <mc:AlternateContent xmlns:mc="http://schemas.openxmlformats.org/markup-compatibility/2006">
              <mc:Choice xmlns:v="urn:schemas-microsoft-com:vml" Requires="v">
                <p:oleObj spid="_x0000_s47288" name="Equation" r:id="rId9" imgW="6200775" imgH="760095" progId="Equation.3">
                  <p:embed/>
                </p:oleObj>
              </mc:Choice>
              <mc:Fallback>
                <p:oleObj name="Equation" r:id="rId9" imgW="6200775" imgH="760095"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57338" y="2968625"/>
                        <a:ext cx="5751512" cy="725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2" name="Object 7"/>
          <p:cNvGraphicFramePr>
            <a:graphicFrameLocks noChangeAspect="1"/>
          </p:cNvGraphicFramePr>
          <p:nvPr/>
        </p:nvGraphicFramePr>
        <p:xfrm>
          <a:off x="3643313" y="3921125"/>
          <a:ext cx="1862137" cy="725488"/>
        </p:xfrm>
        <a:graphic>
          <a:graphicData uri="http://schemas.openxmlformats.org/presentationml/2006/ole">
            <mc:AlternateContent xmlns:mc="http://schemas.openxmlformats.org/markup-compatibility/2006">
              <mc:Choice xmlns:v="urn:schemas-microsoft-com:vml" Requires="v">
                <p:oleObj spid="_x0000_s47289" name="Equation" r:id="rId11" imgW="1981200" imgH="760095" progId="Equation.3">
                  <p:embed/>
                </p:oleObj>
              </mc:Choice>
              <mc:Fallback>
                <p:oleObj name="Equation" r:id="rId11" imgW="1981200" imgH="760095"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43313" y="3921125"/>
                        <a:ext cx="1862137" cy="725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7113" name="Group 9"/>
          <p:cNvGrpSpPr/>
          <p:nvPr/>
        </p:nvGrpSpPr>
        <p:grpSpPr bwMode="auto">
          <a:xfrm>
            <a:off x="3643313" y="4911725"/>
            <a:ext cx="3159125" cy="328613"/>
            <a:chOff x="2402" y="3416"/>
            <a:chExt cx="2158" cy="224"/>
          </a:xfrm>
        </p:grpSpPr>
        <p:graphicFrame>
          <p:nvGraphicFramePr>
            <p:cNvPr id="47114" name="Object 8"/>
            <p:cNvGraphicFramePr>
              <a:graphicFrameLocks noChangeAspect="1"/>
            </p:cNvGraphicFramePr>
            <p:nvPr/>
          </p:nvGraphicFramePr>
          <p:xfrm>
            <a:off x="2402" y="3416"/>
            <a:ext cx="1296" cy="224"/>
          </p:xfrm>
          <a:graphic>
            <a:graphicData uri="http://schemas.openxmlformats.org/presentationml/2006/ole">
              <mc:AlternateContent xmlns:mc="http://schemas.openxmlformats.org/markup-compatibility/2006">
                <mc:Choice xmlns:v="urn:schemas-microsoft-com:vml" Requires="v">
                  <p:oleObj spid="_x0000_s47290" name="Equation" r:id="rId13" imgW="2019300" imgH="317500" progId="Equation.3">
                    <p:embed/>
                  </p:oleObj>
                </mc:Choice>
                <mc:Fallback>
                  <p:oleObj name="Equation" r:id="rId13" imgW="2019300" imgH="3175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02" y="3416"/>
                          <a:ext cx="1296"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115" name="Object 9"/>
            <p:cNvGraphicFramePr>
              <a:graphicFrameLocks noChangeAspect="1"/>
            </p:cNvGraphicFramePr>
            <p:nvPr/>
          </p:nvGraphicFramePr>
          <p:xfrm>
            <a:off x="3742" y="3432"/>
            <a:ext cx="818" cy="175"/>
          </p:xfrm>
          <a:graphic>
            <a:graphicData uri="http://schemas.openxmlformats.org/presentationml/2006/ole">
              <mc:AlternateContent xmlns:mc="http://schemas.openxmlformats.org/markup-compatibility/2006">
                <mc:Choice xmlns:v="urn:schemas-microsoft-com:vml" Requires="v">
                  <p:oleObj spid="_x0000_s47291" name="Equation" r:id="rId15" imgW="1066800" imgH="240665" progId="Equation.3">
                    <p:embed/>
                  </p:oleObj>
                </mc:Choice>
                <mc:Fallback>
                  <p:oleObj name="Equation" r:id="rId15" imgW="1066800" imgH="240665" progId="Equation.3">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42" y="3432"/>
                          <a:ext cx="818" cy="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0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710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710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1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p:cNvSpPr txBox="1">
            <a:spLocks noChangeArrowheads="1"/>
          </p:cNvSpPr>
          <p:nvPr/>
        </p:nvSpPr>
        <p:spPr bwMode="auto">
          <a:xfrm>
            <a:off x="796925" y="1268413"/>
            <a:ext cx="6559550"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dirty="0">
                <a:solidFill>
                  <a:srgbClr val="99CCFF"/>
                </a:solidFill>
                <a:latin typeface="宋体" panose="02010600030101010101" pitchFamily="2" charset="-122"/>
              </a:rPr>
              <a:t>　　</a:t>
            </a:r>
            <a:r>
              <a:rPr lang="zh-CN" altLang="en-US" sz="2200" b="1" dirty="0">
                <a:solidFill>
                  <a:srgbClr val="5050CC"/>
                </a:solidFill>
                <a:latin typeface="宋体" panose="02010600030101010101" pitchFamily="2" charset="-122"/>
              </a:rPr>
              <a:t>例</a:t>
            </a:r>
            <a:r>
              <a:rPr lang="zh-CN" altLang="en-US" sz="2200" dirty="0">
                <a:latin typeface="宋体" panose="02010600030101010101" pitchFamily="2" charset="-122"/>
              </a:rPr>
              <a:t>　设有一大批种子，其中良种占</a:t>
            </a:r>
            <a:r>
              <a:rPr lang="en-US" altLang="zh-CN" sz="2200" dirty="0"/>
              <a:t>1/6</a:t>
            </a:r>
            <a:r>
              <a:rPr lang="zh-CN" altLang="en-US" sz="2200" dirty="0">
                <a:latin typeface="宋体" panose="02010600030101010101" pitchFamily="2" charset="-122"/>
              </a:rPr>
              <a:t>．试估计在任选的</a:t>
            </a:r>
            <a:r>
              <a:rPr lang="en-US" altLang="zh-CN" sz="2200" dirty="0"/>
              <a:t>6000</a:t>
            </a:r>
            <a:r>
              <a:rPr lang="zh-CN" altLang="en-US" sz="2200" dirty="0">
                <a:latin typeface="宋体" panose="02010600030101010101" pitchFamily="2" charset="-122"/>
              </a:rPr>
              <a:t>粒种子中，良种所占比例与</a:t>
            </a:r>
            <a:r>
              <a:rPr lang="en-US" altLang="zh-CN" sz="2200" dirty="0"/>
              <a:t>1/6</a:t>
            </a:r>
            <a:r>
              <a:rPr lang="zh-CN" altLang="en-US" sz="2200" dirty="0">
                <a:latin typeface="宋体" panose="02010600030101010101" pitchFamily="2" charset="-122"/>
              </a:rPr>
              <a:t>比较上下不超过</a:t>
            </a:r>
            <a:r>
              <a:rPr lang="en-US" altLang="zh-CN" sz="2200" dirty="0"/>
              <a:t>1%</a:t>
            </a:r>
            <a:r>
              <a:rPr lang="zh-CN" altLang="en-US" sz="2200" dirty="0">
                <a:latin typeface="宋体" panose="02010600030101010101" pitchFamily="2" charset="-122"/>
              </a:rPr>
              <a:t>的概率．</a:t>
            </a:r>
            <a:endParaRPr lang="zh-CN" altLang="en-US" sz="2200" dirty="0">
              <a:latin typeface="宋体" panose="02010600030101010101" pitchFamily="2" charset="-122"/>
            </a:endParaRPr>
          </a:p>
        </p:txBody>
      </p:sp>
      <p:sp>
        <p:nvSpPr>
          <p:cNvPr id="49155" name="Text Box 3"/>
          <p:cNvSpPr txBox="1">
            <a:spLocks noChangeArrowheads="1"/>
          </p:cNvSpPr>
          <p:nvPr/>
        </p:nvSpPr>
        <p:spPr bwMode="auto">
          <a:xfrm>
            <a:off x="803275" y="2563813"/>
            <a:ext cx="655320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b="1">
                <a:solidFill>
                  <a:srgbClr val="5050CC"/>
                </a:solidFill>
                <a:latin typeface="宋体" panose="02010600030101010101" pitchFamily="2" charset="-122"/>
              </a:rPr>
              <a:t>　　解</a:t>
            </a:r>
            <a:r>
              <a:rPr lang="zh-CN" altLang="en-US" sz="2200">
                <a:latin typeface="宋体" panose="02010600030101010101" pitchFamily="2" charset="-122"/>
              </a:rPr>
              <a:t>　设</a:t>
            </a:r>
            <a:r>
              <a:rPr lang="zh-CN" altLang="en-US" sz="2200" i="1"/>
              <a:t> </a:t>
            </a:r>
            <a:r>
              <a:rPr lang="en-US" altLang="zh-CN" sz="2200" i="1"/>
              <a:t>X</a:t>
            </a:r>
            <a:r>
              <a:rPr lang="en-US" altLang="zh-CN" sz="2200"/>
              <a:t> </a:t>
            </a:r>
            <a:r>
              <a:rPr lang="zh-CN" altLang="en-US" sz="2200">
                <a:latin typeface="宋体" panose="02010600030101010101" pitchFamily="2" charset="-122"/>
              </a:rPr>
              <a:t>表示</a:t>
            </a:r>
            <a:r>
              <a:rPr lang="en-US" altLang="zh-CN" sz="2200"/>
              <a:t>6000</a:t>
            </a:r>
            <a:r>
              <a:rPr lang="zh-CN" altLang="en-US" sz="2200">
                <a:latin typeface="宋体" panose="02010600030101010101" pitchFamily="2" charset="-122"/>
              </a:rPr>
              <a:t>粒种子中的良种数，则</a:t>
            </a:r>
            <a:r>
              <a:rPr lang="en-US" altLang="zh-CN" sz="2200" i="1"/>
              <a:t>X ~ B</a:t>
            </a:r>
            <a:r>
              <a:rPr lang="en-US" altLang="zh-CN" sz="2200"/>
              <a:t>(6000,1/6)</a:t>
            </a:r>
            <a:r>
              <a:rPr lang="zh-CN" altLang="en-US" sz="2200"/>
              <a:t>．</a:t>
            </a:r>
            <a:endParaRPr lang="zh-CN" altLang="en-US" sz="2200"/>
          </a:p>
        </p:txBody>
      </p:sp>
      <p:graphicFrame>
        <p:nvGraphicFramePr>
          <p:cNvPr id="49156" name="Object 2"/>
          <p:cNvGraphicFramePr>
            <a:graphicFrameLocks noChangeAspect="1"/>
          </p:cNvGraphicFramePr>
          <p:nvPr/>
        </p:nvGraphicFramePr>
        <p:xfrm>
          <a:off x="2365375" y="3781425"/>
          <a:ext cx="3238500" cy="677863"/>
        </p:xfrm>
        <a:graphic>
          <a:graphicData uri="http://schemas.openxmlformats.org/presentationml/2006/ole">
            <mc:AlternateContent xmlns:mc="http://schemas.openxmlformats.org/markup-compatibility/2006">
              <mc:Choice xmlns:v="urn:schemas-microsoft-com:vml" Requires="v">
                <p:oleObj spid="_x0000_s49200" name="Equation" r:id="rId1" imgW="4457700" imgH="914400" progId="Equation.3">
                  <p:embed/>
                </p:oleObj>
              </mc:Choice>
              <mc:Fallback>
                <p:oleObj name="Equation" r:id="rId1" imgW="4457700" imgH="9144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5375" y="3781425"/>
                        <a:ext cx="3238500" cy="677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57" name="Object 3"/>
          <p:cNvGraphicFramePr>
            <a:graphicFrameLocks noChangeAspect="1"/>
          </p:cNvGraphicFramePr>
          <p:nvPr/>
        </p:nvGraphicFramePr>
        <p:xfrm>
          <a:off x="2681288" y="4800600"/>
          <a:ext cx="2566987" cy="766763"/>
        </p:xfrm>
        <a:graphic>
          <a:graphicData uri="http://schemas.openxmlformats.org/presentationml/2006/ole">
            <mc:AlternateContent xmlns:mc="http://schemas.openxmlformats.org/markup-compatibility/2006">
              <mc:Choice xmlns:v="urn:schemas-microsoft-com:vml" Requires="v">
                <p:oleObj spid="_x0000_s49201" name="Equation" r:id="rId3" imgW="2600325" imgH="760095" progId="Equation.3">
                  <p:embed/>
                </p:oleObj>
              </mc:Choice>
              <mc:Fallback>
                <p:oleObj name="Equation" r:id="rId3" imgW="2600325" imgH="760095"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1288" y="4800600"/>
                        <a:ext cx="2566987" cy="766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1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15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9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 grpId="0"/>
      <p:bldP spid="4915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178" name="Object 2"/>
          <p:cNvGraphicFramePr>
            <a:graphicFrameLocks noChangeAspect="1"/>
          </p:cNvGraphicFramePr>
          <p:nvPr/>
        </p:nvGraphicFramePr>
        <p:xfrm>
          <a:off x="990600" y="2622550"/>
          <a:ext cx="3917950" cy="752475"/>
        </p:xfrm>
        <a:graphic>
          <a:graphicData uri="http://schemas.openxmlformats.org/presentationml/2006/ole">
            <mc:AlternateContent xmlns:mc="http://schemas.openxmlformats.org/markup-compatibility/2006">
              <mc:Choice xmlns:v="urn:schemas-microsoft-com:vml" Requires="v">
                <p:oleObj spid="_x0000_s50304" name="Equation" r:id="rId1" imgW="5781675" imgH="1087755" progId="Equation.3">
                  <p:embed/>
                </p:oleObj>
              </mc:Choice>
              <mc:Fallback>
                <p:oleObj name="Equation" r:id="rId1" imgW="5781675" imgH="108775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622550"/>
                        <a:ext cx="3917950"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79" name="Object 3"/>
          <p:cNvGraphicFramePr>
            <a:graphicFrameLocks noChangeAspect="1"/>
          </p:cNvGraphicFramePr>
          <p:nvPr/>
        </p:nvGraphicFramePr>
        <p:xfrm>
          <a:off x="1027113" y="3687763"/>
          <a:ext cx="3395662" cy="752475"/>
        </p:xfrm>
        <a:graphic>
          <a:graphicData uri="http://schemas.openxmlformats.org/presentationml/2006/ole">
            <mc:AlternateContent xmlns:mc="http://schemas.openxmlformats.org/markup-compatibility/2006">
              <mc:Choice xmlns:v="urn:schemas-microsoft-com:vml" Requires="v">
                <p:oleObj spid="_x0000_s50305" name="Equation" r:id="rId3" imgW="5000625" imgH="1087755" progId="Equation.3">
                  <p:embed/>
                </p:oleObj>
              </mc:Choice>
              <mc:Fallback>
                <p:oleObj name="Equation" r:id="rId3" imgW="5000625" imgH="1087755"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113" y="3687763"/>
                        <a:ext cx="3395662"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0" name="Object 4"/>
          <p:cNvGraphicFramePr>
            <a:graphicFrameLocks noChangeAspect="1"/>
          </p:cNvGraphicFramePr>
          <p:nvPr/>
        </p:nvGraphicFramePr>
        <p:xfrm>
          <a:off x="1022350" y="4754563"/>
          <a:ext cx="2163763" cy="752475"/>
        </p:xfrm>
        <a:graphic>
          <a:graphicData uri="http://schemas.openxmlformats.org/presentationml/2006/ole">
            <mc:AlternateContent xmlns:mc="http://schemas.openxmlformats.org/markup-compatibility/2006">
              <mc:Choice xmlns:v="urn:schemas-microsoft-com:vml" Requires="v">
                <p:oleObj spid="_x0000_s50306" name="Equation" r:id="rId5" imgW="3171825" imgH="1087755" progId="Equation.3">
                  <p:embed/>
                </p:oleObj>
              </mc:Choice>
              <mc:Fallback>
                <p:oleObj name="Equation" r:id="rId5" imgW="3171825" imgH="1087755"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2350" y="4754563"/>
                        <a:ext cx="2163763"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1" name="Object 5"/>
          <p:cNvGraphicFramePr>
            <a:graphicFrameLocks noChangeAspect="1"/>
          </p:cNvGraphicFramePr>
          <p:nvPr/>
        </p:nvGraphicFramePr>
        <p:xfrm>
          <a:off x="3276600" y="4959350"/>
          <a:ext cx="1027113" cy="241300"/>
        </p:xfrm>
        <a:graphic>
          <a:graphicData uri="http://schemas.openxmlformats.org/presentationml/2006/ole">
            <mc:AlternateContent xmlns:mc="http://schemas.openxmlformats.org/markup-compatibility/2006">
              <mc:Choice xmlns:v="urn:schemas-microsoft-com:vml" Requires="v">
                <p:oleObj spid="_x0000_s50307" name="Equation" r:id="rId7" imgW="1419225" imgH="307975" progId="Equation.3">
                  <p:embed/>
                </p:oleObj>
              </mc:Choice>
              <mc:Fallback>
                <p:oleObj name="Equation" r:id="rId7" imgW="1419225" imgH="307975"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6600" y="4959350"/>
                        <a:ext cx="1027113"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2" name="Object 6"/>
          <p:cNvGraphicFramePr>
            <a:graphicFrameLocks noChangeAspect="1"/>
          </p:cNvGraphicFramePr>
          <p:nvPr/>
        </p:nvGraphicFramePr>
        <p:xfrm>
          <a:off x="1223963" y="1625600"/>
          <a:ext cx="2387600" cy="757238"/>
        </p:xfrm>
        <a:graphic>
          <a:graphicData uri="http://schemas.openxmlformats.org/presentationml/2006/ole">
            <mc:AlternateContent xmlns:mc="http://schemas.openxmlformats.org/markup-compatibility/2006">
              <mc:Choice xmlns:v="urn:schemas-microsoft-com:vml" Requires="v">
                <p:oleObj spid="_x0000_s50308" name="Equation" r:id="rId9" imgW="3238500" imgH="1010920" progId="Equation.3">
                  <p:embed/>
                </p:oleObj>
              </mc:Choice>
              <mc:Fallback>
                <p:oleObj name="Equation" r:id="rId9" imgW="3238500" imgH="101092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23963" y="1625600"/>
                        <a:ext cx="2387600" cy="757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0183" name="Object 7"/>
          <p:cNvGraphicFramePr>
            <a:graphicFrameLocks noChangeAspect="1"/>
          </p:cNvGraphicFramePr>
          <p:nvPr/>
        </p:nvGraphicFramePr>
        <p:xfrm>
          <a:off x="3738563" y="1822450"/>
          <a:ext cx="2281237" cy="357188"/>
        </p:xfrm>
        <a:graphic>
          <a:graphicData uri="http://schemas.openxmlformats.org/presentationml/2006/ole">
            <mc:AlternateContent xmlns:mc="http://schemas.openxmlformats.org/markup-compatibility/2006">
              <mc:Choice xmlns:v="urn:schemas-microsoft-com:vml" Requires="v">
                <p:oleObj spid="_x0000_s50309" name="Equation" r:id="rId11" imgW="3200400" imgH="471805" progId="Equation.3">
                  <p:embed/>
                </p:oleObj>
              </mc:Choice>
              <mc:Fallback>
                <p:oleObj name="Equation" r:id="rId11" imgW="3200400" imgH="471805"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38563" y="1822450"/>
                        <a:ext cx="2281237" cy="357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Click="0"/>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609600" y="836712"/>
            <a:ext cx="327501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b="1">
                <a:solidFill>
                  <a:srgbClr val="5050CC"/>
                </a:solidFill>
                <a:latin typeface="楷体_GB2312" pitchFamily="49" charset="-122"/>
                <a:ea typeface="楷体_GB2312" pitchFamily="49" charset="-122"/>
              </a:rPr>
              <a:t>比较几个近似计算的结果</a:t>
            </a:r>
            <a:endParaRPr lang="zh-CN" altLang="en-US" sz="2200" b="1">
              <a:solidFill>
                <a:srgbClr val="5050CC"/>
              </a:solidFill>
              <a:latin typeface="楷体_GB2312" pitchFamily="49" charset="-122"/>
              <a:ea typeface="楷体_GB2312" pitchFamily="49" charset="-122"/>
            </a:endParaRPr>
          </a:p>
        </p:txBody>
      </p:sp>
      <p:sp>
        <p:nvSpPr>
          <p:cNvPr id="51203" name="Text Box 3"/>
          <p:cNvSpPr txBox="1">
            <a:spLocks noChangeArrowheads="1"/>
          </p:cNvSpPr>
          <p:nvPr/>
        </p:nvSpPr>
        <p:spPr bwMode="auto">
          <a:xfrm>
            <a:off x="603250" y="4692749"/>
            <a:ext cx="21399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用中心极限定理</a:t>
            </a:r>
            <a:endParaRPr lang="zh-CN" altLang="en-US" sz="2200">
              <a:latin typeface="宋体" panose="02010600030101010101" pitchFamily="2" charset="-122"/>
            </a:endParaRPr>
          </a:p>
        </p:txBody>
      </p:sp>
      <p:graphicFrame>
        <p:nvGraphicFramePr>
          <p:cNvPr id="51204" name="Object 2"/>
          <p:cNvGraphicFramePr>
            <a:graphicFrameLocks noChangeAspect="1"/>
          </p:cNvGraphicFramePr>
          <p:nvPr/>
        </p:nvGraphicFramePr>
        <p:xfrm>
          <a:off x="2743200" y="4581624"/>
          <a:ext cx="3517900" cy="781050"/>
        </p:xfrm>
        <a:graphic>
          <a:graphicData uri="http://schemas.openxmlformats.org/presentationml/2006/ole">
            <mc:AlternateContent xmlns:mc="http://schemas.openxmlformats.org/markup-compatibility/2006">
              <mc:Choice xmlns:v="urn:schemas-microsoft-com:vml" Requires="v">
                <p:oleObj spid="_x0000_s51295" name="Equation" r:id="rId1" imgW="3629025" imgH="779780" progId="Equation.3">
                  <p:embed/>
                </p:oleObj>
              </mc:Choice>
              <mc:Fallback>
                <p:oleObj name="Equation" r:id="rId1" imgW="3629025" imgH="77978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4581624"/>
                        <a:ext cx="3517900"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05" name="Text Box 5"/>
          <p:cNvSpPr txBox="1">
            <a:spLocks noChangeArrowheads="1"/>
          </p:cNvSpPr>
          <p:nvPr/>
        </p:nvSpPr>
        <p:spPr bwMode="auto">
          <a:xfrm>
            <a:off x="603250" y="1573312"/>
            <a:ext cx="29781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dirty="0">
                <a:latin typeface="宋体" panose="02010600030101010101" pitchFamily="2" charset="-122"/>
              </a:rPr>
              <a:t>用二项分布</a:t>
            </a:r>
            <a:r>
              <a:rPr lang="en-US" altLang="zh-CN" sz="2200" dirty="0">
                <a:latin typeface="宋体" panose="02010600030101010101" pitchFamily="2" charset="-122"/>
              </a:rPr>
              <a:t>(</a:t>
            </a:r>
            <a:r>
              <a:rPr lang="zh-CN" altLang="en-US" sz="2200" dirty="0">
                <a:latin typeface="宋体" panose="02010600030101010101" pitchFamily="2" charset="-122"/>
              </a:rPr>
              <a:t>精确结果</a:t>
            </a:r>
            <a:r>
              <a:rPr lang="en-US" altLang="zh-CN" sz="2200" dirty="0">
                <a:latin typeface="宋体" panose="02010600030101010101" pitchFamily="2" charset="-122"/>
              </a:rPr>
              <a:t>)</a:t>
            </a:r>
            <a:endParaRPr lang="en-US" altLang="zh-CN" sz="2200" dirty="0">
              <a:latin typeface="宋体" panose="02010600030101010101" pitchFamily="2" charset="-122"/>
            </a:endParaRPr>
          </a:p>
        </p:txBody>
      </p:sp>
      <p:sp>
        <p:nvSpPr>
          <p:cNvPr id="51206" name="Text Box 6"/>
          <p:cNvSpPr txBox="1">
            <a:spLocks noChangeArrowheads="1"/>
          </p:cNvSpPr>
          <p:nvPr/>
        </p:nvSpPr>
        <p:spPr bwMode="auto">
          <a:xfrm>
            <a:off x="603250" y="2613124"/>
            <a:ext cx="189071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用</a:t>
            </a:r>
            <a:r>
              <a:rPr lang="en-US" altLang="zh-CN" sz="2200"/>
              <a:t>Poisson</a:t>
            </a:r>
            <a:r>
              <a:rPr lang="zh-CN" altLang="en-US" sz="2200">
                <a:latin typeface="宋体" panose="02010600030101010101" pitchFamily="2" charset="-122"/>
              </a:rPr>
              <a:t>分布</a:t>
            </a:r>
            <a:endParaRPr lang="zh-CN" altLang="en-US" sz="2200">
              <a:latin typeface="宋体" panose="02010600030101010101" pitchFamily="2" charset="-122"/>
            </a:endParaRPr>
          </a:p>
        </p:txBody>
      </p:sp>
      <p:graphicFrame>
        <p:nvGraphicFramePr>
          <p:cNvPr id="51207" name="Object 3"/>
          <p:cNvGraphicFramePr>
            <a:graphicFrameLocks noChangeAspect="1"/>
          </p:cNvGraphicFramePr>
          <p:nvPr/>
        </p:nvGraphicFramePr>
        <p:xfrm>
          <a:off x="2514600" y="2467074"/>
          <a:ext cx="3594100" cy="795338"/>
        </p:xfrm>
        <a:graphic>
          <a:graphicData uri="http://schemas.openxmlformats.org/presentationml/2006/ole">
            <mc:AlternateContent xmlns:mc="http://schemas.openxmlformats.org/markup-compatibility/2006">
              <mc:Choice xmlns:v="urn:schemas-microsoft-com:vml" Requires="v">
                <p:oleObj spid="_x0000_s51296" name="Equation" r:id="rId3" imgW="3648075" imgH="779780" progId="Equation.3">
                  <p:embed/>
                </p:oleObj>
              </mc:Choice>
              <mc:Fallback>
                <p:oleObj name="Equation" r:id="rId3" imgW="3648075" imgH="77978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2467074"/>
                        <a:ext cx="3594100" cy="795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08" name="Text Box 8"/>
          <p:cNvSpPr txBox="1">
            <a:spLocks noChangeArrowheads="1"/>
          </p:cNvSpPr>
          <p:nvPr/>
        </p:nvSpPr>
        <p:spPr bwMode="auto">
          <a:xfrm>
            <a:off x="577850" y="3586262"/>
            <a:ext cx="254158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a:latin typeface="宋体" panose="02010600030101010101" pitchFamily="2" charset="-122"/>
              </a:rPr>
              <a:t>用</a:t>
            </a:r>
            <a:r>
              <a:rPr lang="en-US" altLang="zh-CN" sz="2200"/>
              <a:t>Chebyshev</a:t>
            </a:r>
            <a:r>
              <a:rPr lang="zh-CN" altLang="en-US" sz="2200">
                <a:latin typeface="宋体" panose="02010600030101010101" pitchFamily="2" charset="-122"/>
              </a:rPr>
              <a:t>不等式</a:t>
            </a:r>
            <a:endParaRPr lang="zh-CN" altLang="en-US" sz="2200">
              <a:latin typeface="宋体" panose="02010600030101010101" pitchFamily="2" charset="-122"/>
            </a:endParaRPr>
          </a:p>
        </p:txBody>
      </p:sp>
      <p:graphicFrame>
        <p:nvGraphicFramePr>
          <p:cNvPr id="51209" name="Object 4"/>
          <p:cNvGraphicFramePr>
            <a:graphicFrameLocks noChangeAspect="1"/>
          </p:cNvGraphicFramePr>
          <p:nvPr/>
        </p:nvGraphicFramePr>
        <p:xfrm>
          <a:off x="3124200" y="3464024"/>
          <a:ext cx="3519488" cy="781050"/>
        </p:xfrm>
        <a:graphic>
          <a:graphicData uri="http://schemas.openxmlformats.org/presentationml/2006/ole">
            <mc:AlternateContent xmlns:mc="http://schemas.openxmlformats.org/markup-compatibility/2006">
              <mc:Choice xmlns:v="urn:schemas-microsoft-com:vml" Requires="v">
                <p:oleObj spid="_x0000_s51297" name="Equation" r:id="rId5" imgW="3629025" imgH="779780" progId="Equation.3">
                  <p:embed/>
                </p:oleObj>
              </mc:Choice>
              <mc:Fallback>
                <p:oleObj name="Equation" r:id="rId5" imgW="3629025" imgH="77978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4200" y="3464024"/>
                        <a:ext cx="3519488"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10" name="Object 5"/>
          <p:cNvGraphicFramePr>
            <a:graphicFrameLocks noChangeAspect="1"/>
          </p:cNvGraphicFramePr>
          <p:nvPr/>
        </p:nvGraphicFramePr>
        <p:xfrm>
          <a:off x="3543300" y="1447899"/>
          <a:ext cx="3543300" cy="781050"/>
        </p:xfrm>
        <a:graphic>
          <a:graphicData uri="http://schemas.openxmlformats.org/presentationml/2006/ole">
            <mc:AlternateContent xmlns:mc="http://schemas.openxmlformats.org/markup-compatibility/2006">
              <mc:Choice xmlns:v="urn:schemas-microsoft-com:vml" Requires="v">
                <p:oleObj spid="_x0000_s51298" name="Equation" r:id="rId7" imgW="3683000" imgH="812800" progId="Equation.3">
                  <p:embed/>
                </p:oleObj>
              </mc:Choice>
              <mc:Fallback>
                <p:oleObj name="Equation" r:id="rId7" imgW="3683000" imgH="8128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43300" y="1447899"/>
                        <a:ext cx="3543300" cy="781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120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20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0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20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1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p:bldP spid="51205" grpId="0"/>
      <p:bldP spid="51206" grpId="0"/>
      <p:bldP spid="51208"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1408113" y="1196975"/>
            <a:ext cx="271303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200" b="1">
                <a:solidFill>
                  <a:srgbClr val="5050CC"/>
                </a:solidFill>
                <a:latin typeface="楷体_GB2312" pitchFamily="49" charset="-122"/>
                <a:ea typeface="楷体_GB2312" pitchFamily="49" charset="-122"/>
              </a:rPr>
              <a:t>中心极限定理的意义</a:t>
            </a:r>
            <a:endParaRPr lang="zh-CN" altLang="en-US" sz="2200" b="1">
              <a:solidFill>
                <a:srgbClr val="5050CC"/>
              </a:solidFill>
              <a:latin typeface="楷体_GB2312" pitchFamily="49" charset="-122"/>
              <a:ea typeface="楷体_GB2312" pitchFamily="49" charset="-122"/>
            </a:endParaRPr>
          </a:p>
        </p:txBody>
      </p:sp>
      <p:sp>
        <p:nvSpPr>
          <p:cNvPr id="52227" name="Text Box 3"/>
          <p:cNvSpPr txBox="1">
            <a:spLocks noChangeArrowheads="1"/>
          </p:cNvSpPr>
          <p:nvPr/>
        </p:nvSpPr>
        <p:spPr bwMode="auto">
          <a:xfrm>
            <a:off x="1408113" y="1600200"/>
            <a:ext cx="6477000"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200">
                <a:latin typeface="宋体" panose="02010600030101010101" pitchFamily="2" charset="-122"/>
              </a:rPr>
              <a:t>　　在实际问题中，若某随机变量可以看作是有相互独立的大量随机变量综合作用的结果，每一个因素在总的影响中的作用都很微小，则综合作用的结果服从正态分布．</a:t>
            </a:r>
            <a:endParaRPr lang="zh-CN" altLang="en-US" sz="2200">
              <a:latin typeface="宋体" panose="02010600030101010101" pitchFamily="2" charset="-122"/>
            </a:endParaRPr>
          </a:p>
        </p:txBody>
      </p:sp>
    </p:spTree>
  </p:cSld>
  <p:clrMapOvr>
    <a:masterClrMapping/>
  </p:clrMapOvr>
  <p:transition advClick="0"/>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1219200" y="2033588"/>
            <a:ext cx="7673975" cy="2619375"/>
          </a:xfrm>
        </p:spPr>
        <p:txBody>
          <a:bodyPr/>
          <a:lstStyle/>
          <a:p>
            <a:r>
              <a:rPr lang="zh-CN" altLang="en-US" sz="3600">
                <a:solidFill>
                  <a:srgbClr val="FF0000"/>
                </a:solidFill>
              </a:rPr>
              <a:t>      </a:t>
            </a:r>
            <a:r>
              <a:rPr lang="zh-CN" altLang="en-US">
                <a:solidFill>
                  <a:srgbClr val="FF0000"/>
                </a:solidFill>
                <a:latin typeface="华文新魏" panose="02010800040101010101" pitchFamily="2" charset="-122"/>
                <a:ea typeface="华文新魏" panose="02010800040101010101" pitchFamily="2" charset="-122"/>
              </a:rPr>
              <a:t>请同学们课后千万认真看书</a:t>
            </a:r>
            <a:r>
              <a:rPr lang="en-US" altLang="zh-CN">
                <a:solidFill>
                  <a:srgbClr val="FF0000"/>
                </a:solidFill>
                <a:latin typeface="华文新魏" panose="02010800040101010101" pitchFamily="2" charset="-122"/>
                <a:ea typeface="华文新魏" panose="02010800040101010101" pitchFamily="2" charset="-122"/>
              </a:rPr>
              <a:t>, </a:t>
            </a:r>
            <a:r>
              <a:rPr lang="zh-CN" altLang="en-US">
                <a:solidFill>
                  <a:srgbClr val="FF0000"/>
                </a:solidFill>
                <a:latin typeface="华文新魏" panose="02010800040101010101" pitchFamily="2" charset="-122"/>
                <a:ea typeface="华文新魏" panose="02010800040101010101" pitchFamily="2" charset="-122"/>
              </a:rPr>
              <a:t>极限定理部分是近代概率论的重中之重，中心极限定理几乎是每次概率统计考试的必考部分</a:t>
            </a:r>
            <a:r>
              <a:rPr lang="en-US" altLang="zh-CN">
                <a:solidFill>
                  <a:srgbClr val="FF0000"/>
                </a:solidFill>
                <a:latin typeface="华文新魏" panose="02010800040101010101" pitchFamily="2" charset="-122"/>
                <a:ea typeface="华文新魏" panose="02010800040101010101" pitchFamily="2" charset="-122"/>
              </a:rPr>
              <a:t>!</a:t>
            </a:r>
            <a:endParaRPr lang="en-US" altLang="zh-CN">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ransition/>
</p:sld>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0</TotalTime>
  <Words>7448</Words>
  <Application>WPS 演示</Application>
  <PresentationFormat>全屏显示(4:3)</PresentationFormat>
  <Paragraphs>771</Paragraphs>
  <Slides>92</Slides>
  <Notes>4</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214</vt:i4>
      </vt:variant>
      <vt:variant>
        <vt:lpstr>幻灯片标题</vt:lpstr>
      </vt:variant>
      <vt:variant>
        <vt:i4>92</vt:i4>
      </vt:variant>
    </vt:vector>
  </HeadingPairs>
  <TitlesOfParts>
    <vt:vector size="321" baseType="lpstr">
      <vt:lpstr>Arial</vt:lpstr>
      <vt:lpstr>宋体</vt:lpstr>
      <vt:lpstr>Wingdings</vt:lpstr>
      <vt:lpstr>Times New Roman</vt:lpstr>
      <vt:lpstr>黑体</vt:lpstr>
      <vt:lpstr>微软雅黑</vt:lpstr>
      <vt:lpstr>Arial Unicode MS</vt:lpstr>
      <vt:lpstr>华文新魏</vt:lpstr>
      <vt:lpstr>楷体_GB2312</vt:lpstr>
      <vt:lpstr>Symbol</vt:lpstr>
      <vt:lpstr>Math1</vt:lpstr>
      <vt:lpstr>Arial Unicode MS</vt:lpstr>
      <vt:lpstr>新宋体</vt:lpstr>
      <vt:lpstr>Segoe Print</vt:lpstr>
      <vt:lpstr>古瓶荷花</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Equation.DSMT4</vt:lpstr>
      <vt:lpstr>Equation.DSMT4</vt:lpstr>
      <vt:lpstr>Equation.DSMT4</vt:lpstr>
      <vt:lpstr>Equation.DSMT4</vt:lpstr>
      <vt:lpstr>Word.Document.8</vt:lpstr>
      <vt:lpstr>Equation.DSMT4</vt:lpstr>
      <vt:lpstr>Word.Document.8</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Equation.3</vt:lpstr>
      <vt:lpstr>Equation.DSMT4</vt:lpstr>
      <vt:lpstr>Equation.3</vt:lpstr>
      <vt:lpstr>Equation.3</vt:lpstr>
      <vt:lpstr>Equation.3</vt:lpstr>
      <vt:lpstr>Equation.3</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Equation.DSMT4</vt:lpstr>
      <vt:lpstr>Equation.DSMT4</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Equation.DSMT4</vt:lpstr>
      <vt:lpstr>Equation.DSMT4</vt:lpstr>
      <vt:lpstr>Equation.DSMT4</vt:lpstr>
      <vt:lpstr>Equation.DSMT4</vt:lpstr>
      <vt:lpstr>Equation.DSMT4</vt:lpstr>
      <vt:lpstr>Equation.3</vt:lpstr>
      <vt:lpstr>Equation.3</vt:lpstr>
      <vt:lpstr>Equation.DSMT4</vt:lpstr>
      <vt:lpstr>Equation.3</vt:lpstr>
      <vt:lpstr>Equation.3</vt:lpstr>
      <vt:lpstr>Equation.3</vt:lpstr>
      <vt:lpstr>Equation.3</vt:lpstr>
      <vt:lpstr>Equation.3</vt:lpstr>
      <vt:lpstr>Equation.3</vt:lpstr>
      <vt:lpstr>Equation.DSMT4</vt:lpstr>
      <vt:lpstr>Equation.DSMT4</vt:lpstr>
      <vt:lpstr>Equation.3</vt:lpstr>
      <vt:lpstr>Equation.DSMT4</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极限的两种提法</vt:lpstr>
      <vt:lpstr>进一步研究 μn 的极限行为</vt:lpstr>
      <vt:lpstr>PowerPoint 演示文稿</vt:lpstr>
      <vt:lpstr>大数定律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棣莫弗－拉普拉斯极限定理 （二项分布的正态近似）</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请同学们课后千万认真看书, 极限定理部分是近代概率论的重中之重，中心极限定理几乎是每次概率统计考试的必考部分!</vt:lpstr>
    </vt:vector>
  </TitlesOfParts>
  <Company>whu</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xgldaj</dc:creator>
  <cp:lastModifiedBy>Guest</cp:lastModifiedBy>
  <cp:revision>273</cp:revision>
  <dcterms:created xsi:type="dcterms:W3CDTF">2010-03-02T01:46:00Z</dcterms:created>
  <dcterms:modified xsi:type="dcterms:W3CDTF">2020-04-20T07:21:01Z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2052-10.1.0.7224</vt:lpwstr>
  </property>
</Properties>
</file>