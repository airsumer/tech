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wav" ContentType="audio/x-wav"/>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8"/>
  </p:notesMasterIdLst>
  <p:sldIdLst>
    <p:sldId id="1667" r:id="rId2"/>
    <p:sldId id="1669" r:id="rId3"/>
    <p:sldId id="1678" r:id="rId4"/>
    <p:sldId id="1670" r:id="rId5"/>
    <p:sldId id="1671" r:id="rId6"/>
    <p:sldId id="1672" r:id="rId7"/>
    <p:sldId id="1673" r:id="rId8"/>
    <p:sldId id="1679" r:id="rId9"/>
    <p:sldId id="1674" r:id="rId10"/>
    <p:sldId id="1675" r:id="rId11"/>
    <p:sldId id="1534" r:id="rId12"/>
    <p:sldId id="1684" r:id="rId13"/>
    <p:sldId id="1539" r:id="rId14"/>
    <p:sldId id="1540" r:id="rId15"/>
    <p:sldId id="1541" r:id="rId16"/>
    <p:sldId id="1542" r:id="rId17"/>
    <p:sldId id="1543" r:id="rId18"/>
    <p:sldId id="1544" r:id="rId19"/>
    <p:sldId id="1545" r:id="rId20"/>
    <p:sldId id="1547" r:id="rId21"/>
    <p:sldId id="1548" r:id="rId22"/>
    <p:sldId id="1680" r:id="rId23"/>
    <p:sldId id="1681" r:id="rId24"/>
    <p:sldId id="1682" r:id="rId25"/>
    <p:sldId id="1550" r:id="rId26"/>
    <p:sldId id="1551" r:id="rId27"/>
    <p:sldId id="1552" r:id="rId28"/>
    <p:sldId id="1553" r:id="rId29"/>
    <p:sldId id="1554" r:id="rId30"/>
    <p:sldId id="1555" r:id="rId31"/>
    <p:sldId id="1559" r:id="rId32"/>
    <p:sldId id="1560" r:id="rId33"/>
    <p:sldId id="1561" r:id="rId34"/>
    <p:sldId id="1562" r:id="rId35"/>
    <p:sldId id="1564" r:id="rId36"/>
    <p:sldId id="1565" r:id="rId37"/>
    <p:sldId id="1566" r:id="rId38"/>
    <p:sldId id="1567" r:id="rId39"/>
    <p:sldId id="1568" r:id="rId40"/>
    <p:sldId id="1756" r:id="rId41"/>
    <p:sldId id="1757" r:id="rId42"/>
    <p:sldId id="1758" r:id="rId43"/>
    <p:sldId id="1759" r:id="rId44"/>
    <p:sldId id="1760" r:id="rId45"/>
    <p:sldId id="1761" r:id="rId46"/>
    <p:sldId id="1762" r:id="rId47"/>
    <p:sldId id="1763" r:id="rId48"/>
    <p:sldId id="1764" r:id="rId49"/>
    <p:sldId id="1765" r:id="rId50"/>
    <p:sldId id="1766" r:id="rId51"/>
    <p:sldId id="1767" r:id="rId52"/>
    <p:sldId id="1768" r:id="rId53"/>
    <p:sldId id="1769" r:id="rId54"/>
    <p:sldId id="1770" r:id="rId55"/>
    <p:sldId id="1771" r:id="rId56"/>
    <p:sldId id="1772" r:id="rId57"/>
    <p:sldId id="1773" r:id="rId58"/>
    <p:sldId id="1774" r:id="rId59"/>
    <p:sldId id="1775" r:id="rId60"/>
    <p:sldId id="1776" r:id="rId61"/>
    <p:sldId id="1777" r:id="rId62"/>
    <p:sldId id="1814" r:id="rId63"/>
    <p:sldId id="1815" r:id="rId64"/>
    <p:sldId id="1813" r:id="rId65"/>
    <p:sldId id="1811" r:id="rId66"/>
    <p:sldId id="1812" r:id="rId67"/>
    <p:sldId id="1778" r:id="rId68"/>
    <p:sldId id="1781" r:id="rId69"/>
    <p:sldId id="1782" r:id="rId70"/>
    <p:sldId id="1783" r:id="rId71"/>
    <p:sldId id="1784" r:id="rId72"/>
    <p:sldId id="1785" r:id="rId73"/>
    <p:sldId id="1807" r:id="rId74"/>
    <p:sldId id="1786" r:id="rId75"/>
    <p:sldId id="1787" r:id="rId76"/>
    <p:sldId id="1788" r:id="rId77"/>
    <p:sldId id="1808" r:id="rId78"/>
    <p:sldId id="1809" r:id="rId79"/>
    <p:sldId id="1789" r:id="rId80"/>
    <p:sldId id="1790" r:id="rId81"/>
    <p:sldId id="1791" r:id="rId82"/>
    <p:sldId id="1792" r:id="rId83"/>
    <p:sldId id="1793" r:id="rId84"/>
    <p:sldId id="1794" r:id="rId85"/>
    <p:sldId id="1810" r:id="rId86"/>
    <p:sldId id="1798" r:id="rId87"/>
  </p:sldIdLst>
  <p:sldSz cx="9144000" cy="6858000" type="screen4x3"/>
  <p:notesSz cx="6858000" cy="9144000"/>
  <p:defaultTextStyle>
    <a:defPPr>
      <a:defRPr lang="zh-CN"/>
    </a:defPPr>
    <a:lvl1pPr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28">
          <p15:clr>
            <a:srgbClr val="A4A3A4"/>
          </p15:clr>
        </p15:guide>
        <p15:guide id="2" pos="28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5F4FC"/>
    <a:srgbClr val="F8F8F8"/>
    <a:srgbClr val="FFCCFF"/>
    <a:srgbClr val="CCFFFF"/>
    <a:srgbClr val="C1643F"/>
    <a:srgbClr val="336600"/>
    <a:srgbClr val="9900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18" autoAdjust="0"/>
    <p:restoredTop sz="94660"/>
  </p:normalViewPr>
  <p:slideViewPr>
    <p:cSldViewPr>
      <p:cViewPr varScale="1">
        <p:scale>
          <a:sx n="54" d="100"/>
          <a:sy n="54" d="100"/>
        </p:scale>
        <p:origin x="48" y="280"/>
      </p:cViewPr>
      <p:guideLst>
        <p:guide orient="horz" pos="2128"/>
        <p:guide pos="2868"/>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image" Target="../media/image3.wmf"/><Relationship Id="rId4"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19.emf"/><Relationship Id="rId1" Type="http://schemas.openxmlformats.org/officeDocument/2006/relationships/image" Target="../media/image18.emf"/><Relationship Id="rId5" Type="http://schemas.openxmlformats.org/officeDocument/2006/relationships/image" Target="../media/image21.emf"/><Relationship Id="rId4" Type="http://schemas.openxmlformats.org/officeDocument/2006/relationships/image" Target="../media/image2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 Id="rId5" Type="http://schemas.openxmlformats.org/officeDocument/2006/relationships/image" Target="../media/image26.wmf"/><Relationship Id="rId4" Type="http://schemas.openxmlformats.org/officeDocument/2006/relationships/image" Target="../media/image25.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30.wmf"/><Relationship Id="rId4" Type="http://schemas.openxmlformats.org/officeDocument/2006/relationships/image" Target="../media/image33.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 Id="rId6" Type="http://schemas.openxmlformats.org/officeDocument/2006/relationships/image" Target="../media/image39.wmf"/><Relationship Id="rId5" Type="http://schemas.openxmlformats.org/officeDocument/2006/relationships/image" Target="../media/image38.wmf"/><Relationship Id="rId4" Type="http://schemas.openxmlformats.org/officeDocument/2006/relationships/image" Target="../media/image37.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emf"/><Relationship Id="rId1" Type="http://schemas.openxmlformats.org/officeDocument/2006/relationships/image" Target="../media/image41.e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image" Target="../media/image45.emf"/><Relationship Id="rId1" Type="http://schemas.openxmlformats.org/officeDocument/2006/relationships/image" Target="../media/image44.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image" Target="../media/image47.e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media/image50.emf"/><Relationship Id="rId1" Type="http://schemas.openxmlformats.org/officeDocument/2006/relationships/image" Target="../media/image49.emf"/><Relationship Id="rId5" Type="http://schemas.openxmlformats.org/officeDocument/2006/relationships/image" Target="../media/image53.emf"/><Relationship Id="rId4" Type="http://schemas.openxmlformats.org/officeDocument/2006/relationships/image" Target="../media/image52.e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image" Target="../media/image54.e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63.emf"/><Relationship Id="rId3" Type="http://schemas.openxmlformats.org/officeDocument/2006/relationships/image" Target="../media/image58.emf"/><Relationship Id="rId7" Type="http://schemas.openxmlformats.org/officeDocument/2006/relationships/image" Target="../media/image62.emf"/><Relationship Id="rId2" Type="http://schemas.openxmlformats.org/officeDocument/2006/relationships/image" Target="../media/image57.emf"/><Relationship Id="rId1" Type="http://schemas.openxmlformats.org/officeDocument/2006/relationships/image" Target="../media/image56.emf"/><Relationship Id="rId6" Type="http://schemas.openxmlformats.org/officeDocument/2006/relationships/image" Target="../media/image61.emf"/><Relationship Id="rId5" Type="http://schemas.openxmlformats.org/officeDocument/2006/relationships/image" Target="../media/image60.emf"/><Relationship Id="rId4" Type="http://schemas.openxmlformats.org/officeDocument/2006/relationships/image" Target="../media/image59.e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65.emf"/><Relationship Id="rId1" Type="http://schemas.openxmlformats.org/officeDocument/2006/relationships/image" Target="../media/image64.e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image" Target="../media/image67.emf"/><Relationship Id="rId1" Type="http://schemas.openxmlformats.org/officeDocument/2006/relationships/image" Target="../media/image66.emf"/><Relationship Id="rId6" Type="http://schemas.openxmlformats.org/officeDocument/2006/relationships/image" Target="../media/image71.emf"/><Relationship Id="rId5" Type="http://schemas.openxmlformats.org/officeDocument/2006/relationships/image" Target="../media/image70.emf"/><Relationship Id="rId4" Type="http://schemas.openxmlformats.org/officeDocument/2006/relationships/image" Target="../media/image69.e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74.emf"/><Relationship Id="rId2" Type="http://schemas.openxmlformats.org/officeDocument/2006/relationships/image" Target="../media/image73.emf"/><Relationship Id="rId1" Type="http://schemas.openxmlformats.org/officeDocument/2006/relationships/image" Target="../media/image72.emf"/><Relationship Id="rId4" Type="http://schemas.openxmlformats.org/officeDocument/2006/relationships/image" Target="../media/image75.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78.emf"/><Relationship Id="rId1" Type="http://schemas.openxmlformats.org/officeDocument/2006/relationships/image" Target="../media/image77.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80.emf"/><Relationship Id="rId2" Type="http://schemas.openxmlformats.org/officeDocument/2006/relationships/image" Target="../media/image79.wmf"/><Relationship Id="rId1" Type="http://schemas.openxmlformats.org/officeDocument/2006/relationships/image" Target="../media/image77.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82.e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84.emf"/><Relationship Id="rId1" Type="http://schemas.openxmlformats.org/officeDocument/2006/relationships/image" Target="../media/image83.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85.e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87.emf"/><Relationship Id="rId1" Type="http://schemas.openxmlformats.org/officeDocument/2006/relationships/image" Target="../media/image86.e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90.emf"/><Relationship Id="rId2" Type="http://schemas.openxmlformats.org/officeDocument/2006/relationships/image" Target="../media/image89.wmf"/><Relationship Id="rId1" Type="http://schemas.openxmlformats.org/officeDocument/2006/relationships/image" Target="../media/image88.emf"/><Relationship Id="rId4" Type="http://schemas.openxmlformats.org/officeDocument/2006/relationships/image" Target="../media/image91.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92.e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95.emf"/><Relationship Id="rId2" Type="http://schemas.openxmlformats.org/officeDocument/2006/relationships/image" Target="../media/image94.emf"/><Relationship Id="rId1" Type="http://schemas.openxmlformats.org/officeDocument/2006/relationships/image" Target="../media/image93.emf"/><Relationship Id="rId5" Type="http://schemas.openxmlformats.org/officeDocument/2006/relationships/image" Target="../media/image97.emf"/><Relationship Id="rId4" Type="http://schemas.openxmlformats.org/officeDocument/2006/relationships/image" Target="../media/image96.e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99.emf"/><Relationship Id="rId1" Type="http://schemas.openxmlformats.org/officeDocument/2006/relationships/image" Target="../media/image98.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00.e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03.emf"/><Relationship Id="rId2" Type="http://schemas.openxmlformats.org/officeDocument/2006/relationships/image" Target="../media/image102.emf"/><Relationship Id="rId1" Type="http://schemas.openxmlformats.org/officeDocument/2006/relationships/image" Target="../media/image101.emf"/><Relationship Id="rId4" Type="http://schemas.openxmlformats.org/officeDocument/2006/relationships/image" Target="../media/image104.e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08.emf"/><Relationship Id="rId2" Type="http://schemas.openxmlformats.org/officeDocument/2006/relationships/image" Target="../media/image107.emf"/><Relationship Id="rId1" Type="http://schemas.openxmlformats.org/officeDocument/2006/relationships/image" Target="../media/image106.e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111.emf"/><Relationship Id="rId2" Type="http://schemas.openxmlformats.org/officeDocument/2006/relationships/image" Target="../media/image110.emf"/><Relationship Id="rId1" Type="http://schemas.openxmlformats.org/officeDocument/2006/relationships/image" Target="../media/image109.emf"/></Relationships>
</file>

<file path=ppt/drawings/_rels/vmlDrawing34.vml.rels><?xml version="1.0" encoding="UTF-8" standalone="yes"?>
<Relationships xmlns="http://schemas.openxmlformats.org/package/2006/relationships"><Relationship Id="rId8" Type="http://schemas.openxmlformats.org/officeDocument/2006/relationships/image" Target="../media/image119.wmf"/><Relationship Id="rId3" Type="http://schemas.openxmlformats.org/officeDocument/2006/relationships/image" Target="../media/image114.wmf"/><Relationship Id="rId7" Type="http://schemas.openxmlformats.org/officeDocument/2006/relationships/image" Target="../media/image118.emf"/><Relationship Id="rId2" Type="http://schemas.openxmlformats.org/officeDocument/2006/relationships/image" Target="../media/image113.emf"/><Relationship Id="rId1" Type="http://schemas.openxmlformats.org/officeDocument/2006/relationships/image" Target="../media/image112.emf"/><Relationship Id="rId6" Type="http://schemas.openxmlformats.org/officeDocument/2006/relationships/image" Target="../media/image117.wmf"/><Relationship Id="rId5" Type="http://schemas.openxmlformats.org/officeDocument/2006/relationships/image" Target="../media/image116.emf"/><Relationship Id="rId4" Type="http://schemas.openxmlformats.org/officeDocument/2006/relationships/image" Target="../media/image115.emf"/><Relationship Id="rId9" Type="http://schemas.openxmlformats.org/officeDocument/2006/relationships/image" Target="../media/image120.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23.emf"/><Relationship Id="rId2" Type="http://schemas.openxmlformats.org/officeDocument/2006/relationships/image" Target="../media/image122.emf"/><Relationship Id="rId1" Type="http://schemas.openxmlformats.org/officeDocument/2006/relationships/image" Target="../media/image121.emf"/><Relationship Id="rId6" Type="http://schemas.openxmlformats.org/officeDocument/2006/relationships/image" Target="../media/image126.emf"/><Relationship Id="rId5" Type="http://schemas.openxmlformats.org/officeDocument/2006/relationships/image" Target="../media/image125.emf"/><Relationship Id="rId4" Type="http://schemas.openxmlformats.org/officeDocument/2006/relationships/image" Target="../media/image124.e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29.emf"/><Relationship Id="rId2" Type="http://schemas.openxmlformats.org/officeDocument/2006/relationships/image" Target="../media/image128.emf"/><Relationship Id="rId1" Type="http://schemas.openxmlformats.org/officeDocument/2006/relationships/image" Target="../media/image127.emf"/><Relationship Id="rId5" Type="http://schemas.openxmlformats.org/officeDocument/2006/relationships/image" Target="../media/image131.emf"/><Relationship Id="rId4" Type="http://schemas.openxmlformats.org/officeDocument/2006/relationships/image" Target="../media/image130.emf"/></Relationships>
</file>

<file path=ppt/drawings/_rels/vmlDrawing37.vml.rels><?xml version="1.0" encoding="UTF-8" standalone="yes"?>
<Relationships xmlns="http://schemas.openxmlformats.org/package/2006/relationships"><Relationship Id="rId8" Type="http://schemas.openxmlformats.org/officeDocument/2006/relationships/image" Target="../media/image139.emf"/><Relationship Id="rId3" Type="http://schemas.openxmlformats.org/officeDocument/2006/relationships/image" Target="../media/image134.emf"/><Relationship Id="rId7" Type="http://schemas.openxmlformats.org/officeDocument/2006/relationships/image" Target="../media/image138.emf"/><Relationship Id="rId2" Type="http://schemas.openxmlformats.org/officeDocument/2006/relationships/image" Target="../media/image133.emf"/><Relationship Id="rId1" Type="http://schemas.openxmlformats.org/officeDocument/2006/relationships/image" Target="../media/image132.emf"/><Relationship Id="rId6" Type="http://schemas.openxmlformats.org/officeDocument/2006/relationships/image" Target="../media/image137.emf"/><Relationship Id="rId5" Type="http://schemas.openxmlformats.org/officeDocument/2006/relationships/image" Target="../media/image136.emf"/><Relationship Id="rId4" Type="http://schemas.openxmlformats.org/officeDocument/2006/relationships/image" Target="../media/image135.emf"/><Relationship Id="rId9" Type="http://schemas.openxmlformats.org/officeDocument/2006/relationships/image" Target="../media/image140.e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43.emf"/><Relationship Id="rId2" Type="http://schemas.openxmlformats.org/officeDocument/2006/relationships/image" Target="../media/image142.emf"/><Relationship Id="rId1" Type="http://schemas.openxmlformats.org/officeDocument/2006/relationships/image" Target="../media/image141.emf"/><Relationship Id="rId4" Type="http://schemas.openxmlformats.org/officeDocument/2006/relationships/image" Target="../media/image144.e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147.emf"/><Relationship Id="rId7" Type="http://schemas.openxmlformats.org/officeDocument/2006/relationships/image" Target="../media/image151.emf"/><Relationship Id="rId2" Type="http://schemas.openxmlformats.org/officeDocument/2006/relationships/image" Target="../media/image146.emf"/><Relationship Id="rId1" Type="http://schemas.openxmlformats.org/officeDocument/2006/relationships/image" Target="../media/image145.emf"/><Relationship Id="rId6" Type="http://schemas.openxmlformats.org/officeDocument/2006/relationships/image" Target="../media/image150.emf"/><Relationship Id="rId5" Type="http://schemas.openxmlformats.org/officeDocument/2006/relationships/image" Target="../media/image149.emf"/><Relationship Id="rId4" Type="http://schemas.openxmlformats.org/officeDocument/2006/relationships/image" Target="../media/image148.emf"/></Relationships>
</file>

<file path=ppt/drawings/_rels/vmlDrawing40.vml.rels><?xml version="1.0" encoding="UTF-8" standalone="yes"?>
<Relationships xmlns="http://schemas.openxmlformats.org/package/2006/relationships"><Relationship Id="rId8" Type="http://schemas.openxmlformats.org/officeDocument/2006/relationships/image" Target="../media/image159.wmf"/><Relationship Id="rId3" Type="http://schemas.openxmlformats.org/officeDocument/2006/relationships/image" Target="../media/image154.wmf"/><Relationship Id="rId7" Type="http://schemas.openxmlformats.org/officeDocument/2006/relationships/image" Target="../media/image158.wmf"/><Relationship Id="rId2" Type="http://schemas.openxmlformats.org/officeDocument/2006/relationships/image" Target="../media/image153.wmf"/><Relationship Id="rId1" Type="http://schemas.openxmlformats.org/officeDocument/2006/relationships/image" Target="../media/image152.wmf"/><Relationship Id="rId6" Type="http://schemas.openxmlformats.org/officeDocument/2006/relationships/image" Target="../media/image157.wmf"/><Relationship Id="rId5" Type="http://schemas.openxmlformats.org/officeDocument/2006/relationships/image" Target="../media/image156.wmf"/><Relationship Id="rId4" Type="http://schemas.openxmlformats.org/officeDocument/2006/relationships/image" Target="../media/image155.wmf"/><Relationship Id="rId9" Type="http://schemas.openxmlformats.org/officeDocument/2006/relationships/image" Target="../media/image160.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163.emf"/><Relationship Id="rId2" Type="http://schemas.openxmlformats.org/officeDocument/2006/relationships/image" Target="../media/image162.emf"/><Relationship Id="rId1" Type="http://schemas.openxmlformats.org/officeDocument/2006/relationships/image" Target="../media/image161.wmf"/><Relationship Id="rId5" Type="http://schemas.openxmlformats.org/officeDocument/2006/relationships/image" Target="../media/image165.emf"/><Relationship Id="rId4" Type="http://schemas.openxmlformats.org/officeDocument/2006/relationships/image" Target="../media/image164.e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168.wmf"/><Relationship Id="rId2" Type="http://schemas.openxmlformats.org/officeDocument/2006/relationships/image" Target="../media/image167.wmf"/><Relationship Id="rId1" Type="http://schemas.openxmlformats.org/officeDocument/2006/relationships/image" Target="../media/image166.emf"/><Relationship Id="rId4" Type="http://schemas.openxmlformats.org/officeDocument/2006/relationships/image" Target="../media/image169.emf"/></Relationships>
</file>

<file path=ppt/drawings/_rels/vmlDrawing43.vml.rels><?xml version="1.0" encoding="UTF-8" standalone="yes"?>
<Relationships xmlns="http://schemas.openxmlformats.org/package/2006/relationships"><Relationship Id="rId8" Type="http://schemas.openxmlformats.org/officeDocument/2006/relationships/image" Target="../media/image177.emf"/><Relationship Id="rId13" Type="http://schemas.openxmlformats.org/officeDocument/2006/relationships/image" Target="../media/image182.emf"/><Relationship Id="rId3" Type="http://schemas.openxmlformats.org/officeDocument/2006/relationships/image" Target="../media/image172.emf"/><Relationship Id="rId7" Type="http://schemas.openxmlformats.org/officeDocument/2006/relationships/image" Target="../media/image176.emf"/><Relationship Id="rId12" Type="http://schemas.openxmlformats.org/officeDocument/2006/relationships/image" Target="../media/image181.emf"/><Relationship Id="rId2" Type="http://schemas.openxmlformats.org/officeDocument/2006/relationships/image" Target="../media/image171.emf"/><Relationship Id="rId16" Type="http://schemas.openxmlformats.org/officeDocument/2006/relationships/image" Target="../media/image185.emf"/><Relationship Id="rId1" Type="http://schemas.openxmlformats.org/officeDocument/2006/relationships/image" Target="../media/image170.emf"/><Relationship Id="rId6" Type="http://schemas.openxmlformats.org/officeDocument/2006/relationships/image" Target="../media/image175.emf"/><Relationship Id="rId11" Type="http://schemas.openxmlformats.org/officeDocument/2006/relationships/image" Target="../media/image180.emf"/><Relationship Id="rId5" Type="http://schemas.openxmlformats.org/officeDocument/2006/relationships/image" Target="../media/image174.emf"/><Relationship Id="rId15" Type="http://schemas.openxmlformats.org/officeDocument/2006/relationships/image" Target="../media/image184.wmf"/><Relationship Id="rId10" Type="http://schemas.openxmlformats.org/officeDocument/2006/relationships/image" Target="../media/image179.emf"/><Relationship Id="rId4" Type="http://schemas.openxmlformats.org/officeDocument/2006/relationships/image" Target="../media/image173.emf"/><Relationship Id="rId9" Type="http://schemas.openxmlformats.org/officeDocument/2006/relationships/image" Target="../media/image178.emf"/><Relationship Id="rId14" Type="http://schemas.openxmlformats.org/officeDocument/2006/relationships/image" Target="../media/image183.e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188.wmf"/><Relationship Id="rId2" Type="http://schemas.openxmlformats.org/officeDocument/2006/relationships/image" Target="../media/image187.wmf"/><Relationship Id="rId1" Type="http://schemas.openxmlformats.org/officeDocument/2006/relationships/image" Target="../media/image186.wmf"/><Relationship Id="rId4" Type="http://schemas.openxmlformats.org/officeDocument/2006/relationships/image" Target="../media/image189.wmf"/></Relationships>
</file>

<file path=ppt/drawings/_rels/vmlDrawing45.vml.rels><?xml version="1.0" encoding="UTF-8" standalone="yes"?>
<Relationships xmlns="http://schemas.openxmlformats.org/package/2006/relationships"><Relationship Id="rId3" Type="http://schemas.openxmlformats.org/officeDocument/2006/relationships/image" Target="../media/image192.wmf"/><Relationship Id="rId2" Type="http://schemas.openxmlformats.org/officeDocument/2006/relationships/image" Target="../media/image191.wmf"/><Relationship Id="rId1" Type="http://schemas.openxmlformats.org/officeDocument/2006/relationships/image" Target="../media/image190.w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195.emf"/><Relationship Id="rId2" Type="http://schemas.openxmlformats.org/officeDocument/2006/relationships/image" Target="../media/image194.emf"/><Relationship Id="rId1" Type="http://schemas.openxmlformats.org/officeDocument/2006/relationships/image" Target="../media/image193.emf"/><Relationship Id="rId6" Type="http://schemas.openxmlformats.org/officeDocument/2006/relationships/image" Target="../media/image198.emf"/><Relationship Id="rId5" Type="http://schemas.openxmlformats.org/officeDocument/2006/relationships/image" Target="../media/image197.emf"/><Relationship Id="rId4" Type="http://schemas.openxmlformats.org/officeDocument/2006/relationships/image" Target="../media/image196.emf"/></Relationships>
</file>

<file path=ppt/drawings/_rels/vmlDrawing47.vml.rels><?xml version="1.0" encoding="UTF-8" standalone="yes"?>
<Relationships xmlns="http://schemas.openxmlformats.org/package/2006/relationships"><Relationship Id="rId2" Type="http://schemas.openxmlformats.org/officeDocument/2006/relationships/image" Target="../media/image200.emf"/><Relationship Id="rId1" Type="http://schemas.openxmlformats.org/officeDocument/2006/relationships/image" Target="../media/image199.emf"/></Relationships>
</file>

<file path=ppt/drawings/_rels/vmlDrawing48.vml.rels><?xml version="1.0" encoding="UTF-8" standalone="yes"?>
<Relationships xmlns="http://schemas.openxmlformats.org/package/2006/relationships"><Relationship Id="rId8" Type="http://schemas.openxmlformats.org/officeDocument/2006/relationships/image" Target="../media/image208.emf"/><Relationship Id="rId3" Type="http://schemas.openxmlformats.org/officeDocument/2006/relationships/image" Target="../media/image203.emf"/><Relationship Id="rId7" Type="http://schemas.openxmlformats.org/officeDocument/2006/relationships/image" Target="../media/image207.emf"/><Relationship Id="rId2" Type="http://schemas.openxmlformats.org/officeDocument/2006/relationships/image" Target="../media/image202.emf"/><Relationship Id="rId1" Type="http://schemas.openxmlformats.org/officeDocument/2006/relationships/image" Target="../media/image201.emf"/><Relationship Id="rId6" Type="http://schemas.openxmlformats.org/officeDocument/2006/relationships/image" Target="../media/image206.emf"/><Relationship Id="rId5" Type="http://schemas.openxmlformats.org/officeDocument/2006/relationships/image" Target="../media/image205.emf"/><Relationship Id="rId4" Type="http://schemas.openxmlformats.org/officeDocument/2006/relationships/image" Target="../media/image204.emf"/></Relationships>
</file>

<file path=ppt/drawings/_rels/vmlDrawing49.vml.rels><?xml version="1.0" encoding="UTF-8" standalone="yes"?>
<Relationships xmlns="http://schemas.openxmlformats.org/package/2006/relationships"><Relationship Id="rId8" Type="http://schemas.openxmlformats.org/officeDocument/2006/relationships/image" Target="../media/image216.emf"/><Relationship Id="rId3" Type="http://schemas.openxmlformats.org/officeDocument/2006/relationships/image" Target="../media/image211.emf"/><Relationship Id="rId7" Type="http://schemas.openxmlformats.org/officeDocument/2006/relationships/image" Target="../media/image215.emf"/><Relationship Id="rId2" Type="http://schemas.openxmlformats.org/officeDocument/2006/relationships/image" Target="../media/image210.emf"/><Relationship Id="rId1" Type="http://schemas.openxmlformats.org/officeDocument/2006/relationships/image" Target="../media/image209.emf"/><Relationship Id="rId6" Type="http://schemas.openxmlformats.org/officeDocument/2006/relationships/image" Target="../media/image214.emf"/><Relationship Id="rId5" Type="http://schemas.openxmlformats.org/officeDocument/2006/relationships/image" Target="../media/image213.emf"/><Relationship Id="rId4" Type="http://schemas.openxmlformats.org/officeDocument/2006/relationships/image" Target="../media/image212.emf"/></Relationships>
</file>

<file path=ppt/drawings/_rels/vmlDrawing50.vml.rels><?xml version="1.0" encoding="UTF-8" standalone="yes"?>
<Relationships xmlns="http://schemas.openxmlformats.org/package/2006/relationships"><Relationship Id="rId3" Type="http://schemas.openxmlformats.org/officeDocument/2006/relationships/image" Target="../media/image219.emf"/><Relationship Id="rId2" Type="http://schemas.openxmlformats.org/officeDocument/2006/relationships/image" Target="../media/image218.emf"/><Relationship Id="rId1" Type="http://schemas.openxmlformats.org/officeDocument/2006/relationships/image" Target="../media/image217.emf"/><Relationship Id="rId6" Type="http://schemas.openxmlformats.org/officeDocument/2006/relationships/image" Target="../media/image222.emf"/><Relationship Id="rId5" Type="http://schemas.openxmlformats.org/officeDocument/2006/relationships/image" Target="../media/image221.emf"/><Relationship Id="rId4" Type="http://schemas.openxmlformats.org/officeDocument/2006/relationships/image" Target="../media/image220.emf"/></Relationships>
</file>

<file path=ppt/drawings/_rels/vmlDrawing51.vml.rels><?xml version="1.0" encoding="UTF-8" standalone="yes"?>
<Relationships xmlns="http://schemas.openxmlformats.org/package/2006/relationships"><Relationship Id="rId8" Type="http://schemas.openxmlformats.org/officeDocument/2006/relationships/image" Target="../media/image230.emf"/><Relationship Id="rId3" Type="http://schemas.openxmlformats.org/officeDocument/2006/relationships/image" Target="../media/image225.emf"/><Relationship Id="rId7" Type="http://schemas.openxmlformats.org/officeDocument/2006/relationships/image" Target="../media/image229.emf"/><Relationship Id="rId12" Type="http://schemas.openxmlformats.org/officeDocument/2006/relationships/image" Target="../media/image234.emf"/><Relationship Id="rId2" Type="http://schemas.openxmlformats.org/officeDocument/2006/relationships/image" Target="../media/image224.emf"/><Relationship Id="rId1" Type="http://schemas.openxmlformats.org/officeDocument/2006/relationships/image" Target="../media/image223.emf"/><Relationship Id="rId6" Type="http://schemas.openxmlformats.org/officeDocument/2006/relationships/image" Target="../media/image228.emf"/><Relationship Id="rId11" Type="http://schemas.openxmlformats.org/officeDocument/2006/relationships/image" Target="../media/image233.emf"/><Relationship Id="rId5" Type="http://schemas.openxmlformats.org/officeDocument/2006/relationships/image" Target="../media/image227.emf"/><Relationship Id="rId10" Type="http://schemas.openxmlformats.org/officeDocument/2006/relationships/image" Target="../media/image232.emf"/><Relationship Id="rId4" Type="http://schemas.openxmlformats.org/officeDocument/2006/relationships/image" Target="../media/image226.emf"/><Relationship Id="rId9" Type="http://schemas.openxmlformats.org/officeDocument/2006/relationships/image" Target="../media/image231.emf"/></Relationships>
</file>

<file path=ppt/drawings/_rels/vmlDrawing52.vml.rels><?xml version="1.0" encoding="UTF-8" standalone="yes"?>
<Relationships xmlns="http://schemas.openxmlformats.org/package/2006/relationships"><Relationship Id="rId8" Type="http://schemas.openxmlformats.org/officeDocument/2006/relationships/image" Target="../media/image243.wmf"/><Relationship Id="rId3" Type="http://schemas.openxmlformats.org/officeDocument/2006/relationships/image" Target="../media/image238.wmf"/><Relationship Id="rId7" Type="http://schemas.openxmlformats.org/officeDocument/2006/relationships/image" Target="../media/image242.wmf"/><Relationship Id="rId2" Type="http://schemas.openxmlformats.org/officeDocument/2006/relationships/image" Target="../media/image237.wmf"/><Relationship Id="rId1" Type="http://schemas.openxmlformats.org/officeDocument/2006/relationships/image" Target="../media/image236.wmf"/><Relationship Id="rId6" Type="http://schemas.openxmlformats.org/officeDocument/2006/relationships/image" Target="../media/image241.wmf"/><Relationship Id="rId5" Type="http://schemas.openxmlformats.org/officeDocument/2006/relationships/image" Target="../media/image240.wmf"/><Relationship Id="rId4" Type="http://schemas.openxmlformats.org/officeDocument/2006/relationships/image" Target="../media/image23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b="0">
                <a:latin typeface="Arial" panose="020B0604020202020204" pitchFamily="34" charset="0"/>
              </a:defRPr>
            </a:lvl1pPr>
          </a:lstStyle>
          <a:p>
            <a:pPr>
              <a:defRPr/>
            </a:pPr>
            <a:endParaRPr lang="en-US" altLang="zh-CN"/>
          </a:p>
        </p:txBody>
      </p:sp>
      <p:sp>
        <p:nvSpPr>
          <p:cNvPr id="4099"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b="0">
                <a:latin typeface="Arial" panose="020B0604020202020204" pitchFamily="34" charset="0"/>
              </a:defRPr>
            </a:lvl1pPr>
          </a:lstStyle>
          <a:p>
            <a:pPr>
              <a:defRPr/>
            </a:pPr>
            <a:endParaRPr lang="en-US" altLang="zh-CN"/>
          </a:p>
        </p:txBody>
      </p:sp>
      <p:sp>
        <p:nvSpPr>
          <p:cNvPr id="51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102"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b="0">
                <a:latin typeface="Arial" panose="020B0604020202020204" pitchFamily="34" charset="0"/>
              </a:defRPr>
            </a:lvl1pPr>
          </a:lstStyle>
          <a:p>
            <a:pPr>
              <a:defRPr/>
            </a:pPr>
            <a:endParaRPr lang="en-US" altLang="zh-CN"/>
          </a:p>
        </p:txBody>
      </p:sp>
      <p:sp>
        <p:nvSpPr>
          <p:cNvPr id="4103"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b="0"/>
            </a:lvl1pPr>
          </a:lstStyle>
          <a:p>
            <a:pPr>
              <a:defRPr/>
            </a:pPr>
            <a:fld id="{167392BE-B871-4C5A-9552-69260FEFB885}"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17762" name="Rectangle 2"/>
          <p:cNvSpPr>
            <a:spLocks noGrp="1" noRot="1" noChangeArrowheads="1"/>
          </p:cNvSpPr>
          <p:nvPr>
            <p:ph type="ctrTitle"/>
          </p:nvPr>
        </p:nvSpPr>
        <p:spPr>
          <a:xfrm>
            <a:off x="3962400" y="1066800"/>
            <a:ext cx="4648200" cy="1981200"/>
          </a:xfrm>
        </p:spPr>
        <p:txBody>
          <a:bodyPr/>
          <a:lstStyle>
            <a:lvl1pPr>
              <a:defRPr/>
            </a:lvl1pPr>
          </a:lstStyle>
          <a:p>
            <a:r>
              <a:rPr lang="zh-CN" altLang="en-US"/>
              <a:t>单击此处编辑母版标题样式</a:t>
            </a:r>
          </a:p>
        </p:txBody>
      </p:sp>
      <p:sp>
        <p:nvSpPr>
          <p:cNvPr id="117763" name="Rectangle 3"/>
          <p:cNvSpPr>
            <a:spLocks noGrp="1" noRot="1" noChangeArrowheads="1"/>
          </p:cNvSpPr>
          <p:nvPr>
            <p:ph type="subTitle" idx="1"/>
          </p:nvPr>
        </p:nvSpPr>
        <p:spPr>
          <a:xfrm>
            <a:off x="3962400" y="3657600"/>
            <a:ext cx="4572000" cy="1676400"/>
          </a:xfrm>
        </p:spPr>
        <p:txBody>
          <a:bodyPr/>
          <a:lstStyle>
            <a:lvl1pPr marL="0" indent="0" algn="ctr">
              <a:buFont typeface="Wingdings" panose="05000000000000000000" pitchFamily="2" charset="2"/>
              <a:buNone/>
              <a:defRPr/>
            </a:lvl1pPr>
          </a:lstStyle>
          <a:p>
            <a:r>
              <a:rPr lang="zh-CN" altLang="en-US"/>
              <a:t>单击此处编辑母版副标题样式</a:t>
            </a:r>
          </a:p>
        </p:txBody>
      </p:sp>
      <p:sp>
        <p:nvSpPr>
          <p:cNvPr id="4" name="Rectangle 4"/>
          <p:cNvSpPr>
            <a:spLocks noGrp="1" noChangeArrowheads="1"/>
          </p:cNvSpPr>
          <p:nvPr>
            <p:ph type="dt" sz="half" idx="10"/>
          </p:nvPr>
        </p:nvSpPr>
        <p:spPr>
          <a:xfrm>
            <a:off x="301625" y="6076950"/>
            <a:ext cx="2289175" cy="476250"/>
          </a:xfrm>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xfrm>
            <a:off x="3124200" y="6076950"/>
            <a:ext cx="2895600" cy="476250"/>
          </a:xfrm>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xfrm>
            <a:off x="6553200" y="6076950"/>
            <a:ext cx="2289175" cy="476250"/>
          </a:xfrm>
        </p:spPr>
        <p:txBody>
          <a:bodyPr/>
          <a:lstStyle>
            <a:lvl1pPr>
              <a:defRPr/>
            </a:lvl1pPr>
          </a:lstStyle>
          <a:p>
            <a:pPr>
              <a:defRPr/>
            </a:pPr>
            <a:fld id="{79D9E9C5-D3B2-4B1A-8859-AA2D215D977A}"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453F9407-972C-4568-B451-653AE087F084}"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7DD83A3F-6855-4B5E-9608-775CF40574FB}"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04800" y="1981200"/>
            <a:ext cx="4194175"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51375" y="1981200"/>
            <a:ext cx="4194175"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047DDAC7-2EEA-4D0D-8662-9D209C9EB155}"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5099177A-2807-46F9-860A-C7611B4D6A8D}"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4DC0A165-E460-4AAF-9FFA-46E44F4E461E}"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732040AB-5746-4111-A488-4E98BFA2370C}"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100C76E4-12B9-4F43-AF51-3986CCA99273}"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14FFD30B-895A-4AF2-AE09-B4A62D89DCD8}"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012630E0-BCA3-4404-B8EC-237505EF6312}"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10363" y="685800"/>
            <a:ext cx="2135187" cy="51816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1625" y="685800"/>
            <a:ext cx="6256338" cy="51816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9DCCCACC-D8C8-4D43-85D5-D752EED8C07A}" type="slidenum">
              <a:rPr lang="en-US" altLang="zh-CN"/>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01625" y="685800"/>
            <a:ext cx="8543925" cy="5181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EF0E890A-976C-42A5-A759-9BF3BCBD652F}"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Rot="1" noChangeArrowheads="1"/>
          </p:cNvSpPr>
          <p:nvPr>
            <p:ph type="title"/>
          </p:nvPr>
        </p:nvSpPr>
        <p:spPr bwMode="auto">
          <a:xfrm>
            <a:off x="301625" y="68580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Rectangle 3"/>
          <p:cNvSpPr>
            <a:spLocks noGrp="1" noRot="1" noChangeArrowheads="1"/>
          </p:cNvSpPr>
          <p:nvPr>
            <p:ph type="body" idx="1"/>
          </p:nvPr>
        </p:nvSpPr>
        <p:spPr bwMode="auto">
          <a:xfrm>
            <a:off x="304800" y="1981200"/>
            <a:ext cx="854075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16740" name="Rectangle 4"/>
          <p:cNvSpPr>
            <a:spLocks noGrp="1" noChangeArrowheads="1"/>
          </p:cNvSpPr>
          <p:nvPr>
            <p:ph type="dt" sz="half" idx="2"/>
          </p:nvPr>
        </p:nvSpPr>
        <p:spPr bwMode="auto">
          <a:xfrm>
            <a:off x="301625" y="6019800"/>
            <a:ext cx="2289175"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b="0">
                <a:latin typeface="Arial" panose="020B0604020202020204" pitchFamily="34" charset="0"/>
              </a:defRPr>
            </a:lvl1pPr>
          </a:lstStyle>
          <a:p>
            <a:pPr>
              <a:defRPr/>
            </a:pPr>
            <a:endParaRPr lang="en-US" altLang="zh-CN"/>
          </a:p>
        </p:txBody>
      </p:sp>
      <p:sp>
        <p:nvSpPr>
          <p:cNvPr id="116741" name="Rectangle 5"/>
          <p:cNvSpPr>
            <a:spLocks noGrp="1" noChangeArrowheads="1"/>
          </p:cNvSpPr>
          <p:nvPr>
            <p:ph type="ftr" sz="quarter" idx="3"/>
          </p:nvPr>
        </p:nvSpPr>
        <p:spPr bwMode="auto">
          <a:xfrm>
            <a:off x="3124200" y="6019800"/>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b="0">
                <a:latin typeface="Arial" panose="020B0604020202020204" pitchFamily="34" charset="0"/>
              </a:defRPr>
            </a:lvl1pPr>
          </a:lstStyle>
          <a:p>
            <a:pPr>
              <a:defRPr/>
            </a:pPr>
            <a:endParaRPr lang="en-US" altLang="zh-CN"/>
          </a:p>
        </p:txBody>
      </p:sp>
      <p:sp>
        <p:nvSpPr>
          <p:cNvPr id="116742" name="Rectangle 6"/>
          <p:cNvSpPr>
            <a:spLocks noGrp="1" noChangeArrowheads="1"/>
          </p:cNvSpPr>
          <p:nvPr>
            <p:ph type="sldNum" sz="quarter" idx="4"/>
          </p:nvPr>
        </p:nvSpPr>
        <p:spPr bwMode="auto">
          <a:xfrm>
            <a:off x="6553200" y="6019800"/>
            <a:ext cx="2289175"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b="0"/>
            </a:lvl1pPr>
          </a:lstStyle>
          <a:p>
            <a:pPr>
              <a:defRPr/>
            </a:pPr>
            <a:fld id="{330F0EE5-09C0-453D-9C30-AE90C8ECFEC3}"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vl6pPr marL="25146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6pPr>
      <a:lvl7pPr marL="29718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7pPr>
      <a:lvl8pPr marL="34290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8pPr>
      <a:lvl9pPr marL="38862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oleObject" Target="../embeddings/oleObject1.bin"/><Relationship Id="rId7" Type="http://schemas.openxmlformats.org/officeDocument/2006/relationships/image" Target="../media/image4.e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3.bin"/><Relationship Id="rId11" Type="http://schemas.openxmlformats.org/officeDocument/2006/relationships/image" Target="../media/image6.emf"/><Relationship Id="rId5" Type="http://schemas.openxmlformats.org/officeDocument/2006/relationships/oleObject" Target="../embeddings/oleObject2.bin"/><Relationship Id="rId10" Type="http://schemas.openxmlformats.org/officeDocument/2006/relationships/oleObject" Target="../embeddings/oleObject5.bin"/><Relationship Id="rId4" Type="http://schemas.openxmlformats.org/officeDocument/2006/relationships/image" Target="../media/image3.wmf"/><Relationship Id="rId9" Type="http://schemas.openxmlformats.org/officeDocument/2006/relationships/image" Target="../media/image5.emf"/></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6.bin"/><Relationship Id="rId7" Type="http://schemas.openxmlformats.org/officeDocument/2006/relationships/image" Target="../media/image13.e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8.bin"/><Relationship Id="rId5" Type="http://schemas.openxmlformats.org/officeDocument/2006/relationships/oleObject" Target="../embeddings/oleObject7.bin"/><Relationship Id="rId4" Type="http://schemas.openxmlformats.org/officeDocument/2006/relationships/image" Target="../media/image3.wmf"/></Relationships>
</file>

<file path=ppt/slides/_rels/slide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16.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17.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5.vml"/><Relationship Id="rId5" Type="http://schemas.openxmlformats.org/officeDocument/2006/relationships/oleObject" Target="../embeddings/oleObject12.bin"/><Relationship Id="rId4" Type="http://schemas.openxmlformats.org/officeDocument/2006/relationships/image" Target="../media/image3.wmf"/></Relationships>
</file>

<file path=ppt/slides/_rels/slide19.xml.rels><?xml version="1.0" encoding="UTF-8" standalone="yes"?>
<Relationships xmlns="http://schemas.openxmlformats.org/package/2006/relationships"><Relationship Id="rId8" Type="http://schemas.openxmlformats.org/officeDocument/2006/relationships/image" Target="../media/image3.wmf"/><Relationship Id="rId13" Type="http://schemas.openxmlformats.org/officeDocument/2006/relationships/image" Target="../media/image21.emf"/><Relationship Id="rId3" Type="http://schemas.openxmlformats.org/officeDocument/2006/relationships/oleObject" Target="../embeddings/oleObject13.bin"/><Relationship Id="rId7" Type="http://schemas.openxmlformats.org/officeDocument/2006/relationships/oleObject" Target="../embeddings/oleObject15.bin"/><Relationship Id="rId12" Type="http://schemas.openxmlformats.org/officeDocument/2006/relationships/oleObject" Target="../embeddings/oleObject18.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19.emf"/><Relationship Id="rId11" Type="http://schemas.openxmlformats.org/officeDocument/2006/relationships/image" Target="../media/image20.emf"/><Relationship Id="rId5" Type="http://schemas.openxmlformats.org/officeDocument/2006/relationships/oleObject" Target="../embeddings/oleObject14.bin"/><Relationship Id="rId10" Type="http://schemas.openxmlformats.org/officeDocument/2006/relationships/oleObject" Target="../embeddings/oleObject17.bin"/><Relationship Id="rId4" Type="http://schemas.openxmlformats.org/officeDocument/2006/relationships/image" Target="../media/image18.emf"/><Relationship Id="rId9" Type="http://schemas.openxmlformats.org/officeDocument/2006/relationships/oleObject" Target="../embeddings/oleObject16.bin"/></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7.xml"/><Relationship Id="rId1" Type="http://schemas.openxmlformats.org/officeDocument/2006/relationships/vmlDrawing" Target="../drawings/vmlDrawing7.vml"/><Relationship Id="rId5" Type="http://schemas.openxmlformats.org/officeDocument/2006/relationships/oleObject" Target="../embeddings/oleObject20.bin"/><Relationship Id="rId4" Type="http://schemas.openxmlformats.org/officeDocument/2006/relationships/image" Target="../media/image3.wmf"/></Relationships>
</file>

<file path=ppt/slides/_rels/slide21.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oleObject" Target="../embeddings/oleObject21.bin"/><Relationship Id="rId7" Type="http://schemas.openxmlformats.org/officeDocument/2006/relationships/oleObject" Target="../embeddings/oleObject23.bin"/><Relationship Id="rId12" Type="http://schemas.openxmlformats.org/officeDocument/2006/relationships/image" Target="../media/image26.wmf"/><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23.wmf"/><Relationship Id="rId11" Type="http://schemas.openxmlformats.org/officeDocument/2006/relationships/oleObject" Target="../embeddings/oleObject25.bin"/><Relationship Id="rId5" Type="http://schemas.openxmlformats.org/officeDocument/2006/relationships/oleObject" Target="../embeddings/oleObject22.bin"/><Relationship Id="rId10" Type="http://schemas.openxmlformats.org/officeDocument/2006/relationships/image" Target="../media/image25.wmf"/><Relationship Id="rId4" Type="http://schemas.openxmlformats.org/officeDocument/2006/relationships/image" Target="../media/image22.wmf"/><Relationship Id="rId9" Type="http://schemas.openxmlformats.org/officeDocument/2006/relationships/oleObject" Target="../embeddings/oleObject24.bin"/></Relationships>
</file>

<file path=ppt/slides/_rels/slide2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32.wmf"/><Relationship Id="rId3" Type="http://schemas.openxmlformats.org/officeDocument/2006/relationships/oleObject" Target="../embeddings/oleObject26.bin"/><Relationship Id="rId7" Type="http://schemas.openxmlformats.org/officeDocument/2006/relationships/oleObject" Target="../embeddings/oleObject28.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31.wmf"/><Relationship Id="rId5" Type="http://schemas.openxmlformats.org/officeDocument/2006/relationships/oleObject" Target="../embeddings/oleObject27.bin"/><Relationship Id="rId10" Type="http://schemas.openxmlformats.org/officeDocument/2006/relationships/image" Target="../media/image33.wmf"/><Relationship Id="rId4" Type="http://schemas.openxmlformats.org/officeDocument/2006/relationships/image" Target="../media/image30.wmf"/><Relationship Id="rId9" Type="http://schemas.openxmlformats.org/officeDocument/2006/relationships/oleObject" Target="../embeddings/oleObject29.bin"/></Relationships>
</file>

<file path=ppt/slides/_rels/slide26.xml.rels><?xml version="1.0" encoding="UTF-8" standalone="yes"?>
<Relationships xmlns="http://schemas.openxmlformats.org/package/2006/relationships"><Relationship Id="rId8" Type="http://schemas.openxmlformats.org/officeDocument/2006/relationships/image" Target="../media/image36.wmf"/><Relationship Id="rId13" Type="http://schemas.openxmlformats.org/officeDocument/2006/relationships/oleObject" Target="../embeddings/oleObject35.bin"/><Relationship Id="rId3" Type="http://schemas.openxmlformats.org/officeDocument/2006/relationships/oleObject" Target="../embeddings/oleObject30.bin"/><Relationship Id="rId7" Type="http://schemas.openxmlformats.org/officeDocument/2006/relationships/oleObject" Target="../embeddings/oleObject32.bin"/><Relationship Id="rId12" Type="http://schemas.openxmlformats.org/officeDocument/2006/relationships/image" Target="../media/image38.wmf"/><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35.wmf"/><Relationship Id="rId11" Type="http://schemas.openxmlformats.org/officeDocument/2006/relationships/oleObject" Target="../embeddings/oleObject34.bin"/><Relationship Id="rId5" Type="http://schemas.openxmlformats.org/officeDocument/2006/relationships/oleObject" Target="../embeddings/oleObject31.bin"/><Relationship Id="rId10" Type="http://schemas.openxmlformats.org/officeDocument/2006/relationships/image" Target="../media/image37.wmf"/><Relationship Id="rId4" Type="http://schemas.openxmlformats.org/officeDocument/2006/relationships/image" Target="../media/image34.wmf"/><Relationship Id="rId9" Type="http://schemas.openxmlformats.org/officeDocument/2006/relationships/oleObject" Target="../embeddings/oleObject33.bin"/><Relationship Id="rId14" Type="http://schemas.openxmlformats.org/officeDocument/2006/relationships/image" Target="../media/image39.wmf"/></Relationships>
</file>

<file path=ppt/slides/_rels/slide27.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image" Target="../media/image43.emf"/><Relationship Id="rId3" Type="http://schemas.openxmlformats.org/officeDocument/2006/relationships/oleObject" Target="../embeddings/oleObject36.bin"/><Relationship Id="rId7" Type="http://schemas.openxmlformats.org/officeDocument/2006/relationships/oleObject" Target="../embeddings/oleObject38.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42.emf"/><Relationship Id="rId5" Type="http://schemas.openxmlformats.org/officeDocument/2006/relationships/oleObject" Target="../embeddings/oleObject37.bin"/><Relationship Id="rId4" Type="http://schemas.openxmlformats.org/officeDocument/2006/relationships/image" Target="../media/image41.emf"/></Relationships>
</file>

<file path=ppt/slides/_rels/slide30.xml.rels><?xml version="1.0" encoding="UTF-8" standalone="yes"?>
<Relationships xmlns="http://schemas.openxmlformats.org/package/2006/relationships"><Relationship Id="rId8" Type="http://schemas.openxmlformats.org/officeDocument/2006/relationships/image" Target="../media/image46.emf"/><Relationship Id="rId3" Type="http://schemas.openxmlformats.org/officeDocument/2006/relationships/oleObject" Target="../embeddings/oleObject39.bin"/><Relationship Id="rId7" Type="http://schemas.openxmlformats.org/officeDocument/2006/relationships/oleObject" Target="../embeddings/oleObject41.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45.emf"/><Relationship Id="rId5" Type="http://schemas.openxmlformats.org/officeDocument/2006/relationships/oleObject" Target="../embeddings/oleObject40.bin"/><Relationship Id="rId4" Type="http://schemas.openxmlformats.org/officeDocument/2006/relationships/image" Target="../media/image44.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48.emf"/><Relationship Id="rId5" Type="http://schemas.openxmlformats.org/officeDocument/2006/relationships/oleObject" Target="../embeddings/oleObject43.bin"/><Relationship Id="rId4" Type="http://schemas.openxmlformats.org/officeDocument/2006/relationships/image" Target="../media/image47.emf"/></Relationships>
</file>

<file path=ppt/slides/_rels/slide32.xml.rels><?xml version="1.0" encoding="UTF-8" standalone="yes"?>
<Relationships xmlns="http://schemas.openxmlformats.org/package/2006/relationships"><Relationship Id="rId8" Type="http://schemas.openxmlformats.org/officeDocument/2006/relationships/image" Target="../media/image51.emf"/><Relationship Id="rId3" Type="http://schemas.openxmlformats.org/officeDocument/2006/relationships/oleObject" Target="../embeddings/oleObject44.bin"/><Relationship Id="rId7" Type="http://schemas.openxmlformats.org/officeDocument/2006/relationships/oleObject" Target="../embeddings/oleObject46.bin"/><Relationship Id="rId12" Type="http://schemas.openxmlformats.org/officeDocument/2006/relationships/image" Target="../media/image53.emf"/><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50.emf"/><Relationship Id="rId11" Type="http://schemas.openxmlformats.org/officeDocument/2006/relationships/oleObject" Target="../embeddings/oleObject48.bin"/><Relationship Id="rId5" Type="http://schemas.openxmlformats.org/officeDocument/2006/relationships/oleObject" Target="../embeddings/oleObject45.bin"/><Relationship Id="rId10" Type="http://schemas.openxmlformats.org/officeDocument/2006/relationships/image" Target="../media/image52.emf"/><Relationship Id="rId4" Type="http://schemas.openxmlformats.org/officeDocument/2006/relationships/image" Target="../media/image49.emf"/><Relationship Id="rId9" Type="http://schemas.openxmlformats.org/officeDocument/2006/relationships/oleObject" Target="../embeddings/oleObject47.bin"/></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55.emf"/><Relationship Id="rId5" Type="http://schemas.openxmlformats.org/officeDocument/2006/relationships/oleObject" Target="../embeddings/oleObject50.bin"/><Relationship Id="rId4" Type="http://schemas.openxmlformats.org/officeDocument/2006/relationships/image" Target="../media/image54.emf"/></Relationships>
</file>

<file path=ppt/slides/_rels/slide34.xml.rels><?xml version="1.0" encoding="UTF-8" standalone="yes"?>
<Relationships xmlns="http://schemas.openxmlformats.org/package/2006/relationships"><Relationship Id="rId8" Type="http://schemas.openxmlformats.org/officeDocument/2006/relationships/image" Target="../media/image58.emf"/><Relationship Id="rId13" Type="http://schemas.openxmlformats.org/officeDocument/2006/relationships/oleObject" Target="../embeddings/oleObject56.bin"/><Relationship Id="rId18" Type="http://schemas.openxmlformats.org/officeDocument/2006/relationships/image" Target="../media/image63.emf"/><Relationship Id="rId3" Type="http://schemas.openxmlformats.org/officeDocument/2006/relationships/oleObject" Target="../embeddings/oleObject51.bin"/><Relationship Id="rId7" Type="http://schemas.openxmlformats.org/officeDocument/2006/relationships/oleObject" Target="../embeddings/oleObject53.bin"/><Relationship Id="rId12" Type="http://schemas.openxmlformats.org/officeDocument/2006/relationships/image" Target="../media/image60.emf"/><Relationship Id="rId17" Type="http://schemas.openxmlformats.org/officeDocument/2006/relationships/oleObject" Target="../embeddings/oleObject58.bin"/><Relationship Id="rId2" Type="http://schemas.openxmlformats.org/officeDocument/2006/relationships/slideLayout" Target="../slideLayouts/slideLayout7.xml"/><Relationship Id="rId16" Type="http://schemas.openxmlformats.org/officeDocument/2006/relationships/image" Target="../media/image62.emf"/><Relationship Id="rId1" Type="http://schemas.openxmlformats.org/officeDocument/2006/relationships/vmlDrawing" Target="../drawings/vmlDrawing16.vml"/><Relationship Id="rId6" Type="http://schemas.openxmlformats.org/officeDocument/2006/relationships/image" Target="../media/image57.emf"/><Relationship Id="rId11" Type="http://schemas.openxmlformats.org/officeDocument/2006/relationships/oleObject" Target="../embeddings/oleObject55.bin"/><Relationship Id="rId5" Type="http://schemas.openxmlformats.org/officeDocument/2006/relationships/oleObject" Target="../embeddings/oleObject52.bin"/><Relationship Id="rId15" Type="http://schemas.openxmlformats.org/officeDocument/2006/relationships/oleObject" Target="../embeddings/oleObject57.bin"/><Relationship Id="rId10" Type="http://schemas.openxmlformats.org/officeDocument/2006/relationships/image" Target="../media/image59.emf"/><Relationship Id="rId4" Type="http://schemas.openxmlformats.org/officeDocument/2006/relationships/image" Target="../media/image56.emf"/><Relationship Id="rId9" Type="http://schemas.openxmlformats.org/officeDocument/2006/relationships/oleObject" Target="../embeddings/oleObject54.bin"/><Relationship Id="rId14" Type="http://schemas.openxmlformats.org/officeDocument/2006/relationships/image" Target="../media/image61.e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65.emf"/><Relationship Id="rId5" Type="http://schemas.openxmlformats.org/officeDocument/2006/relationships/oleObject" Target="../embeddings/oleObject60.bin"/><Relationship Id="rId4" Type="http://schemas.openxmlformats.org/officeDocument/2006/relationships/image" Target="../media/image64.emf"/></Relationships>
</file>

<file path=ppt/slides/_rels/slide36.xml.rels><?xml version="1.0" encoding="UTF-8" standalone="yes"?>
<Relationships xmlns="http://schemas.openxmlformats.org/package/2006/relationships"><Relationship Id="rId8" Type="http://schemas.openxmlformats.org/officeDocument/2006/relationships/image" Target="../media/image68.emf"/><Relationship Id="rId13" Type="http://schemas.openxmlformats.org/officeDocument/2006/relationships/oleObject" Target="../embeddings/oleObject66.bin"/><Relationship Id="rId3" Type="http://schemas.openxmlformats.org/officeDocument/2006/relationships/oleObject" Target="../embeddings/oleObject61.bin"/><Relationship Id="rId7" Type="http://schemas.openxmlformats.org/officeDocument/2006/relationships/oleObject" Target="../embeddings/oleObject63.bin"/><Relationship Id="rId12" Type="http://schemas.openxmlformats.org/officeDocument/2006/relationships/image" Target="../media/image70.emf"/><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67.emf"/><Relationship Id="rId11" Type="http://schemas.openxmlformats.org/officeDocument/2006/relationships/oleObject" Target="../embeddings/oleObject65.bin"/><Relationship Id="rId5" Type="http://schemas.openxmlformats.org/officeDocument/2006/relationships/oleObject" Target="../embeddings/oleObject62.bin"/><Relationship Id="rId10" Type="http://schemas.openxmlformats.org/officeDocument/2006/relationships/image" Target="../media/image69.emf"/><Relationship Id="rId4" Type="http://schemas.openxmlformats.org/officeDocument/2006/relationships/image" Target="../media/image66.emf"/><Relationship Id="rId9" Type="http://schemas.openxmlformats.org/officeDocument/2006/relationships/oleObject" Target="../embeddings/oleObject64.bin"/><Relationship Id="rId14" Type="http://schemas.openxmlformats.org/officeDocument/2006/relationships/image" Target="../media/image71.emf"/></Relationships>
</file>

<file path=ppt/slides/_rels/slide37.xml.rels><?xml version="1.0" encoding="UTF-8" standalone="yes"?>
<Relationships xmlns="http://schemas.openxmlformats.org/package/2006/relationships"><Relationship Id="rId8" Type="http://schemas.openxmlformats.org/officeDocument/2006/relationships/image" Target="../media/image74.emf"/><Relationship Id="rId3" Type="http://schemas.openxmlformats.org/officeDocument/2006/relationships/oleObject" Target="../embeddings/oleObject67.bin"/><Relationship Id="rId7" Type="http://schemas.openxmlformats.org/officeDocument/2006/relationships/oleObject" Target="../embeddings/oleObject69.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73.emf"/><Relationship Id="rId5" Type="http://schemas.openxmlformats.org/officeDocument/2006/relationships/oleObject" Target="../embeddings/oleObject68.bin"/><Relationship Id="rId10" Type="http://schemas.openxmlformats.org/officeDocument/2006/relationships/image" Target="../media/image75.wmf"/><Relationship Id="rId4" Type="http://schemas.openxmlformats.org/officeDocument/2006/relationships/image" Target="../media/image72.emf"/><Relationship Id="rId9" Type="http://schemas.openxmlformats.org/officeDocument/2006/relationships/oleObject" Target="../embeddings/oleObject70.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76.GIF"/><Relationship Id="rId2" Type="http://schemas.openxmlformats.org/officeDocument/2006/relationships/slide" Target="slide59.xml"/><Relationship Id="rId1" Type="http://schemas.openxmlformats.org/officeDocument/2006/relationships/slideLayout" Target="../slideLayouts/slideLayout7.xml"/><Relationship Id="rId5" Type="http://schemas.openxmlformats.org/officeDocument/2006/relationships/audio" Target="../media/audio1.wav"/><Relationship Id="rId4" Type="http://schemas.openxmlformats.org/officeDocument/2006/relationships/slide" Target="slide26.xml"/></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75.bin"/><Relationship Id="rId13" Type="http://schemas.openxmlformats.org/officeDocument/2006/relationships/oleObject" Target="../embeddings/oleObject80.bin"/><Relationship Id="rId3" Type="http://schemas.openxmlformats.org/officeDocument/2006/relationships/oleObject" Target="../embeddings/oleObject71.bin"/><Relationship Id="rId7" Type="http://schemas.openxmlformats.org/officeDocument/2006/relationships/oleObject" Target="../embeddings/oleObject74.bin"/><Relationship Id="rId12" Type="http://schemas.openxmlformats.org/officeDocument/2006/relationships/oleObject" Target="../embeddings/oleObject79.bin"/><Relationship Id="rId17" Type="http://schemas.openxmlformats.org/officeDocument/2006/relationships/image" Target="../media/image78.emf"/><Relationship Id="rId2" Type="http://schemas.openxmlformats.org/officeDocument/2006/relationships/slideLayout" Target="../slideLayouts/slideLayout7.xml"/><Relationship Id="rId16" Type="http://schemas.openxmlformats.org/officeDocument/2006/relationships/oleObject" Target="../embeddings/oleObject83.bin"/><Relationship Id="rId1" Type="http://schemas.openxmlformats.org/officeDocument/2006/relationships/vmlDrawing" Target="../drawings/vmlDrawing20.vml"/><Relationship Id="rId6" Type="http://schemas.openxmlformats.org/officeDocument/2006/relationships/oleObject" Target="../embeddings/oleObject73.bin"/><Relationship Id="rId11" Type="http://schemas.openxmlformats.org/officeDocument/2006/relationships/oleObject" Target="../embeddings/oleObject78.bin"/><Relationship Id="rId5" Type="http://schemas.openxmlformats.org/officeDocument/2006/relationships/oleObject" Target="../embeddings/oleObject72.bin"/><Relationship Id="rId15" Type="http://schemas.openxmlformats.org/officeDocument/2006/relationships/oleObject" Target="../embeddings/oleObject82.bin"/><Relationship Id="rId10" Type="http://schemas.openxmlformats.org/officeDocument/2006/relationships/oleObject" Target="../embeddings/oleObject77.bin"/><Relationship Id="rId4" Type="http://schemas.openxmlformats.org/officeDocument/2006/relationships/image" Target="../media/image77.wmf"/><Relationship Id="rId9" Type="http://schemas.openxmlformats.org/officeDocument/2006/relationships/oleObject" Target="../embeddings/oleObject76.bin"/><Relationship Id="rId14" Type="http://schemas.openxmlformats.org/officeDocument/2006/relationships/oleObject" Target="../embeddings/oleObject81.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88.bin"/><Relationship Id="rId13" Type="http://schemas.openxmlformats.org/officeDocument/2006/relationships/oleObject" Target="../embeddings/oleObject93.bin"/><Relationship Id="rId18" Type="http://schemas.openxmlformats.org/officeDocument/2006/relationships/image" Target="../media/image79.wmf"/><Relationship Id="rId3" Type="http://schemas.openxmlformats.org/officeDocument/2006/relationships/oleObject" Target="../embeddings/oleObject84.bin"/><Relationship Id="rId7" Type="http://schemas.openxmlformats.org/officeDocument/2006/relationships/oleObject" Target="../embeddings/oleObject87.bin"/><Relationship Id="rId12" Type="http://schemas.openxmlformats.org/officeDocument/2006/relationships/oleObject" Target="../embeddings/oleObject92.bin"/><Relationship Id="rId17" Type="http://schemas.openxmlformats.org/officeDocument/2006/relationships/oleObject" Target="../embeddings/oleObject97.bin"/><Relationship Id="rId2" Type="http://schemas.openxmlformats.org/officeDocument/2006/relationships/slideLayout" Target="../slideLayouts/slideLayout7.xml"/><Relationship Id="rId16" Type="http://schemas.openxmlformats.org/officeDocument/2006/relationships/oleObject" Target="../embeddings/oleObject96.bin"/><Relationship Id="rId20" Type="http://schemas.openxmlformats.org/officeDocument/2006/relationships/image" Target="../media/image80.emf"/><Relationship Id="rId1" Type="http://schemas.openxmlformats.org/officeDocument/2006/relationships/vmlDrawing" Target="../drawings/vmlDrawing21.vml"/><Relationship Id="rId6" Type="http://schemas.openxmlformats.org/officeDocument/2006/relationships/oleObject" Target="../embeddings/oleObject86.bin"/><Relationship Id="rId11" Type="http://schemas.openxmlformats.org/officeDocument/2006/relationships/oleObject" Target="../embeddings/oleObject91.bin"/><Relationship Id="rId5" Type="http://schemas.openxmlformats.org/officeDocument/2006/relationships/oleObject" Target="../embeddings/oleObject85.bin"/><Relationship Id="rId15" Type="http://schemas.openxmlformats.org/officeDocument/2006/relationships/oleObject" Target="../embeddings/oleObject95.bin"/><Relationship Id="rId10" Type="http://schemas.openxmlformats.org/officeDocument/2006/relationships/oleObject" Target="../embeddings/oleObject90.bin"/><Relationship Id="rId19" Type="http://schemas.openxmlformats.org/officeDocument/2006/relationships/oleObject" Target="../embeddings/oleObject98.bin"/><Relationship Id="rId4" Type="http://schemas.openxmlformats.org/officeDocument/2006/relationships/image" Target="../media/image77.wmf"/><Relationship Id="rId9" Type="http://schemas.openxmlformats.org/officeDocument/2006/relationships/oleObject" Target="../embeddings/oleObject89.bin"/><Relationship Id="rId14" Type="http://schemas.openxmlformats.org/officeDocument/2006/relationships/oleObject" Target="../embeddings/oleObject94.bin"/></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81.wmf"/><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99.bin"/><Relationship Id="rId2" Type="http://schemas.openxmlformats.org/officeDocument/2006/relationships/slideLayout" Target="../slideLayouts/slideLayout7.xml"/><Relationship Id="rId1" Type="http://schemas.openxmlformats.org/officeDocument/2006/relationships/vmlDrawing" Target="../drawings/vmlDrawing22.vml"/><Relationship Id="rId4" Type="http://schemas.openxmlformats.org/officeDocument/2006/relationships/image" Target="../media/image82.e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100.bin"/><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84.emf"/><Relationship Id="rId5" Type="http://schemas.openxmlformats.org/officeDocument/2006/relationships/oleObject" Target="../embeddings/oleObject101.bin"/><Relationship Id="rId4" Type="http://schemas.openxmlformats.org/officeDocument/2006/relationships/image" Target="../media/image83.e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76.GIF"/><Relationship Id="rId2" Type="http://schemas.openxmlformats.org/officeDocument/2006/relationships/slide" Target="slide22.xml"/><Relationship Id="rId1" Type="http://schemas.openxmlformats.org/officeDocument/2006/relationships/slideLayout" Target="../slideLayouts/slideLayout7.xml"/><Relationship Id="rId5" Type="http://schemas.openxmlformats.org/officeDocument/2006/relationships/audio" Target="../media/audio1.wav"/><Relationship Id="rId4" Type="http://schemas.openxmlformats.org/officeDocument/2006/relationships/slide" Target="slide35.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102.bin"/><Relationship Id="rId2" Type="http://schemas.openxmlformats.org/officeDocument/2006/relationships/slideLayout" Target="../slideLayouts/slideLayout7.xml"/><Relationship Id="rId1" Type="http://schemas.openxmlformats.org/officeDocument/2006/relationships/vmlDrawing" Target="../drawings/vmlDrawing24.vml"/><Relationship Id="rId4" Type="http://schemas.openxmlformats.org/officeDocument/2006/relationships/image" Target="../media/image85.emf"/></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103.bin"/><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image" Target="../media/image87.emf"/><Relationship Id="rId5" Type="http://schemas.openxmlformats.org/officeDocument/2006/relationships/oleObject" Target="../embeddings/oleObject104.bin"/><Relationship Id="rId4" Type="http://schemas.openxmlformats.org/officeDocument/2006/relationships/image" Target="../media/image86.emf"/></Relationships>
</file>

<file path=ppt/slides/_rels/slide58.xml.rels><?xml version="1.0" encoding="UTF-8" standalone="yes"?>
<Relationships xmlns="http://schemas.openxmlformats.org/package/2006/relationships"><Relationship Id="rId8" Type="http://schemas.openxmlformats.org/officeDocument/2006/relationships/image" Target="../media/image90.emf"/><Relationship Id="rId3" Type="http://schemas.openxmlformats.org/officeDocument/2006/relationships/oleObject" Target="../embeddings/oleObject105.bin"/><Relationship Id="rId7" Type="http://schemas.openxmlformats.org/officeDocument/2006/relationships/oleObject" Target="../embeddings/oleObject107.bin"/><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image" Target="../media/image89.wmf"/><Relationship Id="rId5" Type="http://schemas.openxmlformats.org/officeDocument/2006/relationships/oleObject" Target="../embeddings/oleObject106.bin"/><Relationship Id="rId10" Type="http://schemas.openxmlformats.org/officeDocument/2006/relationships/image" Target="../media/image91.emf"/><Relationship Id="rId4" Type="http://schemas.openxmlformats.org/officeDocument/2006/relationships/image" Target="../media/image88.emf"/><Relationship Id="rId9" Type="http://schemas.openxmlformats.org/officeDocument/2006/relationships/oleObject" Target="../embeddings/oleObject108.bin"/></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109.bin"/><Relationship Id="rId2" Type="http://schemas.openxmlformats.org/officeDocument/2006/relationships/slideLayout" Target="../slideLayouts/slideLayout7.xml"/><Relationship Id="rId1" Type="http://schemas.openxmlformats.org/officeDocument/2006/relationships/vmlDrawing" Target="../drawings/vmlDrawing27.vml"/><Relationship Id="rId4" Type="http://schemas.openxmlformats.org/officeDocument/2006/relationships/image" Target="../media/image92.emf"/></Relationships>
</file>

<file path=ppt/slides/_rels/slide60.xml.rels><?xml version="1.0" encoding="UTF-8" standalone="yes"?>
<Relationships xmlns="http://schemas.openxmlformats.org/package/2006/relationships"><Relationship Id="rId8" Type="http://schemas.openxmlformats.org/officeDocument/2006/relationships/image" Target="../media/image95.emf"/><Relationship Id="rId3" Type="http://schemas.openxmlformats.org/officeDocument/2006/relationships/oleObject" Target="../embeddings/oleObject110.bin"/><Relationship Id="rId7" Type="http://schemas.openxmlformats.org/officeDocument/2006/relationships/oleObject" Target="../embeddings/oleObject112.bin"/><Relationship Id="rId12" Type="http://schemas.openxmlformats.org/officeDocument/2006/relationships/image" Target="../media/image97.emf"/><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image" Target="../media/image94.emf"/><Relationship Id="rId11" Type="http://schemas.openxmlformats.org/officeDocument/2006/relationships/oleObject" Target="../embeddings/oleObject114.bin"/><Relationship Id="rId5" Type="http://schemas.openxmlformats.org/officeDocument/2006/relationships/oleObject" Target="../embeddings/oleObject111.bin"/><Relationship Id="rId10" Type="http://schemas.openxmlformats.org/officeDocument/2006/relationships/image" Target="../media/image96.emf"/><Relationship Id="rId4" Type="http://schemas.openxmlformats.org/officeDocument/2006/relationships/image" Target="../media/image93.emf"/><Relationship Id="rId9" Type="http://schemas.openxmlformats.org/officeDocument/2006/relationships/oleObject" Target="../embeddings/oleObject113.bin"/></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115.bin"/><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image" Target="../media/image99.emf"/><Relationship Id="rId5" Type="http://schemas.openxmlformats.org/officeDocument/2006/relationships/oleObject" Target="../embeddings/oleObject116.bin"/><Relationship Id="rId4" Type="http://schemas.openxmlformats.org/officeDocument/2006/relationships/image" Target="../media/image98.emf"/></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117.bin"/><Relationship Id="rId2" Type="http://schemas.openxmlformats.org/officeDocument/2006/relationships/slideLayout" Target="../slideLayouts/slideLayout7.xml"/><Relationship Id="rId1" Type="http://schemas.openxmlformats.org/officeDocument/2006/relationships/vmlDrawing" Target="../drawings/vmlDrawing30.vml"/><Relationship Id="rId4" Type="http://schemas.openxmlformats.org/officeDocument/2006/relationships/image" Target="../media/image100.emf"/></Relationships>
</file>

<file path=ppt/slides/_rels/slide63.xml.rels><?xml version="1.0" encoding="UTF-8" standalone="yes"?>
<Relationships xmlns="http://schemas.openxmlformats.org/package/2006/relationships"><Relationship Id="rId8" Type="http://schemas.openxmlformats.org/officeDocument/2006/relationships/image" Target="../media/image103.emf"/><Relationship Id="rId3" Type="http://schemas.openxmlformats.org/officeDocument/2006/relationships/oleObject" Target="../embeddings/oleObject118.bin"/><Relationship Id="rId7" Type="http://schemas.openxmlformats.org/officeDocument/2006/relationships/oleObject" Target="../embeddings/oleObject120.bin"/><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image" Target="../media/image102.emf"/><Relationship Id="rId5" Type="http://schemas.openxmlformats.org/officeDocument/2006/relationships/oleObject" Target="../embeddings/oleObject119.bin"/><Relationship Id="rId10" Type="http://schemas.openxmlformats.org/officeDocument/2006/relationships/image" Target="../media/image104.emf"/><Relationship Id="rId4" Type="http://schemas.openxmlformats.org/officeDocument/2006/relationships/image" Target="../media/image101.emf"/><Relationship Id="rId9" Type="http://schemas.openxmlformats.org/officeDocument/2006/relationships/oleObject" Target="../embeddings/oleObject121.bin"/></Relationships>
</file>

<file path=ppt/slides/_rels/slide64.xml.rels><?xml version="1.0" encoding="UTF-8" standalone="yes"?>
<Relationships xmlns="http://schemas.openxmlformats.org/package/2006/relationships"><Relationship Id="rId2" Type="http://schemas.openxmlformats.org/officeDocument/2006/relationships/image" Target="../media/image105.jpe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8" Type="http://schemas.openxmlformats.org/officeDocument/2006/relationships/image" Target="../media/image108.emf"/><Relationship Id="rId3" Type="http://schemas.openxmlformats.org/officeDocument/2006/relationships/oleObject" Target="../embeddings/oleObject122.bin"/><Relationship Id="rId7" Type="http://schemas.openxmlformats.org/officeDocument/2006/relationships/oleObject" Target="../embeddings/oleObject124.bin"/><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image" Target="../media/image107.emf"/><Relationship Id="rId5" Type="http://schemas.openxmlformats.org/officeDocument/2006/relationships/oleObject" Target="../embeddings/oleObject123.bin"/><Relationship Id="rId4" Type="http://schemas.openxmlformats.org/officeDocument/2006/relationships/image" Target="../media/image106.emf"/></Relationships>
</file>

<file path=ppt/slides/_rels/slide66.xml.rels><?xml version="1.0" encoding="UTF-8" standalone="yes"?>
<Relationships xmlns="http://schemas.openxmlformats.org/package/2006/relationships"><Relationship Id="rId8" Type="http://schemas.openxmlformats.org/officeDocument/2006/relationships/image" Target="../media/image111.emf"/><Relationship Id="rId3" Type="http://schemas.openxmlformats.org/officeDocument/2006/relationships/oleObject" Target="../embeddings/oleObject125.bin"/><Relationship Id="rId7" Type="http://schemas.openxmlformats.org/officeDocument/2006/relationships/oleObject" Target="../embeddings/oleObject127.bin"/><Relationship Id="rId2" Type="http://schemas.openxmlformats.org/officeDocument/2006/relationships/slideLayout" Target="../slideLayouts/slideLayout7.xml"/><Relationship Id="rId1" Type="http://schemas.openxmlformats.org/officeDocument/2006/relationships/vmlDrawing" Target="../drawings/vmlDrawing33.vml"/><Relationship Id="rId6" Type="http://schemas.openxmlformats.org/officeDocument/2006/relationships/image" Target="../media/image110.emf"/><Relationship Id="rId5" Type="http://schemas.openxmlformats.org/officeDocument/2006/relationships/oleObject" Target="../embeddings/oleObject126.bin"/><Relationship Id="rId4" Type="http://schemas.openxmlformats.org/officeDocument/2006/relationships/image" Target="../media/image109.emf"/></Relationships>
</file>

<file path=ppt/slides/_rels/slide67.xml.rels><?xml version="1.0" encoding="UTF-8" standalone="yes"?>
<Relationships xmlns="http://schemas.openxmlformats.org/package/2006/relationships"><Relationship Id="rId8" Type="http://schemas.openxmlformats.org/officeDocument/2006/relationships/image" Target="../media/image114.wmf"/><Relationship Id="rId13" Type="http://schemas.openxmlformats.org/officeDocument/2006/relationships/oleObject" Target="../embeddings/oleObject133.bin"/><Relationship Id="rId18" Type="http://schemas.openxmlformats.org/officeDocument/2006/relationships/image" Target="../media/image119.wmf"/><Relationship Id="rId3" Type="http://schemas.openxmlformats.org/officeDocument/2006/relationships/oleObject" Target="../embeddings/oleObject128.bin"/><Relationship Id="rId7" Type="http://schemas.openxmlformats.org/officeDocument/2006/relationships/oleObject" Target="../embeddings/oleObject130.bin"/><Relationship Id="rId12" Type="http://schemas.openxmlformats.org/officeDocument/2006/relationships/image" Target="../media/image116.emf"/><Relationship Id="rId17" Type="http://schemas.openxmlformats.org/officeDocument/2006/relationships/oleObject" Target="../embeddings/oleObject135.bin"/><Relationship Id="rId2" Type="http://schemas.openxmlformats.org/officeDocument/2006/relationships/slideLayout" Target="../slideLayouts/slideLayout7.xml"/><Relationship Id="rId16" Type="http://schemas.openxmlformats.org/officeDocument/2006/relationships/image" Target="../media/image118.emf"/><Relationship Id="rId20" Type="http://schemas.openxmlformats.org/officeDocument/2006/relationships/image" Target="../media/image120.wmf"/><Relationship Id="rId1" Type="http://schemas.openxmlformats.org/officeDocument/2006/relationships/vmlDrawing" Target="../drawings/vmlDrawing34.vml"/><Relationship Id="rId6" Type="http://schemas.openxmlformats.org/officeDocument/2006/relationships/image" Target="../media/image113.emf"/><Relationship Id="rId11" Type="http://schemas.openxmlformats.org/officeDocument/2006/relationships/oleObject" Target="../embeddings/oleObject132.bin"/><Relationship Id="rId5" Type="http://schemas.openxmlformats.org/officeDocument/2006/relationships/oleObject" Target="../embeddings/oleObject129.bin"/><Relationship Id="rId15" Type="http://schemas.openxmlformats.org/officeDocument/2006/relationships/oleObject" Target="../embeddings/oleObject134.bin"/><Relationship Id="rId10" Type="http://schemas.openxmlformats.org/officeDocument/2006/relationships/image" Target="../media/image115.emf"/><Relationship Id="rId19" Type="http://schemas.openxmlformats.org/officeDocument/2006/relationships/oleObject" Target="../embeddings/oleObject136.bin"/><Relationship Id="rId4" Type="http://schemas.openxmlformats.org/officeDocument/2006/relationships/image" Target="../media/image112.emf"/><Relationship Id="rId9" Type="http://schemas.openxmlformats.org/officeDocument/2006/relationships/oleObject" Target="../embeddings/oleObject131.bin"/><Relationship Id="rId14" Type="http://schemas.openxmlformats.org/officeDocument/2006/relationships/image" Target="../media/image117.wmf"/></Relationships>
</file>

<file path=ppt/slides/_rels/slide68.xml.rels><?xml version="1.0" encoding="UTF-8" standalone="yes"?>
<Relationships xmlns="http://schemas.openxmlformats.org/package/2006/relationships"><Relationship Id="rId8" Type="http://schemas.openxmlformats.org/officeDocument/2006/relationships/image" Target="../media/image123.emf"/><Relationship Id="rId13" Type="http://schemas.openxmlformats.org/officeDocument/2006/relationships/oleObject" Target="../embeddings/oleObject142.bin"/><Relationship Id="rId3" Type="http://schemas.openxmlformats.org/officeDocument/2006/relationships/oleObject" Target="../embeddings/oleObject137.bin"/><Relationship Id="rId7" Type="http://schemas.openxmlformats.org/officeDocument/2006/relationships/oleObject" Target="../embeddings/oleObject139.bin"/><Relationship Id="rId12" Type="http://schemas.openxmlformats.org/officeDocument/2006/relationships/image" Target="../media/image125.emf"/><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image" Target="../media/image122.emf"/><Relationship Id="rId11" Type="http://schemas.openxmlformats.org/officeDocument/2006/relationships/oleObject" Target="../embeddings/oleObject141.bin"/><Relationship Id="rId5" Type="http://schemas.openxmlformats.org/officeDocument/2006/relationships/oleObject" Target="../embeddings/oleObject138.bin"/><Relationship Id="rId15" Type="http://schemas.openxmlformats.org/officeDocument/2006/relationships/hyperlink" Target="&#26446;&#20908;&#26757;&#25991;&#20214;&#22841;/&#27010;&#29575;&#35770;&#19982;&#25968;&#29702;&#32479;&#35745;&#30005;&#23376;&#25945;&#26696;/&#25945;&#26696;/&#27010;&#29575;&#25945;&#26696;1/X/X_FB.EXE" TargetMode="External"/><Relationship Id="rId10" Type="http://schemas.openxmlformats.org/officeDocument/2006/relationships/image" Target="../media/image124.emf"/><Relationship Id="rId4" Type="http://schemas.openxmlformats.org/officeDocument/2006/relationships/image" Target="../media/image121.emf"/><Relationship Id="rId9" Type="http://schemas.openxmlformats.org/officeDocument/2006/relationships/oleObject" Target="../embeddings/oleObject140.bin"/><Relationship Id="rId14" Type="http://schemas.openxmlformats.org/officeDocument/2006/relationships/image" Target="../media/image126.emf"/></Relationships>
</file>

<file path=ppt/slides/_rels/slide69.xml.rels><?xml version="1.0" encoding="UTF-8" standalone="yes"?>
<Relationships xmlns="http://schemas.openxmlformats.org/package/2006/relationships"><Relationship Id="rId8" Type="http://schemas.openxmlformats.org/officeDocument/2006/relationships/image" Target="../media/image129.emf"/><Relationship Id="rId3" Type="http://schemas.openxmlformats.org/officeDocument/2006/relationships/oleObject" Target="../embeddings/oleObject143.bin"/><Relationship Id="rId7" Type="http://schemas.openxmlformats.org/officeDocument/2006/relationships/oleObject" Target="../embeddings/oleObject145.bin"/><Relationship Id="rId12" Type="http://schemas.openxmlformats.org/officeDocument/2006/relationships/image" Target="../media/image131.emf"/><Relationship Id="rId2" Type="http://schemas.openxmlformats.org/officeDocument/2006/relationships/slideLayout" Target="../slideLayouts/slideLayout7.xml"/><Relationship Id="rId1" Type="http://schemas.openxmlformats.org/officeDocument/2006/relationships/vmlDrawing" Target="../drawings/vmlDrawing36.vml"/><Relationship Id="rId6" Type="http://schemas.openxmlformats.org/officeDocument/2006/relationships/image" Target="../media/image128.emf"/><Relationship Id="rId11" Type="http://schemas.openxmlformats.org/officeDocument/2006/relationships/oleObject" Target="../embeddings/oleObject147.bin"/><Relationship Id="rId5" Type="http://schemas.openxmlformats.org/officeDocument/2006/relationships/oleObject" Target="../embeddings/oleObject144.bin"/><Relationship Id="rId10" Type="http://schemas.openxmlformats.org/officeDocument/2006/relationships/image" Target="../media/image130.emf"/><Relationship Id="rId4" Type="http://schemas.openxmlformats.org/officeDocument/2006/relationships/image" Target="../media/image127.emf"/><Relationship Id="rId9" Type="http://schemas.openxmlformats.org/officeDocument/2006/relationships/oleObject" Target="../embeddings/oleObject146.bin"/></Relationships>
</file>

<file path=ppt/slides/_rels/slide70.xml.rels><?xml version="1.0" encoding="UTF-8" standalone="yes"?>
<Relationships xmlns="http://schemas.openxmlformats.org/package/2006/relationships"><Relationship Id="rId8" Type="http://schemas.openxmlformats.org/officeDocument/2006/relationships/image" Target="../media/image134.emf"/><Relationship Id="rId13" Type="http://schemas.openxmlformats.org/officeDocument/2006/relationships/oleObject" Target="../embeddings/oleObject153.bin"/><Relationship Id="rId18" Type="http://schemas.openxmlformats.org/officeDocument/2006/relationships/image" Target="../media/image139.emf"/><Relationship Id="rId3" Type="http://schemas.openxmlformats.org/officeDocument/2006/relationships/oleObject" Target="../embeddings/oleObject148.bin"/><Relationship Id="rId7" Type="http://schemas.openxmlformats.org/officeDocument/2006/relationships/oleObject" Target="../embeddings/oleObject150.bin"/><Relationship Id="rId12" Type="http://schemas.openxmlformats.org/officeDocument/2006/relationships/image" Target="../media/image136.emf"/><Relationship Id="rId17" Type="http://schemas.openxmlformats.org/officeDocument/2006/relationships/oleObject" Target="../embeddings/oleObject155.bin"/><Relationship Id="rId2" Type="http://schemas.openxmlformats.org/officeDocument/2006/relationships/slideLayout" Target="../slideLayouts/slideLayout7.xml"/><Relationship Id="rId16" Type="http://schemas.openxmlformats.org/officeDocument/2006/relationships/image" Target="../media/image138.emf"/><Relationship Id="rId20" Type="http://schemas.openxmlformats.org/officeDocument/2006/relationships/image" Target="../media/image140.emf"/><Relationship Id="rId1" Type="http://schemas.openxmlformats.org/officeDocument/2006/relationships/vmlDrawing" Target="../drawings/vmlDrawing37.vml"/><Relationship Id="rId6" Type="http://schemas.openxmlformats.org/officeDocument/2006/relationships/image" Target="../media/image133.emf"/><Relationship Id="rId11" Type="http://schemas.openxmlformats.org/officeDocument/2006/relationships/oleObject" Target="../embeddings/oleObject152.bin"/><Relationship Id="rId5" Type="http://schemas.openxmlformats.org/officeDocument/2006/relationships/oleObject" Target="../embeddings/oleObject149.bin"/><Relationship Id="rId15" Type="http://schemas.openxmlformats.org/officeDocument/2006/relationships/oleObject" Target="../embeddings/oleObject154.bin"/><Relationship Id="rId10" Type="http://schemas.openxmlformats.org/officeDocument/2006/relationships/image" Target="../media/image135.emf"/><Relationship Id="rId19" Type="http://schemas.openxmlformats.org/officeDocument/2006/relationships/oleObject" Target="../embeddings/oleObject156.bin"/><Relationship Id="rId4" Type="http://schemas.openxmlformats.org/officeDocument/2006/relationships/image" Target="../media/image132.emf"/><Relationship Id="rId9" Type="http://schemas.openxmlformats.org/officeDocument/2006/relationships/oleObject" Target="../embeddings/oleObject151.bin"/><Relationship Id="rId14" Type="http://schemas.openxmlformats.org/officeDocument/2006/relationships/image" Target="../media/image137.emf"/></Relationships>
</file>

<file path=ppt/slides/_rels/slide71.xml.rels><?xml version="1.0" encoding="UTF-8" standalone="yes"?>
<Relationships xmlns="http://schemas.openxmlformats.org/package/2006/relationships"><Relationship Id="rId8" Type="http://schemas.openxmlformats.org/officeDocument/2006/relationships/image" Target="../media/image143.emf"/><Relationship Id="rId3" Type="http://schemas.openxmlformats.org/officeDocument/2006/relationships/oleObject" Target="../embeddings/oleObject157.bin"/><Relationship Id="rId7" Type="http://schemas.openxmlformats.org/officeDocument/2006/relationships/oleObject" Target="../embeddings/oleObject159.bin"/><Relationship Id="rId2" Type="http://schemas.openxmlformats.org/officeDocument/2006/relationships/slideLayout" Target="../slideLayouts/slideLayout7.xml"/><Relationship Id="rId1" Type="http://schemas.openxmlformats.org/officeDocument/2006/relationships/vmlDrawing" Target="../drawings/vmlDrawing38.vml"/><Relationship Id="rId6" Type="http://schemas.openxmlformats.org/officeDocument/2006/relationships/image" Target="../media/image142.emf"/><Relationship Id="rId5" Type="http://schemas.openxmlformats.org/officeDocument/2006/relationships/oleObject" Target="../embeddings/oleObject158.bin"/><Relationship Id="rId10" Type="http://schemas.openxmlformats.org/officeDocument/2006/relationships/image" Target="../media/image144.emf"/><Relationship Id="rId4" Type="http://schemas.openxmlformats.org/officeDocument/2006/relationships/image" Target="../media/image141.emf"/><Relationship Id="rId9" Type="http://schemas.openxmlformats.org/officeDocument/2006/relationships/oleObject" Target="../embeddings/oleObject160.bin"/></Relationships>
</file>

<file path=ppt/slides/_rels/slide72.xml.rels><?xml version="1.0" encoding="UTF-8" standalone="yes"?>
<Relationships xmlns="http://schemas.openxmlformats.org/package/2006/relationships"><Relationship Id="rId8" Type="http://schemas.openxmlformats.org/officeDocument/2006/relationships/image" Target="../media/image147.emf"/><Relationship Id="rId13" Type="http://schemas.openxmlformats.org/officeDocument/2006/relationships/oleObject" Target="../embeddings/oleObject166.bin"/><Relationship Id="rId3" Type="http://schemas.openxmlformats.org/officeDocument/2006/relationships/oleObject" Target="../embeddings/oleObject161.bin"/><Relationship Id="rId7" Type="http://schemas.openxmlformats.org/officeDocument/2006/relationships/oleObject" Target="../embeddings/oleObject163.bin"/><Relationship Id="rId12" Type="http://schemas.openxmlformats.org/officeDocument/2006/relationships/image" Target="../media/image149.emf"/><Relationship Id="rId2" Type="http://schemas.openxmlformats.org/officeDocument/2006/relationships/slideLayout" Target="../slideLayouts/slideLayout7.xml"/><Relationship Id="rId16" Type="http://schemas.openxmlformats.org/officeDocument/2006/relationships/image" Target="../media/image151.emf"/><Relationship Id="rId1" Type="http://schemas.openxmlformats.org/officeDocument/2006/relationships/vmlDrawing" Target="../drawings/vmlDrawing39.vml"/><Relationship Id="rId6" Type="http://schemas.openxmlformats.org/officeDocument/2006/relationships/image" Target="../media/image146.emf"/><Relationship Id="rId11" Type="http://schemas.openxmlformats.org/officeDocument/2006/relationships/oleObject" Target="../embeddings/oleObject165.bin"/><Relationship Id="rId5" Type="http://schemas.openxmlformats.org/officeDocument/2006/relationships/oleObject" Target="../embeddings/oleObject162.bin"/><Relationship Id="rId15" Type="http://schemas.openxmlformats.org/officeDocument/2006/relationships/oleObject" Target="../embeddings/oleObject167.bin"/><Relationship Id="rId10" Type="http://schemas.openxmlformats.org/officeDocument/2006/relationships/image" Target="../media/image148.emf"/><Relationship Id="rId4" Type="http://schemas.openxmlformats.org/officeDocument/2006/relationships/image" Target="../media/image145.emf"/><Relationship Id="rId9" Type="http://schemas.openxmlformats.org/officeDocument/2006/relationships/oleObject" Target="../embeddings/oleObject164.bin"/><Relationship Id="rId14" Type="http://schemas.openxmlformats.org/officeDocument/2006/relationships/image" Target="../media/image150.emf"/></Relationships>
</file>

<file path=ppt/slides/_rels/slide73.xml.rels><?xml version="1.0" encoding="UTF-8" standalone="yes"?>
<Relationships xmlns="http://schemas.openxmlformats.org/package/2006/relationships"><Relationship Id="rId8" Type="http://schemas.openxmlformats.org/officeDocument/2006/relationships/image" Target="../media/image154.wmf"/><Relationship Id="rId13" Type="http://schemas.openxmlformats.org/officeDocument/2006/relationships/oleObject" Target="../embeddings/oleObject173.bin"/><Relationship Id="rId18" Type="http://schemas.openxmlformats.org/officeDocument/2006/relationships/image" Target="../media/image159.wmf"/><Relationship Id="rId3" Type="http://schemas.openxmlformats.org/officeDocument/2006/relationships/oleObject" Target="../embeddings/oleObject168.bin"/><Relationship Id="rId7" Type="http://schemas.openxmlformats.org/officeDocument/2006/relationships/oleObject" Target="../embeddings/oleObject170.bin"/><Relationship Id="rId12" Type="http://schemas.openxmlformats.org/officeDocument/2006/relationships/image" Target="../media/image156.wmf"/><Relationship Id="rId17" Type="http://schemas.openxmlformats.org/officeDocument/2006/relationships/oleObject" Target="../embeddings/oleObject175.bin"/><Relationship Id="rId2" Type="http://schemas.openxmlformats.org/officeDocument/2006/relationships/slideLayout" Target="../slideLayouts/slideLayout7.xml"/><Relationship Id="rId16" Type="http://schemas.openxmlformats.org/officeDocument/2006/relationships/image" Target="../media/image158.wmf"/><Relationship Id="rId20" Type="http://schemas.openxmlformats.org/officeDocument/2006/relationships/image" Target="../media/image160.wmf"/><Relationship Id="rId1" Type="http://schemas.openxmlformats.org/officeDocument/2006/relationships/vmlDrawing" Target="../drawings/vmlDrawing40.vml"/><Relationship Id="rId6" Type="http://schemas.openxmlformats.org/officeDocument/2006/relationships/image" Target="../media/image153.wmf"/><Relationship Id="rId11" Type="http://schemas.openxmlformats.org/officeDocument/2006/relationships/oleObject" Target="../embeddings/oleObject172.bin"/><Relationship Id="rId5" Type="http://schemas.openxmlformats.org/officeDocument/2006/relationships/oleObject" Target="../embeddings/oleObject169.bin"/><Relationship Id="rId15" Type="http://schemas.openxmlformats.org/officeDocument/2006/relationships/oleObject" Target="../embeddings/oleObject174.bin"/><Relationship Id="rId10" Type="http://schemas.openxmlformats.org/officeDocument/2006/relationships/image" Target="../media/image155.wmf"/><Relationship Id="rId19" Type="http://schemas.openxmlformats.org/officeDocument/2006/relationships/oleObject" Target="../embeddings/oleObject176.bin"/><Relationship Id="rId4" Type="http://schemas.openxmlformats.org/officeDocument/2006/relationships/image" Target="../media/image152.wmf"/><Relationship Id="rId9" Type="http://schemas.openxmlformats.org/officeDocument/2006/relationships/oleObject" Target="../embeddings/oleObject171.bin"/><Relationship Id="rId14" Type="http://schemas.openxmlformats.org/officeDocument/2006/relationships/image" Target="../media/image157.wmf"/></Relationships>
</file>

<file path=ppt/slides/_rels/slide74.xml.rels><?xml version="1.0" encoding="UTF-8" standalone="yes"?>
<Relationships xmlns="http://schemas.openxmlformats.org/package/2006/relationships"><Relationship Id="rId8" Type="http://schemas.openxmlformats.org/officeDocument/2006/relationships/image" Target="../media/image163.emf"/><Relationship Id="rId3" Type="http://schemas.openxmlformats.org/officeDocument/2006/relationships/oleObject" Target="../embeddings/oleObject177.bin"/><Relationship Id="rId7" Type="http://schemas.openxmlformats.org/officeDocument/2006/relationships/oleObject" Target="../embeddings/oleObject179.bin"/><Relationship Id="rId12" Type="http://schemas.openxmlformats.org/officeDocument/2006/relationships/image" Target="../media/image165.emf"/><Relationship Id="rId2" Type="http://schemas.openxmlformats.org/officeDocument/2006/relationships/slideLayout" Target="../slideLayouts/slideLayout7.xml"/><Relationship Id="rId1" Type="http://schemas.openxmlformats.org/officeDocument/2006/relationships/vmlDrawing" Target="../drawings/vmlDrawing41.vml"/><Relationship Id="rId6" Type="http://schemas.openxmlformats.org/officeDocument/2006/relationships/image" Target="../media/image162.emf"/><Relationship Id="rId11" Type="http://schemas.openxmlformats.org/officeDocument/2006/relationships/oleObject" Target="../embeddings/oleObject181.bin"/><Relationship Id="rId5" Type="http://schemas.openxmlformats.org/officeDocument/2006/relationships/oleObject" Target="../embeddings/oleObject178.bin"/><Relationship Id="rId10" Type="http://schemas.openxmlformats.org/officeDocument/2006/relationships/image" Target="../media/image164.emf"/><Relationship Id="rId4" Type="http://schemas.openxmlformats.org/officeDocument/2006/relationships/image" Target="../media/image161.wmf"/><Relationship Id="rId9" Type="http://schemas.openxmlformats.org/officeDocument/2006/relationships/oleObject" Target="../embeddings/oleObject180.bin"/></Relationships>
</file>

<file path=ppt/slides/_rels/slide75.xml.rels><?xml version="1.0" encoding="UTF-8" standalone="yes"?>
<Relationships xmlns="http://schemas.openxmlformats.org/package/2006/relationships"><Relationship Id="rId8" Type="http://schemas.openxmlformats.org/officeDocument/2006/relationships/image" Target="../media/image168.wmf"/><Relationship Id="rId3" Type="http://schemas.openxmlformats.org/officeDocument/2006/relationships/oleObject" Target="../embeddings/oleObject182.bin"/><Relationship Id="rId7" Type="http://schemas.openxmlformats.org/officeDocument/2006/relationships/oleObject" Target="../embeddings/oleObject184.bin"/><Relationship Id="rId2" Type="http://schemas.openxmlformats.org/officeDocument/2006/relationships/slideLayout" Target="../slideLayouts/slideLayout7.xml"/><Relationship Id="rId1" Type="http://schemas.openxmlformats.org/officeDocument/2006/relationships/vmlDrawing" Target="../drawings/vmlDrawing42.vml"/><Relationship Id="rId6" Type="http://schemas.openxmlformats.org/officeDocument/2006/relationships/image" Target="../media/image167.wmf"/><Relationship Id="rId5" Type="http://schemas.openxmlformats.org/officeDocument/2006/relationships/oleObject" Target="../embeddings/oleObject183.bin"/><Relationship Id="rId10" Type="http://schemas.openxmlformats.org/officeDocument/2006/relationships/image" Target="../media/image169.emf"/><Relationship Id="rId4" Type="http://schemas.openxmlformats.org/officeDocument/2006/relationships/image" Target="../media/image166.emf"/><Relationship Id="rId9" Type="http://schemas.openxmlformats.org/officeDocument/2006/relationships/oleObject" Target="../embeddings/oleObject185.bin"/></Relationships>
</file>

<file path=ppt/slides/_rels/slide76.xml.rels><?xml version="1.0" encoding="UTF-8" standalone="yes"?>
<Relationships xmlns="http://schemas.openxmlformats.org/package/2006/relationships"><Relationship Id="rId13" Type="http://schemas.openxmlformats.org/officeDocument/2006/relationships/oleObject" Target="../embeddings/oleObject191.bin"/><Relationship Id="rId18" Type="http://schemas.openxmlformats.org/officeDocument/2006/relationships/image" Target="../media/image177.emf"/><Relationship Id="rId26" Type="http://schemas.openxmlformats.org/officeDocument/2006/relationships/image" Target="../media/image181.emf"/><Relationship Id="rId3" Type="http://schemas.openxmlformats.org/officeDocument/2006/relationships/oleObject" Target="../embeddings/oleObject186.bin"/><Relationship Id="rId21" Type="http://schemas.openxmlformats.org/officeDocument/2006/relationships/oleObject" Target="../embeddings/oleObject195.bin"/><Relationship Id="rId34" Type="http://schemas.openxmlformats.org/officeDocument/2006/relationships/image" Target="../media/image185.emf"/><Relationship Id="rId7" Type="http://schemas.openxmlformats.org/officeDocument/2006/relationships/oleObject" Target="../embeddings/oleObject188.bin"/><Relationship Id="rId12" Type="http://schemas.openxmlformats.org/officeDocument/2006/relationships/image" Target="../media/image174.emf"/><Relationship Id="rId17" Type="http://schemas.openxmlformats.org/officeDocument/2006/relationships/oleObject" Target="../embeddings/oleObject193.bin"/><Relationship Id="rId25" Type="http://schemas.openxmlformats.org/officeDocument/2006/relationships/oleObject" Target="../embeddings/oleObject197.bin"/><Relationship Id="rId33" Type="http://schemas.openxmlformats.org/officeDocument/2006/relationships/oleObject" Target="../embeddings/oleObject201.bin"/><Relationship Id="rId2" Type="http://schemas.openxmlformats.org/officeDocument/2006/relationships/slideLayout" Target="../slideLayouts/slideLayout7.xml"/><Relationship Id="rId16" Type="http://schemas.openxmlformats.org/officeDocument/2006/relationships/image" Target="../media/image176.emf"/><Relationship Id="rId20" Type="http://schemas.openxmlformats.org/officeDocument/2006/relationships/image" Target="../media/image178.emf"/><Relationship Id="rId29" Type="http://schemas.openxmlformats.org/officeDocument/2006/relationships/oleObject" Target="../embeddings/oleObject199.bin"/><Relationship Id="rId1" Type="http://schemas.openxmlformats.org/officeDocument/2006/relationships/vmlDrawing" Target="../drawings/vmlDrawing43.vml"/><Relationship Id="rId6" Type="http://schemas.openxmlformats.org/officeDocument/2006/relationships/image" Target="../media/image171.emf"/><Relationship Id="rId11" Type="http://schemas.openxmlformats.org/officeDocument/2006/relationships/oleObject" Target="../embeddings/oleObject190.bin"/><Relationship Id="rId24" Type="http://schemas.openxmlformats.org/officeDocument/2006/relationships/image" Target="../media/image180.emf"/><Relationship Id="rId32" Type="http://schemas.openxmlformats.org/officeDocument/2006/relationships/image" Target="../media/image184.wmf"/><Relationship Id="rId5" Type="http://schemas.openxmlformats.org/officeDocument/2006/relationships/oleObject" Target="../embeddings/oleObject187.bin"/><Relationship Id="rId15" Type="http://schemas.openxmlformats.org/officeDocument/2006/relationships/oleObject" Target="../embeddings/oleObject192.bin"/><Relationship Id="rId23" Type="http://schemas.openxmlformats.org/officeDocument/2006/relationships/oleObject" Target="../embeddings/oleObject196.bin"/><Relationship Id="rId28" Type="http://schemas.openxmlformats.org/officeDocument/2006/relationships/image" Target="../media/image182.emf"/><Relationship Id="rId10" Type="http://schemas.openxmlformats.org/officeDocument/2006/relationships/image" Target="../media/image173.emf"/><Relationship Id="rId19" Type="http://schemas.openxmlformats.org/officeDocument/2006/relationships/oleObject" Target="../embeddings/oleObject194.bin"/><Relationship Id="rId31" Type="http://schemas.openxmlformats.org/officeDocument/2006/relationships/oleObject" Target="../embeddings/oleObject200.bin"/><Relationship Id="rId4" Type="http://schemas.openxmlformats.org/officeDocument/2006/relationships/image" Target="../media/image170.emf"/><Relationship Id="rId9" Type="http://schemas.openxmlformats.org/officeDocument/2006/relationships/oleObject" Target="../embeddings/oleObject189.bin"/><Relationship Id="rId14" Type="http://schemas.openxmlformats.org/officeDocument/2006/relationships/image" Target="../media/image175.emf"/><Relationship Id="rId22" Type="http://schemas.openxmlformats.org/officeDocument/2006/relationships/image" Target="../media/image179.emf"/><Relationship Id="rId27" Type="http://schemas.openxmlformats.org/officeDocument/2006/relationships/oleObject" Target="../embeddings/oleObject198.bin"/><Relationship Id="rId30" Type="http://schemas.openxmlformats.org/officeDocument/2006/relationships/image" Target="../media/image183.emf"/><Relationship Id="rId8" Type="http://schemas.openxmlformats.org/officeDocument/2006/relationships/image" Target="../media/image172.emf"/></Relationships>
</file>

<file path=ppt/slides/_rels/slide77.xml.rels><?xml version="1.0" encoding="UTF-8" standalone="yes"?>
<Relationships xmlns="http://schemas.openxmlformats.org/package/2006/relationships"><Relationship Id="rId8" Type="http://schemas.openxmlformats.org/officeDocument/2006/relationships/image" Target="../media/image188.wmf"/><Relationship Id="rId3" Type="http://schemas.openxmlformats.org/officeDocument/2006/relationships/oleObject" Target="../embeddings/oleObject202.bin"/><Relationship Id="rId7" Type="http://schemas.openxmlformats.org/officeDocument/2006/relationships/oleObject" Target="../embeddings/oleObject204.bin"/><Relationship Id="rId2" Type="http://schemas.openxmlformats.org/officeDocument/2006/relationships/slideLayout" Target="../slideLayouts/slideLayout7.xml"/><Relationship Id="rId1" Type="http://schemas.openxmlformats.org/officeDocument/2006/relationships/vmlDrawing" Target="../drawings/vmlDrawing44.vml"/><Relationship Id="rId6" Type="http://schemas.openxmlformats.org/officeDocument/2006/relationships/image" Target="../media/image187.wmf"/><Relationship Id="rId5" Type="http://schemas.openxmlformats.org/officeDocument/2006/relationships/oleObject" Target="../embeddings/oleObject203.bin"/><Relationship Id="rId10" Type="http://schemas.openxmlformats.org/officeDocument/2006/relationships/image" Target="../media/image189.wmf"/><Relationship Id="rId4" Type="http://schemas.openxmlformats.org/officeDocument/2006/relationships/image" Target="../media/image186.wmf"/><Relationship Id="rId9" Type="http://schemas.openxmlformats.org/officeDocument/2006/relationships/oleObject" Target="../embeddings/oleObject205.bin"/></Relationships>
</file>

<file path=ppt/slides/_rels/slide78.xml.rels><?xml version="1.0" encoding="UTF-8" standalone="yes"?>
<Relationships xmlns="http://schemas.openxmlformats.org/package/2006/relationships"><Relationship Id="rId8" Type="http://schemas.openxmlformats.org/officeDocument/2006/relationships/image" Target="../media/image192.wmf"/><Relationship Id="rId3" Type="http://schemas.openxmlformats.org/officeDocument/2006/relationships/oleObject" Target="../embeddings/oleObject206.bin"/><Relationship Id="rId7" Type="http://schemas.openxmlformats.org/officeDocument/2006/relationships/oleObject" Target="../embeddings/oleObject208.bin"/><Relationship Id="rId2" Type="http://schemas.openxmlformats.org/officeDocument/2006/relationships/slideLayout" Target="../slideLayouts/slideLayout7.xml"/><Relationship Id="rId1" Type="http://schemas.openxmlformats.org/officeDocument/2006/relationships/vmlDrawing" Target="../drawings/vmlDrawing45.vml"/><Relationship Id="rId6" Type="http://schemas.openxmlformats.org/officeDocument/2006/relationships/image" Target="../media/image191.wmf"/><Relationship Id="rId5" Type="http://schemas.openxmlformats.org/officeDocument/2006/relationships/oleObject" Target="../embeddings/oleObject207.bin"/><Relationship Id="rId4" Type="http://schemas.openxmlformats.org/officeDocument/2006/relationships/image" Target="../media/image190.wmf"/></Relationships>
</file>

<file path=ppt/slides/_rels/slide79.xml.rels><?xml version="1.0" encoding="UTF-8" standalone="yes"?>
<Relationships xmlns="http://schemas.openxmlformats.org/package/2006/relationships"><Relationship Id="rId8" Type="http://schemas.openxmlformats.org/officeDocument/2006/relationships/image" Target="../media/image195.emf"/><Relationship Id="rId13" Type="http://schemas.openxmlformats.org/officeDocument/2006/relationships/oleObject" Target="../embeddings/oleObject214.bin"/><Relationship Id="rId3" Type="http://schemas.openxmlformats.org/officeDocument/2006/relationships/oleObject" Target="../embeddings/oleObject209.bin"/><Relationship Id="rId7" Type="http://schemas.openxmlformats.org/officeDocument/2006/relationships/oleObject" Target="../embeddings/oleObject211.bin"/><Relationship Id="rId12" Type="http://schemas.openxmlformats.org/officeDocument/2006/relationships/image" Target="../media/image197.emf"/><Relationship Id="rId2" Type="http://schemas.openxmlformats.org/officeDocument/2006/relationships/slideLayout" Target="../slideLayouts/slideLayout7.xml"/><Relationship Id="rId1" Type="http://schemas.openxmlformats.org/officeDocument/2006/relationships/vmlDrawing" Target="../drawings/vmlDrawing46.vml"/><Relationship Id="rId6" Type="http://schemas.openxmlformats.org/officeDocument/2006/relationships/image" Target="../media/image194.emf"/><Relationship Id="rId11" Type="http://schemas.openxmlformats.org/officeDocument/2006/relationships/oleObject" Target="../embeddings/oleObject213.bin"/><Relationship Id="rId5" Type="http://schemas.openxmlformats.org/officeDocument/2006/relationships/oleObject" Target="../embeddings/oleObject210.bin"/><Relationship Id="rId10" Type="http://schemas.openxmlformats.org/officeDocument/2006/relationships/image" Target="../media/image196.emf"/><Relationship Id="rId4" Type="http://schemas.openxmlformats.org/officeDocument/2006/relationships/image" Target="../media/image193.emf"/><Relationship Id="rId9" Type="http://schemas.openxmlformats.org/officeDocument/2006/relationships/oleObject" Target="../embeddings/oleObject212.bin"/><Relationship Id="rId14" Type="http://schemas.openxmlformats.org/officeDocument/2006/relationships/image" Target="../media/image198.emf"/></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215.bin"/><Relationship Id="rId2" Type="http://schemas.openxmlformats.org/officeDocument/2006/relationships/slideLayout" Target="../slideLayouts/slideLayout7.xml"/><Relationship Id="rId1" Type="http://schemas.openxmlformats.org/officeDocument/2006/relationships/vmlDrawing" Target="../drawings/vmlDrawing47.vml"/><Relationship Id="rId6" Type="http://schemas.openxmlformats.org/officeDocument/2006/relationships/image" Target="../media/image200.emf"/><Relationship Id="rId5" Type="http://schemas.openxmlformats.org/officeDocument/2006/relationships/oleObject" Target="../embeddings/oleObject216.bin"/><Relationship Id="rId4" Type="http://schemas.openxmlformats.org/officeDocument/2006/relationships/image" Target="../media/image199.emf"/></Relationships>
</file>

<file path=ppt/slides/_rels/slide81.xml.rels><?xml version="1.0" encoding="UTF-8" standalone="yes"?>
<Relationships xmlns="http://schemas.openxmlformats.org/package/2006/relationships"><Relationship Id="rId8" Type="http://schemas.openxmlformats.org/officeDocument/2006/relationships/image" Target="../media/image203.emf"/><Relationship Id="rId13" Type="http://schemas.openxmlformats.org/officeDocument/2006/relationships/oleObject" Target="../embeddings/oleObject222.bin"/><Relationship Id="rId18" Type="http://schemas.openxmlformats.org/officeDocument/2006/relationships/image" Target="../media/image208.emf"/><Relationship Id="rId3" Type="http://schemas.openxmlformats.org/officeDocument/2006/relationships/oleObject" Target="../embeddings/oleObject217.bin"/><Relationship Id="rId7" Type="http://schemas.openxmlformats.org/officeDocument/2006/relationships/oleObject" Target="../embeddings/oleObject219.bin"/><Relationship Id="rId12" Type="http://schemas.openxmlformats.org/officeDocument/2006/relationships/image" Target="../media/image205.emf"/><Relationship Id="rId17" Type="http://schemas.openxmlformats.org/officeDocument/2006/relationships/oleObject" Target="../embeddings/oleObject224.bin"/><Relationship Id="rId2" Type="http://schemas.openxmlformats.org/officeDocument/2006/relationships/slideLayout" Target="../slideLayouts/slideLayout7.xml"/><Relationship Id="rId16" Type="http://schemas.openxmlformats.org/officeDocument/2006/relationships/image" Target="../media/image207.emf"/><Relationship Id="rId1" Type="http://schemas.openxmlformats.org/officeDocument/2006/relationships/vmlDrawing" Target="../drawings/vmlDrawing48.vml"/><Relationship Id="rId6" Type="http://schemas.openxmlformats.org/officeDocument/2006/relationships/image" Target="../media/image202.emf"/><Relationship Id="rId11" Type="http://schemas.openxmlformats.org/officeDocument/2006/relationships/oleObject" Target="../embeddings/oleObject221.bin"/><Relationship Id="rId5" Type="http://schemas.openxmlformats.org/officeDocument/2006/relationships/oleObject" Target="../embeddings/oleObject218.bin"/><Relationship Id="rId15" Type="http://schemas.openxmlformats.org/officeDocument/2006/relationships/oleObject" Target="../embeddings/oleObject223.bin"/><Relationship Id="rId10" Type="http://schemas.openxmlformats.org/officeDocument/2006/relationships/image" Target="../media/image204.emf"/><Relationship Id="rId4" Type="http://schemas.openxmlformats.org/officeDocument/2006/relationships/image" Target="../media/image201.emf"/><Relationship Id="rId9" Type="http://schemas.openxmlformats.org/officeDocument/2006/relationships/oleObject" Target="../embeddings/oleObject220.bin"/><Relationship Id="rId14" Type="http://schemas.openxmlformats.org/officeDocument/2006/relationships/image" Target="../media/image206.emf"/></Relationships>
</file>

<file path=ppt/slides/_rels/slide82.xml.rels><?xml version="1.0" encoding="UTF-8" standalone="yes"?>
<Relationships xmlns="http://schemas.openxmlformats.org/package/2006/relationships"><Relationship Id="rId8" Type="http://schemas.openxmlformats.org/officeDocument/2006/relationships/image" Target="../media/image211.emf"/><Relationship Id="rId13" Type="http://schemas.openxmlformats.org/officeDocument/2006/relationships/oleObject" Target="../embeddings/oleObject230.bin"/><Relationship Id="rId18" Type="http://schemas.openxmlformats.org/officeDocument/2006/relationships/image" Target="../media/image216.emf"/><Relationship Id="rId3" Type="http://schemas.openxmlformats.org/officeDocument/2006/relationships/oleObject" Target="../embeddings/oleObject225.bin"/><Relationship Id="rId7" Type="http://schemas.openxmlformats.org/officeDocument/2006/relationships/oleObject" Target="../embeddings/oleObject227.bin"/><Relationship Id="rId12" Type="http://schemas.openxmlformats.org/officeDocument/2006/relationships/image" Target="../media/image213.emf"/><Relationship Id="rId17" Type="http://schemas.openxmlformats.org/officeDocument/2006/relationships/oleObject" Target="../embeddings/oleObject232.bin"/><Relationship Id="rId2" Type="http://schemas.openxmlformats.org/officeDocument/2006/relationships/slideLayout" Target="../slideLayouts/slideLayout7.xml"/><Relationship Id="rId16" Type="http://schemas.openxmlformats.org/officeDocument/2006/relationships/image" Target="../media/image215.emf"/><Relationship Id="rId1" Type="http://schemas.openxmlformats.org/officeDocument/2006/relationships/vmlDrawing" Target="../drawings/vmlDrawing49.vml"/><Relationship Id="rId6" Type="http://schemas.openxmlformats.org/officeDocument/2006/relationships/image" Target="../media/image210.emf"/><Relationship Id="rId11" Type="http://schemas.openxmlformats.org/officeDocument/2006/relationships/oleObject" Target="../embeddings/oleObject229.bin"/><Relationship Id="rId5" Type="http://schemas.openxmlformats.org/officeDocument/2006/relationships/oleObject" Target="../embeddings/oleObject226.bin"/><Relationship Id="rId15" Type="http://schemas.openxmlformats.org/officeDocument/2006/relationships/oleObject" Target="../embeddings/oleObject231.bin"/><Relationship Id="rId10" Type="http://schemas.openxmlformats.org/officeDocument/2006/relationships/image" Target="../media/image212.emf"/><Relationship Id="rId4" Type="http://schemas.openxmlformats.org/officeDocument/2006/relationships/image" Target="../media/image209.emf"/><Relationship Id="rId9" Type="http://schemas.openxmlformats.org/officeDocument/2006/relationships/oleObject" Target="../embeddings/oleObject228.bin"/><Relationship Id="rId14" Type="http://schemas.openxmlformats.org/officeDocument/2006/relationships/image" Target="../media/image214.emf"/></Relationships>
</file>

<file path=ppt/slides/_rels/slide83.xml.rels><?xml version="1.0" encoding="UTF-8" standalone="yes"?>
<Relationships xmlns="http://schemas.openxmlformats.org/package/2006/relationships"><Relationship Id="rId8" Type="http://schemas.openxmlformats.org/officeDocument/2006/relationships/image" Target="../media/image219.emf"/><Relationship Id="rId13" Type="http://schemas.openxmlformats.org/officeDocument/2006/relationships/oleObject" Target="../embeddings/oleObject238.bin"/><Relationship Id="rId3" Type="http://schemas.openxmlformats.org/officeDocument/2006/relationships/oleObject" Target="../embeddings/oleObject233.bin"/><Relationship Id="rId7" Type="http://schemas.openxmlformats.org/officeDocument/2006/relationships/oleObject" Target="../embeddings/oleObject235.bin"/><Relationship Id="rId12" Type="http://schemas.openxmlformats.org/officeDocument/2006/relationships/image" Target="../media/image221.emf"/><Relationship Id="rId2" Type="http://schemas.openxmlformats.org/officeDocument/2006/relationships/slideLayout" Target="../slideLayouts/slideLayout7.xml"/><Relationship Id="rId1" Type="http://schemas.openxmlformats.org/officeDocument/2006/relationships/vmlDrawing" Target="../drawings/vmlDrawing50.vml"/><Relationship Id="rId6" Type="http://schemas.openxmlformats.org/officeDocument/2006/relationships/image" Target="../media/image218.emf"/><Relationship Id="rId11" Type="http://schemas.openxmlformats.org/officeDocument/2006/relationships/oleObject" Target="../embeddings/oleObject237.bin"/><Relationship Id="rId5" Type="http://schemas.openxmlformats.org/officeDocument/2006/relationships/oleObject" Target="../embeddings/oleObject234.bin"/><Relationship Id="rId10" Type="http://schemas.openxmlformats.org/officeDocument/2006/relationships/image" Target="../media/image220.emf"/><Relationship Id="rId4" Type="http://schemas.openxmlformats.org/officeDocument/2006/relationships/image" Target="../media/image217.emf"/><Relationship Id="rId9" Type="http://schemas.openxmlformats.org/officeDocument/2006/relationships/oleObject" Target="../embeddings/oleObject236.bin"/><Relationship Id="rId14" Type="http://schemas.openxmlformats.org/officeDocument/2006/relationships/image" Target="../media/image222.emf"/></Relationships>
</file>

<file path=ppt/slides/_rels/slide84.xml.rels><?xml version="1.0" encoding="UTF-8" standalone="yes"?>
<Relationships xmlns="http://schemas.openxmlformats.org/package/2006/relationships"><Relationship Id="rId8" Type="http://schemas.openxmlformats.org/officeDocument/2006/relationships/image" Target="../media/image225.emf"/><Relationship Id="rId13" Type="http://schemas.openxmlformats.org/officeDocument/2006/relationships/oleObject" Target="../embeddings/oleObject244.bin"/><Relationship Id="rId18" Type="http://schemas.openxmlformats.org/officeDocument/2006/relationships/image" Target="../media/image230.emf"/><Relationship Id="rId26" Type="http://schemas.openxmlformats.org/officeDocument/2006/relationships/image" Target="../media/image234.emf"/><Relationship Id="rId3" Type="http://schemas.openxmlformats.org/officeDocument/2006/relationships/oleObject" Target="../embeddings/oleObject239.bin"/><Relationship Id="rId21" Type="http://schemas.openxmlformats.org/officeDocument/2006/relationships/oleObject" Target="../embeddings/oleObject248.bin"/><Relationship Id="rId7" Type="http://schemas.openxmlformats.org/officeDocument/2006/relationships/oleObject" Target="../embeddings/oleObject241.bin"/><Relationship Id="rId12" Type="http://schemas.openxmlformats.org/officeDocument/2006/relationships/image" Target="../media/image227.emf"/><Relationship Id="rId17" Type="http://schemas.openxmlformats.org/officeDocument/2006/relationships/oleObject" Target="../embeddings/oleObject246.bin"/><Relationship Id="rId25" Type="http://schemas.openxmlformats.org/officeDocument/2006/relationships/oleObject" Target="../embeddings/oleObject250.bin"/><Relationship Id="rId2" Type="http://schemas.openxmlformats.org/officeDocument/2006/relationships/slideLayout" Target="../slideLayouts/slideLayout7.xml"/><Relationship Id="rId16" Type="http://schemas.openxmlformats.org/officeDocument/2006/relationships/image" Target="../media/image229.emf"/><Relationship Id="rId20" Type="http://schemas.openxmlformats.org/officeDocument/2006/relationships/image" Target="../media/image231.emf"/><Relationship Id="rId1" Type="http://schemas.openxmlformats.org/officeDocument/2006/relationships/vmlDrawing" Target="../drawings/vmlDrawing51.vml"/><Relationship Id="rId6" Type="http://schemas.openxmlformats.org/officeDocument/2006/relationships/image" Target="../media/image224.emf"/><Relationship Id="rId11" Type="http://schemas.openxmlformats.org/officeDocument/2006/relationships/oleObject" Target="../embeddings/oleObject243.bin"/><Relationship Id="rId24" Type="http://schemas.openxmlformats.org/officeDocument/2006/relationships/image" Target="../media/image233.emf"/><Relationship Id="rId5" Type="http://schemas.openxmlformats.org/officeDocument/2006/relationships/oleObject" Target="../embeddings/oleObject240.bin"/><Relationship Id="rId15" Type="http://schemas.openxmlformats.org/officeDocument/2006/relationships/oleObject" Target="../embeddings/oleObject245.bin"/><Relationship Id="rId23" Type="http://schemas.openxmlformats.org/officeDocument/2006/relationships/oleObject" Target="../embeddings/oleObject249.bin"/><Relationship Id="rId10" Type="http://schemas.openxmlformats.org/officeDocument/2006/relationships/image" Target="../media/image226.emf"/><Relationship Id="rId19" Type="http://schemas.openxmlformats.org/officeDocument/2006/relationships/oleObject" Target="../embeddings/oleObject247.bin"/><Relationship Id="rId4" Type="http://schemas.openxmlformats.org/officeDocument/2006/relationships/image" Target="../media/image223.emf"/><Relationship Id="rId9" Type="http://schemas.openxmlformats.org/officeDocument/2006/relationships/oleObject" Target="../embeddings/oleObject242.bin"/><Relationship Id="rId14" Type="http://schemas.openxmlformats.org/officeDocument/2006/relationships/image" Target="../media/image228.emf"/><Relationship Id="rId22" Type="http://schemas.openxmlformats.org/officeDocument/2006/relationships/image" Target="../media/image232.emf"/></Relationships>
</file>

<file path=ppt/slides/_rels/slide85.xml.rels><?xml version="1.0" encoding="UTF-8" standalone="yes"?>
<Relationships xmlns="http://schemas.openxmlformats.org/package/2006/relationships"><Relationship Id="rId2" Type="http://schemas.openxmlformats.org/officeDocument/2006/relationships/image" Target="../media/image235.jpe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8" Type="http://schemas.openxmlformats.org/officeDocument/2006/relationships/image" Target="../media/image238.wmf"/><Relationship Id="rId13" Type="http://schemas.openxmlformats.org/officeDocument/2006/relationships/oleObject" Target="../embeddings/oleObject256.bin"/><Relationship Id="rId18" Type="http://schemas.openxmlformats.org/officeDocument/2006/relationships/image" Target="../media/image243.wmf"/><Relationship Id="rId3" Type="http://schemas.openxmlformats.org/officeDocument/2006/relationships/oleObject" Target="../embeddings/oleObject251.bin"/><Relationship Id="rId7" Type="http://schemas.openxmlformats.org/officeDocument/2006/relationships/oleObject" Target="../embeddings/oleObject253.bin"/><Relationship Id="rId12" Type="http://schemas.openxmlformats.org/officeDocument/2006/relationships/image" Target="../media/image240.wmf"/><Relationship Id="rId17" Type="http://schemas.openxmlformats.org/officeDocument/2006/relationships/oleObject" Target="../embeddings/oleObject258.bin"/><Relationship Id="rId2" Type="http://schemas.openxmlformats.org/officeDocument/2006/relationships/slideLayout" Target="../slideLayouts/slideLayout7.xml"/><Relationship Id="rId16" Type="http://schemas.openxmlformats.org/officeDocument/2006/relationships/image" Target="../media/image242.wmf"/><Relationship Id="rId1" Type="http://schemas.openxmlformats.org/officeDocument/2006/relationships/vmlDrawing" Target="../drawings/vmlDrawing52.vml"/><Relationship Id="rId6" Type="http://schemas.openxmlformats.org/officeDocument/2006/relationships/image" Target="../media/image237.wmf"/><Relationship Id="rId11" Type="http://schemas.openxmlformats.org/officeDocument/2006/relationships/oleObject" Target="../embeddings/oleObject255.bin"/><Relationship Id="rId5" Type="http://schemas.openxmlformats.org/officeDocument/2006/relationships/oleObject" Target="../embeddings/oleObject252.bin"/><Relationship Id="rId15" Type="http://schemas.openxmlformats.org/officeDocument/2006/relationships/oleObject" Target="../embeddings/oleObject257.bin"/><Relationship Id="rId10" Type="http://schemas.openxmlformats.org/officeDocument/2006/relationships/image" Target="../media/image239.wmf"/><Relationship Id="rId4" Type="http://schemas.openxmlformats.org/officeDocument/2006/relationships/image" Target="../media/image236.wmf"/><Relationship Id="rId9" Type="http://schemas.openxmlformats.org/officeDocument/2006/relationships/oleObject" Target="../embeddings/oleObject254.bin"/><Relationship Id="rId14" Type="http://schemas.openxmlformats.org/officeDocument/2006/relationships/image" Target="../media/image241.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微信图片_20200420145433"/>
          <p:cNvPicPr>
            <a:picLocks noChangeAspect="1"/>
          </p:cNvPicPr>
          <p:nvPr/>
        </p:nvPicPr>
        <p:blipFill>
          <a:blip r:embed="rId2"/>
          <a:stretch>
            <a:fillRect/>
          </a:stretch>
        </p:blipFill>
        <p:spPr>
          <a:xfrm>
            <a:off x="-457200" y="600075"/>
            <a:ext cx="10058400" cy="56572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微信图片_20200420145603"/>
          <p:cNvPicPr>
            <a:picLocks noChangeAspect="1"/>
          </p:cNvPicPr>
          <p:nvPr/>
        </p:nvPicPr>
        <p:blipFill>
          <a:blip r:embed="rId2"/>
          <a:stretch>
            <a:fillRect/>
          </a:stretch>
        </p:blipFill>
        <p:spPr>
          <a:xfrm>
            <a:off x="382905" y="600075"/>
            <a:ext cx="8323580" cy="565721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928688" y="627063"/>
            <a:ext cx="7966075" cy="3200400"/>
            <a:chOff x="277" y="259"/>
            <a:chExt cx="5018" cy="2016"/>
          </a:xfrm>
        </p:grpSpPr>
        <p:graphicFrame>
          <p:nvGraphicFramePr>
            <p:cNvPr id="11273" name="Object 3"/>
            <p:cNvGraphicFramePr>
              <a:graphicFrameLocks noChangeAspect="1"/>
            </p:cNvGraphicFramePr>
            <p:nvPr/>
          </p:nvGraphicFramePr>
          <p:xfrm>
            <a:off x="2796" y="2140"/>
            <a:ext cx="71" cy="135"/>
          </p:xfrm>
          <a:graphic>
            <a:graphicData uri="http://schemas.openxmlformats.org/presentationml/2006/ole">
              <mc:AlternateContent xmlns:mc="http://schemas.openxmlformats.org/markup-compatibility/2006">
                <mc:Choice xmlns:v="urn:schemas-microsoft-com:vml" Requires="v">
                  <p:oleObj spid="_x0000_s11398" name="公式" r:id="rId3" imgW="114300" imgH="215900" progId="Equation.3">
                    <p:embed/>
                  </p:oleObj>
                </mc:Choice>
                <mc:Fallback>
                  <p:oleObj name="公式" r:id="rId3" imgW="114300" imgH="2159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6" y="2140"/>
                          <a:ext cx="71" cy="1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4" name="Object 4"/>
            <p:cNvGraphicFramePr>
              <a:graphicFrameLocks noChangeAspect="1"/>
            </p:cNvGraphicFramePr>
            <p:nvPr/>
          </p:nvGraphicFramePr>
          <p:xfrm>
            <a:off x="2796" y="2140"/>
            <a:ext cx="71" cy="135"/>
          </p:xfrm>
          <a:graphic>
            <a:graphicData uri="http://schemas.openxmlformats.org/presentationml/2006/ole">
              <mc:AlternateContent xmlns:mc="http://schemas.openxmlformats.org/markup-compatibility/2006">
                <mc:Choice xmlns:v="urn:schemas-microsoft-com:vml" Requires="v">
                  <p:oleObj spid="_x0000_s11399" name="公式" r:id="rId5" imgW="114300" imgH="215900" progId="Equation.3">
                    <p:embed/>
                  </p:oleObj>
                </mc:Choice>
                <mc:Fallback>
                  <p:oleObj name="公式" r:id="rId5" imgW="114300" imgH="2159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6" y="2140"/>
                          <a:ext cx="71" cy="1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75" name="Rectangle 5"/>
            <p:cNvSpPr>
              <a:spLocks noChangeArrowheads="1"/>
            </p:cNvSpPr>
            <p:nvPr/>
          </p:nvSpPr>
          <p:spPr bwMode="auto">
            <a:xfrm>
              <a:off x="384" y="259"/>
              <a:ext cx="4911" cy="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sz="2800">
                  <a:ea typeface="华文新魏" panose="02010800040101010101" pitchFamily="2" charset="-122"/>
                </a:rPr>
                <a:t>        切比雪夫</a:t>
              </a:r>
              <a:r>
                <a:rPr lang="zh-CN" altLang="en-US" sz="3200">
                  <a:ea typeface="华文新魏" panose="02010800040101010101" pitchFamily="2" charset="-122"/>
                </a:rPr>
                <a:t>大数定律表明，独立随机变量序列</a:t>
              </a:r>
              <a:r>
                <a:rPr lang="en-US" altLang="zh-CN" sz="3200">
                  <a:ea typeface="华文新魏" panose="02010800040101010101" pitchFamily="2" charset="-122"/>
                </a:rPr>
                <a:t>{</a:t>
              </a:r>
              <a:r>
                <a:rPr lang="en-US" altLang="zh-CN" sz="3200" i="1">
                  <a:ea typeface="华文新魏" panose="02010800040101010101" pitchFamily="2" charset="-122"/>
                </a:rPr>
                <a:t>X</a:t>
              </a:r>
              <a:r>
                <a:rPr lang="en-US" altLang="zh-CN" sz="3200" i="1" baseline="-25000">
                  <a:ea typeface="华文新魏" panose="02010800040101010101" pitchFamily="2" charset="-122"/>
                </a:rPr>
                <a:t>n</a:t>
              </a:r>
              <a:r>
                <a:rPr lang="en-US" altLang="zh-CN" sz="3200">
                  <a:ea typeface="华文新魏" panose="02010800040101010101" pitchFamily="2" charset="-122"/>
                </a:rPr>
                <a:t>}</a:t>
              </a:r>
              <a:r>
                <a:rPr lang="zh-CN" altLang="en-US" sz="3200">
                  <a:ea typeface="华文新魏" panose="02010800040101010101" pitchFamily="2" charset="-122"/>
                </a:rPr>
                <a:t>，如果方差有共同的上界，则</a:t>
              </a:r>
            </a:p>
          </p:txBody>
        </p:sp>
        <p:graphicFrame>
          <p:nvGraphicFramePr>
            <p:cNvPr id="11276" name="Object 5"/>
            <p:cNvGraphicFramePr>
              <a:graphicFrameLocks noChangeAspect="1"/>
            </p:cNvGraphicFramePr>
            <p:nvPr/>
          </p:nvGraphicFramePr>
          <p:xfrm>
            <a:off x="470" y="1117"/>
            <a:ext cx="817" cy="707"/>
          </p:xfrm>
          <a:graphic>
            <a:graphicData uri="http://schemas.openxmlformats.org/presentationml/2006/ole">
              <mc:AlternateContent xmlns:mc="http://schemas.openxmlformats.org/markup-compatibility/2006">
                <mc:Choice xmlns:v="urn:schemas-microsoft-com:vml" Requires="v">
                  <p:oleObj spid="_x0000_s11400" name="公式" r:id="rId6" imgW="485775" imgH="394335" progId="Equation.3">
                    <p:embed/>
                  </p:oleObj>
                </mc:Choice>
                <mc:Fallback>
                  <p:oleObj name="公式" r:id="rId6" imgW="485775" imgH="394335"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0" y="1117"/>
                          <a:ext cx="817" cy="70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77" name="Rectangle 7"/>
            <p:cNvSpPr>
              <a:spLocks noChangeArrowheads="1"/>
            </p:cNvSpPr>
            <p:nvPr/>
          </p:nvSpPr>
          <p:spPr bwMode="auto">
            <a:xfrm>
              <a:off x="288" y="1248"/>
              <a:ext cx="350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与其数学期望</a:t>
              </a:r>
            </a:p>
          </p:txBody>
        </p:sp>
        <p:graphicFrame>
          <p:nvGraphicFramePr>
            <p:cNvPr id="11278" name="Object 6"/>
            <p:cNvGraphicFramePr>
              <a:graphicFrameLocks noChangeAspect="1"/>
            </p:cNvGraphicFramePr>
            <p:nvPr/>
          </p:nvGraphicFramePr>
          <p:xfrm>
            <a:off x="2782" y="1104"/>
            <a:ext cx="1175" cy="707"/>
          </p:xfrm>
          <a:graphic>
            <a:graphicData uri="http://schemas.openxmlformats.org/presentationml/2006/ole">
              <mc:AlternateContent xmlns:mc="http://schemas.openxmlformats.org/markup-compatibility/2006">
                <mc:Choice xmlns:v="urn:schemas-microsoft-com:vml" Requires="v">
                  <p:oleObj spid="_x0000_s11401" name="公式" r:id="rId8" imgW="714375" imgH="394335" progId="Equation.3">
                    <p:embed/>
                  </p:oleObj>
                </mc:Choice>
                <mc:Fallback>
                  <p:oleObj name="公式" r:id="rId8" imgW="714375" imgH="394335"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82" y="1104"/>
                          <a:ext cx="1175" cy="70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79" name="Rectangle 9"/>
            <p:cNvSpPr>
              <a:spLocks noChangeArrowheads="1"/>
            </p:cNvSpPr>
            <p:nvPr/>
          </p:nvSpPr>
          <p:spPr bwMode="auto">
            <a:xfrm>
              <a:off x="3770" y="1248"/>
              <a:ext cx="1459"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 偏差很小的</a:t>
              </a:r>
            </a:p>
          </p:txBody>
        </p:sp>
        <p:sp>
          <p:nvSpPr>
            <p:cNvPr id="11280" name="Rectangle 10"/>
            <p:cNvSpPr>
              <a:spLocks noChangeArrowheads="1"/>
            </p:cNvSpPr>
            <p:nvPr/>
          </p:nvSpPr>
          <p:spPr bwMode="auto">
            <a:xfrm>
              <a:off x="277" y="1872"/>
              <a:ext cx="190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   概率接近于</a:t>
              </a:r>
              <a:r>
                <a:rPr lang="en-US" altLang="zh-CN" sz="3200">
                  <a:ea typeface="华文新魏" panose="02010800040101010101" pitchFamily="2" charset="-122"/>
                </a:rPr>
                <a:t>1.  </a:t>
              </a:r>
            </a:p>
          </p:txBody>
        </p:sp>
      </p:grpSp>
      <p:grpSp>
        <p:nvGrpSpPr>
          <p:cNvPr id="3" name="Group 11"/>
          <p:cNvGrpSpPr/>
          <p:nvPr/>
        </p:nvGrpSpPr>
        <p:grpSpPr bwMode="auto">
          <a:xfrm>
            <a:off x="1098550" y="3665538"/>
            <a:ext cx="8153400" cy="2133600"/>
            <a:chOff x="384" y="2173"/>
            <a:chExt cx="5136" cy="1344"/>
          </a:xfrm>
        </p:grpSpPr>
        <p:graphicFrame>
          <p:nvGraphicFramePr>
            <p:cNvPr id="11269" name="Object 2"/>
            <p:cNvGraphicFramePr>
              <a:graphicFrameLocks noChangeAspect="1"/>
            </p:cNvGraphicFramePr>
            <p:nvPr/>
          </p:nvGraphicFramePr>
          <p:xfrm>
            <a:off x="2975" y="2173"/>
            <a:ext cx="817" cy="707"/>
          </p:xfrm>
          <a:graphic>
            <a:graphicData uri="http://schemas.openxmlformats.org/presentationml/2006/ole">
              <mc:AlternateContent xmlns:mc="http://schemas.openxmlformats.org/markup-compatibility/2006">
                <mc:Choice xmlns:v="urn:schemas-microsoft-com:vml" Requires="v">
                  <p:oleObj spid="_x0000_s11402" name="公式" r:id="rId10" imgW="485775" imgH="394335" progId="Equation.3">
                    <p:embed/>
                  </p:oleObj>
                </mc:Choice>
                <mc:Fallback>
                  <p:oleObj name="公式" r:id="rId10" imgW="485775" imgH="394335" progId="Equation.3">
                    <p:embed/>
                    <p:pic>
                      <p:nvPicPr>
                        <p:cNvPr id="0" name="Object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75" y="2173"/>
                          <a:ext cx="817" cy="70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70" name="Rectangle 13"/>
            <p:cNvSpPr>
              <a:spLocks noChangeArrowheads="1"/>
            </p:cNvSpPr>
            <p:nvPr/>
          </p:nvSpPr>
          <p:spPr bwMode="auto">
            <a:xfrm>
              <a:off x="384" y="2723"/>
              <a:ext cx="5136" cy="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3200">
                  <a:ea typeface="华文新魏" panose="02010800040101010101" pitchFamily="2" charset="-122"/>
                </a:rPr>
                <a:t>随机的了，取值接近于其数学期望的概率接近于</a:t>
              </a:r>
              <a:r>
                <a:rPr lang="en-US" altLang="zh-CN" sz="3200">
                  <a:ea typeface="华文新魏" panose="02010800040101010101" pitchFamily="2" charset="-122"/>
                </a:rPr>
                <a:t>1.</a:t>
              </a:r>
            </a:p>
          </p:txBody>
        </p:sp>
        <p:sp>
          <p:nvSpPr>
            <p:cNvPr id="11271" name="Rectangle 14"/>
            <p:cNvSpPr>
              <a:spLocks noChangeArrowheads="1"/>
            </p:cNvSpPr>
            <p:nvPr/>
          </p:nvSpPr>
          <p:spPr bwMode="auto">
            <a:xfrm>
              <a:off x="960" y="2352"/>
              <a:ext cx="203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ea typeface="华文新魏" panose="02010800040101010101" pitchFamily="2" charset="-122"/>
                </a:rPr>
                <a:t>即当</a:t>
              </a:r>
              <a:r>
                <a:rPr lang="en-US" altLang="zh-CN" sz="3200" i="1">
                  <a:ea typeface="华文新魏" panose="02010800040101010101" pitchFamily="2" charset="-122"/>
                </a:rPr>
                <a:t>n</a:t>
              </a:r>
              <a:r>
                <a:rPr lang="zh-CN" altLang="en-US" sz="3200">
                  <a:ea typeface="华文新魏" panose="02010800040101010101" pitchFamily="2" charset="-122"/>
                </a:rPr>
                <a:t>充分大时，</a:t>
              </a:r>
            </a:p>
          </p:txBody>
        </p:sp>
        <p:sp>
          <p:nvSpPr>
            <p:cNvPr id="11272" name="Rectangle 15"/>
            <p:cNvSpPr>
              <a:spLocks noChangeArrowheads="1"/>
            </p:cNvSpPr>
            <p:nvPr/>
          </p:nvSpPr>
          <p:spPr bwMode="auto">
            <a:xfrm>
              <a:off x="3718" y="2352"/>
              <a:ext cx="165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差不多不再是</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微信图片_20200420145637"/>
          <p:cNvPicPr>
            <a:picLocks noChangeAspect="1"/>
          </p:cNvPicPr>
          <p:nvPr/>
        </p:nvPicPr>
        <p:blipFill>
          <a:blip r:embed="rId2"/>
          <a:stretch>
            <a:fillRect/>
          </a:stretch>
        </p:blipFill>
        <p:spPr>
          <a:xfrm>
            <a:off x="112395" y="600075"/>
            <a:ext cx="8841105" cy="565721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微信图片_20200420145712"/>
          <p:cNvPicPr>
            <a:picLocks noChangeAspect="1"/>
          </p:cNvPicPr>
          <p:nvPr/>
        </p:nvPicPr>
        <p:blipFill>
          <a:blip r:embed="rId2"/>
          <a:stretch>
            <a:fillRect/>
          </a:stretch>
        </p:blipFill>
        <p:spPr>
          <a:xfrm>
            <a:off x="205105" y="600075"/>
            <a:ext cx="8286115" cy="565721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微信图片_20200420145744"/>
          <p:cNvPicPr>
            <a:picLocks noChangeAspect="1"/>
          </p:cNvPicPr>
          <p:nvPr/>
        </p:nvPicPr>
        <p:blipFill>
          <a:blip r:embed="rId2"/>
          <a:stretch>
            <a:fillRect/>
          </a:stretch>
        </p:blipFill>
        <p:spPr>
          <a:xfrm>
            <a:off x="-457200" y="600075"/>
            <a:ext cx="9218295" cy="56572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微信图片_20200420145814"/>
          <p:cNvPicPr>
            <a:picLocks noChangeAspect="1"/>
          </p:cNvPicPr>
          <p:nvPr/>
        </p:nvPicPr>
        <p:blipFill>
          <a:blip r:embed="rId2"/>
          <a:stretch>
            <a:fillRect/>
          </a:stretch>
        </p:blipFill>
        <p:spPr>
          <a:xfrm>
            <a:off x="-341630" y="600075"/>
            <a:ext cx="9194165" cy="565721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ChangeArrowheads="1"/>
          </p:cNvSpPr>
          <p:nvPr/>
        </p:nvSpPr>
        <p:spPr bwMode="auto">
          <a:xfrm>
            <a:off x="539552" y="836712"/>
            <a:ext cx="7453312" cy="12604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3200" dirty="0">
                <a:ea typeface="华文新魏" panose="02010800040101010101" pitchFamily="2" charset="-122"/>
              </a:rPr>
              <a:t>        辛钦大数定律为寻找随机变量的期望值提供了一条实际可行的途径</a:t>
            </a:r>
            <a:r>
              <a:rPr lang="en-US" altLang="zh-CN" sz="3200" dirty="0">
                <a:ea typeface="华文新魏" panose="02010800040101010101" pitchFamily="2" charset="-122"/>
              </a:rPr>
              <a:t>.</a:t>
            </a:r>
          </a:p>
        </p:txBody>
      </p:sp>
      <p:sp>
        <p:nvSpPr>
          <p:cNvPr id="248835" name="Rectangle 3"/>
          <p:cNvSpPr>
            <a:spLocks noChangeArrowheads="1"/>
          </p:cNvSpPr>
          <p:nvPr/>
        </p:nvSpPr>
        <p:spPr bwMode="auto">
          <a:xfrm>
            <a:off x="971550" y="2997200"/>
            <a:ext cx="7696200" cy="223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pPr>
            <a:r>
              <a:rPr lang="zh-CN" altLang="en-US" sz="3200">
                <a:ea typeface="华文新魏" panose="02010800040101010101" pitchFamily="2" charset="-122"/>
              </a:rPr>
              <a:t>         例如要估计某地区的平均亩产量，要收割某些有代表性的地块，例如</a:t>
            </a:r>
            <a:r>
              <a:rPr lang="en-US" altLang="zh-CN" sz="3200" i="1">
                <a:ea typeface="华文新魏" panose="02010800040101010101" pitchFamily="2" charset="-122"/>
              </a:rPr>
              <a:t>n </a:t>
            </a:r>
            <a:r>
              <a:rPr lang="zh-CN" altLang="en-US" sz="3200">
                <a:ea typeface="华文新魏" panose="02010800040101010101" pitchFamily="2" charset="-122"/>
              </a:rPr>
              <a:t>块</a:t>
            </a:r>
            <a:r>
              <a:rPr lang="en-US" altLang="zh-CN" sz="3200">
                <a:ea typeface="华文新魏" panose="02010800040101010101" pitchFamily="2" charset="-122"/>
              </a:rPr>
              <a:t>.   </a:t>
            </a:r>
            <a:r>
              <a:rPr lang="zh-CN" altLang="en-US" sz="3200">
                <a:ea typeface="华文新魏" panose="02010800040101010101" pitchFamily="2" charset="-122"/>
              </a:rPr>
              <a:t>计算其平均亩产量，则当</a:t>
            </a:r>
            <a:r>
              <a:rPr lang="en-US" altLang="zh-CN" sz="3200" i="1">
                <a:ea typeface="华文新魏" panose="02010800040101010101" pitchFamily="2" charset="-122"/>
              </a:rPr>
              <a:t>n</a:t>
            </a:r>
            <a:r>
              <a:rPr lang="en-US" altLang="zh-CN" sz="3200">
                <a:ea typeface="华文新魏" panose="02010800040101010101" pitchFamily="2" charset="-122"/>
              </a:rPr>
              <a:t> </a:t>
            </a:r>
            <a:r>
              <a:rPr lang="zh-CN" altLang="en-US" sz="3200">
                <a:ea typeface="华文新魏" panose="02010800040101010101" pitchFamily="2" charset="-122"/>
              </a:rPr>
              <a:t>较大时，可用它作为整个地区平均亩产量的一个估计</a:t>
            </a:r>
            <a:r>
              <a:rPr lang="en-US" altLang="zh-CN" sz="3200">
                <a:ea typeface="华文新魏" panose="02010800040101010101" pitchFamily="2"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48834"/>
                                        </p:tgtEl>
                                        <p:attrNameLst>
                                          <p:attrName>style.visibility</p:attrName>
                                        </p:attrNameLst>
                                      </p:cBhvr>
                                      <p:to>
                                        <p:strVal val="visible"/>
                                      </p:to>
                                    </p:set>
                                    <p:animEffect transition="in" filter="barn(outVertical)">
                                      <p:cBhvr>
                                        <p:cTn id="7" dur="500"/>
                                        <p:tgtEl>
                                          <p:spTgt spid="24883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488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34" grpId="0" bldLvl="0" animBg="1" autoUpdateAnimBg="0"/>
      <p:bldP spid="24883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微信图片_20200420145854"/>
          <p:cNvPicPr>
            <a:picLocks noChangeAspect="1"/>
          </p:cNvPicPr>
          <p:nvPr/>
        </p:nvPicPr>
        <p:blipFill>
          <a:blip r:embed="rId2"/>
          <a:stretch>
            <a:fillRect/>
          </a:stretch>
        </p:blipFill>
        <p:spPr>
          <a:xfrm>
            <a:off x="-179705" y="600075"/>
            <a:ext cx="8994140" cy="565721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微信图片_20200420145930"/>
          <p:cNvPicPr>
            <a:picLocks noChangeAspect="1"/>
          </p:cNvPicPr>
          <p:nvPr/>
        </p:nvPicPr>
        <p:blipFill>
          <a:blip r:embed="rId2"/>
          <a:stretch>
            <a:fillRect/>
          </a:stretch>
        </p:blipFill>
        <p:spPr>
          <a:xfrm>
            <a:off x="-457200" y="600075"/>
            <a:ext cx="10058400" cy="565721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ChangeArrowheads="1"/>
          </p:cNvSpPr>
          <p:nvPr/>
        </p:nvSpPr>
        <p:spPr bwMode="auto">
          <a:xfrm>
            <a:off x="1598613" y="1227138"/>
            <a:ext cx="69342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ea typeface="华文新魏" panose="02010800040101010101" pitchFamily="2" charset="-122"/>
              </a:rPr>
              <a:t>      下面我们举一例说明强大数定律的应用</a:t>
            </a:r>
            <a:r>
              <a:rPr lang="en-US" altLang="zh-CN" sz="3200">
                <a:ea typeface="华文新魏" panose="02010800040101010101" pitchFamily="2" charset="-122"/>
              </a:rPr>
              <a:t>.</a:t>
            </a:r>
          </a:p>
        </p:txBody>
      </p:sp>
      <p:sp>
        <p:nvSpPr>
          <p:cNvPr id="249859" name="Rectangle 3"/>
          <p:cNvSpPr>
            <a:spLocks noChangeArrowheads="1"/>
          </p:cNvSpPr>
          <p:nvPr/>
        </p:nvSpPr>
        <p:spPr bwMode="auto">
          <a:xfrm>
            <a:off x="1217613" y="2603500"/>
            <a:ext cx="5562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定积分的概率计算法</a:t>
            </a:r>
          </a:p>
        </p:txBody>
      </p:sp>
      <p:grpSp>
        <p:nvGrpSpPr>
          <p:cNvPr id="2" name="Group 4"/>
          <p:cNvGrpSpPr/>
          <p:nvPr/>
        </p:nvGrpSpPr>
        <p:grpSpPr bwMode="auto">
          <a:xfrm>
            <a:off x="2205038" y="3563938"/>
            <a:ext cx="3889375" cy="944562"/>
            <a:chOff x="1056" y="1632"/>
            <a:chExt cx="2450" cy="595"/>
          </a:xfrm>
        </p:grpSpPr>
        <p:graphicFrame>
          <p:nvGraphicFramePr>
            <p:cNvPr id="19461" name="Object 2"/>
            <p:cNvGraphicFramePr>
              <a:graphicFrameLocks noChangeAspect="1"/>
            </p:cNvGraphicFramePr>
            <p:nvPr/>
          </p:nvGraphicFramePr>
          <p:xfrm>
            <a:off x="2844" y="2092"/>
            <a:ext cx="71" cy="135"/>
          </p:xfrm>
          <a:graphic>
            <a:graphicData uri="http://schemas.openxmlformats.org/presentationml/2006/ole">
              <mc:AlternateContent xmlns:mc="http://schemas.openxmlformats.org/markup-compatibility/2006">
                <mc:Choice xmlns:v="urn:schemas-microsoft-com:vml" Requires="v">
                  <p:oleObj spid="_x0000_s19537" name="公式" r:id="rId3" imgW="114300" imgH="215900" progId="Equation.3">
                    <p:embed/>
                  </p:oleObj>
                </mc:Choice>
                <mc:Fallback>
                  <p:oleObj name="公式" r:id="rId3" imgW="114300" imgH="2159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4" y="2092"/>
                          <a:ext cx="71" cy="1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2" name="Object 3"/>
            <p:cNvGraphicFramePr>
              <a:graphicFrameLocks noChangeAspect="1"/>
            </p:cNvGraphicFramePr>
            <p:nvPr/>
          </p:nvGraphicFramePr>
          <p:xfrm>
            <a:off x="2844" y="2092"/>
            <a:ext cx="71" cy="135"/>
          </p:xfrm>
          <a:graphic>
            <a:graphicData uri="http://schemas.openxmlformats.org/presentationml/2006/ole">
              <mc:AlternateContent xmlns:mc="http://schemas.openxmlformats.org/markup-compatibility/2006">
                <mc:Choice xmlns:v="urn:schemas-microsoft-com:vml" Requires="v">
                  <p:oleObj spid="_x0000_s19538" name="公式" r:id="rId5" imgW="114300" imgH="215900" progId="Equation.3">
                    <p:embed/>
                  </p:oleObj>
                </mc:Choice>
                <mc:Fallback>
                  <p:oleObj name="公式" r:id="rId5" imgW="114300" imgH="2159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4" y="2092"/>
                          <a:ext cx="71" cy="1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3" name="Rectangle 7"/>
            <p:cNvSpPr>
              <a:spLocks noChangeArrowheads="1"/>
            </p:cNvSpPr>
            <p:nvPr/>
          </p:nvSpPr>
          <p:spPr bwMode="auto">
            <a:xfrm>
              <a:off x="1056" y="1724"/>
              <a:ext cx="37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求</a:t>
              </a:r>
            </a:p>
          </p:txBody>
        </p:sp>
        <p:sp>
          <p:nvSpPr>
            <p:cNvPr id="19464" name="Rectangle 8"/>
            <p:cNvSpPr>
              <a:spLocks noChangeArrowheads="1"/>
            </p:cNvSpPr>
            <p:nvPr/>
          </p:nvSpPr>
          <p:spPr bwMode="auto">
            <a:xfrm>
              <a:off x="2876" y="1724"/>
              <a:ext cx="63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的值</a:t>
              </a:r>
            </a:p>
          </p:txBody>
        </p:sp>
        <p:graphicFrame>
          <p:nvGraphicFramePr>
            <p:cNvPr id="19465" name="Object 4"/>
            <p:cNvGraphicFramePr>
              <a:graphicFrameLocks noChangeAspect="1"/>
            </p:cNvGraphicFramePr>
            <p:nvPr/>
          </p:nvGraphicFramePr>
          <p:xfrm>
            <a:off x="1435" y="1632"/>
            <a:ext cx="1449" cy="571"/>
          </p:xfrm>
          <a:graphic>
            <a:graphicData uri="http://schemas.openxmlformats.org/presentationml/2006/ole">
              <mc:AlternateContent xmlns:mc="http://schemas.openxmlformats.org/markup-compatibility/2006">
                <mc:Choice xmlns:v="urn:schemas-microsoft-com:vml" Requires="v">
                  <p:oleObj spid="_x0000_s19539" name="公式" r:id="rId6" imgW="800100" imgH="298450" progId="Equation.3">
                    <p:embed/>
                  </p:oleObj>
                </mc:Choice>
                <mc:Fallback>
                  <p:oleObj name="公式" r:id="rId6" imgW="800100" imgH="29845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35" y="1632"/>
                          <a:ext cx="1449" cy="5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49858"/>
                                        </p:tgtEl>
                                        <p:attrNameLst>
                                          <p:attrName>style.visibility</p:attrName>
                                        </p:attrNameLst>
                                      </p:cBhvr>
                                      <p:to>
                                        <p:strVal val="visible"/>
                                      </p:to>
                                    </p:set>
                                    <p:animEffect transition="in" filter="barn(outVertical)">
                                      <p:cBhvr>
                                        <p:cTn id="7" dur="500"/>
                                        <p:tgtEl>
                                          <p:spTgt spid="24985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249859"/>
                                        </p:tgtEl>
                                        <p:attrNameLst>
                                          <p:attrName>style.visibility</p:attrName>
                                        </p:attrNameLst>
                                      </p:cBhvr>
                                      <p:to>
                                        <p:strVal val="visible"/>
                                      </p:to>
                                    </p:set>
                                    <p:animEffect transition="in" filter="wipe(right)">
                                      <p:cBhvr>
                                        <p:cTn id="12" dur="500"/>
                                        <p:tgtEl>
                                          <p:spTgt spid="24985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58" grpId="0" autoUpdateAnimBg="0"/>
      <p:bldP spid="249859"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微信图片_20200420151827"/>
          <p:cNvPicPr>
            <a:picLocks noChangeAspect="1"/>
          </p:cNvPicPr>
          <p:nvPr/>
        </p:nvPicPr>
        <p:blipFill>
          <a:blip r:embed="rId2"/>
          <a:stretch>
            <a:fillRect/>
          </a:stretch>
        </p:blipFill>
        <p:spPr>
          <a:xfrm>
            <a:off x="-965835" y="368935"/>
            <a:ext cx="10667365" cy="605091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2"/>
          <p:cNvSpPr>
            <a:spLocks noChangeArrowheads="1"/>
          </p:cNvSpPr>
          <p:nvPr/>
        </p:nvSpPr>
        <p:spPr bwMode="auto">
          <a:xfrm>
            <a:off x="1128713" y="1189038"/>
            <a:ext cx="7678737"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3200">
                <a:ea typeface="华文新魏" panose="02010800040101010101" pitchFamily="2" charset="-122"/>
              </a:rPr>
              <a:t>        大数定律以严格的数学形式表达了随机现象最根本的性质之一：</a:t>
            </a:r>
          </a:p>
        </p:txBody>
      </p:sp>
      <p:sp>
        <p:nvSpPr>
          <p:cNvPr id="252931" name="Rectangle 3"/>
          <p:cNvSpPr>
            <a:spLocks noChangeArrowheads="1"/>
          </p:cNvSpPr>
          <p:nvPr/>
        </p:nvSpPr>
        <p:spPr bwMode="auto">
          <a:xfrm>
            <a:off x="1644650" y="3535363"/>
            <a:ext cx="63817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它是随机现象统计规律的具体表现</a:t>
            </a:r>
            <a:r>
              <a:rPr lang="en-US" altLang="zh-CN" sz="3200">
                <a:ea typeface="华文新魏" panose="02010800040101010101" pitchFamily="2" charset="-122"/>
              </a:rPr>
              <a:t>.</a:t>
            </a:r>
          </a:p>
        </p:txBody>
      </p:sp>
      <p:sp>
        <p:nvSpPr>
          <p:cNvPr id="252932" name="Rectangle 4"/>
          <p:cNvSpPr>
            <a:spLocks noChangeArrowheads="1"/>
          </p:cNvSpPr>
          <p:nvPr/>
        </p:nvSpPr>
        <p:spPr bwMode="auto">
          <a:xfrm>
            <a:off x="1276350" y="4297363"/>
            <a:ext cx="76009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大数定律在理论和实际中都有广泛的应用</a:t>
            </a:r>
            <a:r>
              <a:rPr lang="en-US" altLang="zh-CN" sz="3200">
                <a:ea typeface="华文新魏" panose="02010800040101010101" pitchFamily="2" charset="-122"/>
              </a:rPr>
              <a:t>.</a:t>
            </a:r>
          </a:p>
        </p:txBody>
      </p:sp>
      <p:sp>
        <p:nvSpPr>
          <p:cNvPr id="252933" name="Rectangle 5"/>
          <p:cNvSpPr>
            <a:spLocks noChangeArrowheads="1"/>
          </p:cNvSpPr>
          <p:nvPr/>
        </p:nvSpPr>
        <p:spPr bwMode="auto">
          <a:xfrm>
            <a:off x="3024188" y="2667000"/>
            <a:ext cx="3435350" cy="57943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solidFill>
                  <a:srgbClr val="990000"/>
                </a:solidFill>
                <a:ea typeface="华文新魏" panose="02010800040101010101" pitchFamily="2" charset="-122"/>
              </a:rPr>
              <a:t>平均结果的稳定性</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2930"/>
                                        </p:tgtEl>
                                        <p:attrNameLst>
                                          <p:attrName>style.visibility</p:attrName>
                                        </p:attrNameLst>
                                      </p:cBhvr>
                                      <p:to>
                                        <p:strVal val="visible"/>
                                      </p:to>
                                    </p:set>
                                    <p:animEffect transition="in" filter="wipe(left)">
                                      <p:cBhvr>
                                        <p:cTn id="7" dur="500"/>
                                        <p:tgtEl>
                                          <p:spTgt spid="252930"/>
                                        </p:tgtEl>
                                      </p:cBhvr>
                                    </p:animEffect>
                                  </p:childTnLst>
                                </p:cTn>
                              </p:par>
                            </p:childTnLst>
                          </p:cTn>
                        </p:par>
                        <p:par>
                          <p:cTn id="8" fill="hold">
                            <p:stCondLst>
                              <p:cond delay="500"/>
                            </p:stCondLst>
                            <p:childTnLst>
                              <p:par>
                                <p:cTn id="9" presetID="4" presetClass="entr" presetSubtype="32" fill="hold" grpId="0" nodeType="afterEffect">
                                  <p:stCondLst>
                                    <p:cond delay="0"/>
                                  </p:stCondLst>
                                  <p:childTnLst>
                                    <p:set>
                                      <p:cBhvr>
                                        <p:cTn id="10" dur="1" fill="hold">
                                          <p:stCondLst>
                                            <p:cond delay="0"/>
                                          </p:stCondLst>
                                        </p:cTn>
                                        <p:tgtEl>
                                          <p:spTgt spid="252933"/>
                                        </p:tgtEl>
                                        <p:attrNameLst>
                                          <p:attrName>style.visibility</p:attrName>
                                        </p:attrNameLst>
                                      </p:cBhvr>
                                      <p:to>
                                        <p:strVal val="visible"/>
                                      </p:to>
                                    </p:set>
                                    <p:animEffect transition="in" filter="box(out)">
                                      <p:cBhvr>
                                        <p:cTn id="11" dur="500"/>
                                        <p:tgtEl>
                                          <p:spTgt spid="25293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2" fill="hold" grpId="0" nodeType="clickEffect">
                                  <p:stCondLst>
                                    <p:cond delay="0"/>
                                  </p:stCondLst>
                                  <p:childTnLst>
                                    <p:set>
                                      <p:cBhvr>
                                        <p:cTn id="15" dur="1" fill="hold">
                                          <p:stCondLst>
                                            <p:cond delay="0"/>
                                          </p:stCondLst>
                                        </p:cTn>
                                        <p:tgtEl>
                                          <p:spTgt spid="252931"/>
                                        </p:tgtEl>
                                        <p:attrNameLst>
                                          <p:attrName>style.visibility</p:attrName>
                                        </p:attrNameLst>
                                      </p:cBhvr>
                                      <p:to>
                                        <p:strVal val="visible"/>
                                      </p:to>
                                    </p:set>
                                    <p:animEffect transition="in" filter="wipe(right)">
                                      <p:cBhvr>
                                        <p:cTn id="16" dur="500"/>
                                        <p:tgtEl>
                                          <p:spTgt spid="252931"/>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37" fill="hold" grpId="0" nodeType="clickEffect">
                                  <p:stCondLst>
                                    <p:cond delay="0"/>
                                  </p:stCondLst>
                                  <p:childTnLst>
                                    <p:set>
                                      <p:cBhvr>
                                        <p:cTn id="20" dur="1" fill="hold">
                                          <p:stCondLst>
                                            <p:cond delay="0"/>
                                          </p:stCondLst>
                                        </p:cTn>
                                        <p:tgtEl>
                                          <p:spTgt spid="252932"/>
                                        </p:tgtEl>
                                        <p:attrNameLst>
                                          <p:attrName>style.visibility</p:attrName>
                                        </p:attrNameLst>
                                      </p:cBhvr>
                                      <p:to>
                                        <p:strVal val="visible"/>
                                      </p:to>
                                    </p:set>
                                    <p:animEffect transition="in" filter="barn(outVertical)">
                                      <p:cBhvr>
                                        <p:cTn id="21" dur="500"/>
                                        <p:tgtEl>
                                          <p:spTgt spid="2529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30" grpId="0" autoUpdateAnimBg="0"/>
      <p:bldP spid="252931" grpId="0" autoUpdateAnimBg="0"/>
      <p:bldP spid="252932" grpId="0" autoUpdateAnimBg="0"/>
      <p:bldP spid="252933" grpId="0" bldLvl="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Text Box 2"/>
          <p:cNvSpPr txBox="1">
            <a:spLocks noChangeArrowheads="1"/>
          </p:cNvSpPr>
          <p:nvPr/>
        </p:nvSpPr>
        <p:spPr bwMode="auto">
          <a:xfrm>
            <a:off x="1116013" y="476250"/>
            <a:ext cx="5903912"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3200">
                <a:ea typeface="华文新魏" panose="02010800040101010101" pitchFamily="2" charset="-122"/>
              </a:rPr>
              <a:t>　　</a:t>
            </a:r>
            <a:r>
              <a:rPr lang="zh-CN" altLang="en-US" sz="3200">
                <a:latin typeface="华文新魏" panose="02010800040101010101" pitchFamily="2" charset="-122"/>
                <a:ea typeface="华文新魏" panose="02010800040101010101" pitchFamily="2" charset="-122"/>
              </a:rPr>
              <a:t>自从高斯指出测量误差服从正态分布之后，人们发现，正态分布在自然界中极为常见</a:t>
            </a:r>
            <a:r>
              <a:rPr lang="en-US" altLang="zh-CN" sz="3200">
                <a:latin typeface="华文新魏" panose="02010800040101010101" pitchFamily="2" charset="-122"/>
                <a:ea typeface="华文新魏" panose="02010800040101010101" pitchFamily="2" charset="-122"/>
              </a:rPr>
              <a:t>.</a:t>
            </a:r>
          </a:p>
        </p:txBody>
      </p:sp>
      <p:sp>
        <p:nvSpPr>
          <p:cNvPr id="254979" name="Rectangle 3"/>
          <p:cNvSpPr>
            <a:spLocks noChangeArrowheads="1"/>
          </p:cNvSpPr>
          <p:nvPr/>
        </p:nvSpPr>
        <p:spPr bwMode="auto">
          <a:xfrm>
            <a:off x="900113" y="2819400"/>
            <a:ext cx="7772400"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3200">
                <a:latin typeface="华文新魏" panose="02010800040101010101" pitchFamily="2" charset="-122"/>
                <a:ea typeface="华文新魏" panose="02010800040101010101" pitchFamily="2" charset="-122"/>
              </a:rPr>
              <a:t>如果一个量是由大量相互独立的随机因素的影响所造成，而每一个别因素在总影响中所起的作用不大</a:t>
            </a:r>
            <a:r>
              <a:rPr lang="en-US" altLang="zh-CN" sz="3200">
                <a:latin typeface="华文新魏" panose="02010800040101010101" pitchFamily="2" charset="-122"/>
                <a:ea typeface="华文新魏" panose="02010800040101010101" pitchFamily="2" charset="-122"/>
              </a:rPr>
              <a:t>.   </a:t>
            </a:r>
            <a:r>
              <a:rPr lang="zh-CN" altLang="en-US" sz="3200">
                <a:latin typeface="华文新魏" panose="02010800040101010101" pitchFamily="2" charset="-122"/>
                <a:ea typeface="华文新魏" panose="02010800040101010101" pitchFamily="2" charset="-122"/>
              </a:rPr>
              <a:t>则这种量一般都服从或近似服从正态分布</a:t>
            </a:r>
            <a:r>
              <a:rPr lang="en-US" altLang="zh-CN" sz="3200">
                <a:latin typeface="华文新魏" panose="02010800040101010101" pitchFamily="2" charset="-122"/>
                <a:ea typeface="华文新魏" panose="02010800040101010101" pitchFamily="2" charset="-122"/>
              </a:rPr>
              <a:t>.</a:t>
            </a:r>
          </a:p>
        </p:txBody>
      </p:sp>
      <p:pic>
        <p:nvPicPr>
          <p:cNvPr id="253956" name="Picture 4" descr="高斯"/>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8850" y="476250"/>
            <a:ext cx="1436688"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54978"/>
                                        </p:tgtEl>
                                        <p:attrNameLst>
                                          <p:attrName>style.visibility</p:attrName>
                                        </p:attrNameLst>
                                      </p:cBhvr>
                                      <p:to>
                                        <p:strVal val="visible"/>
                                      </p:to>
                                    </p:set>
                                    <p:animEffect transition="in" filter="barn(outVertical)">
                                      <p:cBhvr>
                                        <p:cTn id="7" dur="500"/>
                                        <p:tgtEl>
                                          <p:spTgt spid="254978"/>
                                        </p:tgtEl>
                                      </p:cBhvr>
                                    </p:animEffect>
                                  </p:childTnLst>
                                </p:cTn>
                              </p:par>
                            </p:childTnLst>
                          </p:cTn>
                        </p:par>
                        <p:par>
                          <p:cTn id="8" fill="hold">
                            <p:stCondLst>
                              <p:cond delay="500"/>
                            </p:stCondLst>
                            <p:childTnLst>
                              <p:par>
                                <p:cTn id="9" presetID="2" presetClass="entr" presetSubtype="2" fill="hold" nodeType="afterEffect">
                                  <p:stCondLst>
                                    <p:cond delay="0"/>
                                  </p:stCondLst>
                                  <p:childTnLst>
                                    <p:set>
                                      <p:cBhvr>
                                        <p:cTn id="10" dur="1" fill="hold">
                                          <p:stCondLst>
                                            <p:cond delay="0"/>
                                          </p:stCondLst>
                                        </p:cTn>
                                        <p:tgtEl>
                                          <p:spTgt spid="253956"/>
                                        </p:tgtEl>
                                        <p:attrNameLst>
                                          <p:attrName>style.visibility</p:attrName>
                                        </p:attrNameLst>
                                      </p:cBhvr>
                                      <p:to>
                                        <p:strVal val="visible"/>
                                      </p:to>
                                    </p:set>
                                    <p:anim calcmode="lin" valueType="num">
                                      <p:cBhvr additive="base">
                                        <p:cTn id="11" dur="500" fill="hold"/>
                                        <p:tgtEl>
                                          <p:spTgt spid="253956"/>
                                        </p:tgtEl>
                                        <p:attrNameLst>
                                          <p:attrName>ppt_x</p:attrName>
                                        </p:attrNameLst>
                                      </p:cBhvr>
                                      <p:tavLst>
                                        <p:tav tm="0">
                                          <p:val>
                                            <p:strVal val="1+#ppt_w/2"/>
                                          </p:val>
                                        </p:tav>
                                        <p:tav tm="100000">
                                          <p:val>
                                            <p:strVal val="#ppt_x"/>
                                          </p:val>
                                        </p:tav>
                                      </p:tavLst>
                                    </p:anim>
                                    <p:anim calcmode="lin" valueType="num">
                                      <p:cBhvr additive="base">
                                        <p:cTn id="12" dur="500" fill="hold"/>
                                        <p:tgtEl>
                                          <p:spTgt spid="253956"/>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49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78" grpId="0" autoUpdateAnimBg="0"/>
      <p:bldP spid="25497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Text Box 2"/>
          <p:cNvSpPr txBox="1">
            <a:spLocks noChangeArrowheads="1"/>
          </p:cNvSpPr>
          <p:nvPr/>
        </p:nvSpPr>
        <p:spPr bwMode="auto">
          <a:xfrm>
            <a:off x="684213" y="835025"/>
            <a:ext cx="8001000"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3200">
                <a:ea typeface="华文新魏" panose="02010800040101010101" pitchFamily="2" charset="-122"/>
              </a:rPr>
              <a:t>　　人们开始研究独立随机变量之和所特有的规律性问题</a:t>
            </a:r>
            <a:r>
              <a:rPr lang="en-US" altLang="zh-CN" sz="3200">
                <a:ea typeface="华文新魏" panose="02010800040101010101" pitchFamily="2" charset="-122"/>
              </a:rPr>
              <a:t>.</a:t>
            </a:r>
            <a:endParaRPr lang="en-US" altLang="zh-CN">
              <a:ea typeface="华文新魏" panose="02010800040101010101" pitchFamily="2" charset="-122"/>
            </a:endParaRPr>
          </a:p>
        </p:txBody>
      </p:sp>
      <p:sp>
        <p:nvSpPr>
          <p:cNvPr id="254979" name="Rectangle 3"/>
          <p:cNvSpPr>
            <a:spLocks noChangeArrowheads="1"/>
          </p:cNvSpPr>
          <p:nvPr/>
        </p:nvSpPr>
        <p:spPr bwMode="auto">
          <a:xfrm>
            <a:off x="836613" y="2552700"/>
            <a:ext cx="77724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a:ea typeface="华文新魏" panose="02010800040101010101" pitchFamily="2" charset="-122"/>
              </a:rPr>
              <a:t>       即　当</a:t>
            </a:r>
            <a:r>
              <a:rPr lang="en-US" altLang="zh-CN" sz="3200" i="1">
                <a:ea typeface="华文新魏" panose="02010800040101010101" pitchFamily="2" charset="-122"/>
              </a:rPr>
              <a:t>n</a:t>
            </a:r>
            <a:r>
              <a:rPr lang="zh-CN" altLang="en-US" sz="3200">
                <a:ea typeface="华文新魏" panose="02010800040101010101" pitchFamily="2" charset="-122"/>
              </a:rPr>
              <a:t>无限增大时，这个和的极限分布是什么呢？</a:t>
            </a:r>
          </a:p>
        </p:txBody>
      </p:sp>
      <p:sp>
        <p:nvSpPr>
          <p:cNvPr id="254980" name="Rectangle 4"/>
          <p:cNvSpPr>
            <a:spLocks noChangeArrowheads="1"/>
          </p:cNvSpPr>
          <p:nvPr/>
        </p:nvSpPr>
        <p:spPr bwMode="auto">
          <a:xfrm>
            <a:off x="763588" y="3716338"/>
            <a:ext cx="774065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a:ea typeface="华文新魏" panose="02010800040101010101" pitchFamily="2" charset="-122"/>
              </a:rPr>
              <a:t>　　和　在什么条件下极限分布会是正态分布的呢？</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54978"/>
                                        </p:tgtEl>
                                        <p:attrNameLst>
                                          <p:attrName>style.visibility</p:attrName>
                                        </p:attrNameLst>
                                      </p:cBhvr>
                                      <p:to>
                                        <p:strVal val="visible"/>
                                      </p:to>
                                    </p:set>
                                    <p:animEffect transition="in" filter="barn(outVertical)">
                                      <p:cBhvr>
                                        <p:cTn id="7" dur="500"/>
                                        <p:tgtEl>
                                          <p:spTgt spid="25497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4979"/>
                                        </p:tgtEl>
                                        <p:attrNameLst>
                                          <p:attrName>style.visibility</p:attrName>
                                        </p:attrNameLst>
                                      </p:cBhvr>
                                      <p:to>
                                        <p:strVal val="visible"/>
                                      </p:to>
                                    </p:set>
                                    <p:animEffect transition="in" filter="wipe(left)">
                                      <p:cBhvr>
                                        <p:cTn id="12" dur="500"/>
                                        <p:tgtEl>
                                          <p:spTgt spid="25497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4980"/>
                                        </p:tgtEl>
                                        <p:attrNameLst>
                                          <p:attrName>style.visibility</p:attrName>
                                        </p:attrNameLst>
                                      </p:cBhvr>
                                      <p:to>
                                        <p:strVal val="visible"/>
                                      </p:to>
                                    </p:set>
                                    <p:animEffect transition="in" filter="wipe(left)">
                                      <p:cBhvr>
                                        <p:cTn id="17" dur="500"/>
                                        <p:tgtEl>
                                          <p:spTgt spid="2549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78" grpId="0" autoUpdateAnimBg="0"/>
      <p:bldP spid="254979" grpId="0" autoUpdateAnimBg="0"/>
      <p:bldP spid="254980"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Text Box 2"/>
          <p:cNvSpPr txBox="1">
            <a:spLocks noChangeArrowheads="1"/>
          </p:cNvSpPr>
          <p:nvPr/>
        </p:nvSpPr>
        <p:spPr bwMode="auto">
          <a:xfrm>
            <a:off x="684213" y="381000"/>
            <a:ext cx="815340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3200">
                <a:ea typeface="华文新魏" panose="02010800040101010101" pitchFamily="2" charset="-122"/>
              </a:rPr>
              <a:t>        由于无穷个随机变量之和可能趋于∞，故我们不研究</a:t>
            </a:r>
            <a:r>
              <a:rPr lang="en-US" altLang="zh-CN" sz="3200" i="1">
                <a:ea typeface="华文新魏" panose="02010800040101010101" pitchFamily="2" charset="-122"/>
              </a:rPr>
              <a:t>n</a:t>
            </a:r>
            <a:r>
              <a:rPr lang="zh-CN" altLang="en-US" sz="3200">
                <a:ea typeface="华文新魏" panose="02010800040101010101" pitchFamily="2" charset="-122"/>
              </a:rPr>
              <a:t>个随机变量之和本身而考虑它的标准化的随机变量</a:t>
            </a:r>
            <a:endParaRPr lang="zh-CN" altLang="en-US">
              <a:ea typeface="华文新魏" panose="02010800040101010101" pitchFamily="2" charset="-122"/>
            </a:endParaRPr>
          </a:p>
        </p:txBody>
      </p:sp>
      <p:graphicFrame>
        <p:nvGraphicFramePr>
          <p:cNvPr id="256003" name="Object 2"/>
          <p:cNvGraphicFramePr>
            <a:graphicFrameLocks noChangeAspect="1"/>
          </p:cNvGraphicFramePr>
          <p:nvPr/>
        </p:nvGraphicFramePr>
        <p:xfrm>
          <a:off x="2800350" y="2544763"/>
          <a:ext cx="3751263" cy="2176462"/>
        </p:xfrm>
        <a:graphic>
          <a:graphicData uri="http://schemas.openxmlformats.org/presentationml/2006/ole">
            <mc:AlternateContent xmlns:mc="http://schemas.openxmlformats.org/markup-compatibility/2006">
              <mc:Choice xmlns:v="urn:schemas-microsoft-com:vml" Requires="v">
                <p:oleObj spid="_x0000_s27678" name="Equation" r:id="rId3" imgW="1476375" imgH="847090" progId="Equation.DSMT4">
                  <p:embed/>
                </p:oleObj>
              </mc:Choice>
              <mc:Fallback>
                <p:oleObj name="Equation" r:id="rId3" imgW="1476375" imgH="84709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0350" y="2544763"/>
                        <a:ext cx="3751263" cy="2176462"/>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04" name="Text Box 4"/>
          <p:cNvSpPr txBox="1">
            <a:spLocks noChangeArrowheads="1"/>
          </p:cNvSpPr>
          <p:nvPr/>
        </p:nvSpPr>
        <p:spPr bwMode="auto">
          <a:xfrm>
            <a:off x="1074738" y="4830763"/>
            <a:ext cx="35369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200">
                <a:ea typeface="华文新魏" panose="02010800040101010101" pitchFamily="2" charset="-122"/>
              </a:rPr>
              <a:t>的分布函数的极限</a:t>
            </a:r>
            <a:r>
              <a:rPr lang="en-US" altLang="zh-CN" sz="3200">
                <a:ea typeface="华文新魏" panose="02010800040101010101" pitchFamily="2"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256002"/>
                                        </p:tgtEl>
                                        <p:attrNameLst>
                                          <p:attrName>style.visibility</p:attrName>
                                        </p:attrNameLst>
                                      </p:cBhvr>
                                      <p:to>
                                        <p:strVal val="visible"/>
                                      </p:to>
                                    </p:set>
                                    <p:animEffect transition="in" filter="blinds(horizontal)">
                                      <p:cBhvr>
                                        <p:cTn id="7" dur="500"/>
                                        <p:tgtEl>
                                          <p:spTgt spid="25600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56003"/>
                                        </p:tgtEl>
                                        <p:attrNameLst>
                                          <p:attrName>style.visibility</p:attrName>
                                        </p:attrNameLst>
                                      </p:cBhvr>
                                      <p:to>
                                        <p:strVal val="visible"/>
                                      </p:to>
                                    </p:set>
                                    <p:anim calcmode="lin" valueType="num">
                                      <p:cBhvr additive="base">
                                        <p:cTn id="12" dur="500" fill="hold"/>
                                        <p:tgtEl>
                                          <p:spTgt spid="256003"/>
                                        </p:tgtEl>
                                        <p:attrNameLst>
                                          <p:attrName>ppt_x</p:attrName>
                                        </p:attrNameLst>
                                      </p:cBhvr>
                                      <p:tavLst>
                                        <p:tav tm="0">
                                          <p:val>
                                            <p:strVal val="#ppt_x"/>
                                          </p:val>
                                        </p:tav>
                                        <p:tav tm="100000">
                                          <p:val>
                                            <p:strVal val="#ppt_x"/>
                                          </p:val>
                                        </p:tav>
                                      </p:tavLst>
                                    </p:anim>
                                    <p:anim calcmode="lin" valueType="num">
                                      <p:cBhvr additive="base">
                                        <p:cTn id="13" dur="500" fill="hold"/>
                                        <p:tgtEl>
                                          <p:spTgt spid="25600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499"/>
                                          </p:stCondLst>
                                        </p:cTn>
                                        <p:tgtEl>
                                          <p:spTgt spid="2560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02" grpId="0" autoUpdateAnimBg="0"/>
      <p:bldP spid="256004"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74" name="Object 2"/>
          <p:cNvGraphicFramePr>
            <a:graphicFrameLocks noChangeAspect="1"/>
          </p:cNvGraphicFramePr>
          <p:nvPr/>
        </p:nvGraphicFramePr>
        <p:xfrm>
          <a:off x="1774825" y="639763"/>
          <a:ext cx="3517900" cy="2039937"/>
        </p:xfrm>
        <a:graphic>
          <a:graphicData uri="http://schemas.openxmlformats.org/presentationml/2006/ole">
            <mc:AlternateContent xmlns:mc="http://schemas.openxmlformats.org/markup-compatibility/2006">
              <mc:Choice xmlns:v="urn:schemas-microsoft-com:vml" Requires="v">
                <p:oleObj spid="_x0000_s28707" name="公式" r:id="rId3" imgW="1476375" imgH="847090" progId="Equation.3">
                  <p:embed/>
                </p:oleObj>
              </mc:Choice>
              <mc:Fallback>
                <p:oleObj name="公式" r:id="rId3" imgW="1476375" imgH="84709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4825" y="639763"/>
                        <a:ext cx="3517900" cy="203993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75" name="Text Box 3"/>
          <p:cNvSpPr txBox="1">
            <a:spLocks noChangeArrowheads="1"/>
          </p:cNvSpPr>
          <p:nvPr/>
        </p:nvSpPr>
        <p:spPr bwMode="auto">
          <a:xfrm>
            <a:off x="5434013" y="1308100"/>
            <a:ext cx="35369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200">
                <a:ea typeface="华文新魏" panose="02010800040101010101" pitchFamily="2" charset="-122"/>
              </a:rPr>
              <a:t>的分布函数的极限</a:t>
            </a:r>
            <a:r>
              <a:rPr lang="en-US" altLang="zh-CN" sz="3200">
                <a:ea typeface="华文新魏" panose="02010800040101010101" pitchFamily="2" charset="-122"/>
              </a:rPr>
              <a:t>.</a:t>
            </a:r>
          </a:p>
        </p:txBody>
      </p:sp>
      <p:sp>
        <p:nvSpPr>
          <p:cNvPr id="257028" name="Text Box 4"/>
          <p:cNvSpPr txBox="1">
            <a:spLocks noChangeArrowheads="1"/>
          </p:cNvSpPr>
          <p:nvPr/>
        </p:nvSpPr>
        <p:spPr bwMode="auto">
          <a:xfrm>
            <a:off x="871538" y="2895600"/>
            <a:ext cx="7826375"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3200">
                <a:ea typeface="华文新魏" panose="02010800040101010101" pitchFamily="2" charset="-122"/>
              </a:rPr>
              <a:t>        可以证明，满足一定的条件，上述极限分布是标准正态分布</a:t>
            </a:r>
            <a:r>
              <a:rPr lang="en-US" altLang="zh-CN" sz="3200">
                <a:ea typeface="华文新魏" panose="02010800040101010101" pitchFamily="2" charset="-122"/>
              </a:rPr>
              <a:t>.   </a:t>
            </a:r>
          </a:p>
        </p:txBody>
      </p:sp>
      <p:sp>
        <p:nvSpPr>
          <p:cNvPr id="28677" name="Rectangle 5"/>
          <p:cNvSpPr>
            <a:spLocks noChangeArrowheads="1"/>
          </p:cNvSpPr>
          <p:nvPr/>
        </p:nvSpPr>
        <p:spPr bwMode="auto">
          <a:xfrm>
            <a:off x="755650" y="1262063"/>
            <a:ext cx="9969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考虑</a:t>
            </a:r>
          </a:p>
        </p:txBody>
      </p:sp>
      <p:sp>
        <p:nvSpPr>
          <p:cNvPr id="257030" name="Rectangle 6"/>
          <p:cNvSpPr>
            <a:spLocks noChangeArrowheads="1"/>
          </p:cNvSpPr>
          <p:nvPr/>
        </p:nvSpPr>
        <p:spPr bwMode="auto">
          <a:xfrm>
            <a:off x="2981325" y="4602163"/>
            <a:ext cx="2622550" cy="57943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中心极限定理</a:t>
            </a:r>
          </a:p>
        </p:txBody>
      </p:sp>
      <p:grpSp>
        <p:nvGrpSpPr>
          <p:cNvPr id="2" name="Group 7"/>
          <p:cNvGrpSpPr/>
          <p:nvPr/>
        </p:nvGrpSpPr>
        <p:grpSpPr bwMode="auto">
          <a:xfrm>
            <a:off x="923925" y="3429000"/>
            <a:ext cx="7448550" cy="1371600"/>
            <a:chOff x="431" y="2112"/>
            <a:chExt cx="4692" cy="864"/>
          </a:xfrm>
        </p:grpSpPr>
        <p:sp>
          <p:nvSpPr>
            <p:cNvPr id="28680" name="Rectangle 8"/>
            <p:cNvSpPr>
              <a:spLocks noChangeArrowheads="1"/>
            </p:cNvSpPr>
            <p:nvPr/>
          </p:nvSpPr>
          <p:spPr bwMode="auto">
            <a:xfrm>
              <a:off x="3215" y="2112"/>
              <a:ext cx="1908"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120000"/>
                </a:lnSpc>
              </a:pPr>
              <a:r>
                <a:rPr lang="zh-CN" altLang="en-US" sz="3200">
                  <a:ea typeface="华文新魏" panose="02010800040101010101" pitchFamily="2" charset="-122"/>
                </a:rPr>
                <a:t>这就是下面要介</a:t>
              </a:r>
            </a:p>
          </p:txBody>
        </p:sp>
        <p:sp>
          <p:nvSpPr>
            <p:cNvPr id="28681" name="Rectangle 9"/>
            <p:cNvSpPr>
              <a:spLocks noChangeArrowheads="1"/>
            </p:cNvSpPr>
            <p:nvPr/>
          </p:nvSpPr>
          <p:spPr bwMode="auto">
            <a:xfrm>
              <a:off x="431" y="2611"/>
              <a:ext cx="63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绍的</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57028"/>
                                        </p:tgtEl>
                                        <p:attrNameLst>
                                          <p:attrName>style.visibility</p:attrName>
                                        </p:attrNameLst>
                                      </p:cBhvr>
                                      <p:to>
                                        <p:strVal val="visible"/>
                                      </p:to>
                                    </p:set>
                                    <p:animEffect transition="in" filter="barn(outVertical)">
                                      <p:cBhvr>
                                        <p:cTn id="7" dur="500"/>
                                        <p:tgtEl>
                                          <p:spTgt spid="25702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2"/>
                                        </p:tgtEl>
                                        <p:attrNameLst>
                                          <p:attrName>style.visibility</p:attrName>
                                        </p:attrNameLst>
                                      </p:cBhvr>
                                      <p:to>
                                        <p:strVal val="visible"/>
                                      </p:to>
                                    </p:set>
                                  </p:childTnLst>
                                </p:cTn>
                              </p:par>
                            </p:childTnLst>
                          </p:cTn>
                        </p:par>
                        <p:par>
                          <p:cTn id="12" fill="hold">
                            <p:stCondLst>
                              <p:cond delay="500"/>
                            </p:stCondLst>
                            <p:childTnLst>
                              <p:par>
                                <p:cTn id="13" presetID="23" presetClass="entr" presetSubtype="16" fill="hold" grpId="0" nodeType="afterEffect">
                                  <p:stCondLst>
                                    <p:cond delay="0"/>
                                  </p:stCondLst>
                                  <p:childTnLst>
                                    <p:set>
                                      <p:cBhvr>
                                        <p:cTn id="14" dur="1" fill="hold">
                                          <p:stCondLst>
                                            <p:cond delay="0"/>
                                          </p:stCondLst>
                                        </p:cTn>
                                        <p:tgtEl>
                                          <p:spTgt spid="257030"/>
                                        </p:tgtEl>
                                        <p:attrNameLst>
                                          <p:attrName>style.visibility</p:attrName>
                                        </p:attrNameLst>
                                      </p:cBhvr>
                                      <p:to>
                                        <p:strVal val="visible"/>
                                      </p:to>
                                    </p:set>
                                    <p:anim calcmode="lin" valueType="num">
                                      <p:cBhvr>
                                        <p:cTn id="15" dur="500" fill="hold"/>
                                        <p:tgtEl>
                                          <p:spTgt spid="257030"/>
                                        </p:tgtEl>
                                        <p:attrNameLst>
                                          <p:attrName>ppt_w</p:attrName>
                                        </p:attrNameLst>
                                      </p:cBhvr>
                                      <p:tavLst>
                                        <p:tav tm="0">
                                          <p:val>
                                            <p:fltVal val="0"/>
                                          </p:val>
                                        </p:tav>
                                        <p:tav tm="100000">
                                          <p:val>
                                            <p:strVal val="#ppt_w"/>
                                          </p:val>
                                        </p:tav>
                                      </p:tavLst>
                                    </p:anim>
                                    <p:anim calcmode="lin" valueType="num">
                                      <p:cBhvr>
                                        <p:cTn id="16" dur="500" fill="hold"/>
                                        <p:tgtEl>
                                          <p:spTgt spid="25703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028" grpId="0" autoUpdateAnimBg="0"/>
      <p:bldP spid="257030" grpId="0" bldLvl="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698" name="Object 2"/>
          <p:cNvGraphicFramePr>
            <a:graphicFrameLocks noChangeAspect="1"/>
          </p:cNvGraphicFramePr>
          <p:nvPr/>
        </p:nvGraphicFramePr>
        <p:xfrm>
          <a:off x="4873625" y="3282950"/>
          <a:ext cx="112713" cy="214313"/>
        </p:xfrm>
        <a:graphic>
          <a:graphicData uri="http://schemas.openxmlformats.org/presentationml/2006/ole">
            <mc:AlternateContent xmlns:mc="http://schemas.openxmlformats.org/markup-compatibility/2006">
              <mc:Choice xmlns:v="urn:schemas-microsoft-com:vml" Requires="v">
                <p:oleObj spid="_x0000_s29751" name="公式" r:id="rId3" imgW="114300" imgH="215900" progId="Equation.3">
                  <p:embed/>
                </p:oleObj>
              </mc:Choice>
              <mc:Fallback>
                <p:oleObj name="公式" r:id="rId3" imgW="114300" imgH="2159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3625" y="3282950"/>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699" name="Object 3"/>
          <p:cNvGraphicFramePr>
            <a:graphicFrameLocks noChangeAspect="1"/>
          </p:cNvGraphicFramePr>
          <p:nvPr/>
        </p:nvGraphicFramePr>
        <p:xfrm>
          <a:off x="4873625" y="3282950"/>
          <a:ext cx="112713" cy="214313"/>
        </p:xfrm>
        <a:graphic>
          <a:graphicData uri="http://schemas.openxmlformats.org/presentationml/2006/ole">
            <mc:AlternateContent xmlns:mc="http://schemas.openxmlformats.org/markup-compatibility/2006">
              <mc:Choice xmlns:v="urn:schemas-microsoft-com:vml" Requires="v">
                <p:oleObj spid="_x0000_s29752" name="公式" r:id="rId5" imgW="114300" imgH="215900" progId="Equation.3">
                  <p:embed/>
                </p:oleObj>
              </mc:Choice>
              <mc:Fallback>
                <p:oleObj name="公式" r:id="rId5" imgW="114300" imgH="2159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3625" y="3282950"/>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8052" name="Rectangle 4"/>
          <p:cNvSpPr>
            <a:spLocks noChangeArrowheads="1"/>
          </p:cNvSpPr>
          <p:nvPr/>
        </p:nvSpPr>
        <p:spPr bwMode="auto">
          <a:xfrm>
            <a:off x="1323975" y="692150"/>
            <a:ext cx="741680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3200">
                <a:ea typeface="华文新魏" panose="02010800040101010101" pitchFamily="2" charset="-122"/>
              </a:rPr>
              <a:t>           在概率论中，习惯于把和的分布收敛于正态分布这一类定理都叫做</a:t>
            </a:r>
            <a:r>
              <a:rPr lang="zh-CN" altLang="en-US" sz="3200">
                <a:solidFill>
                  <a:schemeClr val="tx2"/>
                </a:solidFill>
                <a:ea typeface="华文新魏" panose="02010800040101010101" pitchFamily="2" charset="-122"/>
              </a:rPr>
              <a:t>中心极限定理</a:t>
            </a:r>
            <a:r>
              <a:rPr lang="en-US" altLang="zh-CN" sz="3200">
                <a:ea typeface="华文新魏" panose="02010800040101010101" pitchFamily="2" charset="-122"/>
              </a:rPr>
              <a:t>.</a:t>
            </a:r>
          </a:p>
        </p:txBody>
      </p:sp>
      <p:sp>
        <p:nvSpPr>
          <p:cNvPr id="258053" name="Rectangle 5"/>
          <p:cNvSpPr>
            <a:spLocks noChangeArrowheads="1"/>
          </p:cNvSpPr>
          <p:nvPr/>
        </p:nvSpPr>
        <p:spPr bwMode="auto">
          <a:xfrm>
            <a:off x="2355850" y="2857500"/>
            <a:ext cx="4756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我们只讨论几种简单情形</a:t>
            </a:r>
            <a:r>
              <a:rPr lang="en-US" altLang="zh-CN" sz="3200">
                <a:ea typeface="华文新魏" panose="02010800040101010101" pitchFamily="2" charset="-122"/>
              </a:rPr>
              <a:t>.</a:t>
            </a:r>
          </a:p>
        </p:txBody>
      </p:sp>
      <p:sp>
        <p:nvSpPr>
          <p:cNvPr id="258054" name="Text Box 6"/>
          <p:cNvSpPr txBox="1">
            <a:spLocks noChangeArrowheads="1"/>
          </p:cNvSpPr>
          <p:nvPr/>
        </p:nvSpPr>
        <p:spPr bwMode="auto">
          <a:xfrm>
            <a:off x="1273175" y="3946525"/>
            <a:ext cx="7620000"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a:ea typeface="华文新魏" panose="02010800040101010101" pitchFamily="2" charset="-122"/>
              </a:rPr>
              <a:t>        下面给出的独立同分布随机变量序列的中心极限定理，也称林德贝格－莱维（ </a:t>
            </a:r>
            <a:r>
              <a:rPr lang="en-US" altLang="zh-CN" sz="3200">
                <a:ea typeface="华文新魏" panose="02010800040101010101" pitchFamily="2" charset="-122"/>
              </a:rPr>
              <a:t>Lindberg </a:t>
            </a:r>
            <a:r>
              <a:rPr lang="zh-CN" altLang="en-US" sz="3200">
                <a:ea typeface="华文新魏" panose="02010800040101010101" pitchFamily="2" charset="-122"/>
              </a:rPr>
              <a:t>－</a:t>
            </a:r>
            <a:r>
              <a:rPr lang="en-US" altLang="zh-CN" sz="3200">
                <a:ea typeface="华文新魏" panose="02010800040101010101" pitchFamily="2" charset="-122"/>
              </a:rPr>
              <a:t>Levy</a:t>
            </a:r>
            <a:r>
              <a:rPr lang="zh-CN" altLang="en-US" sz="3200">
                <a:ea typeface="华文新魏" panose="02010800040101010101" pitchFamily="2" charset="-122"/>
              </a:rPr>
              <a:t>）定理</a:t>
            </a:r>
            <a:r>
              <a:rPr lang="en-US" altLang="zh-CN" sz="3200">
                <a:ea typeface="华文新魏" panose="02010800040101010101" pitchFamily="2"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58052"/>
                                        </p:tgtEl>
                                        <p:attrNameLst>
                                          <p:attrName>style.visibility</p:attrName>
                                        </p:attrNameLst>
                                      </p:cBhvr>
                                      <p:to>
                                        <p:strVal val="visible"/>
                                      </p:to>
                                    </p:set>
                                    <p:animEffect transition="in" filter="barn(outVertical)">
                                      <p:cBhvr>
                                        <p:cTn id="7" dur="500"/>
                                        <p:tgtEl>
                                          <p:spTgt spid="25805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58053"/>
                                        </p:tgtEl>
                                        <p:attrNameLst>
                                          <p:attrName>style.visibility</p:attrName>
                                        </p:attrNameLst>
                                      </p:cBhvr>
                                      <p:to>
                                        <p:strVal val="visible"/>
                                      </p:to>
                                    </p:set>
                                    <p:anim calcmode="lin" valueType="num">
                                      <p:cBhvr additive="base">
                                        <p:cTn id="12" dur="500" fill="hold"/>
                                        <p:tgtEl>
                                          <p:spTgt spid="258053"/>
                                        </p:tgtEl>
                                        <p:attrNameLst>
                                          <p:attrName>ppt_x</p:attrName>
                                        </p:attrNameLst>
                                      </p:cBhvr>
                                      <p:tavLst>
                                        <p:tav tm="0">
                                          <p:val>
                                            <p:strVal val="#ppt_x"/>
                                          </p:val>
                                        </p:tav>
                                        <p:tav tm="100000">
                                          <p:val>
                                            <p:strVal val="#ppt_x"/>
                                          </p:val>
                                        </p:tav>
                                      </p:tavLst>
                                    </p:anim>
                                    <p:anim calcmode="lin" valueType="num">
                                      <p:cBhvr additive="base">
                                        <p:cTn id="13" dur="500" fill="hold"/>
                                        <p:tgtEl>
                                          <p:spTgt spid="25805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37" fill="hold" grpId="0" nodeType="clickEffect">
                                  <p:stCondLst>
                                    <p:cond delay="0"/>
                                  </p:stCondLst>
                                  <p:childTnLst>
                                    <p:set>
                                      <p:cBhvr>
                                        <p:cTn id="17" dur="1" fill="hold">
                                          <p:stCondLst>
                                            <p:cond delay="0"/>
                                          </p:stCondLst>
                                        </p:cTn>
                                        <p:tgtEl>
                                          <p:spTgt spid="258054"/>
                                        </p:tgtEl>
                                        <p:attrNameLst>
                                          <p:attrName>style.visibility</p:attrName>
                                        </p:attrNameLst>
                                      </p:cBhvr>
                                      <p:to>
                                        <p:strVal val="visible"/>
                                      </p:to>
                                    </p:set>
                                    <p:animEffect transition="in" filter="barn(outVertical)">
                                      <p:cBhvr>
                                        <p:cTn id="18" dur="500"/>
                                        <p:tgtEl>
                                          <p:spTgt spid="258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052" grpId="0" autoUpdateAnimBg="0"/>
      <p:bldP spid="258053" grpId="0" autoUpdateAnimBg="0"/>
      <p:bldP spid="258054"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9074" name="Object 2"/>
          <p:cNvGraphicFramePr>
            <a:graphicFrameLocks noChangeAspect="1"/>
          </p:cNvGraphicFramePr>
          <p:nvPr/>
        </p:nvGraphicFramePr>
        <p:xfrm>
          <a:off x="1603375" y="2819400"/>
          <a:ext cx="3606800" cy="1652588"/>
        </p:xfrm>
        <a:graphic>
          <a:graphicData uri="http://schemas.openxmlformats.org/presentationml/2006/ole">
            <mc:AlternateContent xmlns:mc="http://schemas.openxmlformats.org/markup-compatibility/2006">
              <mc:Choice xmlns:v="urn:schemas-microsoft-com:vml" Requires="v">
                <p:oleObj spid="_x0000_s30872" name="公式" r:id="rId3" imgW="1409700" imgH="606425" progId="Equation.3">
                  <p:embed/>
                </p:oleObj>
              </mc:Choice>
              <mc:Fallback>
                <p:oleObj name="公式" r:id="rId3" imgW="1409700" imgH="606425"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3375" y="2819400"/>
                        <a:ext cx="3606800" cy="16525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9075" name="Rectangle 3"/>
          <p:cNvSpPr>
            <a:spLocks noChangeArrowheads="1"/>
          </p:cNvSpPr>
          <p:nvPr/>
        </p:nvSpPr>
        <p:spPr bwMode="auto">
          <a:xfrm>
            <a:off x="1235075" y="381000"/>
            <a:ext cx="70929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定理（</a:t>
            </a:r>
            <a:r>
              <a:rPr lang="zh-CN" altLang="en-US" sz="3200">
                <a:solidFill>
                  <a:schemeClr val="tx2"/>
                </a:solidFill>
                <a:ea typeface="华文新魏" panose="02010800040101010101" pitchFamily="2" charset="-122"/>
              </a:rPr>
              <a:t>独立同分布下的中心极限定理</a:t>
            </a:r>
            <a:r>
              <a:rPr lang="zh-CN" altLang="en-US" sz="3200">
                <a:ea typeface="华文新魏" panose="02010800040101010101" pitchFamily="2" charset="-122"/>
              </a:rPr>
              <a:t>）</a:t>
            </a:r>
          </a:p>
        </p:txBody>
      </p:sp>
      <p:graphicFrame>
        <p:nvGraphicFramePr>
          <p:cNvPr id="259076" name="Object 3"/>
          <p:cNvGraphicFramePr>
            <a:graphicFrameLocks noChangeAspect="1"/>
          </p:cNvGraphicFramePr>
          <p:nvPr/>
        </p:nvGraphicFramePr>
        <p:xfrm>
          <a:off x="5060950" y="3357563"/>
          <a:ext cx="2844800" cy="1168400"/>
        </p:xfrm>
        <a:graphic>
          <a:graphicData uri="http://schemas.openxmlformats.org/presentationml/2006/ole">
            <mc:AlternateContent xmlns:mc="http://schemas.openxmlformats.org/markup-compatibility/2006">
              <mc:Choice xmlns:v="urn:schemas-microsoft-com:vml" Requires="v">
                <p:oleObj spid="_x0000_s30873" name="Equation" r:id="rId5" imgW="1028700" imgH="384810" progId="Equation.DSMT4">
                  <p:embed/>
                </p:oleObj>
              </mc:Choice>
              <mc:Fallback>
                <p:oleObj name="Equation" r:id="rId5" imgW="1028700" imgH="38481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60950" y="3357563"/>
                        <a:ext cx="2844800" cy="1168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9077" name="Rectangle 5"/>
          <p:cNvSpPr>
            <a:spLocks noChangeArrowheads="1"/>
          </p:cNvSpPr>
          <p:nvPr/>
        </p:nvSpPr>
        <p:spPr bwMode="auto">
          <a:xfrm>
            <a:off x="650875" y="4729163"/>
            <a:ext cx="8458200" cy="116363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pPr>
            <a:r>
              <a:rPr lang="zh-CN" altLang="en-US" sz="3200">
                <a:ea typeface="华文新魏" panose="02010800040101010101" pitchFamily="2" charset="-122"/>
              </a:rPr>
              <a:t>  它表明，当</a:t>
            </a:r>
            <a:r>
              <a:rPr lang="en-US" altLang="zh-CN" sz="3200" i="1">
                <a:ea typeface="华文新魏" panose="02010800040101010101" pitchFamily="2" charset="-122"/>
              </a:rPr>
              <a:t>n</a:t>
            </a:r>
            <a:r>
              <a:rPr lang="zh-CN" altLang="en-US" sz="3200">
                <a:ea typeface="华文新魏" panose="02010800040101010101" pitchFamily="2" charset="-122"/>
              </a:rPr>
              <a:t>充分大时，</a:t>
            </a:r>
            <a:r>
              <a:rPr lang="en-US" altLang="zh-CN" sz="3200" i="1">
                <a:ea typeface="华文新魏" panose="02010800040101010101" pitchFamily="2" charset="-122"/>
              </a:rPr>
              <a:t>n</a:t>
            </a:r>
            <a:r>
              <a:rPr lang="zh-CN" altLang="en-US" sz="3200">
                <a:ea typeface="华文新魏" panose="02010800040101010101" pitchFamily="2" charset="-122"/>
              </a:rPr>
              <a:t>个具有期望和方差</a:t>
            </a:r>
          </a:p>
          <a:p>
            <a:pPr algn="ctr" eaLnBrk="1" hangingPunct="1"/>
            <a:r>
              <a:rPr lang="zh-CN" altLang="en-US" sz="3200">
                <a:ea typeface="华文新魏" panose="02010800040101010101" pitchFamily="2" charset="-122"/>
              </a:rPr>
              <a:t>的独立同分布的</a:t>
            </a:r>
            <a:r>
              <a:rPr lang="en-US" altLang="zh-CN" sz="3200" i="1">
                <a:ea typeface="华文新魏" panose="02010800040101010101" pitchFamily="2" charset="-122"/>
              </a:rPr>
              <a:t>r.v</a:t>
            </a:r>
            <a:r>
              <a:rPr lang="zh-CN" altLang="en-US" sz="3200">
                <a:ea typeface="华文新魏" panose="02010800040101010101" pitchFamily="2" charset="-122"/>
              </a:rPr>
              <a:t>之和近似服从正态分布</a:t>
            </a:r>
            <a:r>
              <a:rPr lang="en-US" altLang="zh-CN" sz="3200">
                <a:ea typeface="华文新魏" panose="02010800040101010101" pitchFamily="2" charset="-122"/>
              </a:rPr>
              <a:t>.</a:t>
            </a:r>
          </a:p>
        </p:txBody>
      </p:sp>
      <p:grpSp>
        <p:nvGrpSpPr>
          <p:cNvPr id="2" name="Group 6"/>
          <p:cNvGrpSpPr/>
          <p:nvPr/>
        </p:nvGrpSpPr>
        <p:grpSpPr bwMode="auto">
          <a:xfrm>
            <a:off x="1184275" y="1066800"/>
            <a:ext cx="7772400" cy="1752600"/>
            <a:chOff x="528" y="763"/>
            <a:chExt cx="4896" cy="1104"/>
          </a:xfrm>
        </p:grpSpPr>
        <p:graphicFrame>
          <p:nvGraphicFramePr>
            <p:cNvPr id="30727" name="Object 4"/>
            <p:cNvGraphicFramePr>
              <a:graphicFrameLocks noChangeAspect="1"/>
            </p:cNvGraphicFramePr>
            <p:nvPr/>
          </p:nvGraphicFramePr>
          <p:xfrm>
            <a:off x="2940" y="1420"/>
            <a:ext cx="71" cy="135"/>
          </p:xfrm>
          <a:graphic>
            <a:graphicData uri="http://schemas.openxmlformats.org/presentationml/2006/ole">
              <mc:AlternateContent xmlns:mc="http://schemas.openxmlformats.org/markup-compatibility/2006">
                <mc:Choice xmlns:v="urn:schemas-microsoft-com:vml" Requires="v">
                  <p:oleObj spid="_x0000_s30874" name="公式" r:id="rId7" imgW="114300" imgH="215900" progId="Equation.3">
                    <p:embed/>
                  </p:oleObj>
                </mc:Choice>
                <mc:Fallback>
                  <p:oleObj name="公式" r:id="rId7" imgW="114300" imgH="2159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40" y="1420"/>
                          <a:ext cx="71" cy="1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28" name="Object 5"/>
            <p:cNvGraphicFramePr>
              <a:graphicFrameLocks noChangeAspect="1"/>
            </p:cNvGraphicFramePr>
            <p:nvPr/>
          </p:nvGraphicFramePr>
          <p:xfrm>
            <a:off x="2940" y="1420"/>
            <a:ext cx="71" cy="135"/>
          </p:xfrm>
          <a:graphic>
            <a:graphicData uri="http://schemas.openxmlformats.org/presentationml/2006/ole">
              <mc:AlternateContent xmlns:mc="http://schemas.openxmlformats.org/markup-compatibility/2006">
                <mc:Choice xmlns:v="urn:schemas-microsoft-com:vml" Requires="v">
                  <p:oleObj spid="_x0000_s30875" name="公式" r:id="rId9" imgW="114300" imgH="215900" progId="Equation.3">
                    <p:embed/>
                  </p:oleObj>
                </mc:Choice>
                <mc:Fallback>
                  <p:oleObj name="公式" r:id="rId9" imgW="114300" imgH="2159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40" y="1420"/>
                          <a:ext cx="71" cy="1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29" name="Rectangle 9"/>
            <p:cNvSpPr>
              <a:spLocks noChangeArrowheads="1"/>
            </p:cNvSpPr>
            <p:nvPr/>
          </p:nvSpPr>
          <p:spPr bwMode="auto">
            <a:xfrm>
              <a:off x="528" y="763"/>
              <a:ext cx="4896" cy="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pPr>
              <a:r>
                <a:rPr lang="zh-CN" altLang="en-US" sz="3200">
                  <a:ea typeface="华文新魏" panose="02010800040101010101" pitchFamily="2" charset="-122"/>
                </a:rPr>
                <a:t>设</a:t>
              </a:r>
              <a:r>
                <a:rPr lang="en-US" altLang="zh-CN" sz="3200" i="1">
                  <a:ea typeface="华文新魏" panose="02010800040101010101" pitchFamily="2" charset="-122"/>
                </a:rPr>
                <a:t>X</a:t>
              </a:r>
              <a:r>
                <a:rPr lang="en-US" altLang="zh-CN" sz="3200" baseline="-25000">
                  <a:ea typeface="华文新魏" panose="02010800040101010101" pitchFamily="2" charset="-122"/>
                </a:rPr>
                <a:t>1</a:t>
              </a:r>
              <a:r>
                <a:rPr lang="en-US" altLang="zh-CN" sz="3200">
                  <a:ea typeface="华文新魏" panose="02010800040101010101" pitchFamily="2" charset="-122"/>
                </a:rPr>
                <a:t>,</a:t>
              </a:r>
              <a:r>
                <a:rPr lang="en-US" altLang="zh-CN" sz="3200" i="1">
                  <a:ea typeface="华文新魏" panose="02010800040101010101" pitchFamily="2" charset="-122"/>
                </a:rPr>
                <a:t>X</a:t>
              </a:r>
              <a:r>
                <a:rPr lang="en-US" altLang="zh-CN" sz="3200" baseline="-25000">
                  <a:ea typeface="华文新魏" panose="02010800040101010101" pitchFamily="2" charset="-122"/>
                </a:rPr>
                <a:t>2</a:t>
              </a:r>
              <a:r>
                <a:rPr lang="en-US" altLang="zh-CN" sz="3200">
                  <a:ea typeface="华文新魏" panose="02010800040101010101" pitchFamily="2" charset="-122"/>
                </a:rPr>
                <a:t>, …</a:t>
              </a:r>
              <a:r>
                <a:rPr lang="zh-CN" altLang="en-US" sz="3200">
                  <a:ea typeface="华文新魏" panose="02010800040101010101" pitchFamily="2" charset="-122"/>
                </a:rPr>
                <a:t>是独立同分布的随机</a:t>
              </a:r>
            </a:p>
            <a:p>
              <a:pPr eaLnBrk="1" hangingPunct="1">
                <a:lnSpc>
                  <a:spcPct val="80000"/>
                </a:lnSpc>
                <a:spcBef>
                  <a:spcPct val="50000"/>
                </a:spcBef>
              </a:pPr>
              <a:r>
                <a:rPr lang="zh-CN" altLang="en-US" sz="3200">
                  <a:ea typeface="华文新魏" panose="02010800040101010101" pitchFamily="2" charset="-122"/>
                </a:rPr>
                <a:t>变量序列，且</a:t>
              </a:r>
              <a:r>
                <a:rPr lang="en-US" altLang="zh-CN" sz="3200" i="1">
                  <a:ea typeface="华文新魏" panose="02010800040101010101" pitchFamily="2" charset="-122"/>
                </a:rPr>
                <a:t>E</a:t>
              </a:r>
              <a:r>
                <a:rPr lang="en-US" altLang="zh-CN" sz="3200">
                  <a:ea typeface="华文新魏" panose="02010800040101010101" pitchFamily="2" charset="-122"/>
                </a:rPr>
                <a:t>(</a:t>
              </a:r>
              <a:r>
                <a:rPr lang="en-US" altLang="zh-CN" sz="3200" i="1">
                  <a:ea typeface="华文新魏" panose="02010800040101010101" pitchFamily="2" charset="-122"/>
                </a:rPr>
                <a:t>X</a:t>
              </a:r>
              <a:r>
                <a:rPr lang="en-US" altLang="zh-CN" sz="3200" i="1" baseline="-25000">
                  <a:ea typeface="华文新魏" panose="02010800040101010101" pitchFamily="2" charset="-122"/>
                </a:rPr>
                <a:t>i</a:t>
              </a:r>
              <a:r>
                <a:rPr lang="en-US" altLang="zh-CN" sz="3200">
                  <a:ea typeface="华文新魏" panose="02010800040101010101" pitchFamily="2" charset="-122"/>
                </a:rPr>
                <a:t>)=    </a:t>
              </a:r>
              <a:r>
                <a:rPr lang="zh-CN" altLang="en-US" sz="3200">
                  <a:ea typeface="华文新魏" panose="02010800040101010101" pitchFamily="2" charset="-122"/>
                </a:rPr>
                <a:t>，</a:t>
              </a:r>
              <a:r>
                <a:rPr lang="en-US" altLang="zh-CN" sz="3200" i="1">
                  <a:ea typeface="华文新魏" panose="02010800040101010101" pitchFamily="2" charset="-122"/>
                </a:rPr>
                <a:t>D</a:t>
              </a:r>
              <a:r>
                <a:rPr lang="en-US" altLang="zh-CN" sz="3200">
                  <a:ea typeface="华文新魏" panose="02010800040101010101" pitchFamily="2" charset="-122"/>
                </a:rPr>
                <a:t>(</a:t>
              </a:r>
              <a:r>
                <a:rPr lang="en-US" altLang="zh-CN" sz="3200" i="1">
                  <a:ea typeface="华文新魏" panose="02010800040101010101" pitchFamily="2" charset="-122"/>
                </a:rPr>
                <a:t>X</a:t>
              </a:r>
              <a:r>
                <a:rPr lang="en-US" altLang="zh-CN" sz="3200" baseline="-25000">
                  <a:ea typeface="华文新魏" panose="02010800040101010101" pitchFamily="2" charset="-122"/>
                </a:rPr>
                <a:t>i</a:t>
              </a:r>
              <a:r>
                <a:rPr lang="en-US" altLang="zh-CN" sz="3200">
                  <a:ea typeface="华文新魏" panose="02010800040101010101" pitchFamily="2" charset="-122"/>
                </a:rPr>
                <a:t>)=       </a:t>
              </a:r>
              <a:r>
                <a:rPr lang="zh-CN" altLang="en-US" sz="3200">
                  <a:ea typeface="华文新魏" panose="02010800040101010101" pitchFamily="2" charset="-122"/>
                </a:rPr>
                <a:t>，</a:t>
              </a:r>
            </a:p>
            <a:p>
              <a:pPr eaLnBrk="1" hangingPunct="1">
                <a:lnSpc>
                  <a:spcPct val="80000"/>
                </a:lnSpc>
                <a:spcBef>
                  <a:spcPct val="50000"/>
                </a:spcBef>
              </a:pPr>
              <a:r>
                <a:rPr lang="en-US" altLang="zh-CN" sz="3200" i="1">
                  <a:ea typeface="华文新魏" panose="02010800040101010101" pitchFamily="2" charset="-122"/>
                </a:rPr>
                <a:t>i</a:t>
              </a:r>
              <a:r>
                <a:rPr lang="en-US" altLang="zh-CN" sz="3200">
                  <a:ea typeface="华文新魏" panose="02010800040101010101" pitchFamily="2" charset="-122"/>
                </a:rPr>
                <a:t>=1,2,…</a:t>
              </a:r>
              <a:r>
                <a:rPr lang="zh-CN" altLang="en-US" sz="3200">
                  <a:ea typeface="华文新魏" panose="02010800040101010101" pitchFamily="2" charset="-122"/>
                </a:rPr>
                <a:t>，则</a:t>
              </a:r>
            </a:p>
          </p:txBody>
        </p:sp>
        <p:graphicFrame>
          <p:nvGraphicFramePr>
            <p:cNvPr id="30730" name="Object 6"/>
            <p:cNvGraphicFramePr>
              <a:graphicFrameLocks noChangeAspect="1"/>
            </p:cNvGraphicFramePr>
            <p:nvPr/>
          </p:nvGraphicFramePr>
          <p:xfrm>
            <a:off x="4076" y="1115"/>
            <a:ext cx="357" cy="373"/>
          </p:xfrm>
          <a:graphic>
            <a:graphicData uri="http://schemas.openxmlformats.org/presentationml/2006/ole">
              <mc:AlternateContent xmlns:mc="http://schemas.openxmlformats.org/markup-compatibility/2006">
                <mc:Choice xmlns:v="urn:schemas-microsoft-com:vml" Requires="v">
                  <p:oleObj spid="_x0000_s30876" name="公式" r:id="rId10" imgW="161925" imgH="163830" progId="Equation.3">
                    <p:embed/>
                  </p:oleObj>
                </mc:Choice>
                <mc:Fallback>
                  <p:oleObj name="公式" r:id="rId10" imgW="161925" imgH="163830"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76" y="1115"/>
                          <a:ext cx="357" cy="37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31" name="Object 7"/>
            <p:cNvGraphicFramePr>
              <a:graphicFrameLocks noChangeAspect="1"/>
            </p:cNvGraphicFramePr>
            <p:nvPr/>
          </p:nvGraphicFramePr>
          <p:xfrm>
            <a:off x="2784" y="1200"/>
            <a:ext cx="267" cy="303"/>
          </p:xfrm>
          <a:graphic>
            <a:graphicData uri="http://schemas.openxmlformats.org/presentationml/2006/ole">
              <mc:AlternateContent xmlns:mc="http://schemas.openxmlformats.org/markup-compatibility/2006">
                <mc:Choice xmlns:v="urn:schemas-microsoft-com:vml" Requires="v">
                  <p:oleObj spid="_x0000_s30877" name="公式" r:id="rId12" imgW="114300" imgH="125095" progId="Equation.3">
                    <p:embed/>
                  </p:oleObj>
                </mc:Choice>
                <mc:Fallback>
                  <p:oleObj name="公式" r:id="rId12" imgW="114300" imgH="125095" progId="Equation.3">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84" y="1200"/>
                          <a:ext cx="267" cy="30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59075"/>
                                        </p:tgtEl>
                                        <p:attrNameLst>
                                          <p:attrName>style.visibility</p:attrName>
                                        </p:attrNameLst>
                                      </p:cBhvr>
                                      <p:to>
                                        <p:strVal val="visible"/>
                                      </p:to>
                                    </p:set>
                                    <p:animEffect transition="in" filter="barn(outVertical)">
                                      <p:cBhvr>
                                        <p:cTn id="7" dur="500"/>
                                        <p:tgtEl>
                                          <p:spTgt spid="25907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out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9074"/>
                                        </p:tgtEl>
                                        <p:attrNameLst>
                                          <p:attrName>style.visibility</p:attrName>
                                        </p:attrNameLst>
                                      </p:cBhvr>
                                      <p:to>
                                        <p:strVal val="visible"/>
                                      </p:to>
                                    </p:set>
                                    <p:animEffect transition="in" filter="wipe(left)">
                                      <p:cBhvr>
                                        <p:cTn id="17" dur="500"/>
                                        <p:tgtEl>
                                          <p:spTgt spid="259074"/>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nodeType="clickEffect">
                                  <p:stCondLst>
                                    <p:cond delay="0"/>
                                  </p:stCondLst>
                                  <p:childTnLst>
                                    <p:set>
                                      <p:cBhvr>
                                        <p:cTn id="21" dur="1" fill="hold">
                                          <p:stCondLst>
                                            <p:cond delay="0"/>
                                          </p:stCondLst>
                                        </p:cTn>
                                        <p:tgtEl>
                                          <p:spTgt spid="259076"/>
                                        </p:tgtEl>
                                        <p:attrNameLst>
                                          <p:attrName>style.visibility</p:attrName>
                                        </p:attrNameLst>
                                      </p:cBhvr>
                                      <p:to>
                                        <p:strVal val="visible"/>
                                      </p:to>
                                    </p:set>
                                    <p:anim calcmode="lin" valueType="num">
                                      <p:cBhvr additive="base">
                                        <p:cTn id="22" dur="500" fill="hold"/>
                                        <p:tgtEl>
                                          <p:spTgt spid="259076"/>
                                        </p:tgtEl>
                                        <p:attrNameLst>
                                          <p:attrName>ppt_x</p:attrName>
                                        </p:attrNameLst>
                                      </p:cBhvr>
                                      <p:tavLst>
                                        <p:tav tm="0">
                                          <p:val>
                                            <p:strVal val="1+#ppt_w/2"/>
                                          </p:val>
                                        </p:tav>
                                        <p:tav tm="100000">
                                          <p:val>
                                            <p:strVal val="#ppt_x"/>
                                          </p:val>
                                        </p:tav>
                                      </p:tavLst>
                                    </p:anim>
                                    <p:anim calcmode="lin" valueType="num">
                                      <p:cBhvr additive="base">
                                        <p:cTn id="23" dur="500" fill="hold"/>
                                        <p:tgtEl>
                                          <p:spTgt spid="259076"/>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6" presetClass="entr" presetSubtype="37" fill="hold" grpId="0" nodeType="clickEffect">
                                  <p:stCondLst>
                                    <p:cond delay="0"/>
                                  </p:stCondLst>
                                  <p:childTnLst>
                                    <p:set>
                                      <p:cBhvr>
                                        <p:cTn id="27" dur="1" fill="hold">
                                          <p:stCondLst>
                                            <p:cond delay="0"/>
                                          </p:stCondLst>
                                        </p:cTn>
                                        <p:tgtEl>
                                          <p:spTgt spid="259077"/>
                                        </p:tgtEl>
                                        <p:attrNameLst>
                                          <p:attrName>style.visibility</p:attrName>
                                        </p:attrNameLst>
                                      </p:cBhvr>
                                      <p:to>
                                        <p:strVal val="visible"/>
                                      </p:to>
                                    </p:set>
                                    <p:animEffect transition="in" filter="barn(outVertical)">
                                      <p:cBhvr>
                                        <p:cTn id="28" dur="500"/>
                                        <p:tgtEl>
                                          <p:spTgt spid="2590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9075" grpId="0" autoUpdateAnimBg="0"/>
      <p:bldP spid="259077" grpId="0" bldLvl="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746" name="Object 2"/>
          <p:cNvGraphicFramePr>
            <a:graphicFrameLocks noChangeAspect="1"/>
          </p:cNvGraphicFramePr>
          <p:nvPr/>
        </p:nvGraphicFramePr>
        <p:xfrm>
          <a:off x="4948238" y="3500438"/>
          <a:ext cx="112712" cy="214312"/>
        </p:xfrm>
        <a:graphic>
          <a:graphicData uri="http://schemas.openxmlformats.org/presentationml/2006/ole">
            <mc:AlternateContent xmlns:mc="http://schemas.openxmlformats.org/markup-compatibility/2006">
              <mc:Choice xmlns:v="urn:schemas-microsoft-com:vml" Requires="v">
                <p:oleObj spid="_x0000_s31798" name="公式" r:id="rId3" imgW="114300" imgH="215900" progId="Equation.3">
                  <p:embed/>
                </p:oleObj>
              </mc:Choice>
              <mc:Fallback>
                <p:oleObj name="公式" r:id="rId3" imgW="114300" imgH="2159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8238" y="3500438"/>
                        <a:ext cx="112712" cy="214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47" name="Object 3"/>
          <p:cNvGraphicFramePr>
            <a:graphicFrameLocks noChangeAspect="1"/>
          </p:cNvGraphicFramePr>
          <p:nvPr/>
        </p:nvGraphicFramePr>
        <p:xfrm>
          <a:off x="4948238" y="3500438"/>
          <a:ext cx="112712" cy="214312"/>
        </p:xfrm>
        <a:graphic>
          <a:graphicData uri="http://schemas.openxmlformats.org/presentationml/2006/ole">
            <mc:AlternateContent xmlns:mc="http://schemas.openxmlformats.org/markup-compatibility/2006">
              <mc:Choice xmlns:v="urn:schemas-microsoft-com:vml" Requires="v">
                <p:oleObj spid="_x0000_s31799" name="公式" r:id="rId5" imgW="114300" imgH="215900" progId="Equation.3">
                  <p:embed/>
                </p:oleObj>
              </mc:Choice>
              <mc:Fallback>
                <p:oleObj name="公式" r:id="rId5" imgW="114300" imgH="2159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8238" y="3500438"/>
                        <a:ext cx="112712" cy="214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0100" name="Rectangle 4"/>
          <p:cNvSpPr>
            <a:spLocks noChangeArrowheads="1"/>
          </p:cNvSpPr>
          <p:nvPr/>
        </p:nvSpPr>
        <p:spPr bwMode="auto">
          <a:xfrm>
            <a:off x="1119188" y="407988"/>
            <a:ext cx="7796212"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3200">
                <a:ea typeface="华文新魏" panose="02010800040101010101" pitchFamily="2" charset="-122"/>
              </a:rPr>
              <a:t>        虽然在一般情况下，我们很难求出</a:t>
            </a:r>
            <a:r>
              <a:rPr lang="en-US" altLang="zh-CN" sz="3200" i="1">
                <a:ea typeface="华文新魏" panose="02010800040101010101" pitchFamily="2" charset="-122"/>
              </a:rPr>
              <a:t>X</a:t>
            </a:r>
            <a:r>
              <a:rPr lang="en-US" altLang="zh-CN" sz="3200" baseline="-25000">
                <a:ea typeface="华文新魏" panose="02010800040101010101" pitchFamily="2" charset="-122"/>
              </a:rPr>
              <a:t>1</a:t>
            </a:r>
            <a:r>
              <a:rPr lang="en-US" altLang="zh-CN" sz="3200">
                <a:ea typeface="华文新魏" panose="02010800040101010101" pitchFamily="2" charset="-122"/>
              </a:rPr>
              <a:t>+</a:t>
            </a:r>
            <a:r>
              <a:rPr lang="en-US" altLang="zh-CN" sz="3200" i="1">
                <a:ea typeface="华文新魏" panose="02010800040101010101" pitchFamily="2" charset="-122"/>
              </a:rPr>
              <a:t>X</a:t>
            </a:r>
            <a:r>
              <a:rPr lang="en-US" altLang="zh-CN" sz="3200" baseline="-25000">
                <a:ea typeface="华文新魏" panose="02010800040101010101" pitchFamily="2" charset="-122"/>
              </a:rPr>
              <a:t>2</a:t>
            </a:r>
            <a:r>
              <a:rPr lang="en-US" altLang="zh-CN" sz="3200">
                <a:ea typeface="华文新魏" panose="02010800040101010101" pitchFamily="2" charset="-122"/>
              </a:rPr>
              <a:t>+ …+</a:t>
            </a:r>
            <a:r>
              <a:rPr lang="en-US" altLang="zh-CN" sz="3200" i="1">
                <a:ea typeface="华文新魏" panose="02010800040101010101" pitchFamily="2" charset="-122"/>
              </a:rPr>
              <a:t>X</a:t>
            </a:r>
            <a:r>
              <a:rPr lang="en-US" altLang="zh-CN" sz="3200" i="1" baseline="-25000">
                <a:ea typeface="华文新魏" panose="02010800040101010101" pitchFamily="2" charset="-122"/>
              </a:rPr>
              <a:t>n</a:t>
            </a:r>
            <a:r>
              <a:rPr lang="en-US" altLang="zh-CN" sz="3200">
                <a:ea typeface="华文新魏" panose="02010800040101010101" pitchFamily="2" charset="-122"/>
              </a:rPr>
              <a:t> </a:t>
            </a:r>
            <a:r>
              <a:rPr lang="zh-CN" altLang="en-US" sz="3200">
                <a:ea typeface="华文新魏" panose="02010800040101010101" pitchFamily="2" charset="-122"/>
              </a:rPr>
              <a:t>的分布的确切形式，但当</a:t>
            </a:r>
            <a:r>
              <a:rPr lang="en-US" altLang="zh-CN" sz="3200" i="1">
                <a:ea typeface="华文新魏" panose="02010800040101010101" pitchFamily="2" charset="-122"/>
              </a:rPr>
              <a:t>n</a:t>
            </a:r>
            <a:r>
              <a:rPr lang="zh-CN" altLang="en-US" sz="3200">
                <a:ea typeface="华文新魏" panose="02010800040101010101" pitchFamily="2" charset="-122"/>
              </a:rPr>
              <a:t>很大时，可以求出近似分布</a:t>
            </a:r>
            <a:r>
              <a:rPr lang="en-US" altLang="zh-CN" sz="3200">
                <a:ea typeface="华文新魏" panose="02010800040101010101" pitchFamily="2" charset="-122"/>
              </a:rPr>
              <a:t>.</a:t>
            </a:r>
          </a:p>
        </p:txBody>
      </p:sp>
      <p:sp>
        <p:nvSpPr>
          <p:cNvPr id="260101" name="Rectangle 5"/>
          <p:cNvSpPr>
            <a:spLocks noChangeArrowheads="1"/>
          </p:cNvSpPr>
          <p:nvPr/>
        </p:nvSpPr>
        <p:spPr bwMode="auto">
          <a:xfrm>
            <a:off x="1042988" y="2813050"/>
            <a:ext cx="8066087"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3200">
                <a:ea typeface="华文新魏" panose="02010800040101010101" pitchFamily="2" charset="-122"/>
              </a:rPr>
              <a:t>      棣莫弗－拉普拉斯定理（二项分布的正态近似）是上述定理的特殊情况</a:t>
            </a:r>
            <a:r>
              <a:rPr lang="en-US" altLang="zh-CN" sz="3200">
                <a:ea typeface="华文新魏" panose="02010800040101010101" pitchFamily="2"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60100"/>
                                        </p:tgtEl>
                                        <p:attrNameLst>
                                          <p:attrName>style.visibility</p:attrName>
                                        </p:attrNameLst>
                                      </p:cBhvr>
                                      <p:to>
                                        <p:strVal val="visible"/>
                                      </p:to>
                                    </p:set>
                                    <p:animEffect transition="in" filter="barn(outVertical)">
                                      <p:cBhvr>
                                        <p:cTn id="7" dur="500"/>
                                        <p:tgtEl>
                                          <p:spTgt spid="26010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60101"/>
                                        </p:tgtEl>
                                        <p:attrNameLst>
                                          <p:attrName>style.visibility</p:attrName>
                                        </p:attrNameLst>
                                      </p:cBhvr>
                                      <p:to>
                                        <p:strVal val="visible"/>
                                      </p:to>
                                    </p:set>
                                    <p:anim calcmode="lin" valueType="num">
                                      <p:cBhvr additive="base">
                                        <p:cTn id="12" dur="500" fill="hold"/>
                                        <p:tgtEl>
                                          <p:spTgt spid="260101"/>
                                        </p:tgtEl>
                                        <p:attrNameLst>
                                          <p:attrName>ppt_x</p:attrName>
                                        </p:attrNameLst>
                                      </p:cBhvr>
                                      <p:tavLst>
                                        <p:tav tm="0">
                                          <p:val>
                                            <p:strVal val="#ppt_x"/>
                                          </p:val>
                                        </p:tav>
                                        <p:tav tm="100000">
                                          <p:val>
                                            <p:strVal val="#ppt_x"/>
                                          </p:val>
                                        </p:tav>
                                      </p:tavLst>
                                    </p:anim>
                                    <p:anim calcmode="lin" valueType="num">
                                      <p:cBhvr additive="base">
                                        <p:cTn id="13" dur="500" fill="hold"/>
                                        <p:tgtEl>
                                          <p:spTgt spid="2601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100" grpId="0" autoUpdateAnimBg="0"/>
      <p:bldP spid="260101"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2"/>
          <p:cNvSpPr>
            <a:spLocks noGrp="1" noChangeArrowheads="1"/>
          </p:cNvSpPr>
          <p:nvPr>
            <p:ph type="title" idx="4294967295"/>
          </p:nvPr>
        </p:nvSpPr>
        <p:spPr>
          <a:xfrm>
            <a:off x="250825" y="-26988"/>
            <a:ext cx="7772400" cy="1206501"/>
          </a:xfrm>
        </p:spPr>
        <p:txBody>
          <a:bodyPr/>
          <a:lstStyle/>
          <a:p>
            <a:r>
              <a:rPr lang="zh-CN" altLang="en-US" sz="3200">
                <a:ea typeface="华文新魏" panose="02010800040101010101" pitchFamily="2" charset="-122"/>
              </a:rPr>
              <a:t>　棣莫弗－拉普拉斯极限定理</a:t>
            </a:r>
            <a:br>
              <a:rPr lang="zh-CN" altLang="en-US" sz="3200">
                <a:ea typeface="华文新魏" panose="02010800040101010101" pitchFamily="2" charset="-122"/>
              </a:rPr>
            </a:br>
            <a:r>
              <a:rPr lang="zh-CN" altLang="en-US" sz="3200">
                <a:ea typeface="华文新魏" panose="02010800040101010101" pitchFamily="2" charset="-122"/>
              </a:rPr>
              <a:t>（二项分布的正态近似）</a:t>
            </a:r>
          </a:p>
        </p:txBody>
      </p:sp>
      <p:sp>
        <p:nvSpPr>
          <p:cNvPr id="261123" name="Text Box 3"/>
          <p:cNvSpPr txBox="1">
            <a:spLocks noChangeArrowheads="1"/>
          </p:cNvSpPr>
          <p:nvPr/>
        </p:nvSpPr>
        <p:spPr bwMode="auto">
          <a:xfrm>
            <a:off x="1187450" y="1196975"/>
            <a:ext cx="7777163"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 hangingPunct="1">
              <a:spcBef>
                <a:spcPct val="50000"/>
              </a:spcBef>
            </a:pPr>
            <a:r>
              <a:rPr lang="zh-CN" altLang="en-US" sz="3200">
                <a:ea typeface="华文新魏" panose="02010800040101010101" pitchFamily="2" charset="-122"/>
              </a:rPr>
              <a:t>定理：设</a:t>
            </a:r>
            <a:r>
              <a:rPr lang="el-GR" altLang="zh-CN" sz="3200">
                <a:solidFill>
                  <a:srgbClr val="000000"/>
                </a:solidFill>
                <a:ea typeface="华文新魏" panose="02010800040101010101" pitchFamily="2" charset="-122"/>
                <a:cs typeface="Arial Unicode MS" pitchFamily="34" charset="-122"/>
              </a:rPr>
              <a:t>μ</a:t>
            </a:r>
            <a:r>
              <a:rPr lang="en-US" altLang="zh-CN" sz="2800">
                <a:solidFill>
                  <a:srgbClr val="000000"/>
                </a:solidFill>
                <a:ea typeface="华文新魏" panose="02010800040101010101" pitchFamily="2" charset="-122"/>
              </a:rPr>
              <a:t>n</a:t>
            </a:r>
            <a:r>
              <a:rPr lang="zh-CN" altLang="en-US" sz="3200">
                <a:ea typeface="华文新魏" panose="02010800040101010101" pitchFamily="2" charset="-122"/>
              </a:rPr>
              <a:t>是 </a:t>
            </a:r>
            <a:r>
              <a:rPr lang="en-US" altLang="zh-CN" sz="3200">
                <a:ea typeface="华文新魏" panose="02010800040101010101" pitchFamily="2" charset="-122"/>
              </a:rPr>
              <a:t>n </a:t>
            </a:r>
            <a:r>
              <a:rPr lang="zh-CN" altLang="en-US" sz="3200">
                <a:ea typeface="华文新魏" panose="02010800040101010101" pitchFamily="2" charset="-122"/>
              </a:rPr>
              <a:t>次伯努利试验中事件</a:t>
            </a:r>
            <a:r>
              <a:rPr lang="en-US" altLang="zh-CN" sz="3200">
                <a:ea typeface="华文新魏" panose="02010800040101010101" pitchFamily="2" charset="-122"/>
              </a:rPr>
              <a:t>A</a:t>
            </a:r>
            <a:r>
              <a:rPr lang="zh-CN" altLang="en-US" sz="3200">
                <a:ea typeface="华文新魏" panose="02010800040101010101" pitchFamily="2" charset="-122"/>
              </a:rPr>
              <a:t>出现的次数</a:t>
            </a:r>
            <a:r>
              <a:rPr lang="en-US" altLang="zh-CN" sz="3200">
                <a:ea typeface="华文新魏" panose="02010800040101010101" pitchFamily="2" charset="-122"/>
              </a:rPr>
              <a:t>,0&lt;p&lt;1,</a:t>
            </a:r>
            <a:r>
              <a:rPr lang="zh-CN" altLang="en-US" sz="3200">
                <a:ea typeface="华文新魏" panose="02010800040101010101" pitchFamily="2" charset="-122"/>
              </a:rPr>
              <a:t>则对任意实数 </a:t>
            </a:r>
            <a:r>
              <a:rPr lang="en-US" altLang="zh-CN" sz="3200" i="1">
                <a:ea typeface="华文新魏" panose="02010800040101010101" pitchFamily="2" charset="-122"/>
              </a:rPr>
              <a:t>x</a:t>
            </a:r>
            <a:r>
              <a:rPr lang="zh-CN" altLang="en-US" sz="3200">
                <a:ea typeface="华文新魏" panose="02010800040101010101" pitchFamily="2" charset="-122"/>
              </a:rPr>
              <a:t>：</a:t>
            </a:r>
            <a:endParaRPr lang="zh-CN" altLang="el-GR" sz="3200">
              <a:ea typeface="华文新魏" panose="02010800040101010101" pitchFamily="2" charset="-122"/>
            </a:endParaRPr>
          </a:p>
        </p:txBody>
      </p:sp>
      <p:graphicFrame>
        <p:nvGraphicFramePr>
          <p:cNvPr id="261127" name="Object 4"/>
          <p:cNvGraphicFramePr>
            <a:graphicFrameLocks noChangeAspect="1"/>
          </p:cNvGraphicFramePr>
          <p:nvPr/>
        </p:nvGraphicFramePr>
        <p:xfrm>
          <a:off x="1450975" y="2625567"/>
          <a:ext cx="3416300" cy="519430"/>
        </p:xfrm>
        <a:graphic>
          <a:graphicData uri="http://schemas.openxmlformats.org/presentationml/2006/ole">
            <mc:AlternateContent xmlns:mc="http://schemas.openxmlformats.org/markup-compatibility/2006">
              <mc:Choice xmlns:v="urn:schemas-microsoft-com:vml" Requires="v">
                <p:oleObj spid="_x0000_s32895" name="Equation" r:id="rId3" imgW="1422400" imgH="215900" progId="Equation.DSMT4">
                  <p:embed/>
                </p:oleObj>
              </mc:Choice>
              <mc:Fallback>
                <p:oleObj name="Equation" r:id="rId3" imgW="1422400" imgH="215900" progId="Equation.DSMT4">
                  <p:embed/>
                  <p:pic>
                    <p:nvPicPr>
                      <p:cNvPr id="0" name="Object 4"/>
                      <p:cNvPicPr>
                        <a:picLocks noChangeAspect="1" noChangeArrowheads="1"/>
                      </p:cNvPicPr>
                      <p:nvPr/>
                    </p:nvPicPr>
                    <p:blipFill>
                      <a:blip r:embed="rId4"/>
                      <a:srcRect/>
                      <a:stretch>
                        <a:fillRect/>
                      </a:stretch>
                    </p:blipFill>
                    <p:spPr bwMode="auto">
                      <a:xfrm>
                        <a:off x="1450975" y="2625567"/>
                        <a:ext cx="3416300" cy="5194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28" name="Object 5"/>
          <p:cNvGraphicFramePr>
            <a:graphicFrameLocks noChangeAspect="1"/>
          </p:cNvGraphicFramePr>
          <p:nvPr/>
        </p:nvGraphicFramePr>
        <p:xfrm>
          <a:off x="2268538" y="3140075"/>
          <a:ext cx="4357687" cy="1219200"/>
        </p:xfrm>
        <a:graphic>
          <a:graphicData uri="http://schemas.openxmlformats.org/presentationml/2006/ole">
            <mc:AlternateContent xmlns:mc="http://schemas.openxmlformats.org/markup-compatibility/2006">
              <mc:Choice xmlns:v="urn:schemas-microsoft-com:vml" Requires="v">
                <p:oleObj spid="_x0000_s32896" name="Equation" r:id="rId5" imgW="1816100" imgH="508000" progId="Equation.DSMT4">
                  <p:embed/>
                </p:oleObj>
              </mc:Choice>
              <mc:Fallback>
                <p:oleObj name="Equation" r:id="rId5" imgW="1816100" imgH="5080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8538" y="3140075"/>
                        <a:ext cx="4357687" cy="1219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1129" name="AutoShape 9"/>
          <p:cNvSpPr>
            <a:spLocks noChangeArrowheads="1"/>
          </p:cNvSpPr>
          <p:nvPr/>
        </p:nvSpPr>
        <p:spPr bwMode="auto">
          <a:xfrm>
            <a:off x="6518910" y="2263775"/>
            <a:ext cx="2592388" cy="1152525"/>
          </a:xfrm>
          <a:prstGeom prst="wedgeRoundRectCallout">
            <a:avLst>
              <a:gd name="adj1" fmla="val -44120"/>
              <a:gd name="adj2" fmla="val 69972"/>
              <a:gd name="adj3" fmla="val 16667"/>
            </a:avLst>
          </a:prstGeom>
          <a:solidFill>
            <a:schemeClr val="accent1"/>
          </a:solidFill>
          <a:ln w="12700" cap="sq" algn="ctr">
            <a:solidFill>
              <a:schemeClr val="tx1"/>
            </a:solidFill>
            <a:miter lim="800000"/>
          </a:ln>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a:ea typeface="华文新魏" panose="02010800040101010101" pitchFamily="2" charset="-122"/>
              </a:rPr>
              <a:t>标准化渐近分布积分极限定理</a:t>
            </a:r>
          </a:p>
        </p:txBody>
      </p:sp>
      <p:graphicFrame>
        <p:nvGraphicFramePr>
          <p:cNvPr id="261130" name="Object 6"/>
          <p:cNvGraphicFramePr>
            <a:graphicFrameLocks noChangeAspect="1"/>
          </p:cNvGraphicFramePr>
          <p:nvPr/>
        </p:nvGraphicFramePr>
        <p:xfrm>
          <a:off x="2268538" y="4348163"/>
          <a:ext cx="2192337" cy="1041400"/>
        </p:xfrm>
        <a:graphic>
          <a:graphicData uri="http://schemas.openxmlformats.org/presentationml/2006/ole">
            <mc:AlternateContent xmlns:mc="http://schemas.openxmlformats.org/markup-compatibility/2006">
              <mc:Choice xmlns:v="urn:schemas-microsoft-com:vml" Requires="v">
                <p:oleObj spid="_x0000_s32897" name="Equation" r:id="rId7" imgW="989965" imgH="469900" progId="Equation.DSMT4">
                  <p:embed/>
                </p:oleObj>
              </mc:Choice>
              <mc:Fallback>
                <p:oleObj name="Equation" r:id="rId7" imgW="989965" imgH="46990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68538" y="4348163"/>
                        <a:ext cx="2192337" cy="1041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2149" name="Object 2"/>
          <p:cNvGraphicFramePr>
            <a:graphicFrameLocks noChangeAspect="1"/>
          </p:cNvGraphicFramePr>
          <p:nvPr/>
        </p:nvGraphicFramePr>
        <p:xfrm>
          <a:off x="1822450" y="5354638"/>
          <a:ext cx="1993900" cy="908050"/>
        </p:xfrm>
        <a:graphic>
          <a:graphicData uri="http://schemas.openxmlformats.org/presentationml/2006/ole">
            <mc:AlternateContent xmlns:mc="http://schemas.openxmlformats.org/markup-compatibility/2006">
              <mc:Choice xmlns:v="urn:schemas-microsoft-com:vml" Requires="v">
                <p:oleObj spid="_x0000_s32898" name="Equation" r:id="rId9" imgW="977265" imgH="444500" progId="Equation.DSMT4">
                  <p:embed/>
                </p:oleObj>
              </mc:Choice>
              <mc:Fallback>
                <p:oleObj name="Equation" r:id="rId9" imgW="977265" imgH="444500" progId="Equation.DSMT4">
                  <p:embed/>
                  <p:pic>
                    <p:nvPicPr>
                      <p:cNvPr id="0" name="Object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22450" y="5354638"/>
                        <a:ext cx="1993900" cy="908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2150" name="Object 3"/>
          <p:cNvGraphicFramePr>
            <a:graphicFrameLocks noChangeAspect="1"/>
          </p:cNvGraphicFramePr>
          <p:nvPr/>
        </p:nvGraphicFramePr>
        <p:xfrm>
          <a:off x="3851275" y="5516563"/>
          <a:ext cx="1368425" cy="438150"/>
        </p:xfrm>
        <a:graphic>
          <a:graphicData uri="http://schemas.openxmlformats.org/presentationml/2006/ole">
            <mc:AlternateContent xmlns:mc="http://schemas.openxmlformats.org/markup-compatibility/2006">
              <mc:Choice xmlns:v="urn:schemas-microsoft-com:vml" Requires="v">
                <p:oleObj spid="_x0000_s32899" name="Equation" r:id="rId11" imgW="635000" imgH="203200" progId="Equation.DSMT4">
                  <p:embed/>
                </p:oleObj>
              </mc:Choice>
              <mc:Fallback>
                <p:oleObj name="Equation" r:id="rId11" imgW="635000" imgH="203200" progId="Equation.DSMT4">
                  <p:embed/>
                  <p:pic>
                    <p:nvPicPr>
                      <p:cNvPr id="0" name="Object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51275" y="5516563"/>
                        <a:ext cx="1368425"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1122"/>
                                        </p:tgtEl>
                                        <p:attrNameLst>
                                          <p:attrName>style.visibility</p:attrName>
                                        </p:attrNameLst>
                                      </p:cBhvr>
                                      <p:to>
                                        <p:strVal val="visible"/>
                                      </p:to>
                                    </p:set>
                                    <p:animEffect transition="in" filter="blinds(horizontal)">
                                      <p:cBhvr>
                                        <p:cTn id="7" dur="500"/>
                                        <p:tgtEl>
                                          <p:spTgt spid="26112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61123">
                                            <p:txEl>
                                              <p:pRg st="0" end="0"/>
                                            </p:txEl>
                                          </p:spTgt>
                                        </p:tgtEl>
                                        <p:attrNameLst>
                                          <p:attrName>style.visibility</p:attrName>
                                        </p:attrNameLst>
                                      </p:cBhvr>
                                      <p:to>
                                        <p:strVal val="visible"/>
                                      </p:to>
                                    </p:set>
                                    <p:animEffect transition="in" filter="dissolve">
                                      <p:cBhvr>
                                        <p:cTn id="12" dur="500"/>
                                        <p:tgtEl>
                                          <p:spTgt spid="26112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61127"/>
                                        </p:tgtEl>
                                        <p:attrNameLst>
                                          <p:attrName>style.visibility</p:attrName>
                                        </p:attrNameLst>
                                      </p:cBhvr>
                                      <p:to>
                                        <p:strVal val="visible"/>
                                      </p:to>
                                    </p:set>
                                    <p:animEffect transition="in" filter="dissolve">
                                      <p:cBhvr>
                                        <p:cTn id="17" dur="500"/>
                                        <p:tgtEl>
                                          <p:spTgt spid="26112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61128"/>
                                        </p:tgtEl>
                                        <p:attrNameLst>
                                          <p:attrName>style.visibility</p:attrName>
                                        </p:attrNameLst>
                                      </p:cBhvr>
                                      <p:to>
                                        <p:strVal val="visible"/>
                                      </p:to>
                                    </p:set>
                                    <p:animEffect transition="in" filter="dissolve">
                                      <p:cBhvr>
                                        <p:cTn id="22" dur="500"/>
                                        <p:tgtEl>
                                          <p:spTgt spid="26112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61130"/>
                                        </p:tgtEl>
                                        <p:attrNameLst>
                                          <p:attrName>style.visibility</p:attrName>
                                        </p:attrNameLst>
                                      </p:cBhvr>
                                      <p:to>
                                        <p:strVal val="visible"/>
                                      </p:to>
                                    </p:set>
                                    <p:animEffect transition="in" filter="dissolve">
                                      <p:cBhvr>
                                        <p:cTn id="27" dur="500"/>
                                        <p:tgtEl>
                                          <p:spTgt spid="261130"/>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261129"/>
                                        </p:tgtEl>
                                        <p:attrNameLst>
                                          <p:attrName>style.visibility</p:attrName>
                                        </p:attrNameLst>
                                      </p:cBhvr>
                                      <p:to>
                                        <p:strVal val="visible"/>
                                      </p:to>
                                    </p:set>
                                    <p:anim calcmode="lin" valueType="num">
                                      <p:cBhvr additive="base">
                                        <p:cTn id="32" dur="500" fill="hold"/>
                                        <p:tgtEl>
                                          <p:spTgt spid="261129"/>
                                        </p:tgtEl>
                                        <p:attrNameLst>
                                          <p:attrName>ppt_x</p:attrName>
                                        </p:attrNameLst>
                                      </p:cBhvr>
                                      <p:tavLst>
                                        <p:tav tm="0">
                                          <p:val>
                                            <p:strVal val="#ppt_x"/>
                                          </p:val>
                                        </p:tav>
                                        <p:tav tm="100000">
                                          <p:val>
                                            <p:strVal val="#ppt_x"/>
                                          </p:val>
                                        </p:tav>
                                      </p:tavLst>
                                    </p:anim>
                                    <p:anim calcmode="lin" valueType="num">
                                      <p:cBhvr additive="base">
                                        <p:cTn id="33" dur="500" fill="hold"/>
                                        <p:tgtEl>
                                          <p:spTgt spid="261129"/>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261129"/>
                                        </p:tgtEl>
                                        <p:attrNameLst>
                                          <p:attrName>style.visibility</p:attrName>
                                        </p:attrNameLst>
                                      </p:cBhvr>
                                      <p:to>
                                        <p:strVal val="hidden"/>
                                      </p:to>
                                    </p:set>
                                  </p:subTnLst>
                                </p:cTn>
                              </p:par>
                            </p:childTnLst>
                          </p:cTn>
                        </p:par>
                      </p:childTnLst>
                    </p:cTn>
                  </p:par>
                  <p:par>
                    <p:cTn id="34" fill="hold">
                      <p:stCondLst>
                        <p:cond delay="indefinite"/>
                      </p:stCondLst>
                      <p:childTnLst>
                        <p:par>
                          <p:cTn id="35" fill="hold">
                            <p:stCondLst>
                              <p:cond delay="0"/>
                            </p:stCondLst>
                            <p:childTnLst>
                              <p:par>
                                <p:cTn id="36" presetID="9" presetClass="entr" presetSubtype="0" fill="hold" nodeType="clickEffect">
                                  <p:stCondLst>
                                    <p:cond delay="0"/>
                                  </p:stCondLst>
                                  <p:childTnLst>
                                    <p:set>
                                      <p:cBhvr>
                                        <p:cTn id="37" dur="1" fill="hold">
                                          <p:stCondLst>
                                            <p:cond delay="0"/>
                                          </p:stCondLst>
                                        </p:cTn>
                                        <p:tgtEl>
                                          <p:spTgt spid="262149"/>
                                        </p:tgtEl>
                                        <p:attrNameLst>
                                          <p:attrName>style.visibility</p:attrName>
                                        </p:attrNameLst>
                                      </p:cBhvr>
                                      <p:to>
                                        <p:strVal val="visible"/>
                                      </p:to>
                                    </p:set>
                                    <p:animEffect transition="in" filter="dissolve">
                                      <p:cBhvr>
                                        <p:cTn id="38" dur="500"/>
                                        <p:tgtEl>
                                          <p:spTgt spid="262149"/>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nodeType="clickEffect">
                                  <p:stCondLst>
                                    <p:cond delay="0"/>
                                  </p:stCondLst>
                                  <p:childTnLst>
                                    <p:set>
                                      <p:cBhvr>
                                        <p:cTn id="42" dur="1" fill="hold">
                                          <p:stCondLst>
                                            <p:cond delay="0"/>
                                          </p:stCondLst>
                                        </p:cTn>
                                        <p:tgtEl>
                                          <p:spTgt spid="262150"/>
                                        </p:tgtEl>
                                        <p:attrNameLst>
                                          <p:attrName>style.visibility</p:attrName>
                                        </p:attrNameLst>
                                      </p:cBhvr>
                                      <p:to>
                                        <p:strVal val="visible"/>
                                      </p:to>
                                    </p:set>
                                    <p:animEffect transition="in" filter="dissolve">
                                      <p:cBhvr>
                                        <p:cTn id="43" dur="500"/>
                                        <p:tgtEl>
                                          <p:spTgt spid="262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122" grpId="0"/>
      <p:bldP spid="261129"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微信图片_20200420151237"/>
          <p:cNvPicPr>
            <a:picLocks noChangeAspect="1"/>
          </p:cNvPicPr>
          <p:nvPr/>
        </p:nvPicPr>
        <p:blipFill>
          <a:blip r:embed="rId2"/>
          <a:stretch>
            <a:fillRect/>
          </a:stretch>
        </p:blipFill>
        <p:spPr>
          <a:xfrm>
            <a:off x="228600" y="600075"/>
            <a:ext cx="8616315" cy="565721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微信图片_20200420151240"/>
          <p:cNvPicPr>
            <a:picLocks noChangeAspect="1"/>
          </p:cNvPicPr>
          <p:nvPr/>
        </p:nvPicPr>
        <p:blipFill>
          <a:blip r:embed="rId2"/>
          <a:stretch>
            <a:fillRect/>
          </a:stretch>
        </p:blipFill>
        <p:spPr>
          <a:xfrm>
            <a:off x="66040" y="600075"/>
            <a:ext cx="8802370" cy="565721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微信图片_20200420151658"/>
          <p:cNvPicPr>
            <a:picLocks noChangeAspect="1"/>
          </p:cNvPicPr>
          <p:nvPr/>
        </p:nvPicPr>
        <p:blipFill>
          <a:blip r:embed="rId2"/>
          <a:stretch>
            <a:fillRect/>
          </a:stretch>
        </p:blipFill>
        <p:spPr>
          <a:xfrm>
            <a:off x="105410" y="600075"/>
            <a:ext cx="8879205" cy="565721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Text Box 2"/>
          <p:cNvSpPr txBox="1">
            <a:spLocks noChangeArrowheads="1"/>
          </p:cNvSpPr>
          <p:nvPr/>
        </p:nvSpPr>
        <p:spPr bwMode="auto">
          <a:xfrm>
            <a:off x="862013" y="449263"/>
            <a:ext cx="8027987" cy="447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ea typeface="华文新魏" panose="02010800040101010101" pitchFamily="2" charset="-122"/>
              </a:rPr>
              <a:t>例：武大学生</a:t>
            </a:r>
            <a:r>
              <a:rPr lang="en-US" altLang="zh-CN">
                <a:ea typeface="华文新魏" panose="02010800040101010101" pitchFamily="2" charset="-122"/>
              </a:rPr>
              <a:t>10000</a:t>
            </a:r>
            <a:r>
              <a:rPr lang="zh-CN" altLang="en-US">
                <a:ea typeface="华文新魏" panose="02010800040101010101" pitchFamily="2" charset="-122"/>
              </a:rPr>
              <a:t>名，在周一晚上去自习的概率为</a:t>
            </a:r>
            <a:r>
              <a:rPr lang="en-US" altLang="zh-CN">
                <a:ea typeface="华文新魏" panose="02010800040101010101" pitchFamily="2" charset="-122"/>
              </a:rPr>
              <a:t>0.7</a:t>
            </a:r>
            <a:r>
              <a:rPr lang="zh-CN" altLang="en-US">
                <a:ea typeface="华文新魏" panose="02010800040101010101" pitchFamily="2" charset="-122"/>
              </a:rPr>
              <a:t>，假设彼此自习是相互独立的，设</a:t>
            </a:r>
            <a:r>
              <a:rPr lang="en-US" altLang="zh-CN" i="1">
                <a:ea typeface="华文新魏" panose="02010800040101010101" pitchFamily="2" charset="-122"/>
              </a:rPr>
              <a:t>X </a:t>
            </a:r>
            <a:r>
              <a:rPr lang="zh-CN" altLang="en-US">
                <a:ea typeface="华文新魏" panose="02010800040101010101" pitchFamily="2" charset="-122"/>
              </a:rPr>
              <a:t>为周一晚上武大学生去上自习的人数。</a:t>
            </a:r>
          </a:p>
          <a:p>
            <a:pPr eaLnBrk="1" hangingPunct="1">
              <a:spcBef>
                <a:spcPct val="50000"/>
              </a:spcBef>
            </a:pPr>
            <a:r>
              <a:rPr lang="zh-CN" altLang="en-US">
                <a:ea typeface="华文新魏" panose="02010800040101010101" pitchFamily="2" charset="-122"/>
              </a:rPr>
              <a:t>（</a:t>
            </a:r>
            <a:r>
              <a:rPr lang="en-US" altLang="zh-CN">
                <a:ea typeface="华文新魏" panose="02010800040101010101" pitchFamily="2" charset="-122"/>
              </a:rPr>
              <a:t>1</a:t>
            </a:r>
            <a:r>
              <a:rPr lang="zh-CN" altLang="en-US">
                <a:ea typeface="华文新魏" panose="02010800040101010101" pitchFamily="2" charset="-122"/>
              </a:rPr>
              <a:t>）写出</a:t>
            </a:r>
            <a:r>
              <a:rPr lang="en-US" altLang="zh-CN">
                <a:ea typeface="华文新魏" panose="02010800040101010101" pitchFamily="2" charset="-122"/>
              </a:rPr>
              <a:t>X </a:t>
            </a:r>
            <a:r>
              <a:rPr lang="zh-CN" altLang="en-US">
                <a:ea typeface="华文新魏" panose="02010800040101010101" pitchFamily="2" charset="-122"/>
              </a:rPr>
              <a:t>的分布；</a:t>
            </a:r>
          </a:p>
          <a:p>
            <a:pPr eaLnBrk="1" hangingPunct="1">
              <a:spcBef>
                <a:spcPct val="50000"/>
              </a:spcBef>
            </a:pPr>
            <a:r>
              <a:rPr lang="zh-CN" altLang="en-US">
                <a:ea typeface="华文新魏" panose="02010800040101010101" pitchFamily="2" charset="-122"/>
              </a:rPr>
              <a:t>（</a:t>
            </a:r>
            <a:r>
              <a:rPr lang="en-US" altLang="zh-CN">
                <a:ea typeface="华文新魏" panose="02010800040101010101" pitchFamily="2" charset="-122"/>
              </a:rPr>
              <a:t>2</a:t>
            </a:r>
            <a:r>
              <a:rPr lang="zh-CN" altLang="en-US">
                <a:ea typeface="华文新魏" panose="02010800040101010101" pitchFamily="2" charset="-122"/>
              </a:rPr>
              <a:t>）用切比雪夫不等式估算周一晚上武大上自习的人数在</a:t>
            </a:r>
          </a:p>
          <a:p>
            <a:pPr eaLnBrk="1" hangingPunct="1">
              <a:spcBef>
                <a:spcPct val="50000"/>
              </a:spcBef>
            </a:pPr>
            <a:r>
              <a:rPr lang="zh-CN" altLang="en-US">
                <a:ea typeface="华文新魏" panose="02010800040101010101" pitchFamily="2" charset="-122"/>
              </a:rPr>
              <a:t>          </a:t>
            </a:r>
            <a:r>
              <a:rPr lang="en-US" altLang="zh-CN">
                <a:ea typeface="华文新魏" panose="02010800040101010101" pitchFamily="2" charset="-122"/>
              </a:rPr>
              <a:t>6800~7200</a:t>
            </a:r>
            <a:r>
              <a:rPr lang="zh-CN" altLang="en-US">
                <a:ea typeface="华文新魏" panose="02010800040101010101" pitchFamily="2" charset="-122"/>
              </a:rPr>
              <a:t>之间的概率的近似值；</a:t>
            </a:r>
          </a:p>
          <a:p>
            <a:pPr eaLnBrk="1" hangingPunct="1">
              <a:spcBef>
                <a:spcPct val="50000"/>
              </a:spcBef>
            </a:pPr>
            <a:r>
              <a:rPr lang="zh-CN" altLang="en-US">
                <a:ea typeface="华文新魏" panose="02010800040101010101" pitchFamily="2" charset="-122"/>
              </a:rPr>
              <a:t>（</a:t>
            </a:r>
            <a:r>
              <a:rPr lang="en-US" altLang="zh-CN">
                <a:ea typeface="华文新魏" panose="02010800040101010101" pitchFamily="2" charset="-122"/>
              </a:rPr>
              <a:t>3</a:t>
            </a:r>
            <a:r>
              <a:rPr lang="zh-CN" altLang="en-US">
                <a:ea typeface="华文新魏" panose="02010800040101010101" pitchFamily="2" charset="-122"/>
              </a:rPr>
              <a:t>）用棣莫弗</a:t>
            </a:r>
            <a:r>
              <a:rPr lang="en-US" altLang="zh-CN">
                <a:ea typeface="华文新魏" panose="02010800040101010101" pitchFamily="2" charset="-122"/>
              </a:rPr>
              <a:t>-</a:t>
            </a:r>
            <a:r>
              <a:rPr lang="zh-CN" altLang="en-US">
                <a:ea typeface="华文新魏" panose="02010800040101010101" pitchFamily="2" charset="-122"/>
              </a:rPr>
              <a:t>拉普拉斯定理计算周一晚上武大学生上自</a:t>
            </a:r>
          </a:p>
          <a:p>
            <a:pPr eaLnBrk="1" hangingPunct="1">
              <a:spcBef>
                <a:spcPct val="50000"/>
              </a:spcBef>
            </a:pPr>
            <a:r>
              <a:rPr lang="zh-CN" altLang="en-US">
                <a:ea typeface="华文新魏" panose="02010800040101010101" pitchFamily="2" charset="-122"/>
              </a:rPr>
              <a:t>       习人数在</a:t>
            </a:r>
            <a:r>
              <a:rPr lang="en-US" altLang="zh-CN">
                <a:ea typeface="华文新魏" panose="02010800040101010101" pitchFamily="2" charset="-122"/>
              </a:rPr>
              <a:t>6800~7200</a:t>
            </a:r>
            <a:r>
              <a:rPr lang="zh-CN" altLang="en-US">
                <a:ea typeface="华文新魏" panose="02010800040101010101" pitchFamily="2" charset="-122"/>
              </a:rPr>
              <a:t>之间的概率的近似值。</a:t>
            </a:r>
          </a:p>
          <a:p>
            <a:pPr eaLnBrk="1" hangingPunct="1">
              <a:spcBef>
                <a:spcPct val="50000"/>
              </a:spcBef>
            </a:pPr>
            <a:endParaRPr lang="zh-CN" altLang="en-US">
              <a:ea typeface="华文新魏" panose="02010800040101010101" pitchFamily="2" charset="-122"/>
            </a:endParaRPr>
          </a:p>
        </p:txBody>
      </p:sp>
      <p:sp>
        <p:nvSpPr>
          <p:cNvPr id="263171" name="Rectangle 3"/>
          <p:cNvSpPr>
            <a:spLocks noChangeArrowheads="1"/>
          </p:cNvSpPr>
          <p:nvPr/>
        </p:nvSpPr>
        <p:spPr bwMode="auto">
          <a:xfrm>
            <a:off x="682625" y="4629150"/>
            <a:ext cx="1428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a:ea typeface="华文新魏" panose="02010800040101010101" pitchFamily="2" charset="-122"/>
              </a:rPr>
              <a:t>解</a:t>
            </a:r>
            <a:r>
              <a:rPr lang="en-US" altLang="zh-CN" b="1">
                <a:ea typeface="华文新魏" panose="02010800040101010101" pitchFamily="2" charset="-122"/>
              </a:rPr>
              <a:t>:</a:t>
            </a:r>
            <a:r>
              <a:rPr lang="zh-CN" altLang="en-US" b="1">
                <a:ea typeface="华文新魏" panose="02010800040101010101" pitchFamily="2" charset="-122"/>
              </a:rPr>
              <a:t>（</a:t>
            </a:r>
            <a:r>
              <a:rPr lang="en-US" altLang="zh-CN" b="1">
                <a:ea typeface="华文新魏" panose="02010800040101010101" pitchFamily="2" charset="-122"/>
              </a:rPr>
              <a:t>1</a:t>
            </a:r>
            <a:r>
              <a:rPr lang="zh-CN" altLang="en-US" b="1">
                <a:ea typeface="华文新魏" panose="02010800040101010101" pitchFamily="2" charset="-122"/>
              </a:rPr>
              <a:t>）</a:t>
            </a:r>
            <a:r>
              <a:rPr lang="zh-CN" altLang="en-US">
                <a:ea typeface="华文新魏" panose="02010800040101010101" pitchFamily="2" charset="-122"/>
              </a:rPr>
              <a:t> </a:t>
            </a:r>
          </a:p>
        </p:txBody>
      </p:sp>
      <p:sp>
        <p:nvSpPr>
          <p:cNvPr id="34820" name="Rectangle 4"/>
          <p:cNvSpPr>
            <a:spLocks noChangeArrowheads="1"/>
          </p:cNvSpPr>
          <p:nvPr/>
        </p:nvSpPr>
        <p:spPr bwMode="auto">
          <a:xfrm>
            <a:off x="358775" y="382905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sz="1800">
              <a:latin typeface="Arial" panose="020B0604020202020204" pitchFamily="34" charset="0"/>
            </a:endParaRPr>
          </a:p>
        </p:txBody>
      </p:sp>
      <p:graphicFrame>
        <p:nvGraphicFramePr>
          <p:cNvPr id="263173" name="Object 2"/>
          <p:cNvGraphicFramePr>
            <a:graphicFrameLocks noChangeAspect="1"/>
          </p:cNvGraphicFramePr>
          <p:nvPr/>
        </p:nvGraphicFramePr>
        <p:xfrm>
          <a:off x="2051050" y="4652963"/>
          <a:ext cx="1728788" cy="492125"/>
        </p:xfrm>
        <a:graphic>
          <a:graphicData uri="http://schemas.openxmlformats.org/presentationml/2006/ole">
            <mc:AlternateContent xmlns:mc="http://schemas.openxmlformats.org/markup-compatibility/2006">
              <mc:Choice xmlns:v="urn:schemas-microsoft-com:vml" Requires="v">
                <p:oleObj spid="_x0000_s34922" name="Equation" r:id="rId3" imgW="774065" imgH="215900" progId="Equation.DSMT4">
                  <p:embed/>
                </p:oleObj>
              </mc:Choice>
              <mc:Fallback>
                <p:oleObj name="Equation" r:id="rId3" imgW="774065" imgH="2159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050" y="4652963"/>
                        <a:ext cx="172878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822" name="Rectangle 6"/>
          <p:cNvSpPr>
            <a:spLocks noChangeArrowheads="1"/>
          </p:cNvSpPr>
          <p:nvPr/>
        </p:nvSpPr>
        <p:spPr bwMode="auto">
          <a:xfrm>
            <a:off x="358775" y="3838575"/>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sz="1800">
              <a:latin typeface="Arial" panose="020B0604020202020204" pitchFamily="34" charset="0"/>
            </a:endParaRPr>
          </a:p>
        </p:txBody>
      </p:sp>
      <p:graphicFrame>
        <p:nvGraphicFramePr>
          <p:cNvPr id="263175" name="Object 3"/>
          <p:cNvGraphicFramePr>
            <a:graphicFrameLocks noChangeAspect="1"/>
          </p:cNvGraphicFramePr>
          <p:nvPr/>
        </p:nvGraphicFramePr>
        <p:xfrm>
          <a:off x="6010275" y="4649788"/>
          <a:ext cx="1008063" cy="407987"/>
        </p:xfrm>
        <a:graphic>
          <a:graphicData uri="http://schemas.openxmlformats.org/presentationml/2006/ole">
            <mc:AlternateContent xmlns:mc="http://schemas.openxmlformats.org/markup-compatibility/2006">
              <mc:Choice xmlns:v="urn:schemas-microsoft-com:vml" Requires="v">
                <p:oleObj spid="_x0000_s34923" name="Equation" r:id="rId5" imgW="494665" imgH="203200" progId="Equation.DSMT4">
                  <p:embed/>
                </p:oleObj>
              </mc:Choice>
              <mc:Fallback>
                <p:oleObj name="Equation" r:id="rId5" imgW="494665" imgH="2032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10275" y="4649788"/>
                        <a:ext cx="1008063"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824" name="Rectangle 8"/>
          <p:cNvSpPr>
            <a:spLocks noChangeArrowheads="1"/>
          </p:cNvSpPr>
          <p:nvPr/>
        </p:nvSpPr>
        <p:spPr bwMode="auto">
          <a:xfrm>
            <a:off x="358775" y="38481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sz="1800">
              <a:latin typeface="Arial" panose="020B0604020202020204" pitchFamily="34" charset="0"/>
            </a:endParaRPr>
          </a:p>
        </p:txBody>
      </p:sp>
      <p:graphicFrame>
        <p:nvGraphicFramePr>
          <p:cNvPr id="263177" name="Object 4"/>
          <p:cNvGraphicFramePr>
            <a:graphicFrameLocks noChangeAspect="1"/>
          </p:cNvGraphicFramePr>
          <p:nvPr/>
        </p:nvGraphicFramePr>
        <p:xfrm>
          <a:off x="4210050" y="4695825"/>
          <a:ext cx="1296988" cy="361950"/>
        </p:xfrm>
        <a:graphic>
          <a:graphicData uri="http://schemas.openxmlformats.org/presentationml/2006/ole">
            <mc:AlternateContent xmlns:mc="http://schemas.openxmlformats.org/markup-compatibility/2006">
              <mc:Choice xmlns:v="urn:schemas-microsoft-com:vml" Requires="v">
                <p:oleObj spid="_x0000_s34924" name="Equation" r:id="rId7" imgW="647700" imgH="177800" progId="Equation.DSMT4">
                  <p:embed/>
                </p:oleObj>
              </mc:Choice>
              <mc:Fallback>
                <p:oleObj name="Equation" r:id="rId7" imgW="647700" imgH="17780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10050" y="4695825"/>
                        <a:ext cx="1296988"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826" name="Rectangle 10"/>
          <p:cNvSpPr>
            <a:spLocks noChangeArrowheads="1"/>
          </p:cNvSpPr>
          <p:nvPr/>
        </p:nvSpPr>
        <p:spPr bwMode="auto">
          <a:xfrm>
            <a:off x="358775" y="3794125"/>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sz="1800">
              <a:latin typeface="Arial" panose="020B0604020202020204" pitchFamily="34" charset="0"/>
            </a:endParaRPr>
          </a:p>
        </p:txBody>
      </p:sp>
      <p:graphicFrame>
        <p:nvGraphicFramePr>
          <p:cNvPr id="263179" name="Object 5"/>
          <p:cNvGraphicFramePr>
            <a:graphicFrameLocks noChangeAspect="1"/>
          </p:cNvGraphicFramePr>
          <p:nvPr/>
        </p:nvGraphicFramePr>
        <p:xfrm>
          <a:off x="827088" y="5561013"/>
          <a:ext cx="8424862" cy="604837"/>
        </p:xfrm>
        <a:graphic>
          <a:graphicData uri="http://schemas.openxmlformats.org/presentationml/2006/ole">
            <mc:AlternateContent xmlns:mc="http://schemas.openxmlformats.org/markup-compatibility/2006">
              <mc:Choice xmlns:v="urn:schemas-microsoft-com:vml" Requires="v">
                <p:oleObj spid="_x0000_s34925" name="Equation" r:id="rId9" imgW="3314700" imgH="241300" progId="Equation.DSMT4">
                  <p:embed/>
                </p:oleObj>
              </mc:Choice>
              <mc:Fallback>
                <p:oleObj name="Equation" r:id="rId9" imgW="3314700" imgH="241300"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27088" y="5561013"/>
                        <a:ext cx="8424862"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63170"/>
                                        </p:tgtEl>
                                        <p:attrNameLst>
                                          <p:attrName>style.visibility</p:attrName>
                                        </p:attrNameLst>
                                      </p:cBhvr>
                                      <p:to>
                                        <p:strVal val="visible"/>
                                      </p:to>
                                    </p:set>
                                    <p:animEffect transition="in" filter="box(in)">
                                      <p:cBhvr>
                                        <p:cTn id="7" dur="500"/>
                                        <p:tgtEl>
                                          <p:spTgt spid="26317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63171"/>
                                        </p:tgtEl>
                                        <p:attrNameLst>
                                          <p:attrName>style.visibility</p:attrName>
                                        </p:attrNameLst>
                                      </p:cBhvr>
                                      <p:to>
                                        <p:strVal val="visible"/>
                                      </p:to>
                                    </p:set>
                                    <p:anim calcmode="lin" valueType="num">
                                      <p:cBhvr additive="base">
                                        <p:cTn id="12" dur="500" fill="hold"/>
                                        <p:tgtEl>
                                          <p:spTgt spid="263171"/>
                                        </p:tgtEl>
                                        <p:attrNameLst>
                                          <p:attrName>ppt_x</p:attrName>
                                        </p:attrNameLst>
                                      </p:cBhvr>
                                      <p:tavLst>
                                        <p:tav tm="0">
                                          <p:val>
                                            <p:strVal val="#ppt_x"/>
                                          </p:val>
                                        </p:tav>
                                        <p:tav tm="100000">
                                          <p:val>
                                            <p:strVal val="#ppt_x"/>
                                          </p:val>
                                        </p:tav>
                                      </p:tavLst>
                                    </p:anim>
                                    <p:anim calcmode="lin" valueType="num">
                                      <p:cBhvr additive="base">
                                        <p:cTn id="13" dur="500" fill="hold"/>
                                        <p:tgtEl>
                                          <p:spTgt spid="26317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263173"/>
                                        </p:tgtEl>
                                        <p:attrNameLst>
                                          <p:attrName>style.visibility</p:attrName>
                                        </p:attrNameLst>
                                      </p:cBhvr>
                                      <p:to>
                                        <p:strVal val="visible"/>
                                      </p:to>
                                    </p:set>
                                    <p:animEffect transition="in" filter="wipe(down)">
                                      <p:cBhvr>
                                        <p:cTn id="18" dur="500"/>
                                        <p:tgtEl>
                                          <p:spTgt spid="26317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263177"/>
                                        </p:tgtEl>
                                        <p:attrNameLst>
                                          <p:attrName>style.visibility</p:attrName>
                                        </p:attrNameLst>
                                      </p:cBhvr>
                                      <p:to>
                                        <p:strVal val="visible"/>
                                      </p:to>
                                    </p:set>
                                    <p:animEffect transition="in" filter="wipe(down)">
                                      <p:cBhvr>
                                        <p:cTn id="23" dur="500"/>
                                        <p:tgtEl>
                                          <p:spTgt spid="26317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263175"/>
                                        </p:tgtEl>
                                        <p:attrNameLst>
                                          <p:attrName>style.visibility</p:attrName>
                                        </p:attrNameLst>
                                      </p:cBhvr>
                                      <p:to>
                                        <p:strVal val="visible"/>
                                      </p:to>
                                    </p:set>
                                    <p:animEffect transition="in" filter="wipe(down)">
                                      <p:cBhvr>
                                        <p:cTn id="28" dur="500"/>
                                        <p:tgtEl>
                                          <p:spTgt spid="263175"/>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263179"/>
                                        </p:tgtEl>
                                        <p:attrNameLst>
                                          <p:attrName>style.visibility</p:attrName>
                                        </p:attrNameLst>
                                      </p:cBhvr>
                                      <p:to>
                                        <p:strVal val="visible"/>
                                      </p:to>
                                    </p:set>
                                    <p:animEffect transition="in" filter="dissolve">
                                      <p:cBhvr>
                                        <p:cTn id="33" dur="500"/>
                                        <p:tgtEl>
                                          <p:spTgt spid="263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70" grpId="0"/>
      <p:bldP spid="26317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ChangeArrowheads="1"/>
          </p:cNvSpPr>
          <p:nvPr/>
        </p:nvSpPr>
        <p:spPr bwMode="auto">
          <a:xfrm>
            <a:off x="-323850" y="3146425"/>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sz="1800">
              <a:latin typeface="Arial" panose="020B0604020202020204" pitchFamily="34" charset="0"/>
            </a:endParaRPr>
          </a:p>
        </p:txBody>
      </p:sp>
      <p:graphicFrame>
        <p:nvGraphicFramePr>
          <p:cNvPr id="264195" name="Object 2"/>
          <p:cNvGraphicFramePr>
            <a:graphicFrameLocks noChangeAspect="1"/>
          </p:cNvGraphicFramePr>
          <p:nvPr/>
        </p:nvGraphicFramePr>
        <p:xfrm>
          <a:off x="1941513" y="765175"/>
          <a:ext cx="4683125" cy="433388"/>
        </p:xfrm>
        <a:graphic>
          <a:graphicData uri="http://schemas.openxmlformats.org/presentationml/2006/ole">
            <mc:AlternateContent xmlns:mc="http://schemas.openxmlformats.org/markup-compatibility/2006">
              <mc:Choice xmlns:v="urn:schemas-microsoft-com:vml" Requires="v">
                <p:oleObj spid="_x0000_s35994" name="Equation" r:id="rId3" imgW="2159000" imgH="203200" progId="Equation.DSMT4">
                  <p:embed/>
                </p:oleObj>
              </mc:Choice>
              <mc:Fallback>
                <p:oleObj name="Equation" r:id="rId3" imgW="2159000" imgH="2032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41513" y="765175"/>
                        <a:ext cx="468312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44" name="Rectangle 4"/>
          <p:cNvSpPr>
            <a:spLocks noChangeArrowheads="1"/>
          </p:cNvSpPr>
          <p:nvPr/>
        </p:nvSpPr>
        <p:spPr bwMode="auto">
          <a:xfrm>
            <a:off x="936625" y="739775"/>
            <a:ext cx="946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a:ea typeface="华文新魏" panose="02010800040101010101" pitchFamily="2" charset="-122"/>
              </a:rPr>
              <a:t>（</a:t>
            </a:r>
            <a:r>
              <a:rPr lang="en-US" altLang="zh-CN" b="1">
                <a:ea typeface="华文新魏" panose="02010800040101010101" pitchFamily="2" charset="-122"/>
              </a:rPr>
              <a:t>2</a:t>
            </a:r>
            <a:r>
              <a:rPr lang="zh-CN" altLang="en-US" b="1">
                <a:ea typeface="华文新魏" panose="02010800040101010101" pitchFamily="2" charset="-122"/>
              </a:rPr>
              <a:t>）</a:t>
            </a:r>
          </a:p>
        </p:txBody>
      </p:sp>
      <p:sp>
        <p:nvSpPr>
          <p:cNvPr id="264197" name="Rectangle 5"/>
          <p:cNvSpPr>
            <a:spLocks noChangeArrowheads="1"/>
          </p:cNvSpPr>
          <p:nvPr/>
        </p:nvSpPr>
        <p:spPr bwMode="auto">
          <a:xfrm>
            <a:off x="755650" y="3068638"/>
            <a:ext cx="946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a:ea typeface="华文新魏" panose="02010800040101010101" pitchFamily="2" charset="-122"/>
              </a:rPr>
              <a:t>（</a:t>
            </a:r>
            <a:r>
              <a:rPr lang="en-US" altLang="zh-CN" b="1">
                <a:ea typeface="华文新魏" panose="02010800040101010101" pitchFamily="2" charset="-122"/>
              </a:rPr>
              <a:t>3</a:t>
            </a:r>
            <a:r>
              <a:rPr lang="zh-CN" altLang="en-US" b="1">
                <a:ea typeface="华文新魏" panose="02010800040101010101" pitchFamily="2" charset="-122"/>
              </a:rPr>
              <a:t>）</a:t>
            </a:r>
          </a:p>
        </p:txBody>
      </p:sp>
      <p:graphicFrame>
        <p:nvGraphicFramePr>
          <p:cNvPr id="264198" name="Object 3"/>
          <p:cNvGraphicFramePr>
            <a:graphicFrameLocks noChangeAspect="1"/>
          </p:cNvGraphicFramePr>
          <p:nvPr/>
        </p:nvGraphicFramePr>
        <p:xfrm>
          <a:off x="935038" y="1341438"/>
          <a:ext cx="6121400" cy="428625"/>
        </p:xfrm>
        <a:graphic>
          <a:graphicData uri="http://schemas.openxmlformats.org/presentationml/2006/ole">
            <mc:AlternateContent xmlns:mc="http://schemas.openxmlformats.org/markup-compatibility/2006">
              <mc:Choice xmlns:v="urn:schemas-microsoft-com:vml" Requires="v">
                <p:oleObj spid="_x0000_s35995" name="Equation" r:id="rId5" imgW="3124200" imgH="215900" progId="Equation.DSMT4">
                  <p:embed/>
                </p:oleObj>
              </mc:Choice>
              <mc:Fallback>
                <p:oleObj name="Equation" r:id="rId5" imgW="3124200" imgH="2159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5038" y="1341438"/>
                        <a:ext cx="61214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4199" name="Object 4"/>
          <p:cNvGraphicFramePr>
            <a:graphicFrameLocks noChangeAspect="1"/>
          </p:cNvGraphicFramePr>
          <p:nvPr/>
        </p:nvGraphicFramePr>
        <p:xfrm>
          <a:off x="3429000" y="1858963"/>
          <a:ext cx="5211763" cy="777875"/>
        </p:xfrm>
        <a:graphic>
          <a:graphicData uri="http://schemas.openxmlformats.org/presentationml/2006/ole">
            <mc:AlternateContent xmlns:mc="http://schemas.openxmlformats.org/markup-compatibility/2006">
              <mc:Choice xmlns:v="urn:schemas-microsoft-com:vml" Requires="v">
                <p:oleObj spid="_x0000_s35996" name="Equation" r:id="rId7" imgW="2616200" imgH="393700" progId="Equation.DSMT4">
                  <p:embed/>
                </p:oleObj>
              </mc:Choice>
              <mc:Fallback>
                <p:oleObj name="Equation" r:id="rId7" imgW="2616200" imgH="39370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29000" y="1858963"/>
                        <a:ext cx="5211763"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48" name="Rectangle 8"/>
          <p:cNvSpPr>
            <a:spLocks noChangeArrowheads="1"/>
          </p:cNvSpPr>
          <p:nvPr/>
        </p:nvSpPr>
        <p:spPr bwMode="auto">
          <a:xfrm>
            <a:off x="-323850" y="3017838"/>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sz="1800">
              <a:latin typeface="Arial" panose="020B0604020202020204" pitchFamily="34" charset="0"/>
            </a:endParaRPr>
          </a:p>
        </p:txBody>
      </p:sp>
      <p:graphicFrame>
        <p:nvGraphicFramePr>
          <p:cNvPr id="264201" name="Object 5"/>
          <p:cNvGraphicFramePr>
            <a:graphicFrameLocks noChangeAspect="1"/>
          </p:cNvGraphicFramePr>
          <p:nvPr/>
        </p:nvGraphicFramePr>
        <p:xfrm>
          <a:off x="1416050" y="2924175"/>
          <a:ext cx="7431088" cy="885825"/>
        </p:xfrm>
        <a:graphic>
          <a:graphicData uri="http://schemas.openxmlformats.org/presentationml/2006/ole">
            <mc:AlternateContent xmlns:mc="http://schemas.openxmlformats.org/markup-compatibility/2006">
              <mc:Choice xmlns:v="urn:schemas-microsoft-com:vml" Requires="v">
                <p:oleObj spid="_x0000_s35997" name="Equation" r:id="rId9" imgW="3835400" imgH="457200" progId="Equation.DSMT4">
                  <p:embed/>
                </p:oleObj>
              </mc:Choice>
              <mc:Fallback>
                <p:oleObj name="Equation" r:id="rId9" imgW="3835400" imgH="457200"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16050" y="2924175"/>
                        <a:ext cx="7431088"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50" name="Rectangle 10"/>
          <p:cNvSpPr>
            <a:spLocks noChangeArrowheads="1"/>
          </p:cNvSpPr>
          <p:nvPr/>
        </p:nvSpPr>
        <p:spPr bwMode="auto">
          <a:xfrm>
            <a:off x="-323850" y="3017838"/>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sz="1800">
              <a:latin typeface="Arial" panose="020B0604020202020204" pitchFamily="34" charset="0"/>
            </a:endParaRPr>
          </a:p>
        </p:txBody>
      </p:sp>
      <p:graphicFrame>
        <p:nvGraphicFramePr>
          <p:cNvPr id="264203" name="Object 6"/>
          <p:cNvGraphicFramePr>
            <a:graphicFrameLocks noChangeAspect="1"/>
          </p:cNvGraphicFramePr>
          <p:nvPr/>
        </p:nvGraphicFramePr>
        <p:xfrm>
          <a:off x="3887788" y="4149725"/>
          <a:ext cx="3529012" cy="811213"/>
        </p:xfrm>
        <a:graphic>
          <a:graphicData uri="http://schemas.openxmlformats.org/presentationml/2006/ole">
            <mc:AlternateContent xmlns:mc="http://schemas.openxmlformats.org/markup-compatibility/2006">
              <mc:Choice xmlns:v="urn:schemas-microsoft-com:vml" Requires="v">
                <p:oleObj spid="_x0000_s35998" name="Equation" r:id="rId11" imgW="1993900" imgH="457200" progId="Equation.DSMT4">
                  <p:embed/>
                </p:oleObj>
              </mc:Choice>
              <mc:Fallback>
                <p:oleObj name="Equation" r:id="rId11" imgW="1993900" imgH="457200" progId="Equation.DSMT4">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87788" y="4149725"/>
                        <a:ext cx="3529012" cy="81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52" name="Rectangle 12"/>
          <p:cNvSpPr>
            <a:spLocks noChangeArrowheads="1"/>
          </p:cNvSpPr>
          <p:nvPr/>
        </p:nvSpPr>
        <p:spPr bwMode="auto">
          <a:xfrm>
            <a:off x="-323850" y="3017838"/>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sz="1800">
              <a:latin typeface="Arial" panose="020B0604020202020204" pitchFamily="34" charset="0"/>
            </a:endParaRPr>
          </a:p>
        </p:txBody>
      </p:sp>
      <p:graphicFrame>
        <p:nvGraphicFramePr>
          <p:cNvPr id="264205" name="Object 7"/>
          <p:cNvGraphicFramePr>
            <a:graphicFrameLocks noChangeAspect="1"/>
          </p:cNvGraphicFramePr>
          <p:nvPr/>
        </p:nvGraphicFramePr>
        <p:xfrm>
          <a:off x="3898900" y="5191125"/>
          <a:ext cx="2208213" cy="830263"/>
        </p:xfrm>
        <a:graphic>
          <a:graphicData uri="http://schemas.openxmlformats.org/presentationml/2006/ole">
            <mc:AlternateContent xmlns:mc="http://schemas.openxmlformats.org/markup-compatibility/2006">
              <mc:Choice xmlns:v="urn:schemas-microsoft-com:vml" Requires="v">
                <p:oleObj spid="_x0000_s35999" name="Equation" r:id="rId13" imgW="1219200" imgH="457200" progId="Equation.DSMT4">
                  <p:embed/>
                </p:oleObj>
              </mc:Choice>
              <mc:Fallback>
                <p:oleObj name="Equation" r:id="rId13" imgW="1219200" imgH="457200" progId="Equation.DSMT4">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898900" y="5191125"/>
                        <a:ext cx="220821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64195"/>
                                        </p:tgtEl>
                                        <p:attrNameLst>
                                          <p:attrName>style.visibility</p:attrName>
                                        </p:attrNameLst>
                                      </p:cBhvr>
                                      <p:to>
                                        <p:strVal val="visible"/>
                                      </p:to>
                                    </p:set>
                                    <p:animEffect transition="in" filter="dissolve">
                                      <p:cBhvr>
                                        <p:cTn id="7" dur="500"/>
                                        <p:tgtEl>
                                          <p:spTgt spid="26419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64198"/>
                                        </p:tgtEl>
                                        <p:attrNameLst>
                                          <p:attrName>style.visibility</p:attrName>
                                        </p:attrNameLst>
                                      </p:cBhvr>
                                      <p:to>
                                        <p:strVal val="visible"/>
                                      </p:to>
                                    </p:set>
                                    <p:anim calcmode="lin" valueType="num">
                                      <p:cBhvr additive="base">
                                        <p:cTn id="12" dur="500" fill="hold"/>
                                        <p:tgtEl>
                                          <p:spTgt spid="264198"/>
                                        </p:tgtEl>
                                        <p:attrNameLst>
                                          <p:attrName>ppt_x</p:attrName>
                                        </p:attrNameLst>
                                      </p:cBhvr>
                                      <p:tavLst>
                                        <p:tav tm="0">
                                          <p:val>
                                            <p:strVal val="#ppt_x"/>
                                          </p:val>
                                        </p:tav>
                                        <p:tav tm="100000">
                                          <p:val>
                                            <p:strVal val="#ppt_x"/>
                                          </p:val>
                                        </p:tav>
                                      </p:tavLst>
                                    </p:anim>
                                    <p:anim calcmode="lin" valueType="num">
                                      <p:cBhvr additive="base">
                                        <p:cTn id="13" dur="500" fill="hold"/>
                                        <p:tgtEl>
                                          <p:spTgt spid="264198"/>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64199"/>
                                        </p:tgtEl>
                                        <p:attrNameLst>
                                          <p:attrName>style.visibility</p:attrName>
                                        </p:attrNameLst>
                                      </p:cBhvr>
                                      <p:to>
                                        <p:strVal val="visible"/>
                                      </p:to>
                                    </p:set>
                                    <p:anim calcmode="lin" valueType="num">
                                      <p:cBhvr additive="base">
                                        <p:cTn id="18" dur="500" fill="hold"/>
                                        <p:tgtEl>
                                          <p:spTgt spid="264199"/>
                                        </p:tgtEl>
                                        <p:attrNameLst>
                                          <p:attrName>ppt_x</p:attrName>
                                        </p:attrNameLst>
                                      </p:cBhvr>
                                      <p:tavLst>
                                        <p:tav tm="0">
                                          <p:val>
                                            <p:strVal val="#ppt_x"/>
                                          </p:val>
                                        </p:tav>
                                        <p:tav tm="100000">
                                          <p:val>
                                            <p:strVal val="#ppt_x"/>
                                          </p:val>
                                        </p:tav>
                                      </p:tavLst>
                                    </p:anim>
                                    <p:anim calcmode="lin" valueType="num">
                                      <p:cBhvr additive="base">
                                        <p:cTn id="19" dur="500" fill="hold"/>
                                        <p:tgtEl>
                                          <p:spTgt spid="264199"/>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264197"/>
                                        </p:tgtEl>
                                        <p:attrNameLst>
                                          <p:attrName>style.visibility</p:attrName>
                                        </p:attrNameLst>
                                      </p:cBhvr>
                                      <p:to>
                                        <p:strVal val="visible"/>
                                      </p:to>
                                    </p:set>
                                    <p:anim calcmode="lin" valueType="num">
                                      <p:cBhvr additive="base">
                                        <p:cTn id="24" dur="500" fill="hold"/>
                                        <p:tgtEl>
                                          <p:spTgt spid="264197"/>
                                        </p:tgtEl>
                                        <p:attrNameLst>
                                          <p:attrName>ppt_x</p:attrName>
                                        </p:attrNameLst>
                                      </p:cBhvr>
                                      <p:tavLst>
                                        <p:tav tm="0">
                                          <p:val>
                                            <p:strVal val="#ppt_x"/>
                                          </p:val>
                                        </p:tav>
                                        <p:tav tm="100000">
                                          <p:val>
                                            <p:strVal val="#ppt_x"/>
                                          </p:val>
                                        </p:tav>
                                      </p:tavLst>
                                    </p:anim>
                                    <p:anim calcmode="lin" valueType="num">
                                      <p:cBhvr additive="base">
                                        <p:cTn id="25" dur="500" fill="hold"/>
                                        <p:tgtEl>
                                          <p:spTgt spid="264197"/>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264201"/>
                                        </p:tgtEl>
                                        <p:attrNameLst>
                                          <p:attrName>style.visibility</p:attrName>
                                        </p:attrNameLst>
                                      </p:cBhvr>
                                      <p:to>
                                        <p:strVal val="visible"/>
                                      </p:to>
                                    </p:set>
                                    <p:animEffect transition="in" filter="dissolve">
                                      <p:cBhvr>
                                        <p:cTn id="30" dur="500"/>
                                        <p:tgtEl>
                                          <p:spTgt spid="264201"/>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264203"/>
                                        </p:tgtEl>
                                        <p:attrNameLst>
                                          <p:attrName>style.visibility</p:attrName>
                                        </p:attrNameLst>
                                      </p:cBhvr>
                                      <p:to>
                                        <p:strVal val="visible"/>
                                      </p:to>
                                    </p:set>
                                    <p:animEffect transition="in" filter="dissolve">
                                      <p:cBhvr>
                                        <p:cTn id="35" dur="500"/>
                                        <p:tgtEl>
                                          <p:spTgt spid="264203"/>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264205"/>
                                        </p:tgtEl>
                                        <p:attrNameLst>
                                          <p:attrName>style.visibility</p:attrName>
                                        </p:attrNameLst>
                                      </p:cBhvr>
                                      <p:to>
                                        <p:strVal val="visible"/>
                                      </p:to>
                                    </p:set>
                                    <p:animEffect transition="in" filter="dissolve">
                                      <p:cBhvr>
                                        <p:cTn id="40" dur="500"/>
                                        <p:tgtEl>
                                          <p:spTgt spid="2642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19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ChangeArrowheads="1"/>
          </p:cNvSpPr>
          <p:nvPr/>
        </p:nvSpPr>
        <p:spPr bwMode="auto">
          <a:xfrm>
            <a:off x="1027113" y="381000"/>
            <a:ext cx="8153400" cy="2528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ea typeface="华文新魏" panose="02010800040101010101" pitchFamily="2" charset="-122"/>
              </a:rPr>
              <a:t>例</a:t>
            </a:r>
            <a:r>
              <a:rPr lang="zh-CN" altLang="en-US" sz="3200">
                <a:solidFill>
                  <a:srgbClr val="000000"/>
                </a:solidFill>
                <a:ea typeface="华文新魏" panose="02010800040101010101" pitchFamily="2" charset="-122"/>
              </a:rPr>
              <a:t> </a:t>
            </a:r>
            <a:r>
              <a:rPr lang="en-US" altLang="zh-CN" sz="3200">
                <a:ea typeface="华文新魏" panose="02010800040101010101" pitchFamily="2" charset="-122"/>
              </a:rPr>
              <a:t>(</a:t>
            </a:r>
            <a:r>
              <a:rPr lang="zh-CN" altLang="en-US" sz="3200">
                <a:ea typeface="华文新魏" panose="02010800040101010101" pitchFamily="2" charset="-122"/>
              </a:rPr>
              <a:t>供电问题</a:t>
            </a:r>
            <a:r>
              <a:rPr lang="en-US" altLang="zh-CN" sz="3200">
                <a:ea typeface="华文新魏" panose="02010800040101010101" pitchFamily="2" charset="-122"/>
              </a:rPr>
              <a:t>)</a:t>
            </a:r>
            <a:r>
              <a:rPr lang="zh-CN" altLang="en-US" sz="3200">
                <a:ea typeface="华文新魏" panose="02010800040101010101" pitchFamily="2" charset="-122"/>
              </a:rPr>
              <a:t>某车间有</a:t>
            </a:r>
            <a:r>
              <a:rPr lang="en-US" altLang="zh-CN" sz="3200">
                <a:ea typeface="华文新魏" panose="02010800040101010101" pitchFamily="2" charset="-122"/>
              </a:rPr>
              <a:t>200</a:t>
            </a:r>
            <a:r>
              <a:rPr lang="zh-CN" altLang="en-US" sz="3200">
                <a:ea typeface="华文新魏" panose="02010800040101010101" pitchFamily="2" charset="-122"/>
              </a:rPr>
              <a:t>台车床</a:t>
            </a:r>
            <a:r>
              <a:rPr lang="en-US" altLang="zh-CN" sz="3200">
                <a:ea typeface="华文新魏" panose="02010800040101010101" pitchFamily="2" charset="-122"/>
              </a:rPr>
              <a:t>,</a:t>
            </a:r>
            <a:r>
              <a:rPr lang="zh-CN" altLang="en-US" sz="3200">
                <a:ea typeface="华文新魏" panose="02010800040101010101" pitchFamily="2" charset="-122"/>
              </a:rPr>
              <a:t>在生产期间由于需要检修、调换刀具、变换位置及调换工件等常需停车</a:t>
            </a:r>
            <a:r>
              <a:rPr lang="en-US" altLang="zh-CN" sz="3200">
                <a:ea typeface="华文新魏" panose="02010800040101010101" pitchFamily="2" charset="-122"/>
              </a:rPr>
              <a:t>.   </a:t>
            </a:r>
            <a:r>
              <a:rPr lang="zh-CN" altLang="en-US" sz="3200">
                <a:ea typeface="华文新魏" panose="02010800040101010101" pitchFamily="2" charset="-122"/>
              </a:rPr>
              <a:t>设开工率为</a:t>
            </a:r>
            <a:r>
              <a:rPr lang="en-US" altLang="zh-CN" sz="3200">
                <a:ea typeface="华文新魏" panose="02010800040101010101" pitchFamily="2" charset="-122"/>
              </a:rPr>
              <a:t>0.6,  </a:t>
            </a:r>
            <a:r>
              <a:rPr lang="zh-CN" altLang="en-US" sz="3200">
                <a:ea typeface="华文新魏" panose="02010800040101010101" pitchFamily="2" charset="-122"/>
              </a:rPr>
              <a:t>并设每台车床的工作是独立的，且在开工时需电力</a:t>
            </a:r>
            <a:r>
              <a:rPr lang="en-US" altLang="zh-CN" sz="3200">
                <a:ea typeface="华文新魏" panose="02010800040101010101" pitchFamily="2" charset="-122"/>
              </a:rPr>
              <a:t>1</a:t>
            </a:r>
            <a:r>
              <a:rPr lang="zh-CN" altLang="en-US" sz="3200">
                <a:ea typeface="华文新魏" panose="02010800040101010101" pitchFamily="2" charset="-122"/>
              </a:rPr>
              <a:t>千瓦</a:t>
            </a:r>
            <a:r>
              <a:rPr lang="en-US" altLang="zh-CN" sz="3200">
                <a:ea typeface="华文新魏" panose="02010800040101010101" pitchFamily="2" charset="-122"/>
              </a:rPr>
              <a:t>.</a:t>
            </a:r>
          </a:p>
        </p:txBody>
      </p:sp>
      <p:sp>
        <p:nvSpPr>
          <p:cNvPr id="265219" name="Rectangle 3"/>
          <p:cNvSpPr>
            <a:spLocks noChangeArrowheads="1"/>
          </p:cNvSpPr>
          <p:nvPr/>
        </p:nvSpPr>
        <p:spPr bwMode="auto">
          <a:xfrm>
            <a:off x="1027113" y="3048000"/>
            <a:ext cx="80772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ea typeface="华文新魏" panose="02010800040101010101" pitchFamily="2" charset="-122"/>
              </a:rPr>
              <a:t>问应供应多少瓦电力就能以</a:t>
            </a:r>
            <a:r>
              <a:rPr lang="en-US" altLang="zh-CN" sz="3200">
                <a:ea typeface="华文新魏" panose="02010800040101010101" pitchFamily="2" charset="-122"/>
              </a:rPr>
              <a:t>99.9%</a:t>
            </a:r>
            <a:r>
              <a:rPr lang="zh-CN" altLang="en-US" sz="3200">
                <a:ea typeface="华文新魏" panose="02010800040101010101" pitchFamily="2" charset="-122"/>
              </a:rPr>
              <a:t>的概率保证该车间不会因供电不足而影响生产</a:t>
            </a:r>
            <a:r>
              <a:rPr lang="en-US" altLang="zh-CN" sz="3200">
                <a:ea typeface="华文新魏" panose="02010800040101010101" pitchFamily="2" charset="-122"/>
              </a:rPr>
              <a:t>?</a:t>
            </a:r>
          </a:p>
        </p:txBody>
      </p:sp>
      <p:pic>
        <p:nvPicPr>
          <p:cNvPr id="36868" name="Picture 4" descr="AUTOMA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5113" y="4267200"/>
            <a:ext cx="2743200" cy="183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65218"/>
                                        </p:tgtEl>
                                        <p:attrNameLst>
                                          <p:attrName>style.visibility</p:attrName>
                                        </p:attrNameLst>
                                      </p:cBhvr>
                                      <p:to>
                                        <p:strVal val="visible"/>
                                      </p:to>
                                    </p:set>
                                    <p:animEffect transition="in" filter="barn(outVertical)">
                                      <p:cBhvr>
                                        <p:cTn id="7" dur="500"/>
                                        <p:tgtEl>
                                          <p:spTgt spid="26521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65219"/>
                                        </p:tgtEl>
                                        <p:attrNameLst>
                                          <p:attrName>style.visibility</p:attrName>
                                        </p:attrNameLst>
                                      </p:cBhvr>
                                      <p:to>
                                        <p:strVal val="visible"/>
                                      </p:to>
                                    </p:set>
                                    <p:animEffect transition="in" filter="box(in)">
                                      <p:cBhvr>
                                        <p:cTn id="12" dur="500"/>
                                        <p:tgtEl>
                                          <p:spTgt spid="2652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218" grpId="0" autoUpdateAnimBg="0"/>
      <p:bldP spid="265219"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ChangeArrowheads="1"/>
          </p:cNvSpPr>
          <p:nvPr/>
        </p:nvSpPr>
        <p:spPr bwMode="auto">
          <a:xfrm>
            <a:off x="1250950" y="2133600"/>
            <a:ext cx="7239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a:ea typeface="华文新魏" panose="02010800040101010101" pitchFamily="2" charset="-122"/>
              </a:rPr>
              <a:t>用</a:t>
            </a:r>
            <a:r>
              <a:rPr lang="en-US" altLang="zh-CN" sz="3200" i="1">
                <a:ea typeface="华文新魏" panose="02010800040101010101" pitchFamily="2" charset="-122"/>
              </a:rPr>
              <a:t>X</a:t>
            </a:r>
            <a:r>
              <a:rPr lang="zh-CN" altLang="en-US" sz="3200">
                <a:ea typeface="华文新魏" panose="02010800040101010101" pitchFamily="2" charset="-122"/>
              </a:rPr>
              <a:t>表示在某时刻工作着的车床数，</a:t>
            </a:r>
          </a:p>
        </p:txBody>
      </p:sp>
      <p:sp>
        <p:nvSpPr>
          <p:cNvPr id="266243" name="Rectangle 3"/>
          <p:cNvSpPr>
            <a:spLocks noChangeArrowheads="1"/>
          </p:cNvSpPr>
          <p:nvPr/>
        </p:nvSpPr>
        <p:spPr bwMode="auto">
          <a:xfrm>
            <a:off x="1250950" y="350838"/>
            <a:ext cx="70929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ea typeface="华文新魏" panose="02010800040101010101" pitchFamily="2" charset="-122"/>
              </a:rPr>
              <a:t>解：对每台车床的观察作为一次试验，</a:t>
            </a:r>
          </a:p>
        </p:txBody>
      </p:sp>
      <p:sp>
        <p:nvSpPr>
          <p:cNvPr id="266244" name="Rectangle 4"/>
          <p:cNvSpPr>
            <a:spLocks noChangeArrowheads="1"/>
          </p:cNvSpPr>
          <p:nvPr/>
        </p:nvSpPr>
        <p:spPr bwMode="auto">
          <a:xfrm>
            <a:off x="1174750" y="838200"/>
            <a:ext cx="8077200"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3200">
                <a:ea typeface="华文新魏" panose="02010800040101010101" pitchFamily="2" charset="-122"/>
              </a:rPr>
              <a:t>每次试验观察该台车床在某时刻是否工作， 工作的概率为</a:t>
            </a:r>
            <a:r>
              <a:rPr lang="en-US" altLang="zh-CN" sz="3200">
                <a:ea typeface="华文新魏" panose="02010800040101010101" pitchFamily="2" charset="-122"/>
              </a:rPr>
              <a:t>0.6</a:t>
            </a:r>
            <a:r>
              <a:rPr lang="zh-CN" altLang="en-US" sz="3200">
                <a:ea typeface="华文新魏" panose="02010800040101010101" pitchFamily="2" charset="-122"/>
              </a:rPr>
              <a:t>，共进行</a:t>
            </a:r>
            <a:r>
              <a:rPr lang="en-US" altLang="zh-CN" sz="3200">
                <a:ea typeface="华文新魏" panose="02010800040101010101" pitchFamily="2" charset="-122"/>
              </a:rPr>
              <a:t>200</a:t>
            </a:r>
            <a:r>
              <a:rPr lang="zh-CN" altLang="en-US" sz="3200">
                <a:ea typeface="华文新魏" panose="02010800040101010101" pitchFamily="2" charset="-122"/>
              </a:rPr>
              <a:t>次试验</a:t>
            </a:r>
            <a:r>
              <a:rPr lang="en-US" altLang="zh-CN" sz="3200">
                <a:ea typeface="华文新魏" panose="02010800040101010101" pitchFamily="2" charset="-122"/>
              </a:rPr>
              <a:t>.</a:t>
            </a:r>
          </a:p>
        </p:txBody>
      </p:sp>
      <p:sp>
        <p:nvSpPr>
          <p:cNvPr id="266245" name="Rectangle 5"/>
          <p:cNvSpPr>
            <a:spLocks noChangeArrowheads="1"/>
          </p:cNvSpPr>
          <p:nvPr/>
        </p:nvSpPr>
        <p:spPr bwMode="auto">
          <a:xfrm>
            <a:off x="1443038" y="2865438"/>
            <a:ext cx="18097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ea typeface="华文新魏" panose="02010800040101010101" pitchFamily="2" charset="-122"/>
              </a:rPr>
              <a:t>依题意，</a:t>
            </a:r>
          </a:p>
        </p:txBody>
      </p:sp>
      <p:sp>
        <p:nvSpPr>
          <p:cNvPr id="266246" name="Rectangle 6"/>
          <p:cNvSpPr>
            <a:spLocks noChangeArrowheads="1"/>
          </p:cNvSpPr>
          <p:nvPr/>
        </p:nvSpPr>
        <p:spPr bwMode="auto">
          <a:xfrm>
            <a:off x="3119438" y="2827338"/>
            <a:ext cx="2490787" cy="57943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i="1">
                <a:ea typeface="华文新魏" panose="02010800040101010101" pitchFamily="2" charset="-122"/>
              </a:rPr>
              <a:t>X</a:t>
            </a:r>
            <a:r>
              <a:rPr lang="en-US" altLang="zh-CN" sz="3200">
                <a:ea typeface="华文新魏" panose="02010800040101010101" pitchFamily="2" charset="-122"/>
              </a:rPr>
              <a:t>~</a:t>
            </a:r>
            <a:r>
              <a:rPr lang="en-US" altLang="zh-CN" sz="3200" i="1">
                <a:ea typeface="华文新魏" panose="02010800040101010101" pitchFamily="2" charset="-122"/>
              </a:rPr>
              <a:t>B</a:t>
            </a:r>
            <a:r>
              <a:rPr lang="en-US" altLang="zh-CN" sz="3200">
                <a:ea typeface="华文新魏" panose="02010800040101010101" pitchFamily="2" charset="-122"/>
              </a:rPr>
              <a:t>(200,0.6),</a:t>
            </a:r>
          </a:p>
        </p:txBody>
      </p:sp>
      <p:sp>
        <p:nvSpPr>
          <p:cNvPr id="266247" name="Rectangle 7"/>
          <p:cNvSpPr>
            <a:spLocks noChangeArrowheads="1"/>
          </p:cNvSpPr>
          <p:nvPr/>
        </p:nvSpPr>
        <p:spPr bwMode="auto">
          <a:xfrm>
            <a:off x="5109210" y="3587433"/>
            <a:ext cx="30289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a:ea typeface="华文新魏" panose="02010800040101010101" pitchFamily="2" charset="-122"/>
              </a:rPr>
              <a:t>现在的问题是：</a:t>
            </a:r>
          </a:p>
        </p:txBody>
      </p:sp>
      <p:grpSp>
        <p:nvGrpSpPr>
          <p:cNvPr id="2" name="Group 8"/>
          <p:cNvGrpSpPr/>
          <p:nvPr/>
        </p:nvGrpSpPr>
        <p:grpSpPr bwMode="auto">
          <a:xfrm>
            <a:off x="2927350" y="4351338"/>
            <a:ext cx="5307013" cy="601662"/>
            <a:chOff x="672" y="1301"/>
            <a:chExt cx="3343" cy="379"/>
          </a:xfrm>
        </p:grpSpPr>
        <p:sp>
          <p:nvSpPr>
            <p:cNvPr id="37900" name="Text Box 9"/>
            <p:cNvSpPr txBox="1">
              <a:spLocks noChangeArrowheads="1"/>
            </p:cNvSpPr>
            <p:nvPr/>
          </p:nvSpPr>
          <p:spPr bwMode="auto">
            <a:xfrm>
              <a:off x="672" y="1315"/>
              <a:ext cx="1920" cy="36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en-US" altLang="zh-CN" sz="3200" i="1">
                  <a:ea typeface="华文新魏" panose="02010800040101010101" pitchFamily="2" charset="-122"/>
                </a:rPr>
                <a:t>P</a:t>
              </a:r>
              <a:r>
                <a:rPr lang="en-US" altLang="zh-CN" sz="3200">
                  <a:ea typeface="华文新魏" panose="02010800040101010101" pitchFamily="2" charset="-122"/>
                </a:rPr>
                <a:t>(</a:t>
              </a:r>
              <a:r>
                <a:rPr lang="en-US" altLang="zh-CN" sz="3200" i="1">
                  <a:ea typeface="华文新魏" panose="02010800040101010101" pitchFamily="2" charset="-122"/>
                </a:rPr>
                <a:t>X</a:t>
              </a:r>
              <a:r>
                <a:rPr lang="en-US" altLang="zh-CN" sz="3200">
                  <a:ea typeface="华文新魏" panose="02010800040101010101" pitchFamily="2" charset="-122"/>
                </a:rPr>
                <a:t>≤</a:t>
              </a:r>
              <a:r>
                <a:rPr lang="en-US" altLang="zh-CN" sz="3200" i="1">
                  <a:ea typeface="华文新魏" panose="02010800040101010101" pitchFamily="2" charset="-122"/>
                </a:rPr>
                <a:t>N</a:t>
              </a:r>
              <a:r>
                <a:rPr lang="en-US" altLang="zh-CN" sz="3200">
                  <a:ea typeface="华文新魏" panose="02010800040101010101" pitchFamily="2" charset="-122"/>
                </a:rPr>
                <a:t>)≥0.999</a:t>
              </a:r>
              <a:endParaRPr lang="en-US" altLang="zh-CN" sz="3200" baseline="30000">
                <a:ea typeface="华文新魏" panose="02010800040101010101" pitchFamily="2" charset="-122"/>
              </a:endParaRPr>
            </a:p>
          </p:txBody>
        </p:sp>
        <p:sp>
          <p:nvSpPr>
            <p:cNvPr id="37901" name="Rectangle 10"/>
            <p:cNvSpPr>
              <a:spLocks noChangeArrowheads="1"/>
            </p:cNvSpPr>
            <p:nvPr/>
          </p:nvSpPr>
          <p:spPr bwMode="auto">
            <a:xfrm>
              <a:off x="2640" y="1301"/>
              <a:ext cx="137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a:ea typeface="华文新魏" panose="02010800040101010101" pitchFamily="2" charset="-122"/>
                </a:rPr>
                <a:t>的最小的</a:t>
              </a:r>
              <a:r>
                <a:rPr lang="en-US" altLang="zh-CN" sz="3200" i="1">
                  <a:ea typeface="华文新魏" panose="02010800040101010101" pitchFamily="2" charset="-122"/>
                </a:rPr>
                <a:t>N</a:t>
              </a:r>
              <a:r>
                <a:rPr lang="en-US" altLang="zh-CN" sz="3200">
                  <a:ea typeface="华文新魏" panose="02010800040101010101" pitchFamily="2" charset="-122"/>
                </a:rPr>
                <a:t>.</a:t>
              </a:r>
            </a:p>
          </p:txBody>
        </p:sp>
      </p:grpSp>
      <p:sp>
        <p:nvSpPr>
          <p:cNvPr id="266251" name="Rectangle 11"/>
          <p:cNvSpPr>
            <a:spLocks noChangeArrowheads="1"/>
          </p:cNvSpPr>
          <p:nvPr/>
        </p:nvSpPr>
        <p:spPr bwMode="auto">
          <a:xfrm>
            <a:off x="1406525" y="4343400"/>
            <a:ext cx="1403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3200">
                <a:ea typeface="华文新魏" panose="02010800040101010101" pitchFamily="2" charset="-122"/>
              </a:rPr>
              <a:t>求满足</a:t>
            </a:r>
          </a:p>
        </p:txBody>
      </p:sp>
      <p:sp>
        <p:nvSpPr>
          <p:cNvPr id="266252" name="Rectangle 12"/>
          <p:cNvSpPr>
            <a:spLocks noChangeArrowheads="1"/>
          </p:cNvSpPr>
          <p:nvPr/>
        </p:nvSpPr>
        <p:spPr bwMode="auto">
          <a:xfrm>
            <a:off x="1066959" y="3583147"/>
            <a:ext cx="374269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3200">
                <a:ea typeface="华文新魏" panose="02010800040101010101" pitchFamily="2" charset="-122"/>
              </a:rPr>
              <a:t>设</a:t>
            </a:r>
            <a:r>
              <a:rPr lang="zh-CN" altLang="en-US" sz="3200">
                <a:ea typeface="华文新魏" panose="02010800040101010101" pitchFamily="2" charset="-122"/>
                <a:sym typeface="+mn-ea"/>
              </a:rPr>
              <a:t>供应电力</a:t>
            </a:r>
            <a:r>
              <a:rPr lang="en-US" altLang="zh-CN" sz="3200" i="1">
                <a:ea typeface="华文新魏" panose="02010800040101010101" pitchFamily="2" charset="-122"/>
              </a:rPr>
              <a:t>N</a:t>
            </a:r>
            <a:r>
              <a:rPr lang="zh-CN" altLang="en-US" sz="3200" i="1">
                <a:ea typeface="华文新魏" panose="02010800040101010101" pitchFamily="2" charset="-122"/>
              </a:rPr>
              <a:t>千瓦</a:t>
            </a:r>
            <a:r>
              <a:rPr lang="zh-CN" altLang="en-US" sz="3200">
                <a:ea typeface="华文新魏" panose="02010800040101010101" pitchFamily="2"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66243"/>
                                        </p:tgtEl>
                                        <p:attrNameLst>
                                          <p:attrName>style.visibility</p:attrName>
                                        </p:attrNameLst>
                                      </p:cBhvr>
                                      <p:to>
                                        <p:strVal val="visible"/>
                                      </p:to>
                                    </p:set>
                                    <p:animEffect transition="in" filter="wipe(left)">
                                      <p:cBhvr>
                                        <p:cTn id="7" dur="500"/>
                                        <p:tgtEl>
                                          <p:spTgt spid="26624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266244"/>
                                        </p:tgtEl>
                                        <p:attrNameLst>
                                          <p:attrName>style.visibility</p:attrName>
                                        </p:attrNameLst>
                                      </p:cBhvr>
                                      <p:to>
                                        <p:strVal val="visible"/>
                                      </p:to>
                                    </p:set>
                                    <p:animEffect transition="in" filter="barn(outVertical)">
                                      <p:cBhvr>
                                        <p:cTn id="12" dur="500"/>
                                        <p:tgtEl>
                                          <p:spTgt spid="26624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6242"/>
                                        </p:tgtEl>
                                        <p:attrNameLst>
                                          <p:attrName>style.visibility</p:attrName>
                                        </p:attrNameLst>
                                      </p:cBhvr>
                                      <p:to>
                                        <p:strVal val="visible"/>
                                      </p:to>
                                    </p:set>
                                    <p:animEffect transition="in" filter="wipe(left)">
                                      <p:cBhvr>
                                        <p:cTn id="17" dur="500"/>
                                        <p:tgtEl>
                                          <p:spTgt spid="266242"/>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266245"/>
                                        </p:tgtEl>
                                        <p:attrNameLst>
                                          <p:attrName>style.visibility</p:attrName>
                                        </p:attrNameLst>
                                      </p:cBhvr>
                                      <p:to>
                                        <p:strVal val="visible"/>
                                      </p:to>
                                    </p:set>
                                    <p:anim calcmode="lin" valueType="num">
                                      <p:cBhvr additive="base">
                                        <p:cTn id="22" dur="500" fill="hold"/>
                                        <p:tgtEl>
                                          <p:spTgt spid="266245"/>
                                        </p:tgtEl>
                                        <p:attrNameLst>
                                          <p:attrName>ppt_x</p:attrName>
                                        </p:attrNameLst>
                                      </p:cBhvr>
                                      <p:tavLst>
                                        <p:tav tm="0">
                                          <p:val>
                                            <p:strVal val="0-#ppt_w/2"/>
                                          </p:val>
                                        </p:tav>
                                        <p:tav tm="100000">
                                          <p:val>
                                            <p:strVal val="#ppt_x"/>
                                          </p:val>
                                        </p:tav>
                                      </p:tavLst>
                                    </p:anim>
                                    <p:anim calcmode="lin" valueType="num">
                                      <p:cBhvr additive="base">
                                        <p:cTn id="23" dur="500" fill="hold"/>
                                        <p:tgtEl>
                                          <p:spTgt spid="266245"/>
                                        </p:tgtEl>
                                        <p:attrNameLst>
                                          <p:attrName>ppt_y</p:attrName>
                                        </p:attrNameLst>
                                      </p:cBhvr>
                                      <p:tavLst>
                                        <p:tav tm="0">
                                          <p:val>
                                            <p:strVal val="#ppt_y"/>
                                          </p:val>
                                        </p:tav>
                                        <p:tav tm="100000">
                                          <p:val>
                                            <p:strVal val="#ppt_y"/>
                                          </p:val>
                                        </p:tav>
                                      </p:tavLst>
                                    </p:anim>
                                  </p:childTnLst>
                                </p:cTn>
                              </p:par>
                            </p:childTnLst>
                          </p:cTn>
                        </p:par>
                        <p:par>
                          <p:cTn id="24" fill="hold">
                            <p:stCondLst>
                              <p:cond delay="500"/>
                            </p:stCondLst>
                            <p:childTnLst>
                              <p:par>
                                <p:cTn id="25" presetID="22" presetClass="entr" presetSubtype="2" fill="hold" grpId="0" nodeType="afterEffect">
                                  <p:stCondLst>
                                    <p:cond delay="0"/>
                                  </p:stCondLst>
                                  <p:childTnLst>
                                    <p:set>
                                      <p:cBhvr>
                                        <p:cTn id="26" dur="1" fill="hold">
                                          <p:stCondLst>
                                            <p:cond delay="0"/>
                                          </p:stCondLst>
                                        </p:cTn>
                                        <p:tgtEl>
                                          <p:spTgt spid="266246"/>
                                        </p:tgtEl>
                                        <p:attrNameLst>
                                          <p:attrName>style.visibility</p:attrName>
                                        </p:attrNameLst>
                                      </p:cBhvr>
                                      <p:to>
                                        <p:strVal val="visible"/>
                                      </p:to>
                                    </p:set>
                                    <p:animEffect transition="in" filter="wipe(right)">
                                      <p:cBhvr>
                                        <p:cTn id="27" dur="500"/>
                                        <p:tgtEl>
                                          <p:spTgt spid="26624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66252"/>
                                        </p:tgtEl>
                                        <p:attrNameLst>
                                          <p:attrName>style.visibility</p:attrName>
                                        </p:attrNameLst>
                                      </p:cBhvr>
                                      <p:to>
                                        <p:strVal val="visible"/>
                                      </p:to>
                                    </p:set>
                                    <p:animEffect transition="in" filter="wipe(left)">
                                      <p:cBhvr>
                                        <p:cTn id="32" dur="500"/>
                                        <p:tgtEl>
                                          <p:spTgt spid="266252"/>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26624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66251"/>
                                        </p:tgtEl>
                                        <p:attrNameLst>
                                          <p:attrName>style.visibility</p:attrName>
                                        </p:attrNameLst>
                                      </p:cBhvr>
                                      <p:to>
                                        <p:strVal val="visible"/>
                                      </p:to>
                                    </p:set>
                                    <p:animEffect transition="in" filter="wipe(left)">
                                      <p:cBhvr>
                                        <p:cTn id="41" dur="500"/>
                                        <p:tgtEl>
                                          <p:spTgt spid="266251"/>
                                        </p:tgtEl>
                                      </p:cBhvr>
                                    </p:animEffect>
                                  </p:childTnLst>
                                </p:cTn>
                              </p:par>
                            </p:childTnLst>
                          </p:cTn>
                        </p:par>
                        <p:par>
                          <p:cTn id="42" fill="hold">
                            <p:stCondLst>
                              <p:cond delay="500"/>
                            </p:stCondLst>
                            <p:childTnLst>
                              <p:par>
                                <p:cTn id="43" presetID="22" presetClass="entr" presetSubtype="8" fill="hold" nodeType="afterEffect">
                                  <p:stCondLst>
                                    <p:cond delay="0"/>
                                  </p:stCondLst>
                                  <p:childTnLst>
                                    <p:set>
                                      <p:cBhvr>
                                        <p:cTn id="44" dur="1" fill="hold">
                                          <p:stCondLst>
                                            <p:cond delay="0"/>
                                          </p:stCondLst>
                                        </p:cTn>
                                        <p:tgtEl>
                                          <p:spTgt spid="2"/>
                                        </p:tgtEl>
                                        <p:attrNameLst>
                                          <p:attrName>style.visibility</p:attrName>
                                        </p:attrNameLst>
                                      </p:cBhvr>
                                      <p:to>
                                        <p:strVal val="visible"/>
                                      </p:to>
                                    </p:set>
                                    <p:animEffect transition="in" filter="wipe(left)">
                                      <p:cBhvr>
                                        <p:cTn id="4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42" grpId="0" autoUpdateAnimBg="0"/>
      <p:bldP spid="266243" grpId="0" autoUpdateAnimBg="0"/>
      <p:bldP spid="266244" grpId="0" autoUpdateAnimBg="0"/>
      <p:bldP spid="266245" grpId="0" autoUpdateAnimBg="0"/>
      <p:bldP spid="266246" grpId="0" bldLvl="0" animBg="1" autoUpdateAnimBg="0"/>
      <p:bldP spid="266247" grpId="0" autoUpdateAnimBg="0"/>
      <p:bldP spid="266251" grpId="0" autoUpdateAnimBg="0"/>
      <p:bldP spid="266252"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2"/>
          <p:cNvSpPr>
            <a:spLocks noChangeArrowheads="1"/>
          </p:cNvSpPr>
          <p:nvPr/>
        </p:nvSpPr>
        <p:spPr bwMode="auto">
          <a:xfrm>
            <a:off x="1060450" y="446088"/>
            <a:ext cx="519588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ea typeface="华文新魏" panose="02010800040101010101" pitchFamily="2" charset="-122"/>
              </a:rPr>
              <a:t>由德莫弗</a:t>
            </a:r>
            <a:r>
              <a:rPr lang="en-US" altLang="zh-CN" sz="3200">
                <a:ea typeface="华文新魏" panose="02010800040101010101" pitchFamily="2" charset="-122"/>
              </a:rPr>
              <a:t>-</a:t>
            </a:r>
            <a:r>
              <a:rPr lang="zh-CN" altLang="en-US" sz="3200">
                <a:ea typeface="华文新魏" panose="02010800040101010101" pitchFamily="2" charset="-122"/>
              </a:rPr>
              <a:t>拉普拉斯极限定理</a:t>
            </a:r>
          </a:p>
        </p:txBody>
      </p:sp>
      <p:grpSp>
        <p:nvGrpSpPr>
          <p:cNvPr id="2" name="Group 3"/>
          <p:cNvGrpSpPr/>
          <p:nvPr/>
        </p:nvGrpSpPr>
        <p:grpSpPr bwMode="auto">
          <a:xfrm>
            <a:off x="1441450" y="1200150"/>
            <a:ext cx="3824288" cy="1028700"/>
            <a:chOff x="576" y="720"/>
            <a:chExt cx="2409" cy="648"/>
          </a:xfrm>
        </p:grpSpPr>
        <p:graphicFrame>
          <p:nvGraphicFramePr>
            <p:cNvPr id="38921" name="Object 4"/>
            <p:cNvGraphicFramePr>
              <a:graphicFrameLocks noChangeAspect="1"/>
            </p:cNvGraphicFramePr>
            <p:nvPr/>
          </p:nvGraphicFramePr>
          <p:xfrm>
            <a:off x="576" y="720"/>
            <a:ext cx="1096" cy="648"/>
          </p:xfrm>
          <a:graphic>
            <a:graphicData uri="http://schemas.openxmlformats.org/presentationml/2006/ole">
              <mc:AlternateContent xmlns:mc="http://schemas.openxmlformats.org/markup-compatibility/2006">
                <mc:Choice xmlns:v="urn:schemas-microsoft-com:vml" Requires="v">
                  <p:oleObj spid="_x0000_s38994" name="公式" r:id="rId3" imgW="714375" imgH="414020" progId="Equation.3">
                    <p:embed/>
                  </p:oleObj>
                </mc:Choice>
                <mc:Fallback>
                  <p:oleObj name="公式" r:id="rId3" imgW="714375" imgH="41402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 y="720"/>
                          <a:ext cx="1096" cy="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22" name="Rectangle 5"/>
            <p:cNvSpPr>
              <a:spLocks noChangeArrowheads="1"/>
            </p:cNvSpPr>
            <p:nvPr/>
          </p:nvSpPr>
          <p:spPr bwMode="auto">
            <a:xfrm>
              <a:off x="1632" y="869"/>
              <a:ext cx="135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ea typeface="华文新魏" panose="02010800040101010101" pitchFamily="2" charset="-122"/>
                </a:rPr>
                <a:t>近似</a:t>
              </a:r>
              <a:r>
                <a:rPr lang="en-US" altLang="zh-CN" sz="3200" i="1">
                  <a:solidFill>
                    <a:srgbClr val="990000"/>
                  </a:solidFill>
                  <a:ea typeface="华文新魏" panose="02010800040101010101" pitchFamily="2" charset="-122"/>
                </a:rPr>
                <a:t>N</a:t>
              </a:r>
              <a:r>
                <a:rPr lang="en-US" altLang="zh-CN" sz="3200">
                  <a:solidFill>
                    <a:srgbClr val="990000"/>
                  </a:solidFill>
                  <a:ea typeface="华文新魏" panose="02010800040101010101" pitchFamily="2" charset="-122"/>
                </a:rPr>
                <a:t>(0,1),</a:t>
              </a:r>
            </a:p>
          </p:txBody>
        </p:sp>
      </p:grpSp>
      <p:sp>
        <p:nvSpPr>
          <p:cNvPr id="267270" name="Text Box 6"/>
          <p:cNvSpPr txBox="1">
            <a:spLocks noChangeArrowheads="1"/>
          </p:cNvSpPr>
          <p:nvPr/>
        </p:nvSpPr>
        <p:spPr bwMode="auto">
          <a:xfrm>
            <a:off x="1212850" y="2343150"/>
            <a:ext cx="5257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a:ea typeface="华文新魏" panose="02010800040101010101" pitchFamily="2" charset="-122"/>
              </a:rPr>
              <a:t>于是 </a:t>
            </a:r>
            <a:r>
              <a:rPr lang="en-US" altLang="zh-CN" sz="3200" i="1">
                <a:ea typeface="华文新魏" panose="02010800040101010101" pitchFamily="2" charset="-122"/>
              </a:rPr>
              <a:t>P</a:t>
            </a:r>
            <a:r>
              <a:rPr lang="en-US" altLang="zh-CN" sz="3200">
                <a:ea typeface="华文新魏" panose="02010800040101010101" pitchFamily="2" charset="-122"/>
              </a:rPr>
              <a:t>(</a:t>
            </a:r>
            <a:r>
              <a:rPr lang="en-US" altLang="zh-CN" sz="3200" i="1">
                <a:ea typeface="华文新魏" panose="02010800040101010101" pitchFamily="2" charset="-122"/>
              </a:rPr>
              <a:t>X</a:t>
            </a:r>
            <a:r>
              <a:rPr lang="en-US" altLang="zh-CN" sz="3200">
                <a:ea typeface="华文新魏" panose="02010800040101010101" pitchFamily="2" charset="-122"/>
              </a:rPr>
              <a:t>≤</a:t>
            </a:r>
            <a:r>
              <a:rPr lang="en-US" altLang="zh-CN" sz="3200" i="1">
                <a:ea typeface="华文新魏" panose="02010800040101010101" pitchFamily="2" charset="-122"/>
              </a:rPr>
              <a:t>N</a:t>
            </a:r>
            <a:r>
              <a:rPr lang="en-US" altLang="zh-CN" sz="3200">
                <a:ea typeface="华文新魏" panose="02010800040101010101" pitchFamily="2" charset="-122"/>
              </a:rPr>
              <a:t>)= </a:t>
            </a:r>
            <a:r>
              <a:rPr lang="en-US" altLang="zh-CN" sz="3200" i="1">
                <a:ea typeface="华文新魏" panose="02010800040101010101" pitchFamily="2" charset="-122"/>
              </a:rPr>
              <a:t>P</a:t>
            </a:r>
            <a:r>
              <a:rPr lang="en-US" altLang="zh-CN" sz="3200">
                <a:ea typeface="华文新魏" panose="02010800040101010101" pitchFamily="2" charset="-122"/>
              </a:rPr>
              <a:t>(0≤</a:t>
            </a:r>
            <a:r>
              <a:rPr lang="en-US" altLang="zh-CN" sz="3200" i="1">
                <a:ea typeface="华文新魏" panose="02010800040101010101" pitchFamily="2" charset="-122"/>
              </a:rPr>
              <a:t>X</a:t>
            </a:r>
            <a:r>
              <a:rPr lang="en-US" altLang="zh-CN" sz="3200">
                <a:ea typeface="华文新魏" panose="02010800040101010101" pitchFamily="2" charset="-122"/>
              </a:rPr>
              <a:t>≤</a:t>
            </a:r>
            <a:r>
              <a:rPr lang="en-US" altLang="zh-CN" sz="3200" i="1">
                <a:ea typeface="华文新魏" panose="02010800040101010101" pitchFamily="2" charset="-122"/>
              </a:rPr>
              <a:t>N</a:t>
            </a:r>
            <a:r>
              <a:rPr lang="en-US" altLang="zh-CN" sz="3200">
                <a:ea typeface="华文新魏" panose="02010800040101010101" pitchFamily="2" charset="-122"/>
              </a:rPr>
              <a:t>)</a:t>
            </a:r>
          </a:p>
        </p:txBody>
      </p:sp>
      <p:sp>
        <p:nvSpPr>
          <p:cNvPr id="267271" name="AutoShape 7"/>
          <p:cNvSpPr>
            <a:spLocks noChangeArrowheads="1"/>
          </p:cNvSpPr>
          <p:nvPr/>
        </p:nvSpPr>
        <p:spPr bwMode="auto">
          <a:xfrm>
            <a:off x="6699250" y="819150"/>
            <a:ext cx="2514600" cy="1371600"/>
          </a:xfrm>
          <a:prstGeom prst="wedgeRoundRectCallout">
            <a:avLst>
              <a:gd name="adj1" fmla="val -114204"/>
              <a:gd name="adj2" fmla="val -10532"/>
              <a:gd name="adj3" fmla="val 16667"/>
            </a:avLst>
          </a:prstGeom>
          <a:solidFill>
            <a:schemeClr val="accent1"/>
          </a:solidFill>
          <a:ln w="9525">
            <a:solidFill>
              <a:schemeClr val="tx1"/>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a:ea typeface="华文新魏" panose="02010800040101010101" pitchFamily="2" charset="-122"/>
              </a:rPr>
              <a:t>这里</a:t>
            </a:r>
            <a:r>
              <a:rPr lang="zh-CN" altLang="en-US" sz="2800" i="1">
                <a:ea typeface="华文新魏" panose="02010800040101010101" pitchFamily="2" charset="-122"/>
              </a:rPr>
              <a:t> </a:t>
            </a:r>
            <a:r>
              <a:rPr lang="en-US" altLang="zh-CN" sz="2800" i="1">
                <a:ea typeface="华文新魏" panose="02010800040101010101" pitchFamily="2" charset="-122"/>
              </a:rPr>
              <a:t>np</a:t>
            </a:r>
            <a:r>
              <a:rPr lang="en-US" altLang="zh-CN" sz="2800">
                <a:ea typeface="华文新魏" panose="02010800040101010101" pitchFamily="2" charset="-122"/>
              </a:rPr>
              <a:t>=120, </a:t>
            </a:r>
          </a:p>
          <a:p>
            <a:pPr algn="ctr" eaLnBrk="1" hangingPunct="1"/>
            <a:r>
              <a:rPr lang="en-US" altLang="zh-CN" sz="2800" i="1">
                <a:ea typeface="华文新魏" panose="02010800040101010101" pitchFamily="2" charset="-122"/>
              </a:rPr>
              <a:t>np</a:t>
            </a:r>
            <a:r>
              <a:rPr lang="en-US" altLang="zh-CN" sz="2800">
                <a:ea typeface="华文新魏" panose="02010800040101010101" pitchFamily="2" charset="-122"/>
              </a:rPr>
              <a:t>(1-</a:t>
            </a:r>
            <a:r>
              <a:rPr lang="en-US" altLang="zh-CN" sz="2800" i="1">
                <a:ea typeface="华文新魏" panose="02010800040101010101" pitchFamily="2" charset="-122"/>
              </a:rPr>
              <a:t>p</a:t>
            </a:r>
            <a:r>
              <a:rPr lang="en-US" altLang="zh-CN" sz="2800">
                <a:ea typeface="华文新魏" panose="02010800040101010101" pitchFamily="2" charset="-122"/>
              </a:rPr>
              <a:t>)=48</a:t>
            </a:r>
          </a:p>
        </p:txBody>
      </p:sp>
      <p:graphicFrame>
        <p:nvGraphicFramePr>
          <p:cNvPr id="267272" name="Object 2"/>
          <p:cNvGraphicFramePr>
            <a:graphicFrameLocks noChangeAspect="1"/>
          </p:cNvGraphicFramePr>
          <p:nvPr/>
        </p:nvGraphicFramePr>
        <p:xfrm>
          <a:off x="2247900" y="3028950"/>
          <a:ext cx="3797300" cy="993775"/>
        </p:xfrm>
        <a:graphic>
          <a:graphicData uri="http://schemas.openxmlformats.org/presentationml/2006/ole">
            <mc:AlternateContent xmlns:mc="http://schemas.openxmlformats.org/markup-compatibility/2006">
              <mc:Choice xmlns:v="urn:schemas-microsoft-com:vml" Requires="v">
                <p:oleObj spid="_x0000_s38995" name="Equation" r:id="rId5" imgW="1562100" imgH="384810" progId="Equation.DSMT4">
                  <p:embed/>
                </p:oleObj>
              </mc:Choice>
              <mc:Fallback>
                <p:oleObj name="Equation" r:id="rId5" imgW="1562100" imgH="384810" progId="Equation.DSMT4">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47900" y="3028950"/>
                        <a:ext cx="3797300" cy="993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7273" name="AutoShape 9"/>
          <p:cNvSpPr>
            <a:spLocks noChangeArrowheads="1"/>
          </p:cNvSpPr>
          <p:nvPr/>
        </p:nvSpPr>
        <p:spPr bwMode="auto">
          <a:xfrm>
            <a:off x="7315200" y="2492375"/>
            <a:ext cx="1828800" cy="1600200"/>
          </a:xfrm>
          <a:prstGeom prst="wedgeRoundRectCallout">
            <a:avLst>
              <a:gd name="adj1" fmla="val -126824"/>
              <a:gd name="adj2" fmla="val 18352"/>
              <a:gd name="adj3" fmla="val 16667"/>
            </a:avLst>
          </a:prstGeom>
          <a:solidFill>
            <a:schemeClr val="accent1"/>
          </a:solidFill>
          <a:ln w="9525">
            <a:solidFill>
              <a:schemeClr val="tx1"/>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baseline="30000">
                <a:ea typeface="华文新魏" panose="02010800040101010101" pitchFamily="2" charset="-122"/>
              </a:rPr>
              <a:t>此项为</a:t>
            </a:r>
            <a:r>
              <a:rPr lang="en-US" altLang="zh-CN" sz="3200" baseline="30000">
                <a:ea typeface="华文新魏" panose="02010800040101010101" pitchFamily="2" charset="-122"/>
              </a:rPr>
              <a:t>0.</a:t>
            </a:r>
          </a:p>
        </p:txBody>
      </p:sp>
      <p:graphicFrame>
        <p:nvGraphicFramePr>
          <p:cNvPr id="267274" name="Object 3"/>
          <p:cNvGraphicFramePr>
            <a:graphicFrameLocks noChangeAspect="1"/>
          </p:cNvGraphicFramePr>
          <p:nvPr/>
        </p:nvGraphicFramePr>
        <p:xfrm>
          <a:off x="2112963" y="4019550"/>
          <a:ext cx="2109787" cy="993775"/>
        </p:xfrm>
        <a:graphic>
          <a:graphicData uri="http://schemas.openxmlformats.org/presentationml/2006/ole">
            <mc:AlternateContent xmlns:mc="http://schemas.openxmlformats.org/markup-compatibility/2006">
              <mc:Choice xmlns:v="urn:schemas-microsoft-com:vml" Requires="v">
                <p:oleObj spid="_x0000_s38996" name="Equation" r:id="rId7" imgW="847725" imgH="384810" progId="Equation.3">
                  <p:embed/>
                </p:oleObj>
              </mc:Choice>
              <mc:Fallback>
                <p:oleObj name="Equation" r:id="rId7" imgW="847725" imgH="384810"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12963" y="4019550"/>
                        <a:ext cx="2109787" cy="993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67266"/>
                                        </p:tgtEl>
                                        <p:attrNameLst>
                                          <p:attrName>style.visibility</p:attrName>
                                        </p:attrNameLst>
                                      </p:cBhvr>
                                      <p:to>
                                        <p:strVal val="visible"/>
                                      </p:to>
                                    </p:set>
                                    <p:animEffect transition="in" filter="wipe(left)">
                                      <p:cBhvr>
                                        <p:cTn id="7" dur="500"/>
                                        <p:tgtEl>
                                          <p:spTgt spid="2672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right)">
                                      <p:cBhvr>
                                        <p:cTn id="12" dur="500"/>
                                        <p:tgtEl>
                                          <p:spTgt spid="2"/>
                                        </p:tgtEl>
                                      </p:cBhvr>
                                    </p:animEffect>
                                  </p:childTnLst>
                                </p:cTn>
                              </p:par>
                            </p:childTnLst>
                          </p:cTn>
                        </p:par>
                        <p:par>
                          <p:cTn id="13" fill="hold">
                            <p:stCondLst>
                              <p:cond delay="500"/>
                            </p:stCondLst>
                            <p:childTnLst>
                              <p:par>
                                <p:cTn id="14" presetID="2" presetClass="entr" presetSubtype="2" fill="hold" grpId="0" nodeType="afterEffect">
                                  <p:stCondLst>
                                    <p:cond delay="0"/>
                                  </p:stCondLst>
                                  <p:childTnLst>
                                    <p:set>
                                      <p:cBhvr>
                                        <p:cTn id="15" dur="1" fill="hold">
                                          <p:stCondLst>
                                            <p:cond delay="0"/>
                                          </p:stCondLst>
                                        </p:cTn>
                                        <p:tgtEl>
                                          <p:spTgt spid="267271"/>
                                        </p:tgtEl>
                                        <p:attrNameLst>
                                          <p:attrName>style.visibility</p:attrName>
                                        </p:attrNameLst>
                                      </p:cBhvr>
                                      <p:to>
                                        <p:strVal val="visible"/>
                                      </p:to>
                                    </p:set>
                                    <p:anim calcmode="lin" valueType="num">
                                      <p:cBhvr additive="base">
                                        <p:cTn id="16" dur="500" fill="hold"/>
                                        <p:tgtEl>
                                          <p:spTgt spid="267271"/>
                                        </p:tgtEl>
                                        <p:attrNameLst>
                                          <p:attrName>ppt_x</p:attrName>
                                        </p:attrNameLst>
                                      </p:cBhvr>
                                      <p:tavLst>
                                        <p:tav tm="0">
                                          <p:val>
                                            <p:strVal val="1+#ppt_w/2"/>
                                          </p:val>
                                        </p:tav>
                                        <p:tav tm="100000">
                                          <p:val>
                                            <p:strVal val="#ppt_x"/>
                                          </p:val>
                                        </p:tav>
                                      </p:tavLst>
                                    </p:anim>
                                    <p:anim calcmode="lin" valueType="num">
                                      <p:cBhvr additive="base">
                                        <p:cTn id="17" dur="500" fill="hold"/>
                                        <p:tgtEl>
                                          <p:spTgt spid="267271"/>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67270"/>
                                        </p:tgtEl>
                                        <p:attrNameLst>
                                          <p:attrName>style.visibility</p:attrName>
                                        </p:attrNameLst>
                                      </p:cBhvr>
                                      <p:to>
                                        <p:strVal val="visible"/>
                                      </p:to>
                                    </p:set>
                                    <p:animEffect transition="in" filter="wipe(left)">
                                      <p:cBhvr>
                                        <p:cTn id="22" dur="500"/>
                                        <p:tgtEl>
                                          <p:spTgt spid="26727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67272"/>
                                        </p:tgtEl>
                                        <p:attrNameLst>
                                          <p:attrName>style.visibility</p:attrName>
                                        </p:attrNameLst>
                                      </p:cBhvr>
                                      <p:to>
                                        <p:strVal val="visible"/>
                                      </p:to>
                                    </p:set>
                                    <p:animEffect transition="in" filter="wipe(left)">
                                      <p:cBhvr>
                                        <p:cTn id="27" dur="500"/>
                                        <p:tgtEl>
                                          <p:spTgt spid="267272"/>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2" fill="hold" grpId="0" nodeType="clickEffect">
                                  <p:stCondLst>
                                    <p:cond delay="0"/>
                                  </p:stCondLst>
                                  <p:childTnLst>
                                    <p:set>
                                      <p:cBhvr>
                                        <p:cTn id="31" dur="1" fill="hold">
                                          <p:stCondLst>
                                            <p:cond delay="0"/>
                                          </p:stCondLst>
                                        </p:cTn>
                                        <p:tgtEl>
                                          <p:spTgt spid="267273"/>
                                        </p:tgtEl>
                                        <p:attrNameLst>
                                          <p:attrName>style.visibility</p:attrName>
                                        </p:attrNameLst>
                                      </p:cBhvr>
                                      <p:to>
                                        <p:strVal val="visible"/>
                                      </p:to>
                                    </p:set>
                                    <p:anim calcmode="lin" valueType="num">
                                      <p:cBhvr additive="base">
                                        <p:cTn id="32" dur="500" fill="hold"/>
                                        <p:tgtEl>
                                          <p:spTgt spid="267273"/>
                                        </p:tgtEl>
                                        <p:attrNameLst>
                                          <p:attrName>ppt_x</p:attrName>
                                        </p:attrNameLst>
                                      </p:cBhvr>
                                      <p:tavLst>
                                        <p:tav tm="0">
                                          <p:val>
                                            <p:strVal val="1+#ppt_w/2"/>
                                          </p:val>
                                        </p:tav>
                                        <p:tav tm="100000">
                                          <p:val>
                                            <p:strVal val="#ppt_x"/>
                                          </p:val>
                                        </p:tav>
                                      </p:tavLst>
                                    </p:anim>
                                    <p:anim calcmode="lin" valueType="num">
                                      <p:cBhvr additive="base">
                                        <p:cTn id="33" dur="500" fill="hold"/>
                                        <p:tgtEl>
                                          <p:spTgt spid="267273"/>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267274"/>
                                        </p:tgtEl>
                                        <p:attrNameLst>
                                          <p:attrName>style.visibility</p:attrName>
                                        </p:attrNameLst>
                                      </p:cBhvr>
                                      <p:to>
                                        <p:strVal val="visible"/>
                                      </p:to>
                                    </p:set>
                                    <p:animEffect transition="in" filter="wipe(left)">
                                      <p:cBhvr>
                                        <p:cTn id="38" dur="500"/>
                                        <p:tgtEl>
                                          <p:spTgt spid="267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266" grpId="0" autoUpdateAnimBg="0"/>
      <p:bldP spid="267270" grpId="0" autoUpdateAnimBg="0"/>
      <p:bldP spid="267271" grpId="0" bldLvl="0" animBg="1" autoUpdateAnimBg="0"/>
      <p:bldP spid="267273" grpId="0" bldLvl="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p:cNvSpPr>
            <a:spLocks noChangeArrowheads="1"/>
          </p:cNvSpPr>
          <p:nvPr/>
        </p:nvSpPr>
        <p:spPr bwMode="auto">
          <a:xfrm>
            <a:off x="5253038" y="579438"/>
            <a:ext cx="38417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a:ea typeface="华文新魏" panose="02010800040101010101" pitchFamily="2" charset="-122"/>
              </a:rPr>
              <a:t>查正态分布函数表得</a:t>
            </a:r>
          </a:p>
        </p:txBody>
      </p:sp>
      <p:grpSp>
        <p:nvGrpSpPr>
          <p:cNvPr id="2" name="Group 3"/>
          <p:cNvGrpSpPr/>
          <p:nvPr/>
        </p:nvGrpSpPr>
        <p:grpSpPr bwMode="auto">
          <a:xfrm>
            <a:off x="1062038" y="457200"/>
            <a:ext cx="4953000" cy="993775"/>
            <a:chOff x="384" y="288"/>
            <a:chExt cx="3120" cy="626"/>
          </a:xfrm>
        </p:grpSpPr>
        <p:sp>
          <p:nvSpPr>
            <p:cNvPr id="39948" name="Text Box 4"/>
            <p:cNvSpPr txBox="1">
              <a:spLocks noChangeArrowheads="1"/>
            </p:cNvSpPr>
            <p:nvPr/>
          </p:nvSpPr>
          <p:spPr bwMode="auto">
            <a:xfrm>
              <a:off x="384" y="388"/>
              <a:ext cx="312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zh-CN" altLang="en-US" sz="3200">
                  <a:ea typeface="华文新魏" panose="02010800040101010101" pitchFamily="2" charset="-122"/>
                </a:rPr>
                <a:t>由                   ≥</a:t>
              </a:r>
              <a:r>
                <a:rPr lang="en-US" altLang="zh-CN" sz="3200">
                  <a:ea typeface="华文新魏" panose="02010800040101010101" pitchFamily="2" charset="-122"/>
                </a:rPr>
                <a:t>0.999</a:t>
              </a:r>
              <a:r>
                <a:rPr lang="zh-CN" altLang="en-US" sz="3200">
                  <a:ea typeface="华文新魏" panose="02010800040101010101" pitchFamily="2" charset="-122"/>
                </a:rPr>
                <a:t>，</a:t>
              </a:r>
            </a:p>
          </p:txBody>
        </p:sp>
        <p:graphicFrame>
          <p:nvGraphicFramePr>
            <p:cNvPr id="39949" name="Object 4"/>
            <p:cNvGraphicFramePr>
              <a:graphicFrameLocks noChangeAspect="1"/>
            </p:cNvGraphicFramePr>
            <p:nvPr/>
          </p:nvGraphicFramePr>
          <p:xfrm>
            <a:off x="740" y="288"/>
            <a:ext cx="1196" cy="626"/>
          </p:xfrm>
          <a:graphic>
            <a:graphicData uri="http://schemas.openxmlformats.org/presentationml/2006/ole">
              <mc:AlternateContent xmlns:mc="http://schemas.openxmlformats.org/markup-compatibility/2006">
                <mc:Choice xmlns:v="urn:schemas-microsoft-com:vml" Requires="v">
                  <p:oleObj spid="_x0000_s40021" name="公式" r:id="rId3" imgW="762000" imgH="384810" progId="Equation.3">
                    <p:embed/>
                  </p:oleObj>
                </mc:Choice>
                <mc:Fallback>
                  <p:oleObj name="公式" r:id="rId3" imgW="762000" imgH="38481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0" y="288"/>
                          <a:ext cx="1196" cy="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68294" name="Rectangle 6"/>
          <p:cNvSpPr>
            <a:spLocks noChangeArrowheads="1"/>
          </p:cNvSpPr>
          <p:nvPr/>
        </p:nvSpPr>
        <p:spPr bwMode="auto">
          <a:xfrm>
            <a:off x="1366838" y="3009900"/>
            <a:ext cx="35036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ea typeface="华文新魏" panose="02010800040101010101" pitchFamily="2" charset="-122"/>
              </a:rPr>
              <a:t>从中解得</a:t>
            </a:r>
            <a:r>
              <a:rPr lang="en-US" altLang="zh-CN" sz="3200" i="1">
                <a:ea typeface="华文新魏" panose="02010800040101010101" pitchFamily="2" charset="-122"/>
              </a:rPr>
              <a:t>N</a:t>
            </a:r>
            <a:r>
              <a:rPr lang="en-US" altLang="zh-CN" sz="3200">
                <a:ea typeface="华文新魏" panose="02010800040101010101" pitchFamily="2" charset="-122"/>
              </a:rPr>
              <a:t>≥141.5,</a:t>
            </a:r>
          </a:p>
        </p:txBody>
      </p:sp>
      <p:sp>
        <p:nvSpPr>
          <p:cNvPr id="268295" name="Rectangle 7"/>
          <p:cNvSpPr>
            <a:spLocks noChangeArrowheads="1"/>
          </p:cNvSpPr>
          <p:nvPr/>
        </p:nvSpPr>
        <p:spPr bwMode="auto">
          <a:xfrm>
            <a:off x="5253038" y="3086100"/>
            <a:ext cx="26146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a:ea typeface="华文新魏" panose="02010800040101010101" pitchFamily="2" charset="-122"/>
              </a:rPr>
              <a:t>即所求</a:t>
            </a:r>
            <a:r>
              <a:rPr lang="en-US" altLang="zh-CN" sz="3200" i="1">
                <a:solidFill>
                  <a:srgbClr val="990000"/>
                </a:solidFill>
                <a:ea typeface="华文新魏" panose="02010800040101010101" pitchFamily="2" charset="-122"/>
              </a:rPr>
              <a:t>N</a:t>
            </a:r>
            <a:r>
              <a:rPr lang="en-US" altLang="zh-CN" sz="3200">
                <a:solidFill>
                  <a:srgbClr val="990000"/>
                </a:solidFill>
                <a:ea typeface="华文新魏" panose="02010800040101010101" pitchFamily="2" charset="-122"/>
              </a:rPr>
              <a:t>=142</a:t>
            </a:r>
            <a:r>
              <a:rPr lang="en-US" altLang="zh-CN" sz="3200">
                <a:ea typeface="华文新魏" panose="02010800040101010101" pitchFamily="2" charset="-122"/>
              </a:rPr>
              <a:t>.</a:t>
            </a:r>
          </a:p>
        </p:txBody>
      </p:sp>
      <p:sp>
        <p:nvSpPr>
          <p:cNvPr id="268296" name="Text Box 8"/>
          <p:cNvSpPr txBox="1">
            <a:spLocks noChangeArrowheads="1"/>
          </p:cNvSpPr>
          <p:nvPr/>
        </p:nvSpPr>
        <p:spPr bwMode="auto">
          <a:xfrm>
            <a:off x="1366838" y="3932238"/>
            <a:ext cx="7391400" cy="15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zh-CN" altLang="en-US" sz="3200">
                <a:ea typeface="华文新魏" panose="02010800040101010101" pitchFamily="2" charset="-122"/>
              </a:rPr>
              <a:t>    也就是说</a:t>
            </a:r>
            <a:r>
              <a:rPr lang="en-US" altLang="zh-CN" sz="3200">
                <a:ea typeface="华文新魏" panose="02010800040101010101" pitchFamily="2" charset="-122"/>
              </a:rPr>
              <a:t>, </a:t>
            </a:r>
            <a:r>
              <a:rPr lang="zh-CN" altLang="en-US" sz="3200">
                <a:ea typeface="华文新魏" panose="02010800040101010101" pitchFamily="2" charset="-122"/>
              </a:rPr>
              <a:t>应供应</a:t>
            </a:r>
            <a:r>
              <a:rPr lang="en-US" altLang="zh-CN" sz="3200">
                <a:ea typeface="华文新魏" panose="02010800040101010101" pitchFamily="2" charset="-122"/>
              </a:rPr>
              <a:t>142 </a:t>
            </a:r>
            <a:r>
              <a:rPr lang="zh-CN" altLang="en-US" sz="3200">
                <a:ea typeface="华文新魏" panose="02010800040101010101" pitchFamily="2" charset="-122"/>
              </a:rPr>
              <a:t>千瓦电力就能以</a:t>
            </a:r>
            <a:r>
              <a:rPr lang="en-US" altLang="zh-CN" sz="3200">
                <a:ea typeface="华文新魏" panose="02010800040101010101" pitchFamily="2" charset="-122"/>
              </a:rPr>
              <a:t>99.9%</a:t>
            </a:r>
            <a:r>
              <a:rPr lang="zh-CN" altLang="en-US" sz="3200">
                <a:ea typeface="华文新魏" panose="02010800040101010101" pitchFamily="2" charset="-122"/>
              </a:rPr>
              <a:t>的概率保证该车间不会因供电不足而影响生产</a:t>
            </a:r>
            <a:r>
              <a:rPr lang="en-US" altLang="zh-CN" sz="3200">
                <a:ea typeface="华文新魏" panose="02010800040101010101" pitchFamily="2" charset="-122"/>
              </a:rPr>
              <a:t>.</a:t>
            </a:r>
            <a:endParaRPr lang="en-US" altLang="zh-CN" sz="3200" baseline="30000">
              <a:ea typeface="华文新魏" panose="02010800040101010101" pitchFamily="2" charset="-122"/>
            </a:endParaRPr>
          </a:p>
        </p:txBody>
      </p:sp>
      <p:graphicFrame>
        <p:nvGraphicFramePr>
          <p:cNvPr id="268297" name="Object 2"/>
          <p:cNvGraphicFramePr>
            <a:graphicFrameLocks noChangeAspect="1"/>
          </p:cNvGraphicFramePr>
          <p:nvPr/>
        </p:nvGraphicFramePr>
        <p:xfrm>
          <a:off x="5845175" y="1295400"/>
          <a:ext cx="2259013" cy="477838"/>
        </p:xfrm>
        <a:graphic>
          <a:graphicData uri="http://schemas.openxmlformats.org/presentationml/2006/ole">
            <mc:AlternateContent xmlns:mc="http://schemas.openxmlformats.org/markup-compatibility/2006">
              <mc:Choice xmlns:v="urn:schemas-microsoft-com:vml" Requires="v">
                <p:oleObj spid="_x0000_s40022" name="公式" r:id="rId5" imgW="914400" imgH="163830" progId="Equation.3">
                  <p:embed/>
                </p:oleObj>
              </mc:Choice>
              <mc:Fallback>
                <p:oleObj name="公式" r:id="rId5" imgW="914400" imgH="16383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45175" y="1295400"/>
                        <a:ext cx="2259013" cy="47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oup 10"/>
          <p:cNvGrpSpPr/>
          <p:nvPr/>
        </p:nvGrpSpPr>
        <p:grpSpPr bwMode="auto">
          <a:xfrm>
            <a:off x="1519238" y="1751013"/>
            <a:ext cx="3092450" cy="992187"/>
            <a:chOff x="672" y="912"/>
            <a:chExt cx="1948" cy="625"/>
          </a:xfrm>
        </p:grpSpPr>
        <p:graphicFrame>
          <p:nvGraphicFramePr>
            <p:cNvPr id="39945" name="Object 3"/>
            <p:cNvGraphicFramePr>
              <a:graphicFrameLocks noChangeAspect="1"/>
            </p:cNvGraphicFramePr>
            <p:nvPr/>
          </p:nvGraphicFramePr>
          <p:xfrm>
            <a:off x="1084" y="912"/>
            <a:ext cx="832" cy="625"/>
          </p:xfrm>
          <a:graphic>
            <a:graphicData uri="http://schemas.openxmlformats.org/presentationml/2006/ole">
              <mc:AlternateContent xmlns:mc="http://schemas.openxmlformats.org/markup-compatibility/2006">
                <mc:Choice xmlns:v="urn:schemas-microsoft-com:vml" Requires="v">
                  <p:oleObj spid="_x0000_s40023" name="公式" r:id="rId7" imgW="523875" imgH="384810" progId="Equation.3">
                    <p:embed/>
                  </p:oleObj>
                </mc:Choice>
                <mc:Fallback>
                  <p:oleObj name="公式" r:id="rId7" imgW="523875" imgH="384810"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84" y="912"/>
                          <a:ext cx="832" cy="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46" name="Rectangle 12"/>
            <p:cNvSpPr>
              <a:spLocks noChangeArrowheads="1"/>
            </p:cNvSpPr>
            <p:nvPr/>
          </p:nvSpPr>
          <p:spPr bwMode="auto">
            <a:xfrm>
              <a:off x="1800" y="1032"/>
              <a:ext cx="82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ea typeface="华文新魏" panose="02010800040101010101" pitchFamily="2" charset="-122"/>
                </a:rPr>
                <a:t>≥ </a:t>
              </a:r>
              <a:r>
                <a:rPr lang="en-US" altLang="zh-CN" sz="3200">
                  <a:ea typeface="华文新魏" panose="02010800040101010101" pitchFamily="2" charset="-122"/>
                </a:rPr>
                <a:t>3.1,</a:t>
              </a:r>
            </a:p>
          </p:txBody>
        </p:sp>
        <p:sp>
          <p:nvSpPr>
            <p:cNvPr id="39947" name="Rectangle 13"/>
            <p:cNvSpPr>
              <a:spLocks noChangeArrowheads="1"/>
            </p:cNvSpPr>
            <p:nvPr/>
          </p:nvSpPr>
          <p:spPr bwMode="auto">
            <a:xfrm>
              <a:off x="672" y="1008"/>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故</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268290"/>
                                        </p:tgtEl>
                                        <p:attrNameLst>
                                          <p:attrName>style.visibility</p:attrName>
                                        </p:attrNameLst>
                                      </p:cBhvr>
                                      <p:to>
                                        <p:strVal val="visible"/>
                                      </p:to>
                                    </p:set>
                                    <p:anim calcmode="lin" valueType="num">
                                      <p:cBhvr additive="base">
                                        <p:cTn id="12" dur="500" fill="hold"/>
                                        <p:tgtEl>
                                          <p:spTgt spid="268290"/>
                                        </p:tgtEl>
                                        <p:attrNameLst>
                                          <p:attrName>ppt_x</p:attrName>
                                        </p:attrNameLst>
                                      </p:cBhvr>
                                      <p:tavLst>
                                        <p:tav tm="0">
                                          <p:val>
                                            <p:strVal val="1+#ppt_w/2"/>
                                          </p:val>
                                        </p:tav>
                                        <p:tav tm="100000">
                                          <p:val>
                                            <p:strVal val="#ppt_x"/>
                                          </p:val>
                                        </p:tav>
                                      </p:tavLst>
                                    </p:anim>
                                    <p:anim calcmode="lin" valueType="num">
                                      <p:cBhvr additive="base">
                                        <p:cTn id="13" dur="500" fill="hold"/>
                                        <p:tgtEl>
                                          <p:spTgt spid="268290"/>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68297"/>
                                        </p:tgtEl>
                                        <p:attrNameLst>
                                          <p:attrName>style.visibility</p:attrName>
                                        </p:attrNameLst>
                                      </p:cBhvr>
                                      <p:to>
                                        <p:strVal val="visible"/>
                                      </p:to>
                                    </p:set>
                                    <p:animEffect transition="in" filter="wipe(left)">
                                      <p:cBhvr>
                                        <p:cTn id="18" dur="500"/>
                                        <p:tgtEl>
                                          <p:spTgt spid="26829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left)">
                                      <p:cBhvr>
                                        <p:cTn id="23" dur="500"/>
                                        <p:tgtEl>
                                          <p:spTgt spid="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68294"/>
                                        </p:tgtEl>
                                        <p:attrNameLst>
                                          <p:attrName>style.visibility</p:attrName>
                                        </p:attrNameLst>
                                      </p:cBhvr>
                                      <p:to>
                                        <p:strVal val="visible"/>
                                      </p:to>
                                    </p:set>
                                    <p:animEffect transition="in" filter="wipe(left)">
                                      <p:cBhvr>
                                        <p:cTn id="28" dur="500"/>
                                        <p:tgtEl>
                                          <p:spTgt spid="268294"/>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268295"/>
                                        </p:tgtEl>
                                        <p:attrNameLst>
                                          <p:attrName>style.visibility</p:attrName>
                                        </p:attrNameLst>
                                      </p:cBhvr>
                                      <p:to>
                                        <p:strVal val="visible"/>
                                      </p:to>
                                    </p:set>
                                    <p:anim calcmode="lin" valueType="num">
                                      <p:cBhvr additive="base">
                                        <p:cTn id="33" dur="500" fill="hold"/>
                                        <p:tgtEl>
                                          <p:spTgt spid="268295"/>
                                        </p:tgtEl>
                                        <p:attrNameLst>
                                          <p:attrName>ppt_x</p:attrName>
                                        </p:attrNameLst>
                                      </p:cBhvr>
                                      <p:tavLst>
                                        <p:tav tm="0">
                                          <p:val>
                                            <p:strVal val="1+#ppt_w/2"/>
                                          </p:val>
                                        </p:tav>
                                        <p:tav tm="100000">
                                          <p:val>
                                            <p:strVal val="#ppt_x"/>
                                          </p:val>
                                        </p:tav>
                                      </p:tavLst>
                                    </p:anim>
                                    <p:anim calcmode="lin" valueType="num">
                                      <p:cBhvr additive="base">
                                        <p:cTn id="34" dur="500" fill="hold"/>
                                        <p:tgtEl>
                                          <p:spTgt spid="268295"/>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6" presetClass="entr" presetSubtype="37" fill="hold" grpId="0" nodeType="clickEffect">
                                  <p:stCondLst>
                                    <p:cond delay="0"/>
                                  </p:stCondLst>
                                  <p:childTnLst>
                                    <p:set>
                                      <p:cBhvr>
                                        <p:cTn id="38" dur="1" fill="hold">
                                          <p:stCondLst>
                                            <p:cond delay="0"/>
                                          </p:stCondLst>
                                        </p:cTn>
                                        <p:tgtEl>
                                          <p:spTgt spid="268296"/>
                                        </p:tgtEl>
                                        <p:attrNameLst>
                                          <p:attrName>style.visibility</p:attrName>
                                        </p:attrNameLst>
                                      </p:cBhvr>
                                      <p:to>
                                        <p:strVal val="visible"/>
                                      </p:to>
                                    </p:set>
                                    <p:animEffect transition="in" filter="barn(outVertical)">
                                      <p:cBhvr>
                                        <p:cTn id="39" dur="500"/>
                                        <p:tgtEl>
                                          <p:spTgt spid="2682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290" grpId="0" autoUpdateAnimBg="0"/>
      <p:bldP spid="268294" grpId="0" autoUpdateAnimBg="0"/>
      <p:bldP spid="268295" grpId="0" autoUpdateAnimBg="0"/>
      <p:bldP spid="268296"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p:cNvSpPr txBox="1">
            <a:spLocks noChangeArrowheads="1"/>
          </p:cNvSpPr>
          <p:nvPr/>
        </p:nvSpPr>
        <p:spPr bwMode="auto">
          <a:xfrm>
            <a:off x="1611313" y="836613"/>
            <a:ext cx="6416675" cy="270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200" b="1" dirty="0">
                <a:solidFill>
                  <a:srgbClr val="99CCFF"/>
                </a:solidFill>
                <a:latin typeface="宋体" panose="02010600030101010101" pitchFamily="2" charset="-122"/>
              </a:rPr>
              <a:t>　　</a:t>
            </a:r>
            <a:r>
              <a:rPr lang="zh-CN" altLang="en-US" sz="2200" b="1" dirty="0">
                <a:solidFill>
                  <a:srgbClr val="5050CC"/>
                </a:solidFill>
                <a:latin typeface="宋体" panose="02010600030101010101" pitchFamily="2" charset="-122"/>
              </a:rPr>
              <a:t>例</a:t>
            </a:r>
            <a:r>
              <a:rPr lang="zh-CN" altLang="en-US" sz="2200" dirty="0">
                <a:latin typeface="宋体" panose="02010600030101010101" pitchFamily="2" charset="-122"/>
              </a:rPr>
              <a:t>　对敌人的防御工事用炮火进行</a:t>
            </a:r>
            <a:r>
              <a:rPr lang="en-US" altLang="zh-CN" sz="2200" dirty="0"/>
              <a:t>100</a:t>
            </a:r>
            <a:r>
              <a:rPr lang="zh-CN" altLang="en-US" sz="2200" dirty="0">
                <a:latin typeface="宋体" panose="02010600030101010101" pitchFamily="2" charset="-122"/>
              </a:rPr>
              <a:t>次轰击，设每次轰击命中的炮弹数服从同一分布</a:t>
            </a:r>
            <a:r>
              <a:rPr lang="en-US" altLang="zh-CN" sz="2200" dirty="0">
                <a:latin typeface="宋体" panose="02010600030101010101" pitchFamily="2" charset="-122"/>
              </a:rPr>
              <a:t>, </a:t>
            </a:r>
            <a:r>
              <a:rPr lang="zh-CN" altLang="en-US" sz="2200" dirty="0">
                <a:latin typeface="宋体" panose="02010600030101010101" pitchFamily="2" charset="-122"/>
              </a:rPr>
              <a:t>其数学期望为</a:t>
            </a:r>
            <a:r>
              <a:rPr lang="en-US" altLang="zh-CN" sz="2200" dirty="0"/>
              <a:t>2</a:t>
            </a:r>
            <a:r>
              <a:rPr lang="zh-CN" altLang="en-US" sz="2200" dirty="0">
                <a:latin typeface="宋体" panose="02010600030101010101" pitchFamily="2" charset="-122"/>
              </a:rPr>
              <a:t>，均方差为</a:t>
            </a:r>
            <a:r>
              <a:rPr lang="en-US" altLang="zh-CN" sz="2200" dirty="0"/>
              <a:t>1.5</a:t>
            </a:r>
            <a:r>
              <a:rPr lang="zh-CN" altLang="en-US" sz="2200" b="1" dirty="0">
                <a:latin typeface="宋体" panose="02010600030101010101" pitchFamily="2" charset="-122"/>
              </a:rPr>
              <a:t>．</a:t>
            </a:r>
            <a:r>
              <a:rPr lang="zh-CN" altLang="en-US" sz="2200" dirty="0">
                <a:latin typeface="宋体" panose="02010600030101010101" pitchFamily="2" charset="-122"/>
              </a:rPr>
              <a:t>如果各次轰击命中的炮弹数是相互独立的，求</a:t>
            </a:r>
            <a:r>
              <a:rPr lang="en-US" altLang="zh-CN" sz="2200" dirty="0"/>
              <a:t>100</a:t>
            </a:r>
            <a:r>
              <a:rPr lang="zh-CN" altLang="en-US" sz="2200" dirty="0">
                <a:latin typeface="宋体" panose="02010600030101010101" pitchFamily="2" charset="-122"/>
              </a:rPr>
              <a:t>次轰击</a:t>
            </a:r>
          </a:p>
          <a:p>
            <a:pPr eaLnBrk="1" hangingPunct="1">
              <a:lnSpc>
                <a:spcPct val="130000"/>
              </a:lnSpc>
            </a:pPr>
            <a:r>
              <a:rPr lang="zh-CN" altLang="en-US" sz="2200" dirty="0"/>
              <a:t>　　</a:t>
            </a:r>
            <a:r>
              <a:rPr lang="en-US" altLang="zh-CN" sz="2200" dirty="0"/>
              <a:t>(1) </a:t>
            </a:r>
            <a:r>
              <a:rPr lang="zh-CN" altLang="en-US" sz="2200" dirty="0">
                <a:latin typeface="宋体" panose="02010600030101010101" pitchFamily="2" charset="-122"/>
              </a:rPr>
              <a:t>至少命中</a:t>
            </a:r>
            <a:r>
              <a:rPr lang="en-US" altLang="zh-CN" sz="2200" dirty="0"/>
              <a:t>180</a:t>
            </a:r>
            <a:r>
              <a:rPr lang="zh-CN" altLang="en-US" sz="2200" dirty="0">
                <a:latin typeface="宋体" panose="02010600030101010101" pitchFamily="2" charset="-122"/>
              </a:rPr>
              <a:t>发炮弹的概率</a:t>
            </a:r>
            <a:r>
              <a:rPr lang="zh-CN" altLang="en-US" sz="2200" b="1" dirty="0">
                <a:latin typeface="宋体" panose="02010600030101010101" pitchFamily="2" charset="-122"/>
              </a:rPr>
              <a:t>；</a:t>
            </a:r>
          </a:p>
          <a:p>
            <a:pPr eaLnBrk="1" hangingPunct="1">
              <a:lnSpc>
                <a:spcPct val="130000"/>
              </a:lnSpc>
            </a:pPr>
            <a:r>
              <a:rPr lang="zh-CN" altLang="en-US" sz="2200" dirty="0"/>
              <a:t>　　</a:t>
            </a:r>
            <a:r>
              <a:rPr lang="en-US" altLang="zh-CN" sz="2200" dirty="0"/>
              <a:t>(2) </a:t>
            </a:r>
            <a:r>
              <a:rPr lang="zh-CN" altLang="en-US" sz="2200" dirty="0">
                <a:latin typeface="宋体" panose="02010600030101010101" pitchFamily="2" charset="-122"/>
              </a:rPr>
              <a:t>命中的炮弹数不到</a:t>
            </a:r>
            <a:r>
              <a:rPr lang="en-US" altLang="zh-CN" sz="2200" dirty="0"/>
              <a:t>200</a:t>
            </a:r>
            <a:r>
              <a:rPr lang="zh-CN" altLang="en-US" sz="2200" dirty="0">
                <a:latin typeface="宋体" panose="02010600030101010101" pitchFamily="2" charset="-122"/>
              </a:rPr>
              <a:t>发的概率</a:t>
            </a:r>
            <a:r>
              <a:rPr lang="zh-CN" altLang="en-US" sz="2200" b="1" dirty="0">
                <a:latin typeface="宋体" panose="02010600030101010101" pitchFamily="2" charset="-122"/>
              </a:rPr>
              <a:t>．</a:t>
            </a:r>
          </a:p>
        </p:txBody>
      </p:sp>
      <p:sp>
        <p:nvSpPr>
          <p:cNvPr id="44035" name="Text Box 3"/>
          <p:cNvSpPr txBox="1">
            <a:spLocks noChangeArrowheads="1"/>
          </p:cNvSpPr>
          <p:nvPr/>
        </p:nvSpPr>
        <p:spPr bwMode="auto">
          <a:xfrm>
            <a:off x="1570038" y="3544888"/>
            <a:ext cx="5808662"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200" b="1" dirty="0">
                <a:solidFill>
                  <a:srgbClr val="99CCFF"/>
                </a:solidFill>
                <a:latin typeface="宋体" panose="02010600030101010101" pitchFamily="2" charset="-122"/>
              </a:rPr>
              <a:t>　　</a:t>
            </a:r>
            <a:r>
              <a:rPr lang="zh-CN" altLang="en-US" sz="2200" b="1" dirty="0">
                <a:solidFill>
                  <a:srgbClr val="5050CC"/>
                </a:solidFill>
                <a:latin typeface="宋体" panose="02010600030101010101" pitchFamily="2" charset="-122"/>
              </a:rPr>
              <a:t>解</a:t>
            </a:r>
            <a:r>
              <a:rPr lang="zh-CN" altLang="en-US" sz="2200" b="1" dirty="0">
                <a:solidFill>
                  <a:srgbClr val="99CCFF"/>
                </a:solidFill>
                <a:latin typeface="宋体" panose="02010600030101010101" pitchFamily="2" charset="-122"/>
              </a:rPr>
              <a:t>　</a:t>
            </a:r>
            <a:r>
              <a:rPr lang="zh-CN" altLang="en-US" sz="2200" dirty="0">
                <a:latin typeface="宋体" panose="02010600030101010101" pitchFamily="2" charset="-122"/>
              </a:rPr>
              <a:t>设</a:t>
            </a:r>
            <a:r>
              <a:rPr lang="en-US" altLang="zh-CN" sz="2200" i="1" dirty="0"/>
              <a:t>X </a:t>
            </a:r>
            <a:r>
              <a:rPr lang="en-US" altLang="zh-CN" sz="2200" i="1" baseline="-25000" dirty="0"/>
              <a:t>k</a:t>
            </a:r>
            <a:r>
              <a:rPr lang="zh-CN" altLang="en-US" sz="2200" dirty="0">
                <a:latin typeface="宋体" panose="02010600030101010101" pitchFamily="2" charset="-122"/>
              </a:rPr>
              <a:t>表示第</a:t>
            </a:r>
            <a:r>
              <a:rPr lang="zh-CN" altLang="en-US" sz="2200" i="1" dirty="0"/>
              <a:t> </a:t>
            </a:r>
            <a:r>
              <a:rPr lang="en-US" altLang="zh-CN" sz="2200" i="1" dirty="0"/>
              <a:t>k </a:t>
            </a:r>
            <a:r>
              <a:rPr lang="zh-CN" altLang="en-US" sz="2200" dirty="0">
                <a:latin typeface="宋体" panose="02010600030101010101" pitchFamily="2" charset="-122"/>
              </a:rPr>
              <a:t>次轰击命中的炮弹数．</a:t>
            </a:r>
          </a:p>
        </p:txBody>
      </p:sp>
      <p:graphicFrame>
        <p:nvGraphicFramePr>
          <p:cNvPr id="44036" name="Object 2"/>
          <p:cNvGraphicFramePr>
            <a:graphicFrameLocks noChangeAspect="1"/>
          </p:cNvGraphicFramePr>
          <p:nvPr/>
        </p:nvGraphicFramePr>
        <p:xfrm>
          <a:off x="2297113" y="4165600"/>
          <a:ext cx="4876800" cy="377825"/>
        </p:xfrm>
        <a:graphic>
          <a:graphicData uri="http://schemas.openxmlformats.org/presentationml/2006/ole">
            <mc:AlternateContent xmlns:mc="http://schemas.openxmlformats.org/markup-compatibility/2006">
              <mc:Choice xmlns:v="urn:schemas-microsoft-com:vml" Requires="v">
                <p:oleObj spid="_x0000_s44089" name="Equation" r:id="rId3" imgW="6886575" imgH="500380" progId="Equation.3">
                  <p:embed/>
                </p:oleObj>
              </mc:Choice>
              <mc:Fallback>
                <p:oleObj name="Equation" r:id="rId3" imgW="6886575" imgH="50038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97113" y="4165600"/>
                        <a:ext cx="4876800" cy="377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37" name="Object 3"/>
          <p:cNvGraphicFramePr>
            <a:graphicFrameLocks noChangeAspect="1"/>
          </p:cNvGraphicFramePr>
          <p:nvPr/>
        </p:nvGraphicFramePr>
        <p:xfrm>
          <a:off x="1741488" y="4732338"/>
          <a:ext cx="1754187" cy="350837"/>
        </p:xfrm>
        <a:graphic>
          <a:graphicData uri="http://schemas.openxmlformats.org/presentationml/2006/ole">
            <mc:AlternateContent xmlns:mc="http://schemas.openxmlformats.org/markup-compatibility/2006">
              <mc:Choice xmlns:v="urn:schemas-microsoft-com:vml" Requires="v">
                <p:oleObj spid="_x0000_s44090" name="Equation" r:id="rId5" imgW="2371725" imgH="452120" progId="Equation.3">
                  <p:embed/>
                </p:oleObj>
              </mc:Choice>
              <mc:Fallback>
                <p:oleObj name="Equation" r:id="rId5" imgW="2371725" imgH="45212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41488" y="4732338"/>
                        <a:ext cx="1754187" cy="350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38" name="Text Box 6"/>
          <p:cNvSpPr txBox="1">
            <a:spLocks noChangeArrowheads="1"/>
          </p:cNvSpPr>
          <p:nvPr/>
        </p:nvSpPr>
        <p:spPr bwMode="auto">
          <a:xfrm>
            <a:off x="3554413" y="4605338"/>
            <a:ext cx="1581150"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200">
                <a:latin typeface="宋体" panose="02010600030101010101" pitchFamily="2" charset="-122"/>
              </a:rPr>
              <a:t>相互独立．</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0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0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03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403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0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4" grpId="0"/>
      <p:bldP spid="44035" grpId="0"/>
      <p:bldP spid="4403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p:cNvSpPr txBox="1">
            <a:spLocks noChangeArrowheads="1"/>
          </p:cNvSpPr>
          <p:nvPr/>
        </p:nvSpPr>
        <p:spPr bwMode="auto">
          <a:xfrm>
            <a:off x="1690688" y="476672"/>
            <a:ext cx="48260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a:latin typeface="宋体" panose="02010600030101010101" pitchFamily="2" charset="-122"/>
              </a:rPr>
              <a:t>设</a:t>
            </a:r>
            <a:r>
              <a:rPr lang="zh-CN" altLang="en-US" sz="2200">
                <a:ea typeface="楷体_GB2312" pitchFamily="49" charset="-122"/>
              </a:rPr>
              <a:t> </a:t>
            </a:r>
            <a:r>
              <a:rPr lang="en-US" altLang="zh-CN" sz="2200" i="1">
                <a:ea typeface="楷体_GB2312" pitchFamily="49" charset="-122"/>
              </a:rPr>
              <a:t>X </a:t>
            </a:r>
            <a:r>
              <a:rPr lang="zh-CN" altLang="en-US" sz="2200"/>
              <a:t>表示</a:t>
            </a:r>
            <a:r>
              <a:rPr lang="en-US" altLang="zh-CN" sz="2200">
                <a:ea typeface="楷体_GB2312" pitchFamily="49" charset="-122"/>
              </a:rPr>
              <a:t>100</a:t>
            </a:r>
            <a:r>
              <a:rPr lang="zh-CN" altLang="en-US" sz="2200">
                <a:latin typeface="宋体" panose="02010600030101010101" pitchFamily="2" charset="-122"/>
              </a:rPr>
              <a:t>次轰击命中的炮弹数，则</a:t>
            </a:r>
          </a:p>
        </p:txBody>
      </p:sp>
      <p:graphicFrame>
        <p:nvGraphicFramePr>
          <p:cNvPr id="45059" name="Object 2"/>
          <p:cNvGraphicFramePr>
            <a:graphicFrameLocks noChangeAspect="1"/>
          </p:cNvGraphicFramePr>
          <p:nvPr/>
        </p:nvGraphicFramePr>
        <p:xfrm>
          <a:off x="1803400" y="1022772"/>
          <a:ext cx="4484688" cy="700087"/>
        </p:xfrm>
        <a:graphic>
          <a:graphicData uri="http://schemas.openxmlformats.org/presentationml/2006/ole">
            <mc:AlternateContent xmlns:mc="http://schemas.openxmlformats.org/markup-compatibility/2006">
              <mc:Choice xmlns:v="urn:schemas-microsoft-com:vml" Requires="v">
                <p:oleObj spid="_x0000_s45188" name="Equation" r:id="rId3" imgW="6286500" imgH="962660" progId="Equation.3">
                  <p:embed/>
                </p:oleObj>
              </mc:Choice>
              <mc:Fallback>
                <p:oleObj name="Equation" r:id="rId3" imgW="6286500" imgH="96266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3400" y="1022772"/>
                        <a:ext cx="4484688" cy="700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60" name="Text Box 4"/>
          <p:cNvSpPr txBox="1">
            <a:spLocks noChangeArrowheads="1"/>
          </p:cNvSpPr>
          <p:nvPr/>
        </p:nvSpPr>
        <p:spPr bwMode="auto">
          <a:xfrm>
            <a:off x="1716088" y="3038475"/>
            <a:ext cx="58102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200">
                <a:ea typeface="楷体_GB2312" pitchFamily="49" charset="-122"/>
              </a:rPr>
              <a:t>(1) </a:t>
            </a:r>
          </a:p>
        </p:txBody>
      </p:sp>
      <p:graphicFrame>
        <p:nvGraphicFramePr>
          <p:cNvPr id="45061" name="Object 3"/>
          <p:cNvGraphicFramePr>
            <a:graphicFrameLocks noChangeAspect="1"/>
          </p:cNvGraphicFramePr>
          <p:nvPr/>
        </p:nvGraphicFramePr>
        <p:xfrm>
          <a:off x="2325688" y="2919413"/>
          <a:ext cx="3657600" cy="758825"/>
        </p:xfrm>
        <a:graphic>
          <a:graphicData uri="http://schemas.openxmlformats.org/presentationml/2006/ole">
            <mc:AlternateContent xmlns:mc="http://schemas.openxmlformats.org/markup-compatibility/2006">
              <mc:Choice xmlns:v="urn:schemas-microsoft-com:vml" Requires="v">
                <p:oleObj spid="_x0000_s45189" name="Equation" r:id="rId5" imgW="3771900" imgH="760095" progId="Equation.3">
                  <p:embed/>
                </p:oleObj>
              </mc:Choice>
              <mc:Fallback>
                <p:oleObj name="Equation" r:id="rId5" imgW="3771900" imgH="760095"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25688" y="2919413"/>
                        <a:ext cx="3657600" cy="758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62" name="Text Box 6"/>
          <p:cNvSpPr txBox="1">
            <a:spLocks noChangeArrowheads="1"/>
          </p:cNvSpPr>
          <p:nvPr/>
        </p:nvSpPr>
        <p:spPr bwMode="auto">
          <a:xfrm>
            <a:off x="1716088" y="4294188"/>
            <a:ext cx="51117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200">
                <a:ea typeface="楷体_GB2312" pitchFamily="49" charset="-122"/>
              </a:rPr>
              <a:t>(2)</a:t>
            </a:r>
          </a:p>
        </p:txBody>
      </p:sp>
      <p:graphicFrame>
        <p:nvGraphicFramePr>
          <p:cNvPr id="45063" name="Object 4"/>
          <p:cNvGraphicFramePr>
            <a:graphicFrameLocks noChangeAspect="1"/>
          </p:cNvGraphicFramePr>
          <p:nvPr/>
        </p:nvGraphicFramePr>
        <p:xfrm>
          <a:off x="2195513" y="4437063"/>
          <a:ext cx="3986212" cy="1416050"/>
        </p:xfrm>
        <a:graphic>
          <a:graphicData uri="http://schemas.openxmlformats.org/presentationml/2006/ole">
            <mc:AlternateContent xmlns:mc="http://schemas.openxmlformats.org/markup-compatibility/2006">
              <mc:Choice xmlns:v="urn:schemas-microsoft-com:vml" Requires="v">
                <p:oleObj spid="_x0000_s45190" name="Equation" r:id="rId7" imgW="1819275" imgH="625475" progId="Equation.DSMT4">
                  <p:embed/>
                </p:oleObj>
              </mc:Choice>
              <mc:Fallback>
                <p:oleObj name="Equation" r:id="rId7" imgW="1819275" imgH="625475"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95513" y="4437063"/>
                        <a:ext cx="3986212" cy="1416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64" name="Object 5"/>
          <p:cNvGraphicFramePr>
            <a:graphicFrameLocks noChangeAspect="1"/>
          </p:cNvGraphicFramePr>
          <p:nvPr/>
        </p:nvGraphicFramePr>
        <p:xfrm>
          <a:off x="2173288" y="3832225"/>
          <a:ext cx="3344862" cy="323850"/>
        </p:xfrm>
        <a:graphic>
          <a:graphicData uri="http://schemas.openxmlformats.org/presentationml/2006/ole">
            <mc:AlternateContent xmlns:mc="http://schemas.openxmlformats.org/markup-compatibility/2006">
              <mc:Choice xmlns:v="urn:schemas-microsoft-com:vml" Requires="v">
                <p:oleObj spid="_x0000_s45191" name="Equation" r:id="rId9" imgW="3495675" imgH="307975" progId="Equation.3">
                  <p:embed/>
                </p:oleObj>
              </mc:Choice>
              <mc:Fallback>
                <p:oleObj name="Equation" r:id="rId9" imgW="3495675" imgH="307975"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73288" y="3832225"/>
                        <a:ext cx="3344862" cy="323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65" name="Object 7"/>
          <p:cNvGraphicFramePr>
            <a:graphicFrameLocks noChangeAspect="1"/>
          </p:cNvGraphicFramePr>
          <p:nvPr/>
        </p:nvGraphicFramePr>
        <p:xfrm>
          <a:off x="1812637" y="2012950"/>
          <a:ext cx="3167336" cy="625475"/>
        </p:xfrm>
        <a:graphic>
          <a:graphicData uri="http://schemas.openxmlformats.org/presentationml/2006/ole">
            <mc:AlternateContent xmlns:mc="http://schemas.openxmlformats.org/markup-compatibility/2006">
              <mc:Choice xmlns:v="urn:schemas-microsoft-com:vml" Requires="v">
                <p:oleObj spid="_x0000_s45192" name="Equation" r:id="rId11" imgW="2143125" imgH="567690" progId="Equation.DSMT4">
                  <p:embed/>
                </p:oleObj>
              </mc:Choice>
              <mc:Fallback>
                <p:oleObj name="Equation" r:id="rId11" imgW="2143125" imgH="567690"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12637" y="2012950"/>
                        <a:ext cx="3167336" cy="625475"/>
                      </a:xfrm>
                      <a:prstGeom prst="rect">
                        <a:avLst/>
                      </a:prstGeom>
                      <a:noFill/>
                      <a:ln>
                        <a:noFill/>
                      </a:ln>
                      <a:effectLst/>
                    </p:spPr>
                  </p:pic>
                </p:oleObj>
              </mc:Fallback>
            </mc:AlternateContent>
          </a:graphicData>
        </a:graphic>
      </p:graphicFrame>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05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05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506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506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506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506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506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50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p:bldP spid="45060" grpId="0"/>
      <p:bldP spid="4506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p:cNvSpPr txBox="1">
            <a:spLocks noChangeArrowheads="1"/>
          </p:cNvSpPr>
          <p:nvPr/>
        </p:nvSpPr>
        <p:spPr bwMode="auto">
          <a:xfrm>
            <a:off x="1187450" y="836613"/>
            <a:ext cx="6553200" cy="139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200" b="1" dirty="0">
                <a:solidFill>
                  <a:srgbClr val="99CCFF"/>
                </a:solidFill>
                <a:latin typeface="宋体" panose="02010600030101010101" pitchFamily="2" charset="-122"/>
              </a:rPr>
              <a:t>　　</a:t>
            </a:r>
            <a:r>
              <a:rPr lang="zh-CN" altLang="en-US" sz="2200" b="1" dirty="0">
                <a:solidFill>
                  <a:srgbClr val="5050CC"/>
                </a:solidFill>
                <a:latin typeface="宋体" panose="02010600030101010101" pitchFamily="2" charset="-122"/>
              </a:rPr>
              <a:t>例</a:t>
            </a:r>
            <a:r>
              <a:rPr lang="zh-CN" altLang="en-US" sz="2200" dirty="0">
                <a:latin typeface="宋体" panose="02010600030101010101" pitchFamily="2" charset="-122"/>
              </a:rPr>
              <a:t>　售报员在报摊上卖报，已知每个过路人在报摊上买报的概率为</a:t>
            </a:r>
            <a:r>
              <a:rPr lang="en-US" altLang="zh-CN" sz="2200" dirty="0"/>
              <a:t>1/3</a:t>
            </a:r>
            <a:r>
              <a:rPr lang="zh-CN" altLang="en-US" sz="2200" dirty="0">
                <a:latin typeface="宋体" panose="02010600030101010101" pitchFamily="2" charset="-122"/>
              </a:rPr>
              <a:t>．令</a:t>
            </a:r>
            <a:r>
              <a:rPr lang="en-US" altLang="zh-CN" sz="2200" i="1" dirty="0"/>
              <a:t>X</a:t>
            </a:r>
            <a:r>
              <a:rPr lang="en-US" altLang="zh-CN" sz="2200" dirty="0"/>
              <a:t> </a:t>
            </a:r>
            <a:r>
              <a:rPr lang="zh-CN" altLang="en-US" sz="2200" dirty="0">
                <a:latin typeface="宋体" panose="02010600030101010101" pitchFamily="2" charset="-122"/>
              </a:rPr>
              <a:t>是出售了</a:t>
            </a:r>
            <a:r>
              <a:rPr lang="en-US" altLang="zh-CN" sz="2200" dirty="0"/>
              <a:t>100</a:t>
            </a:r>
            <a:r>
              <a:rPr lang="zh-CN" altLang="en-US" sz="2200" dirty="0">
                <a:latin typeface="宋体" panose="02010600030101010101" pitchFamily="2" charset="-122"/>
              </a:rPr>
              <a:t>份报时过路人的数目，求</a:t>
            </a:r>
            <a:r>
              <a:rPr lang="en-US" altLang="zh-CN" sz="2200" i="1" dirty="0"/>
              <a:t>P </a:t>
            </a:r>
            <a:r>
              <a:rPr lang="en-US" altLang="zh-CN" sz="2200" dirty="0"/>
              <a:t>(280 </a:t>
            </a:r>
            <a:r>
              <a:rPr lang="en-US" altLang="zh-CN" sz="2200" dirty="0">
                <a:sym typeface="Symbol" panose="05050102010706020507" pitchFamily="18" charset="2"/>
              </a:rPr>
              <a:t> </a:t>
            </a:r>
            <a:r>
              <a:rPr lang="en-US" altLang="zh-CN" sz="2200" i="1" dirty="0">
                <a:sym typeface="Symbol" panose="05050102010706020507" pitchFamily="18" charset="2"/>
              </a:rPr>
              <a:t>X </a:t>
            </a:r>
            <a:r>
              <a:rPr lang="en-US" altLang="zh-CN" sz="2200" dirty="0">
                <a:sym typeface="Symbol" panose="05050102010706020507" pitchFamily="18" charset="2"/>
              </a:rPr>
              <a:t> 320</a:t>
            </a:r>
            <a:r>
              <a:rPr lang="en-US" altLang="zh-CN" sz="2200" dirty="0"/>
              <a:t>)</a:t>
            </a:r>
            <a:r>
              <a:rPr lang="zh-CN" altLang="en-US" sz="2200" dirty="0"/>
              <a:t>．</a:t>
            </a:r>
          </a:p>
        </p:txBody>
      </p:sp>
      <p:sp>
        <p:nvSpPr>
          <p:cNvPr id="46083" name="Text Box 3"/>
          <p:cNvSpPr txBox="1">
            <a:spLocks noChangeArrowheads="1"/>
          </p:cNvSpPr>
          <p:nvPr/>
        </p:nvSpPr>
        <p:spPr bwMode="auto">
          <a:xfrm>
            <a:off x="1187450" y="2141538"/>
            <a:ext cx="6477000"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200" b="1">
                <a:solidFill>
                  <a:srgbClr val="99CCFF"/>
                </a:solidFill>
                <a:latin typeface="宋体" panose="02010600030101010101" pitchFamily="2" charset="-122"/>
              </a:rPr>
              <a:t>　　</a:t>
            </a:r>
            <a:r>
              <a:rPr lang="zh-CN" altLang="en-US" sz="2200" b="1">
                <a:solidFill>
                  <a:srgbClr val="5050CC"/>
                </a:solidFill>
                <a:latin typeface="宋体" panose="02010600030101010101" pitchFamily="2" charset="-122"/>
              </a:rPr>
              <a:t>解</a:t>
            </a:r>
            <a:r>
              <a:rPr lang="zh-CN" altLang="en-US" sz="2200">
                <a:latin typeface="宋体" panose="02010600030101010101" pitchFamily="2" charset="-122"/>
              </a:rPr>
              <a:t>　令</a:t>
            </a:r>
            <a:r>
              <a:rPr lang="en-US" altLang="zh-CN" sz="2200" i="1"/>
              <a:t>X</a:t>
            </a:r>
            <a:r>
              <a:rPr lang="en-US" altLang="zh-CN" sz="2200" i="1" baseline="-25000"/>
              <a:t>i</a:t>
            </a:r>
            <a:r>
              <a:rPr lang="en-US" altLang="zh-CN" sz="2200" i="1"/>
              <a:t> </a:t>
            </a:r>
            <a:r>
              <a:rPr lang="zh-CN" altLang="en-US" sz="2200">
                <a:latin typeface="宋体" panose="02010600030101010101" pitchFamily="2" charset="-122"/>
              </a:rPr>
              <a:t>为售出了第</a:t>
            </a:r>
            <a:r>
              <a:rPr lang="en-US" altLang="zh-CN" sz="2200" i="1"/>
              <a:t>i – </a:t>
            </a:r>
            <a:r>
              <a:rPr lang="en-US" altLang="zh-CN" sz="2200"/>
              <a:t>1</a:t>
            </a:r>
            <a:r>
              <a:rPr lang="zh-CN" altLang="en-US" sz="2200">
                <a:latin typeface="宋体" panose="02010600030101010101" pitchFamily="2" charset="-122"/>
              </a:rPr>
              <a:t>份报纸后到售出第</a:t>
            </a:r>
            <a:r>
              <a:rPr lang="en-US" altLang="zh-CN" sz="2200" i="1"/>
              <a:t>i</a:t>
            </a:r>
            <a:r>
              <a:rPr lang="zh-CN" altLang="en-US" sz="2200">
                <a:latin typeface="宋体" panose="02010600030101010101" pitchFamily="2" charset="-122"/>
              </a:rPr>
              <a:t>份报纸时的过路人数，</a:t>
            </a:r>
            <a:r>
              <a:rPr lang="en-US" altLang="zh-CN" sz="2200" i="1"/>
              <a:t>i</a:t>
            </a:r>
            <a:r>
              <a:rPr lang="en-US" altLang="zh-CN" sz="2200"/>
              <a:t> = 1,2,…,100</a:t>
            </a:r>
            <a:r>
              <a:rPr lang="zh-CN" altLang="en-US" sz="2200"/>
              <a:t>．</a:t>
            </a:r>
          </a:p>
        </p:txBody>
      </p:sp>
      <p:graphicFrame>
        <p:nvGraphicFramePr>
          <p:cNvPr id="46084" name="Object 2"/>
          <p:cNvGraphicFramePr>
            <a:graphicFrameLocks noChangeAspect="1"/>
          </p:cNvGraphicFramePr>
          <p:nvPr/>
        </p:nvGraphicFramePr>
        <p:xfrm>
          <a:off x="1828800" y="3205163"/>
          <a:ext cx="4632325" cy="433387"/>
        </p:xfrm>
        <a:graphic>
          <a:graphicData uri="http://schemas.openxmlformats.org/presentationml/2006/ole">
            <mc:AlternateContent xmlns:mc="http://schemas.openxmlformats.org/markup-compatibility/2006">
              <mc:Choice xmlns:v="urn:schemas-microsoft-com:vml" Requires="v">
                <p:oleObj spid="_x0000_s46137" name="Equation" r:id="rId3" imgW="6486525" imgH="577215" progId="Equation.3">
                  <p:embed/>
                </p:oleObj>
              </mc:Choice>
              <mc:Fallback>
                <p:oleObj name="Equation" r:id="rId3" imgW="6486525" imgH="577215"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3205163"/>
                        <a:ext cx="4632325"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085" name="Text Box 5"/>
          <p:cNvSpPr txBox="1">
            <a:spLocks noChangeArrowheads="1"/>
          </p:cNvSpPr>
          <p:nvPr/>
        </p:nvSpPr>
        <p:spPr bwMode="auto">
          <a:xfrm>
            <a:off x="5321300" y="3662363"/>
            <a:ext cx="1581150"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en-US" altLang="zh-CN" sz="2200">
                <a:latin typeface="宋体" panose="02010600030101010101" pitchFamily="2" charset="-122"/>
              </a:rPr>
              <a:t>(</a:t>
            </a:r>
            <a:r>
              <a:rPr lang="zh-CN" altLang="en-US" sz="2200">
                <a:latin typeface="宋体" panose="02010600030101010101" pitchFamily="2" charset="-122"/>
              </a:rPr>
              <a:t>几何分布</a:t>
            </a:r>
            <a:r>
              <a:rPr lang="en-US" altLang="zh-CN" sz="2200">
                <a:latin typeface="宋体" panose="02010600030101010101" pitchFamily="2" charset="-122"/>
              </a:rPr>
              <a:t>)</a:t>
            </a:r>
          </a:p>
        </p:txBody>
      </p:sp>
      <p:graphicFrame>
        <p:nvGraphicFramePr>
          <p:cNvPr id="46086" name="Object 3"/>
          <p:cNvGraphicFramePr>
            <a:graphicFrameLocks noChangeAspect="1"/>
          </p:cNvGraphicFramePr>
          <p:nvPr/>
        </p:nvGraphicFramePr>
        <p:xfrm>
          <a:off x="1797050" y="4356100"/>
          <a:ext cx="4876800" cy="820738"/>
        </p:xfrm>
        <a:graphic>
          <a:graphicData uri="http://schemas.openxmlformats.org/presentationml/2006/ole">
            <mc:AlternateContent xmlns:mc="http://schemas.openxmlformats.org/markup-compatibility/2006">
              <mc:Choice xmlns:v="urn:schemas-microsoft-com:vml" Requires="v">
                <p:oleObj spid="_x0000_s46138" name="Equation" r:id="rId5" imgW="6810375" imgH="1125855" progId="Equation.3">
                  <p:embed/>
                </p:oleObj>
              </mc:Choice>
              <mc:Fallback>
                <p:oleObj name="Equation" r:id="rId5" imgW="6810375" imgH="1125855"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7050" y="4356100"/>
                        <a:ext cx="4876800" cy="820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08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08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608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60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2" grpId="0"/>
      <p:bldP spid="46083" grpId="0"/>
      <p:bldP spid="4608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106" name="Object 2"/>
          <p:cNvGraphicFramePr>
            <a:graphicFrameLocks noChangeAspect="1"/>
          </p:cNvGraphicFramePr>
          <p:nvPr/>
        </p:nvGraphicFramePr>
        <p:xfrm>
          <a:off x="5075238" y="981075"/>
          <a:ext cx="1241425" cy="750888"/>
        </p:xfrm>
        <a:graphic>
          <a:graphicData uri="http://schemas.openxmlformats.org/presentationml/2006/ole">
            <mc:AlternateContent xmlns:mc="http://schemas.openxmlformats.org/markup-compatibility/2006">
              <mc:Choice xmlns:v="urn:schemas-microsoft-com:vml" Requires="v">
                <p:oleObj spid="_x0000_s47310" name="Equation" r:id="rId3" imgW="1304925" imgH="779780" progId="Equation.3">
                  <p:embed/>
                </p:oleObj>
              </mc:Choice>
              <mc:Fallback>
                <p:oleObj name="Equation" r:id="rId3" imgW="1304925" imgH="77978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5238" y="981075"/>
                        <a:ext cx="1241425" cy="750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07" name="Object 3"/>
          <p:cNvGraphicFramePr>
            <a:graphicFrameLocks noChangeAspect="1"/>
          </p:cNvGraphicFramePr>
          <p:nvPr/>
        </p:nvGraphicFramePr>
        <p:xfrm>
          <a:off x="1979613" y="1196975"/>
          <a:ext cx="1697037" cy="352425"/>
        </p:xfrm>
        <a:graphic>
          <a:graphicData uri="http://schemas.openxmlformats.org/presentationml/2006/ole">
            <mc:AlternateContent xmlns:mc="http://schemas.openxmlformats.org/markup-compatibility/2006">
              <mc:Choice xmlns:v="urn:schemas-microsoft-com:vml" Requires="v">
                <p:oleObj spid="_x0000_s47311" name="Equation" r:id="rId5" imgW="1800225" imgH="346710" progId="Equation.3">
                  <p:embed/>
                </p:oleObj>
              </mc:Choice>
              <mc:Fallback>
                <p:oleObj name="Equation" r:id="rId5" imgW="1800225" imgH="34671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9613" y="1196975"/>
                        <a:ext cx="1697037" cy="352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08" name="Text Box 4"/>
          <p:cNvSpPr txBox="1">
            <a:spLocks noChangeArrowheads="1"/>
          </p:cNvSpPr>
          <p:nvPr/>
        </p:nvSpPr>
        <p:spPr bwMode="auto">
          <a:xfrm>
            <a:off x="3678238" y="1133475"/>
            <a:ext cx="14414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a:latin typeface="宋体" panose="02010600030101010101" pitchFamily="2" charset="-122"/>
              </a:rPr>
              <a:t>相互独立</a:t>
            </a:r>
            <a:r>
              <a:rPr lang="en-US" altLang="zh-CN" sz="2200">
                <a:latin typeface="宋体" panose="02010600030101010101" pitchFamily="2" charset="-122"/>
              </a:rPr>
              <a:t>,</a:t>
            </a:r>
          </a:p>
        </p:txBody>
      </p:sp>
      <p:graphicFrame>
        <p:nvGraphicFramePr>
          <p:cNvPr id="47109" name="Object 4"/>
          <p:cNvGraphicFramePr>
            <a:graphicFrameLocks noChangeAspect="1"/>
          </p:cNvGraphicFramePr>
          <p:nvPr/>
        </p:nvGraphicFramePr>
        <p:xfrm>
          <a:off x="2027238" y="1920875"/>
          <a:ext cx="2928937" cy="315913"/>
        </p:xfrm>
        <a:graphic>
          <a:graphicData uri="http://schemas.openxmlformats.org/presentationml/2006/ole">
            <mc:AlternateContent xmlns:mc="http://schemas.openxmlformats.org/markup-compatibility/2006">
              <mc:Choice xmlns:v="urn:schemas-microsoft-com:vml" Requires="v">
                <p:oleObj spid="_x0000_s47312" name="Equation" r:id="rId7" imgW="3133725" imgH="307975" progId="Equation.3">
                  <p:embed/>
                </p:oleObj>
              </mc:Choice>
              <mc:Fallback>
                <p:oleObj name="Equation" r:id="rId7" imgW="3133725" imgH="307975"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27238" y="1920875"/>
                        <a:ext cx="2928937"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10" name="Object 5"/>
          <p:cNvGraphicFramePr>
            <a:graphicFrameLocks noChangeAspect="1"/>
          </p:cNvGraphicFramePr>
          <p:nvPr/>
        </p:nvGraphicFramePr>
        <p:xfrm>
          <a:off x="2001838" y="2371725"/>
          <a:ext cx="2740025" cy="346075"/>
        </p:xfrm>
        <a:graphic>
          <a:graphicData uri="http://schemas.openxmlformats.org/presentationml/2006/ole">
            <mc:AlternateContent xmlns:mc="http://schemas.openxmlformats.org/markup-compatibility/2006">
              <mc:Choice xmlns:v="urn:schemas-microsoft-com:vml" Requires="v">
                <p:oleObj spid="_x0000_s47313" name="Equation" r:id="rId9" imgW="2981325" imgH="346710" progId="Equation.3">
                  <p:embed/>
                </p:oleObj>
              </mc:Choice>
              <mc:Fallback>
                <p:oleObj name="Equation" r:id="rId9" imgW="2981325" imgH="34671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01838" y="2371725"/>
                        <a:ext cx="2740025" cy="346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11" name="Object 6"/>
          <p:cNvGraphicFramePr>
            <a:graphicFrameLocks noChangeAspect="1"/>
          </p:cNvGraphicFramePr>
          <p:nvPr/>
        </p:nvGraphicFramePr>
        <p:xfrm>
          <a:off x="1557338" y="2968625"/>
          <a:ext cx="5751512" cy="725488"/>
        </p:xfrm>
        <a:graphic>
          <a:graphicData uri="http://schemas.openxmlformats.org/presentationml/2006/ole">
            <mc:AlternateContent xmlns:mc="http://schemas.openxmlformats.org/markup-compatibility/2006">
              <mc:Choice xmlns:v="urn:schemas-microsoft-com:vml" Requires="v">
                <p:oleObj spid="_x0000_s47314" name="Equation" r:id="rId11" imgW="6200775" imgH="760095" progId="Equation.3">
                  <p:embed/>
                </p:oleObj>
              </mc:Choice>
              <mc:Fallback>
                <p:oleObj name="Equation" r:id="rId11" imgW="6200775" imgH="760095"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57338" y="2968625"/>
                        <a:ext cx="5751512" cy="725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12" name="Object 7"/>
          <p:cNvGraphicFramePr>
            <a:graphicFrameLocks noChangeAspect="1"/>
          </p:cNvGraphicFramePr>
          <p:nvPr/>
        </p:nvGraphicFramePr>
        <p:xfrm>
          <a:off x="3643313" y="3921125"/>
          <a:ext cx="1862137" cy="725488"/>
        </p:xfrm>
        <a:graphic>
          <a:graphicData uri="http://schemas.openxmlformats.org/presentationml/2006/ole">
            <mc:AlternateContent xmlns:mc="http://schemas.openxmlformats.org/markup-compatibility/2006">
              <mc:Choice xmlns:v="urn:schemas-microsoft-com:vml" Requires="v">
                <p:oleObj spid="_x0000_s47315" name="Equation" r:id="rId13" imgW="1981200" imgH="760095" progId="Equation.3">
                  <p:embed/>
                </p:oleObj>
              </mc:Choice>
              <mc:Fallback>
                <p:oleObj name="Equation" r:id="rId13" imgW="1981200" imgH="760095"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43313" y="3921125"/>
                        <a:ext cx="1862137" cy="725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7113" name="Group 9"/>
          <p:cNvGrpSpPr/>
          <p:nvPr/>
        </p:nvGrpSpPr>
        <p:grpSpPr bwMode="auto">
          <a:xfrm>
            <a:off x="3643313" y="4911725"/>
            <a:ext cx="3159125" cy="328613"/>
            <a:chOff x="2402" y="3416"/>
            <a:chExt cx="2158" cy="224"/>
          </a:xfrm>
        </p:grpSpPr>
        <p:graphicFrame>
          <p:nvGraphicFramePr>
            <p:cNvPr id="47114" name="Object 8"/>
            <p:cNvGraphicFramePr>
              <a:graphicFrameLocks noChangeAspect="1"/>
            </p:cNvGraphicFramePr>
            <p:nvPr/>
          </p:nvGraphicFramePr>
          <p:xfrm>
            <a:off x="2402" y="3416"/>
            <a:ext cx="1296" cy="224"/>
          </p:xfrm>
          <a:graphic>
            <a:graphicData uri="http://schemas.openxmlformats.org/presentationml/2006/ole">
              <mc:AlternateContent xmlns:mc="http://schemas.openxmlformats.org/markup-compatibility/2006">
                <mc:Choice xmlns:v="urn:schemas-microsoft-com:vml" Requires="v">
                  <p:oleObj spid="_x0000_s47316" name="Equation" r:id="rId15" imgW="2019300" imgH="317500" progId="Equation.3">
                    <p:embed/>
                  </p:oleObj>
                </mc:Choice>
                <mc:Fallback>
                  <p:oleObj name="Equation" r:id="rId15" imgW="2019300" imgH="317500"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02" y="3416"/>
                          <a:ext cx="1296" cy="2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15" name="Object 9"/>
            <p:cNvGraphicFramePr>
              <a:graphicFrameLocks noChangeAspect="1"/>
            </p:cNvGraphicFramePr>
            <p:nvPr/>
          </p:nvGraphicFramePr>
          <p:xfrm>
            <a:off x="3742" y="3432"/>
            <a:ext cx="818" cy="175"/>
          </p:xfrm>
          <a:graphic>
            <a:graphicData uri="http://schemas.openxmlformats.org/presentationml/2006/ole">
              <mc:AlternateContent xmlns:mc="http://schemas.openxmlformats.org/markup-compatibility/2006">
                <mc:Choice xmlns:v="urn:schemas-microsoft-com:vml" Requires="v">
                  <p:oleObj spid="_x0000_s47317" name="Equation" r:id="rId17" imgW="1066800" imgH="240665" progId="Equation.3">
                    <p:embed/>
                  </p:oleObj>
                </mc:Choice>
                <mc:Fallback>
                  <p:oleObj name="Equation" r:id="rId17" imgW="1066800" imgH="240665" progId="Equation.3">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742" y="3432"/>
                          <a:ext cx="818" cy="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10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710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710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71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1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1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1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p:cNvSpPr txBox="1">
            <a:spLocks noChangeArrowheads="1"/>
          </p:cNvSpPr>
          <p:nvPr/>
        </p:nvSpPr>
        <p:spPr bwMode="auto">
          <a:xfrm>
            <a:off x="796925" y="1268413"/>
            <a:ext cx="6559550" cy="139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200" b="1" dirty="0">
                <a:solidFill>
                  <a:srgbClr val="99CCFF"/>
                </a:solidFill>
                <a:latin typeface="宋体" panose="02010600030101010101" pitchFamily="2" charset="-122"/>
              </a:rPr>
              <a:t>　　</a:t>
            </a:r>
            <a:r>
              <a:rPr lang="zh-CN" altLang="en-US" sz="2200" b="1" dirty="0">
                <a:solidFill>
                  <a:srgbClr val="5050CC"/>
                </a:solidFill>
                <a:latin typeface="宋体" panose="02010600030101010101" pitchFamily="2" charset="-122"/>
              </a:rPr>
              <a:t>例</a:t>
            </a:r>
            <a:r>
              <a:rPr lang="zh-CN" altLang="en-US" sz="2200" dirty="0">
                <a:latin typeface="宋体" panose="02010600030101010101" pitchFamily="2" charset="-122"/>
              </a:rPr>
              <a:t>　设有一大批种子，其中良种占</a:t>
            </a:r>
            <a:r>
              <a:rPr lang="en-US" altLang="zh-CN" sz="2200" dirty="0"/>
              <a:t>1/6</a:t>
            </a:r>
            <a:r>
              <a:rPr lang="zh-CN" altLang="en-US" sz="2200" dirty="0">
                <a:latin typeface="宋体" panose="02010600030101010101" pitchFamily="2" charset="-122"/>
              </a:rPr>
              <a:t>．试估计在任选的</a:t>
            </a:r>
            <a:r>
              <a:rPr lang="en-US" altLang="zh-CN" sz="2200" dirty="0"/>
              <a:t>6000</a:t>
            </a:r>
            <a:r>
              <a:rPr lang="zh-CN" altLang="en-US" sz="2200" dirty="0">
                <a:latin typeface="宋体" panose="02010600030101010101" pitchFamily="2" charset="-122"/>
              </a:rPr>
              <a:t>粒种子中，良种所占比例与</a:t>
            </a:r>
            <a:r>
              <a:rPr lang="en-US" altLang="zh-CN" sz="2200" dirty="0"/>
              <a:t>1/6</a:t>
            </a:r>
            <a:r>
              <a:rPr lang="zh-CN" altLang="en-US" sz="2200" dirty="0">
                <a:latin typeface="宋体" panose="02010600030101010101" pitchFamily="2" charset="-122"/>
              </a:rPr>
              <a:t>比较上下不超过</a:t>
            </a:r>
            <a:r>
              <a:rPr lang="en-US" altLang="zh-CN" sz="2200" dirty="0"/>
              <a:t>1%</a:t>
            </a:r>
            <a:r>
              <a:rPr lang="zh-CN" altLang="en-US" sz="2200" dirty="0">
                <a:latin typeface="宋体" panose="02010600030101010101" pitchFamily="2" charset="-122"/>
              </a:rPr>
              <a:t>的概率．</a:t>
            </a:r>
          </a:p>
        </p:txBody>
      </p:sp>
      <p:sp>
        <p:nvSpPr>
          <p:cNvPr id="49155" name="Text Box 3"/>
          <p:cNvSpPr txBox="1">
            <a:spLocks noChangeArrowheads="1"/>
          </p:cNvSpPr>
          <p:nvPr/>
        </p:nvSpPr>
        <p:spPr bwMode="auto">
          <a:xfrm>
            <a:off x="803275" y="2563813"/>
            <a:ext cx="6553200"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200" b="1">
                <a:solidFill>
                  <a:srgbClr val="5050CC"/>
                </a:solidFill>
                <a:latin typeface="宋体" panose="02010600030101010101" pitchFamily="2" charset="-122"/>
              </a:rPr>
              <a:t>　　解</a:t>
            </a:r>
            <a:r>
              <a:rPr lang="zh-CN" altLang="en-US" sz="2200">
                <a:latin typeface="宋体" panose="02010600030101010101" pitchFamily="2" charset="-122"/>
              </a:rPr>
              <a:t>　设</a:t>
            </a:r>
            <a:r>
              <a:rPr lang="zh-CN" altLang="en-US" sz="2200" i="1"/>
              <a:t> </a:t>
            </a:r>
            <a:r>
              <a:rPr lang="en-US" altLang="zh-CN" sz="2200" i="1"/>
              <a:t>X</a:t>
            </a:r>
            <a:r>
              <a:rPr lang="en-US" altLang="zh-CN" sz="2200"/>
              <a:t> </a:t>
            </a:r>
            <a:r>
              <a:rPr lang="zh-CN" altLang="en-US" sz="2200">
                <a:latin typeface="宋体" panose="02010600030101010101" pitchFamily="2" charset="-122"/>
              </a:rPr>
              <a:t>表示</a:t>
            </a:r>
            <a:r>
              <a:rPr lang="en-US" altLang="zh-CN" sz="2200"/>
              <a:t>6000</a:t>
            </a:r>
            <a:r>
              <a:rPr lang="zh-CN" altLang="en-US" sz="2200">
                <a:latin typeface="宋体" panose="02010600030101010101" pitchFamily="2" charset="-122"/>
              </a:rPr>
              <a:t>粒种子中的良种数，则</a:t>
            </a:r>
            <a:r>
              <a:rPr lang="en-US" altLang="zh-CN" sz="2200" i="1"/>
              <a:t>X ~ B</a:t>
            </a:r>
            <a:r>
              <a:rPr lang="en-US" altLang="zh-CN" sz="2200"/>
              <a:t>(6000,1/6)</a:t>
            </a:r>
            <a:r>
              <a:rPr lang="zh-CN" altLang="en-US" sz="2200"/>
              <a:t>．</a:t>
            </a:r>
          </a:p>
        </p:txBody>
      </p:sp>
      <p:graphicFrame>
        <p:nvGraphicFramePr>
          <p:cNvPr id="49156" name="Object 2"/>
          <p:cNvGraphicFramePr>
            <a:graphicFrameLocks noChangeAspect="1"/>
          </p:cNvGraphicFramePr>
          <p:nvPr/>
        </p:nvGraphicFramePr>
        <p:xfrm>
          <a:off x="2365375" y="3781425"/>
          <a:ext cx="3238500" cy="677863"/>
        </p:xfrm>
        <a:graphic>
          <a:graphicData uri="http://schemas.openxmlformats.org/presentationml/2006/ole">
            <mc:AlternateContent xmlns:mc="http://schemas.openxmlformats.org/markup-compatibility/2006">
              <mc:Choice xmlns:v="urn:schemas-microsoft-com:vml" Requires="v">
                <p:oleObj spid="_x0000_s49208" name="Equation" r:id="rId3" imgW="4457700" imgH="914400" progId="Equation.3">
                  <p:embed/>
                </p:oleObj>
              </mc:Choice>
              <mc:Fallback>
                <p:oleObj name="Equation" r:id="rId3" imgW="4457700" imgH="9144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5375" y="3781425"/>
                        <a:ext cx="3238500" cy="677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157" name="Object 3"/>
          <p:cNvGraphicFramePr>
            <a:graphicFrameLocks noChangeAspect="1"/>
          </p:cNvGraphicFramePr>
          <p:nvPr/>
        </p:nvGraphicFramePr>
        <p:xfrm>
          <a:off x="2681288" y="4800600"/>
          <a:ext cx="2566987" cy="766763"/>
        </p:xfrm>
        <a:graphic>
          <a:graphicData uri="http://schemas.openxmlformats.org/presentationml/2006/ole">
            <mc:AlternateContent xmlns:mc="http://schemas.openxmlformats.org/markup-compatibility/2006">
              <mc:Choice xmlns:v="urn:schemas-microsoft-com:vml" Requires="v">
                <p:oleObj spid="_x0000_s49209" name="Equation" r:id="rId5" imgW="2600325" imgH="760095" progId="Equation.3">
                  <p:embed/>
                </p:oleObj>
              </mc:Choice>
              <mc:Fallback>
                <p:oleObj name="Equation" r:id="rId5" imgW="2600325" imgH="760095"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81288" y="4800600"/>
                        <a:ext cx="2566987" cy="766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1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15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915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91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p:bldP spid="4915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0178" name="Object 2"/>
          <p:cNvGraphicFramePr>
            <a:graphicFrameLocks noChangeAspect="1"/>
          </p:cNvGraphicFramePr>
          <p:nvPr/>
        </p:nvGraphicFramePr>
        <p:xfrm>
          <a:off x="990600" y="2622550"/>
          <a:ext cx="3917950" cy="752475"/>
        </p:xfrm>
        <a:graphic>
          <a:graphicData uri="http://schemas.openxmlformats.org/presentationml/2006/ole">
            <mc:AlternateContent xmlns:mc="http://schemas.openxmlformats.org/markup-compatibility/2006">
              <mc:Choice xmlns:v="urn:schemas-microsoft-com:vml" Requires="v">
                <p:oleObj spid="_x0000_s50324" name="Equation" r:id="rId3" imgW="5781675" imgH="1087755" progId="Equation.3">
                  <p:embed/>
                </p:oleObj>
              </mc:Choice>
              <mc:Fallback>
                <p:oleObj name="Equation" r:id="rId3" imgW="5781675" imgH="1087755"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2622550"/>
                        <a:ext cx="3917950" cy="752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179" name="Object 3"/>
          <p:cNvGraphicFramePr>
            <a:graphicFrameLocks noChangeAspect="1"/>
          </p:cNvGraphicFramePr>
          <p:nvPr/>
        </p:nvGraphicFramePr>
        <p:xfrm>
          <a:off x="1027113" y="3687763"/>
          <a:ext cx="3395662" cy="752475"/>
        </p:xfrm>
        <a:graphic>
          <a:graphicData uri="http://schemas.openxmlformats.org/presentationml/2006/ole">
            <mc:AlternateContent xmlns:mc="http://schemas.openxmlformats.org/markup-compatibility/2006">
              <mc:Choice xmlns:v="urn:schemas-microsoft-com:vml" Requires="v">
                <p:oleObj spid="_x0000_s50325" name="Equation" r:id="rId5" imgW="5000625" imgH="1087755" progId="Equation.3">
                  <p:embed/>
                </p:oleObj>
              </mc:Choice>
              <mc:Fallback>
                <p:oleObj name="Equation" r:id="rId5" imgW="5000625" imgH="1087755"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7113" y="3687763"/>
                        <a:ext cx="3395662" cy="752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180" name="Object 4"/>
          <p:cNvGraphicFramePr>
            <a:graphicFrameLocks noChangeAspect="1"/>
          </p:cNvGraphicFramePr>
          <p:nvPr/>
        </p:nvGraphicFramePr>
        <p:xfrm>
          <a:off x="1022350" y="4754563"/>
          <a:ext cx="2163763" cy="752475"/>
        </p:xfrm>
        <a:graphic>
          <a:graphicData uri="http://schemas.openxmlformats.org/presentationml/2006/ole">
            <mc:AlternateContent xmlns:mc="http://schemas.openxmlformats.org/markup-compatibility/2006">
              <mc:Choice xmlns:v="urn:schemas-microsoft-com:vml" Requires="v">
                <p:oleObj spid="_x0000_s50326" name="Equation" r:id="rId7" imgW="3171825" imgH="1087755" progId="Equation.3">
                  <p:embed/>
                </p:oleObj>
              </mc:Choice>
              <mc:Fallback>
                <p:oleObj name="Equation" r:id="rId7" imgW="3171825" imgH="1087755"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22350" y="4754563"/>
                        <a:ext cx="2163763" cy="752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181" name="Object 5"/>
          <p:cNvGraphicFramePr>
            <a:graphicFrameLocks noChangeAspect="1"/>
          </p:cNvGraphicFramePr>
          <p:nvPr/>
        </p:nvGraphicFramePr>
        <p:xfrm>
          <a:off x="3276600" y="4959350"/>
          <a:ext cx="1027113" cy="241300"/>
        </p:xfrm>
        <a:graphic>
          <a:graphicData uri="http://schemas.openxmlformats.org/presentationml/2006/ole">
            <mc:AlternateContent xmlns:mc="http://schemas.openxmlformats.org/markup-compatibility/2006">
              <mc:Choice xmlns:v="urn:schemas-microsoft-com:vml" Requires="v">
                <p:oleObj spid="_x0000_s50327" name="Equation" r:id="rId9" imgW="1419225" imgH="307975" progId="Equation.3">
                  <p:embed/>
                </p:oleObj>
              </mc:Choice>
              <mc:Fallback>
                <p:oleObj name="Equation" r:id="rId9" imgW="1419225" imgH="307975"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76600" y="4959350"/>
                        <a:ext cx="1027113"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182" name="Object 6"/>
          <p:cNvGraphicFramePr>
            <a:graphicFrameLocks noChangeAspect="1"/>
          </p:cNvGraphicFramePr>
          <p:nvPr/>
        </p:nvGraphicFramePr>
        <p:xfrm>
          <a:off x="1223963" y="1625600"/>
          <a:ext cx="2387600" cy="757238"/>
        </p:xfrm>
        <a:graphic>
          <a:graphicData uri="http://schemas.openxmlformats.org/presentationml/2006/ole">
            <mc:AlternateContent xmlns:mc="http://schemas.openxmlformats.org/markup-compatibility/2006">
              <mc:Choice xmlns:v="urn:schemas-microsoft-com:vml" Requires="v">
                <p:oleObj spid="_x0000_s50328" name="Equation" r:id="rId11" imgW="3238500" imgH="1010920" progId="Equation.3">
                  <p:embed/>
                </p:oleObj>
              </mc:Choice>
              <mc:Fallback>
                <p:oleObj name="Equation" r:id="rId11" imgW="3238500" imgH="101092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23963" y="1625600"/>
                        <a:ext cx="2387600" cy="757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183" name="Object 7"/>
          <p:cNvGraphicFramePr>
            <a:graphicFrameLocks noChangeAspect="1"/>
          </p:cNvGraphicFramePr>
          <p:nvPr/>
        </p:nvGraphicFramePr>
        <p:xfrm>
          <a:off x="3738563" y="1822450"/>
          <a:ext cx="2281237" cy="357188"/>
        </p:xfrm>
        <a:graphic>
          <a:graphicData uri="http://schemas.openxmlformats.org/presentationml/2006/ole">
            <mc:AlternateContent xmlns:mc="http://schemas.openxmlformats.org/markup-compatibility/2006">
              <mc:Choice xmlns:v="urn:schemas-microsoft-com:vml" Requires="v">
                <p:oleObj spid="_x0000_s50329" name="Equation" r:id="rId13" imgW="3200400" imgH="471805" progId="Equation.3">
                  <p:embed/>
                </p:oleObj>
              </mc:Choice>
              <mc:Fallback>
                <p:oleObj name="Equation" r:id="rId13" imgW="3200400" imgH="471805"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38563" y="1822450"/>
                        <a:ext cx="2281237" cy="357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advClick="0"/>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a:spLocks noChangeArrowheads="1"/>
          </p:cNvSpPr>
          <p:nvPr/>
        </p:nvSpPr>
        <p:spPr bwMode="auto">
          <a:xfrm>
            <a:off x="609600" y="836712"/>
            <a:ext cx="3275013"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b="1">
                <a:solidFill>
                  <a:srgbClr val="5050CC"/>
                </a:solidFill>
                <a:latin typeface="楷体_GB2312" pitchFamily="49" charset="-122"/>
                <a:ea typeface="楷体_GB2312" pitchFamily="49" charset="-122"/>
              </a:rPr>
              <a:t>比较几个近似计算的结果</a:t>
            </a:r>
          </a:p>
        </p:txBody>
      </p:sp>
      <p:sp>
        <p:nvSpPr>
          <p:cNvPr id="51203" name="Text Box 3"/>
          <p:cNvSpPr txBox="1">
            <a:spLocks noChangeArrowheads="1"/>
          </p:cNvSpPr>
          <p:nvPr/>
        </p:nvSpPr>
        <p:spPr bwMode="auto">
          <a:xfrm>
            <a:off x="603250" y="4692749"/>
            <a:ext cx="21399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a:latin typeface="宋体" panose="02010600030101010101" pitchFamily="2" charset="-122"/>
              </a:rPr>
              <a:t>用中心极限定理</a:t>
            </a:r>
          </a:p>
        </p:txBody>
      </p:sp>
      <p:graphicFrame>
        <p:nvGraphicFramePr>
          <p:cNvPr id="51204" name="Object 2"/>
          <p:cNvGraphicFramePr>
            <a:graphicFrameLocks noChangeAspect="1"/>
          </p:cNvGraphicFramePr>
          <p:nvPr/>
        </p:nvGraphicFramePr>
        <p:xfrm>
          <a:off x="2743200" y="4581624"/>
          <a:ext cx="3517900" cy="781050"/>
        </p:xfrm>
        <a:graphic>
          <a:graphicData uri="http://schemas.openxmlformats.org/presentationml/2006/ole">
            <mc:AlternateContent xmlns:mc="http://schemas.openxmlformats.org/markup-compatibility/2006">
              <mc:Choice xmlns:v="urn:schemas-microsoft-com:vml" Requires="v">
                <p:oleObj spid="_x0000_s51309" name="Equation" r:id="rId3" imgW="3629025" imgH="779780" progId="Equation.3">
                  <p:embed/>
                </p:oleObj>
              </mc:Choice>
              <mc:Fallback>
                <p:oleObj name="Equation" r:id="rId3" imgW="3629025" imgH="77978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4581624"/>
                        <a:ext cx="3517900" cy="781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05" name="Text Box 5"/>
          <p:cNvSpPr txBox="1">
            <a:spLocks noChangeArrowheads="1"/>
          </p:cNvSpPr>
          <p:nvPr/>
        </p:nvSpPr>
        <p:spPr bwMode="auto">
          <a:xfrm>
            <a:off x="603250" y="1573312"/>
            <a:ext cx="297815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dirty="0">
                <a:latin typeface="宋体" panose="02010600030101010101" pitchFamily="2" charset="-122"/>
              </a:rPr>
              <a:t>用二项分布</a:t>
            </a:r>
            <a:r>
              <a:rPr lang="en-US" altLang="zh-CN" sz="2200" dirty="0">
                <a:latin typeface="宋体" panose="02010600030101010101" pitchFamily="2" charset="-122"/>
              </a:rPr>
              <a:t>(</a:t>
            </a:r>
            <a:r>
              <a:rPr lang="zh-CN" altLang="en-US" sz="2200" dirty="0">
                <a:latin typeface="宋体" panose="02010600030101010101" pitchFamily="2" charset="-122"/>
              </a:rPr>
              <a:t>精确结果</a:t>
            </a:r>
            <a:r>
              <a:rPr lang="en-US" altLang="zh-CN" sz="2200" dirty="0">
                <a:latin typeface="宋体" panose="02010600030101010101" pitchFamily="2" charset="-122"/>
              </a:rPr>
              <a:t>)</a:t>
            </a:r>
          </a:p>
        </p:txBody>
      </p:sp>
      <p:sp>
        <p:nvSpPr>
          <p:cNvPr id="51206" name="Text Box 6"/>
          <p:cNvSpPr txBox="1">
            <a:spLocks noChangeArrowheads="1"/>
          </p:cNvSpPr>
          <p:nvPr/>
        </p:nvSpPr>
        <p:spPr bwMode="auto">
          <a:xfrm>
            <a:off x="603250" y="2613124"/>
            <a:ext cx="1890713"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a:latin typeface="宋体" panose="02010600030101010101" pitchFamily="2" charset="-122"/>
              </a:rPr>
              <a:t>用</a:t>
            </a:r>
            <a:r>
              <a:rPr lang="en-US" altLang="zh-CN" sz="2200"/>
              <a:t>Poisson</a:t>
            </a:r>
            <a:r>
              <a:rPr lang="zh-CN" altLang="en-US" sz="2200">
                <a:latin typeface="宋体" panose="02010600030101010101" pitchFamily="2" charset="-122"/>
              </a:rPr>
              <a:t>分布</a:t>
            </a:r>
          </a:p>
        </p:txBody>
      </p:sp>
      <p:graphicFrame>
        <p:nvGraphicFramePr>
          <p:cNvPr id="51207" name="Object 3"/>
          <p:cNvGraphicFramePr>
            <a:graphicFrameLocks noChangeAspect="1"/>
          </p:cNvGraphicFramePr>
          <p:nvPr/>
        </p:nvGraphicFramePr>
        <p:xfrm>
          <a:off x="2514600" y="2467074"/>
          <a:ext cx="3594100" cy="795338"/>
        </p:xfrm>
        <a:graphic>
          <a:graphicData uri="http://schemas.openxmlformats.org/presentationml/2006/ole">
            <mc:AlternateContent xmlns:mc="http://schemas.openxmlformats.org/markup-compatibility/2006">
              <mc:Choice xmlns:v="urn:schemas-microsoft-com:vml" Requires="v">
                <p:oleObj spid="_x0000_s51310" name="Equation" r:id="rId5" imgW="3648075" imgH="779780" progId="Equation.3">
                  <p:embed/>
                </p:oleObj>
              </mc:Choice>
              <mc:Fallback>
                <p:oleObj name="Equation" r:id="rId5" imgW="3648075" imgH="77978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4600" y="2467074"/>
                        <a:ext cx="3594100" cy="795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08" name="Text Box 8"/>
          <p:cNvSpPr txBox="1">
            <a:spLocks noChangeArrowheads="1"/>
          </p:cNvSpPr>
          <p:nvPr/>
        </p:nvSpPr>
        <p:spPr bwMode="auto">
          <a:xfrm>
            <a:off x="577850" y="3586262"/>
            <a:ext cx="2541588"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a:latin typeface="宋体" panose="02010600030101010101" pitchFamily="2" charset="-122"/>
              </a:rPr>
              <a:t>用</a:t>
            </a:r>
            <a:r>
              <a:rPr lang="en-US" altLang="zh-CN" sz="2200"/>
              <a:t>Chebyshev</a:t>
            </a:r>
            <a:r>
              <a:rPr lang="zh-CN" altLang="en-US" sz="2200">
                <a:latin typeface="宋体" panose="02010600030101010101" pitchFamily="2" charset="-122"/>
              </a:rPr>
              <a:t>不等式</a:t>
            </a:r>
          </a:p>
        </p:txBody>
      </p:sp>
      <p:graphicFrame>
        <p:nvGraphicFramePr>
          <p:cNvPr id="51209" name="Object 4"/>
          <p:cNvGraphicFramePr>
            <a:graphicFrameLocks noChangeAspect="1"/>
          </p:cNvGraphicFramePr>
          <p:nvPr/>
        </p:nvGraphicFramePr>
        <p:xfrm>
          <a:off x="3124200" y="3464024"/>
          <a:ext cx="3519488" cy="781050"/>
        </p:xfrm>
        <a:graphic>
          <a:graphicData uri="http://schemas.openxmlformats.org/presentationml/2006/ole">
            <mc:AlternateContent xmlns:mc="http://schemas.openxmlformats.org/markup-compatibility/2006">
              <mc:Choice xmlns:v="urn:schemas-microsoft-com:vml" Requires="v">
                <p:oleObj spid="_x0000_s51311" name="Equation" r:id="rId7" imgW="3629025" imgH="779780" progId="Equation.3">
                  <p:embed/>
                </p:oleObj>
              </mc:Choice>
              <mc:Fallback>
                <p:oleObj name="Equation" r:id="rId7" imgW="3629025" imgH="77978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24200" y="3464024"/>
                        <a:ext cx="3519488" cy="781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10" name="Object 5"/>
          <p:cNvGraphicFramePr>
            <a:graphicFrameLocks noChangeAspect="1"/>
          </p:cNvGraphicFramePr>
          <p:nvPr/>
        </p:nvGraphicFramePr>
        <p:xfrm>
          <a:off x="3543300" y="1447899"/>
          <a:ext cx="3543300" cy="781050"/>
        </p:xfrm>
        <a:graphic>
          <a:graphicData uri="http://schemas.openxmlformats.org/presentationml/2006/ole">
            <mc:AlternateContent xmlns:mc="http://schemas.openxmlformats.org/markup-compatibility/2006">
              <mc:Choice xmlns:v="urn:schemas-microsoft-com:vml" Requires="v">
                <p:oleObj spid="_x0000_s51312" name="Equation" r:id="rId9" imgW="3683000" imgH="812800" progId="Equation.3">
                  <p:embed/>
                </p:oleObj>
              </mc:Choice>
              <mc:Fallback>
                <p:oleObj name="Equation" r:id="rId9" imgW="3683000" imgH="8128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43300" y="1447899"/>
                        <a:ext cx="3543300" cy="781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0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2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120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120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120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120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120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12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p:bldP spid="51205" grpId="0"/>
      <p:bldP spid="51206" grpId="0"/>
      <p:bldP spid="5120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p:cNvSpPr txBox="1">
            <a:spLocks noChangeArrowheads="1"/>
          </p:cNvSpPr>
          <p:nvPr/>
        </p:nvSpPr>
        <p:spPr bwMode="auto">
          <a:xfrm>
            <a:off x="1408113" y="1196975"/>
            <a:ext cx="2713037"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b="1">
                <a:solidFill>
                  <a:srgbClr val="5050CC"/>
                </a:solidFill>
                <a:latin typeface="楷体_GB2312" pitchFamily="49" charset="-122"/>
                <a:ea typeface="楷体_GB2312" pitchFamily="49" charset="-122"/>
              </a:rPr>
              <a:t>中心极限定理的意义</a:t>
            </a:r>
          </a:p>
        </p:txBody>
      </p:sp>
      <p:sp>
        <p:nvSpPr>
          <p:cNvPr id="52227" name="Text Box 3"/>
          <p:cNvSpPr txBox="1">
            <a:spLocks noChangeArrowheads="1"/>
          </p:cNvSpPr>
          <p:nvPr/>
        </p:nvSpPr>
        <p:spPr bwMode="auto">
          <a:xfrm>
            <a:off x="1408113" y="1600200"/>
            <a:ext cx="6477000" cy="183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200">
                <a:latin typeface="宋体" panose="02010600030101010101" pitchFamily="2" charset="-122"/>
              </a:rPr>
              <a:t>　　在实际问题中，若某随机变量可以看作是有相互独立的大量随机变量综合作用的结果，每一个因素在总的影响中的作用都很微小，则综合作用的结果服从正态分布．</a:t>
            </a:r>
          </a:p>
        </p:txBody>
      </p:sp>
    </p:spTree>
  </p:cSld>
  <p:clrMapOvr>
    <a:masterClrMapping/>
  </p:clrMapOvr>
  <p:transition advClick="0"/>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idx="4294967295"/>
          </p:nvPr>
        </p:nvSpPr>
        <p:spPr>
          <a:xfrm>
            <a:off x="1219200" y="2033588"/>
            <a:ext cx="7673975" cy="2619375"/>
          </a:xfrm>
        </p:spPr>
        <p:txBody>
          <a:bodyPr/>
          <a:lstStyle/>
          <a:p>
            <a:r>
              <a:rPr lang="zh-CN" altLang="en-US" sz="3600">
                <a:solidFill>
                  <a:srgbClr val="FF0000"/>
                </a:solidFill>
              </a:rPr>
              <a:t>      </a:t>
            </a:r>
            <a:r>
              <a:rPr lang="zh-CN" altLang="en-US">
                <a:solidFill>
                  <a:srgbClr val="FF0000"/>
                </a:solidFill>
                <a:latin typeface="华文新魏" panose="02010800040101010101" pitchFamily="2" charset="-122"/>
                <a:ea typeface="华文新魏" panose="02010800040101010101" pitchFamily="2" charset="-122"/>
              </a:rPr>
              <a:t>请同学们课后千万认真看书</a:t>
            </a:r>
            <a:r>
              <a:rPr lang="en-US" altLang="zh-CN">
                <a:solidFill>
                  <a:srgbClr val="FF0000"/>
                </a:solidFill>
                <a:latin typeface="华文新魏" panose="02010800040101010101" pitchFamily="2" charset="-122"/>
                <a:ea typeface="华文新魏" panose="02010800040101010101" pitchFamily="2" charset="-122"/>
              </a:rPr>
              <a:t>, </a:t>
            </a:r>
            <a:r>
              <a:rPr lang="zh-CN" altLang="en-US">
                <a:solidFill>
                  <a:srgbClr val="FF0000"/>
                </a:solidFill>
                <a:latin typeface="华文新魏" panose="02010800040101010101" pitchFamily="2" charset="-122"/>
                <a:ea typeface="华文新魏" panose="02010800040101010101" pitchFamily="2" charset="-122"/>
              </a:rPr>
              <a:t>极限定理部分是近代概率论的重中之重，中心极限定理几乎是每次概率统计考试的必考部分</a:t>
            </a:r>
            <a:r>
              <a:rPr lang="en-US" altLang="zh-CN">
                <a:solidFill>
                  <a:srgbClr val="FF0000"/>
                </a:solidFill>
                <a:latin typeface="华文新魏" panose="02010800040101010101" pitchFamily="2" charset="-122"/>
                <a:ea typeface="华文新魏" panose="02010800040101010101" pitchFamily="2" charset="-122"/>
              </a:rPr>
              <a:t>!</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524000" y="762000"/>
            <a:ext cx="6288088" cy="1143000"/>
          </a:xfrm>
        </p:spPr>
        <p:txBody>
          <a:bodyPr/>
          <a:lstStyle/>
          <a:p>
            <a:r>
              <a:rPr lang="zh-CN" altLang="en-US" sz="3600"/>
              <a:t>第六章  数理统计的基本概念</a:t>
            </a:r>
          </a:p>
        </p:txBody>
      </p:sp>
      <p:sp>
        <p:nvSpPr>
          <p:cNvPr id="3075" name="Text Box 3"/>
          <p:cNvSpPr txBox="1">
            <a:spLocks noChangeArrowheads="1"/>
          </p:cNvSpPr>
          <p:nvPr/>
        </p:nvSpPr>
        <p:spPr bwMode="auto">
          <a:xfrm>
            <a:off x="1908175" y="2362200"/>
            <a:ext cx="5746750" cy="2043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t>第一节：总体样本</a:t>
            </a:r>
          </a:p>
          <a:p>
            <a:pPr eaLnBrk="1" hangingPunct="1">
              <a:spcBef>
                <a:spcPct val="50000"/>
              </a:spcBef>
            </a:pPr>
            <a:r>
              <a:rPr lang="zh-CN" altLang="en-US" sz="3200" b="1"/>
              <a:t>第二节：统计量与抽样分布</a:t>
            </a:r>
          </a:p>
          <a:p>
            <a:pPr eaLnBrk="1" hangingPunct="1">
              <a:spcBef>
                <a:spcPct val="50000"/>
              </a:spcBef>
            </a:pPr>
            <a:r>
              <a:rPr lang="zh-CN" altLang="en-US" sz="3200" b="1"/>
              <a:t>第三节：正态总体的抽样分布</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Text Box 2"/>
          <p:cNvSpPr txBox="1">
            <a:spLocks noChangeArrowheads="1"/>
          </p:cNvSpPr>
          <p:nvPr/>
        </p:nvSpPr>
        <p:spPr bwMode="auto">
          <a:xfrm>
            <a:off x="609600" y="304800"/>
            <a:ext cx="1219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a:solidFill>
                  <a:schemeClr val="accent2"/>
                </a:solidFill>
                <a:latin typeface="华文楷体" panose="02010600040101010101" pitchFamily="2" charset="-122"/>
                <a:ea typeface="华文楷体" panose="02010600040101010101" pitchFamily="2" charset="-122"/>
              </a:rPr>
              <a:t>引言</a:t>
            </a:r>
          </a:p>
        </p:txBody>
      </p:sp>
      <p:sp>
        <p:nvSpPr>
          <p:cNvPr id="175107" name="Text Box 3"/>
          <p:cNvSpPr txBox="1">
            <a:spLocks noChangeArrowheads="1"/>
          </p:cNvSpPr>
          <p:nvPr/>
        </p:nvSpPr>
        <p:spPr bwMode="auto">
          <a:xfrm>
            <a:off x="250825" y="1062038"/>
            <a:ext cx="8439150" cy="120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kumimoji="0" lang="zh-CN" altLang="en-US" sz="2800" b="1">
                <a:latin typeface="Arial" panose="020B0604020202020204" pitchFamily="34" charset="0"/>
              </a:rPr>
              <a:t>        随机变量及其所伴随的概率分布全面描述了随机</a:t>
            </a:r>
          </a:p>
          <a:p>
            <a:pPr eaLnBrk="1" hangingPunct="1">
              <a:lnSpc>
                <a:spcPct val="130000"/>
              </a:lnSpc>
            </a:pPr>
            <a:r>
              <a:rPr kumimoji="0" lang="zh-CN" altLang="en-US" sz="2800" b="1">
                <a:latin typeface="Arial" panose="020B0604020202020204" pitchFamily="34" charset="0"/>
              </a:rPr>
              <a:t>现象的统计性规律。</a:t>
            </a:r>
          </a:p>
        </p:txBody>
      </p:sp>
      <p:sp>
        <p:nvSpPr>
          <p:cNvPr id="175108" name="Text Box 4"/>
          <p:cNvSpPr txBox="1">
            <a:spLocks noChangeArrowheads="1"/>
          </p:cNvSpPr>
          <p:nvPr/>
        </p:nvSpPr>
        <p:spPr bwMode="auto">
          <a:xfrm>
            <a:off x="381000" y="2362200"/>
            <a:ext cx="8472488" cy="175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kumimoji="0" lang="zh-CN" altLang="en-US" sz="2800" b="1">
                <a:latin typeface="Arial" panose="020B0604020202020204" pitchFamily="34" charset="0"/>
              </a:rPr>
              <a:t>        </a:t>
            </a:r>
            <a:r>
              <a:rPr kumimoji="0" lang="zh-CN" altLang="en-US" sz="2800" b="1">
                <a:solidFill>
                  <a:schemeClr val="accent2"/>
                </a:solidFill>
                <a:latin typeface="Arial" panose="020B0604020202020204" pitchFamily="34" charset="0"/>
              </a:rPr>
              <a:t>概率论的许多问题中，随机变量的概率分布通常</a:t>
            </a:r>
          </a:p>
          <a:p>
            <a:pPr eaLnBrk="1" hangingPunct="1">
              <a:lnSpc>
                <a:spcPct val="130000"/>
              </a:lnSpc>
            </a:pPr>
            <a:r>
              <a:rPr kumimoji="0" lang="zh-CN" altLang="en-US" sz="2800" b="1">
                <a:solidFill>
                  <a:schemeClr val="accent2"/>
                </a:solidFill>
                <a:latin typeface="Arial" panose="020B0604020202020204" pitchFamily="34" charset="0"/>
              </a:rPr>
              <a:t>是已知的，或者假设是已知的，而一切计算与推理都</a:t>
            </a:r>
          </a:p>
          <a:p>
            <a:pPr eaLnBrk="1" hangingPunct="1">
              <a:lnSpc>
                <a:spcPct val="130000"/>
              </a:lnSpc>
            </a:pPr>
            <a:r>
              <a:rPr kumimoji="0" lang="zh-CN" altLang="en-US" sz="2800" b="1">
                <a:solidFill>
                  <a:schemeClr val="accent2"/>
                </a:solidFill>
                <a:latin typeface="Arial" panose="020B0604020202020204" pitchFamily="34" charset="0"/>
              </a:rPr>
              <a:t>是在这已知是基础上得出来的。</a:t>
            </a:r>
          </a:p>
        </p:txBody>
      </p:sp>
      <p:sp>
        <p:nvSpPr>
          <p:cNvPr id="175109" name="Text Box 5"/>
          <p:cNvSpPr txBox="1">
            <a:spLocks noChangeArrowheads="1"/>
          </p:cNvSpPr>
          <p:nvPr/>
        </p:nvSpPr>
        <p:spPr bwMode="auto">
          <a:xfrm>
            <a:off x="381000" y="4191000"/>
            <a:ext cx="8472488" cy="175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kumimoji="0" lang="zh-CN" altLang="en-US" sz="2800" b="1">
                <a:latin typeface="Arial" panose="020B0604020202020204" pitchFamily="34" charset="0"/>
              </a:rPr>
              <a:t>        但实际中，情况往往并非如此，一个随机现象所</a:t>
            </a:r>
          </a:p>
          <a:p>
            <a:pPr eaLnBrk="1" hangingPunct="1">
              <a:lnSpc>
                <a:spcPct val="130000"/>
              </a:lnSpc>
            </a:pPr>
            <a:r>
              <a:rPr kumimoji="0" lang="zh-CN" altLang="en-US" sz="2800" b="1">
                <a:latin typeface="Arial" panose="020B0604020202020204" pitchFamily="34" charset="0"/>
              </a:rPr>
              <a:t>服从的分布可能是完全不知道的，或者知道其分布概</a:t>
            </a:r>
          </a:p>
          <a:p>
            <a:pPr eaLnBrk="1" hangingPunct="1">
              <a:lnSpc>
                <a:spcPct val="130000"/>
              </a:lnSpc>
            </a:pPr>
            <a:r>
              <a:rPr kumimoji="0" lang="zh-CN" altLang="en-US" sz="2800" b="1">
                <a:latin typeface="Arial" panose="020B0604020202020204" pitchFamily="34" charset="0"/>
              </a:rPr>
              <a:t>型，但是其中的某些参数是未知的。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5106"/>
                                        </p:tgtEl>
                                        <p:attrNameLst>
                                          <p:attrName>style.visibility</p:attrName>
                                        </p:attrNameLst>
                                      </p:cBhvr>
                                      <p:to>
                                        <p:strVal val="visible"/>
                                      </p:to>
                                    </p:set>
                                    <p:animEffect transition="in" filter="wipe(left)">
                                      <p:cBhvr>
                                        <p:cTn id="7" dur="500"/>
                                        <p:tgtEl>
                                          <p:spTgt spid="17510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5107"/>
                                        </p:tgtEl>
                                        <p:attrNameLst>
                                          <p:attrName>style.visibility</p:attrName>
                                        </p:attrNameLst>
                                      </p:cBhvr>
                                      <p:to>
                                        <p:strVal val="visible"/>
                                      </p:to>
                                    </p:set>
                                    <p:animEffect transition="in" filter="wipe(left)">
                                      <p:cBhvr>
                                        <p:cTn id="12" dur="500"/>
                                        <p:tgtEl>
                                          <p:spTgt spid="17510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5108"/>
                                        </p:tgtEl>
                                        <p:attrNameLst>
                                          <p:attrName>style.visibility</p:attrName>
                                        </p:attrNameLst>
                                      </p:cBhvr>
                                      <p:to>
                                        <p:strVal val="visible"/>
                                      </p:to>
                                    </p:set>
                                    <p:animEffect transition="in" filter="wipe(left)">
                                      <p:cBhvr>
                                        <p:cTn id="17" dur="500"/>
                                        <p:tgtEl>
                                          <p:spTgt spid="17510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5109"/>
                                        </p:tgtEl>
                                        <p:attrNameLst>
                                          <p:attrName>style.visibility</p:attrName>
                                        </p:attrNameLst>
                                      </p:cBhvr>
                                      <p:to>
                                        <p:strVal val="visible"/>
                                      </p:to>
                                    </p:set>
                                    <p:animEffect transition="in" filter="wipe(left)">
                                      <p:cBhvr>
                                        <p:cTn id="22" dur="500"/>
                                        <p:tgtEl>
                                          <p:spTgt spid="175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06" grpId="0" bldLvl="0" animBg="1" autoUpdateAnimBg="0"/>
      <p:bldP spid="175107" grpId="0" bldLvl="0" animBg="1" autoUpdateAnimBg="0"/>
      <p:bldP spid="175108" grpId="0" bldLvl="0" animBg="1" autoUpdateAnimBg="0"/>
      <p:bldP spid="175109" grpId="0" bldLvl="0" animBg="1"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Text Box 2"/>
          <p:cNvSpPr txBox="1">
            <a:spLocks noChangeArrowheads="1"/>
          </p:cNvSpPr>
          <p:nvPr/>
        </p:nvSpPr>
        <p:spPr bwMode="auto">
          <a:xfrm>
            <a:off x="488950" y="284163"/>
            <a:ext cx="18462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kumimoji="0" lang="zh-CN" altLang="en-US" sz="2800" b="1">
                <a:solidFill>
                  <a:schemeClr val="accent2"/>
                </a:solidFill>
                <a:latin typeface="Arial" panose="020B0604020202020204" pitchFamily="34" charset="0"/>
              </a:rPr>
              <a:t>例如：</a:t>
            </a:r>
            <a:r>
              <a:rPr kumimoji="0" lang="zh-CN" altLang="en-US" sz="2800" b="1">
                <a:solidFill>
                  <a:srgbClr val="FF0000"/>
                </a:solidFill>
                <a:latin typeface="Arial" panose="020B0604020202020204" pitchFamily="34" charset="0"/>
              </a:rPr>
              <a:t>      </a:t>
            </a:r>
          </a:p>
        </p:txBody>
      </p:sp>
      <p:sp>
        <p:nvSpPr>
          <p:cNvPr id="176131" name="Text Box 3"/>
          <p:cNvSpPr txBox="1">
            <a:spLocks noChangeArrowheads="1"/>
          </p:cNvSpPr>
          <p:nvPr/>
        </p:nvSpPr>
        <p:spPr bwMode="auto">
          <a:xfrm>
            <a:off x="511175" y="1066800"/>
            <a:ext cx="8632825"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kumimoji="0" lang="zh-CN" altLang="en-US" sz="2800" b="1">
                <a:latin typeface="Arial" panose="020B0604020202020204" pitchFamily="34" charset="0"/>
              </a:rPr>
              <a:t>某公路上行驶车辆的速度服从什么</a:t>
            </a:r>
            <a:r>
              <a:rPr kumimoji="0" lang="zh-CN" altLang="en-US" sz="2800" b="1">
                <a:solidFill>
                  <a:schemeClr val="accent2"/>
                </a:solidFill>
                <a:latin typeface="Arial" panose="020B0604020202020204" pitchFamily="34" charset="0"/>
              </a:rPr>
              <a:t>分布是未知的</a:t>
            </a:r>
            <a:r>
              <a:rPr kumimoji="0" lang="zh-CN" altLang="en-US" sz="2800" b="1">
                <a:latin typeface="Arial" panose="020B0604020202020204" pitchFamily="34" charset="0"/>
              </a:rPr>
              <a:t>；      </a:t>
            </a:r>
          </a:p>
        </p:txBody>
      </p:sp>
      <p:sp>
        <p:nvSpPr>
          <p:cNvPr id="176132" name="Text Box 4"/>
          <p:cNvSpPr txBox="1">
            <a:spLocks noChangeArrowheads="1"/>
          </p:cNvSpPr>
          <p:nvPr/>
        </p:nvSpPr>
        <p:spPr bwMode="auto">
          <a:xfrm>
            <a:off x="488950" y="1930400"/>
            <a:ext cx="75612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kumimoji="0" lang="zh-CN" altLang="en-US" sz="2800" b="1">
                <a:latin typeface="Arial" panose="020B0604020202020204" pitchFamily="34" charset="0"/>
              </a:rPr>
              <a:t>电视机的使用寿命服从什么</a:t>
            </a:r>
            <a:r>
              <a:rPr kumimoji="0" lang="zh-CN" altLang="en-US" sz="2800" b="1">
                <a:solidFill>
                  <a:schemeClr val="accent2"/>
                </a:solidFill>
                <a:latin typeface="Arial" panose="020B0604020202020204" pitchFamily="34" charset="0"/>
              </a:rPr>
              <a:t>分布是未知的</a:t>
            </a:r>
            <a:r>
              <a:rPr kumimoji="0" lang="zh-CN" altLang="en-US" sz="2800" b="1">
                <a:latin typeface="Arial" panose="020B0604020202020204" pitchFamily="34" charset="0"/>
              </a:rPr>
              <a:t>；      </a:t>
            </a:r>
          </a:p>
        </p:txBody>
      </p:sp>
      <p:sp>
        <p:nvSpPr>
          <p:cNvPr id="176133" name="Text Box 5"/>
          <p:cNvSpPr txBox="1">
            <a:spLocks noChangeArrowheads="1"/>
          </p:cNvSpPr>
          <p:nvPr/>
        </p:nvSpPr>
        <p:spPr bwMode="auto">
          <a:xfrm>
            <a:off x="488950" y="2651125"/>
            <a:ext cx="8256588" cy="120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kumimoji="0" lang="zh-CN" altLang="en-US" sz="2800" b="1">
                <a:latin typeface="Arial" panose="020B0604020202020204" pitchFamily="34" charset="0"/>
              </a:rPr>
              <a:t>产品是否合格服从两点分布，但参数</a:t>
            </a:r>
            <a:r>
              <a:rPr kumimoji="0" lang="en-US" altLang="zh-CN" sz="2800" b="1">
                <a:latin typeface="Arial" panose="020B0604020202020204" pitchFamily="34" charset="0"/>
              </a:rPr>
              <a:t>——</a:t>
            </a:r>
            <a:r>
              <a:rPr kumimoji="0" lang="zh-CN" altLang="en-US" sz="2800" b="1">
                <a:solidFill>
                  <a:schemeClr val="accent2"/>
                </a:solidFill>
                <a:latin typeface="Arial" panose="020B0604020202020204" pitchFamily="34" charset="0"/>
              </a:rPr>
              <a:t>合格率</a:t>
            </a:r>
            <a:r>
              <a:rPr kumimoji="0" lang="en-US" altLang="zh-CN" sz="2800" b="1">
                <a:solidFill>
                  <a:schemeClr val="accent2"/>
                </a:solidFill>
                <a:latin typeface="Arial" panose="020B0604020202020204" pitchFamily="34" charset="0"/>
              </a:rPr>
              <a:t>p</a:t>
            </a:r>
            <a:r>
              <a:rPr kumimoji="0" lang="zh-CN" altLang="en-US" sz="2800" b="1">
                <a:solidFill>
                  <a:schemeClr val="accent2"/>
                </a:solidFill>
                <a:latin typeface="Arial" panose="020B0604020202020204" pitchFamily="34" charset="0"/>
              </a:rPr>
              <a:t>是</a:t>
            </a:r>
          </a:p>
          <a:p>
            <a:pPr eaLnBrk="1" hangingPunct="1">
              <a:lnSpc>
                <a:spcPct val="130000"/>
              </a:lnSpc>
            </a:pPr>
            <a:r>
              <a:rPr kumimoji="0" lang="zh-CN" altLang="en-US" sz="2800" b="1">
                <a:solidFill>
                  <a:schemeClr val="accent2"/>
                </a:solidFill>
                <a:latin typeface="Arial" panose="020B0604020202020204" pitchFamily="34" charset="0"/>
              </a:rPr>
              <a:t>未知的；      </a:t>
            </a:r>
          </a:p>
        </p:txBody>
      </p:sp>
      <p:sp>
        <p:nvSpPr>
          <p:cNvPr id="176134" name="Text Box 6"/>
          <p:cNvSpPr txBox="1">
            <a:spLocks noChangeArrowheads="1"/>
          </p:cNvSpPr>
          <p:nvPr/>
        </p:nvSpPr>
        <p:spPr bwMode="auto">
          <a:xfrm>
            <a:off x="633413" y="3946525"/>
            <a:ext cx="8399462" cy="175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kumimoji="0" lang="zh-CN" altLang="en-US" sz="2800" b="1">
                <a:latin typeface="Arial" panose="020B0604020202020204" pitchFamily="34" charset="0"/>
              </a:rPr>
              <a:t>       数理统计的任务则是</a:t>
            </a:r>
            <a:r>
              <a:rPr kumimoji="0" lang="zh-CN" altLang="en-US" sz="2800" b="1">
                <a:solidFill>
                  <a:schemeClr val="accent2"/>
                </a:solidFill>
                <a:latin typeface="Arial" panose="020B0604020202020204" pitchFamily="34" charset="0"/>
              </a:rPr>
              <a:t>以概率论为基础，根据试验</a:t>
            </a:r>
          </a:p>
          <a:p>
            <a:pPr eaLnBrk="1" hangingPunct="1">
              <a:lnSpc>
                <a:spcPct val="130000"/>
              </a:lnSpc>
            </a:pPr>
            <a:r>
              <a:rPr kumimoji="0" lang="zh-CN" altLang="en-US" sz="2800" b="1">
                <a:solidFill>
                  <a:schemeClr val="accent2"/>
                </a:solidFill>
                <a:latin typeface="Arial" panose="020B0604020202020204" pitchFamily="34" charset="0"/>
              </a:rPr>
              <a:t>所得到的数据，对研究对象的客观统计规律性做出合</a:t>
            </a:r>
          </a:p>
          <a:p>
            <a:pPr eaLnBrk="1" hangingPunct="1">
              <a:lnSpc>
                <a:spcPct val="130000"/>
              </a:lnSpc>
            </a:pPr>
            <a:r>
              <a:rPr kumimoji="0" lang="zh-CN" altLang="en-US" sz="2800" b="1">
                <a:solidFill>
                  <a:schemeClr val="accent2"/>
                </a:solidFill>
                <a:latin typeface="Arial" panose="020B0604020202020204" pitchFamily="34" charset="0"/>
              </a:rPr>
              <a:t>理的推断。</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6130"/>
                                        </p:tgtEl>
                                        <p:attrNameLst>
                                          <p:attrName>style.visibility</p:attrName>
                                        </p:attrNameLst>
                                      </p:cBhvr>
                                      <p:to>
                                        <p:strVal val="visible"/>
                                      </p:to>
                                    </p:set>
                                    <p:animEffect transition="in" filter="wipe(left)">
                                      <p:cBhvr>
                                        <p:cTn id="7" dur="500"/>
                                        <p:tgtEl>
                                          <p:spTgt spid="1761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6131"/>
                                        </p:tgtEl>
                                        <p:attrNameLst>
                                          <p:attrName>style.visibility</p:attrName>
                                        </p:attrNameLst>
                                      </p:cBhvr>
                                      <p:to>
                                        <p:strVal val="visible"/>
                                      </p:to>
                                    </p:set>
                                    <p:animEffect transition="in" filter="wipe(left)">
                                      <p:cBhvr>
                                        <p:cTn id="12" dur="500"/>
                                        <p:tgtEl>
                                          <p:spTgt spid="17613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6132"/>
                                        </p:tgtEl>
                                        <p:attrNameLst>
                                          <p:attrName>style.visibility</p:attrName>
                                        </p:attrNameLst>
                                      </p:cBhvr>
                                      <p:to>
                                        <p:strVal val="visible"/>
                                      </p:to>
                                    </p:set>
                                    <p:animEffect transition="in" filter="wipe(left)">
                                      <p:cBhvr>
                                        <p:cTn id="17" dur="500"/>
                                        <p:tgtEl>
                                          <p:spTgt spid="17613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6133"/>
                                        </p:tgtEl>
                                        <p:attrNameLst>
                                          <p:attrName>style.visibility</p:attrName>
                                        </p:attrNameLst>
                                      </p:cBhvr>
                                      <p:to>
                                        <p:strVal val="visible"/>
                                      </p:to>
                                    </p:set>
                                    <p:animEffect transition="in" filter="wipe(left)">
                                      <p:cBhvr>
                                        <p:cTn id="22" dur="500"/>
                                        <p:tgtEl>
                                          <p:spTgt spid="17613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6134"/>
                                        </p:tgtEl>
                                        <p:attrNameLst>
                                          <p:attrName>style.visibility</p:attrName>
                                        </p:attrNameLst>
                                      </p:cBhvr>
                                      <p:to>
                                        <p:strVal val="visible"/>
                                      </p:to>
                                    </p:set>
                                    <p:animEffect transition="in" filter="wipe(left)">
                                      <p:cBhvr>
                                        <p:cTn id="27" dur="500"/>
                                        <p:tgtEl>
                                          <p:spTgt spid="176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0" grpId="0" bldLvl="0" animBg="1" autoUpdateAnimBg="0"/>
      <p:bldP spid="176131" grpId="0" bldLvl="0" animBg="1" autoUpdateAnimBg="0"/>
      <p:bldP spid="176132" grpId="0" bldLvl="0" animBg="1" autoUpdateAnimBg="0"/>
      <p:bldP spid="176133" grpId="0" bldLvl="0" animBg="1" autoUpdateAnimBg="0"/>
      <p:bldP spid="176134" grpId="0" bldLvl="0" animBg="1"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ChangeArrowheads="1"/>
          </p:cNvSpPr>
          <p:nvPr/>
        </p:nvSpPr>
        <p:spPr bwMode="auto">
          <a:xfrm>
            <a:off x="304800" y="1211263"/>
            <a:ext cx="8458200" cy="5313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20000"/>
              </a:spcBef>
            </a:pPr>
            <a:r>
              <a:rPr lang="zh-CN" altLang="en-US" sz="2800" b="1"/>
              <a:t>       从第本章开始，我们学习数理统计的基础知识。主要有</a:t>
            </a:r>
            <a:r>
              <a:rPr lang="zh-CN" altLang="en-US" sz="2800" b="1">
                <a:solidFill>
                  <a:schemeClr val="accent2"/>
                </a:solidFill>
              </a:rPr>
              <a:t>参数估计、假设检验</a:t>
            </a:r>
            <a:r>
              <a:rPr lang="zh-CN" altLang="en-US" sz="2800" b="1"/>
              <a:t>等内容</a:t>
            </a:r>
            <a:r>
              <a:rPr lang="en-US" altLang="zh-CN" sz="2800" b="1"/>
              <a:t>.</a:t>
            </a:r>
            <a:r>
              <a:rPr lang="zh-CN" altLang="en-US" sz="2800" b="1"/>
              <a:t>本章主要介绍数理统计的一些基本术语、基本概念、重要的统计量及其分布，它们是后面各章的基础。</a:t>
            </a:r>
            <a:endParaRPr lang="zh-CN" altLang="en-US" sz="2800" b="1">
              <a:solidFill>
                <a:srgbClr val="66FF33"/>
              </a:solidFill>
            </a:endParaRPr>
          </a:p>
        </p:txBody>
      </p:sp>
      <p:sp>
        <p:nvSpPr>
          <p:cNvPr id="177155" name="Text Box 3"/>
          <p:cNvSpPr txBox="1">
            <a:spLocks noChangeArrowheads="1"/>
          </p:cNvSpPr>
          <p:nvPr/>
        </p:nvSpPr>
        <p:spPr bwMode="auto">
          <a:xfrm>
            <a:off x="2339975" y="473075"/>
            <a:ext cx="32226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a:solidFill>
                  <a:schemeClr val="accent2"/>
                </a:solidFill>
                <a:latin typeface="华文楷体" panose="02010600040101010101" pitchFamily="2" charset="-122"/>
                <a:ea typeface="华文楷体" panose="02010600040101010101" pitchFamily="2" charset="-122"/>
              </a:rPr>
              <a:t>学习的基本内容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7155"/>
                                        </p:tgtEl>
                                        <p:attrNameLst>
                                          <p:attrName>style.visibility</p:attrName>
                                        </p:attrNameLst>
                                      </p:cBhvr>
                                      <p:to>
                                        <p:strVal val="visible"/>
                                      </p:to>
                                    </p:set>
                                    <p:animEffect transition="in" filter="wipe(left)">
                                      <p:cBhvr>
                                        <p:cTn id="7" dur="500"/>
                                        <p:tgtEl>
                                          <p:spTgt spid="17715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7154">
                                            <p:txEl>
                                              <p:pRg st="0" end="0"/>
                                            </p:txEl>
                                          </p:spTgt>
                                        </p:tgtEl>
                                        <p:attrNameLst>
                                          <p:attrName>style.visibility</p:attrName>
                                        </p:attrNameLst>
                                      </p:cBhvr>
                                      <p:to>
                                        <p:strVal val="visible"/>
                                      </p:to>
                                    </p:set>
                                    <p:animEffect transition="in" filter="wipe(left)">
                                      <p:cBhvr>
                                        <p:cTn id="12" dur="500"/>
                                        <p:tgtEl>
                                          <p:spTgt spid="17715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4" grpId="0" build="p" autoUpdateAnimBg="0"/>
      <p:bldP spid="177155" grpId="0" bldLvl="0" animBg="1"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1606550" y="1820863"/>
            <a:ext cx="6778625" cy="855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4000">
                <a:solidFill>
                  <a:srgbClr val="000000"/>
                </a:solidFill>
                <a:ea typeface="黑体" panose="02010609060101010101" pitchFamily="49" charset="-122"/>
              </a:rPr>
              <a:t>第一节        随机样本</a:t>
            </a:r>
          </a:p>
        </p:txBody>
      </p:sp>
      <p:sp>
        <p:nvSpPr>
          <p:cNvPr id="7171" name="Text Box 3"/>
          <p:cNvSpPr txBox="1">
            <a:spLocks noChangeArrowheads="1"/>
          </p:cNvSpPr>
          <p:nvPr/>
        </p:nvSpPr>
        <p:spPr bwMode="auto">
          <a:xfrm>
            <a:off x="3048000" y="3200400"/>
            <a:ext cx="5256213"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3200" b="1">
                <a:solidFill>
                  <a:schemeClr val="tx2"/>
                </a:solidFill>
              </a:rPr>
              <a:t>总体和样本</a:t>
            </a:r>
            <a:endParaRPr lang="zh-CN" altLang="en-US" sz="3200" b="1"/>
          </a:p>
          <a:p>
            <a:pPr>
              <a:spcBef>
                <a:spcPct val="50000"/>
              </a:spcBef>
            </a:pPr>
            <a:r>
              <a:rPr lang="zh-CN" altLang="en-US" sz="3200" b="1"/>
              <a:t>小结</a:t>
            </a:r>
          </a:p>
        </p:txBody>
      </p:sp>
      <p:pic>
        <p:nvPicPr>
          <p:cNvPr id="7172" name="Picture 4" descr="f012">
            <a:hlinkClick r:id="rId2" action="ppaction://hlinksldjump" highlightClick="1"/>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400300" y="3348038"/>
            <a:ext cx="5238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3" name="Picture 5" descr="f012">
            <a:hlinkClick r:id="rId4" action="ppaction://hlinksldjump" highlightClick="1">
              <a:snd r:embed="rId5" name="chimes.wav"/>
            </a:hlinkClick>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400300" y="4068763"/>
            <a:ext cx="5238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228600" y="228600"/>
            <a:ext cx="30400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solidFill>
                  <a:schemeClr val="accent2"/>
                </a:solidFill>
                <a:ea typeface="黑体" panose="02010609060101010101" pitchFamily="49" charset="-122"/>
              </a:rPr>
              <a:t>一、总体与样本</a:t>
            </a:r>
          </a:p>
        </p:txBody>
      </p:sp>
      <p:sp>
        <p:nvSpPr>
          <p:cNvPr id="8195" name="Text Box 3"/>
          <p:cNvSpPr txBox="1">
            <a:spLocks noChangeArrowheads="1"/>
          </p:cNvSpPr>
          <p:nvPr/>
        </p:nvSpPr>
        <p:spPr bwMode="auto">
          <a:xfrm>
            <a:off x="935038" y="2478088"/>
            <a:ext cx="6781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t>       </a:t>
            </a:r>
          </a:p>
        </p:txBody>
      </p:sp>
      <p:sp>
        <p:nvSpPr>
          <p:cNvPr id="179204" name="Text Box 4"/>
          <p:cNvSpPr txBox="1">
            <a:spLocks noChangeArrowheads="1"/>
          </p:cNvSpPr>
          <p:nvPr/>
        </p:nvSpPr>
        <p:spPr bwMode="auto">
          <a:xfrm>
            <a:off x="323850" y="1689100"/>
            <a:ext cx="7620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t> 一</a:t>
            </a:r>
            <a:r>
              <a:rPr lang="zh-CN" altLang="en-US" sz="2800" b="1"/>
              <a:t>个统计问题总有它明确的研究对象</a:t>
            </a:r>
            <a:r>
              <a:rPr lang="en-US" altLang="zh-CN" sz="2800" b="1"/>
              <a:t>.</a:t>
            </a:r>
          </a:p>
        </p:txBody>
      </p:sp>
      <p:sp>
        <p:nvSpPr>
          <p:cNvPr id="179205" name="Rectangle 5"/>
          <p:cNvSpPr>
            <a:spLocks noChangeArrowheads="1"/>
          </p:cNvSpPr>
          <p:nvPr/>
        </p:nvSpPr>
        <p:spPr bwMode="auto">
          <a:xfrm>
            <a:off x="468313" y="1109663"/>
            <a:ext cx="42560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chemeClr val="accent2"/>
                </a:solidFill>
                <a:latin typeface="楷体_GB2312" pitchFamily="49" charset="-122"/>
                <a:ea typeface="楷体_GB2312" pitchFamily="49" charset="-122"/>
              </a:rPr>
              <a:t>1</a:t>
            </a:r>
            <a:r>
              <a:rPr lang="zh-CN" altLang="en-US" sz="2800" b="1">
                <a:solidFill>
                  <a:schemeClr val="accent2"/>
                </a:solidFill>
                <a:latin typeface="楷体_GB2312" pitchFamily="49" charset="-122"/>
                <a:ea typeface="楷体_GB2312" pitchFamily="49" charset="-122"/>
              </a:rPr>
              <a:t>、</a:t>
            </a:r>
            <a:r>
              <a:rPr lang="zh-CN" altLang="en-US" sz="2800" b="1">
                <a:solidFill>
                  <a:schemeClr val="accent2"/>
                </a:solidFill>
              </a:rPr>
              <a:t>总体与个体</a:t>
            </a:r>
          </a:p>
        </p:txBody>
      </p:sp>
      <p:grpSp>
        <p:nvGrpSpPr>
          <p:cNvPr id="179206" name="Group 6"/>
          <p:cNvGrpSpPr/>
          <p:nvPr/>
        </p:nvGrpSpPr>
        <p:grpSpPr bwMode="auto">
          <a:xfrm>
            <a:off x="990600" y="3733800"/>
            <a:ext cx="3017838" cy="2362200"/>
            <a:chOff x="502" y="2112"/>
            <a:chExt cx="1901" cy="1488"/>
          </a:xfrm>
        </p:grpSpPr>
        <p:graphicFrame>
          <p:nvGraphicFramePr>
            <p:cNvPr id="8207" name="Object 7"/>
            <p:cNvGraphicFramePr>
              <a:graphicFrameLocks noChangeAspect="1"/>
            </p:cNvGraphicFramePr>
            <p:nvPr/>
          </p:nvGraphicFramePr>
          <p:xfrm>
            <a:off x="698" y="2571"/>
            <a:ext cx="213" cy="471"/>
          </p:xfrm>
          <a:graphic>
            <a:graphicData uri="http://schemas.openxmlformats.org/presentationml/2006/ole">
              <mc:AlternateContent xmlns:mc="http://schemas.openxmlformats.org/markup-compatibility/2006">
                <mc:Choice xmlns:v="urn:schemas-microsoft-com:vml" Requires="v">
                  <p:oleObj spid="_x0000_s8496" name="剪辑" r:id="rId3" imgW="2478405" imgH="4460875" progId="MS_ClipArt_Gallery.2">
                    <p:embed/>
                  </p:oleObj>
                </mc:Choice>
                <mc:Fallback>
                  <p:oleObj name="剪辑" r:id="rId3" imgW="2478405" imgH="4460875" progId="MS_ClipArt_Gallery.2">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8" y="2571"/>
                          <a:ext cx="213" cy="4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8" name="Object 8"/>
            <p:cNvGraphicFramePr>
              <a:graphicFrameLocks noChangeAspect="1"/>
            </p:cNvGraphicFramePr>
            <p:nvPr/>
          </p:nvGraphicFramePr>
          <p:xfrm>
            <a:off x="1115" y="2602"/>
            <a:ext cx="213" cy="470"/>
          </p:xfrm>
          <a:graphic>
            <a:graphicData uri="http://schemas.openxmlformats.org/presentationml/2006/ole">
              <mc:AlternateContent xmlns:mc="http://schemas.openxmlformats.org/markup-compatibility/2006">
                <mc:Choice xmlns:v="urn:schemas-microsoft-com:vml" Requires="v">
                  <p:oleObj spid="_x0000_s8497" name="剪辑" r:id="rId5" imgW="2478405" imgH="4460875" progId="MS_ClipArt_Gallery.2">
                    <p:embed/>
                  </p:oleObj>
                </mc:Choice>
                <mc:Fallback>
                  <p:oleObj name="剪辑" r:id="rId5" imgW="2478405" imgH="4460875" progId="MS_ClipArt_Gallery.2">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5" y="2602"/>
                          <a:ext cx="213" cy="4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9" name="Object 9"/>
            <p:cNvGraphicFramePr>
              <a:graphicFrameLocks noChangeAspect="1"/>
            </p:cNvGraphicFramePr>
            <p:nvPr/>
          </p:nvGraphicFramePr>
          <p:xfrm>
            <a:off x="1865" y="2560"/>
            <a:ext cx="213" cy="470"/>
          </p:xfrm>
          <a:graphic>
            <a:graphicData uri="http://schemas.openxmlformats.org/presentationml/2006/ole">
              <mc:AlternateContent xmlns:mc="http://schemas.openxmlformats.org/markup-compatibility/2006">
                <mc:Choice xmlns:v="urn:schemas-microsoft-com:vml" Requires="v">
                  <p:oleObj spid="_x0000_s8498" name="剪辑" r:id="rId6" imgW="2478405" imgH="4460875" progId="MS_ClipArt_Gallery.2">
                    <p:embed/>
                  </p:oleObj>
                </mc:Choice>
                <mc:Fallback>
                  <p:oleObj name="剪辑" r:id="rId6" imgW="2478405" imgH="4460875" progId="MS_ClipArt_Gallery.2">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5" y="2560"/>
                          <a:ext cx="213" cy="4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0" name="Object 10"/>
            <p:cNvGraphicFramePr>
              <a:graphicFrameLocks noChangeAspect="1"/>
            </p:cNvGraphicFramePr>
            <p:nvPr/>
          </p:nvGraphicFramePr>
          <p:xfrm>
            <a:off x="672" y="2112"/>
            <a:ext cx="213" cy="470"/>
          </p:xfrm>
          <a:graphic>
            <a:graphicData uri="http://schemas.openxmlformats.org/presentationml/2006/ole">
              <mc:AlternateContent xmlns:mc="http://schemas.openxmlformats.org/markup-compatibility/2006">
                <mc:Choice xmlns:v="urn:schemas-microsoft-com:vml" Requires="v">
                  <p:oleObj spid="_x0000_s8499" name="剪辑" r:id="rId7" imgW="2478405" imgH="4460875" progId="MS_ClipArt_Gallery.2">
                    <p:embed/>
                  </p:oleObj>
                </mc:Choice>
                <mc:Fallback>
                  <p:oleObj name="剪辑" r:id="rId7" imgW="2478405" imgH="4460875" progId="MS_ClipArt_Gallery.2">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2" y="2112"/>
                          <a:ext cx="213" cy="4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1" name="Object 11"/>
            <p:cNvGraphicFramePr>
              <a:graphicFrameLocks noChangeAspect="1"/>
            </p:cNvGraphicFramePr>
            <p:nvPr/>
          </p:nvGraphicFramePr>
          <p:xfrm>
            <a:off x="911" y="2112"/>
            <a:ext cx="213" cy="470"/>
          </p:xfrm>
          <a:graphic>
            <a:graphicData uri="http://schemas.openxmlformats.org/presentationml/2006/ole">
              <mc:AlternateContent xmlns:mc="http://schemas.openxmlformats.org/markup-compatibility/2006">
                <mc:Choice xmlns:v="urn:schemas-microsoft-com:vml" Requires="v">
                  <p:oleObj spid="_x0000_s8500" name="剪辑" r:id="rId8" imgW="2478405" imgH="4460875" progId="MS_ClipArt_Gallery.2">
                    <p:embed/>
                  </p:oleObj>
                </mc:Choice>
                <mc:Fallback>
                  <p:oleObj name="剪辑" r:id="rId8" imgW="2478405" imgH="4460875" progId="MS_ClipArt_Gallery.2">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1" y="2112"/>
                          <a:ext cx="213" cy="4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2" name="Object 12"/>
            <p:cNvGraphicFramePr>
              <a:graphicFrameLocks noChangeAspect="1"/>
            </p:cNvGraphicFramePr>
            <p:nvPr/>
          </p:nvGraphicFramePr>
          <p:xfrm>
            <a:off x="1899" y="2112"/>
            <a:ext cx="213" cy="470"/>
          </p:xfrm>
          <a:graphic>
            <a:graphicData uri="http://schemas.openxmlformats.org/presentationml/2006/ole">
              <mc:AlternateContent xmlns:mc="http://schemas.openxmlformats.org/markup-compatibility/2006">
                <mc:Choice xmlns:v="urn:schemas-microsoft-com:vml" Requires="v">
                  <p:oleObj spid="_x0000_s8501" name="剪辑" r:id="rId9" imgW="2478405" imgH="4460875" progId="MS_ClipArt_Gallery.2">
                    <p:embed/>
                  </p:oleObj>
                </mc:Choice>
                <mc:Fallback>
                  <p:oleObj name="剪辑" r:id="rId9" imgW="2478405" imgH="4460875" progId="MS_ClipArt_Gallery.2">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9" y="2112"/>
                          <a:ext cx="213" cy="4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3" name="Object 13"/>
            <p:cNvGraphicFramePr>
              <a:graphicFrameLocks noChangeAspect="1"/>
            </p:cNvGraphicFramePr>
            <p:nvPr/>
          </p:nvGraphicFramePr>
          <p:xfrm>
            <a:off x="1626" y="2112"/>
            <a:ext cx="213" cy="470"/>
          </p:xfrm>
          <a:graphic>
            <a:graphicData uri="http://schemas.openxmlformats.org/presentationml/2006/ole">
              <mc:AlternateContent xmlns:mc="http://schemas.openxmlformats.org/markup-compatibility/2006">
                <mc:Choice xmlns:v="urn:schemas-microsoft-com:vml" Requires="v">
                  <p:oleObj spid="_x0000_s8502" name="剪辑" r:id="rId10" imgW="2478405" imgH="4460875" progId="MS_ClipArt_Gallery.2">
                    <p:embed/>
                  </p:oleObj>
                </mc:Choice>
                <mc:Fallback>
                  <p:oleObj name="剪辑" r:id="rId10" imgW="2478405" imgH="4460875" progId="MS_ClipArt_Gallery.2">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6" y="2112"/>
                          <a:ext cx="213" cy="4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4" name="Object 14"/>
            <p:cNvGraphicFramePr>
              <a:graphicFrameLocks noChangeAspect="1"/>
            </p:cNvGraphicFramePr>
            <p:nvPr/>
          </p:nvGraphicFramePr>
          <p:xfrm>
            <a:off x="1388" y="2112"/>
            <a:ext cx="213" cy="470"/>
          </p:xfrm>
          <a:graphic>
            <a:graphicData uri="http://schemas.openxmlformats.org/presentationml/2006/ole">
              <mc:AlternateContent xmlns:mc="http://schemas.openxmlformats.org/markup-compatibility/2006">
                <mc:Choice xmlns:v="urn:schemas-microsoft-com:vml" Requires="v">
                  <p:oleObj spid="_x0000_s8503" name="剪辑" r:id="rId11" imgW="2478405" imgH="4460875" progId="MS_ClipArt_Gallery.2">
                    <p:embed/>
                  </p:oleObj>
                </mc:Choice>
                <mc:Fallback>
                  <p:oleObj name="剪辑" r:id="rId11" imgW="2478405" imgH="4460875" progId="MS_ClipArt_Gallery.2">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8" y="2112"/>
                          <a:ext cx="213" cy="4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5" name="Object 15"/>
            <p:cNvGraphicFramePr>
              <a:graphicFrameLocks noChangeAspect="1"/>
            </p:cNvGraphicFramePr>
            <p:nvPr/>
          </p:nvGraphicFramePr>
          <p:xfrm>
            <a:off x="1149" y="2112"/>
            <a:ext cx="213" cy="470"/>
          </p:xfrm>
          <a:graphic>
            <a:graphicData uri="http://schemas.openxmlformats.org/presentationml/2006/ole">
              <mc:AlternateContent xmlns:mc="http://schemas.openxmlformats.org/markup-compatibility/2006">
                <mc:Choice xmlns:v="urn:schemas-microsoft-com:vml" Requires="v">
                  <p:oleObj spid="_x0000_s8504" name="剪辑" r:id="rId12" imgW="2478405" imgH="4460875" progId="MS_ClipArt_Gallery.2">
                    <p:embed/>
                  </p:oleObj>
                </mc:Choice>
                <mc:Fallback>
                  <p:oleObj name="剪辑" r:id="rId12" imgW="2478405" imgH="4460875" progId="MS_ClipArt_Gallery.2">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9" y="2112"/>
                          <a:ext cx="213" cy="4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6" name="Object 16"/>
            <p:cNvGraphicFramePr>
              <a:graphicFrameLocks noChangeAspect="1"/>
            </p:cNvGraphicFramePr>
            <p:nvPr/>
          </p:nvGraphicFramePr>
          <p:xfrm>
            <a:off x="1388" y="2560"/>
            <a:ext cx="213" cy="470"/>
          </p:xfrm>
          <a:graphic>
            <a:graphicData uri="http://schemas.openxmlformats.org/presentationml/2006/ole">
              <mc:AlternateContent xmlns:mc="http://schemas.openxmlformats.org/markup-compatibility/2006">
                <mc:Choice xmlns:v="urn:schemas-microsoft-com:vml" Requires="v">
                  <p:oleObj spid="_x0000_s8505" name="剪辑" r:id="rId13" imgW="2478405" imgH="4460875" progId="MS_ClipArt_Gallery.2">
                    <p:embed/>
                  </p:oleObj>
                </mc:Choice>
                <mc:Fallback>
                  <p:oleObj name="剪辑" r:id="rId13" imgW="2478405" imgH="4460875" progId="MS_ClipArt_Gallery.2">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8" y="2560"/>
                          <a:ext cx="213" cy="4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7" name="Object 17"/>
            <p:cNvGraphicFramePr>
              <a:graphicFrameLocks noChangeAspect="1"/>
            </p:cNvGraphicFramePr>
            <p:nvPr/>
          </p:nvGraphicFramePr>
          <p:xfrm>
            <a:off x="1626" y="2560"/>
            <a:ext cx="213" cy="470"/>
          </p:xfrm>
          <a:graphic>
            <a:graphicData uri="http://schemas.openxmlformats.org/presentationml/2006/ole">
              <mc:AlternateContent xmlns:mc="http://schemas.openxmlformats.org/markup-compatibility/2006">
                <mc:Choice xmlns:v="urn:schemas-microsoft-com:vml" Requires="v">
                  <p:oleObj spid="_x0000_s8506" name="剪辑" r:id="rId14" imgW="2478405" imgH="4460875" progId="MS_ClipArt_Gallery.2">
                    <p:embed/>
                  </p:oleObj>
                </mc:Choice>
                <mc:Fallback>
                  <p:oleObj name="剪辑" r:id="rId14" imgW="2478405" imgH="4460875" progId="MS_ClipArt_Gallery.2">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6" y="2560"/>
                          <a:ext cx="213" cy="4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8" name="Object 18"/>
            <p:cNvGraphicFramePr>
              <a:graphicFrameLocks noChangeAspect="1"/>
            </p:cNvGraphicFramePr>
            <p:nvPr/>
          </p:nvGraphicFramePr>
          <p:xfrm>
            <a:off x="919" y="2560"/>
            <a:ext cx="213" cy="470"/>
          </p:xfrm>
          <a:graphic>
            <a:graphicData uri="http://schemas.openxmlformats.org/presentationml/2006/ole">
              <mc:AlternateContent xmlns:mc="http://schemas.openxmlformats.org/markup-compatibility/2006">
                <mc:Choice xmlns:v="urn:schemas-microsoft-com:vml" Requires="v">
                  <p:oleObj spid="_x0000_s8507" name="剪辑" r:id="rId15" imgW="2478405" imgH="4460875" progId="MS_ClipArt_Gallery.2">
                    <p:embed/>
                  </p:oleObj>
                </mc:Choice>
                <mc:Fallback>
                  <p:oleObj name="剪辑" r:id="rId15" imgW="2478405" imgH="4460875" progId="MS_ClipArt_Gallery.2">
                    <p:embed/>
                    <p:pic>
                      <p:nvPicPr>
                        <p:cNvPr id="0"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9" y="2560"/>
                          <a:ext cx="213" cy="4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19" name="Rectangle 19"/>
            <p:cNvSpPr>
              <a:spLocks noChangeArrowheads="1"/>
            </p:cNvSpPr>
            <p:nvPr/>
          </p:nvSpPr>
          <p:spPr bwMode="auto">
            <a:xfrm>
              <a:off x="1120" y="2947"/>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b="1"/>
                <a:t>…</a:t>
              </a:r>
            </a:p>
          </p:txBody>
        </p:sp>
        <p:sp>
          <p:nvSpPr>
            <p:cNvPr id="8220" name="Rectangle 20"/>
            <p:cNvSpPr>
              <a:spLocks noChangeArrowheads="1"/>
            </p:cNvSpPr>
            <p:nvPr/>
          </p:nvSpPr>
          <p:spPr bwMode="auto">
            <a:xfrm>
              <a:off x="502" y="3312"/>
              <a:ext cx="190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a:t>研究某批灯泡的质量 </a:t>
              </a:r>
            </a:p>
          </p:txBody>
        </p:sp>
      </p:grpSp>
      <p:sp>
        <p:nvSpPr>
          <p:cNvPr id="179221" name="Rectangle 21"/>
          <p:cNvSpPr>
            <a:spLocks noChangeArrowheads="1"/>
          </p:cNvSpPr>
          <p:nvPr/>
        </p:nvSpPr>
        <p:spPr bwMode="auto">
          <a:xfrm>
            <a:off x="468313" y="2336800"/>
            <a:ext cx="54721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t>研究对象的全体称为</a:t>
            </a:r>
            <a:r>
              <a:rPr lang="zh-CN" altLang="en-US" sz="2800" b="1">
                <a:solidFill>
                  <a:schemeClr val="accent2"/>
                </a:solidFill>
              </a:rPr>
              <a:t>总体</a:t>
            </a:r>
            <a:r>
              <a:rPr lang="zh-CN" altLang="en-US" sz="2800" b="1"/>
              <a:t>，</a:t>
            </a:r>
          </a:p>
        </p:txBody>
      </p:sp>
      <p:sp>
        <p:nvSpPr>
          <p:cNvPr id="179222" name="Rectangle 22"/>
          <p:cNvSpPr>
            <a:spLocks noChangeArrowheads="1"/>
          </p:cNvSpPr>
          <p:nvPr/>
        </p:nvSpPr>
        <p:spPr bwMode="auto">
          <a:xfrm>
            <a:off x="1905000" y="4267200"/>
            <a:ext cx="11017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b="1">
                <a:solidFill>
                  <a:srgbClr val="FF5050"/>
                </a:solidFill>
              </a:rPr>
              <a:t>总体</a:t>
            </a:r>
            <a:endParaRPr lang="zh-CN" altLang="zh-CN" sz="3600" b="1"/>
          </a:p>
        </p:txBody>
      </p:sp>
      <p:sp>
        <p:nvSpPr>
          <p:cNvPr id="179223" name="Text Box 23"/>
          <p:cNvSpPr txBox="1">
            <a:spLocks noChangeArrowheads="1"/>
          </p:cNvSpPr>
          <p:nvPr/>
        </p:nvSpPr>
        <p:spPr bwMode="auto">
          <a:xfrm>
            <a:off x="457200" y="3048000"/>
            <a:ext cx="70596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总体中所包含的个体的个数称为总体的</a:t>
            </a:r>
            <a:r>
              <a:rPr lang="zh-CN" altLang="en-US" sz="2800" b="1">
                <a:solidFill>
                  <a:schemeClr val="accent2"/>
                </a:solidFill>
              </a:rPr>
              <a:t>容量</a:t>
            </a:r>
            <a:r>
              <a:rPr lang="en-US" altLang="zh-CN" sz="2800" b="1">
                <a:solidFill>
                  <a:schemeClr val="accent2"/>
                </a:solidFill>
              </a:rPr>
              <a:t>.</a:t>
            </a:r>
            <a:endParaRPr lang="en-US" altLang="zh-CN" sz="2800" b="1"/>
          </a:p>
        </p:txBody>
      </p:sp>
      <p:sp>
        <p:nvSpPr>
          <p:cNvPr id="179224" name="Text Box 24"/>
          <p:cNvSpPr txBox="1">
            <a:spLocks noChangeArrowheads="1"/>
          </p:cNvSpPr>
          <p:nvPr/>
        </p:nvSpPr>
        <p:spPr bwMode="auto">
          <a:xfrm>
            <a:off x="4648200" y="2362200"/>
            <a:ext cx="4114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t>总体中每个成员称为</a:t>
            </a:r>
            <a:r>
              <a:rPr lang="zh-CN" altLang="en-US" sz="2800" b="1">
                <a:solidFill>
                  <a:schemeClr val="accent2"/>
                </a:solidFill>
              </a:rPr>
              <a:t>个体</a:t>
            </a:r>
            <a:endParaRPr lang="zh-CN" altLang="en-US" sz="2000"/>
          </a:p>
        </p:txBody>
      </p:sp>
      <p:sp>
        <p:nvSpPr>
          <p:cNvPr id="179225" name="Text Box 25"/>
          <p:cNvSpPr txBox="1">
            <a:spLocks noChangeArrowheads="1"/>
          </p:cNvSpPr>
          <p:nvPr/>
        </p:nvSpPr>
        <p:spPr bwMode="auto">
          <a:xfrm>
            <a:off x="5027613" y="4281488"/>
            <a:ext cx="8985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t>总体</a:t>
            </a:r>
          </a:p>
        </p:txBody>
      </p:sp>
      <p:sp>
        <p:nvSpPr>
          <p:cNvPr id="179226" name="Text Box 26"/>
          <p:cNvSpPr txBox="1">
            <a:spLocks noChangeArrowheads="1"/>
          </p:cNvSpPr>
          <p:nvPr/>
        </p:nvSpPr>
        <p:spPr bwMode="auto">
          <a:xfrm>
            <a:off x="6324600" y="3933825"/>
            <a:ext cx="16129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t>有限总体</a:t>
            </a:r>
          </a:p>
        </p:txBody>
      </p:sp>
      <p:sp>
        <p:nvSpPr>
          <p:cNvPr id="179227" name="Text Box 27"/>
          <p:cNvSpPr txBox="1">
            <a:spLocks noChangeArrowheads="1"/>
          </p:cNvSpPr>
          <p:nvPr/>
        </p:nvSpPr>
        <p:spPr bwMode="auto">
          <a:xfrm>
            <a:off x="6324600" y="4876800"/>
            <a:ext cx="16129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t>无限总体</a:t>
            </a:r>
          </a:p>
        </p:txBody>
      </p:sp>
      <p:graphicFrame>
        <p:nvGraphicFramePr>
          <p:cNvPr id="179228" name="Object 28"/>
          <p:cNvGraphicFramePr>
            <a:graphicFrameLocks noChangeAspect="1"/>
          </p:cNvGraphicFramePr>
          <p:nvPr/>
        </p:nvGraphicFramePr>
        <p:xfrm>
          <a:off x="5964238" y="4006850"/>
          <a:ext cx="381000" cy="1511300"/>
        </p:xfrm>
        <a:graphic>
          <a:graphicData uri="http://schemas.openxmlformats.org/presentationml/2006/ole">
            <mc:AlternateContent xmlns:mc="http://schemas.openxmlformats.org/markup-compatibility/2006">
              <mc:Choice xmlns:v="urn:schemas-microsoft-com:vml" Requires="v">
                <p:oleObj spid="_x0000_s8508" name="公式" r:id="rId16" imgW="361950" imgH="1511300" progId="Equation.3">
                  <p:embed/>
                </p:oleObj>
              </mc:Choice>
              <mc:Fallback>
                <p:oleObj name="公式" r:id="rId16" imgW="361950" imgH="1511300" progId="Equation.3">
                  <p:embed/>
                  <p:pic>
                    <p:nvPicPr>
                      <p:cNvPr id="0" name="Object 2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964238" y="4006850"/>
                        <a:ext cx="381000" cy="151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9205"/>
                                        </p:tgtEl>
                                        <p:attrNameLst>
                                          <p:attrName>style.visibility</p:attrName>
                                        </p:attrNameLst>
                                      </p:cBhvr>
                                      <p:to>
                                        <p:strVal val="visible"/>
                                      </p:to>
                                    </p:set>
                                    <p:animEffect transition="in" filter="wipe(left)">
                                      <p:cBhvr>
                                        <p:cTn id="7" dur="500"/>
                                        <p:tgtEl>
                                          <p:spTgt spid="17920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9204"/>
                                        </p:tgtEl>
                                        <p:attrNameLst>
                                          <p:attrName>style.visibility</p:attrName>
                                        </p:attrNameLst>
                                      </p:cBhvr>
                                      <p:to>
                                        <p:strVal val="visible"/>
                                      </p:to>
                                    </p:set>
                                    <p:animEffect transition="in" filter="wipe(left)">
                                      <p:cBhvr>
                                        <p:cTn id="12" dur="500"/>
                                        <p:tgtEl>
                                          <p:spTgt spid="17920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9221"/>
                                        </p:tgtEl>
                                        <p:attrNameLst>
                                          <p:attrName>style.visibility</p:attrName>
                                        </p:attrNameLst>
                                      </p:cBhvr>
                                      <p:to>
                                        <p:strVal val="visible"/>
                                      </p:to>
                                    </p:set>
                                    <p:animEffect transition="in" filter="wipe(left)">
                                      <p:cBhvr>
                                        <p:cTn id="17" dur="500"/>
                                        <p:tgtEl>
                                          <p:spTgt spid="17922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79224"/>
                                        </p:tgtEl>
                                        <p:attrNameLst>
                                          <p:attrName>style.visibility</p:attrName>
                                        </p:attrNameLst>
                                      </p:cBhvr>
                                      <p:to>
                                        <p:strVal val="visible"/>
                                      </p:to>
                                    </p:set>
                                    <p:animEffect transition="in" filter="wipe(down)">
                                      <p:cBhvr>
                                        <p:cTn id="22" dur="500"/>
                                        <p:tgtEl>
                                          <p:spTgt spid="17922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79223"/>
                                        </p:tgtEl>
                                        <p:attrNameLst>
                                          <p:attrName>style.visibility</p:attrName>
                                        </p:attrNameLst>
                                      </p:cBhvr>
                                      <p:to>
                                        <p:strVal val="visible"/>
                                      </p:to>
                                    </p:set>
                                    <p:animEffect transition="in" filter="wipe(down)">
                                      <p:cBhvr>
                                        <p:cTn id="27" dur="500"/>
                                        <p:tgtEl>
                                          <p:spTgt spid="17922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79206"/>
                                        </p:tgtEl>
                                        <p:attrNameLst>
                                          <p:attrName>style.visibility</p:attrName>
                                        </p:attrNameLst>
                                      </p:cBhvr>
                                      <p:to>
                                        <p:strVal val="visible"/>
                                      </p:to>
                                    </p:set>
                                    <p:animEffect transition="in" filter="wipe(down)">
                                      <p:cBhvr>
                                        <p:cTn id="32" dur="500"/>
                                        <p:tgtEl>
                                          <p:spTgt spid="17920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79222"/>
                                        </p:tgtEl>
                                        <p:attrNameLst>
                                          <p:attrName>style.visibility</p:attrName>
                                        </p:attrNameLst>
                                      </p:cBhvr>
                                      <p:to>
                                        <p:strVal val="visible"/>
                                      </p:to>
                                    </p:set>
                                    <p:animEffect transition="in" filter="wipe(down)">
                                      <p:cBhvr>
                                        <p:cTn id="37" dur="500"/>
                                        <p:tgtEl>
                                          <p:spTgt spid="17922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79225"/>
                                        </p:tgtEl>
                                        <p:attrNameLst>
                                          <p:attrName>style.visibility</p:attrName>
                                        </p:attrNameLst>
                                      </p:cBhvr>
                                      <p:to>
                                        <p:strVal val="visible"/>
                                      </p:to>
                                    </p:set>
                                    <p:animEffect transition="in" filter="wipe(down)">
                                      <p:cBhvr>
                                        <p:cTn id="42" dur="500"/>
                                        <p:tgtEl>
                                          <p:spTgt spid="17922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179228"/>
                                        </p:tgtEl>
                                        <p:attrNameLst>
                                          <p:attrName>style.visibility</p:attrName>
                                        </p:attrNameLst>
                                      </p:cBhvr>
                                      <p:to>
                                        <p:strVal val="visible"/>
                                      </p:to>
                                    </p:set>
                                    <p:animEffect transition="in" filter="wipe(down)">
                                      <p:cBhvr>
                                        <p:cTn id="47" dur="500"/>
                                        <p:tgtEl>
                                          <p:spTgt spid="17922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179226"/>
                                        </p:tgtEl>
                                        <p:attrNameLst>
                                          <p:attrName>style.visibility</p:attrName>
                                        </p:attrNameLst>
                                      </p:cBhvr>
                                      <p:to>
                                        <p:strVal val="visible"/>
                                      </p:to>
                                    </p:set>
                                    <p:animEffect transition="in" filter="wipe(down)">
                                      <p:cBhvr>
                                        <p:cTn id="52" dur="500"/>
                                        <p:tgtEl>
                                          <p:spTgt spid="17922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179227"/>
                                        </p:tgtEl>
                                        <p:attrNameLst>
                                          <p:attrName>style.visibility</p:attrName>
                                        </p:attrNameLst>
                                      </p:cBhvr>
                                      <p:to>
                                        <p:strVal val="visible"/>
                                      </p:to>
                                    </p:set>
                                    <p:animEffect transition="in" filter="wipe(down)">
                                      <p:cBhvr>
                                        <p:cTn id="57" dur="500"/>
                                        <p:tgtEl>
                                          <p:spTgt spid="1792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4" grpId="0" bldLvl="0" animBg="1" autoUpdateAnimBg="0"/>
      <p:bldP spid="179205" grpId="0" bldLvl="0" animBg="1" autoUpdateAnimBg="0"/>
      <p:bldP spid="179221" grpId="0" bldLvl="0" animBg="1" autoUpdateAnimBg="0"/>
      <p:bldP spid="179222" grpId="0" bldLvl="0" animBg="1" autoUpdateAnimBg="0"/>
      <p:bldP spid="179223" grpId="0" bldLvl="0" animBg="1" autoUpdateAnimBg="0"/>
      <p:bldP spid="179224" grpId="0" bldLvl="0" animBg="1" autoUpdateAnimBg="0"/>
      <p:bldP spid="179225" grpId="0" bldLvl="0" animBg="1" autoUpdateAnimBg="0"/>
      <p:bldP spid="179226" grpId="0" bldLvl="0" animBg="1" autoUpdateAnimBg="0"/>
      <p:bldP spid="179227" grpId="0" bldLvl="0" animBg="1"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Text Box 2"/>
          <p:cNvSpPr txBox="1">
            <a:spLocks noChangeArrowheads="1"/>
          </p:cNvSpPr>
          <p:nvPr/>
        </p:nvSpPr>
        <p:spPr bwMode="auto">
          <a:xfrm>
            <a:off x="736600" y="5038725"/>
            <a:ext cx="7632700"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latin typeface="宋体" panose="02010600030101010101" pitchFamily="2" charset="-122"/>
              </a:rPr>
              <a:t>因此在理论上可以把总体与概率分布等同起来</a:t>
            </a:r>
            <a:r>
              <a:rPr lang="en-US" altLang="zh-CN" sz="2800" b="1"/>
              <a:t>.</a:t>
            </a:r>
          </a:p>
        </p:txBody>
      </p:sp>
      <p:sp>
        <p:nvSpPr>
          <p:cNvPr id="180227" name="Rectangle 3"/>
          <p:cNvSpPr>
            <a:spLocks noChangeArrowheads="1"/>
          </p:cNvSpPr>
          <p:nvPr/>
        </p:nvSpPr>
        <p:spPr bwMode="auto">
          <a:xfrm>
            <a:off x="304800" y="533400"/>
            <a:ext cx="8569325"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800" b="1">
                <a:latin typeface="宋体" panose="02010600030101010101" pitchFamily="2" charset="-122"/>
              </a:rPr>
              <a:t>    我们关心的是总体中的个体的某项指标</a:t>
            </a:r>
            <a:r>
              <a:rPr lang="en-US" altLang="zh-CN" sz="2800" b="1">
                <a:latin typeface="宋体" panose="02010600030101010101" pitchFamily="2" charset="-122"/>
              </a:rPr>
              <a:t>(</a:t>
            </a:r>
            <a:r>
              <a:rPr lang="zh-CN" altLang="en-US" sz="2800" b="1">
                <a:latin typeface="宋体" panose="02010600030101010101" pitchFamily="2" charset="-122"/>
              </a:rPr>
              <a:t>如人的身高、灯泡的寿命</a:t>
            </a:r>
            <a:r>
              <a:rPr lang="en-US" altLang="zh-CN" sz="2800" b="1">
                <a:latin typeface="宋体" panose="02010600030101010101" pitchFamily="2" charset="-122"/>
              </a:rPr>
              <a:t>,</a:t>
            </a:r>
            <a:r>
              <a:rPr lang="zh-CN" altLang="en-US" sz="2800" b="1">
                <a:latin typeface="宋体" panose="02010600030101010101" pitchFamily="2" charset="-122"/>
              </a:rPr>
              <a:t>汽车的耗油量</a:t>
            </a:r>
            <a:r>
              <a:rPr lang="en-US" altLang="zh-CN" sz="2800" b="1"/>
              <a:t>…</a:t>
            </a:r>
            <a:r>
              <a:rPr lang="en-US" altLang="zh-CN" sz="2800" b="1">
                <a:latin typeface="宋体" panose="02010600030101010101" pitchFamily="2" charset="-122"/>
              </a:rPr>
              <a:t>) </a:t>
            </a:r>
            <a:r>
              <a:rPr lang="en-US" altLang="zh-CN" sz="2800" b="1"/>
              <a:t>.</a:t>
            </a:r>
          </a:p>
        </p:txBody>
      </p:sp>
      <p:sp>
        <p:nvSpPr>
          <p:cNvPr id="180228" name="Rectangle 4"/>
          <p:cNvSpPr>
            <a:spLocks noChangeArrowheads="1"/>
          </p:cNvSpPr>
          <p:nvPr/>
        </p:nvSpPr>
        <p:spPr bwMode="auto">
          <a:xfrm>
            <a:off x="233363" y="1771650"/>
            <a:ext cx="8496300"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b="1"/>
              <a:t>     由于每个个体的出现是随机的，所以相应的数量指标的出现也带有随机性 </a:t>
            </a:r>
            <a:r>
              <a:rPr lang="en-US" altLang="zh-CN" sz="2800" b="1"/>
              <a:t>.   </a:t>
            </a:r>
            <a:r>
              <a:rPr lang="zh-CN" altLang="en-US" sz="2800" b="1"/>
              <a:t>从而</a:t>
            </a:r>
            <a:r>
              <a:rPr lang="zh-CN" altLang="en-US" sz="2800" b="1">
                <a:solidFill>
                  <a:schemeClr val="accent2"/>
                </a:solidFill>
              </a:rPr>
              <a:t>可以把这种数量指标看作一个随机变量</a:t>
            </a:r>
            <a:r>
              <a:rPr lang="en-US" altLang="zh-CN" sz="2800" b="1">
                <a:solidFill>
                  <a:schemeClr val="accent2"/>
                </a:solidFill>
              </a:rPr>
              <a:t>X</a:t>
            </a:r>
            <a:r>
              <a:rPr lang="en-US" altLang="zh-CN" sz="2800" b="1"/>
              <a:t>  </a:t>
            </a:r>
            <a:r>
              <a:rPr lang="zh-CN" altLang="en-US" sz="2800" b="1"/>
              <a:t>，因此随机变量</a:t>
            </a:r>
            <a:r>
              <a:rPr lang="en-US" altLang="zh-CN" sz="2800" b="1"/>
              <a:t>X</a:t>
            </a:r>
            <a:r>
              <a:rPr lang="zh-CN" altLang="en-US" sz="2800" b="1"/>
              <a:t>的分布就是该数量指标在总体中的分布</a:t>
            </a:r>
            <a:r>
              <a:rPr lang="en-US" altLang="zh-CN" sz="2800" b="1"/>
              <a:t>.</a:t>
            </a:r>
          </a:p>
        </p:txBody>
      </p:sp>
      <p:sp>
        <p:nvSpPr>
          <p:cNvPr id="180229" name="Rectangle 5"/>
          <p:cNvSpPr>
            <a:spLocks noChangeArrowheads="1"/>
          </p:cNvSpPr>
          <p:nvPr/>
        </p:nvSpPr>
        <p:spPr bwMode="auto">
          <a:xfrm>
            <a:off x="449263" y="4175125"/>
            <a:ext cx="8424862"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3200" b="1">
                <a:solidFill>
                  <a:schemeClr val="accent2"/>
                </a:solidFill>
              </a:rPr>
              <a:t>   </a:t>
            </a:r>
            <a:r>
              <a:rPr lang="zh-CN" altLang="en-US" sz="2800" b="1">
                <a:solidFill>
                  <a:schemeClr val="accent2"/>
                </a:solidFill>
              </a:rPr>
              <a:t>总体就可以用一个随机变量及其分布来描述</a:t>
            </a:r>
            <a:r>
              <a:rPr lang="en-US" altLang="zh-CN" sz="2800" b="1">
                <a:solidFill>
                  <a:schemeClr val="accent2"/>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0227"/>
                                        </p:tgtEl>
                                        <p:attrNameLst>
                                          <p:attrName>style.visibility</p:attrName>
                                        </p:attrNameLst>
                                      </p:cBhvr>
                                      <p:to>
                                        <p:strVal val="visible"/>
                                      </p:to>
                                    </p:set>
                                    <p:anim calcmode="lin" valueType="num">
                                      <p:cBhvr additive="base">
                                        <p:cTn id="7" dur="500" fill="hold"/>
                                        <p:tgtEl>
                                          <p:spTgt spid="180227"/>
                                        </p:tgtEl>
                                        <p:attrNameLst>
                                          <p:attrName>ppt_x</p:attrName>
                                        </p:attrNameLst>
                                      </p:cBhvr>
                                      <p:tavLst>
                                        <p:tav tm="0">
                                          <p:val>
                                            <p:strVal val="#ppt_x"/>
                                          </p:val>
                                        </p:tav>
                                        <p:tav tm="100000">
                                          <p:val>
                                            <p:strVal val="#ppt_x"/>
                                          </p:val>
                                        </p:tav>
                                      </p:tavLst>
                                    </p:anim>
                                    <p:anim calcmode="lin" valueType="num">
                                      <p:cBhvr additive="base">
                                        <p:cTn id="8" dur="500" fill="hold"/>
                                        <p:tgtEl>
                                          <p:spTgt spid="1802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37" fill="hold" grpId="0" nodeType="clickEffect">
                                  <p:stCondLst>
                                    <p:cond delay="0"/>
                                  </p:stCondLst>
                                  <p:childTnLst>
                                    <p:set>
                                      <p:cBhvr>
                                        <p:cTn id="12" dur="1" fill="hold">
                                          <p:stCondLst>
                                            <p:cond delay="0"/>
                                          </p:stCondLst>
                                        </p:cTn>
                                        <p:tgtEl>
                                          <p:spTgt spid="180228"/>
                                        </p:tgtEl>
                                        <p:attrNameLst>
                                          <p:attrName>style.visibility</p:attrName>
                                        </p:attrNameLst>
                                      </p:cBhvr>
                                      <p:to>
                                        <p:strVal val="visible"/>
                                      </p:to>
                                    </p:set>
                                    <p:animEffect transition="in" filter="barn(outVertical)">
                                      <p:cBhvr>
                                        <p:cTn id="13" dur="500"/>
                                        <p:tgtEl>
                                          <p:spTgt spid="18022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80229"/>
                                        </p:tgtEl>
                                        <p:attrNameLst>
                                          <p:attrName>style.visibility</p:attrName>
                                        </p:attrNameLst>
                                      </p:cBhvr>
                                      <p:to>
                                        <p:strVal val="visible"/>
                                      </p:to>
                                    </p:set>
                                    <p:animEffect transition="in" filter="wipe(left)">
                                      <p:cBhvr>
                                        <p:cTn id="18" dur="500"/>
                                        <p:tgtEl>
                                          <p:spTgt spid="18022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180226"/>
                                        </p:tgtEl>
                                        <p:attrNameLst>
                                          <p:attrName>style.visibility</p:attrName>
                                        </p:attrNameLst>
                                      </p:cBhvr>
                                      <p:to>
                                        <p:strVal val="visible"/>
                                      </p:to>
                                    </p:set>
                                    <p:animEffect transition="in" filter="wipe(down)">
                                      <p:cBhvr>
                                        <p:cTn id="23" dur="500"/>
                                        <p:tgtEl>
                                          <p:spTgt spid="1802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26" grpId="0" bldLvl="0" animBg="1" autoUpdateAnimBg="0"/>
      <p:bldP spid="180227" grpId="0" bldLvl="0" animBg="1" autoUpdateAnimBg="0"/>
      <p:bldP spid="180228" grpId="0" bldLvl="0" animBg="1" autoUpdateAnimBg="0"/>
      <p:bldP spid="180229" grpId="0" bldLvl="0" animBg="1"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ChangeArrowheads="1"/>
          </p:cNvSpPr>
          <p:nvPr/>
        </p:nvSpPr>
        <p:spPr bwMode="auto">
          <a:xfrm>
            <a:off x="457200" y="609600"/>
            <a:ext cx="8348663" cy="163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800" b="1"/>
              <a:t>        例如</a:t>
            </a:r>
            <a:r>
              <a:rPr lang="en-US" altLang="zh-CN" sz="2800" b="1"/>
              <a:t>:</a:t>
            </a:r>
            <a:r>
              <a:rPr lang="zh-CN" altLang="en-US" sz="2800" b="1"/>
              <a:t>研究某批灯泡的寿命时，关心的数量指标就是寿命，那么，此总体就可以用随机变量</a:t>
            </a:r>
            <a:r>
              <a:rPr lang="en-US" altLang="zh-CN" sz="2800" b="1"/>
              <a:t>X</a:t>
            </a:r>
            <a:r>
              <a:rPr lang="zh-CN" altLang="en-US" sz="2800" b="1"/>
              <a:t>表示，或用其分布函数</a:t>
            </a:r>
            <a:r>
              <a:rPr lang="en-US" altLang="zh-CN" sz="2800" b="1" i="1"/>
              <a:t>F</a:t>
            </a:r>
            <a:r>
              <a:rPr lang="en-US" altLang="zh-CN" sz="2800" b="1"/>
              <a:t>(</a:t>
            </a:r>
            <a:r>
              <a:rPr lang="en-US" altLang="zh-CN" sz="2800" b="1" i="1"/>
              <a:t>x</a:t>
            </a:r>
            <a:r>
              <a:rPr lang="en-US" altLang="zh-CN" sz="2800" b="1"/>
              <a:t>)</a:t>
            </a:r>
            <a:r>
              <a:rPr lang="zh-CN" altLang="en-US" sz="2800" b="1"/>
              <a:t>表示</a:t>
            </a:r>
            <a:r>
              <a:rPr lang="en-US" altLang="zh-CN" sz="2800" b="1"/>
              <a:t>.</a:t>
            </a:r>
          </a:p>
        </p:txBody>
      </p:sp>
      <p:grpSp>
        <p:nvGrpSpPr>
          <p:cNvPr id="181251" name="Group 3"/>
          <p:cNvGrpSpPr/>
          <p:nvPr/>
        </p:nvGrpSpPr>
        <p:grpSpPr bwMode="auto">
          <a:xfrm>
            <a:off x="596900" y="4343400"/>
            <a:ext cx="1981200" cy="2057400"/>
            <a:chOff x="432" y="2784"/>
            <a:chExt cx="1248" cy="1296"/>
          </a:xfrm>
        </p:grpSpPr>
        <p:sp>
          <p:nvSpPr>
            <p:cNvPr id="10263" name="Rectangle 4"/>
            <p:cNvSpPr>
              <a:spLocks noChangeArrowheads="1"/>
            </p:cNvSpPr>
            <p:nvPr/>
          </p:nvSpPr>
          <p:spPr bwMode="auto">
            <a:xfrm>
              <a:off x="432" y="2784"/>
              <a:ext cx="1248" cy="1296"/>
            </a:xfrm>
            <a:prstGeom prst="rect">
              <a:avLst/>
            </a:prstGeom>
            <a:solidFill>
              <a:srgbClr val="FFFFE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a:t>某批</a:t>
              </a:r>
            </a:p>
            <a:p>
              <a:pPr algn="ctr" eaLnBrk="1" hangingPunct="1"/>
              <a:r>
                <a:rPr lang="zh-CN" altLang="en-US" b="1"/>
                <a:t>灯泡的寿命</a:t>
              </a:r>
            </a:p>
            <a:p>
              <a:pPr algn="ctr" eaLnBrk="1" hangingPunct="1"/>
              <a:endParaRPr lang="zh-CN" altLang="en-US" b="1"/>
            </a:p>
          </p:txBody>
        </p:sp>
        <p:graphicFrame>
          <p:nvGraphicFramePr>
            <p:cNvPr id="10264" name="Object 5"/>
            <p:cNvGraphicFramePr>
              <a:graphicFrameLocks noChangeAspect="1"/>
            </p:cNvGraphicFramePr>
            <p:nvPr/>
          </p:nvGraphicFramePr>
          <p:xfrm>
            <a:off x="912" y="3539"/>
            <a:ext cx="300" cy="541"/>
          </p:xfrm>
          <a:graphic>
            <a:graphicData uri="http://schemas.openxmlformats.org/presentationml/2006/ole">
              <mc:AlternateContent xmlns:mc="http://schemas.openxmlformats.org/markup-compatibility/2006">
                <mc:Choice xmlns:v="urn:schemas-microsoft-com:vml" Requires="v">
                  <p:oleObj spid="_x0000_s10582" name="剪辑" r:id="rId3" imgW="2478405" imgH="4460875" progId="MS_ClipArt_Gallery.2">
                    <p:embed/>
                  </p:oleObj>
                </mc:Choice>
                <mc:Fallback>
                  <p:oleObj name="剪辑" r:id="rId3" imgW="2478405" imgH="4460875" progId="MS_ClipArt_Gallery.2">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2" y="3539"/>
                          <a:ext cx="300" cy="541"/>
                        </a:xfrm>
                        <a:prstGeom prst="rect">
                          <a:avLst/>
                        </a:prstGeom>
                        <a:solidFill>
                          <a:srgbClr val="FFFFE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81254" name="Group 6"/>
          <p:cNvGrpSpPr/>
          <p:nvPr/>
        </p:nvGrpSpPr>
        <p:grpSpPr bwMode="auto">
          <a:xfrm>
            <a:off x="531813" y="2517775"/>
            <a:ext cx="3219450" cy="1752600"/>
            <a:chOff x="864" y="1056"/>
            <a:chExt cx="2028" cy="1104"/>
          </a:xfrm>
        </p:grpSpPr>
        <p:graphicFrame>
          <p:nvGraphicFramePr>
            <p:cNvPr id="10250" name="Object 7"/>
            <p:cNvGraphicFramePr>
              <a:graphicFrameLocks noChangeAspect="1"/>
            </p:cNvGraphicFramePr>
            <p:nvPr/>
          </p:nvGraphicFramePr>
          <p:xfrm>
            <a:off x="900" y="1584"/>
            <a:ext cx="300" cy="541"/>
          </p:xfrm>
          <a:graphic>
            <a:graphicData uri="http://schemas.openxmlformats.org/presentationml/2006/ole">
              <mc:AlternateContent xmlns:mc="http://schemas.openxmlformats.org/markup-compatibility/2006">
                <mc:Choice xmlns:v="urn:schemas-microsoft-com:vml" Requires="v">
                  <p:oleObj spid="_x0000_s10583" name="剪辑" r:id="rId5" imgW="2478405" imgH="4460875" progId="MS_ClipArt_Gallery.2">
                    <p:embed/>
                  </p:oleObj>
                </mc:Choice>
                <mc:Fallback>
                  <p:oleObj name="剪辑" r:id="rId5" imgW="2478405" imgH="4460875" progId="MS_ClipArt_Gallery.2">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 y="1584"/>
                          <a:ext cx="300" cy="5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1" name="Object 8"/>
            <p:cNvGraphicFramePr>
              <a:graphicFrameLocks noChangeAspect="1"/>
            </p:cNvGraphicFramePr>
            <p:nvPr/>
          </p:nvGraphicFramePr>
          <p:xfrm>
            <a:off x="1488" y="1619"/>
            <a:ext cx="300" cy="541"/>
          </p:xfrm>
          <a:graphic>
            <a:graphicData uri="http://schemas.openxmlformats.org/presentationml/2006/ole">
              <mc:AlternateContent xmlns:mc="http://schemas.openxmlformats.org/markup-compatibility/2006">
                <mc:Choice xmlns:v="urn:schemas-microsoft-com:vml" Requires="v">
                  <p:oleObj spid="_x0000_s10584" name="剪辑" r:id="rId6" imgW="2478405" imgH="4460875" progId="MS_ClipArt_Gallery.2">
                    <p:embed/>
                  </p:oleObj>
                </mc:Choice>
                <mc:Fallback>
                  <p:oleObj name="剪辑" r:id="rId6" imgW="2478405" imgH="4460875" progId="MS_ClipArt_Gallery.2">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8" y="1619"/>
                          <a:ext cx="300" cy="5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2" name="Object 9"/>
            <p:cNvGraphicFramePr>
              <a:graphicFrameLocks noChangeAspect="1"/>
            </p:cNvGraphicFramePr>
            <p:nvPr/>
          </p:nvGraphicFramePr>
          <p:xfrm>
            <a:off x="2544" y="1571"/>
            <a:ext cx="300" cy="541"/>
          </p:xfrm>
          <a:graphic>
            <a:graphicData uri="http://schemas.openxmlformats.org/presentationml/2006/ole">
              <mc:AlternateContent xmlns:mc="http://schemas.openxmlformats.org/markup-compatibility/2006">
                <mc:Choice xmlns:v="urn:schemas-microsoft-com:vml" Requires="v">
                  <p:oleObj spid="_x0000_s10585" name="剪辑" r:id="rId7" imgW="2478405" imgH="4460875" progId="MS_ClipArt_Gallery.2">
                    <p:embed/>
                  </p:oleObj>
                </mc:Choice>
                <mc:Fallback>
                  <p:oleObj name="剪辑" r:id="rId7" imgW="2478405" imgH="4460875" progId="MS_ClipArt_Gallery.2">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4" y="1571"/>
                          <a:ext cx="300" cy="5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3" name="Object 10"/>
            <p:cNvGraphicFramePr>
              <a:graphicFrameLocks noChangeAspect="1"/>
            </p:cNvGraphicFramePr>
            <p:nvPr/>
          </p:nvGraphicFramePr>
          <p:xfrm>
            <a:off x="864" y="1056"/>
            <a:ext cx="300" cy="541"/>
          </p:xfrm>
          <a:graphic>
            <a:graphicData uri="http://schemas.openxmlformats.org/presentationml/2006/ole">
              <mc:AlternateContent xmlns:mc="http://schemas.openxmlformats.org/markup-compatibility/2006">
                <mc:Choice xmlns:v="urn:schemas-microsoft-com:vml" Requires="v">
                  <p:oleObj spid="_x0000_s10586" name="剪辑" r:id="rId8" imgW="2478405" imgH="4460875" progId="MS_ClipArt_Gallery.2">
                    <p:embed/>
                  </p:oleObj>
                </mc:Choice>
                <mc:Fallback>
                  <p:oleObj name="剪辑" r:id="rId8" imgW="2478405" imgH="4460875" progId="MS_ClipArt_Gallery.2">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4" y="1056"/>
                          <a:ext cx="300" cy="5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4" name="Object 11"/>
            <p:cNvGraphicFramePr>
              <a:graphicFrameLocks noChangeAspect="1"/>
            </p:cNvGraphicFramePr>
            <p:nvPr/>
          </p:nvGraphicFramePr>
          <p:xfrm>
            <a:off x="1200" y="1056"/>
            <a:ext cx="300" cy="541"/>
          </p:xfrm>
          <a:graphic>
            <a:graphicData uri="http://schemas.openxmlformats.org/presentationml/2006/ole">
              <mc:AlternateContent xmlns:mc="http://schemas.openxmlformats.org/markup-compatibility/2006">
                <mc:Choice xmlns:v="urn:schemas-microsoft-com:vml" Requires="v">
                  <p:oleObj spid="_x0000_s10587" name="剪辑" r:id="rId9" imgW="2478405" imgH="4460875" progId="MS_ClipArt_Gallery.2">
                    <p:embed/>
                  </p:oleObj>
                </mc:Choice>
                <mc:Fallback>
                  <p:oleObj name="剪辑" r:id="rId9" imgW="2478405" imgH="4460875" progId="MS_ClipArt_Gallery.2">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0" y="1056"/>
                          <a:ext cx="300" cy="5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5" name="Object 12"/>
            <p:cNvGraphicFramePr>
              <a:graphicFrameLocks noChangeAspect="1"/>
            </p:cNvGraphicFramePr>
            <p:nvPr/>
          </p:nvGraphicFramePr>
          <p:xfrm>
            <a:off x="2592" y="1056"/>
            <a:ext cx="300" cy="541"/>
          </p:xfrm>
          <a:graphic>
            <a:graphicData uri="http://schemas.openxmlformats.org/presentationml/2006/ole">
              <mc:AlternateContent xmlns:mc="http://schemas.openxmlformats.org/markup-compatibility/2006">
                <mc:Choice xmlns:v="urn:schemas-microsoft-com:vml" Requires="v">
                  <p:oleObj spid="_x0000_s10588" name="剪辑" r:id="rId10" imgW="2478405" imgH="4460875" progId="MS_ClipArt_Gallery.2">
                    <p:embed/>
                  </p:oleObj>
                </mc:Choice>
                <mc:Fallback>
                  <p:oleObj name="剪辑" r:id="rId10" imgW="2478405" imgH="4460875" progId="MS_ClipArt_Gallery.2">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2" y="1056"/>
                          <a:ext cx="300" cy="5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6" name="Object 13"/>
            <p:cNvGraphicFramePr>
              <a:graphicFrameLocks noChangeAspect="1"/>
            </p:cNvGraphicFramePr>
            <p:nvPr/>
          </p:nvGraphicFramePr>
          <p:xfrm>
            <a:off x="2208" y="1056"/>
            <a:ext cx="300" cy="541"/>
          </p:xfrm>
          <a:graphic>
            <a:graphicData uri="http://schemas.openxmlformats.org/presentationml/2006/ole">
              <mc:AlternateContent xmlns:mc="http://schemas.openxmlformats.org/markup-compatibility/2006">
                <mc:Choice xmlns:v="urn:schemas-microsoft-com:vml" Requires="v">
                  <p:oleObj spid="_x0000_s10589" name="剪辑" r:id="rId11" imgW="2478405" imgH="4460875" progId="MS_ClipArt_Gallery.2">
                    <p:embed/>
                  </p:oleObj>
                </mc:Choice>
                <mc:Fallback>
                  <p:oleObj name="剪辑" r:id="rId11" imgW="2478405" imgH="4460875" progId="MS_ClipArt_Gallery.2">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8" y="1056"/>
                          <a:ext cx="300" cy="5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7" name="Object 14"/>
            <p:cNvGraphicFramePr>
              <a:graphicFrameLocks noChangeAspect="1"/>
            </p:cNvGraphicFramePr>
            <p:nvPr/>
          </p:nvGraphicFramePr>
          <p:xfrm>
            <a:off x="1872" y="1056"/>
            <a:ext cx="300" cy="541"/>
          </p:xfrm>
          <a:graphic>
            <a:graphicData uri="http://schemas.openxmlformats.org/presentationml/2006/ole">
              <mc:AlternateContent xmlns:mc="http://schemas.openxmlformats.org/markup-compatibility/2006">
                <mc:Choice xmlns:v="urn:schemas-microsoft-com:vml" Requires="v">
                  <p:oleObj spid="_x0000_s10590" name="剪辑" r:id="rId12" imgW="2478405" imgH="4460875" progId="MS_ClipArt_Gallery.2">
                    <p:embed/>
                  </p:oleObj>
                </mc:Choice>
                <mc:Fallback>
                  <p:oleObj name="剪辑" r:id="rId12" imgW="2478405" imgH="4460875" progId="MS_ClipArt_Gallery.2">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2" y="1056"/>
                          <a:ext cx="300" cy="5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8" name="Object 15"/>
            <p:cNvGraphicFramePr>
              <a:graphicFrameLocks noChangeAspect="1"/>
            </p:cNvGraphicFramePr>
            <p:nvPr/>
          </p:nvGraphicFramePr>
          <p:xfrm>
            <a:off x="1536" y="1056"/>
            <a:ext cx="300" cy="541"/>
          </p:xfrm>
          <a:graphic>
            <a:graphicData uri="http://schemas.openxmlformats.org/presentationml/2006/ole">
              <mc:AlternateContent xmlns:mc="http://schemas.openxmlformats.org/markup-compatibility/2006">
                <mc:Choice xmlns:v="urn:schemas-microsoft-com:vml" Requires="v">
                  <p:oleObj spid="_x0000_s10591" name="剪辑" r:id="rId13" imgW="2478405" imgH="4460875" progId="MS_ClipArt_Gallery.2">
                    <p:embed/>
                  </p:oleObj>
                </mc:Choice>
                <mc:Fallback>
                  <p:oleObj name="剪辑" r:id="rId13" imgW="2478405" imgH="4460875" progId="MS_ClipArt_Gallery.2">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6" y="1056"/>
                          <a:ext cx="300" cy="5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9" name="Object 16"/>
            <p:cNvGraphicFramePr>
              <a:graphicFrameLocks noChangeAspect="1"/>
            </p:cNvGraphicFramePr>
            <p:nvPr/>
          </p:nvGraphicFramePr>
          <p:xfrm>
            <a:off x="1872" y="1571"/>
            <a:ext cx="300" cy="541"/>
          </p:xfrm>
          <a:graphic>
            <a:graphicData uri="http://schemas.openxmlformats.org/presentationml/2006/ole">
              <mc:AlternateContent xmlns:mc="http://schemas.openxmlformats.org/markup-compatibility/2006">
                <mc:Choice xmlns:v="urn:schemas-microsoft-com:vml" Requires="v">
                  <p:oleObj spid="_x0000_s10592" name="剪辑" r:id="rId14" imgW="2478405" imgH="4460875" progId="MS_ClipArt_Gallery.2">
                    <p:embed/>
                  </p:oleObj>
                </mc:Choice>
                <mc:Fallback>
                  <p:oleObj name="剪辑" r:id="rId14" imgW="2478405" imgH="4460875" progId="MS_ClipArt_Gallery.2">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2" y="1571"/>
                          <a:ext cx="300" cy="5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60" name="Object 17"/>
            <p:cNvGraphicFramePr>
              <a:graphicFrameLocks noChangeAspect="1"/>
            </p:cNvGraphicFramePr>
            <p:nvPr/>
          </p:nvGraphicFramePr>
          <p:xfrm>
            <a:off x="2208" y="1571"/>
            <a:ext cx="300" cy="541"/>
          </p:xfrm>
          <a:graphic>
            <a:graphicData uri="http://schemas.openxmlformats.org/presentationml/2006/ole">
              <mc:AlternateContent xmlns:mc="http://schemas.openxmlformats.org/markup-compatibility/2006">
                <mc:Choice xmlns:v="urn:schemas-microsoft-com:vml" Requires="v">
                  <p:oleObj spid="_x0000_s10593" name="剪辑" r:id="rId15" imgW="2478405" imgH="4460875" progId="MS_ClipArt_Gallery.2">
                    <p:embed/>
                  </p:oleObj>
                </mc:Choice>
                <mc:Fallback>
                  <p:oleObj name="剪辑" r:id="rId15" imgW="2478405" imgH="4460875" progId="MS_ClipArt_Gallery.2">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8" y="1571"/>
                          <a:ext cx="300" cy="5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61" name="Object 18"/>
            <p:cNvGraphicFramePr>
              <a:graphicFrameLocks noChangeAspect="1"/>
            </p:cNvGraphicFramePr>
            <p:nvPr/>
          </p:nvGraphicFramePr>
          <p:xfrm>
            <a:off x="1212" y="1571"/>
            <a:ext cx="300" cy="541"/>
          </p:xfrm>
          <a:graphic>
            <a:graphicData uri="http://schemas.openxmlformats.org/presentationml/2006/ole">
              <mc:AlternateContent xmlns:mc="http://schemas.openxmlformats.org/markup-compatibility/2006">
                <mc:Choice xmlns:v="urn:schemas-microsoft-com:vml" Requires="v">
                  <p:oleObj spid="_x0000_s10594" name="剪辑" r:id="rId16" imgW="2478405" imgH="4460875" progId="MS_ClipArt_Gallery.2">
                    <p:embed/>
                  </p:oleObj>
                </mc:Choice>
                <mc:Fallback>
                  <p:oleObj name="剪辑" r:id="rId16" imgW="2478405" imgH="4460875" progId="MS_ClipArt_Gallery.2">
                    <p:embed/>
                    <p:pic>
                      <p:nvPicPr>
                        <p:cNvPr id="0"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2" y="1571"/>
                          <a:ext cx="300" cy="5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62" name="Rectangle 19"/>
            <p:cNvSpPr>
              <a:spLocks noChangeArrowheads="1"/>
            </p:cNvSpPr>
            <p:nvPr/>
          </p:nvSpPr>
          <p:spPr bwMode="auto">
            <a:xfrm>
              <a:off x="1680" y="1296"/>
              <a:ext cx="758"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4000" b="1">
                  <a:solidFill>
                    <a:srgbClr val="FF5050"/>
                  </a:solidFill>
                </a:rPr>
                <a:t>总体</a:t>
              </a:r>
              <a:endParaRPr lang="zh-CN" altLang="zh-CN" sz="4000" b="1"/>
            </a:p>
          </p:txBody>
        </p:sp>
      </p:grpSp>
      <p:sp>
        <p:nvSpPr>
          <p:cNvPr id="181268" name="AutoShape 20"/>
          <p:cNvSpPr>
            <a:spLocks noChangeArrowheads="1"/>
          </p:cNvSpPr>
          <p:nvPr/>
        </p:nvSpPr>
        <p:spPr bwMode="auto">
          <a:xfrm>
            <a:off x="4343400" y="3521075"/>
            <a:ext cx="2951163" cy="441325"/>
          </a:xfrm>
          <a:prstGeom prst="rightArrow">
            <a:avLst>
              <a:gd name="adj1" fmla="val 50000"/>
              <a:gd name="adj2" fmla="val 167176"/>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1269" name="Rectangle 21"/>
          <p:cNvSpPr>
            <a:spLocks noChangeArrowheads="1"/>
          </p:cNvSpPr>
          <p:nvPr/>
        </p:nvSpPr>
        <p:spPr bwMode="auto">
          <a:xfrm>
            <a:off x="4059238" y="2465388"/>
            <a:ext cx="3595687"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a:t>   </a:t>
            </a:r>
            <a:r>
              <a:rPr lang="zh-CN" altLang="en-US" sz="2800" b="1"/>
              <a:t>寿命 </a:t>
            </a:r>
            <a:r>
              <a:rPr lang="en-US" altLang="zh-CN" sz="2800" b="1" i="1"/>
              <a:t>X </a:t>
            </a:r>
            <a:r>
              <a:rPr lang="zh-CN" altLang="en-US" sz="2800" b="1"/>
              <a:t>可用一概率</a:t>
            </a:r>
          </a:p>
          <a:p>
            <a:pPr eaLnBrk="1" hangingPunct="1"/>
            <a:r>
              <a:rPr lang="zh-CN" altLang="en-US" sz="2800" b="1"/>
              <a:t>（指数）分布来刻划</a:t>
            </a:r>
          </a:p>
        </p:txBody>
      </p:sp>
      <p:sp>
        <p:nvSpPr>
          <p:cNvPr id="181270" name="Rectangle 22"/>
          <p:cNvSpPr>
            <a:spLocks noChangeArrowheads="1"/>
          </p:cNvSpPr>
          <p:nvPr/>
        </p:nvSpPr>
        <p:spPr bwMode="auto">
          <a:xfrm>
            <a:off x="3043238" y="4725988"/>
            <a:ext cx="4827587" cy="1458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800" b="1"/>
              <a:t>鉴于此，常用随机变量的记号</a:t>
            </a:r>
          </a:p>
          <a:p>
            <a:pPr eaLnBrk="1" hangingPunct="1"/>
            <a:r>
              <a:rPr lang="zh-CN" altLang="en-US" sz="2800" b="1"/>
              <a:t>或用其分布函数表示总体</a:t>
            </a:r>
            <a:r>
              <a:rPr lang="en-US" altLang="zh-CN" sz="2800" b="1"/>
              <a:t>.  </a:t>
            </a:r>
            <a:r>
              <a:rPr lang="zh-CN" altLang="en-US" sz="2800" b="1"/>
              <a:t>如</a:t>
            </a:r>
          </a:p>
          <a:p>
            <a:pPr eaLnBrk="1" hangingPunct="1"/>
            <a:r>
              <a:rPr lang="zh-CN" altLang="en-US" sz="2800" b="1"/>
              <a:t>说总体</a:t>
            </a:r>
            <a:r>
              <a:rPr lang="en-US" altLang="zh-CN" sz="2800" b="1" i="1"/>
              <a:t>X</a:t>
            </a:r>
            <a:r>
              <a:rPr lang="zh-CN" altLang="en-US" sz="2800" b="1"/>
              <a:t>或总体</a:t>
            </a:r>
            <a:r>
              <a:rPr lang="en-US" altLang="zh-CN" sz="2800" b="1" i="1"/>
              <a:t>F</a:t>
            </a:r>
            <a:r>
              <a:rPr lang="en-US" altLang="zh-CN" sz="2800" b="1"/>
              <a:t>(</a:t>
            </a:r>
            <a:r>
              <a:rPr lang="en-US" altLang="zh-CN" sz="2800" b="1" i="1"/>
              <a:t>x</a:t>
            </a:r>
            <a:r>
              <a:rPr lang="en-US" altLang="zh-CN" sz="2800" b="1"/>
              <a:t>) .</a:t>
            </a:r>
          </a:p>
        </p:txBody>
      </p:sp>
      <p:graphicFrame>
        <p:nvGraphicFramePr>
          <p:cNvPr id="10248" name="Object 23"/>
          <p:cNvGraphicFramePr>
            <a:graphicFrameLocks noChangeAspect="1"/>
          </p:cNvGraphicFramePr>
          <p:nvPr/>
        </p:nvGraphicFramePr>
        <p:xfrm>
          <a:off x="4324350" y="3676650"/>
          <a:ext cx="190500" cy="419100"/>
        </p:xfrm>
        <a:graphic>
          <a:graphicData uri="http://schemas.openxmlformats.org/presentationml/2006/ole">
            <mc:AlternateContent xmlns:mc="http://schemas.openxmlformats.org/markup-compatibility/2006">
              <mc:Choice xmlns:v="urn:schemas-microsoft-com:vml" Requires="v">
                <p:oleObj spid="_x0000_s10595" name="公式" r:id="rId17" imgW="190500" imgH="419100" progId="Equation.3">
                  <p:embed/>
                </p:oleObj>
              </mc:Choice>
              <mc:Fallback>
                <p:oleObj name="公式" r:id="rId17" imgW="190500" imgH="419100" progId="Equation.3">
                  <p:embed/>
                  <p:pic>
                    <p:nvPicPr>
                      <p:cNvPr id="0" name="Object 2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324350" y="3676650"/>
                        <a:ext cx="1905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1272" name="Object 24"/>
          <p:cNvGraphicFramePr>
            <a:graphicFrameLocks noChangeAspect="1"/>
          </p:cNvGraphicFramePr>
          <p:nvPr/>
        </p:nvGraphicFramePr>
        <p:xfrm>
          <a:off x="4267200" y="4114800"/>
          <a:ext cx="4013200" cy="419100"/>
        </p:xfrm>
        <a:graphic>
          <a:graphicData uri="http://schemas.openxmlformats.org/presentationml/2006/ole">
            <mc:AlternateContent xmlns:mc="http://schemas.openxmlformats.org/markup-compatibility/2006">
              <mc:Choice xmlns:v="urn:schemas-microsoft-com:vml" Requires="v">
                <p:oleObj spid="_x0000_s10596" name="公式" r:id="rId19" imgW="3990975" imgH="404495" progId="Equation.3">
                  <p:embed/>
                </p:oleObj>
              </mc:Choice>
              <mc:Fallback>
                <p:oleObj name="公式" r:id="rId19" imgW="3990975" imgH="404495" progId="Equation.3">
                  <p:embed/>
                  <p:pic>
                    <p:nvPicPr>
                      <p:cNvPr id="0" name="Object 2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267200" y="4114800"/>
                        <a:ext cx="4013200" cy="419100"/>
                      </a:xfrm>
                      <a:prstGeom prst="rect">
                        <a:avLst/>
                      </a:prstGeom>
                      <a:solidFill>
                        <a:srgbClr val="FFFFE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181250"/>
                                        </p:tgtEl>
                                        <p:attrNameLst>
                                          <p:attrName>style.visibility</p:attrName>
                                        </p:attrNameLst>
                                      </p:cBhvr>
                                      <p:to>
                                        <p:strVal val="visible"/>
                                      </p:to>
                                    </p:set>
                                    <p:animEffect transition="in" filter="barn(outVertical)">
                                      <p:cBhvr>
                                        <p:cTn id="7" dur="500"/>
                                        <p:tgtEl>
                                          <p:spTgt spid="18125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81254"/>
                                        </p:tgtEl>
                                        <p:attrNameLst>
                                          <p:attrName>style.visibility</p:attrName>
                                        </p:attrNameLst>
                                      </p:cBhvr>
                                      <p:to>
                                        <p:strVal val="visible"/>
                                      </p:to>
                                    </p:set>
                                    <p:anim calcmode="lin" valueType="num">
                                      <p:cBhvr additive="base">
                                        <p:cTn id="12" dur="500" fill="hold"/>
                                        <p:tgtEl>
                                          <p:spTgt spid="181254"/>
                                        </p:tgtEl>
                                        <p:attrNameLst>
                                          <p:attrName>ppt_x</p:attrName>
                                        </p:attrNameLst>
                                      </p:cBhvr>
                                      <p:tavLst>
                                        <p:tav tm="0">
                                          <p:val>
                                            <p:strVal val="#ppt_x"/>
                                          </p:val>
                                        </p:tav>
                                        <p:tav tm="100000">
                                          <p:val>
                                            <p:strVal val="#ppt_x"/>
                                          </p:val>
                                        </p:tav>
                                      </p:tavLst>
                                    </p:anim>
                                    <p:anim calcmode="lin" valueType="num">
                                      <p:cBhvr additive="base">
                                        <p:cTn id="13" dur="500" fill="hold"/>
                                        <p:tgtEl>
                                          <p:spTgt spid="181254"/>
                                        </p:tgtEl>
                                        <p:attrNameLst>
                                          <p:attrName>ppt_y</p:attrName>
                                        </p:attrNameLst>
                                      </p:cBhvr>
                                      <p:tavLst>
                                        <p:tav tm="0">
                                          <p:val>
                                            <p:strVal val="1+#ppt_h/2"/>
                                          </p:val>
                                        </p:tav>
                                        <p:tav tm="100000">
                                          <p:val>
                                            <p:strVal val="#ppt_y"/>
                                          </p:val>
                                        </p:tav>
                                      </p:tavLst>
                                    </p:anim>
                                  </p:childTnLst>
                                </p:cTn>
                              </p:par>
                            </p:childTnLst>
                          </p:cTn>
                        </p:par>
                        <p:par>
                          <p:cTn id="14" fill="hold">
                            <p:stCondLst>
                              <p:cond delay="500"/>
                            </p:stCondLst>
                            <p:childTnLst>
                              <p:par>
                                <p:cTn id="15" presetID="2" presetClass="entr" presetSubtype="4" fill="hold" nodeType="afterEffect">
                                  <p:stCondLst>
                                    <p:cond delay="0"/>
                                  </p:stCondLst>
                                  <p:childTnLst>
                                    <p:set>
                                      <p:cBhvr>
                                        <p:cTn id="16" dur="1" fill="hold">
                                          <p:stCondLst>
                                            <p:cond delay="0"/>
                                          </p:stCondLst>
                                        </p:cTn>
                                        <p:tgtEl>
                                          <p:spTgt spid="181251"/>
                                        </p:tgtEl>
                                        <p:attrNameLst>
                                          <p:attrName>style.visibility</p:attrName>
                                        </p:attrNameLst>
                                      </p:cBhvr>
                                      <p:to>
                                        <p:strVal val="visible"/>
                                      </p:to>
                                    </p:set>
                                    <p:anim calcmode="lin" valueType="num">
                                      <p:cBhvr additive="base">
                                        <p:cTn id="17" dur="500" fill="hold"/>
                                        <p:tgtEl>
                                          <p:spTgt spid="181251"/>
                                        </p:tgtEl>
                                        <p:attrNameLst>
                                          <p:attrName>ppt_x</p:attrName>
                                        </p:attrNameLst>
                                      </p:cBhvr>
                                      <p:tavLst>
                                        <p:tav tm="0">
                                          <p:val>
                                            <p:strVal val="#ppt_x"/>
                                          </p:val>
                                        </p:tav>
                                        <p:tav tm="100000">
                                          <p:val>
                                            <p:strVal val="#ppt_x"/>
                                          </p:val>
                                        </p:tav>
                                      </p:tavLst>
                                    </p:anim>
                                    <p:anim calcmode="lin" valueType="num">
                                      <p:cBhvr additive="base">
                                        <p:cTn id="18" dur="500" fill="hold"/>
                                        <p:tgtEl>
                                          <p:spTgt spid="181251"/>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81268"/>
                                        </p:tgtEl>
                                        <p:attrNameLst>
                                          <p:attrName>style.visibility</p:attrName>
                                        </p:attrNameLst>
                                      </p:cBhvr>
                                      <p:to>
                                        <p:strVal val="visible"/>
                                      </p:to>
                                    </p:set>
                                    <p:animEffect transition="in" filter="wipe(left)">
                                      <p:cBhvr>
                                        <p:cTn id="23" dur="500"/>
                                        <p:tgtEl>
                                          <p:spTgt spid="181268"/>
                                        </p:tgtEl>
                                      </p:cBhvr>
                                    </p:animEffect>
                                  </p:childTnLst>
                                </p:cTn>
                              </p:par>
                            </p:childTnLst>
                          </p:cTn>
                        </p:par>
                        <p:par>
                          <p:cTn id="24" fill="hold">
                            <p:stCondLst>
                              <p:cond delay="500"/>
                            </p:stCondLst>
                            <p:childTnLst>
                              <p:par>
                                <p:cTn id="25" presetID="1" presetClass="entr" presetSubtype="0" fill="hold" grpId="0" nodeType="afterEffect">
                                  <p:stCondLst>
                                    <p:cond delay="0"/>
                                  </p:stCondLst>
                                  <p:childTnLst>
                                    <p:set>
                                      <p:cBhvr>
                                        <p:cTn id="26" dur="1" fill="hold">
                                          <p:stCondLst>
                                            <p:cond delay="499"/>
                                          </p:stCondLst>
                                        </p:cTn>
                                        <p:tgtEl>
                                          <p:spTgt spid="18126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181272"/>
                                        </p:tgtEl>
                                        <p:attrNameLst>
                                          <p:attrName>style.visibility</p:attrName>
                                        </p:attrNameLst>
                                      </p:cBhvr>
                                      <p:to>
                                        <p:strVal val="visible"/>
                                      </p:to>
                                    </p:set>
                                    <p:animEffect transition="in" filter="wipe(down)">
                                      <p:cBhvr>
                                        <p:cTn id="31" dur="500"/>
                                        <p:tgtEl>
                                          <p:spTgt spid="181272"/>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81270"/>
                                        </p:tgtEl>
                                        <p:attrNameLst>
                                          <p:attrName>style.visibility</p:attrName>
                                        </p:attrNameLst>
                                      </p:cBhvr>
                                      <p:to>
                                        <p:strVal val="visible"/>
                                      </p:to>
                                    </p:set>
                                    <p:anim calcmode="lin" valueType="num">
                                      <p:cBhvr additive="base">
                                        <p:cTn id="36" dur="500" fill="hold"/>
                                        <p:tgtEl>
                                          <p:spTgt spid="181270"/>
                                        </p:tgtEl>
                                        <p:attrNameLst>
                                          <p:attrName>ppt_x</p:attrName>
                                        </p:attrNameLst>
                                      </p:cBhvr>
                                      <p:tavLst>
                                        <p:tav tm="0">
                                          <p:val>
                                            <p:strVal val="#ppt_x"/>
                                          </p:val>
                                        </p:tav>
                                        <p:tav tm="100000">
                                          <p:val>
                                            <p:strVal val="#ppt_x"/>
                                          </p:val>
                                        </p:tav>
                                      </p:tavLst>
                                    </p:anim>
                                    <p:anim calcmode="lin" valueType="num">
                                      <p:cBhvr additive="base">
                                        <p:cTn id="37" dur="500" fill="hold"/>
                                        <p:tgtEl>
                                          <p:spTgt spid="1812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0" grpId="0" bldLvl="0" animBg="1" autoUpdateAnimBg="0"/>
      <p:bldP spid="181268" grpId="0" bldLvl="0" animBg="1"/>
      <p:bldP spid="181269" grpId="0" bldLvl="0" animBg="1" autoUpdateAnimBg="0"/>
      <p:bldP spid="181270" grpId="0" bldLvl="0" animBg="1"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Text Box 2"/>
          <p:cNvSpPr txBox="1">
            <a:spLocks noChangeArrowheads="1"/>
          </p:cNvSpPr>
          <p:nvPr/>
        </p:nvSpPr>
        <p:spPr bwMode="auto">
          <a:xfrm>
            <a:off x="457200" y="685800"/>
            <a:ext cx="8208963" cy="2214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3200" b="1"/>
              <a:t>       </a:t>
            </a:r>
            <a:r>
              <a:rPr lang="zh-CN" altLang="en-US" sz="2800" b="1"/>
              <a:t>类似地，在研究某地区中学生的营养状况时 ，若关心的数量指标是身高和体重，我们用</a:t>
            </a:r>
            <a:r>
              <a:rPr lang="en-US" altLang="zh-CN" sz="2800" b="1" i="1"/>
              <a:t>X </a:t>
            </a:r>
            <a:r>
              <a:rPr lang="zh-CN" altLang="en-US" sz="2800" b="1"/>
              <a:t>和</a:t>
            </a:r>
            <a:r>
              <a:rPr lang="en-US" altLang="zh-CN" sz="2800" b="1" i="1"/>
              <a:t>Y </a:t>
            </a:r>
            <a:r>
              <a:rPr lang="zh-CN" altLang="en-US" sz="2800" b="1"/>
              <a:t>分别表示身高和体重，那么此总体就可用二维随机变量</a:t>
            </a:r>
            <a:r>
              <a:rPr lang="en-US" altLang="zh-CN" sz="2800" b="1"/>
              <a:t>(</a:t>
            </a:r>
            <a:r>
              <a:rPr lang="en-US" altLang="zh-CN" sz="2800" b="1" i="1"/>
              <a:t>X</a:t>
            </a:r>
            <a:r>
              <a:rPr lang="en-US" altLang="zh-CN" sz="2800" b="1"/>
              <a:t>,</a:t>
            </a:r>
            <a:r>
              <a:rPr lang="en-US" altLang="zh-CN" sz="2800" b="1" i="1"/>
              <a:t>Y</a:t>
            </a:r>
            <a:r>
              <a:rPr lang="en-US" altLang="zh-CN" sz="2800" b="1"/>
              <a:t>)</a:t>
            </a:r>
            <a:r>
              <a:rPr lang="zh-CN" altLang="en-US" sz="2800" b="1"/>
              <a:t>或其联合分布函数 </a:t>
            </a:r>
            <a:r>
              <a:rPr lang="en-US" altLang="zh-CN" sz="2800" b="1" i="1"/>
              <a:t>F</a:t>
            </a:r>
            <a:r>
              <a:rPr lang="en-US" altLang="zh-CN" sz="2800" b="1"/>
              <a:t>(</a:t>
            </a:r>
            <a:r>
              <a:rPr lang="en-US" altLang="zh-CN" sz="2800" b="1" i="1"/>
              <a:t>x</a:t>
            </a:r>
            <a:r>
              <a:rPr lang="en-US" altLang="zh-CN" sz="2800" b="1"/>
              <a:t>,</a:t>
            </a:r>
            <a:r>
              <a:rPr lang="en-US" altLang="zh-CN" sz="2800" b="1" i="1"/>
              <a:t>y</a:t>
            </a:r>
            <a:r>
              <a:rPr lang="en-US" altLang="zh-CN" sz="2800" b="1"/>
              <a:t>)</a:t>
            </a:r>
            <a:r>
              <a:rPr lang="zh-CN" altLang="en-US" sz="2800" b="1"/>
              <a:t>来表示</a:t>
            </a:r>
            <a:r>
              <a:rPr lang="en-US" altLang="zh-CN" sz="2800" b="1"/>
              <a:t>.</a:t>
            </a:r>
          </a:p>
        </p:txBody>
      </p:sp>
      <p:sp>
        <p:nvSpPr>
          <p:cNvPr id="182275" name="AutoShape 3"/>
          <p:cNvSpPr>
            <a:spLocks noChangeArrowheads="1"/>
          </p:cNvSpPr>
          <p:nvPr/>
        </p:nvSpPr>
        <p:spPr bwMode="auto">
          <a:xfrm>
            <a:off x="1187624" y="3429000"/>
            <a:ext cx="6248400" cy="1584325"/>
          </a:xfrm>
          <a:prstGeom prst="wedgeRectCallout">
            <a:avLst>
              <a:gd name="adj1" fmla="val -24491"/>
              <a:gd name="adj2" fmla="val 43287"/>
            </a:avLst>
          </a:prstGeom>
          <a:solidFill>
            <a:srgbClr val="FFFFE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       统计中，总体这个概念的要旨是：</a:t>
            </a:r>
          </a:p>
          <a:p>
            <a:pPr eaLnBrk="1" hangingPunct="1"/>
            <a:r>
              <a:rPr lang="zh-CN" altLang="en-US" sz="2800" b="1" dirty="0">
                <a:solidFill>
                  <a:schemeClr val="accent2"/>
                </a:solidFill>
              </a:rPr>
              <a:t>总体就是一个随机变量</a:t>
            </a:r>
            <a:r>
              <a:rPr lang="en-US" altLang="zh-CN" sz="2800" b="1" dirty="0">
                <a:solidFill>
                  <a:schemeClr val="accent2"/>
                </a:solidFill>
              </a:rPr>
              <a:t>(</a:t>
            </a:r>
            <a:r>
              <a:rPr lang="zh-CN" altLang="en-US" sz="2800" b="1" dirty="0">
                <a:solidFill>
                  <a:schemeClr val="accent2"/>
                </a:solidFill>
              </a:rPr>
              <a:t>向量</a:t>
            </a:r>
            <a:r>
              <a:rPr lang="en-US" altLang="zh-CN" sz="2800" b="1" dirty="0">
                <a:solidFill>
                  <a:schemeClr val="accent2"/>
                </a:solidFill>
              </a:rPr>
              <a:t>)</a:t>
            </a:r>
            <a:r>
              <a:rPr lang="zh-CN" altLang="en-US" sz="2800" b="1" dirty="0">
                <a:solidFill>
                  <a:schemeClr val="accent2"/>
                </a:solidFill>
              </a:rPr>
              <a:t>或一个概</a:t>
            </a:r>
          </a:p>
          <a:p>
            <a:pPr eaLnBrk="1" hangingPunct="1"/>
            <a:r>
              <a:rPr lang="zh-CN" altLang="en-US" sz="2800" b="1" dirty="0">
                <a:solidFill>
                  <a:schemeClr val="accent2"/>
                </a:solidFill>
              </a:rPr>
              <a:t>率分布</a:t>
            </a:r>
            <a:r>
              <a:rPr lang="en-US" altLang="zh-CN" sz="2800" b="1" dirty="0">
                <a:solidFill>
                  <a:schemeClr val="accent2"/>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182274"/>
                                        </p:tgtEl>
                                        <p:attrNameLst>
                                          <p:attrName>style.visibility</p:attrName>
                                        </p:attrNameLst>
                                      </p:cBhvr>
                                      <p:to>
                                        <p:strVal val="visible"/>
                                      </p:to>
                                    </p:set>
                                    <p:animEffect transition="in" filter="barn(outVertical)">
                                      <p:cBhvr>
                                        <p:cTn id="7" dur="500"/>
                                        <p:tgtEl>
                                          <p:spTgt spid="18227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82275"/>
                                        </p:tgtEl>
                                        <p:attrNameLst>
                                          <p:attrName>style.visibility</p:attrName>
                                        </p:attrNameLst>
                                      </p:cBhvr>
                                      <p:to>
                                        <p:strVal val="visible"/>
                                      </p:to>
                                    </p:set>
                                    <p:animEffect transition="in" filter="slide(fromBottom)">
                                      <p:cBhvr>
                                        <p:cTn id="12" dur="500"/>
                                        <p:tgtEl>
                                          <p:spTgt spid="182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4" grpId="0" bldLvl="0" animBg="1" autoUpdateAnimBg="0"/>
      <p:bldP spid="182275" grpId="0" bldLvl="0" animBg="1"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ChangeArrowheads="1"/>
          </p:cNvSpPr>
          <p:nvPr/>
        </p:nvSpPr>
        <p:spPr bwMode="auto">
          <a:xfrm>
            <a:off x="457200" y="457200"/>
            <a:ext cx="3124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chemeClr val="accent2"/>
                </a:solidFill>
                <a:latin typeface="楷体_GB2312" pitchFamily="49" charset="-122"/>
                <a:ea typeface="楷体_GB2312" pitchFamily="49" charset="-122"/>
              </a:rPr>
              <a:t>2</a:t>
            </a:r>
            <a:r>
              <a:rPr lang="zh-CN" altLang="en-US" sz="2800" b="1">
                <a:solidFill>
                  <a:schemeClr val="accent2"/>
                </a:solidFill>
                <a:latin typeface="楷体_GB2312" pitchFamily="49" charset="-122"/>
                <a:ea typeface="楷体_GB2312" pitchFamily="49" charset="-122"/>
              </a:rPr>
              <a:t>、</a:t>
            </a:r>
            <a:r>
              <a:rPr lang="zh-CN" altLang="en-US" sz="2800" b="1">
                <a:solidFill>
                  <a:schemeClr val="accent2"/>
                </a:solidFill>
              </a:rPr>
              <a:t>样本</a:t>
            </a:r>
          </a:p>
        </p:txBody>
      </p:sp>
      <p:sp>
        <p:nvSpPr>
          <p:cNvPr id="183299" name="Text Box 3"/>
          <p:cNvSpPr txBox="1">
            <a:spLocks noChangeArrowheads="1"/>
          </p:cNvSpPr>
          <p:nvPr/>
        </p:nvSpPr>
        <p:spPr bwMode="auto">
          <a:xfrm>
            <a:off x="762000" y="1219200"/>
            <a:ext cx="7543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         </a:t>
            </a:r>
            <a:r>
              <a:rPr lang="zh-CN" altLang="en-US" sz="2800" b="1"/>
              <a:t>总体中抽出若干个体而成的集体</a:t>
            </a:r>
            <a:r>
              <a:rPr lang="en-US" altLang="zh-CN" sz="2800" b="1"/>
              <a:t>,</a:t>
            </a:r>
            <a:r>
              <a:rPr lang="zh-CN" altLang="en-US" sz="2800" b="1"/>
              <a:t>称为</a:t>
            </a:r>
            <a:r>
              <a:rPr lang="zh-CN" altLang="en-US" sz="2800" b="1">
                <a:solidFill>
                  <a:schemeClr val="accent2"/>
                </a:solidFill>
              </a:rPr>
              <a:t>样本</a:t>
            </a:r>
            <a:r>
              <a:rPr lang="zh-CN" altLang="en-US" sz="2800" b="1"/>
              <a:t>。样本中所含个体的个数，称为</a:t>
            </a:r>
            <a:r>
              <a:rPr lang="zh-CN" altLang="en-US" sz="2800" b="1">
                <a:solidFill>
                  <a:schemeClr val="accent2"/>
                </a:solidFill>
              </a:rPr>
              <a:t>样本容量</a:t>
            </a:r>
            <a:r>
              <a:rPr lang="zh-CN" altLang="en-US" sz="2800" b="1"/>
              <a:t>。</a:t>
            </a:r>
          </a:p>
        </p:txBody>
      </p:sp>
      <p:grpSp>
        <p:nvGrpSpPr>
          <p:cNvPr id="183300" name="Group 4"/>
          <p:cNvGrpSpPr/>
          <p:nvPr/>
        </p:nvGrpSpPr>
        <p:grpSpPr bwMode="auto">
          <a:xfrm>
            <a:off x="0" y="2895600"/>
            <a:ext cx="8686800" cy="2370138"/>
            <a:chOff x="144" y="2160"/>
            <a:chExt cx="5472" cy="1493"/>
          </a:xfrm>
        </p:grpSpPr>
        <p:pic>
          <p:nvPicPr>
            <p:cNvPr id="12295" name="Picture 5" descr="小汽车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4" y="2389"/>
              <a:ext cx="1584" cy="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6" name="Picture 6" descr="小汽车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6" y="2685"/>
              <a:ext cx="1584" cy="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7" name="Picture 7" descr="小汽车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2" y="3021"/>
              <a:ext cx="1584" cy="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8" name="Picture 8" descr="小汽车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28" y="2341"/>
              <a:ext cx="1584" cy="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9" name="Picture 9" descr="小汽车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68" y="2843"/>
              <a:ext cx="1584" cy="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00" name="Rectangle 10"/>
            <p:cNvSpPr>
              <a:spLocks noChangeArrowheads="1"/>
            </p:cNvSpPr>
            <p:nvPr/>
          </p:nvSpPr>
          <p:spPr bwMode="auto">
            <a:xfrm>
              <a:off x="3470" y="2160"/>
              <a:ext cx="2146"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从国产轿车中抽</a:t>
              </a:r>
              <a:r>
                <a:rPr lang="en-US" altLang="zh-CN" sz="2800" b="1"/>
                <a:t>5</a:t>
              </a:r>
              <a:r>
                <a:rPr lang="zh-CN" altLang="en-US" sz="2800" b="1"/>
                <a:t>辆进行耗油量试验</a:t>
              </a:r>
            </a:p>
          </p:txBody>
        </p:sp>
      </p:grpSp>
      <p:sp>
        <p:nvSpPr>
          <p:cNvPr id="183307" name="Rectangle 11"/>
          <p:cNvSpPr>
            <a:spLocks noChangeArrowheads="1"/>
          </p:cNvSpPr>
          <p:nvPr/>
        </p:nvSpPr>
        <p:spPr bwMode="auto">
          <a:xfrm>
            <a:off x="5911850" y="3743325"/>
            <a:ext cx="21478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样本容量为</a:t>
            </a:r>
            <a:r>
              <a:rPr lang="en-US" altLang="zh-CN" sz="2800" b="1"/>
              <a:t>5</a:t>
            </a:r>
            <a:endParaRPr lang="en-US" altLang="zh-CN" sz="3200" b="1"/>
          </a:p>
        </p:txBody>
      </p:sp>
      <p:sp>
        <p:nvSpPr>
          <p:cNvPr id="183308" name="Rectangle 12"/>
          <p:cNvSpPr>
            <a:spLocks noChangeArrowheads="1"/>
          </p:cNvSpPr>
          <p:nvPr/>
        </p:nvSpPr>
        <p:spPr bwMode="auto">
          <a:xfrm>
            <a:off x="5307013" y="4386263"/>
            <a:ext cx="3406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抽到哪</a:t>
            </a:r>
            <a:r>
              <a:rPr lang="en-US" altLang="zh-CN" sz="2800" b="1"/>
              <a:t>5</a:t>
            </a:r>
            <a:r>
              <a:rPr lang="zh-CN" altLang="en-US" sz="2800" b="1"/>
              <a:t>辆是随机的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3298"/>
                                        </p:tgtEl>
                                        <p:attrNameLst>
                                          <p:attrName>style.visibility</p:attrName>
                                        </p:attrNameLst>
                                      </p:cBhvr>
                                      <p:to>
                                        <p:strVal val="visible"/>
                                      </p:to>
                                    </p:set>
                                    <p:animEffect transition="in" filter="wipe(left)">
                                      <p:cBhvr>
                                        <p:cTn id="7" dur="500"/>
                                        <p:tgtEl>
                                          <p:spTgt spid="18329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83299"/>
                                        </p:tgtEl>
                                        <p:attrNameLst>
                                          <p:attrName>style.visibility</p:attrName>
                                        </p:attrNameLst>
                                      </p:cBhvr>
                                      <p:to>
                                        <p:strVal val="visible"/>
                                      </p:to>
                                    </p:set>
                                    <p:anim calcmode="lin" valueType="num">
                                      <p:cBhvr additive="base">
                                        <p:cTn id="12" dur="500" fill="hold"/>
                                        <p:tgtEl>
                                          <p:spTgt spid="183299"/>
                                        </p:tgtEl>
                                        <p:attrNameLst>
                                          <p:attrName>ppt_x</p:attrName>
                                        </p:attrNameLst>
                                      </p:cBhvr>
                                      <p:tavLst>
                                        <p:tav tm="0">
                                          <p:val>
                                            <p:strVal val="0-#ppt_w/2"/>
                                          </p:val>
                                        </p:tav>
                                        <p:tav tm="100000">
                                          <p:val>
                                            <p:strVal val="#ppt_x"/>
                                          </p:val>
                                        </p:tav>
                                      </p:tavLst>
                                    </p:anim>
                                    <p:anim calcmode="lin" valueType="num">
                                      <p:cBhvr additive="base">
                                        <p:cTn id="13" dur="500" fill="hold"/>
                                        <p:tgtEl>
                                          <p:spTgt spid="183299"/>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183300"/>
                                        </p:tgtEl>
                                        <p:attrNameLst>
                                          <p:attrName>style.visibility</p:attrName>
                                        </p:attrNameLst>
                                      </p:cBhvr>
                                      <p:to>
                                        <p:strVal val="visible"/>
                                      </p:to>
                                    </p:set>
                                    <p:animEffect transition="in" filter="blinds(horizontal)">
                                      <p:cBhvr>
                                        <p:cTn id="18" dur="500"/>
                                        <p:tgtEl>
                                          <p:spTgt spid="183300"/>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183307"/>
                                        </p:tgtEl>
                                        <p:attrNameLst>
                                          <p:attrName>style.visibility</p:attrName>
                                        </p:attrNameLst>
                                      </p:cBhvr>
                                      <p:to>
                                        <p:strVal val="visible"/>
                                      </p:to>
                                    </p:set>
                                    <p:animEffect transition="in" filter="wipe(down)">
                                      <p:cBhvr>
                                        <p:cTn id="23" dur="500"/>
                                        <p:tgtEl>
                                          <p:spTgt spid="18330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183308"/>
                                        </p:tgtEl>
                                        <p:attrNameLst>
                                          <p:attrName>style.visibility</p:attrName>
                                        </p:attrNameLst>
                                      </p:cBhvr>
                                      <p:to>
                                        <p:strVal val="visible"/>
                                      </p:to>
                                    </p:set>
                                    <p:animEffect transition="in" filter="wipe(down)">
                                      <p:cBhvr>
                                        <p:cTn id="28" dur="500"/>
                                        <p:tgtEl>
                                          <p:spTgt spid="183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298" grpId="0" bldLvl="0" animBg="1" autoUpdateAnimBg="0"/>
      <p:bldP spid="183299" grpId="0" bldLvl="0" animBg="1" autoUpdateAnimBg="0"/>
      <p:bldP spid="183307" grpId="0" bldLvl="0" animBg="1" autoUpdateAnimBg="0"/>
      <p:bldP spid="183308" grpId="0" bldLvl="0" animBg="1"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Rectangle 2"/>
          <p:cNvSpPr>
            <a:spLocks noChangeArrowheads="1"/>
          </p:cNvSpPr>
          <p:nvPr/>
        </p:nvSpPr>
        <p:spPr bwMode="blackWhite">
          <a:xfrm>
            <a:off x="528638" y="2351832"/>
            <a:ext cx="3827462"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latin typeface="楷体_GB2312" pitchFamily="49" charset="-122"/>
                <a:ea typeface="楷体_GB2312" pitchFamily="49" charset="-122"/>
              </a:rPr>
              <a:t>(2) </a:t>
            </a:r>
            <a:r>
              <a:rPr lang="zh-CN" altLang="en-US" sz="2800" b="1">
                <a:solidFill>
                  <a:schemeClr val="accent2"/>
                </a:solidFill>
                <a:latin typeface="楷体_GB2312" pitchFamily="49" charset="-122"/>
                <a:ea typeface="楷体_GB2312" pitchFamily="49" charset="-122"/>
              </a:rPr>
              <a:t>独立性：</a:t>
            </a:r>
            <a:endParaRPr lang="zh-CN" altLang="en-US" sz="2800" b="1">
              <a:latin typeface="楷体_GB2312" pitchFamily="49" charset="-122"/>
              <a:ea typeface="楷体_GB2312" pitchFamily="49" charset="-122"/>
            </a:endParaRPr>
          </a:p>
        </p:txBody>
      </p:sp>
      <p:sp>
        <p:nvSpPr>
          <p:cNvPr id="39939" name="Rectangle 3"/>
          <p:cNvSpPr>
            <a:spLocks noChangeArrowheads="1"/>
          </p:cNvSpPr>
          <p:nvPr/>
        </p:nvSpPr>
        <p:spPr bwMode="blackWhite">
          <a:xfrm>
            <a:off x="684213" y="621457"/>
            <a:ext cx="5410200"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800" b="1">
                <a:solidFill>
                  <a:srgbClr val="FF0000"/>
                </a:solidFill>
                <a:latin typeface="楷体_GB2312" pitchFamily="49" charset="-122"/>
                <a:ea typeface="楷体_GB2312" pitchFamily="49" charset="-122"/>
              </a:rPr>
              <a:t>它要求抽取的样本满足下面两点</a:t>
            </a:r>
            <a:r>
              <a:rPr lang="en-US" altLang="zh-CN" sz="2800" b="1">
                <a:solidFill>
                  <a:srgbClr val="FF0000"/>
                </a:solidFill>
                <a:latin typeface="楷体_GB2312" pitchFamily="49" charset="-122"/>
                <a:ea typeface="楷体_GB2312" pitchFamily="49" charset="-122"/>
              </a:rPr>
              <a:t>:</a:t>
            </a:r>
          </a:p>
        </p:txBody>
      </p:sp>
      <p:sp>
        <p:nvSpPr>
          <p:cNvPr id="39940" name="Text Box 4"/>
          <p:cNvSpPr txBox="1">
            <a:spLocks noChangeArrowheads="1"/>
          </p:cNvSpPr>
          <p:nvPr/>
        </p:nvSpPr>
        <p:spPr bwMode="blackWhite">
          <a:xfrm>
            <a:off x="533400" y="1207135"/>
            <a:ext cx="292989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latin typeface="楷体_GB2312" pitchFamily="49" charset="-122"/>
                <a:ea typeface="楷体_GB2312" pitchFamily="49" charset="-122"/>
              </a:rPr>
              <a:t>(1) </a:t>
            </a:r>
            <a:r>
              <a:rPr lang="zh-CN" altLang="en-US" sz="2800" b="1">
                <a:solidFill>
                  <a:schemeClr val="accent2"/>
                </a:solidFill>
                <a:latin typeface="楷体_GB2312" pitchFamily="49" charset="-122"/>
                <a:ea typeface="楷体_GB2312" pitchFamily="49" charset="-122"/>
              </a:rPr>
              <a:t>代表性</a:t>
            </a:r>
            <a:r>
              <a:rPr lang="zh-CN" altLang="en-US" sz="2800" b="1">
                <a:latin typeface="楷体_GB2312" pitchFamily="49" charset="-122"/>
                <a:ea typeface="楷体_GB2312" pitchFamily="49" charset="-122"/>
              </a:rPr>
              <a:t>：</a:t>
            </a:r>
          </a:p>
        </p:txBody>
      </p:sp>
      <p:sp>
        <p:nvSpPr>
          <p:cNvPr id="39941" name="Text Box 5"/>
          <p:cNvSpPr txBox="1">
            <a:spLocks noChangeArrowheads="1"/>
          </p:cNvSpPr>
          <p:nvPr/>
        </p:nvSpPr>
        <p:spPr bwMode="blackWhite">
          <a:xfrm>
            <a:off x="539750" y="142032"/>
            <a:ext cx="4470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latin typeface="楷体_GB2312" pitchFamily="49" charset="-122"/>
                <a:ea typeface="楷体_GB2312" pitchFamily="49" charset="-122"/>
              </a:rPr>
              <a:t>最常用的一种抽样方法叫作</a:t>
            </a:r>
          </a:p>
        </p:txBody>
      </p:sp>
      <p:sp>
        <p:nvSpPr>
          <p:cNvPr id="39942" name="Rectangle 6"/>
          <p:cNvSpPr>
            <a:spLocks noGrp="1" noChangeArrowheads="1"/>
          </p:cNvSpPr>
          <p:nvPr>
            <p:ph type="title" idx="4294967295"/>
          </p:nvPr>
        </p:nvSpPr>
        <p:spPr bwMode="blackWhite">
          <a:xfrm>
            <a:off x="5060950" y="116632"/>
            <a:ext cx="3227388" cy="533400"/>
          </a:xfrm>
          <a:noFill/>
        </p:spPr>
        <p:txBody>
          <a:bodyPr/>
          <a:lstStyle/>
          <a:p>
            <a:r>
              <a:rPr lang="zh-CN" altLang="en-US" sz="2400">
                <a:solidFill>
                  <a:srgbClr val="0000FF"/>
                </a:solidFill>
                <a:ea typeface="楷体_GB2312" pitchFamily="49" charset="-122"/>
              </a:rPr>
              <a:t>“</a:t>
            </a:r>
            <a:r>
              <a:rPr lang="zh-CN" altLang="en-US" sz="2400">
                <a:solidFill>
                  <a:srgbClr val="0000FF"/>
                </a:solidFill>
                <a:latin typeface="楷体_GB2312" pitchFamily="49" charset="-122"/>
                <a:ea typeface="楷体_GB2312" pitchFamily="49" charset="-122"/>
              </a:rPr>
              <a:t>简单随机抽样</a:t>
            </a:r>
            <a:r>
              <a:rPr lang="zh-CN" altLang="en-US" sz="2400">
                <a:solidFill>
                  <a:srgbClr val="0000FF"/>
                </a:solidFill>
                <a:ea typeface="楷体_GB2312" pitchFamily="49" charset="-122"/>
              </a:rPr>
              <a:t>”</a:t>
            </a:r>
            <a:r>
              <a:rPr lang="zh-CN" altLang="en-US" sz="2400">
                <a:solidFill>
                  <a:srgbClr val="0000FF"/>
                </a:solidFill>
                <a:latin typeface="楷体_GB2312" pitchFamily="49" charset="-122"/>
                <a:ea typeface="楷体_GB2312" pitchFamily="49" charset="-122"/>
              </a:rPr>
              <a:t>。</a:t>
            </a:r>
            <a:endParaRPr lang="zh-CN" altLang="en-US">
              <a:solidFill>
                <a:srgbClr val="0000FF"/>
              </a:solidFill>
            </a:endParaRPr>
          </a:p>
        </p:txBody>
      </p:sp>
      <p:sp>
        <p:nvSpPr>
          <p:cNvPr id="39945" name="Text Box 9"/>
          <p:cNvSpPr txBox="1">
            <a:spLocks noChangeArrowheads="1"/>
          </p:cNvSpPr>
          <p:nvPr/>
        </p:nvSpPr>
        <p:spPr bwMode="blackWhite">
          <a:xfrm>
            <a:off x="3012758" y="1209467"/>
            <a:ext cx="483044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ea typeface="楷体_GB2312" pitchFamily="49" charset="-122"/>
              </a:rPr>
              <a:t>从总体中抽取的样本中每一个</a:t>
            </a:r>
          </a:p>
        </p:txBody>
      </p:sp>
      <p:sp>
        <p:nvSpPr>
          <p:cNvPr id="39946" name="Text Box 10"/>
          <p:cNvSpPr txBox="1">
            <a:spLocks noChangeArrowheads="1"/>
          </p:cNvSpPr>
          <p:nvPr/>
        </p:nvSpPr>
        <p:spPr bwMode="blackWhite">
          <a:xfrm>
            <a:off x="609600" y="1742232"/>
            <a:ext cx="527240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2800" b="1" i="1">
                <a:ea typeface="楷体_GB2312" pitchFamily="49" charset="-122"/>
              </a:rPr>
              <a:t>X</a:t>
            </a:r>
            <a:r>
              <a:rPr lang="en-US" altLang="zh-CN" sz="2800" b="1" i="1" baseline="-25000">
                <a:ea typeface="楷体_GB2312" pitchFamily="49" charset="-122"/>
              </a:rPr>
              <a:t>k</a:t>
            </a:r>
            <a:r>
              <a:rPr lang="en-US" altLang="zh-CN" sz="2800" b="1">
                <a:ea typeface="楷体_GB2312" pitchFamily="49" charset="-122"/>
              </a:rPr>
              <a:t> </a:t>
            </a:r>
            <a:r>
              <a:rPr lang="zh-CN" altLang="en-US" sz="2800" b="1">
                <a:latin typeface="楷体_GB2312" pitchFamily="49" charset="-122"/>
                <a:ea typeface="楷体_GB2312" pitchFamily="49" charset="-122"/>
                <a:sym typeface="+mn-ea"/>
              </a:rPr>
              <a:t>与所考察的总体有相同的分布</a:t>
            </a:r>
            <a:endParaRPr lang="en-US" altLang="zh-CN" sz="2800" b="1">
              <a:ea typeface="楷体_GB2312" pitchFamily="49" charset="-122"/>
            </a:endParaRPr>
          </a:p>
        </p:txBody>
      </p:sp>
      <p:sp>
        <p:nvSpPr>
          <p:cNvPr id="39948" name="Text Box 12"/>
          <p:cNvSpPr txBox="1">
            <a:spLocks noChangeArrowheads="1"/>
          </p:cNvSpPr>
          <p:nvPr/>
        </p:nvSpPr>
        <p:spPr bwMode="blackWhite">
          <a:xfrm>
            <a:off x="3203575" y="2837607"/>
            <a:ext cx="39354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latin typeface="楷体_GB2312" pitchFamily="49" charset="-122"/>
                <a:ea typeface="楷体_GB2312" pitchFamily="49" charset="-122"/>
              </a:rPr>
              <a:t>是相互独立的随机变量</a:t>
            </a:r>
            <a:r>
              <a:rPr lang="en-US" altLang="zh-CN" sz="2800" b="1">
                <a:latin typeface="楷体_GB2312" pitchFamily="49" charset="-122"/>
                <a:ea typeface="楷体_GB2312" pitchFamily="49" charset="-122"/>
              </a:rPr>
              <a:t>.</a:t>
            </a:r>
            <a:endParaRPr lang="en-US" altLang="zh-CN" sz="2800" b="1">
              <a:ea typeface="楷体_GB2312" pitchFamily="49" charset="-122"/>
            </a:endParaRPr>
          </a:p>
        </p:txBody>
      </p:sp>
      <p:graphicFrame>
        <p:nvGraphicFramePr>
          <p:cNvPr id="39949" name="Object 13"/>
          <p:cNvGraphicFramePr>
            <a:graphicFrameLocks noChangeAspect="1"/>
          </p:cNvGraphicFramePr>
          <p:nvPr/>
        </p:nvGraphicFramePr>
        <p:xfrm>
          <a:off x="1187450" y="2896345"/>
          <a:ext cx="2012950" cy="496887"/>
        </p:xfrm>
        <a:graphic>
          <a:graphicData uri="http://schemas.openxmlformats.org/presentationml/2006/ole">
            <mc:AlternateContent xmlns:mc="http://schemas.openxmlformats.org/markup-compatibility/2006">
              <mc:Choice xmlns:v="urn:schemas-microsoft-com:vml" Requires="v">
                <p:oleObj spid="_x0000_s13372" name="Equation" r:id="rId3" imgW="1114425" imgH="259715" progId="Equation.DSMT4">
                  <p:embed/>
                </p:oleObj>
              </mc:Choice>
              <mc:Fallback>
                <p:oleObj name="Equation" r:id="rId3" imgW="1114425" imgH="259715" progId="Equation.DSMT4">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White">
                      <a:xfrm>
                        <a:off x="1187450" y="2896345"/>
                        <a:ext cx="2012950" cy="496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50" name="Rectangle 14"/>
          <p:cNvSpPr>
            <a:spLocks noChangeArrowheads="1"/>
          </p:cNvSpPr>
          <p:nvPr/>
        </p:nvSpPr>
        <p:spPr bwMode="blackWhite">
          <a:xfrm>
            <a:off x="916940" y="5242194"/>
            <a:ext cx="5791200" cy="607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latin typeface="楷体_GB2312" pitchFamily="49" charset="-122"/>
                <a:ea typeface="楷体_GB2312" pitchFamily="49" charset="-122"/>
              </a:rPr>
              <a:t>就指简单随机样本</a:t>
            </a:r>
            <a:r>
              <a:rPr lang="en-US" altLang="zh-CN" sz="2800" b="1">
                <a:latin typeface="楷体_GB2312" pitchFamily="49" charset="-122"/>
                <a:ea typeface="楷体_GB2312" pitchFamily="49" charset="-122"/>
              </a:rPr>
              <a:t>.</a:t>
            </a:r>
          </a:p>
        </p:txBody>
      </p:sp>
      <p:sp>
        <p:nvSpPr>
          <p:cNvPr id="39951" name="Text Box 15"/>
          <p:cNvSpPr txBox="1">
            <a:spLocks noChangeArrowheads="1"/>
          </p:cNvSpPr>
          <p:nvPr/>
        </p:nvSpPr>
        <p:spPr bwMode="blackWhite">
          <a:xfrm>
            <a:off x="684213" y="3540235"/>
            <a:ext cx="62563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latin typeface="楷体_GB2312" pitchFamily="49" charset="-122"/>
                <a:ea typeface="楷体_GB2312" pitchFamily="49" charset="-122"/>
              </a:rPr>
              <a:t>简单随机样本是应用中最常见的情形，</a:t>
            </a:r>
          </a:p>
        </p:txBody>
      </p:sp>
      <p:sp>
        <p:nvSpPr>
          <p:cNvPr id="39952" name="Text Box 16"/>
          <p:cNvSpPr txBox="1">
            <a:spLocks noChangeArrowheads="1"/>
          </p:cNvSpPr>
          <p:nvPr/>
        </p:nvSpPr>
        <p:spPr bwMode="blackWhite">
          <a:xfrm>
            <a:off x="785495" y="4059030"/>
            <a:ext cx="19700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latin typeface="楷体_GB2312" pitchFamily="49" charset="-122"/>
                <a:ea typeface="楷体_GB2312" pitchFamily="49" charset="-122"/>
              </a:rPr>
              <a:t>今后当说到</a:t>
            </a:r>
          </a:p>
        </p:txBody>
      </p:sp>
      <p:sp>
        <p:nvSpPr>
          <p:cNvPr id="39953" name="Text Box 17"/>
          <p:cNvSpPr txBox="1">
            <a:spLocks noChangeArrowheads="1"/>
          </p:cNvSpPr>
          <p:nvPr/>
        </p:nvSpPr>
        <p:spPr bwMode="blackWhite">
          <a:xfrm>
            <a:off x="962343" y="4725145"/>
            <a:ext cx="61769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ea typeface="楷体_GB2312" pitchFamily="49" charset="-122"/>
              </a:rPr>
              <a:t>“</a:t>
            </a:r>
            <a:r>
              <a:rPr lang="en-US" altLang="zh-CN" sz="2800" b="1" i="1">
                <a:ea typeface="楷体_GB2312" pitchFamily="49" charset="-122"/>
              </a:rPr>
              <a:t>X</a:t>
            </a:r>
            <a:r>
              <a:rPr lang="en-US" altLang="zh-CN" sz="2800" b="1" baseline="-25000">
                <a:ea typeface="楷体_GB2312" pitchFamily="49" charset="-122"/>
              </a:rPr>
              <a:t>1</a:t>
            </a:r>
            <a:r>
              <a:rPr lang="en-US" altLang="zh-CN" sz="2800" b="1">
                <a:ea typeface="楷体_GB2312" pitchFamily="49" charset="-122"/>
              </a:rPr>
              <a:t>,</a:t>
            </a:r>
            <a:r>
              <a:rPr lang="en-US" altLang="zh-CN" sz="2800" b="1" i="1">
                <a:ea typeface="楷体_GB2312" pitchFamily="49" charset="-122"/>
              </a:rPr>
              <a:t>X</a:t>
            </a:r>
            <a:r>
              <a:rPr lang="en-US" altLang="zh-CN" sz="2800" b="1" baseline="-25000">
                <a:ea typeface="楷体_GB2312" pitchFamily="49" charset="-122"/>
              </a:rPr>
              <a:t>2</a:t>
            </a:r>
            <a:r>
              <a:rPr lang="en-US" altLang="zh-CN" sz="2800" b="1">
                <a:ea typeface="楷体_GB2312" pitchFamily="49" charset="-122"/>
              </a:rPr>
              <a:t>,…,</a:t>
            </a:r>
            <a:r>
              <a:rPr lang="en-US" altLang="zh-CN" sz="2800" b="1" i="1">
                <a:ea typeface="楷体_GB2312" pitchFamily="49" charset="-122"/>
              </a:rPr>
              <a:t>X</a:t>
            </a:r>
            <a:r>
              <a:rPr lang="en-US" altLang="zh-CN" sz="2800" b="1" i="1" baseline="-25000">
                <a:ea typeface="楷体_GB2312" pitchFamily="49" charset="-122"/>
              </a:rPr>
              <a:t>n</a:t>
            </a:r>
            <a:r>
              <a:rPr lang="zh-CN" altLang="en-US" sz="2800" b="1">
                <a:latin typeface="楷体_GB2312" pitchFamily="49" charset="-122"/>
                <a:ea typeface="楷体_GB2312" pitchFamily="49" charset="-122"/>
              </a:rPr>
              <a:t>是取自某总体的样本</a:t>
            </a:r>
            <a:r>
              <a:rPr lang="zh-CN" altLang="en-US" sz="2800" b="1">
                <a:ea typeface="楷体_GB2312" pitchFamily="49" charset="-122"/>
              </a:rPr>
              <a:t>”</a:t>
            </a:r>
            <a:r>
              <a:rPr lang="zh-CN" altLang="en-US" sz="2800" b="1">
                <a:latin typeface="楷体_GB2312" pitchFamily="49" charset="-122"/>
                <a:ea typeface="楷体_GB2312" pitchFamily="49" charset="-122"/>
              </a:rPr>
              <a:t>时，</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9941">
                                            <p:txEl>
                                              <p:pRg st="0" end="0"/>
                                            </p:txEl>
                                          </p:spTgt>
                                        </p:tgtEl>
                                        <p:attrNameLst>
                                          <p:attrName>style.visibility</p:attrName>
                                        </p:attrNameLst>
                                      </p:cBhvr>
                                      <p:to>
                                        <p:strVal val="visible"/>
                                      </p:to>
                                    </p:set>
                                    <p:animEffect transition="in" filter="wipe(left)">
                                      <p:cBhvr>
                                        <p:cTn id="7" dur="500"/>
                                        <p:tgtEl>
                                          <p:spTgt spid="3994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9942">
                                            <p:txEl>
                                              <p:pRg st="0" end="0"/>
                                            </p:txEl>
                                          </p:spTgt>
                                        </p:tgtEl>
                                        <p:attrNameLst>
                                          <p:attrName>style.visibility</p:attrName>
                                        </p:attrNameLst>
                                      </p:cBhvr>
                                      <p:to>
                                        <p:strVal val="visible"/>
                                      </p:to>
                                    </p:set>
                                    <p:animEffect transition="in" filter="wipe(left)">
                                      <p:cBhvr>
                                        <p:cTn id="12" dur="500"/>
                                        <p:tgtEl>
                                          <p:spTgt spid="3994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39939"/>
                                        </p:tgtEl>
                                        <p:attrNameLst>
                                          <p:attrName>style.visibility</p:attrName>
                                        </p:attrNameLst>
                                      </p:cBhvr>
                                      <p:to>
                                        <p:strVal val="visible"/>
                                      </p:to>
                                    </p:set>
                                    <p:animEffect transition="in" filter="barn(outHorizontal)">
                                      <p:cBhvr>
                                        <p:cTn id="17" dur="500"/>
                                        <p:tgtEl>
                                          <p:spTgt spid="3993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9940"/>
                                        </p:tgtEl>
                                        <p:attrNameLst>
                                          <p:attrName>style.visibility</p:attrName>
                                        </p:attrNameLst>
                                      </p:cBhvr>
                                      <p:to>
                                        <p:strVal val="visible"/>
                                      </p:to>
                                    </p:set>
                                    <p:animEffect transition="in" filter="wipe(left)">
                                      <p:cBhvr>
                                        <p:cTn id="22" dur="500"/>
                                        <p:tgtEl>
                                          <p:spTgt spid="3994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9945">
                                            <p:txEl>
                                              <p:pRg st="0" end="0"/>
                                            </p:txEl>
                                          </p:spTgt>
                                        </p:tgtEl>
                                        <p:attrNameLst>
                                          <p:attrName>style.visibility</p:attrName>
                                        </p:attrNameLst>
                                      </p:cBhvr>
                                      <p:to>
                                        <p:strVal val="visible"/>
                                      </p:to>
                                    </p:set>
                                    <p:animEffect transition="in" filter="wipe(left)">
                                      <p:cBhvr>
                                        <p:cTn id="27" dur="500"/>
                                        <p:tgtEl>
                                          <p:spTgt spid="39945">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9946">
                                            <p:txEl>
                                              <p:pRg st="0" end="0"/>
                                            </p:txEl>
                                          </p:spTgt>
                                        </p:tgtEl>
                                        <p:attrNameLst>
                                          <p:attrName>style.visibility</p:attrName>
                                        </p:attrNameLst>
                                      </p:cBhvr>
                                      <p:to>
                                        <p:strVal val="visible"/>
                                      </p:to>
                                    </p:set>
                                    <p:animEffect transition="in" filter="wipe(left)">
                                      <p:cBhvr>
                                        <p:cTn id="32" dur="500"/>
                                        <p:tgtEl>
                                          <p:spTgt spid="39946">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9938"/>
                                        </p:tgtEl>
                                        <p:attrNameLst>
                                          <p:attrName>style.visibility</p:attrName>
                                        </p:attrNameLst>
                                      </p:cBhvr>
                                      <p:to>
                                        <p:strVal val="visible"/>
                                      </p:to>
                                    </p:set>
                                    <p:animEffect transition="in" filter="wipe(left)">
                                      <p:cBhvr>
                                        <p:cTn id="37" dur="500"/>
                                        <p:tgtEl>
                                          <p:spTgt spid="3993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9949"/>
                                        </p:tgtEl>
                                        <p:attrNameLst>
                                          <p:attrName>style.visibility</p:attrName>
                                        </p:attrNameLst>
                                      </p:cBhvr>
                                      <p:to>
                                        <p:strVal val="visible"/>
                                      </p:to>
                                    </p:set>
                                    <p:animEffect transition="in" filter="wipe(left)">
                                      <p:cBhvr>
                                        <p:cTn id="42" dur="500"/>
                                        <p:tgtEl>
                                          <p:spTgt spid="3994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9948">
                                            <p:txEl>
                                              <p:pRg st="0" end="0"/>
                                            </p:txEl>
                                          </p:spTgt>
                                        </p:tgtEl>
                                        <p:attrNameLst>
                                          <p:attrName>style.visibility</p:attrName>
                                        </p:attrNameLst>
                                      </p:cBhvr>
                                      <p:to>
                                        <p:strVal val="visible"/>
                                      </p:to>
                                    </p:set>
                                    <p:animEffect transition="in" filter="wipe(left)">
                                      <p:cBhvr>
                                        <p:cTn id="47" dur="500"/>
                                        <p:tgtEl>
                                          <p:spTgt spid="39948">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9951">
                                            <p:txEl>
                                              <p:pRg st="0" end="0"/>
                                            </p:txEl>
                                          </p:spTgt>
                                        </p:tgtEl>
                                        <p:attrNameLst>
                                          <p:attrName>style.visibility</p:attrName>
                                        </p:attrNameLst>
                                      </p:cBhvr>
                                      <p:to>
                                        <p:strVal val="visible"/>
                                      </p:to>
                                    </p:set>
                                    <p:animEffect transition="in" filter="wipe(left)">
                                      <p:cBhvr>
                                        <p:cTn id="52" dur="500"/>
                                        <p:tgtEl>
                                          <p:spTgt spid="39951">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39952">
                                            <p:txEl>
                                              <p:pRg st="0" end="0"/>
                                            </p:txEl>
                                          </p:spTgt>
                                        </p:tgtEl>
                                        <p:attrNameLst>
                                          <p:attrName>style.visibility</p:attrName>
                                        </p:attrNameLst>
                                      </p:cBhvr>
                                      <p:to>
                                        <p:strVal val="visible"/>
                                      </p:to>
                                    </p:set>
                                    <p:animEffect transition="in" filter="wipe(left)">
                                      <p:cBhvr>
                                        <p:cTn id="57" dur="500"/>
                                        <p:tgtEl>
                                          <p:spTgt spid="39952">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39953">
                                            <p:txEl>
                                              <p:pRg st="0" end="0"/>
                                            </p:txEl>
                                          </p:spTgt>
                                        </p:tgtEl>
                                        <p:attrNameLst>
                                          <p:attrName>style.visibility</p:attrName>
                                        </p:attrNameLst>
                                      </p:cBhvr>
                                      <p:to>
                                        <p:strVal val="visible"/>
                                      </p:to>
                                    </p:set>
                                    <p:animEffect transition="in" filter="wipe(left)">
                                      <p:cBhvr>
                                        <p:cTn id="62" dur="500"/>
                                        <p:tgtEl>
                                          <p:spTgt spid="39953">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39950"/>
                                        </p:tgtEl>
                                        <p:attrNameLst>
                                          <p:attrName>style.visibility</p:attrName>
                                        </p:attrNameLst>
                                      </p:cBhvr>
                                      <p:to>
                                        <p:strVal val="visible"/>
                                      </p:to>
                                    </p:set>
                                    <p:animEffect transition="in" filter="wipe(left)">
                                      <p:cBhvr>
                                        <p:cTn id="67" dur="500"/>
                                        <p:tgtEl>
                                          <p:spTgt spid="399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8" grpId="0" autoUpdateAnimBg="0"/>
      <p:bldP spid="39939" grpId="0" autoUpdateAnimBg="0"/>
      <p:bldP spid="39940" grpId="0" autoUpdateAnimBg="0"/>
      <p:bldP spid="39941" grpId="0" build="p" autoUpdateAnimBg="0"/>
      <p:bldP spid="39942" grpId="0" build="p" autoUpdateAnimBg="0"/>
      <p:bldP spid="39945" grpId="0" build="p" autoUpdateAnimBg="0"/>
      <p:bldP spid="39946" grpId="0" build="p" autoUpdateAnimBg="0"/>
      <p:bldP spid="39948" grpId="0" build="p" autoUpdateAnimBg="0"/>
      <p:bldP spid="39950" grpId="0" autoUpdateAnimBg="0"/>
      <p:bldP spid="39951" grpId="0" build="p" autoUpdateAnimBg="0"/>
      <p:bldP spid="39952" grpId="0" build="p" autoUpdateAnimBg="0"/>
      <p:bldP spid="39953" grpId="0" build="p"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7" name="Rectangle 3"/>
          <p:cNvSpPr>
            <a:spLocks noChangeArrowheads="1"/>
          </p:cNvSpPr>
          <p:nvPr/>
        </p:nvSpPr>
        <p:spPr bwMode="auto">
          <a:xfrm>
            <a:off x="4356100" y="1974850"/>
            <a:ext cx="3444875" cy="579438"/>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2800" b="1" i="1"/>
              <a:t>=F</a:t>
            </a:r>
            <a:r>
              <a:rPr lang="en-US" altLang="zh-CN" sz="2800" b="1"/>
              <a:t>(</a:t>
            </a:r>
            <a:r>
              <a:rPr lang="en-US" altLang="zh-CN" sz="2800" b="1" i="1"/>
              <a:t>x</a:t>
            </a:r>
            <a:r>
              <a:rPr lang="en-US" altLang="zh-CN" sz="2800" b="1" baseline="-25000"/>
              <a:t>1</a:t>
            </a:r>
            <a:r>
              <a:rPr lang="en-US" altLang="zh-CN" sz="2800" b="1"/>
              <a:t>) </a:t>
            </a:r>
            <a:r>
              <a:rPr lang="en-US" altLang="zh-CN" sz="2800" b="1" i="1"/>
              <a:t>F</a:t>
            </a:r>
            <a:r>
              <a:rPr lang="en-US" altLang="zh-CN" sz="2800" b="1"/>
              <a:t>(</a:t>
            </a:r>
            <a:r>
              <a:rPr lang="en-US" altLang="zh-CN" sz="2800" b="1" i="1"/>
              <a:t>x</a:t>
            </a:r>
            <a:r>
              <a:rPr lang="en-US" altLang="zh-CN" sz="2800" b="1" baseline="-25000"/>
              <a:t>2</a:t>
            </a:r>
            <a:r>
              <a:rPr lang="en-US" altLang="zh-CN" sz="2800" b="1"/>
              <a:t>) …</a:t>
            </a:r>
            <a:r>
              <a:rPr lang="en-US" altLang="zh-CN" sz="2800" b="1" i="1"/>
              <a:t> F</a:t>
            </a:r>
            <a:r>
              <a:rPr lang="en-US" altLang="zh-CN" sz="2800" b="1"/>
              <a:t>(</a:t>
            </a:r>
            <a:r>
              <a:rPr lang="en-US" altLang="zh-CN" sz="2800" b="1" i="1"/>
              <a:t>x</a:t>
            </a:r>
            <a:r>
              <a:rPr lang="en-US" altLang="zh-CN" sz="2800" b="1" i="1" baseline="-25000"/>
              <a:t>n</a:t>
            </a:r>
            <a:r>
              <a:rPr lang="en-US" altLang="zh-CN" sz="2800" b="1"/>
              <a:t>)</a:t>
            </a:r>
            <a:r>
              <a:rPr lang="en-US" altLang="zh-CN" sz="3200" b="1"/>
              <a:t> </a:t>
            </a:r>
          </a:p>
        </p:txBody>
      </p:sp>
      <p:sp>
        <p:nvSpPr>
          <p:cNvPr id="185348" name="Rectangle 4"/>
          <p:cNvSpPr>
            <a:spLocks noChangeArrowheads="1"/>
          </p:cNvSpPr>
          <p:nvPr/>
        </p:nvSpPr>
        <p:spPr bwMode="auto">
          <a:xfrm>
            <a:off x="838200" y="609600"/>
            <a:ext cx="7754938"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b="1"/>
              <a:t>       若总体的分布函数为</a:t>
            </a:r>
            <a:r>
              <a:rPr lang="en-US" altLang="zh-CN" sz="2800" b="1" i="1"/>
              <a:t>F</a:t>
            </a:r>
            <a:r>
              <a:rPr lang="en-US" altLang="zh-CN" sz="2800" b="1"/>
              <a:t>(</a:t>
            </a:r>
            <a:r>
              <a:rPr lang="en-US" altLang="zh-CN" sz="2800" b="1" i="1"/>
              <a:t>x</a:t>
            </a:r>
            <a:r>
              <a:rPr lang="en-US" altLang="zh-CN" sz="2800" b="1"/>
              <a:t>)</a:t>
            </a:r>
            <a:r>
              <a:rPr lang="zh-CN" altLang="en-US" sz="2800" b="1"/>
              <a:t>、概率密度函数为</a:t>
            </a:r>
            <a:r>
              <a:rPr lang="en-US" altLang="zh-CN" sz="2800" b="1" i="1"/>
              <a:t>f</a:t>
            </a:r>
            <a:r>
              <a:rPr lang="en-US" altLang="zh-CN" sz="2800" b="1"/>
              <a:t>(</a:t>
            </a:r>
            <a:r>
              <a:rPr lang="en-US" altLang="zh-CN" sz="2800" b="1" i="1"/>
              <a:t>x</a:t>
            </a:r>
            <a:r>
              <a:rPr lang="en-US" altLang="zh-CN" sz="2800" b="1"/>
              <a:t>),</a:t>
            </a:r>
            <a:r>
              <a:rPr lang="zh-CN" altLang="en-US" sz="2800" b="1"/>
              <a:t>则其简单随机样本的联合分布函数为</a:t>
            </a:r>
          </a:p>
        </p:txBody>
      </p:sp>
      <p:graphicFrame>
        <p:nvGraphicFramePr>
          <p:cNvPr id="185349" name="Object 5"/>
          <p:cNvGraphicFramePr>
            <a:graphicFrameLocks noChangeAspect="1"/>
          </p:cNvGraphicFramePr>
          <p:nvPr/>
        </p:nvGraphicFramePr>
        <p:xfrm>
          <a:off x="1712913" y="1989138"/>
          <a:ext cx="2624137" cy="620712"/>
        </p:xfrm>
        <a:graphic>
          <a:graphicData uri="http://schemas.openxmlformats.org/presentationml/2006/ole">
            <mc:AlternateContent xmlns:mc="http://schemas.openxmlformats.org/markup-compatibility/2006">
              <mc:Choice xmlns:v="urn:schemas-microsoft-com:vml" Requires="v">
                <p:oleObj spid="_x0000_s14389" name="Equation" r:id="rId3" imgW="942975" imgH="211455" progId="Equation.DSMT4">
                  <p:embed/>
                </p:oleObj>
              </mc:Choice>
              <mc:Fallback>
                <p:oleObj name="Equation" r:id="rId3" imgW="942975" imgH="211455"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2913" y="1989138"/>
                        <a:ext cx="2624137" cy="620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5350" name="Text Box 6"/>
          <p:cNvSpPr txBox="1">
            <a:spLocks noChangeArrowheads="1"/>
          </p:cNvSpPr>
          <p:nvPr/>
        </p:nvSpPr>
        <p:spPr bwMode="auto">
          <a:xfrm>
            <a:off x="744538" y="2741613"/>
            <a:ext cx="62563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t>其简单随机样本的联合概率密度函数为</a:t>
            </a:r>
          </a:p>
        </p:txBody>
      </p:sp>
      <p:graphicFrame>
        <p:nvGraphicFramePr>
          <p:cNvPr id="185351" name="Object 7"/>
          <p:cNvGraphicFramePr>
            <a:graphicFrameLocks noChangeAspect="1"/>
          </p:cNvGraphicFramePr>
          <p:nvPr/>
        </p:nvGraphicFramePr>
        <p:xfrm>
          <a:off x="1771650" y="3573463"/>
          <a:ext cx="2435225" cy="576262"/>
        </p:xfrm>
        <a:graphic>
          <a:graphicData uri="http://schemas.openxmlformats.org/presentationml/2006/ole">
            <mc:AlternateContent xmlns:mc="http://schemas.openxmlformats.org/markup-compatibility/2006">
              <mc:Choice xmlns:v="urn:schemas-microsoft-com:vml" Requires="v">
                <p:oleObj spid="_x0000_s14390" name="Equation" r:id="rId5" imgW="942975" imgH="211455" progId="Equation.DSMT4">
                  <p:embed/>
                </p:oleObj>
              </mc:Choice>
              <mc:Fallback>
                <p:oleObj name="Equation" r:id="rId5" imgW="942975" imgH="211455"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71650" y="3573463"/>
                        <a:ext cx="2435225" cy="576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5352" name="Rectangle 8"/>
          <p:cNvSpPr>
            <a:spLocks noChangeArrowheads="1"/>
          </p:cNvSpPr>
          <p:nvPr/>
        </p:nvSpPr>
        <p:spPr bwMode="auto">
          <a:xfrm>
            <a:off x="4276725" y="3530600"/>
            <a:ext cx="3092450" cy="579438"/>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2800" b="1" i="1"/>
              <a:t>=f</a:t>
            </a:r>
            <a:r>
              <a:rPr lang="en-US" altLang="zh-CN" sz="2800" b="1"/>
              <a:t>(</a:t>
            </a:r>
            <a:r>
              <a:rPr lang="en-US" altLang="zh-CN" sz="2800" b="1" i="1"/>
              <a:t>x</a:t>
            </a:r>
            <a:r>
              <a:rPr lang="en-US" altLang="zh-CN" sz="2800" b="1" baseline="-25000"/>
              <a:t>1</a:t>
            </a:r>
            <a:r>
              <a:rPr lang="en-US" altLang="zh-CN" sz="2800" b="1"/>
              <a:t>) </a:t>
            </a:r>
            <a:r>
              <a:rPr lang="en-US" altLang="zh-CN" sz="2800" b="1" i="1"/>
              <a:t>f</a:t>
            </a:r>
            <a:r>
              <a:rPr lang="en-US" altLang="zh-CN" sz="2800" b="1"/>
              <a:t>(</a:t>
            </a:r>
            <a:r>
              <a:rPr lang="en-US" altLang="zh-CN" sz="2800" b="1" i="1"/>
              <a:t>x</a:t>
            </a:r>
            <a:r>
              <a:rPr lang="en-US" altLang="zh-CN" sz="2800" b="1" baseline="-25000"/>
              <a:t>2</a:t>
            </a:r>
            <a:r>
              <a:rPr lang="en-US" altLang="zh-CN" sz="2800" b="1"/>
              <a:t>) …</a:t>
            </a:r>
            <a:r>
              <a:rPr lang="en-US" altLang="zh-CN" sz="2800" b="1" i="1"/>
              <a:t> f</a:t>
            </a:r>
            <a:r>
              <a:rPr lang="en-US" altLang="zh-CN" sz="2800" b="1"/>
              <a:t>(</a:t>
            </a:r>
            <a:r>
              <a:rPr lang="en-US" altLang="zh-CN" sz="2800" b="1" i="1"/>
              <a:t>x</a:t>
            </a:r>
            <a:r>
              <a:rPr lang="en-US" altLang="zh-CN" sz="2800" b="1" i="1" baseline="-25000"/>
              <a:t>n</a:t>
            </a:r>
            <a:r>
              <a:rPr lang="en-US" altLang="zh-CN" sz="2800" b="1"/>
              <a:t>)</a:t>
            </a:r>
            <a:r>
              <a:rPr lang="en-US" altLang="zh-CN" sz="3200" b="1"/>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5348"/>
                                        </p:tgtEl>
                                        <p:attrNameLst>
                                          <p:attrName>style.visibility</p:attrName>
                                        </p:attrNameLst>
                                      </p:cBhvr>
                                      <p:to>
                                        <p:strVal val="visible"/>
                                      </p:to>
                                    </p:set>
                                    <p:animEffect transition="in" filter="wipe(left)">
                                      <p:cBhvr>
                                        <p:cTn id="7" dur="500"/>
                                        <p:tgtEl>
                                          <p:spTgt spid="18534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85349"/>
                                        </p:tgtEl>
                                        <p:attrNameLst>
                                          <p:attrName>style.visibility</p:attrName>
                                        </p:attrNameLst>
                                      </p:cBhvr>
                                      <p:to>
                                        <p:strVal val="visible"/>
                                      </p:to>
                                    </p:set>
                                    <p:animEffect transition="in" filter="wipe(down)">
                                      <p:cBhvr>
                                        <p:cTn id="12" dur="500"/>
                                        <p:tgtEl>
                                          <p:spTgt spid="185349"/>
                                        </p:tgtEl>
                                      </p:cBhvr>
                                    </p:animEffect>
                                  </p:childTnLst>
                                </p:cTn>
                              </p:par>
                            </p:childTnLst>
                          </p:cTn>
                        </p:par>
                        <p:par>
                          <p:cTn id="13" fill="hold">
                            <p:stCondLst>
                              <p:cond delay="500"/>
                            </p:stCondLst>
                            <p:childTnLst>
                              <p:par>
                                <p:cTn id="14" presetID="22" presetClass="entr" presetSubtype="2" fill="hold" grpId="0" nodeType="afterEffect">
                                  <p:stCondLst>
                                    <p:cond delay="0"/>
                                  </p:stCondLst>
                                  <p:childTnLst>
                                    <p:set>
                                      <p:cBhvr>
                                        <p:cTn id="15" dur="1" fill="hold">
                                          <p:stCondLst>
                                            <p:cond delay="0"/>
                                          </p:stCondLst>
                                        </p:cTn>
                                        <p:tgtEl>
                                          <p:spTgt spid="185347"/>
                                        </p:tgtEl>
                                        <p:attrNameLst>
                                          <p:attrName>style.visibility</p:attrName>
                                        </p:attrNameLst>
                                      </p:cBhvr>
                                      <p:to>
                                        <p:strVal val="visible"/>
                                      </p:to>
                                    </p:set>
                                    <p:animEffect transition="in" filter="wipe(right)">
                                      <p:cBhvr>
                                        <p:cTn id="16" dur="500"/>
                                        <p:tgtEl>
                                          <p:spTgt spid="18534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185350"/>
                                        </p:tgtEl>
                                        <p:attrNameLst>
                                          <p:attrName>style.visibility</p:attrName>
                                        </p:attrNameLst>
                                      </p:cBhvr>
                                      <p:to>
                                        <p:strVal val="visible"/>
                                      </p:to>
                                    </p:set>
                                    <p:animEffect transition="in" filter="wipe(down)">
                                      <p:cBhvr>
                                        <p:cTn id="21" dur="500"/>
                                        <p:tgtEl>
                                          <p:spTgt spid="18535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185351"/>
                                        </p:tgtEl>
                                        <p:attrNameLst>
                                          <p:attrName>style.visibility</p:attrName>
                                        </p:attrNameLst>
                                      </p:cBhvr>
                                      <p:to>
                                        <p:strVal val="visible"/>
                                      </p:to>
                                    </p:set>
                                    <p:animEffect transition="in" filter="wipe(down)">
                                      <p:cBhvr>
                                        <p:cTn id="26" dur="500"/>
                                        <p:tgtEl>
                                          <p:spTgt spid="18535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185352"/>
                                        </p:tgtEl>
                                        <p:attrNameLst>
                                          <p:attrName>style.visibility</p:attrName>
                                        </p:attrNameLst>
                                      </p:cBhvr>
                                      <p:to>
                                        <p:strVal val="visible"/>
                                      </p:to>
                                    </p:set>
                                    <p:animEffect transition="in" filter="wipe(down)">
                                      <p:cBhvr>
                                        <p:cTn id="31" dur="500"/>
                                        <p:tgtEl>
                                          <p:spTgt spid="1853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7" grpId="0" bldLvl="0" animBg="1" autoUpdateAnimBg="0"/>
      <p:bldP spid="185348" grpId="0" bldLvl="0" animBg="1" autoUpdateAnimBg="0"/>
      <p:bldP spid="185350" grpId="0" bldLvl="0" animBg="1" autoUpdateAnimBg="0"/>
      <p:bldP spid="185352" grpId="0" bldLvl="0" animBg="1"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ChangeArrowheads="1"/>
          </p:cNvSpPr>
          <p:nvPr/>
        </p:nvSpPr>
        <p:spPr bwMode="auto">
          <a:xfrm>
            <a:off x="381000" y="1828800"/>
            <a:ext cx="8280400" cy="2214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3200" b="1" dirty="0"/>
              <a:t>       </a:t>
            </a:r>
            <a:r>
              <a:rPr lang="zh-CN" altLang="en-US" sz="2800" b="1" dirty="0"/>
              <a:t>事实上我们抽样后得到的资料都是具体的、确定的值</a:t>
            </a:r>
            <a:r>
              <a:rPr lang="en-US" altLang="zh-CN" sz="2800" b="1" dirty="0"/>
              <a:t>.  </a:t>
            </a:r>
            <a:r>
              <a:rPr lang="zh-CN" altLang="en-US" sz="2800" b="1" dirty="0"/>
              <a:t>如我们从某班大学生中抽取</a:t>
            </a:r>
            <a:r>
              <a:rPr lang="en-US" altLang="zh-CN" sz="2800" b="1" dirty="0"/>
              <a:t>10</a:t>
            </a:r>
            <a:r>
              <a:rPr lang="zh-CN" altLang="en-US" sz="2800" b="1" dirty="0"/>
              <a:t>人测量身高</a:t>
            </a:r>
            <a:r>
              <a:rPr lang="en-US" altLang="zh-CN" sz="2800" b="1" dirty="0"/>
              <a:t>,</a:t>
            </a:r>
            <a:r>
              <a:rPr lang="zh-CN" altLang="en-US" sz="2800" b="1" dirty="0"/>
              <a:t>得到</a:t>
            </a:r>
            <a:r>
              <a:rPr lang="en-US" altLang="zh-CN" sz="2800" b="1" dirty="0"/>
              <a:t>10</a:t>
            </a:r>
            <a:r>
              <a:rPr lang="zh-CN" altLang="en-US" sz="2800" b="1" dirty="0"/>
              <a:t>个数，它们是样本取到的值而不是样本</a:t>
            </a:r>
            <a:r>
              <a:rPr lang="en-US" altLang="zh-CN" sz="2800" b="1" dirty="0"/>
              <a:t>.   </a:t>
            </a:r>
            <a:r>
              <a:rPr lang="zh-CN" altLang="en-US" sz="2800" b="1" dirty="0">
                <a:solidFill>
                  <a:srgbClr val="FF0000"/>
                </a:solidFill>
              </a:rPr>
              <a:t>我们只能观察到随机变量取的值而观察不到随机变量</a:t>
            </a:r>
            <a:r>
              <a:rPr lang="en-US" altLang="zh-CN" sz="2800" b="1" dirty="0"/>
              <a:t>.</a:t>
            </a:r>
          </a:p>
        </p:txBody>
      </p:sp>
      <p:sp>
        <p:nvSpPr>
          <p:cNvPr id="186371" name="Rectangle 3"/>
          <p:cNvSpPr>
            <a:spLocks noChangeArrowheads="1"/>
          </p:cNvSpPr>
          <p:nvPr/>
        </p:nvSpPr>
        <p:spPr bwMode="auto">
          <a:xfrm>
            <a:off x="427038" y="762000"/>
            <a:ext cx="5873750" cy="579438"/>
          </a:xfrm>
          <a:prstGeom prst="rect">
            <a:avLst/>
          </a:prstGeom>
          <a:noFill/>
          <a:ln>
            <a:noFill/>
          </a:ln>
          <a:effectLst/>
          <a:extLst>
            <a:ext uri="{909E8E84-426E-40DD-AFC4-6F175D3DCCD1}">
              <a14:hiddenFill xmlns:a14="http://schemas.microsoft.com/office/drawing/2010/main">
                <a:solidFill>
                  <a:srgbClr val="9933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3200" b="1">
                <a:solidFill>
                  <a:schemeClr val="accent2"/>
                </a:solidFill>
              </a:rPr>
              <a:t>3. </a:t>
            </a:r>
            <a:r>
              <a:rPr lang="zh-CN" altLang="en-US" sz="3200" b="1">
                <a:solidFill>
                  <a:schemeClr val="accent2"/>
                </a:solidFill>
              </a:rPr>
              <a:t>总体、样本、样本值的关系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grpId="0" nodeType="afterEffect">
                                  <p:stCondLst>
                                    <p:cond delay="0"/>
                                  </p:stCondLst>
                                  <p:childTnLst>
                                    <p:set>
                                      <p:cBhvr>
                                        <p:cTn id="6" dur="1" fill="hold">
                                          <p:stCondLst>
                                            <p:cond delay="0"/>
                                          </p:stCondLst>
                                        </p:cTn>
                                        <p:tgtEl>
                                          <p:spTgt spid="186371"/>
                                        </p:tgtEl>
                                        <p:attrNameLst>
                                          <p:attrName>style.visibility</p:attrName>
                                        </p:attrNameLst>
                                      </p:cBhvr>
                                      <p:to>
                                        <p:strVal val="visible"/>
                                      </p:to>
                                    </p:set>
                                    <p:anim calcmode="lin" valueType="num">
                                      <p:cBhvr>
                                        <p:cTn id="7" dur="500" fill="hold"/>
                                        <p:tgtEl>
                                          <p:spTgt spid="186371"/>
                                        </p:tgtEl>
                                        <p:attrNameLst>
                                          <p:attrName>ppt_w</p:attrName>
                                        </p:attrNameLst>
                                      </p:cBhvr>
                                      <p:tavLst>
                                        <p:tav tm="0">
                                          <p:val>
                                            <p:strVal val="2/3*#ppt_w"/>
                                          </p:val>
                                        </p:tav>
                                        <p:tav tm="100000">
                                          <p:val>
                                            <p:strVal val="#ppt_w"/>
                                          </p:val>
                                        </p:tav>
                                      </p:tavLst>
                                    </p:anim>
                                    <p:anim calcmode="lin" valueType="num">
                                      <p:cBhvr>
                                        <p:cTn id="8" dur="500" fill="hold"/>
                                        <p:tgtEl>
                                          <p:spTgt spid="186371"/>
                                        </p:tgtEl>
                                        <p:attrNameLst>
                                          <p:attrName>ppt_h</p:attrName>
                                        </p:attrNameLst>
                                      </p:cBhvr>
                                      <p:tavLst>
                                        <p:tav tm="0">
                                          <p:val>
                                            <p:strVal val="2/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86370"/>
                                        </p:tgtEl>
                                        <p:attrNameLst>
                                          <p:attrName>style.visibility</p:attrName>
                                        </p:attrNameLst>
                                      </p:cBhvr>
                                      <p:to>
                                        <p:strVal val="visible"/>
                                      </p:to>
                                    </p:set>
                                    <p:animEffect transition="in" filter="wipe(left)">
                                      <p:cBhvr>
                                        <p:cTn id="13" dur="500"/>
                                        <p:tgtEl>
                                          <p:spTgt spid="1863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0" grpId="0" bldLvl="0"/>
      <p:bldP spid="186371" grpId="0" bldLvl="0" animBg="1"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386" name="Group 2"/>
          <p:cNvGrpSpPr/>
          <p:nvPr/>
        </p:nvGrpSpPr>
        <p:grpSpPr bwMode="auto">
          <a:xfrm>
            <a:off x="2590800" y="228600"/>
            <a:ext cx="3451225" cy="2165350"/>
            <a:chOff x="1804" y="86"/>
            <a:chExt cx="2174" cy="1364"/>
          </a:xfrm>
        </p:grpSpPr>
        <p:sp>
          <p:nvSpPr>
            <p:cNvPr id="16389" name="Rectangle 3"/>
            <p:cNvSpPr>
              <a:spLocks noChangeArrowheads="1"/>
            </p:cNvSpPr>
            <p:nvPr/>
          </p:nvSpPr>
          <p:spPr bwMode="auto">
            <a:xfrm>
              <a:off x="1891" y="86"/>
              <a:ext cx="1914"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2800" b="1"/>
                <a:t>总体（理论分布）</a:t>
              </a:r>
            </a:p>
            <a:p>
              <a:pPr algn="ctr"/>
              <a:r>
                <a:rPr lang="zh-CN" altLang="en-US" sz="2800" b="1"/>
                <a:t>               ？      </a:t>
              </a:r>
            </a:p>
          </p:txBody>
        </p:sp>
        <p:sp>
          <p:nvSpPr>
            <p:cNvPr id="16390" name="Rectangle 4"/>
            <p:cNvSpPr>
              <a:spLocks noChangeArrowheads="1"/>
            </p:cNvSpPr>
            <p:nvPr/>
          </p:nvSpPr>
          <p:spPr bwMode="auto">
            <a:xfrm>
              <a:off x="1804" y="1075"/>
              <a:ext cx="56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样本</a:t>
              </a:r>
            </a:p>
          </p:txBody>
        </p:sp>
        <p:sp>
          <p:nvSpPr>
            <p:cNvPr id="16391" name="Rectangle 5"/>
            <p:cNvSpPr>
              <a:spLocks noChangeArrowheads="1"/>
            </p:cNvSpPr>
            <p:nvPr/>
          </p:nvSpPr>
          <p:spPr bwMode="auto">
            <a:xfrm>
              <a:off x="3131" y="1123"/>
              <a:ext cx="84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 样本值</a:t>
              </a:r>
            </a:p>
          </p:txBody>
        </p:sp>
        <p:sp>
          <p:nvSpPr>
            <p:cNvPr id="16392" name="AutoShape 6"/>
            <p:cNvSpPr>
              <a:spLocks noChangeArrowheads="1"/>
            </p:cNvSpPr>
            <p:nvPr/>
          </p:nvSpPr>
          <p:spPr bwMode="auto">
            <a:xfrm rot="5365079" flipV="1">
              <a:off x="2685" y="864"/>
              <a:ext cx="144" cy="816"/>
            </a:xfrm>
            <a:prstGeom prst="downArrow">
              <a:avLst>
                <a:gd name="adj1" fmla="val 50000"/>
                <a:gd name="adj2" fmla="val 14166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6393" name="AutoShape 7"/>
            <p:cNvSpPr>
              <a:spLocks noChangeArrowheads="1"/>
            </p:cNvSpPr>
            <p:nvPr/>
          </p:nvSpPr>
          <p:spPr bwMode="auto">
            <a:xfrm rot="10765079" flipV="1">
              <a:off x="2016" y="432"/>
              <a:ext cx="143" cy="576"/>
            </a:xfrm>
            <a:prstGeom prst="downArrow">
              <a:avLst>
                <a:gd name="adj1" fmla="val 50000"/>
                <a:gd name="adj2" fmla="val 100699"/>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6394" name="AutoShape 8"/>
            <p:cNvSpPr>
              <a:spLocks noChangeArrowheads="1"/>
            </p:cNvSpPr>
            <p:nvPr/>
          </p:nvSpPr>
          <p:spPr bwMode="auto">
            <a:xfrm rot="8635869">
              <a:off x="2966" y="398"/>
              <a:ext cx="105" cy="782"/>
            </a:xfrm>
            <a:prstGeom prst="downArrow">
              <a:avLst>
                <a:gd name="adj1" fmla="val 50000"/>
                <a:gd name="adj2" fmla="val 18619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187401" name="Rectangle 9"/>
          <p:cNvSpPr>
            <a:spLocks noChangeArrowheads="1"/>
          </p:cNvSpPr>
          <p:nvPr/>
        </p:nvSpPr>
        <p:spPr bwMode="auto">
          <a:xfrm>
            <a:off x="336550" y="2571750"/>
            <a:ext cx="7975600"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800" b="1"/>
              <a:t>        统计是从手中已有的资料</a:t>
            </a:r>
            <a:r>
              <a:rPr lang="en-US" altLang="zh-CN" sz="2800" b="1"/>
              <a:t>--</a:t>
            </a:r>
            <a:r>
              <a:rPr lang="zh-CN" altLang="en-US" sz="2800" b="1"/>
              <a:t>样本值，去推断总体的情况</a:t>
            </a:r>
            <a:r>
              <a:rPr lang="en-US" altLang="zh-CN" sz="2800" b="1"/>
              <a:t>---</a:t>
            </a:r>
            <a:r>
              <a:rPr lang="zh-CN" altLang="en-US" sz="2800" b="1"/>
              <a:t>总体分布</a:t>
            </a:r>
            <a:r>
              <a:rPr lang="en-US" altLang="zh-CN" sz="2800" b="1" i="1"/>
              <a:t>F</a:t>
            </a:r>
            <a:r>
              <a:rPr lang="en-US" altLang="zh-CN" sz="2800" b="1"/>
              <a:t>(</a:t>
            </a:r>
            <a:r>
              <a:rPr lang="en-US" altLang="zh-CN" sz="2800" b="1" i="1"/>
              <a:t>x</a:t>
            </a:r>
            <a:r>
              <a:rPr lang="en-US" altLang="zh-CN" sz="2800" b="1"/>
              <a:t>)</a:t>
            </a:r>
            <a:r>
              <a:rPr lang="zh-CN" altLang="en-US" sz="2800" b="1"/>
              <a:t>的性质</a:t>
            </a:r>
            <a:r>
              <a:rPr lang="en-US" altLang="zh-CN" sz="2800" b="1"/>
              <a:t>.</a:t>
            </a:r>
          </a:p>
        </p:txBody>
      </p:sp>
      <p:sp>
        <p:nvSpPr>
          <p:cNvPr id="187402" name="Rectangle 10"/>
          <p:cNvSpPr>
            <a:spLocks noChangeArrowheads="1"/>
          </p:cNvSpPr>
          <p:nvPr/>
        </p:nvSpPr>
        <p:spPr bwMode="auto">
          <a:xfrm>
            <a:off x="336550" y="3933825"/>
            <a:ext cx="8229600" cy="163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b="1"/>
              <a:t>        总体分布决定了样本取值的概率规律，也就是样本取到样本值的规律，因而可以由样本值去推断总体</a:t>
            </a:r>
            <a:r>
              <a:rPr lang="en-US" altLang="zh-CN" sz="2800" b="1"/>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7401"/>
                                        </p:tgtEl>
                                        <p:attrNameLst>
                                          <p:attrName>style.visibility</p:attrName>
                                        </p:attrNameLst>
                                      </p:cBhvr>
                                      <p:to>
                                        <p:strVal val="visible"/>
                                      </p:to>
                                    </p:set>
                                    <p:animEffect transition="in" filter="wipe(left)">
                                      <p:cBhvr>
                                        <p:cTn id="7" dur="500"/>
                                        <p:tgtEl>
                                          <p:spTgt spid="18740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7402"/>
                                        </p:tgtEl>
                                        <p:attrNameLst>
                                          <p:attrName>style.visibility</p:attrName>
                                        </p:attrNameLst>
                                      </p:cBhvr>
                                      <p:to>
                                        <p:strVal val="visible"/>
                                      </p:to>
                                    </p:set>
                                    <p:animEffect transition="in" filter="wipe(left)">
                                      <p:cBhvr>
                                        <p:cTn id="12" dur="500"/>
                                        <p:tgtEl>
                                          <p:spTgt spid="1874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401" grpId="0" bldLvl="0" animBg="1" autoUpdateAnimBg="0"/>
      <p:bldP spid="187402" grpId="0" bldLvl="0" animBg="1"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Text Box 2"/>
          <p:cNvSpPr txBox="1">
            <a:spLocks noChangeArrowheads="1"/>
          </p:cNvSpPr>
          <p:nvPr/>
        </p:nvSpPr>
        <p:spPr bwMode="auto">
          <a:xfrm>
            <a:off x="457200" y="1143000"/>
            <a:ext cx="7848600" cy="163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zh-CN" altLang="en-US" sz="2800" b="1"/>
              <a:t>      由样本值去推断总体情况，需要对样本值进行“</a:t>
            </a:r>
            <a:r>
              <a:rPr lang="zh-CN" altLang="en-US" sz="2800" b="1">
                <a:solidFill>
                  <a:schemeClr val="accent2"/>
                </a:solidFill>
              </a:rPr>
              <a:t>加工</a:t>
            </a:r>
            <a:r>
              <a:rPr lang="zh-CN" altLang="en-US" sz="2800" b="1"/>
              <a:t>”，这就要构造一些样本的函数，它把样本中所含的（某一方面）的信息集中起来</a:t>
            </a:r>
            <a:r>
              <a:rPr lang="en-US" altLang="zh-CN" sz="2800" b="1"/>
              <a:t>.</a:t>
            </a:r>
          </a:p>
        </p:txBody>
      </p:sp>
      <p:sp>
        <p:nvSpPr>
          <p:cNvPr id="188419" name="Rectangle 3"/>
          <p:cNvSpPr>
            <a:spLocks noChangeArrowheads="1"/>
          </p:cNvSpPr>
          <p:nvPr/>
        </p:nvSpPr>
        <p:spPr bwMode="auto">
          <a:xfrm>
            <a:off x="1981200" y="4419600"/>
            <a:ext cx="5486400"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b="1"/>
              <a:t>         </a:t>
            </a:r>
            <a:r>
              <a:rPr lang="en-US" altLang="zh-CN" sz="2800" b="1"/>
              <a:t>——</a:t>
            </a:r>
            <a:r>
              <a:rPr lang="zh-CN" altLang="en-US" sz="2800" b="1">
                <a:solidFill>
                  <a:schemeClr val="accent2"/>
                </a:solidFill>
              </a:rPr>
              <a:t>统计量</a:t>
            </a:r>
            <a:r>
              <a:rPr lang="zh-CN" altLang="en-US" sz="2800" b="1"/>
              <a:t>及其分布</a:t>
            </a:r>
          </a:p>
        </p:txBody>
      </p:sp>
      <p:sp>
        <p:nvSpPr>
          <p:cNvPr id="188420" name="Text Box 4"/>
          <p:cNvSpPr txBox="1">
            <a:spLocks noChangeArrowheads="1"/>
          </p:cNvSpPr>
          <p:nvPr/>
        </p:nvSpPr>
        <p:spPr bwMode="auto">
          <a:xfrm>
            <a:off x="838200" y="3581400"/>
            <a:ext cx="3886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如何对样本进行加工？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8418"/>
                                        </p:tgtEl>
                                        <p:attrNameLst>
                                          <p:attrName>style.visibility</p:attrName>
                                        </p:attrNameLst>
                                      </p:cBhvr>
                                      <p:to>
                                        <p:strVal val="visible"/>
                                      </p:to>
                                    </p:set>
                                    <p:animEffect transition="in" filter="wipe(left)">
                                      <p:cBhvr>
                                        <p:cTn id="7" dur="500"/>
                                        <p:tgtEl>
                                          <p:spTgt spid="18841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88420"/>
                                        </p:tgtEl>
                                        <p:attrNameLst>
                                          <p:attrName>style.visibility</p:attrName>
                                        </p:attrNameLst>
                                      </p:cBhvr>
                                      <p:to>
                                        <p:strVal val="visible"/>
                                      </p:to>
                                    </p:set>
                                    <p:anim calcmode="lin" valueType="num">
                                      <p:cBhvr additive="base">
                                        <p:cTn id="12" dur="500" fill="hold"/>
                                        <p:tgtEl>
                                          <p:spTgt spid="188420"/>
                                        </p:tgtEl>
                                        <p:attrNameLst>
                                          <p:attrName>ppt_x</p:attrName>
                                        </p:attrNameLst>
                                      </p:cBhvr>
                                      <p:tavLst>
                                        <p:tav tm="0">
                                          <p:val>
                                            <p:strVal val="0-#ppt_w/2"/>
                                          </p:val>
                                        </p:tav>
                                        <p:tav tm="100000">
                                          <p:val>
                                            <p:strVal val="#ppt_x"/>
                                          </p:val>
                                        </p:tav>
                                      </p:tavLst>
                                    </p:anim>
                                    <p:anim calcmode="lin" valueType="num">
                                      <p:cBhvr additive="base">
                                        <p:cTn id="13" dur="500" fill="hold"/>
                                        <p:tgtEl>
                                          <p:spTgt spid="188420"/>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2" fill="hold" grpId="0" nodeType="clickEffect">
                                  <p:stCondLst>
                                    <p:cond delay="0"/>
                                  </p:stCondLst>
                                  <p:childTnLst>
                                    <p:set>
                                      <p:cBhvr>
                                        <p:cTn id="17" dur="1" fill="hold">
                                          <p:stCondLst>
                                            <p:cond delay="0"/>
                                          </p:stCondLst>
                                        </p:cTn>
                                        <p:tgtEl>
                                          <p:spTgt spid="188419"/>
                                        </p:tgtEl>
                                        <p:attrNameLst>
                                          <p:attrName>style.visibility</p:attrName>
                                        </p:attrNameLst>
                                      </p:cBhvr>
                                      <p:to>
                                        <p:strVal val="visible"/>
                                      </p:to>
                                    </p:set>
                                    <p:animEffect transition="in" filter="wipe(right)">
                                      <p:cBhvr>
                                        <p:cTn id="18" dur="500"/>
                                        <p:tgtEl>
                                          <p:spTgt spid="1884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18" grpId="0" bldLvl="0" animBg="1" autoUpdateAnimBg="0"/>
      <p:bldP spid="188419" grpId="0" bldLvl="0" animBg="1" autoUpdateAnimBg="0"/>
      <p:bldP spid="188420" grpId="0" bldLvl="0" animBg="1"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1371600" y="914400"/>
            <a:ext cx="6778625" cy="85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a:solidFill>
                  <a:srgbClr val="000000"/>
                </a:solidFill>
                <a:ea typeface="黑体" panose="02010609060101010101" pitchFamily="49" charset="-122"/>
              </a:rPr>
              <a:t>第二节        抽样分布</a:t>
            </a:r>
          </a:p>
        </p:txBody>
      </p:sp>
      <p:sp>
        <p:nvSpPr>
          <p:cNvPr id="18435" name="Text Box 3"/>
          <p:cNvSpPr txBox="1">
            <a:spLocks noChangeArrowheads="1"/>
          </p:cNvSpPr>
          <p:nvPr/>
        </p:nvSpPr>
        <p:spPr bwMode="auto">
          <a:xfrm>
            <a:off x="2381250" y="2138363"/>
            <a:ext cx="5256213" cy="2043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3200" b="1">
                <a:solidFill>
                  <a:schemeClr val="tx2"/>
                </a:solidFill>
              </a:rPr>
              <a:t>统计量</a:t>
            </a:r>
            <a:endParaRPr lang="zh-CN" altLang="en-US" sz="3200" b="1"/>
          </a:p>
          <a:p>
            <a:pPr>
              <a:spcBef>
                <a:spcPct val="50000"/>
              </a:spcBef>
            </a:pPr>
            <a:r>
              <a:rPr lang="zh-CN" altLang="en-US" sz="3200" b="1">
                <a:solidFill>
                  <a:schemeClr val="tx2"/>
                </a:solidFill>
              </a:rPr>
              <a:t>统计三大抽样分布</a:t>
            </a:r>
          </a:p>
          <a:p>
            <a:pPr>
              <a:spcBef>
                <a:spcPct val="50000"/>
              </a:spcBef>
            </a:pPr>
            <a:r>
              <a:rPr lang="zh-CN" altLang="en-US" sz="3200" b="1">
                <a:solidFill>
                  <a:schemeClr val="tx2"/>
                </a:solidFill>
              </a:rPr>
              <a:t>几个重要的抽样分布定理</a:t>
            </a:r>
            <a:endParaRPr lang="zh-CN" altLang="en-US" sz="3200" b="1"/>
          </a:p>
        </p:txBody>
      </p:sp>
      <p:pic>
        <p:nvPicPr>
          <p:cNvPr id="18436" name="Picture 4" descr="f012">
            <a:hlinkClick r:id="rId2" action="ppaction://hlinksldjump" highlightClick="1"/>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733550" y="2236788"/>
            <a:ext cx="5238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7" name="Picture 5" descr="f012">
            <a:hlinkClick r:id="rId4" action="ppaction://hlinksldjump" highlightClick="1">
              <a:snd r:embed="rId5" name="chimes.wav"/>
            </a:hlinkClick>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733550" y="2957513"/>
            <a:ext cx="5238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8" name="Picture 6" descr="f012">
            <a:hlinkClick r:id="" action="ppaction://noaction" highlightClick="1"/>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733550" y="3676650"/>
            <a:ext cx="5238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ChangeArrowheads="1"/>
          </p:cNvSpPr>
          <p:nvPr/>
        </p:nvSpPr>
        <p:spPr bwMode="auto">
          <a:xfrm>
            <a:off x="533400" y="1328738"/>
            <a:ext cx="2260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b="1">
                <a:solidFill>
                  <a:schemeClr val="accent2"/>
                </a:solidFill>
              </a:rPr>
              <a:t>1. </a:t>
            </a:r>
            <a:r>
              <a:rPr lang="zh-CN" altLang="en-US" sz="2800" b="1">
                <a:solidFill>
                  <a:schemeClr val="accent2"/>
                </a:solidFill>
              </a:rPr>
              <a:t>统计量</a:t>
            </a:r>
          </a:p>
        </p:txBody>
      </p:sp>
      <p:sp>
        <p:nvSpPr>
          <p:cNvPr id="190467" name="Rectangle 3"/>
          <p:cNvSpPr>
            <a:spLocks noChangeArrowheads="1"/>
          </p:cNvSpPr>
          <p:nvPr/>
        </p:nvSpPr>
        <p:spPr bwMode="auto">
          <a:xfrm>
            <a:off x="914400" y="2057400"/>
            <a:ext cx="7991475"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b="1" dirty="0">
                <a:solidFill>
                  <a:schemeClr val="accent2"/>
                </a:solidFill>
              </a:rPr>
              <a:t>       不含任何未知参数的样本的函数称为统计量</a:t>
            </a:r>
            <a:r>
              <a:rPr lang="en-US" altLang="zh-CN" sz="2800" b="1" dirty="0"/>
              <a:t>.   </a:t>
            </a:r>
            <a:r>
              <a:rPr lang="zh-CN" altLang="en-US" sz="2800" b="1" dirty="0"/>
              <a:t>它是完全由样本决定的量</a:t>
            </a:r>
            <a:r>
              <a:rPr lang="en-US" altLang="zh-CN" sz="2800" b="1" dirty="0"/>
              <a:t>.</a:t>
            </a:r>
          </a:p>
        </p:txBody>
      </p:sp>
      <p:sp>
        <p:nvSpPr>
          <p:cNvPr id="19460" name="Rectangle 4"/>
          <p:cNvSpPr>
            <a:spLocks noChangeArrowheads="1"/>
          </p:cNvSpPr>
          <p:nvPr/>
        </p:nvSpPr>
        <p:spPr bwMode="auto">
          <a:xfrm>
            <a:off x="533400" y="533400"/>
            <a:ext cx="58324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b="1">
                <a:solidFill>
                  <a:schemeClr val="tx2"/>
                </a:solidFill>
                <a:ea typeface="黑体" panose="02010609060101010101" pitchFamily="49" charset="-122"/>
              </a:rPr>
              <a:t>一、统计量</a:t>
            </a:r>
          </a:p>
        </p:txBody>
      </p:sp>
      <p:graphicFrame>
        <p:nvGraphicFramePr>
          <p:cNvPr id="190469" name="Object 5"/>
          <p:cNvGraphicFramePr>
            <a:graphicFrameLocks noChangeAspect="1"/>
          </p:cNvGraphicFramePr>
          <p:nvPr/>
        </p:nvGraphicFramePr>
        <p:xfrm>
          <a:off x="685800" y="3581400"/>
          <a:ext cx="7848600" cy="2070100"/>
        </p:xfrm>
        <a:graphic>
          <a:graphicData uri="http://schemas.openxmlformats.org/presentationml/2006/ole">
            <mc:AlternateContent xmlns:mc="http://schemas.openxmlformats.org/markup-compatibility/2006">
              <mc:Choice xmlns:v="urn:schemas-microsoft-com:vml" Requires="v">
                <p:oleObj spid="_x0000_s52228" name="公式" r:id="rId3" imgW="6991350" imgH="2069465" progId="Equation.3">
                  <p:embed/>
                </p:oleObj>
              </mc:Choice>
              <mc:Fallback>
                <p:oleObj name="公式" r:id="rId3" imgW="6991350" imgH="2069465"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3581400"/>
                        <a:ext cx="7848600" cy="2070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0466"/>
                                        </p:tgtEl>
                                        <p:attrNameLst>
                                          <p:attrName>style.visibility</p:attrName>
                                        </p:attrNameLst>
                                      </p:cBhvr>
                                      <p:to>
                                        <p:strVal val="visible"/>
                                      </p:to>
                                    </p:set>
                                    <p:animEffect transition="in" filter="wipe(left)">
                                      <p:cBhvr>
                                        <p:cTn id="7" dur="500"/>
                                        <p:tgtEl>
                                          <p:spTgt spid="1904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190467"/>
                                        </p:tgtEl>
                                        <p:attrNameLst>
                                          <p:attrName>style.visibility</p:attrName>
                                        </p:attrNameLst>
                                      </p:cBhvr>
                                      <p:to>
                                        <p:strVal val="visible"/>
                                      </p:to>
                                    </p:set>
                                    <p:animEffect transition="in" filter="wipe(right)">
                                      <p:cBhvr>
                                        <p:cTn id="12" dur="500"/>
                                        <p:tgtEl>
                                          <p:spTgt spid="19046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90469"/>
                                        </p:tgtEl>
                                        <p:attrNameLst>
                                          <p:attrName>style.visibility</p:attrName>
                                        </p:attrNameLst>
                                      </p:cBhvr>
                                      <p:to>
                                        <p:strVal val="visible"/>
                                      </p:to>
                                    </p:set>
                                    <p:animEffect transition="in" filter="wipe(down)">
                                      <p:cBhvr>
                                        <p:cTn id="17" dur="500"/>
                                        <p:tgtEl>
                                          <p:spTgt spid="190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6" grpId="0" bldLvl="0" animBg="1" autoUpdateAnimBg="0"/>
      <p:bldP spid="190467" grpId="0" bldLvl="0" animBg="1"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1490" name="Object 2"/>
          <p:cNvGraphicFramePr>
            <a:graphicFrameLocks noChangeAspect="1"/>
          </p:cNvGraphicFramePr>
          <p:nvPr/>
        </p:nvGraphicFramePr>
        <p:xfrm>
          <a:off x="228600" y="685800"/>
          <a:ext cx="8343900" cy="2222500"/>
        </p:xfrm>
        <a:graphic>
          <a:graphicData uri="http://schemas.openxmlformats.org/presentationml/2006/ole">
            <mc:AlternateContent xmlns:mc="http://schemas.openxmlformats.org/markup-compatibility/2006">
              <mc:Choice xmlns:v="urn:schemas-microsoft-com:vml" Requires="v">
                <p:oleObj spid="_x0000_s20530" name="公式" r:id="rId3" imgW="8324850" imgH="2223135" progId="Equation.3">
                  <p:embed/>
                </p:oleObj>
              </mc:Choice>
              <mc:Fallback>
                <p:oleObj name="公式" r:id="rId3" imgW="8324850" imgH="2223135"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685800"/>
                        <a:ext cx="8343900" cy="2222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1491" name="Object 3"/>
          <p:cNvGraphicFramePr>
            <a:graphicFrameLocks noChangeAspect="1"/>
          </p:cNvGraphicFramePr>
          <p:nvPr/>
        </p:nvGraphicFramePr>
        <p:xfrm>
          <a:off x="1143000" y="3886200"/>
          <a:ext cx="6953250" cy="1181100"/>
        </p:xfrm>
        <a:graphic>
          <a:graphicData uri="http://schemas.openxmlformats.org/presentationml/2006/ole">
            <mc:AlternateContent xmlns:mc="http://schemas.openxmlformats.org/markup-compatibility/2006">
              <mc:Choice xmlns:v="urn:schemas-microsoft-com:vml" Requires="v">
                <p:oleObj spid="_x0000_s20531" name="公式" r:id="rId5" imgW="6686550" imgH="1174115" progId="Equation.3">
                  <p:embed/>
                </p:oleObj>
              </mc:Choice>
              <mc:Fallback>
                <p:oleObj name="公式" r:id="rId5" imgW="6686550" imgH="1174115"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000" y="3886200"/>
                        <a:ext cx="6953250" cy="1181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1492" name="Text Box 4"/>
          <p:cNvSpPr txBox="1">
            <a:spLocks noChangeArrowheads="1"/>
          </p:cNvSpPr>
          <p:nvPr/>
        </p:nvSpPr>
        <p:spPr bwMode="auto">
          <a:xfrm>
            <a:off x="609600" y="609600"/>
            <a:ext cx="533400" cy="519113"/>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例</a:t>
            </a:r>
          </a:p>
        </p:txBody>
      </p:sp>
      <p:sp>
        <p:nvSpPr>
          <p:cNvPr id="191493" name="Text Box 5"/>
          <p:cNvSpPr txBox="1">
            <a:spLocks noChangeArrowheads="1"/>
          </p:cNvSpPr>
          <p:nvPr/>
        </p:nvSpPr>
        <p:spPr bwMode="auto">
          <a:xfrm>
            <a:off x="468313" y="3213100"/>
            <a:ext cx="12382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solidFill>
                  <a:schemeClr val="accent2"/>
                </a:solidFill>
              </a:rPr>
              <a:t>解</a:t>
            </a:r>
            <a:r>
              <a:rPr lang="zh-CN" altLang="en-US" b="1"/>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1492"/>
                                        </p:tgtEl>
                                        <p:attrNameLst>
                                          <p:attrName>style.visibility</p:attrName>
                                        </p:attrNameLst>
                                      </p:cBhvr>
                                      <p:to>
                                        <p:strVal val="visible"/>
                                      </p:to>
                                    </p:set>
                                    <p:anim calcmode="lin" valueType="num">
                                      <p:cBhvr additive="base">
                                        <p:cTn id="7" dur="500" fill="hold"/>
                                        <p:tgtEl>
                                          <p:spTgt spid="191492"/>
                                        </p:tgtEl>
                                        <p:attrNameLst>
                                          <p:attrName>ppt_x</p:attrName>
                                        </p:attrNameLst>
                                      </p:cBhvr>
                                      <p:tavLst>
                                        <p:tav tm="0">
                                          <p:val>
                                            <p:strVal val="0-#ppt_w/2"/>
                                          </p:val>
                                        </p:tav>
                                        <p:tav tm="100000">
                                          <p:val>
                                            <p:strVal val="#ppt_x"/>
                                          </p:val>
                                        </p:tav>
                                      </p:tavLst>
                                    </p:anim>
                                    <p:anim calcmode="lin" valueType="num">
                                      <p:cBhvr additive="base">
                                        <p:cTn id="8" dur="500" fill="hold"/>
                                        <p:tgtEl>
                                          <p:spTgt spid="19149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191490"/>
                                        </p:tgtEl>
                                        <p:attrNameLst>
                                          <p:attrName>style.visibility</p:attrName>
                                        </p:attrNameLst>
                                      </p:cBhvr>
                                      <p:to>
                                        <p:strVal val="visible"/>
                                      </p:to>
                                    </p:set>
                                    <p:animEffect transition="in" filter="wipe(down)">
                                      <p:cBhvr>
                                        <p:cTn id="13" dur="500"/>
                                        <p:tgtEl>
                                          <p:spTgt spid="191490"/>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91493"/>
                                        </p:tgtEl>
                                        <p:attrNameLst>
                                          <p:attrName>style.visibility</p:attrName>
                                        </p:attrNameLst>
                                      </p:cBhvr>
                                      <p:to>
                                        <p:strVal val="visible"/>
                                      </p:to>
                                    </p:set>
                                    <p:anim calcmode="lin" valueType="num">
                                      <p:cBhvr additive="base">
                                        <p:cTn id="18" dur="500" fill="hold"/>
                                        <p:tgtEl>
                                          <p:spTgt spid="191493"/>
                                        </p:tgtEl>
                                        <p:attrNameLst>
                                          <p:attrName>ppt_x</p:attrName>
                                        </p:attrNameLst>
                                      </p:cBhvr>
                                      <p:tavLst>
                                        <p:tav tm="0">
                                          <p:val>
                                            <p:strVal val="0-#ppt_w/2"/>
                                          </p:val>
                                        </p:tav>
                                        <p:tav tm="100000">
                                          <p:val>
                                            <p:strVal val="#ppt_x"/>
                                          </p:val>
                                        </p:tav>
                                      </p:tavLst>
                                    </p:anim>
                                    <p:anim calcmode="lin" valueType="num">
                                      <p:cBhvr additive="base">
                                        <p:cTn id="19" dur="500" fill="hold"/>
                                        <p:tgtEl>
                                          <p:spTgt spid="191493"/>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191491"/>
                                        </p:tgtEl>
                                        <p:attrNameLst>
                                          <p:attrName>style.visibility</p:attrName>
                                        </p:attrNameLst>
                                      </p:cBhvr>
                                      <p:to>
                                        <p:strVal val="visible"/>
                                      </p:to>
                                    </p:set>
                                    <p:anim calcmode="lin" valueType="num">
                                      <p:cBhvr additive="base">
                                        <p:cTn id="24" dur="500" fill="hold"/>
                                        <p:tgtEl>
                                          <p:spTgt spid="191491"/>
                                        </p:tgtEl>
                                        <p:attrNameLst>
                                          <p:attrName>ppt_x</p:attrName>
                                        </p:attrNameLst>
                                      </p:cBhvr>
                                      <p:tavLst>
                                        <p:tav tm="0">
                                          <p:val>
                                            <p:strVal val="0-#ppt_w/2"/>
                                          </p:val>
                                        </p:tav>
                                        <p:tav tm="100000">
                                          <p:val>
                                            <p:strVal val="#ppt_x"/>
                                          </p:val>
                                        </p:tav>
                                      </p:tavLst>
                                    </p:anim>
                                    <p:anim calcmode="lin" valueType="num">
                                      <p:cBhvr additive="base">
                                        <p:cTn id="25" dur="500" fill="hold"/>
                                        <p:tgtEl>
                                          <p:spTgt spid="19149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2" grpId="0" bldLvl="0" animBg="1" autoUpdateAnimBg="0"/>
      <p:bldP spid="191493" grpId="0" bldLvl="0" animBg="1"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609600" y="403225"/>
            <a:ext cx="7191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solidFill>
                  <a:srgbClr val="000099"/>
                </a:solidFill>
              </a:rPr>
              <a:t>例</a:t>
            </a:r>
            <a:r>
              <a:rPr lang="en-US" altLang="zh-CN" sz="2800" b="1">
                <a:solidFill>
                  <a:srgbClr val="000099"/>
                </a:solidFill>
              </a:rPr>
              <a:t>1</a:t>
            </a:r>
          </a:p>
        </p:txBody>
      </p:sp>
      <p:graphicFrame>
        <p:nvGraphicFramePr>
          <p:cNvPr id="21507" name="Object 3"/>
          <p:cNvGraphicFramePr>
            <a:graphicFrameLocks noChangeAspect="1"/>
          </p:cNvGraphicFramePr>
          <p:nvPr/>
        </p:nvGraphicFramePr>
        <p:xfrm>
          <a:off x="1331913" y="400050"/>
          <a:ext cx="4021137" cy="603250"/>
        </p:xfrm>
        <a:graphic>
          <a:graphicData uri="http://schemas.openxmlformats.org/presentationml/2006/ole">
            <mc:AlternateContent xmlns:mc="http://schemas.openxmlformats.org/markup-compatibility/2006">
              <mc:Choice xmlns:v="urn:schemas-microsoft-com:vml" Requires="v">
                <p:oleObj spid="_x0000_s21609" name="Equation" r:id="rId3" imgW="1581150" imgH="221615" progId="Equation.DSMT4">
                  <p:embed/>
                </p:oleObj>
              </mc:Choice>
              <mc:Fallback>
                <p:oleObj name="Equation" r:id="rId3" imgW="1581150" imgH="221615" progId="Equation.DSMT4">
                  <p:embed/>
                  <p:pic>
                    <p:nvPicPr>
                      <p:cNvPr id="0" name="Object 3"/>
                      <p:cNvPicPr>
                        <a:picLocks noChangeAspect="1" noChangeArrowheads="1"/>
                      </p:cNvPicPr>
                      <p:nvPr/>
                    </p:nvPicPr>
                    <p:blipFill>
                      <a:blip r:embed="rId4">
                        <a:lum bright="-100000" contrast="-100000"/>
                        <a:extLst>
                          <a:ext uri="{28A0092B-C50C-407E-A947-70E740481C1C}">
                            <a14:useLocalDpi xmlns:a14="http://schemas.microsoft.com/office/drawing/2010/main" val="0"/>
                          </a:ext>
                        </a:extLst>
                      </a:blip>
                      <a:srcRect/>
                      <a:stretch>
                        <a:fillRect/>
                      </a:stretch>
                    </p:blipFill>
                    <p:spPr bwMode="auto">
                      <a:xfrm>
                        <a:off x="1331913" y="400050"/>
                        <a:ext cx="4021137" cy="603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564" name="Object 4"/>
          <p:cNvGraphicFramePr>
            <a:graphicFrameLocks noChangeAspect="1"/>
          </p:cNvGraphicFramePr>
          <p:nvPr/>
        </p:nvGraphicFramePr>
        <p:xfrm>
          <a:off x="1218089" y="1745933"/>
          <a:ext cx="7268210" cy="1067435"/>
        </p:xfrm>
        <a:graphic>
          <a:graphicData uri="http://schemas.openxmlformats.org/presentationml/2006/ole">
            <mc:AlternateContent xmlns:mc="http://schemas.openxmlformats.org/markup-compatibility/2006">
              <mc:Choice xmlns:v="urn:schemas-microsoft-com:vml" Requires="v">
                <p:oleObj spid="_x0000_s21610" name="Equation" r:id="rId5" imgW="2870200" imgH="431800" progId="Equation.DSMT4">
                  <p:embed/>
                </p:oleObj>
              </mc:Choice>
              <mc:Fallback>
                <p:oleObj name="Equation" r:id="rId5" imgW="2870200" imgH="431800" progId="Equation.DSMT4">
                  <p:embed/>
                  <p:pic>
                    <p:nvPicPr>
                      <p:cNvPr id="0" name="Object 4"/>
                      <p:cNvPicPr>
                        <a:picLocks noChangeAspect="1" noChangeArrowheads="1"/>
                      </p:cNvPicPr>
                      <p:nvPr/>
                    </p:nvPicPr>
                    <p:blipFill>
                      <a:blip r:embed="rId6">
                        <a:lum bright="-100000" contrast="-100000"/>
                      </a:blip>
                      <a:srcRect/>
                      <a:stretch>
                        <a:fillRect/>
                      </a:stretch>
                    </p:blipFill>
                    <p:spPr bwMode="auto">
                      <a:xfrm>
                        <a:off x="1218089" y="1745933"/>
                        <a:ext cx="7268210" cy="1067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5"/>
          <p:cNvGrpSpPr/>
          <p:nvPr/>
        </p:nvGrpSpPr>
        <p:grpSpPr bwMode="auto">
          <a:xfrm>
            <a:off x="1331913" y="2117725"/>
            <a:ext cx="1295400" cy="720725"/>
            <a:chOff x="1202" y="3702"/>
            <a:chExt cx="816" cy="454"/>
          </a:xfrm>
        </p:grpSpPr>
        <p:sp>
          <p:nvSpPr>
            <p:cNvPr id="21521" name="Line 6"/>
            <p:cNvSpPr>
              <a:spLocks noChangeShapeType="1"/>
            </p:cNvSpPr>
            <p:nvPr/>
          </p:nvSpPr>
          <p:spPr bwMode="auto">
            <a:xfrm>
              <a:off x="1202" y="3929"/>
              <a:ext cx="181" cy="227"/>
            </a:xfrm>
            <a:prstGeom prst="line">
              <a:avLst/>
            </a:prstGeom>
            <a:noFill/>
            <a:ln w="28575" cap="sq">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1522" name="Line 7"/>
            <p:cNvSpPr>
              <a:spLocks noChangeShapeType="1"/>
            </p:cNvSpPr>
            <p:nvPr/>
          </p:nvSpPr>
          <p:spPr bwMode="auto">
            <a:xfrm flipV="1">
              <a:off x="1383" y="3702"/>
              <a:ext cx="635" cy="454"/>
            </a:xfrm>
            <a:prstGeom prst="line">
              <a:avLst/>
            </a:prstGeom>
            <a:noFill/>
            <a:ln w="28575" cap="sq">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 name="Group 8"/>
          <p:cNvGrpSpPr/>
          <p:nvPr/>
        </p:nvGrpSpPr>
        <p:grpSpPr bwMode="auto">
          <a:xfrm>
            <a:off x="3708400" y="1830388"/>
            <a:ext cx="1295400" cy="935037"/>
            <a:chOff x="2699" y="3521"/>
            <a:chExt cx="816" cy="589"/>
          </a:xfrm>
        </p:grpSpPr>
        <p:sp>
          <p:nvSpPr>
            <p:cNvPr id="21519" name="Line 9"/>
            <p:cNvSpPr>
              <a:spLocks noChangeShapeType="1"/>
            </p:cNvSpPr>
            <p:nvPr/>
          </p:nvSpPr>
          <p:spPr bwMode="auto">
            <a:xfrm flipH="1">
              <a:off x="2699" y="3521"/>
              <a:ext cx="771" cy="544"/>
            </a:xfrm>
            <a:prstGeom prst="line">
              <a:avLst/>
            </a:prstGeom>
            <a:noFill/>
            <a:ln w="28575" cap="sq">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1520" name="Line 10"/>
            <p:cNvSpPr>
              <a:spLocks noChangeShapeType="1"/>
            </p:cNvSpPr>
            <p:nvPr/>
          </p:nvSpPr>
          <p:spPr bwMode="auto">
            <a:xfrm>
              <a:off x="2789" y="3521"/>
              <a:ext cx="726" cy="589"/>
            </a:xfrm>
            <a:prstGeom prst="line">
              <a:avLst/>
            </a:prstGeom>
            <a:noFill/>
            <a:ln w="28575" cap="sq">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4" name="Group 11"/>
          <p:cNvGrpSpPr/>
          <p:nvPr/>
        </p:nvGrpSpPr>
        <p:grpSpPr bwMode="auto">
          <a:xfrm>
            <a:off x="6011863" y="2117725"/>
            <a:ext cx="1295400" cy="720725"/>
            <a:chOff x="1202" y="3702"/>
            <a:chExt cx="816" cy="454"/>
          </a:xfrm>
        </p:grpSpPr>
        <p:sp>
          <p:nvSpPr>
            <p:cNvPr id="21517" name="Line 12"/>
            <p:cNvSpPr>
              <a:spLocks noChangeShapeType="1"/>
            </p:cNvSpPr>
            <p:nvPr/>
          </p:nvSpPr>
          <p:spPr bwMode="auto">
            <a:xfrm>
              <a:off x="1202" y="3929"/>
              <a:ext cx="181" cy="227"/>
            </a:xfrm>
            <a:prstGeom prst="line">
              <a:avLst/>
            </a:prstGeom>
            <a:noFill/>
            <a:ln w="28575" cap="sq">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1518" name="Line 13"/>
            <p:cNvSpPr>
              <a:spLocks noChangeShapeType="1"/>
            </p:cNvSpPr>
            <p:nvPr/>
          </p:nvSpPr>
          <p:spPr bwMode="auto">
            <a:xfrm flipV="1">
              <a:off x="1383" y="3702"/>
              <a:ext cx="635" cy="454"/>
            </a:xfrm>
            <a:prstGeom prst="line">
              <a:avLst/>
            </a:prstGeom>
            <a:noFill/>
            <a:ln w="28575" cap="sq">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21512" name="Text Box 14"/>
          <p:cNvSpPr txBox="1">
            <a:spLocks noChangeArrowheads="1"/>
          </p:cNvSpPr>
          <p:nvPr/>
        </p:nvSpPr>
        <p:spPr bwMode="auto">
          <a:xfrm>
            <a:off x="5267325" y="454025"/>
            <a:ext cx="3130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为来自总体的样本</a:t>
            </a:r>
            <a:r>
              <a:rPr lang="zh-CN" altLang="en-US" sz="2800"/>
              <a:t> </a:t>
            </a:r>
          </a:p>
        </p:txBody>
      </p:sp>
      <p:sp>
        <p:nvSpPr>
          <p:cNvPr id="21513" name="Text Box 15"/>
          <p:cNvSpPr txBox="1">
            <a:spLocks noChangeArrowheads="1"/>
          </p:cNvSpPr>
          <p:nvPr/>
        </p:nvSpPr>
        <p:spPr bwMode="auto">
          <a:xfrm>
            <a:off x="1160463" y="1081088"/>
            <a:ext cx="14335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未知，</a:t>
            </a:r>
            <a:r>
              <a:rPr lang="zh-CN" altLang="en-US" sz="2800"/>
              <a:t>  </a:t>
            </a:r>
          </a:p>
        </p:txBody>
      </p:sp>
      <p:graphicFrame>
        <p:nvGraphicFramePr>
          <p:cNvPr id="21514" name="Object 16"/>
          <p:cNvGraphicFramePr>
            <a:graphicFrameLocks noChangeAspect="1"/>
          </p:cNvGraphicFramePr>
          <p:nvPr/>
        </p:nvGraphicFramePr>
        <p:xfrm>
          <a:off x="914400" y="1187450"/>
          <a:ext cx="477838" cy="412750"/>
        </p:xfrm>
        <a:graphic>
          <a:graphicData uri="http://schemas.openxmlformats.org/presentationml/2006/ole">
            <mc:AlternateContent xmlns:mc="http://schemas.openxmlformats.org/markup-compatibility/2006">
              <mc:Choice xmlns:v="urn:schemas-microsoft-com:vml" Requires="v">
                <p:oleObj spid="_x0000_s21611" name="Equation" r:id="rId7" imgW="171450" imgH="144145" progId="Equation.DSMT4">
                  <p:embed/>
                </p:oleObj>
              </mc:Choice>
              <mc:Fallback>
                <p:oleObj name="Equation" r:id="rId7" imgW="171450" imgH="144145" progId="Equation.DSMT4">
                  <p:embed/>
                  <p:pic>
                    <p:nvPicPr>
                      <p:cNvPr id="0" name="Object 16"/>
                      <p:cNvPicPr>
                        <a:picLocks noChangeAspect="1" noChangeArrowheads="1"/>
                      </p:cNvPicPr>
                      <p:nvPr/>
                    </p:nvPicPr>
                    <p:blipFill>
                      <a:blip r:embed="rId8">
                        <a:lum bright="-100000" contrast="-100000"/>
                        <a:extLst>
                          <a:ext uri="{28A0092B-C50C-407E-A947-70E740481C1C}">
                            <a14:useLocalDpi xmlns:a14="http://schemas.microsoft.com/office/drawing/2010/main" val="0"/>
                          </a:ext>
                        </a:extLst>
                      </a:blip>
                      <a:srcRect/>
                      <a:stretch>
                        <a:fillRect/>
                      </a:stretch>
                    </p:blipFill>
                    <p:spPr bwMode="auto">
                      <a:xfrm>
                        <a:off x="914400" y="1187450"/>
                        <a:ext cx="477838"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15" name="Object 17"/>
          <p:cNvGraphicFramePr>
            <a:graphicFrameLocks noChangeAspect="1"/>
          </p:cNvGraphicFramePr>
          <p:nvPr/>
        </p:nvGraphicFramePr>
        <p:xfrm>
          <a:off x="2225675" y="1033463"/>
          <a:ext cx="669925" cy="571500"/>
        </p:xfrm>
        <a:graphic>
          <a:graphicData uri="http://schemas.openxmlformats.org/presentationml/2006/ole">
            <mc:AlternateContent xmlns:mc="http://schemas.openxmlformats.org/markup-compatibility/2006">
              <mc:Choice xmlns:v="urn:schemas-microsoft-com:vml" Requires="v">
                <p:oleObj spid="_x0000_s21612" name="Equation" r:id="rId9" imgW="247650" imgH="211455" progId="Equation.DSMT4">
                  <p:embed/>
                </p:oleObj>
              </mc:Choice>
              <mc:Fallback>
                <p:oleObj name="Equation" r:id="rId9" imgW="247650" imgH="211455" progId="Equation.DSMT4">
                  <p:embed/>
                  <p:pic>
                    <p:nvPicPr>
                      <p:cNvPr id="0" name="Object 17"/>
                      <p:cNvPicPr>
                        <a:picLocks noChangeAspect="1" noChangeArrowheads="1"/>
                      </p:cNvPicPr>
                      <p:nvPr/>
                    </p:nvPicPr>
                    <p:blipFill>
                      <a:blip r:embed="rId10">
                        <a:lum bright="-100000" contrast="-100000"/>
                        <a:extLst>
                          <a:ext uri="{28A0092B-C50C-407E-A947-70E740481C1C}">
                            <a14:useLocalDpi xmlns:a14="http://schemas.microsoft.com/office/drawing/2010/main" val="0"/>
                          </a:ext>
                        </a:extLst>
                      </a:blip>
                      <a:srcRect/>
                      <a:stretch>
                        <a:fillRect/>
                      </a:stretch>
                    </p:blipFill>
                    <p:spPr bwMode="auto">
                      <a:xfrm>
                        <a:off x="2225675" y="1033463"/>
                        <a:ext cx="669925"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16" name="Text Box 18"/>
          <p:cNvSpPr txBox="1">
            <a:spLocks noChangeArrowheads="1"/>
          </p:cNvSpPr>
          <p:nvPr/>
        </p:nvSpPr>
        <p:spPr bwMode="auto">
          <a:xfrm>
            <a:off x="2681288" y="1066800"/>
            <a:ext cx="6076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已知，判断下列函数哪些是统计量。 </a:t>
            </a:r>
            <a:r>
              <a:rPr lang="zh-CN" altLang="en-US" sz="2800"/>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94564"/>
                                        </p:tgtEl>
                                        <p:attrNameLst>
                                          <p:attrName>style.visibility</p:attrName>
                                        </p:attrNameLst>
                                      </p:cBhvr>
                                      <p:to>
                                        <p:strVal val="visible"/>
                                      </p:to>
                                    </p:set>
                                    <p:animEffect transition="in" filter="wipe(left)">
                                      <p:cBhvr>
                                        <p:cTn id="7" dur="500"/>
                                        <p:tgtEl>
                                          <p:spTgt spid="19456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Text Box 2"/>
          <p:cNvSpPr txBox="1">
            <a:spLocks noChangeArrowheads="1"/>
          </p:cNvSpPr>
          <p:nvPr/>
        </p:nvSpPr>
        <p:spPr bwMode="auto">
          <a:xfrm>
            <a:off x="406400" y="428625"/>
            <a:ext cx="16557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solidFill>
                  <a:schemeClr val="accent2"/>
                </a:solidFill>
              </a:rPr>
              <a:t>请注意 </a:t>
            </a:r>
            <a:r>
              <a:rPr lang="en-US" altLang="zh-CN" sz="2800" b="1">
                <a:solidFill>
                  <a:schemeClr val="accent2"/>
                </a:solidFill>
              </a:rPr>
              <a:t>:</a:t>
            </a:r>
          </a:p>
        </p:txBody>
      </p:sp>
      <p:graphicFrame>
        <p:nvGraphicFramePr>
          <p:cNvPr id="193539" name="Object 3"/>
          <p:cNvGraphicFramePr>
            <a:graphicFrameLocks noChangeAspect="1"/>
          </p:cNvGraphicFramePr>
          <p:nvPr/>
        </p:nvGraphicFramePr>
        <p:xfrm>
          <a:off x="214313" y="2492375"/>
          <a:ext cx="8678862" cy="1684338"/>
        </p:xfrm>
        <a:graphic>
          <a:graphicData uri="http://schemas.openxmlformats.org/presentationml/2006/ole">
            <mc:AlternateContent xmlns:mc="http://schemas.openxmlformats.org/markup-compatibility/2006">
              <mc:Choice xmlns:v="urn:schemas-microsoft-com:vml" Requires="v">
                <p:oleObj spid="_x0000_s22556" name="Equation" r:id="rId3" imgW="3571875" imgH="702945" progId="Equation.DSMT4">
                  <p:embed/>
                </p:oleObj>
              </mc:Choice>
              <mc:Fallback>
                <p:oleObj name="Equation" r:id="rId3" imgW="3571875" imgH="702945"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313" y="2492375"/>
                        <a:ext cx="8678862" cy="1684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3540" name="Text Box 4"/>
          <p:cNvSpPr txBox="1">
            <a:spLocks noChangeArrowheads="1"/>
          </p:cNvSpPr>
          <p:nvPr/>
        </p:nvSpPr>
        <p:spPr bwMode="auto">
          <a:xfrm>
            <a:off x="323850" y="1541463"/>
            <a:ext cx="5105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a:t>
            </a:r>
            <a:r>
              <a:rPr lang="en-US" altLang="zh-CN" sz="2800" b="1"/>
              <a:t>1</a:t>
            </a:r>
            <a:r>
              <a:rPr lang="zh-CN" altLang="en-US" sz="2800" b="1"/>
              <a:t>）统计量是一个随机变量。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93538"/>
                                        </p:tgtEl>
                                        <p:attrNameLst>
                                          <p:attrName>style.visibility</p:attrName>
                                        </p:attrNameLst>
                                      </p:cBhvr>
                                      <p:to>
                                        <p:strVal val="visible"/>
                                      </p:to>
                                    </p:set>
                                    <p:animEffect transition="in" filter="wipe(down)">
                                      <p:cBhvr>
                                        <p:cTn id="7" dur="500"/>
                                        <p:tgtEl>
                                          <p:spTgt spid="19353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93540"/>
                                        </p:tgtEl>
                                        <p:attrNameLst>
                                          <p:attrName>style.visibility</p:attrName>
                                        </p:attrNameLst>
                                      </p:cBhvr>
                                      <p:to>
                                        <p:strVal val="visible"/>
                                      </p:to>
                                    </p:set>
                                    <p:anim calcmode="lin" valueType="num">
                                      <p:cBhvr additive="base">
                                        <p:cTn id="12" dur="500" fill="hold"/>
                                        <p:tgtEl>
                                          <p:spTgt spid="193540"/>
                                        </p:tgtEl>
                                        <p:attrNameLst>
                                          <p:attrName>ppt_x</p:attrName>
                                        </p:attrNameLst>
                                      </p:cBhvr>
                                      <p:tavLst>
                                        <p:tav tm="0">
                                          <p:val>
                                            <p:strVal val="0-#ppt_w/2"/>
                                          </p:val>
                                        </p:tav>
                                        <p:tav tm="100000">
                                          <p:val>
                                            <p:strVal val="#ppt_x"/>
                                          </p:val>
                                        </p:tav>
                                      </p:tavLst>
                                    </p:anim>
                                    <p:anim calcmode="lin" valueType="num">
                                      <p:cBhvr additive="base">
                                        <p:cTn id="13" dur="500" fill="hold"/>
                                        <p:tgtEl>
                                          <p:spTgt spid="193540"/>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193539"/>
                                        </p:tgtEl>
                                        <p:attrNameLst>
                                          <p:attrName>style.visibility</p:attrName>
                                        </p:attrNameLst>
                                      </p:cBhvr>
                                      <p:to>
                                        <p:strVal val="visible"/>
                                      </p:to>
                                    </p:set>
                                    <p:animEffect transition="in" filter="wipe(down)">
                                      <p:cBhvr>
                                        <p:cTn id="18" dur="500"/>
                                        <p:tgtEl>
                                          <p:spTgt spid="1935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38" grpId="0" bldLvl="0" animBg="1" autoUpdateAnimBg="0"/>
      <p:bldP spid="193540" grpId="0" bldLvl="0" animBg="1"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554" name="Object 2"/>
          <p:cNvGraphicFramePr>
            <a:graphicFrameLocks noChangeAspect="1"/>
          </p:cNvGraphicFramePr>
          <p:nvPr/>
        </p:nvGraphicFramePr>
        <p:xfrm>
          <a:off x="4537075" y="0"/>
          <a:ext cx="190500" cy="419100"/>
        </p:xfrm>
        <a:graphic>
          <a:graphicData uri="http://schemas.openxmlformats.org/presentationml/2006/ole">
            <mc:AlternateContent xmlns:mc="http://schemas.openxmlformats.org/markup-compatibility/2006">
              <mc:Choice xmlns:v="urn:schemas-microsoft-com:vml" Requires="v">
                <p:oleObj spid="_x0000_s23672" name="公式" r:id="rId3" imgW="171450" imgH="404495" progId="Equation.3">
                  <p:embed/>
                </p:oleObj>
              </mc:Choice>
              <mc:Fallback>
                <p:oleObj name="公式" r:id="rId3" imgW="171450" imgH="404495"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37075" y="0"/>
                        <a:ext cx="1905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5" name="Text Box 3"/>
          <p:cNvSpPr txBox="1">
            <a:spLocks noChangeArrowheads="1"/>
          </p:cNvSpPr>
          <p:nvPr/>
        </p:nvSpPr>
        <p:spPr bwMode="auto">
          <a:xfrm>
            <a:off x="533400" y="215900"/>
            <a:ext cx="32718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zh-CN" altLang="en-US" sz="2800" b="1">
                <a:solidFill>
                  <a:schemeClr val="hlink"/>
                </a:solidFill>
              </a:rPr>
              <a:t>  </a:t>
            </a:r>
            <a:r>
              <a:rPr lang="zh-CN" altLang="en-US" sz="2800" b="1">
                <a:solidFill>
                  <a:schemeClr val="accent2"/>
                </a:solidFill>
              </a:rPr>
              <a:t>几个常见统计量</a:t>
            </a:r>
          </a:p>
        </p:txBody>
      </p:sp>
      <p:sp>
        <p:nvSpPr>
          <p:cNvPr id="194564" name="Rectangle 4"/>
          <p:cNvSpPr>
            <a:spLocks noChangeArrowheads="1"/>
          </p:cNvSpPr>
          <p:nvPr/>
        </p:nvSpPr>
        <p:spPr bwMode="auto">
          <a:xfrm>
            <a:off x="388938" y="1179513"/>
            <a:ext cx="28082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solidFill>
                  <a:schemeClr val="accent2"/>
                </a:solidFill>
              </a:rPr>
              <a:t>样本平均值</a:t>
            </a:r>
          </a:p>
        </p:txBody>
      </p:sp>
      <p:graphicFrame>
        <p:nvGraphicFramePr>
          <p:cNvPr id="194565" name="Object 5"/>
          <p:cNvGraphicFramePr>
            <a:graphicFrameLocks noChangeAspect="1"/>
          </p:cNvGraphicFramePr>
          <p:nvPr/>
        </p:nvGraphicFramePr>
        <p:xfrm>
          <a:off x="3197225" y="863600"/>
          <a:ext cx="2368550" cy="1255713"/>
        </p:xfrm>
        <a:graphic>
          <a:graphicData uri="http://schemas.openxmlformats.org/presentationml/2006/ole">
            <mc:AlternateContent xmlns:mc="http://schemas.openxmlformats.org/markup-compatibility/2006">
              <mc:Choice xmlns:v="urn:schemas-microsoft-com:vml" Requires="v">
                <p:oleObj spid="_x0000_s23673" name="公式" r:id="rId5" imgW="790575" imgH="414020" progId="Equation.3">
                  <p:embed/>
                </p:oleObj>
              </mc:Choice>
              <mc:Fallback>
                <p:oleObj name="公式" r:id="rId5" imgW="790575" imgH="41402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97225" y="863600"/>
                        <a:ext cx="2368550" cy="1255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566" name="AutoShape 6"/>
          <p:cNvSpPr>
            <a:spLocks noChangeArrowheads="1"/>
          </p:cNvSpPr>
          <p:nvPr/>
        </p:nvSpPr>
        <p:spPr bwMode="auto">
          <a:xfrm>
            <a:off x="6869113" y="862013"/>
            <a:ext cx="1800225" cy="1225550"/>
          </a:xfrm>
          <a:prstGeom prst="wedgeRoundRectCallout">
            <a:avLst>
              <a:gd name="adj1" fmla="val -120106"/>
              <a:gd name="adj2" fmla="val 35620"/>
              <a:gd name="adj3" fmla="val 16667"/>
            </a:avLst>
          </a:prstGeom>
          <a:solidFill>
            <a:srgbClr val="FFCC99"/>
          </a:solidFill>
          <a:ln w="9525">
            <a:solidFill>
              <a:schemeClr val="tx1"/>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a:t>它反映了</a:t>
            </a:r>
          </a:p>
          <a:p>
            <a:pPr algn="ctr" eaLnBrk="1" hangingPunct="1"/>
            <a:r>
              <a:rPr lang="zh-CN" altLang="en-US" b="1"/>
              <a:t>总体均值</a:t>
            </a:r>
          </a:p>
          <a:p>
            <a:pPr algn="ctr" eaLnBrk="1" hangingPunct="1"/>
            <a:r>
              <a:rPr lang="zh-CN" altLang="en-US" b="1"/>
              <a:t>的信息</a:t>
            </a:r>
          </a:p>
        </p:txBody>
      </p:sp>
      <p:sp>
        <p:nvSpPr>
          <p:cNvPr id="194567" name="Rectangle 7"/>
          <p:cNvSpPr>
            <a:spLocks noChangeArrowheads="1"/>
          </p:cNvSpPr>
          <p:nvPr/>
        </p:nvSpPr>
        <p:spPr bwMode="auto">
          <a:xfrm>
            <a:off x="460375" y="2406650"/>
            <a:ext cx="23764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solidFill>
                  <a:schemeClr val="accent2"/>
                </a:solidFill>
              </a:rPr>
              <a:t>样本方差</a:t>
            </a:r>
          </a:p>
        </p:txBody>
      </p:sp>
      <p:graphicFrame>
        <p:nvGraphicFramePr>
          <p:cNvPr id="194568" name="Object 8"/>
          <p:cNvGraphicFramePr>
            <a:graphicFrameLocks noChangeAspect="1"/>
          </p:cNvGraphicFramePr>
          <p:nvPr/>
        </p:nvGraphicFramePr>
        <p:xfrm>
          <a:off x="2908300" y="2128838"/>
          <a:ext cx="4298950" cy="1255712"/>
        </p:xfrm>
        <a:graphic>
          <a:graphicData uri="http://schemas.openxmlformats.org/presentationml/2006/ole">
            <mc:AlternateContent xmlns:mc="http://schemas.openxmlformats.org/markup-compatibility/2006">
              <mc:Choice xmlns:v="urn:schemas-microsoft-com:vml" Requires="v">
                <p:oleObj spid="_x0000_s23674" name="公式" r:id="rId7" imgW="1457325" imgH="414020" progId="Equation.3">
                  <p:embed/>
                </p:oleObj>
              </mc:Choice>
              <mc:Fallback>
                <p:oleObj name="公式" r:id="rId7" imgW="1457325" imgH="41402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08300" y="2128838"/>
                        <a:ext cx="4298950" cy="1255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569" name="AutoShape 9"/>
          <p:cNvSpPr>
            <a:spLocks noChangeArrowheads="1"/>
          </p:cNvSpPr>
          <p:nvPr/>
        </p:nvSpPr>
        <p:spPr bwMode="auto">
          <a:xfrm>
            <a:off x="388938" y="3455988"/>
            <a:ext cx="2303462" cy="1143000"/>
          </a:xfrm>
          <a:prstGeom prst="wedgeRoundRectCallout">
            <a:avLst>
              <a:gd name="adj1" fmla="val 62407"/>
              <a:gd name="adj2" fmla="val -59861"/>
              <a:gd name="adj3" fmla="val 16667"/>
            </a:avLst>
          </a:prstGeom>
          <a:solidFill>
            <a:srgbClr val="FFCC99"/>
          </a:solidFill>
          <a:ln w="9525">
            <a:solidFill>
              <a:schemeClr val="tx1"/>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a:t>它反映了总体</a:t>
            </a:r>
          </a:p>
          <a:p>
            <a:pPr algn="ctr" eaLnBrk="1" hangingPunct="1"/>
            <a:r>
              <a:rPr lang="zh-CN" altLang="en-US" b="1"/>
              <a:t>方差的信息</a:t>
            </a:r>
          </a:p>
        </p:txBody>
      </p:sp>
      <p:graphicFrame>
        <p:nvGraphicFramePr>
          <p:cNvPr id="194570" name="Object 10"/>
          <p:cNvGraphicFramePr>
            <a:graphicFrameLocks noChangeAspect="1"/>
          </p:cNvGraphicFramePr>
          <p:nvPr/>
        </p:nvGraphicFramePr>
        <p:xfrm>
          <a:off x="3536950" y="3455988"/>
          <a:ext cx="3187700" cy="850900"/>
        </p:xfrm>
        <a:graphic>
          <a:graphicData uri="http://schemas.openxmlformats.org/presentationml/2006/ole">
            <mc:AlternateContent xmlns:mc="http://schemas.openxmlformats.org/markup-compatibility/2006">
              <mc:Choice xmlns:v="urn:schemas-microsoft-com:vml" Requires="v">
                <p:oleObj spid="_x0000_s23675" name="公式" r:id="rId9" imgW="3171825" imgH="837565" progId="Equation.3">
                  <p:embed/>
                </p:oleObj>
              </mc:Choice>
              <mc:Fallback>
                <p:oleObj name="公式" r:id="rId9" imgW="3171825" imgH="837565"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36950" y="3455988"/>
                        <a:ext cx="3187700" cy="85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571" name="Rectangle 11"/>
          <p:cNvSpPr>
            <a:spLocks noChangeArrowheads="1"/>
          </p:cNvSpPr>
          <p:nvPr/>
        </p:nvSpPr>
        <p:spPr bwMode="auto">
          <a:xfrm>
            <a:off x="882650" y="5138738"/>
            <a:ext cx="20589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solidFill>
                  <a:schemeClr val="accent2"/>
                </a:solidFill>
              </a:rPr>
              <a:t>样本标准差 </a:t>
            </a:r>
          </a:p>
        </p:txBody>
      </p:sp>
      <p:graphicFrame>
        <p:nvGraphicFramePr>
          <p:cNvPr id="194572" name="Object 12"/>
          <p:cNvGraphicFramePr>
            <a:graphicFrameLocks noChangeAspect="1"/>
          </p:cNvGraphicFramePr>
          <p:nvPr/>
        </p:nvGraphicFramePr>
        <p:xfrm>
          <a:off x="3124200" y="4897438"/>
          <a:ext cx="3670300" cy="936625"/>
        </p:xfrm>
        <a:graphic>
          <a:graphicData uri="http://schemas.openxmlformats.org/presentationml/2006/ole">
            <mc:AlternateContent xmlns:mc="http://schemas.openxmlformats.org/markup-compatibility/2006">
              <mc:Choice xmlns:v="urn:schemas-microsoft-com:vml" Requires="v">
                <p:oleObj spid="_x0000_s23676" name="公式" r:id="rId11" imgW="3409950" imgH="866140" progId="Equation.3">
                  <p:embed/>
                </p:oleObj>
              </mc:Choice>
              <mc:Fallback>
                <p:oleObj name="公式" r:id="rId11" imgW="3409950" imgH="866140"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24200" y="4897438"/>
                        <a:ext cx="3670300" cy="936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4564"/>
                                        </p:tgtEl>
                                        <p:attrNameLst>
                                          <p:attrName>style.visibility</p:attrName>
                                        </p:attrNameLst>
                                      </p:cBhvr>
                                      <p:to>
                                        <p:strVal val="visible"/>
                                      </p:to>
                                    </p:set>
                                    <p:animEffect transition="in" filter="wipe(left)">
                                      <p:cBhvr>
                                        <p:cTn id="7" dur="500"/>
                                        <p:tgtEl>
                                          <p:spTgt spid="19456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94565"/>
                                        </p:tgtEl>
                                        <p:attrNameLst>
                                          <p:attrName>style.visibility</p:attrName>
                                        </p:attrNameLst>
                                      </p:cBhvr>
                                      <p:to>
                                        <p:strVal val="visible"/>
                                      </p:to>
                                    </p:set>
                                    <p:animEffect transition="in" filter="wipe(down)">
                                      <p:cBhvr>
                                        <p:cTn id="12" dur="500"/>
                                        <p:tgtEl>
                                          <p:spTgt spid="19456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94566"/>
                                        </p:tgtEl>
                                        <p:attrNameLst>
                                          <p:attrName>style.visibility</p:attrName>
                                        </p:attrNameLst>
                                      </p:cBhvr>
                                      <p:to>
                                        <p:strVal val="visible"/>
                                      </p:to>
                                    </p:set>
                                    <p:animEffect transition="in" filter="wipe(down)">
                                      <p:cBhvr>
                                        <p:cTn id="17" dur="500"/>
                                        <p:tgtEl>
                                          <p:spTgt spid="19456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4567"/>
                                        </p:tgtEl>
                                        <p:attrNameLst>
                                          <p:attrName>style.visibility</p:attrName>
                                        </p:attrNameLst>
                                      </p:cBhvr>
                                      <p:to>
                                        <p:strVal val="visible"/>
                                      </p:to>
                                    </p:set>
                                    <p:animEffect transition="in" filter="wipe(left)">
                                      <p:cBhvr>
                                        <p:cTn id="22" dur="500"/>
                                        <p:tgtEl>
                                          <p:spTgt spid="194567"/>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194569"/>
                                        </p:tgtEl>
                                        <p:attrNameLst>
                                          <p:attrName>style.visibility</p:attrName>
                                        </p:attrNameLst>
                                      </p:cBhvr>
                                      <p:to>
                                        <p:strVal val="visible"/>
                                      </p:to>
                                    </p:set>
                                    <p:anim calcmode="lin" valueType="num">
                                      <p:cBhvr additive="base">
                                        <p:cTn id="27" dur="500" fill="hold"/>
                                        <p:tgtEl>
                                          <p:spTgt spid="194569"/>
                                        </p:tgtEl>
                                        <p:attrNameLst>
                                          <p:attrName>ppt_x</p:attrName>
                                        </p:attrNameLst>
                                      </p:cBhvr>
                                      <p:tavLst>
                                        <p:tav tm="0">
                                          <p:val>
                                            <p:strVal val="0-#ppt_w/2"/>
                                          </p:val>
                                        </p:tav>
                                        <p:tav tm="100000">
                                          <p:val>
                                            <p:strVal val="#ppt_x"/>
                                          </p:val>
                                        </p:tav>
                                      </p:tavLst>
                                    </p:anim>
                                    <p:anim calcmode="lin" valueType="num">
                                      <p:cBhvr additive="base">
                                        <p:cTn id="28" dur="500" fill="hold"/>
                                        <p:tgtEl>
                                          <p:spTgt spid="194569"/>
                                        </p:tgtEl>
                                        <p:attrNameLst>
                                          <p:attrName>ppt_y</p:attrName>
                                        </p:attrNameLst>
                                      </p:cBhvr>
                                      <p:tavLst>
                                        <p:tav tm="0">
                                          <p:val>
                                            <p:strVal val="#ppt_y"/>
                                          </p:val>
                                        </p:tav>
                                        <p:tav tm="100000">
                                          <p:val>
                                            <p:strVal val="#ppt_y"/>
                                          </p:val>
                                        </p:tav>
                                      </p:tavLst>
                                    </p:anim>
                                  </p:childTnLst>
                                </p:cTn>
                              </p:par>
                            </p:childTnLst>
                          </p:cTn>
                        </p:par>
                        <p:par>
                          <p:cTn id="29" fill="hold">
                            <p:stCondLst>
                              <p:cond delay="500"/>
                            </p:stCondLst>
                            <p:childTnLst>
                              <p:par>
                                <p:cTn id="30" presetID="2" presetClass="entr" presetSubtype="2" fill="hold" nodeType="afterEffect">
                                  <p:stCondLst>
                                    <p:cond delay="0"/>
                                  </p:stCondLst>
                                  <p:childTnLst>
                                    <p:set>
                                      <p:cBhvr>
                                        <p:cTn id="31" dur="1" fill="hold">
                                          <p:stCondLst>
                                            <p:cond delay="0"/>
                                          </p:stCondLst>
                                        </p:cTn>
                                        <p:tgtEl>
                                          <p:spTgt spid="194568"/>
                                        </p:tgtEl>
                                        <p:attrNameLst>
                                          <p:attrName>style.visibility</p:attrName>
                                        </p:attrNameLst>
                                      </p:cBhvr>
                                      <p:to>
                                        <p:strVal val="visible"/>
                                      </p:to>
                                    </p:set>
                                    <p:anim calcmode="lin" valueType="num">
                                      <p:cBhvr additive="base">
                                        <p:cTn id="32" dur="500" fill="hold"/>
                                        <p:tgtEl>
                                          <p:spTgt spid="194568"/>
                                        </p:tgtEl>
                                        <p:attrNameLst>
                                          <p:attrName>ppt_x</p:attrName>
                                        </p:attrNameLst>
                                      </p:cBhvr>
                                      <p:tavLst>
                                        <p:tav tm="0">
                                          <p:val>
                                            <p:strVal val="1+#ppt_w/2"/>
                                          </p:val>
                                        </p:tav>
                                        <p:tav tm="100000">
                                          <p:val>
                                            <p:strVal val="#ppt_x"/>
                                          </p:val>
                                        </p:tav>
                                      </p:tavLst>
                                    </p:anim>
                                    <p:anim calcmode="lin" valueType="num">
                                      <p:cBhvr additive="base">
                                        <p:cTn id="33" dur="500" fill="hold"/>
                                        <p:tgtEl>
                                          <p:spTgt spid="194568"/>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194570"/>
                                        </p:tgtEl>
                                        <p:attrNameLst>
                                          <p:attrName>style.visibility</p:attrName>
                                        </p:attrNameLst>
                                      </p:cBhvr>
                                      <p:to>
                                        <p:strVal val="visible"/>
                                      </p:to>
                                    </p:set>
                                    <p:animEffect transition="in" filter="wipe(down)">
                                      <p:cBhvr>
                                        <p:cTn id="38" dur="500"/>
                                        <p:tgtEl>
                                          <p:spTgt spid="19457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194571"/>
                                        </p:tgtEl>
                                        <p:attrNameLst>
                                          <p:attrName>style.visibility</p:attrName>
                                        </p:attrNameLst>
                                      </p:cBhvr>
                                      <p:to>
                                        <p:strVal val="visible"/>
                                      </p:to>
                                    </p:set>
                                    <p:animEffect transition="in" filter="wipe(down)">
                                      <p:cBhvr>
                                        <p:cTn id="43" dur="500"/>
                                        <p:tgtEl>
                                          <p:spTgt spid="194571"/>
                                        </p:tgtEl>
                                      </p:cBhvr>
                                    </p:animEffect>
                                  </p:childTnLst>
                                </p:cTn>
                              </p:par>
                            </p:childTnLst>
                          </p:cTn>
                        </p:par>
                        <p:par>
                          <p:cTn id="44" fill="hold">
                            <p:stCondLst>
                              <p:cond delay="500"/>
                            </p:stCondLst>
                            <p:childTnLst>
                              <p:par>
                                <p:cTn id="45" presetID="22" presetClass="entr" presetSubtype="4" fill="hold" nodeType="afterEffect">
                                  <p:stCondLst>
                                    <p:cond delay="0"/>
                                  </p:stCondLst>
                                  <p:childTnLst>
                                    <p:set>
                                      <p:cBhvr>
                                        <p:cTn id="46" dur="1" fill="hold">
                                          <p:stCondLst>
                                            <p:cond delay="0"/>
                                          </p:stCondLst>
                                        </p:cTn>
                                        <p:tgtEl>
                                          <p:spTgt spid="194572"/>
                                        </p:tgtEl>
                                        <p:attrNameLst>
                                          <p:attrName>style.visibility</p:attrName>
                                        </p:attrNameLst>
                                      </p:cBhvr>
                                      <p:to>
                                        <p:strVal val="visible"/>
                                      </p:to>
                                    </p:set>
                                    <p:animEffect transition="in" filter="wipe(down)">
                                      <p:cBhvr>
                                        <p:cTn id="47" dur="500"/>
                                        <p:tgtEl>
                                          <p:spTgt spid="1945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4" grpId="0" bldLvl="0" animBg="1" autoUpdateAnimBg="0"/>
      <p:bldP spid="194566" grpId="0" bldLvl="0" animBg="1" autoUpdateAnimBg="0"/>
      <p:bldP spid="194567" grpId="0" bldLvl="0" animBg="1" autoUpdateAnimBg="0"/>
      <p:bldP spid="194569" grpId="0" bldLvl="0" animBg="1" autoUpdateAnimBg="0"/>
      <p:bldP spid="194571" grpId="0" bldLvl="0" animBg="1"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5586" name="Object 2"/>
          <p:cNvGraphicFramePr>
            <a:graphicFrameLocks noChangeAspect="1"/>
          </p:cNvGraphicFramePr>
          <p:nvPr/>
        </p:nvGraphicFramePr>
        <p:xfrm>
          <a:off x="755650" y="1916113"/>
          <a:ext cx="2559050" cy="1150937"/>
        </p:xfrm>
        <a:graphic>
          <a:graphicData uri="http://schemas.openxmlformats.org/presentationml/2006/ole">
            <mc:AlternateContent xmlns:mc="http://schemas.openxmlformats.org/markup-compatibility/2006">
              <mc:Choice xmlns:v="urn:schemas-microsoft-com:vml" Requires="v">
                <p:oleObj spid="_x0000_s24629" name="公式" r:id="rId3" imgW="857250" imgH="414020" progId="Equation.3">
                  <p:embed/>
                </p:oleObj>
              </mc:Choice>
              <mc:Fallback>
                <p:oleObj name="公式" r:id="rId3" imgW="857250" imgH="41402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1916113"/>
                        <a:ext cx="2559050" cy="1150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5587" name="AutoShape 3"/>
          <p:cNvSpPr>
            <a:spLocks noChangeArrowheads="1"/>
          </p:cNvSpPr>
          <p:nvPr/>
        </p:nvSpPr>
        <p:spPr bwMode="auto">
          <a:xfrm>
            <a:off x="6372225" y="2060575"/>
            <a:ext cx="2376488" cy="1066800"/>
          </a:xfrm>
          <a:prstGeom prst="wedgeRoundRectCallout">
            <a:avLst>
              <a:gd name="adj1" fmla="val -106782"/>
              <a:gd name="adj2" fmla="val 12796"/>
              <a:gd name="adj3" fmla="val 16667"/>
            </a:avLst>
          </a:prstGeom>
          <a:solidFill>
            <a:srgbClr val="FFCC99"/>
          </a:solidFill>
          <a:ln w="9525">
            <a:solidFill>
              <a:schemeClr val="tx1"/>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b="1"/>
          </a:p>
          <a:p>
            <a:pPr algn="ctr" eaLnBrk="1" hangingPunct="1"/>
            <a:r>
              <a:rPr lang="zh-CN" altLang="en-US" b="1"/>
              <a:t>它反映了总体</a:t>
            </a:r>
            <a:r>
              <a:rPr lang="en-US" altLang="zh-CN" b="1" i="1"/>
              <a:t>k </a:t>
            </a:r>
          </a:p>
          <a:p>
            <a:pPr algn="ctr" eaLnBrk="1" hangingPunct="1"/>
            <a:r>
              <a:rPr lang="zh-CN" altLang="en-US" b="1"/>
              <a:t>阶矩的信息</a:t>
            </a:r>
          </a:p>
          <a:p>
            <a:pPr algn="ctr" eaLnBrk="1" hangingPunct="1"/>
            <a:endParaRPr lang="zh-CN" altLang="en-US" b="1"/>
          </a:p>
        </p:txBody>
      </p:sp>
      <p:sp>
        <p:nvSpPr>
          <p:cNvPr id="24580" name="Rectangle 4"/>
          <p:cNvSpPr>
            <a:spLocks noChangeArrowheads="1"/>
          </p:cNvSpPr>
          <p:nvPr/>
        </p:nvSpPr>
        <p:spPr bwMode="auto">
          <a:xfrm>
            <a:off x="395288" y="1193800"/>
            <a:ext cx="3505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b="1">
                <a:solidFill>
                  <a:schemeClr val="accent2"/>
                </a:solidFill>
              </a:rPr>
              <a:t>样本</a:t>
            </a:r>
            <a:r>
              <a:rPr lang="en-US" altLang="zh-CN" sz="3200" b="1" i="1">
                <a:solidFill>
                  <a:schemeClr val="accent2"/>
                </a:solidFill>
              </a:rPr>
              <a:t>k</a:t>
            </a:r>
            <a:r>
              <a:rPr lang="zh-CN" altLang="en-US" sz="3200" b="1">
                <a:solidFill>
                  <a:schemeClr val="accent2"/>
                </a:solidFill>
              </a:rPr>
              <a:t>阶原点矩</a:t>
            </a:r>
          </a:p>
        </p:txBody>
      </p:sp>
      <p:sp>
        <p:nvSpPr>
          <p:cNvPr id="195589" name="Rectangle 5"/>
          <p:cNvSpPr>
            <a:spLocks noChangeArrowheads="1"/>
          </p:cNvSpPr>
          <p:nvPr/>
        </p:nvSpPr>
        <p:spPr bwMode="auto">
          <a:xfrm>
            <a:off x="361950" y="3497263"/>
            <a:ext cx="34893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b="1">
                <a:solidFill>
                  <a:schemeClr val="accent2"/>
                </a:solidFill>
              </a:rPr>
              <a:t>样本</a:t>
            </a:r>
            <a:r>
              <a:rPr lang="en-US" altLang="zh-CN" sz="3200" b="1" i="1">
                <a:solidFill>
                  <a:schemeClr val="accent2"/>
                </a:solidFill>
              </a:rPr>
              <a:t>k</a:t>
            </a:r>
            <a:r>
              <a:rPr lang="zh-CN" altLang="en-US" sz="3200" b="1">
                <a:solidFill>
                  <a:schemeClr val="accent2"/>
                </a:solidFill>
              </a:rPr>
              <a:t>阶中心矩</a:t>
            </a:r>
          </a:p>
        </p:txBody>
      </p:sp>
      <p:graphicFrame>
        <p:nvGraphicFramePr>
          <p:cNvPr id="195590" name="Object 6"/>
          <p:cNvGraphicFramePr>
            <a:graphicFrameLocks noChangeAspect="1"/>
          </p:cNvGraphicFramePr>
          <p:nvPr/>
        </p:nvGraphicFramePr>
        <p:xfrm>
          <a:off x="611188" y="4221163"/>
          <a:ext cx="3779837" cy="1255712"/>
        </p:xfrm>
        <a:graphic>
          <a:graphicData uri="http://schemas.openxmlformats.org/presentationml/2006/ole">
            <mc:AlternateContent xmlns:mc="http://schemas.openxmlformats.org/markup-compatibility/2006">
              <mc:Choice xmlns:v="urn:schemas-microsoft-com:vml" Requires="v">
                <p:oleObj spid="_x0000_s24630" name="公式" r:id="rId5" imgW="1276350" imgH="414020" progId="Equation.3">
                  <p:embed/>
                </p:oleObj>
              </mc:Choice>
              <mc:Fallback>
                <p:oleObj name="公式" r:id="rId5" imgW="1276350" imgH="41402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188" y="4221163"/>
                        <a:ext cx="3779837" cy="1255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5591" name="Rectangle 7"/>
          <p:cNvSpPr>
            <a:spLocks noChangeArrowheads="1"/>
          </p:cNvSpPr>
          <p:nvPr/>
        </p:nvSpPr>
        <p:spPr bwMode="auto">
          <a:xfrm>
            <a:off x="3419475" y="2205038"/>
            <a:ext cx="17367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zh-CN" sz="3200" b="1"/>
              <a:t> </a:t>
            </a:r>
            <a:r>
              <a:rPr lang="en-US" altLang="zh-CN" sz="3200" b="1" i="1"/>
              <a:t>k</a:t>
            </a:r>
            <a:r>
              <a:rPr lang="en-US" altLang="zh-CN" sz="3200" b="1"/>
              <a:t>=1,2,…</a:t>
            </a:r>
          </a:p>
        </p:txBody>
      </p:sp>
      <p:sp>
        <p:nvSpPr>
          <p:cNvPr id="195592" name="AutoShape 8"/>
          <p:cNvSpPr>
            <a:spLocks noChangeArrowheads="1"/>
          </p:cNvSpPr>
          <p:nvPr/>
        </p:nvSpPr>
        <p:spPr bwMode="auto">
          <a:xfrm>
            <a:off x="5508625" y="4365625"/>
            <a:ext cx="2819400" cy="1066800"/>
          </a:xfrm>
          <a:prstGeom prst="wedgeRoundRectCallout">
            <a:avLst>
              <a:gd name="adj1" fmla="val -91102"/>
              <a:gd name="adj2" fmla="val -1639"/>
              <a:gd name="adj3" fmla="val 16667"/>
            </a:avLst>
          </a:prstGeom>
          <a:solidFill>
            <a:srgbClr val="FFCC99"/>
          </a:solidFill>
          <a:ln w="9525">
            <a:solidFill>
              <a:schemeClr val="tx1"/>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a:t>它反映了总体</a:t>
            </a:r>
            <a:r>
              <a:rPr lang="en-US" altLang="zh-CN" b="1" i="1"/>
              <a:t>k </a:t>
            </a:r>
            <a:r>
              <a:rPr lang="zh-CN" altLang="en-US" b="1"/>
              <a:t>阶</a:t>
            </a:r>
          </a:p>
          <a:p>
            <a:pPr algn="ctr" eaLnBrk="1" hangingPunct="1"/>
            <a:r>
              <a:rPr lang="zh-CN" altLang="en-US" b="1"/>
              <a:t>中心矩的信息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95586"/>
                                        </p:tgtEl>
                                        <p:attrNameLst>
                                          <p:attrName>style.visibility</p:attrName>
                                        </p:attrNameLst>
                                      </p:cBhvr>
                                      <p:to>
                                        <p:strVal val="visible"/>
                                      </p:to>
                                    </p:set>
                                    <p:animEffect transition="in" filter="wipe(down)">
                                      <p:cBhvr>
                                        <p:cTn id="7" dur="500"/>
                                        <p:tgtEl>
                                          <p:spTgt spid="19558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95587"/>
                                        </p:tgtEl>
                                        <p:attrNameLst>
                                          <p:attrName>style.visibility</p:attrName>
                                        </p:attrNameLst>
                                      </p:cBhvr>
                                      <p:to>
                                        <p:strVal val="visible"/>
                                      </p:to>
                                    </p:set>
                                    <p:animEffect transition="in" filter="wipe(down)">
                                      <p:cBhvr>
                                        <p:cTn id="12" dur="500"/>
                                        <p:tgtEl>
                                          <p:spTgt spid="19558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5589"/>
                                        </p:tgtEl>
                                        <p:attrNameLst>
                                          <p:attrName>style.visibility</p:attrName>
                                        </p:attrNameLst>
                                      </p:cBhvr>
                                      <p:to>
                                        <p:strVal val="visible"/>
                                      </p:to>
                                    </p:set>
                                    <p:animEffect transition="in" filter="wipe(left)">
                                      <p:cBhvr>
                                        <p:cTn id="17" dur="500"/>
                                        <p:tgtEl>
                                          <p:spTgt spid="195589"/>
                                        </p:tgtEl>
                                      </p:cBhvr>
                                    </p:animEffect>
                                  </p:childTnLst>
                                </p:cTn>
                              </p:par>
                            </p:childTnLst>
                          </p:cTn>
                        </p:par>
                        <p:par>
                          <p:cTn id="18" fill="hold">
                            <p:stCondLst>
                              <p:cond delay="500"/>
                            </p:stCondLst>
                            <p:childTnLst>
                              <p:par>
                                <p:cTn id="19" presetID="2" presetClass="entr" presetSubtype="2" fill="hold" nodeType="afterEffect">
                                  <p:stCondLst>
                                    <p:cond delay="0"/>
                                  </p:stCondLst>
                                  <p:childTnLst>
                                    <p:set>
                                      <p:cBhvr>
                                        <p:cTn id="20" dur="1" fill="hold">
                                          <p:stCondLst>
                                            <p:cond delay="0"/>
                                          </p:stCondLst>
                                        </p:cTn>
                                        <p:tgtEl>
                                          <p:spTgt spid="195590"/>
                                        </p:tgtEl>
                                        <p:attrNameLst>
                                          <p:attrName>style.visibility</p:attrName>
                                        </p:attrNameLst>
                                      </p:cBhvr>
                                      <p:to>
                                        <p:strVal val="visible"/>
                                      </p:to>
                                    </p:set>
                                    <p:anim calcmode="lin" valueType="num">
                                      <p:cBhvr additive="base">
                                        <p:cTn id="21" dur="500" fill="hold"/>
                                        <p:tgtEl>
                                          <p:spTgt spid="195590"/>
                                        </p:tgtEl>
                                        <p:attrNameLst>
                                          <p:attrName>ppt_x</p:attrName>
                                        </p:attrNameLst>
                                      </p:cBhvr>
                                      <p:tavLst>
                                        <p:tav tm="0">
                                          <p:val>
                                            <p:strVal val="1+#ppt_w/2"/>
                                          </p:val>
                                        </p:tav>
                                        <p:tav tm="100000">
                                          <p:val>
                                            <p:strVal val="#ppt_x"/>
                                          </p:val>
                                        </p:tav>
                                      </p:tavLst>
                                    </p:anim>
                                    <p:anim calcmode="lin" valueType="num">
                                      <p:cBhvr additive="base">
                                        <p:cTn id="22" dur="500" fill="hold"/>
                                        <p:tgtEl>
                                          <p:spTgt spid="195590"/>
                                        </p:tgtEl>
                                        <p:attrNameLst>
                                          <p:attrName>ppt_y</p:attrName>
                                        </p:attrNameLst>
                                      </p:cBhvr>
                                      <p:tavLst>
                                        <p:tav tm="0">
                                          <p:val>
                                            <p:strVal val="#ppt_y"/>
                                          </p:val>
                                        </p:tav>
                                        <p:tav tm="100000">
                                          <p:val>
                                            <p:strVal val="#ppt_y"/>
                                          </p:val>
                                        </p:tav>
                                      </p:tavLst>
                                    </p:anim>
                                  </p:childTnLst>
                                </p:cTn>
                              </p:par>
                            </p:childTnLst>
                          </p:cTn>
                        </p:par>
                        <p:par>
                          <p:cTn id="23" fill="hold">
                            <p:stCondLst>
                              <p:cond delay="1000"/>
                            </p:stCondLst>
                            <p:childTnLst>
                              <p:par>
                                <p:cTn id="24" presetID="2" presetClass="entr" presetSubtype="4" fill="hold" grpId="0" nodeType="afterEffect">
                                  <p:stCondLst>
                                    <p:cond delay="0"/>
                                  </p:stCondLst>
                                  <p:childTnLst>
                                    <p:set>
                                      <p:cBhvr>
                                        <p:cTn id="25" dur="1" fill="hold">
                                          <p:stCondLst>
                                            <p:cond delay="0"/>
                                          </p:stCondLst>
                                        </p:cTn>
                                        <p:tgtEl>
                                          <p:spTgt spid="195591"/>
                                        </p:tgtEl>
                                        <p:attrNameLst>
                                          <p:attrName>style.visibility</p:attrName>
                                        </p:attrNameLst>
                                      </p:cBhvr>
                                      <p:to>
                                        <p:strVal val="visible"/>
                                      </p:to>
                                    </p:set>
                                    <p:anim calcmode="lin" valueType="num">
                                      <p:cBhvr additive="base">
                                        <p:cTn id="26" dur="500" fill="hold"/>
                                        <p:tgtEl>
                                          <p:spTgt spid="195591"/>
                                        </p:tgtEl>
                                        <p:attrNameLst>
                                          <p:attrName>ppt_x</p:attrName>
                                        </p:attrNameLst>
                                      </p:cBhvr>
                                      <p:tavLst>
                                        <p:tav tm="0">
                                          <p:val>
                                            <p:strVal val="#ppt_x"/>
                                          </p:val>
                                        </p:tav>
                                        <p:tav tm="100000">
                                          <p:val>
                                            <p:strVal val="#ppt_x"/>
                                          </p:val>
                                        </p:tav>
                                      </p:tavLst>
                                    </p:anim>
                                    <p:anim calcmode="lin" valueType="num">
                                      <p:cBhvr additive="base">
                                        <p:cTn id="27" dur="500" fill="hold"/>
                                        <p:tgtEl>
                                          <p:spTgt spid="195591"/>
                                        </p:tgtEl>
                                        <p:attrNameLst>
                                          <p:attrName>ppt_y</p:attrName>
                                        </p:attrNameLst>
                                      </p:cBhvr>
                                      <p:tavLst>
                                        <p:tav tm="0">
                                          <p:val>
                                            <p:strVal val="1+#ppt_h/2"/>
                                          </p:val>
                                        </p:tav>
                                        <p:tav tm="100000">
                                          <p:val>
                                            <p:strVal val="#ppt_y"/>
                                          </p:val>
                                        </p:tav>
                                      </p:tavLst>
                                    </p:anim>
                                  </p:childTnLst>
                                </p:cTn>
                              </p:par>
                            </p:childTnLst>
                          </p:cTn>
                        </p:par>
                        <p:par>
                          <p:cTn id="28" fill="hold">
                            <p:stCondLst>
                              <p:cond delay="1500"/>
                            </p:stCondLst>
                            <p:childTnLst>
                              <p:par>
                                <p:cTn id="29" presetID="2" presetClass="entr" presetSubtype="8" fill="hold" grpId="0" nodeType="afterEffect">
                                  <p:stCondLst>
                                    <p:cond delay="0"/>
                                  </p:stCondLst>
                                  <p:childTnLst>
                                    <p:set>
                                      <p:cBhvr>
                                        <p:cTn id="30" dur="1" fill="hold">
                                          <p:stCondLst>
                                            <p:cond delay="0"/>
                                          </p:stCondLst>
                                        </p:cTn>
                                        <p:tgtEl>
                                          <p:spTgt spid="195592"/>
                                        </p:tgtEl>
                                        <p:attrNameLst>
                                          <p:attrName>style.visibility</p:attrName>
                                        </p:attrNameLst>
                                      </p:cBhvr>
                                      <p:to>
                                        <p:strVal val="visible"/>
                                      </p:to>
                                    </p:set>
                                    <p:anim calcmode="lin" valueType="num">
                                      <p:cBhvr additive="base">
                                        <p:cTn id="31" dur="500" fill="hold"/>
                                        <p:tgtEl>
                                          <p:spTgt spid="195592"/>
                                        </p:tgtEl>
                                        <p:attrNameLst>
                                          <p:attrName>ppt_x</p:attrName>
                                        </p:attrNameLst>
                                      </p:cBhvr>
                                      <p:tavLst>
                                        <p:tav tm="0">
                                          <p:val>
                                            <p:strVal val="0-#ppt_w/2"/>
                                          </p:val>
                                        </p:tav>
                                        <p:tav tm="100000">
                                          <p:val>
                                            <p:strVal val="#ppt_x"/>
                                          </p:val>
                                        </p:tav>
                                      </p:tavLst>
                                    </p:anim>
                                    <p:anim calcmode="lin" valueType="num">
                                      <p:cBhvr additive="base">
                                        <p:cTn id="32" dur="500" fill="hold"/>
                                        <p:tgtEl>
                                          <p:spTgt spid="19559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7" grpId="0" bldLvl="0" animBg="1" autoUpdateAnimBg="0"/>
      <p:bldP spid="195589" grpId="0" bldLvl="0" animBg="1" autoUpdateAnimBg="0"/>
      <p:bldP spid="195591" grpId="0" bldLvl="0" animBg="1" autoUpdateAnimBg="0"/>
      <p:bldP spid="195592" grpId="0" bldLvl="0" animBg="1"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Text Box 2"/>
          <p:cNvSpPr txBox="1">
            <a:spLocks noChangeArrowheads="1"/>
          </p:cNvSpPr>
          <p:nvPr/>
        </p:nvSpPr>
        <p:spPr bwMode="auto">
          <a:xfrm>
            <a:off x="685800" y="609600"/>
            <a:ext cx="30400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b="1">
                <a:solidFill>
                  <a:schemeClr val="accent2"/>
                </a:solidFill>
              </a:rPr>
              <a:t>统计量的观察值</a:t>
            </a:r>
          </a:p>
        </p:txBody>
      </p:sp>
      <p:graphicFrame>
        <p:nvGraphicFramePr>
          <p:cNvPr id="197635" name="Object 3"/>
          <p:cNvGraphicFramePr>
            <a:graphicFrameLocks noChangeAspect="1"/>
          </p:cNvGraphicFramePr>
          <p:nvPr/>
        </p:nvGraphicFramePr>
        <p:xfrm>
          <a:off x="827088" y="1916113"/>
          <a:ext cx="7316787" cy="2811462"/>
        </p:xfrm>
        <a:graphic>
          <a:graphicData uri="http://schemas.openxmlformats.org/presentationml/2006/ole">
            <mc:AlternateContent xmlns:mc="http://schemas.openxmlformats.org/markup-compatibility/2006">
              <mc:Choice xmlns:v="urn:schemas-microsoft-com:vml" Requires="v">
                <p:oleObj spid="_x0000_s26651" name="Equation" r:id="rId3" imgW="3552825" imgH="1366520" progId="Equation.DSMT4">
                  <p:embed/>
                </p:oleObj>
              </mc:Choice>
              <mc:Fallback>
                <p:oleObj name="Equation" r:id="rId3" imgW="3552825" imgH="136652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1916113"/>
                        <a:ext cx="7316787" cy="2811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97634"/>
                                        </p:tgtEl>
                                        <p:attrNameLst>
                                          <p:attrName>style.visibility</p:attrName>
                                        </p:attrNameLst>
                                      </p:cBhvr>
                                      <p:to>
                                        <p:strVal val="visible"/>
                                      </p:to>
                                    </p:set>
                                    <p:animEffect transition="in" filter="wipe(down)">
                                      <p:cBhvr>
                                        <p:cTn id="7" dur="500"/>
                                        <p:tgtEl>
                                          <p:spTgt spid="1976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97635"/>
                                        </p:tgtEl>
                                        <p:attrNameLst>
                                          <p:attrName>style.visibility</p:attrName>
                                        </p:attrNameLst>
                                      </p:cBhvr>
                                      <p:to>
                                        <p:strVal val="visible"/>
                                      </p:to>
                                    </p:set>
                                    <p:animEffect transition="in" filter="wipe(down)">
                                      <p:cBhvr>
                                        <p:cTn id="12" dur="500"/>
                                        <p:tgtEl>
                                          <p:spTgt spid="1976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4" grpId="0" bldLvl="0" animBg="1"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Text Box 2"/>
          <p:cNvSpPr txBox="1">
            <a:spLocks noChangeArrowheads="1"/>
          </p:cNvSpPr>
          <p:nvPr/>
        </p:nvSpPr>
        <p:spPr bwMode="auto">
          <a:xfrm>
            <a:off x="1130300" y="185738"/>
            <a:ext cx="23034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solidFill>
                  <a:schemeClr val="accent2"/>
                </a:solidFill>
              </a:rPr>
              <a:t>请注意 </a:t>
            </a:r>
            <a:r>
              <a:rPr lang="en-US" altLang="zh-CN" sz="2800" b="1">
                <a:solidFill>
                  <a:schemeClr val="accent2"/>
                </a:solidFill>
              </a:rPr>
              <a:t>:</a:t>
            </a:r>
          </a:p>
        </p:txBody>
      </p:sp>
      <p:graphicFrame>
        <p:nvGraphicFramePr>
          <p:cNvPr id="198659" name="Object 3"/>
          <p:cNvGraphicFramePr>
            <a:graphicFrameLocks noChangeAspect="1"/>
          </p:cNvGraphicFramePr>
          <p:nvPr/>
        </p:nvGraphicFramePr>
        <p:xfrm>
          <a:off x="1470025" y="765175"/>
          <a:ext cx="6792913" cy="1404938"/>
        </p:xfrm>
        <a:graphic>
          <a:graphicData uri="http://schemas.openxmlformats.org/presentationml/2006/ole">
            <mc:AlternateContent xmlns:mc="http://schemas.openxmlformats.org/markup-compatibility/2006">
              <mc:Choice xmlns:v="urn:schemas-microsoft-com:vml" Requires="v">
                <p:oleObj spid="_x0000_s53261" name="Equation" r:id="rId3" imgW="3295650" imgH="673735" progId="Equation.DSMT4">
                  <p:embed/>
                </p:oleObj>
              </mc:Choice>
              <mc:Fallback>
                <p:oleObj name="Equation" r:id="rId3" imgW="3295650" imgH="673735"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0025" y="765175"/>
                        <a:ext cx="6792913" cy="1404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8660" name="Object 4"/>
          <p:cNvGraphicFramePr>
            <a:graphicFrameLocks noChangeAspect="1"/>
          </p:cNvGraphicFramePr>
          <p:nvPr/>
        </p:nvGraphicFramePr>
        <p:xfrm>
          <a:off x="900113" y="4005263"/>
          <a:ext cx="6840537" cy="1462087"/>
        </p:xfrm>
        <a:graphic>
          <a:graphicData uri="http://schemas.openxmlformats.org/presentationml/2006/ole">
            <mc:AlternateContent xmlns:mc="http://schemas.openxmlformats.org/markup-compatibility/2006">
              <mc:Choice xmlns:v="urn:schemas-microsoft-com:vml" Requires="v">
                <p:oleObj spid="_x0000_s53262" name="Equation" r:id="rId5" imgW="3305175" imgH="702945" progId="Equation.DSMT4">
                  <p:embed/>
                </p:oleObj>
              </mc:Choice>
              <mc:Fallback>
                <p:oleObj name="Equation" r:id="rId5" imgW="3305175" imgH="702945"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13" y="4005263"/>
                        <a:ext cx="6840537" cy="1462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8661" name="Object 5"/>
          <p:cNvGraphicFramePr>
            <a:graphicFrameLocks noChangeAspect="1"/>
          </p:cNvGraphicFramePr>
          <p:nvPr/>
        </p:nvGraphicFramePr>
        <p:xfrm>
          <a:off x="2195513" y="5630863"/>
          <a:ext cx="4276725" cy="461962"/>
        </p:xfrm>
        <a:graphic>
          <a:graphicData uri="http://schemas.openxmlformats.org/presentationml/2006/ole">
            <mc:AlternateContent xmlns:mc="http://schemas.openxmlformats.org/markup-compatibility/2006">
              <mc:Choice xmlns:v="urn:schemas-microsoft-com:vml" Requires="v">
                <p:oleObj spid="_x0000_s53263" name="Equation" r:id="rId7" imgW="1895475" imgH="201930" progId="Equation.DSMT4">
                  <p:embed/>
                </p:oleObj>
              </mc:Choice>
              <mc:Fallback>
                <p:oleObj name="Equation" r:id="rId7" imgW="1895475" imgH="20193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95513" y="5630863"/>
                        <a:ext cx="4276725" cy="461962"/>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8662" name="Object 6"/>
          <p:cNvGraphicFramePr>
            <a:graphicFrameLocks noChangeAspect="1"/>
          </p:cNvGraphicFramePr>
          <p:nvPr/>
        </p:nvGraphicFramePr>
        <p:xfrm>
          <a:off x="1300163" y="2420938"/>
          <a:ext cx="6542087" cy="1420812"/>
        </p:xfrm>
        <a:graphic>
          <a:graphicData uri="http://schemas.openxmlformats.org/presentationml/2006/ole">
            <mc:AlternateContent xmlns:mc="http://schemas.openxmlformats.org/markup-compatibility/2006">
              <mc:Choice xmlns:v="urn:schemas-microsoft-com:vml" Requires="v">
                <p:oleObj spid="_x0000_s53264" name="Equation" r:id="rId9" imgW="3257550" imgH="702945" progId="Equation.DSMT4">
                  <p:embed/>
                </p:oleObj>
              </mc:Choice>
              <mc:Fallback>
                <p:oleObj name="Equation" r:id="rId9" imgW="3257550" imgH="702945"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00163" y="2420938"/>
                        <a:ext cx="6542087" cy="1420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98658"/>
                                        </p:tgtEl>
                                        <p:attrNameLst>
                                          <p:attrName>style.visibility</p:attrName>
                                        </p:attrNameLst>
                                      </p:cBhvr>
                                      <p:to>
                                        <p:strVal val="visible"/>
                                      </p:to>
                                    </p:set>
                                    <p:animEffect transition="in" filter="wipe(down)">
                                      <p:cBhvr>
                                        <p:cTn id="7" dur="500"/>
                                        <p:tgtEl>
                                          <p:spTgt spid="19865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98659"/>
                                        </p:tgtEl>
                                        <p:attrNameLst>
                                          <p:attrName>style.visibility</p:attrName>
                                        </p:attrNameLst>
                                      </p:cBhvr>
                                      <p:to>
                                        <p:strVal val="visible"/>
                                      </p:to>
                                    </p:set>
                                    <p:animEffect transition="in" filter="wipe(down)">
                                      <p:cBhvr>
                                        <p:cTn id="12" dur="500"/>
                                        <p:tgtEl>
                                          <p:spTgt spid="19865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98662"/>
                                        </p:tgtEl>
                                        <p:attrNameLst>
                                          <p:attrName>style.visibility</p:attrName>
                                        </p:attrNameLst>
                                      </p:cBhvr>
                                      <p:to>
                                        <p:strVal val="visible"/>
                                      </p:to>
                                    </p:set>
                                    <p:animEffect transition="in" filter="wipe(down)">
                                      <p:cBhvr>
                                        <p:cTn id="17" dur="500"/>
                                        <p:tgtEl>
                                          <p:spTgt spid="19866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98660"/>
                                        </p:tgtEl>
                                        <p:attrNameLst>
                                          <p:attrName>style.visibility</p:attrName>
                                        </p:attrNameLst>
                                      </p:cBhvr>
                                      <p:to>
                                        <p:strVal val="visible"/>
                                      </p:to>
                                    </p:set>
                                    <p:animEffect transition="in" filter="wipe(down)">
                                      <p:cBhvr>
                                        <p:cTn id="22" dur="500"/>
                                        <p:tgtEl>
                                          <p:spTgt spid="19866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98661"/>
                                        </p:tgtEl>
                                        <p:attrNameLst>
                                          <p:attrName>style.visibility</p:attrName>
                                        </p:attrNameLst>
                                      </p:cBhvr>
                                      <p:to>
                                        <p:strVal val="visible"/>
                                      </p:to>
                                    </p:set>
                                    <p:animEffect transition="in" filter="wipe(down)">
                                      <p:cBhvr>
                                        <p:cTn id="27" dur="500"/>
                                        <p:tgtEl>
                                          <p:spTgt spid="1986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58" grpId="0" bldLvl="0" animBg="1"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微信图片_20200426215251"/>
          <p:cNvPicPr>
            <a:picLocks noChangeAspect="1"/>
          </p:cNvPicPr>
          <p:nvPr/>
        </p:nvPicPr>
        <p:blipFill>
          <a:blip r:embed="rId2"/>
          <a:stretch>
            <a:fillRect/>
          </a:stretch>
        </p:blipFill>
        <p:spPr>
          <a:xfrm>
            <a:off x="101600" y="600710"/>
            <a:ext cx="8940800" cy="5657215"/>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4019" name="Object 3"/>
          <p:cNvGraphicFramePr>
            <a:graphicFrameLocks noChangeAspect="1"/>
          </p:cNvGraphicFramePr>
          <p:nvPr/>
        </p:nvGraphicFramePr>
        <p:xfrm>
          <a:off x="531813" y="2014538"/>
          <a:ext cx="8216900" cy="1054100"/>
        </p:xfrm>
        <a:graphic>
          <a:graphicData uri="http://schemas.openxmlformats.org/presentationml/2006/ole">
            <mc:AlternateContent xmlns:mc="http://schemas.openxmlformats.org/markup-compatibility/2006">
              <mc:Choice xmlns:v="urn:schemas-microsoft-com:vml" Requires="v">
                <p:oleObj spid="_x0000_s43079" name="公式" r:id="rId3" imgW="8201025" imgH="1049020" progId="Equation.3">
                  <p:embed/>
                </p:oleObj>
              </mc:Choice>
              <mc:Fallback>
                <p:oleObj name="公式" r:id="rId3" imgW="8201025" imgH="104902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1813" y="2014538"/>
                        <a:ext cx="8216900" cy="105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4020" name="Object 4"/>
          <p:cNvGraphicFramePr>
            <a:graphicFrameLocks noChangeAspect="1"/>
          </p:cNvGraphicFramePr>
          <p:nvPr/>
        </p:nvGraphicFramePr>
        <p:xfrm>
          <a:off x="3268663" y="3573463"/>
          <a:ext cx="2108200" cy="1028700"/>
        </p:xfrm>
        <a:graphic>
          <a:graphicData uri="http://schemas.openxmlformats.org/presentationml/2006/ole">
            <mc:AlternateContent xmlns:mc="http://schemas.openxmlformats.org/markup-compatibility/2006">
              <mc:Choice xmlns:v="urn:schemas-microsoft-com:vml" Requires="v">
                <p:oleObj spid="_x0000_s43080" name="Equation" r:id="rId5" imgW="2085975" imgH="1020445" progId="Equation.DSMT4">
                  <p:embed/>
                </p:oleObj>
              </mc:Choice>
              <mc:Fallback>
                <p:oleObj name="Equation" r:id="rId5" imgW="2085975" imgH="1020445"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68663" y="3573463"/>
                        <a:ext cx="2108200" cy="1028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4021" name="Object 5"/>
          <p:cNvGraphicFramePr>
            <a:graphicFrameLocks noChangeAspect="1"/>
          </p:cNvGraphicFramePr>
          <p:nvPr/>
        </p:nvGraphicFramePr>
        <p:xfrm>
          <a:off x="3268663" y="4830763"/>
          <a:ext cx="1689100" cy="469900"/>
        </p:xfrm>
        <a:graphic>
          <a:graphicData uri="http://schemas.openxmlformats.org/presentationml/2006/ole">
            <mc:AlternateContent xmlns:mc="http://schemas.openxmlformats.org/markup-compatibility/2006">
              <mc:Choice xmlns:v="urn:schemas-microsoft-com:vml" Requires="v">
                <p:oleObj spid="_x0000_s43081" name="公式" r:id="rId7" imgW="1666875" imgH="452120" progId="Equation.3">
                  <p:embed/>
                </p:oleObj>
              </mc:Choice>
              <mc:Fallback>
                <p:oleObj name="公式" r:id="rId7" imgW="1666875" imgH="45212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68663" y="4830763"/>
                        <a:ext cx="16891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14019"/>
                                        </p:tgtEl>
                                        <p:attrNameLst>
                                          <p:attrName>style.visibility</p:attrName>
                                        </p:attrNameLst>
                                      </p:cBhvr>
                                      <p:to>
                                        <p:strVal val="visible"/>
                                      </p:to>
                                    </p:set>
                                    <p:animEffect transition="in" filter="wipe(down)">
                                      <p:cBhvr>
                                        <p:cTn id="7" dur="500"/>
                                        <p:tgtEl>
                                          <p:spTgt spid="2140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14020"/>
                                        </p:tgtEl>
                                        <p:attrNameLst>
                                          <p:attrName>style.visibility</p:attrName>
                                        </p:attrNameLst>
                                      </p:cBhvr>
                                      <p:to>
                                        <p:strVal val="visible"/>
                                      </p:to>
                                    </p:set>
                                    <p:animEffect transition="in" filter="wipe(down)">
                                      <p:cBhvr>
                                        <p:cTn id="12" dur="500"/>
                                        <p:tgtEl>
                                          <p:spTgt spid="21402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14021"/>
                                        </p:tgtEl>
                                        <p:attrNameLst>
                                          <p:attrName>style.visibility</p:attrName>
                                        </p:attrNameLst>
                                      </p:cBhvr>
                                      <p:to>
                                        <p:strVal val="visible"/>
                                      </p:to>
                                    </p:set>
                                    <p:animEffect transition="in" filter="blinds(horizontal)">
                                      <p:cBhvr>
                                        <p:cTn id="17" dur="500"/>
                                        <p:tgtEl>
                                          <p:spTgt spid="2140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ChangeArrowheads="1"/>
          </p:cNvSpPr>
          <p:nvPr/>
        </p:nvSpPr>
        <p:spPr bwMode="auto">
          <a:xfrm>
            <a:off x="377825" y="4904741"/>
            <a:ext cx="8353425" cy="607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800" b="1"/>
              <a:t>        </a:t>
            </a:r>
            <a:endParaRPr lang="en-US" altLang="zh-CN" sz="2800" b="1"/>
          </a:p>
        </p:txBody>
      </p:sp>
      <p:graphicFrame>
        <p:nvGraphicFramePr>
          <p:cNvPr id="215043" name="Object 3"/>
          <p:cNvGraphicFramePr>
            <a:graphicFrameLocks noChangeAspect="1"/>
          </p:cNvGraphicFramePr>
          <p:nvPr/>
        </p:nvGraphicFramePr>
        <p:xfrm>
          <a:off x="1403350" y="908050"/>
          <a:ext cx="6057900" cy="1055688"/>
        </p:xfrm>
        <a:graphic>
          <a:graphicData uri="http://schemas.openxmlformats.org/presentationml/2006/ole">
            <mc:AlternateContent xmlns:mc="http://schemas.openxmlformats.org/markup-compatibility/2006">
              <mc:Choice xmlns:v="urn:schemas-microsoft-com:vml" Requires="v">
                <p:oleObj spid="_x0000_s54282" name="Equation" r:id="rId3" imgW="2752725" imgH="471805" progId="Equation.DSMT4">
                  <p:embed/>
                </p:oleObj>
              </mc:Choice>
              <mc:Fallback>
                <p:oleObj name="Equation" r:id="rId3" imgW="2752725" imgH="471805"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350" y="908050"/>
                        <a:ext cx="6057900" cy="1055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044" name="Object 4"/>
          <p:cNvGraphicFramePr>
            <a:graphicFrameLocks noChangeAspect="1"/>
          </p:cNvGraphicFramePr>
          <p:nvPr/>
        </p:nvGraphicFramePr>
        <p:xfrm>
          <a:off x="2682875" y="2057400"/>
          <a:ext cx="4305300" cy="850900"/>
        </p:xfrm>
        <a:graphic>
          <a:graphicData uri="http://schemas.openxmlformats.org/presentationml/2006/ole">
            <mc:AlternateContent xmlns:mc="http://schemas.openxmlformats.org/markup-compatibility/2006">
              <mc:Choice xmlns:v="urn:schemas-microsoft-com:vml" Requires="v">
                <p:oleObj spid="_x0000_s54283" name="公式" r:id="rId5" imgW="4286250" imgH="837565" progId="Equation.3">
                  <p:embed/>
                </p:oleObj>
              </mc:Choice>
              <mc:Fallback>
                <p:oleObj name="公式" r:id="rId5" imgW="4286250" imgH="837565"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82875" y="2057400"/>
                        <a:ext cx="4305300" cy="85090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045" name="Object 5"/>
          <p:cNvGraphicFramePr>
            <a:graphicFrameLocks noChangeAspect="1"/>
          </p:cNvGraphicFramePr>
          <p:nvPr/>
        </p:nvGraphicFramePr>
        <p:xfrm>
          <a:off x="2743200" y="3352800"/>
          <a:ext cx="5880100" cy="850900"/>
        </p:xfrm>
        <a:graphic>
          <a:graphicData uri="http://schemas.openxmlformats.org/presentationml/2006/ole">
            <mc:AlternateContent xmlns:mc="http://schemas.openxmlformats.org/markup-compatibility/2006">
              <mc:Choice xmlns:v="urn:schemas-microsoft-com:vml" Requires="v">
                <p:oleObj spid="_x0000_s54284" name="公式" r:id="rId7" imgW="5857875" imgH="837565" progId="Equation.3">
                  <p:embed/>
                </p:oleObj>
              </mc:Choice>
              <mc:Fallback>
                <p:oleObj name="公式" r:id="rId7" imgW="5857875" imgH="837565"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43200" y="3352800"/>
                        <a:ext cx="5880100" cy="85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15043"/>
                                        </p:tgtEl>
                                        <p:attrNameLst>
                                          <p:attrName>style.visibility</p:attrName>
                                        </p:attrNameLst>
                                      </p:cBhvr>
                                      <p:to>
                                        <p:strVal val="visible"/>
                                      </p:to>
                                    </p:set>
                                    <p:animEffect transition="in" filter="wipe(down)">
                                      <p:cBhvr>
                                        <p:cTn id="7" dur="500"/>
                                        <p:tgtEl>
                                          <p:spTgt spid="21504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15044"/>
                                        </p:tgtEl>
                                        <p:attrNameLst>
                                          <p:attrName>style.visibility</p:attrName>
                                        </p:attrNameLst>
                                      </p:cBhvr>
                                      <p:to>
                                        <p:strVal val="visible"/>
                                      </p:to>
                                    </p:set>
                                    <p:animEffect transition="in" filter="wipe(down)">
                                      <p:cBhvr>
                                        <p:cTn id="12" dur="500"/>
                                        <p:tgtEl>
                                          <p:spTgt spid="21504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15045"/>
                                        </p:tgtEl>
                                        <p:attrNameLst>
                                          <p:attrName>style.visibility</p:attrName>
                                        </p:attrNameLst>
                                      </p:cBhvr>
                                      <p:to>
                                        <p:strVal val="visible"/>
                                      </p:to>
                                    </p:set>
                                    <p:animEffect transition="in" filter="wipe(down)">
                                      <p:cBhvr>
                                        <p:cTn id="17" dur="500"/>
                                        <p:tgtEl>
                                          <p:spTgt spid="21504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15042"/>
                                        </p:tgtEl>
                                        <p:attrNameLst>
                                          <p:attrName>style.visibility</p:attrName>
                                        </p:attrNameLst>
                                      </p:cBhvr>
                                      <p:to>
                                        <p:strVal val="visible"/>
                                      </p:to>
                                    </p:set>
                                    <p:animEffect transition="in" filter="wipe(down)">
                                      <p:cBhvr>
                                        <p:cTn id="22" dur="500"/>
                                        <p:tgtEl>
                                          <p:spTgt spid="2150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2" grpId="0" bldLvl="0" animBg="1"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descr="深色竖线"/>
          <p:cNvSpPr txBox="1">
            <a:spLocks noChangeArrowheads="1"/>
          </p:cNvSpPr>
          <p:nvPr/>
        </p:nvSpPr>
        <p:spPr bwMode="auto">
          <a:xfrm>
            <a:off x="1116013" y="646113"/>
            <a:ext cx="3028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kumimoji="0" lang="zh-CN" altLang="en-US" sz="2800">
                <a:solidFill>
                  <a:srgbClr val="0000FF"/>
                </a:solidFill>
                <a:latin typeface="宋体" panose="02010600030101010101" pitchFamily="2" charset="-122"/>
              </a:rPr>
              <a:t>顺序统计量与极差</a:t>
            </a:r>
          </a:p>
        </p:txBody>
      </p:sp>
      <p:sp>
        <p:nvSpPr>
          <p:cNvPr id="25603" name="Text Box 3" descr="深色竖线"/>
          <p:cNvSpPr txBox="1">
            <a:spLocks noChangeArrowheads="1"/>
          </p:cNvSpPr>
          <p:nvPr/>
        </p:nvSpPr>
        <p:spPr bwMode="auto">
          <a:xfrm>
            <a:off x="1143000" y="1568450"/>
            <a:ext cx="4635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200">
                <a:latin typeface="宋体" panose="02010600030101010101" pitchFamily="2" charset="-122"/>
              </a:rPr>
              <a:t>设</a:t>
            </a:r>
          </a:p>
        </p:txBody>
      </p:sp>
      <p:sp>
        <p:nvSpPr>
          <p:cNvPr id="25604" name="Text Box 4" descr="深色竖线"/>
          <p:cNvSpPr txBox="1">
            <a:spLocks noChangeArrowheads="1"/>
          </p:cNvSpPr>
          <p:nvPr/>
        </p:nvSpPr>
        <p:spPr bwMode="auto">
          <a:xfrm>
            <a:off x="3054350" y="1568450"/>
            <a:ext cx="10223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kumimoji="0" lang="zh-CN" altLang="en-US" sz="2200">
                <a:latin typeface="宋体" panose="02010600030101010101" pitchFamily="2" charset="-122"/>
              </a:rPr>
              <a:t>为样本</a:t>
            </a:r>
          </a:p>
        </p:txBody>
      </p:sp>
      <p:sp>
        <p:nvSpPr>
          <p:cNvPr id="25605" name="Text Box 5" descr="深色竖线"/>
          <p:cNvSpPr txBox="1">
            <a:spLocks noChangeArrowheads="1"/>
          </p:cNvSpPr>
          <p:nvPr/>
        </p:nvSpPr>
        <p:spPr bwMode="auto">
          <a:xfrm>
            <a:off x="455741" y="2062282"/>
            <a:ext cx="159530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kumimoji="0" lang="zh-CN" altLang="en-US" sz="2200" dirty="0">
                <a:latin typeface="宋体" panose="02010600030101010101" pitchFamily="2" charset="-122"/>
              </a:rPr>
              <a:t>样本值，且</a:t>
            </a:r>
          </a:p>
        </p:txBody>
      </p:sp>
      <p:sp>
        <p:nvSpPr>
          <p:cNvPr id="25606" name="Text Box 6" descr="深色竖线"/>
          <p:cNvSpPr txBox="1">
            <a:spLocks noChangeArrowheads="1"/>
          </p:cNvSpPr>
          <p:nvPr/>
        </p:nvSpPr>
        <p:spPr bwMode="auto">
          <a:xfrm>
            <a:off x="1143000" y="2500313"/>
            <a:ext cx="46355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200">
                <a:latin typeface="宋体" panose="02010600030101010101" pitchFamily="2" charset="-122"/>
              </a:rPr>
              <a:t>当</a:t>
            </a:r>
          </a:p>
        </p:txBody>
      </p:sp>
      <p:sp>
        <p:nvSpPr>
          <p:cNvPr id="25607" name="Text Box 7" descr="深色竖线"/>
          <p:cNvSpPr txBox="1">
            <a:spLocks noChangeArrowheads="1"/>
          </p:cNvSpPr>
          <p:nvPr/>
        </p:nvSpPr>
        <p:spPr bwMode="auto">
          <a:xfrm>
            <a:off x="3657600" y="2530475"/>
            <a:ext cx="10223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kumimoji="0" lang="zh-CN" altLang="en-US" sz="2200">
                <a:latin typeface="宋体" panose="02010600030101010101" pitchFamily="2" charset="-122"/>
              </a:rPr>
              <a:t>取值为</a:t>
            </a:r>
          </a:p>
        </p:txBody>
      </p:sp>
      <p:sp>
        <p:nvSpPr>
          <p:cNvPr id="25608" name="Text Box 8" descr="深色竖线"/>
          <p:cNvSpPr txBox="1">
            <a:spLocks noChangeArrowheads="1"/>
          </p:cNvSpPr>
          <p:nvPr/>
        </p:nvSpPr>
        <p:spPr bwMode="auto">
          <a:xfrm>
            <a:off x="6084888" y="2476500"/>
            <a:ext cx="7429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kumimoji="0" lang="zh-CN" altLang="en-US" sz="2200">
                <a:latin typeface="宋体" panose="02010600030101010101" pitchFamily="2" charset="-122"/>
              </a:rPr>
              <a:t>时，</a:t>
            </a:r>
          </a:p>
        </p:txBody>
      </p:sp>
      <p:sp>
        <p:nvSpPr>
          <p:cNvPr id="25609" name="Text Box 9" descr="深色竖线"/>
          <p:cNvSpPr txBox="1">
            <a:spLocks noChangeArrowheads="1"/>
          </p:cNvSpPr>
          <p:nvPr/>
        </p:nvSpPr>
        <p:spPr bwMode="auto">
          <a:xfrm>
            <a:off x="609600" y="2971800"/>
            <a:ext cx="18605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kumimoji="0" lang="zh-CN" altLang="en-US" sz="2200">
                <a:latin typeface="宋体" panose="02010600030101010101" pitchFamily="2" charset="-122"/>
              </a:rPr>
              <a:t>定义随机变量</a:t>
            </a:r>
          </a:p>
        </p:txBody>
      </p:sp>
      <p:sp>
        <p:nvSpPr>
          <p:cNvPr id="25610" name="Text Box 10" descr="深色竖线"/>
          <p:cNvSpPr txBox="1">
            <a:spLocks noChangeArrowheads="1"/>
          </p:cNvSpPr>
          <p:nvPr/>
        </p:nvSpPr>
        <p:spPr bwMode="auto">
          <a:xfrm>
            <a:off x="5257800" y="2971800"/>
            <a:ext cx="15811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kumimoji="0" lang="zh-CN" altLang="en-US" sz="2200">
                <a:latin typeface="宋体" panose="02010600030101010101" pitchFamily="2" charset="-122"/>
              </a:rPr>
              <a:t>则称统计量</a:t>
            </a:r>
          </a:p>
        </p:txBody>
      </p:sp>
      <p:sp>
        <p:nvSpPr>
          <p:cNvPr id="25611" name="Text Box 11" descr="深色竖线"/>
          <p:cNvSpPr txBox="1">
            <a:spLocks noChangeArrowheads="1"/>
          </p:cNvSpPr>
          <p:nvPr/>
        </p:nvSpPr>
        <p:spPr bwMode="auto">
          <a:xfrm>
            <a:off x="3200400" y="3581400"/>
            <a:ext cx="21399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kumimoji="0" lang="zh-CN" altLang="en-US" sz="2200">
                <a:latin typeface="宋体" panose="02010600030101010101" pitchFamily="2" charset="-122"/>
              </a:rPr>
              <a:t>为</a:t>
            </a:r>
            <a:r>
              <a:rPr kumimoji="0" lang="zh-CN" altLang="en-US" sz="2200">
                <a:solidFill>
                  <a:srgbClr val="006666"/>
                </a:solidFill>
                <a:latin typeface="宋体" panose="02010600030101010101" pitchFamily="2" charset="-122"/>
              </a:rPr>
              <a:t>顺序统计量</a:t>
            </a:r>
            <a:r>
              <a:rPr kumimoji="0" lang="zh-CN" altLang="en-US" sz="2200">
                <a:latin typeface="宋体" panose="02010600030101010101" pitchFamily="2" charset="-122"/>
              </a:rPr>
              <a:t>．</a:t>
            </a:r>
          </a:p>
        </p:txBody>
      </p:sp>
      <p:sp>
        <p:nvSpPr>
          <p:cNvPr id="25612" name="Text Box 12" descr="深色竖线"/>
          <p:cNvSpPr txBox="1">
            <a:spLocks noChangeArrowheads="1"/>
          </p:cNvSpPr>
          <p:nvPr/>
        </p:nvSpPr>
        <p:spPr bwMode="auto">
          <a:xfrm>
            <a:off x="1162050" y="4073525"/>
            <a:ext cx="7429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kumimoji="0" lang="zh-CN" altLang="en-US" sz="2200">
                <a:latin typeface="宋体" panose="02010600030101010101" pitchFamily="2" charset="-122"/>
              </a:rPr>
              <a:t>其中</a:t>
            </a:r>
          </a:p>
        </p:txBody>
      </p:sp>
      <p:sp>
        <p:nvSpPr>
          <p:cNvPr id="25613" name="Text Box 13" descr="深色竖线"/>
          <p:cNvSpPr txBox="1">
            <a:spLocks noChangeArrowheads="1"/>
          </p:cNvSpPr>
          <p:nvPr/>
        </p:nvSpPr>
        <p:spPr bwMode="auto">
          <a:xfrm>
            <a:off x="5556250" y="4114800"/>
            <a:ext cx="4635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kumimoji="0" lang="zh-CN" altLang="en-US" sz="2200">
                <a:latin typeface="宋体" panose="02010600030101010101" pitchFamily="2" charset="-122"/>
              </a:rPr>
              <a:t>称</a:t>
            </a:r>
          </a:p>
        </p:txBody>
      </p:sp>
      <p:sp>
        <p:nvSpPr>
          <p:cNvPr id="25614" name="Text Box 14" descr="深色竖线"/>
          <p:cNvSpPr txBox="1">
            <a:spLocks noChangeArrowheads="1"/>
          </p:cNvSpPr>
          <p:nvPr/>
        </p:nvSpPr>
        <p:spPr bwMode="auto">
          <a:xfrm>
            <a:off x="2590800" y="4648200"/>
            <a:ext cx="13017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kumimoji="0" lang="zh-CN" altLang="en-US" sz="2200">
                <a:latin typeface="宋体" panose="02010600030101010101" pitchFamily="2" charset="-122"/>
              </a:rPr>
              <a:t>为</a:t>
            </a:r>
            <a:r>
              <a:rPr kumimoji="0" lang="zh-CN" altLang="en-US" sz="2200">
                <a:solidFill>
                  <a:srgbClr val="006666"/>
                </a:solidFill>
                <a:latin typeface="宋体" panose="02010600030101010101" pitchFamily="2" charset="-122"/>
              </a:rPr>
              <a:t>极差</a:t>
            </a:r>
            <a:r>
              <a:rPr kumimoji="0" lang="zh-CN" altLang="en-US" sz="2200">
                <a:latin typeface="宋体" panose="02010600030101010101" pitchFamily="2" charset="-122"/>
              </a:rPr>
              <a:t>．</a:t>
            </a:r>
          </a:p>
        </p:txBody>
      </p:sp>
      <p:graphicFrame>
        <p:nvGraphicFramePr>
          <p:cNvPr id="25615" name="Object 2"/>
          <p:cNvGraphicFramePr>
            <a:graphicFrameLocks noChangeAspect="1"/>
          </p:cNvGraphicFramePr>
          <p:nvPr/>
        </p:nvGraphicFramePr>
        <p:xfrm>
          <a:off x="1606550" y="1568450"/>
          <a:ext cx="1484313" cy="441325"/>
        </p:xfrm>
        <a:graphic>
          <a:graphicData uri="http://schemas.openxmlformats.org/presentationml/2006/ole">
            <mc:AlternateContent xmlns:mc="http://schemas.openxmlformats.org/markup-compatibility/2006">
              <mc:Choice xmlns:v="urn:schemas-microsoft-com:vml" Requires="v">
                <p:oleObj spid="_x0000_s25816" name="Equation" r:id="rId3" imgW="1095375" imgH="259715" progId="Equation.3">
                  <p:embed/>
                </p:oleObj>
              </mc:Choice>
              <mc:Fallback>
                <p:oleObj name="Equation" r:id="rId3" imgW="1095375" imgH="259715"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6550" y="1568450"/>
                        <a:ext cx="148431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16" name="Object 3"/>
          <p:cNvGraphicFramePr>
            <a:graphicFrameLocks noChangeAspect="1"/>
          </p:cNvGraphicFramePr>
          <p:nvPr/>
        </p:nvGraphicFramePr>
        <p:xfrm>
          <a:off x="4044950" y="1600200"/>
          <a:ext cx="2084388" cy="425450"/>
        </p:xfrm>
        <a:graphic>
          <a:graphicData uri="http://schemas.openxmlformats.org/presentationml/2006/ole">
            <mc:AlternateContent xmlns:mc="http://schemas.openxmlformats.org/markup-compatibility/2006">
              <mc:Choice xmlns:v="urn:schemas-microsoft-com:vml" Requires="v">
                <p:oleObj spid="_x0000_s25817" name="Equation" r:id="rId5" imgW="1285875" imgH="259715" progId="Equation.3">
                  <p:embed/>
                </p:oleObj>
              </mc:Choice>
              <mc:Fallback>
                <p:oleObj name="Equation" r:id="rId5" imgW="1285875" imgH="259715"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44950" y="1600200"/>
                        <a:ext cx="2084388"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17" name="Object 4"/>
          <p:cNvGraphicFramePr>
            <a:graphicFrameLocks noChangeAspect="1"/>
          </p:cNvGraphicFramePr>
          <p:nvPr/>
        </p:nvGraphicFramePr>
        <p:xfrm>
          <a:off x="2051050" y="2060575"/>
          <a:ext cx="2449513" cy="474663"/>
        </p:xfrm>
        <a:graphic>
          <a:graphicData uri="http://schemas.openxmlformats.org/presentationml/2006/ole">
            <mc:AlternateContent xmlns:mc="http://schemas.openxmlformats.org/markup-compatibility/2006">
              <mc:Choice xmlns:v="urn:schemas-microsoft-com:vml" Requires="v">
                <p:oleObj spid="_x0000_s25818" name="Equation" r:id="rId7" imgW="1244600" imgH="241300" progId="Equation.DSMT4">
                  <p:embed/>
                </p:oleObj>
              </mc:Choice>
              <mc:Fallback>
                <p:oleObj name="Equation" r:id="rId7" imgW="1244600" imgH="24130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1050" y="2060575"/>
                        <a:ext cx="2449513"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18" name="Object 5"/>
          <p:cNvGraphicFramePr>
            <a:graphicFrameLocks noChangeAspect="1"/>
          </p:cNvGraphicFramePr>
          <p:nvPr/>
        </p:nvGraphicFramePr>
        <p:xfrm>
          <a:off x="4648200" y="2516188"/>
          <a:ext cx="1484313" cy="441325"/>
        </p:xfrm>
        <a:graphic>
          <a:graphicData uri="http://schemas.openxmlformats.org/presentationml/2006/ole">
            <mc:AlternateContent xmlns:mc="http://schemas.openxmlformats.org/markup-compatibility/2006">
              <mc:Choice xmlns:v="urn:schemas-microsoft-com:vml" Requires="v">
                <p:oleObj spid="_x0000_s25819" name="Equation" r:id="rId9" imgW="1095375" imgH="259715" progId="Equation.3">
                  <p:embed/>
                </p:oleObj>
              </mc:Choice>
              <mc:Fallback>
                <p:oleObj name="Equation" r:id="rId9" imgW="1095375" imgH="259715"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48200" y="2516188"/>
                        <a:ext cx="148431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19" name="Object 6"/>
          <p:cNvGraphicFramePr>
            <a:graphicFrameLocks noChangeAspect="1"/>
          </p:cNvGraphicFramePr>
          <p:nvPr/>
        </p:nvGraphicFramePr>
        <p:xfrm>
          <a:off x="1606550" y="2576513"/>
          <a:ext cx="2084388" cy="425450"/>
        </p:xfrm>
        <a:graphic>
          <a:graphicData uri="http://schemas.openxmlformats.org/presentationml/2006/ole">
            <mc:AlternateContent xmlns:mc="http://schemas.openxmlformats.org/markup-compatibility/2006">
              <mc:Choice xmlns:v="urn:schemas-microsoft-com:vml" Requires="v">
                <p:oleObj spid="_x0000_s25820" name="Equation" r:id="rId11" imgW="1285875" imgH="259715" progId="Equation.3">
                  <p:embed/>
                </p:oleObj>
              </mc:Choice>
              <mc:Fallback>
                <p:oleObj name="Equation" r:id="rId11" imgW="1285875" imgH="259715"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06550" y="2576513"/>
                        <a:ext cx="2084388"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20" name="Object 7"/>
          <p:cNvGraphicFramePr>
            <a:graphicFrameLocks noChangeAspect="1"/>
          </p:cNvGraphicFramePr>
          <p:nvPr/>
        </p:nvGraphicFramePr>
        <p:xfrm>
          <a:off x="2411413" y="2997200"/>
          <a:ext cx="2735262" cy="444500"/>
        </p:xfrm>
        <a:graphic>
          <a:graphicData uri="http://schemas.openxmlformats.org/presentationml/2006/ole">
            <mc:AlternateContent xmlns:mc="http://schemas.openxmlformats.org/markup-compatibility/2006">
              <mc:Choice xmlns:v="urn:schemas-microsoft-com:vml" Requires="v">
                <p:oleObj spid="_x0000_s25821" name="Equation" r:id="rId13" imgW="1485900" imgH="241300" progId="Equation.DSMT4">
                  <p:embed/>
                </p:oleObj>
              </mc:Choice>
              <mc:Fallback>
                <p:oleObj name="Equation" r:id="rId13" imgW="1485900" imgH="241300" progId="Equation.DSMT4">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11413" y="2997200"/>
                        <a:ext cx="2735262"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21" name="Object 8"/>
          <p:cNvGraphicFramePr>
            <a:graphicFrameLocks noChangeAspect="1"/>
          </p:cNvGraphicFramePr>
          <p:nvPr/>
        </p:nvGraphicFramePr>
        <p:xfrm>
          <a:off x="685800" y="3608388"/>
          <a:ext cx="2544763" cy="430212"/>
        </p:xfrm>
        <a:graphic>
          <a:graphicData uri="http://schemas.openxmlformats.org/presentationml/2006/ole">
            <mc:AlternateContent xmlns:mc="http://schemas.openxmlformats.org/markup-compatibility/2006">
              <mc:Choice xmlns:v="urn:schemas-microsoft-com:vml" Requires="v">
                <p:oleObj spid="_x0000_s25822" name="Equation" r:id="rId15" imgW="2343150" imgH="404495" progId="Equation.DSMT4">
                  <p:embed/>
                </p:oleObj>
              </mc:Choice>
              <mc:Fallback>
                <p:oleObj name="Equation" r:id="rId15" imgW="2343150" imgH="404495" progId="Equation.DSMT4">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85800" y="3608388"/>
                        <a:ext cx="2544763"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22" name="Object 9"/>
          <p:cNvGraphicFramePr>
            <a:graphicFrameLocks noChangeAspect="1"/>
          </p:cNvGraphicFramePr>
          <p:nvPr/>
        </p:nvGraphicFramePr>
        <p:xfrm>
          <a:off x="1905000" y="4191000"/>
          <a:ext cx="3657600" cy="441325"/>
        </p:xfrm>
        <a:graphic>
          <a:graphicData uri="http://schemas.openxmlformats.org/presentationml/2006/ole">
            <mc:AlternateContent xmlns:mc="http://schemas.openxmlformats.org/markup-compatibility/2006">
              <mc:Choice xmlns:v="urn:schemas-microsoft-com:vml" Requires="v">
                <p:oleObj spid="_x0000_s25823" name="Equation" r:id="rId17" imgW="4000500" imgH="482600" progId="Equation.3">
                  <p:embed/>
                </p:oleObj>
              </mc:Choice>
              <mc:Fallback>
                <p:oleObj name="Equation" r:id="rId17" imgW="4000500" imgH="482600" progId="Equation.3">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905000" y="4191000"/>
                        <a:ext cx="36576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23" name="Object 10"/>
          <p:cNvGraphicFramePr>
            <a:graphicFrameLocks noChangeAspect="1"/>
          </p:cNvGraphicFramePr>
          <p:nvPr/>
        </p:nvGraphicFramePr>
        <p:xfrm>
          <a:off x="685800" y="4686300"/>
          <a:ext cx="1930400" cy="419100"/>
        </p:xfrm>
        <a:graphic>
          <a:graphicData uri="http://schemas.openxmlformats.org/presentationml/2006/ole">
            <mc:AlternateContent xmlns:mc="http://schemas.openxmlformats.org/markup-compatibility/2006">
              <mc:Choice xmlns:v="urn:schemas-microsoft-com:vml" Requires="v">
                <p:oleObj spid="_x0000_s25824" name="Equation" r:id="rId19" imgW="1930400" imgH="419100" progId="Equation.3">
                  <p:embed/>
                </p:oleObj>
              </mc:Choice>
              <mc:Fallback>
                <p:oleObj name="Equation" r:id="rId19" imgW="1930400" imgH="419100" progId="Equation.3">
                  <p:embed/>
                  <p:pic>
                    <p:nvPicPr>
                      <p:cNvPr id="0"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85800" y="4686300"/>
                        <a:ext cx="19304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24" name="Text Box 24"/>
          <p:cNvSpPr txBox="1">
            <a:spLocks noChangeArrowheads="1"/>
          </p:cNvSpPr>
          <p:nvPr/>
        </p:nvSpPr>
        <p:spPr bwMode="auto">
          <a:xfrm>
            <a:off x="6064250" y="1598613"/>
            <a:ext cx="102235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200" dirty="0">
                <a:latin typeface="宋体" panose="02010600030101010101" pitchFamily="2" charset="-122"/>
              </a:rPr>
              <a:t>的一个</a:t>
            </a:r>
          </a:p>
        </p:txBody>
      </p:sp>
    </p:spTree>
  </p:cSld>
  <p:clrMapOvr>
    <a:masterClrMapping/>
  </p:clrMapOvr>
  <p:transition advClick="0"/>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p:cNvSpPr txBox="1">
            <a:spLocks noChangeArrowheads="1"/>
          </p:cNvSpPr>
          <p:nvPr/>
        </p:nvSpPr>
        <p:spPr bwMode="auto">
          <a:xfrm>
            <a:off x="381000" y="228600"/>
            <a:ext cx="50339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solidFill>
                  <a:schemeClr val="tx2"/>
                </a:solidFill>
                <a:latin typeface="黑体" panose="02010609060101010101" pitchFamily="49" charset="-122"/>
                <a:ea typeface="黑体" panose="02010609060101010101" pitchFamily="49" charset="-122"/>
              </a:rPr>
              <a:t> 二、统计三大抽样分布</a:t>
            </a:r>
          </a:p>
        </p:txBody>
      </p:sp>
      <p:grpSp>
        <p:nvGrpSpPr>
          <p:cNvPr id="199683" name="Group 3"/>
          <p:cNvGrpSpPr/>
          <p:nvPr/>
        </p:nvGrpSpPr>
        <p:grpSpPr bwMode="auto">
          <a:xfrm>
            <a:off x="685800" y="5105400"/>
            <a:ext cx="3548063" cy="609600"/>
            <a:chOff x="1008" y="3158"/>
            <a:chExt cx="2235" cy="384"/>
          </a:xfrm>
        </p:grpSpPr>
        <p:graphicFrame>
          <p:nvGraphicFramePr>
            <p:cNvPr id="28688" name="Object 4"/>
            <p:cNvGraphicFramePr>
              <a:graphicFrameLocks noChangeAspect="1"/>
            </p:cNvGraphicFramePr>
            <p:nvPr/>
          </p:nvGraphicFramePr>
          <p:xfrm>
            <a:off x="2003" y="3158"/>
            <a:ext cx="1240" cy="384"/>
          </p:xfrm>
          <a:graphic>
            <a:graphicData uri="http://schemas.openxmlformats.org/presentationml/2006/ole">
              <mc:AlternateContent xmlns:mc="http://schemas.openxmlformats.org/markup-compatibility/2006">
                <mc:Choice xmlns:v="urn:schemas-microsoft-com:vml" Requires="v">
                  <p:oleObj spid="_x0000_s55315" name="Equation" r:id="rId3" imgW="714375" imgH="211455" progId="Equation.3">
                    <p:embed/>
                  </p:oleObj>
                </mc:Choice>
                <mc:Fallback>
                  <p:oleObj name="Equation" r:id="rId3" imgW="714375" imgH="211455"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3" y="3158"/>
                          <a:ext cx="124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89" name="Rectangle 5"/>
            <p:cNvSpPr>
              <a:spLocks noChangeArrowheads="1"/>
            </p:cNvSpPr>
            <p:nvPr/>
          </p:nvSpPr>
          <p:spPr bwMode="auto">
            <a:xfrm>
              <a:off x="1008" y="3203"/>
              <a:ext cx="56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latin typeface="宋体" panose="02010600030101010101" pitchFamily="2" charset="-122"/>
                </a:rPr>
                <a:t>记为</a:t>
              </a:r>
            </a:p>
          </p:txBody>
        </p:sp>
      </p:grpSp>
      <p:grpSp>
        <p:nvGrpSpPr>
          <p:cNvPr id="199686" name="Group 6"/>
          <p:cNvGrpSpPr/>
          <p:nvPr/>
        </p:nvGrpSpPr>
        <p:grpSpPr bwMode="auto">
          <a:xfrm>
            <a:off x="1309688" y="808038"/>
            <a:ext cx="1647825" cy="685800"/>
            <a:chOff x="1062" y="720"/>
            <a:chExt cx="831" cy="432"/>
          </a:xfrm>
        </p:grpSpPr>
        <p:graphicFrame>
          <p:nvGraphicFramePr>
            <p:cNvPr id="28686" name="Object 7"/>
            <p:cNvGraphicFramePr>
              <a:graphicFrameLocks noChangeAspect="1"/>
            </p:cNvGraphicFramePr>
            <p:nvPr/>
          </p:nvGraphicFramePr>
          <p:xfrm>
            <a:off x="1062" y="720"/>
            <a:ext cx="381" cy="432"/>
          </p:xfrm>
          <a:graphic>
            <a:graphicData uri="http://schemas.openxmlformats.org/presentationml/2006/ole">
              <mc:AlternateContent xmlns:mc="http://schemas.openxmlformats.org/markup-compatibility/2006">
                <mc:Choice xmlns:v="urn:schemas-microsoft-com:vml" Requires="v">
                  <p:oleObj spid="_x0000_s55316" name="Equation" r:id="rId5" imgW="180975" imgH="211455" progId="Equation.3">
                    <p:embed/>
                  </p:oleObj>
                </mc:Choice>
                <mc:Fallback>
                  <p:oleObj name="Equation" r:id="rId5" imgW="180975" imgH="211455"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2" y="720"/>
                          <a:ext cx="381" cy="432"/>
                        </a:xfrm>
                        <a:prstGeom prst="rect">
                          <a:avLst/>
                        </a:prstGeom>
                        <a:noFill/>
                        <a:ln>
                          <a:noFill/>
                        </a:ln>
                        <a:effectLst/>
                        <a:extLst>
                          <a:ext uri="{909E8E84-426E-40DD-AFC4-6F175D3DCCD1}">
                            <a14:hiddenFill xmlns:a14="http://schemas.microsoft.com/office/drawing/2010/main">
                              <a:solidFill>
                                <a:srgbClr val="66003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87" name="Rectangle 8"/>
            <p:cNvSpPr>
              <a:spLocks noChangeArrowheads="1"/>
            </p:cNvSpPr>
            <p:nvPr/>
          </p:nvSpPr>
          <p:spPr bwMode="auto">
            <a:xfrm>
              <a:off x="1440" y="801"/>
              <a:ext cx="453" cy="327"/>
            </a:xfrm>
            <a:prstGeom prst="rect">
              <a:avLst/>
            </a:prstGeom>
            <a:noFill/>
            <a:ln>
              <a:noFill/>
            </a:ln>
            <a:effectLst/>
            <a:extLst>
              <a:ext uri="{909E8E84-426E-40DD-AFC4-6F175D3DCCD1}">
                <a14:hiddenFill xmlns:a14="http://schemas.microsoft.com/office/drawing/2010/main">
                  <a:solidFill>
                    <a:srgbClr val="6600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solidFill>
                    <a:schemeClr val="accent2"/>
                  </a:solidFill>
                  <a:latin typeface="宋体" panose="02010600030101010101" pitchFamily="2" charset="-122"/>
                </a:rPr>
                <a:t>分布</a:t>
              </a:r>
            </a:p>
          </p:txBody>
        </p:sp>
      </p:grpSp>
      <p:sp>
        <p:nvSpPr>
          <p:cNvPr id="199689" name="Rectangle 9"/>
          <p:cNvSpPr>
            <a:spLocks noChangeArrowheads="1"/>
          </p:cNvSpPr>
          <p:nvPr/>
        </p:nvSpPr>
        <p:spPr bwMode="auto">
          <a:xfrm>
            <a:off x="685800" y="946150"/>
            <a:ext cx="7191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chemeClr val="accent2"/>
                </a:solidFill>
              </a:rPr>
              <a:t>1</a:t>
            </a:r>
            <a:r>
              <a:rPr lang="zh-CN" altLang="en-US" sz="2800" b="1">
                <a:solidFill>
                  <a:schemeClr val="accent2"/>
                </a:solidFill>
              </a:rPr>
              <a:t>、</a:t>
            </a:r>
          </a:p>
        </p:txBody>
      </p:sp>
      <p:sp>
        <p:nvSpPr>
          <p:cNvPr id="199690" name="Text Box 10"/>
          <p:cNvSpPr txBox="1">
            <a:spLocks noChangeArrowheads="1"/>
          </p:cNvSpPr>
          <p:nvPr/>
        </p:nvSpPr>
        <p:spPr bwMode="auto">
          <a:xfrm>
            <a:off x="660400" y="2590800"/>
            <a:ext cx="8305800" cy="2443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ct val="50000"/>
              </a:spcBef>
            </a:pPr>
            <a:r>
              <a:rPr lang="zh-CN" altLang="en-US" sz="2800" b="1">
                <a:solidFill>
                  <a:schemeClr val="accent2"/>
                </a:solidFill>
              </a:rPr>
              <a:t>定义</a:t>
            </a:r>
            <a:r>
              <a:rPr lang="en-US" altLang="zh-CN" sz="2800" b="1">
                <a:solidFill>
                  <a:schemeClr val="accent2"/>
                </a:solidFill>
              </a:rPr>
              <a:t>:</a:t>
            </a:r>
            <a:r>
              <a:rPr lang="en-US" altLang="zh-CN" sz="2800" b="1"/>
              <a:t> </a:t>
            </a:r>
            <a:r>
              <a:rPr lang="zh-CN" altLang="en-US" sz="2800" b="1"/>
              <a:t>设                         相互独立</a:t>
            </a:r>
            <a:r>
              <a:rPr lang="en-US" altLang="zh-CN" sz="2800" b="1"/>
              <a:t>,  </a:t>
            </a:r>
            <a:r>
              <a:rPr lang="zh-CN" altLang="en-US" sz="2800" b="1"/>
              <a:t>都服从正态分布</a:t>
            </a:r>
          </a:p>
          <a:p>
            <a:pPr algn="just">
              <a:spcBef>
                <a:spcPct val="50000"/>
              </a:spcBef>
            </a:pPr>
            <a:r>
              <a:rPr lang="en-US" altLang="zh-CN" sz="2800" b="1" i="1"/>
              <a:t>N</a:t>
            </a:r>
            <a:r>
              <a:rPr lang="en-US" altLang="zh-CN" sz="2800" b="1"/>
              <a:t>(0,1), </a:t>
            </a:r>
            <a:r>
              <a:rPr lang="zh-CN" altLang="en-US" sz="2800" b="1"/>
              <a:t>则称随机变量：               </a:t>
            </a:r>
          </a:p>
          <a:p>
            <a:pPr algn="just">
              <a:spcBef>
                <a:spcPct val="50000"/>
              </a:spcBef>
            </a:pPr>
            <a:r>
              <a:rPr lang="zh-CN" altLang="en-US" sz="2800" b="1"/>
              <a:t>                                                               </a:t>
            </a:r>
          </a:p>
          <a:p>
            <a:pPr>
              <a:spcBef>
                <a:spcPct val="50000"/>
              </a:spcBef>
            </a:pPr>
            <a:r>
              <a:rPr lang="zh-CN" altLang="en-US" sz="2800" b="1">
                <a:latin typeface="宋体" panose="02010600030101010101" pitchFamily="2" charset="-122"/>
              </a:rPr>
              <a:t>所服从的分布为</a:t>
            </a:r>
            <a:r>
              <a:rPr lang="zh-CN" altLang="en-US" sz="2800" b="1">
                <a:solidFill>
                  <a:schemeClr val="accent2"/>
                </a:solidFill>
                <a:latin typeface="宋体" panose="02010600030101010101" pitchFamily="2" charset="-122"/>
              </a:rPr>
              <a:t>自由度为</a:t>
            </a:r>
            <a:r>
              <a:rPr lang="zh-CN" altLang="en-US" sz="2800" b="1" i="1">
                <a:solidFill>
                  <a:schemeClr val="accent2"/>
                </a:solidFill>
              </a:rPr>
              <a:t> </a:t>
            </a:r>
            <a:r>
              <a:rPr lang="en-US" altLang="zh-CN" sz="2800" b="1" i="1">
                <a:solidFill>
                  <a:schemeClr val="accent2"/>
                </a:solidFill>
              </a:rPr>
              <a:t>n</a:t>
            </a:r>
            <a:r>
              <a:rPr lang="en-US" altLang="zh-CN" sz="2800" b="1">
                <a:solidFill>
                  <a:schemeClr val="accent2"/>
                </a:solidFill>
              </a:rPr>
              <a:t> </a:t>
            </a:r>
            <a:r>
              <a:rPr lang="zh-CN" altLang="en-US" sz="2800" b="1">
                <a:solidFill>
                  <a:schemeClr val="accent2"/>
                </a:solidFill>
                <a:latin typeface="宋体" panose="02010600030101010101" pitchFamily="2" charset="-122"/>
              </a:rPr>
              <a:t>的   分布</a:t>
            </a:r>
            <a:r>
              <a:rPr lang="en-US" altLang="zh-CN" sz="2800" b="1"/>
              <a:t>.</a:t>
            </a:r>
          </a:p>
        </p:txBody>
      </p:sp>
      <p:graphicFrame>
        <p:nvGraphicFramePr>
          <p:cNvPr id="199691" name="Object 11"/>
          <p:cNvGraphicFramePr>
            <a:graphicFrameLocks noChangeAspect="1"/>
          </p:cNvGraphicFramePr>
          <p:nvPr/>
        </p:nvGraphicFramePr>
        <p:xfrm>
          <a:off x="1981200" y="2590800"/>
          <a:ext cx="2222500" cy="601663"/>
        </p:xfrm>
        <a:graphic>
          <a:graphicData uri="http://schemas.openxmlformats.org/presentationml/2006/ole">
            <mc:AlternateContent xmlns:mc="http://schemas.openxmlformats.org/markup-compatibility/2006">
              <mc:Choice xmlns:v="urn:schemas-microsoft-com:vml" Requires="v">
                <p:oleObj spid="_x0000_s55317" name="Equation" r:id="rId7" imgW="857250" imgH="211455" progId="Equation.3">
                  <p:embed/>
                </p:oleObj>
              </mc:Choice>
              <mc:Fallback>
                <p:oleObj name="Equation" r:id="rId7" imgW="857250" imgH="211455"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81200" y="2590800"/>
                        <a:ext cx="2222500"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9692" name="Object 12"/>
          <p:cNvGraphicFramePr>
            <a:graphicFrameLocks noChangeAspect="1"/>
          </p:cNvGraphicFramePr>
          <p:nvPr/>
        </p:nvGraphicFramePr>
        <p:xfrm>
          <a:off x="1981200" y="3657600"/>
          <a:ext cx="4495800" cy="738188"/>
        </p:xfrm>
        <a:graphic>
          <a:graphicData uri="http://schemas.openxmlformats.org/presentationml/2006/ole">
            <mc:AlternateContent xmlns:mc="http://schemas.openxmlformats.org/markup-compatibility/2006">
              <mc:Choice xmlns:v="urn:schemas-microsoft-com:vml" Requires="v">
                <p:oleObj spid="_x0000_s55318" name="Equation" r:id="rId9" imgW="1581150" imgH="240665" progId="Equation.3">
                  <p:embed/>
                </p:oleObj>
              </mc:Choice>
              <mc:Fallback>
                <p:oleObj name="Equation" r:id="rId9" imgW="1581150" imgH="240665" progId="Equation.3">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81200" y="3657600"/>
                        <a:ext cx="449580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9693" name="Object 13"/>
          <p:cNvGraphicFramePr>
            <a:graphicFrameLocks noChangeAspect="1"/>
          </p:cNvGraphicFramePr>
          <p:nvPr/>
        </p:nvGraphicFramePr>
        <p:xfrm>
          <a:off x="5486400" y="4419600"/>
          <a:ext cx="542925" cy="609600"/>
        </p:xfrm>
        <a:graphic>
          <a:graphicData uri="http://schemas.openxmlformats.org/presentationml/2006/ole">
            <mc:AlternateContent xmlns:mc="http://schemas.openxmlformats.org/markup-compatibility/2006">
              <mc:Choice xmlns:v="urn:schemas-microsoft-com:vml" Requires="v">
                <p:oleObj spid="_x0000_s55319" name="Equation" r:id="rId11" imgW="180975" imgH="211455" progId="Equation.3">
                  <p:embed/>
                </p:oleObj>
              </mc:Choice>
              <mc:Fallback>
                <p:oleObj name="Equation" r:id="rId11" imgW="180975" imgH="211455" progId="Equation.3">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86400" y="4419600"/>
                        <a:ext cx="542925"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99694" name="Group 14"/>
          <p:cNvGrpSpPr/>
          <p:nvPr/>
        </p:nvGrpSpPr>
        <p:grpSpPr bwMode="auto">
          <a:xfrm>
            <a:off x="914400" y="1676400"/>
            <a:ext cx="6878638" cy="685800"/>
            <a:chOff x="579" y="1075"/>
            <a:chExt cx="4333" cy="432"/>
          </a:xfrm>
        </p:grpSpPr>
        <p:graphicFrame>
          <p:nvGraphicFramePr>
            <p:cNvPr id="28684" name="Object 15"/>
            <p:cNvGraphicFramePr>
              <a:graphicFrameLocks noChangeAspect="1"/>
            </p:cNvGraphicFramePr>
            <p:nvPr/>
          </p:nvGraphicFramePr>
          <p:xfrm>
            <a:off x="579" y="1075"/>
            <a:ext cx="381" cy="432"/>
          </p:xfrm>
          <a:graphic>
            <a:graphicData uri="http://schemas.openxmlformats.org/presentationml/2006/ole">
              <mc:AlternateContent xmlns:mc="http://schemas.openxmlformats.org/markup-compatibility/2006">
                <mc:Choice xmlns:v="urn:schemas-microsoft-com:vml" Requires="v">
                  <p:oleObj spid="_x0000_s55320" name="Equation" r:id="rId13" imgW="180975" imgH="211455" progId="Equation.3">
                    <p:embed/>
                  </p:oleObj>
                </mc:Choice>
                <mc:Fallback>
                  <p:oleObj name="Equation" r:id="rId13" imgW="180975" imgH="211455" progId="Equation.3">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79" y="1075"/>
                          <a:ext cx="381" cy="432"/>
                        </a:xfrm>
                        <a:prstGeom prst="rect">
                          <a:avLst/>
                        </a:prstGeom>
                        <a:noFill/>
                        <a:ln>
                          <a:noFill/>
                        </a:ln>
                        <a:effectLst/>
                        <a:extLst>
                          <a:ext uri="{909E8E84-426E-40DD-AFC4-6F175D3DCCD1}">
                            <a14:hiddenFill xmlns:a14="http://schemas.microsoft.com/office/drawing/2010/main">
                              <a:solidFill>
                                <a:srgbClr val="66003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85" name="Rectangle 16"/>
            <p:cNvSpPr>
              <a:spLocks noChangeArrowheads="1"/>
            </p:cNvSpPr>
            <p:nvPr/>
          </p:nvSpPr>
          <p:spPr bwMode="auto">
            <a:xfrm>
              <a:off x="858" y="1156"/>
              <a:ext cx="4054" cy="327"/>
            </a:xfrm>
            <a:prstGeom prst="rect">
              <a:avLst/>
            </a:prstGeom>
            <a:noFill/>
            <a:ln>
              <a:noFill/>
            </a:ln>
            <a:effectLst/>
            <a:extLst>
              <a:ext uri="{909E8E84-426E-40DD-AFC4-6F175D3DCCD1}">
                <a14:hiddenFill xmlns:a14="http://schemas.microsoft.com/office/drawing/2010/main">
                  <a:solidFill>
                    <a:srgbClr val="6600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latin typeface="宋体" panose="02010600030101010101" pitchFamily="2" charset="-122"/>
                </a:rPr>
                <a:t>分布是由正态分布派生出来的一种分布</a:t>
              </a:r>
              <a:r>
                <a:rPr lang="en-US" altLang="zh-CN" sz="2800" b="1">
                  <a:latin typeface="宋体" panose="02010600030101010101" pitchFamily="2" charset="-122"/>
                </a:rPr>
                <a:t>.</a:t>
              </a:r>
            </a:p>
          </p:txBody>
        </p:sp>
      </p:grpSp>
      <p:sp>
        <p:nvSpPr>
          <p:cNvPr id="199697" name="Text Box 17"/>
          <p:cNvSpPr txBox="1">
            <a:spLocks noChangeArrowheads="1"/>
          </p:cNvSpPr>
          <p:nvPr/>
        </p:nvSpPr>
        <p:spPr bwMode="auto">
          <a:xfrm>
            <a:off x="1219200" y="914400"/>
            <a:ext cx="2286000" cy="641350"/>
          </a:xfrm>
          <a:prstGeom prst="rect">
            <a:avLst/>
          </a:prstGeom>
          <a:solidFill>
            <a:srgbClr val="6600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600" b="1"/>
              <a:t> </a:t>
            </a:r>
            <a:r>
              <a:rPr lang="en-US" altLang="zh-CN" sz="3600" b="1">
                <a:solidFill>
                  <a:schemeClr val="hlink"/>
                </a:solidFill>
                <a:latin typeface="Symbol" panose="05050102010706020507" pitchFamily="18" charset="2"/>
              </a:rPr>
              <a:t>c</a:t>
            </a:r>
            <a:r>
              <a:rPr lang="en-US" altLang="zh-CN" sz="3600" b="1" baseline="30000">
                <a:solidFill>
                  <a:schemeClr val="hlink"/>
                </a:solidFill>
                <a:latin typeface="Symbol" panose="05050102010706020507" pitchFamily="18" charset="2"/>
              </a:rPr>
              <a:t>2 </a:t>
            </a:r>
            <a:r>
              <a:rPr lang="en-US" altLang="zh-CN" sz="3600" b="1" baseline="30000">
                <a:latin typeface="Symbol" panose="05050102010706020507" pitchFamily="18" charset="2"/>
              </a:rPr>
              <a:t> </a:t>
            </a:r>
            <a:r>
              <a:rPr lang="zh-CN" altLang="en-US" sz="3600" b="1">
                <a:hlinkClick r:id="rId15" action="ppaction://hlinkfile"/>
              </a:rPr>
              <a:t>分布</a:t>
            </a:r>
            <a:endParaRPr lang="zh-CN" altLang="en-US" sz="36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99697"/>
                                        </p:tgtEl>
                                        <p:attrNameLst>
                                          <p:attrName>style.visibility</p:attrName>
                                        </p:attrNameLst>
                                      </p:cBhvr>
                                      <p:to>
                                        <p:strVal val="visible"/>
                                      </p:to>
                                    </p:set>
                                    <p:animEffect transition="in" filter="wipe(down)">
                                      <p:cBhvr>
                                        <p:cTn id="7" dur="500"/>
                                        <p:tgtEl>
                                          <p:spTgt spid="1996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99686"/>
                                        </p:tgtEl>
                                        <p:attrNameLst>
                                          <p:attrName>style.visibility</p:attrName>
                                        </p:attrNameLst>
                                      </p:cBhvr>
                                      <p:to>
                                        <p:strVal val="visible"/>
                                      </p:to>
                                    </p:set>
                                    <p:animEffect transition="in" filter="wipe(down)">
                                      <p:cBhvr>
                                        <p:cTn id="12" dur="500"/>
                                        <p:tgtEl>
                                          <p:spTgt spid="199686"/>
                                        </p:tgtEl>
                                      </p:cBhvr>
                                    </p:animEffect>
                                  </p:childTnLst>
                                </p:cTn>
                              </p:par>
                            </p:childTnLst>
                          </p:cTn>
                        </p:par>
                        <p:par>
                          <p:cTn id="13" fill="hold">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199689"/>
                                        </p:tgtEl>
                                        <p:attrNameLst>
                                          <p:attrName>style.visibility</p:attrName>
                                        </p:attrNameLst>
                                      </p:cBhvr>
                                      <p:to>
                                        <p:strVal val="visible"/>
                                      </p:to>
                                    </p:set>
                                    <p:animEffect transition="in" filter="wipe(down)">
                                      <p:cBhvr>
                                        <p:cTn id="16" dur="500"/>
                                        <p:tgtEl>
                                          <p:spTgt spid="19968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199694"/>
                                        </p:tgtEl>
                                        <p:attrNameLst>
                                          <p:attrName>style.visibility</p:attrName>
                                        </p:attrNameLst>
                                      </p:cBhvr>
                                      <p:to>
                                        <p:strVal val="visible"/>
                                      </p:to>
                                    </p:set>
                                    <p:animEffect transition="in" filter="wipe(down)">
                                      <p:cBhvr>
                                        <p:cTn id="21" dur="500"/>
                                        <p:tgtEl>
                                          <p:spTgt spid="19969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99690"/>
                                        </p:tgtEl>
                                        <p:attrNameLst>
                                          <p:attrName>style.visibility</p:attrName>
                                        </p:attrNameLst>
                                      </p:cBhvr>
                                      <p:to>
                                        <p:strVal val="visible"/>
                                      </p:to>
                                    </p:set>
                                    <p:animEffect transition="in" filter="wipe(down)">
                                      <p:cBhvr>
                                        <p:cTn id="26" dur="500"/>
                                        <p:tgtEl>
                                          <p:spTgt spid="199690"/>
                                        </p:tgtEl>
                                      </p:cBhvr>
                                    </p:animEffect>
                                  </p:childTnLst>
                                </p:cTn>
                              </p:par>
                            </p:childTnLst>
                          </p:cTn>
                        </p:par>
                        <p:par>
                          <p:cTn id="27" fill="hold">
                            <p:stCondLst>
                              <p:cond delay="500"/>
                            </p:stCondLst>
                            <p:childTnLst>
                              <p:par>
                                <p:cTn id="28" presetID="22" presetClass="entr" presetSubtype="4" fill="hold" nodeType="afterEffect">
                                  <p:stCondLst>
                                    <p:cond delay="0"/>
                                  </p:stCondLst>
                                  <p:childTnLst>
                                    <p:set>
                                      <p:cBhvr>
                                        <p:cTn id="29" dur="1" fill="hold">
                                          <p:stCondLst>
                                            <p:cond delay="0"/>
                                          </p:stCondLst>
                                        </p:cTn>
                                        <p:tgtEl>
                                          <p:spTgt spid="199691"/>
                                        </p:tgtEl>
                                        <p:attrNameLst>
                                          <p:attrName>style.visibility</p:attrName>
                                        </p:attrNameLst>
                                      </p:cBhvr>
                                      <p:to>
                                        <p:strVal val="visible"/>
                                      </p:to>
                                    </p:set>
                                    <p:animEffect transition="in" filter="wipe(down)">
                                      <p:cBhvr>
                                        <p:cTn id="30" dur="500"/>
                                        <p:tgtEl>
                                          <p:spTgt spid="199691"/>
                                        </p:tgtEl>
                                      </p:cBhvr>
                                    </p:animEffect>
                                  </p:childTnLst>
                                </p:cTn>
                              </p:par>
                            </p:childTnLst>
                          </p:cTn>
                        </p:par>
                        <p:par>
                          <p:cTn id="31" fill="hold">
                            <p:stCondLst>
                              <p:cond delay="1000"/>
                            </p:stCondLst>
                            <p:childTnLst>
                              <p:par>
                                <p:cTn id="32" presetID="22" presetClass="entr" presetSubtype="4" fill="hold" nodeType="afterEffect">
                                  <p:stCondLst>
                                    <p:cond delay="0"/>
                                  </p:stCondLst>
                                  <p:childTnLst>
                                    <p:set>
                                      <p:cBhvr>
                                        <p:cTn id="33" dur="1" fill="hold">
                                          <p:stCondLst>
                                            <p:cond delay="0"/>
                                          </p:stCondLst>
                                        </p:cTn>
                                        <p:tgtEl>
                                          <p:spTgt spid="199692"/>
                                        </p:tgtEl>
                                        <p:attrNameLst>
                                          <p:attrName>style.visibility</p:attrName>
                                        </p:attrNameLst>
                                      </p:cBhvr>
                                      <p:to>
                                        <p:strVal val="visible"/>
                                      </p:to>
                                    </p:set>
                                    <p:animEffect transition="in" filter="wipe(down)">
                                      <p:cBhvr>
                                        <p:cTn id="34" dur="500"/>
                                        <p:tgtEl>
                                          <p:spTgt spid="199692"/>
                                        </p:tgtEl>
                                      </p:cBhvr>
                                    </p:animEffect>
                                  </p:childTnLst>
                                </p:cTn>
                              </p:par>
                            </p:childTnLst>
                          </p:cTn>
                        </p:par>
                        <p:par>
                          <p:cTn id="35" fill="hold">
                            <p:stCondLst>
                              <p:cond delay="1500"/>
                            </p:stCondLst>
                            <p:childTnLst>
                              <p:par>
                                <p:cTn id="36" presetID="22" presetClass="entr" presetSubtype="4" fill="hold" nodeType="afterEffect">
                                  <p:stCondLst>
                                    <p:cond delay="0"/>
                                  </p:stCondLst>
                                  <p:childTnLst>
                                    <p:set>
                                      <p:cBhvr>
                                        <p:cTn id="37" dur="1" fill="hold">
                                          <p:stCondLst>
                                            <p:cond delay="0"/>
                                          </p:stCondLst>
                                        </p:cTn>
                                        <p:tgtEl>
                                          <p:spTgt spid="199693"/>
                                        </p:tgtEl>
                                        <p:attrNameLst>
                                          <p:attrName>style.visibility</p:attrName>
                                        </p:attrNameLst>
                                      </p:cBhvr>
                                      <p:to>
                                        <p:strVal val="visible"/>
                                      </p:to>
                                    </p:set>
                                    <p:animEffect transition="in" filter="wipe(down)">
                                      <p:cBhvr>
                                        <p:cTn id="38" dur="500"/>
                                        <p:tgtEl>
                                          <p:spTgt spid="19969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199683"/>
                                        </p:tgtEl>
                                        <p:attrNameLst>
                                          <p:attrName>style.visibility</p:attrName>
                                        </p:attrNameLst>
                                      </p:cBhvr>
                                      <p:to>
                                        <p:strVal val="visible"/>
                                      </p:to>
                                    </p:set>
                                    <p:animEffect transition="in" filter="wipe(down)">
                                      <p:cBhvr>
                                        <p:cTn id="43" dur="500"/>
                                        <p:tgtEl>
                                          <p:spTgt spid="1996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9" grpId="0" bldLvl="0" animBg="1" autoUpdateAnimBg="0"/>
      <p:bldP spid="199690" grpId="0" bldLvl="0" animBg="1" autoUpdateAnimBg="0"/>
      <p:bldP spid="199697" grpId="0" bldLvl="0" animBg="1"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698" name="Object 2"/>
          <p:cNvGraphicFramePr>
            <a:graphicFrameLocks noChangeAspect="1"/>
          </p:cNvGraphicFramePr>
          <p:nvPr/>
        </p:nvGraphicFramePr>
        <p:xfrm>
          <a:off x="609600" y="1270000"/>
          <a:ext cx="542925" cy="609600"/>
        </p:xfrm>
        <a:graphic>
          <a:graphicData uri="http://schemas.openxmlformats.org/presentationml/2006/ole">
            <mc:AlternateContent xmlns:mc="http://schemas.openxmlformats.org/markup-compatibility/2006">
              <mc:Choice xmlns:v="urn:schemas-microsoft-com:vml" Requires="v">
                <p:oleObj spid="_x0000_s56336" name="Equation" r:id="rId3" imgW="180975" imgH="211455" progId="Equation.3">
                  <p:embed/>
                </p:oleObj>
              </mc:Choice>
              <mc:Fallback>
                <p:oleObj name="Equation" r:id="rId3" imgW="180975" imgH="211455"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1270000"/>
                        <a:ext cx="542925"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699" name="Rectangle 3"/>
          <p:cNvSpPr>
            <a:spLocks noChangeArrowheads="1"/>
          </p:cNvSpPr>
          <p:nvPr/>
        </p:nvSpPr>
        <p:spPr bwMode="auto">
          <a:xfrm>
            <a:off x="1143000" y="1295400"/>
            <a:ext cx="304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dirty="0">
                <a:solidFill>
                  <a:schemeClr val="accent2"/>
                </a:solidFill>
                <a:latin typeface="宋体" panose="02010600030101010101" pitchFamily="2" charset="-122"/>
              </a:rPr>
              <a:t>分布的密度函数为</a:t>
            </a:r>
          </a:p>
        </p:txBody>
      </p:sp>
      <p:graphicFrame>
        <p:nvGraphicFramePr>
          <p:cNvPr id="200708" name="Object 4"/>
          <p:cNvGraphicFramePr>
            <a:graphicFrameLocks noChangeAspect="1"/>
          </p:cNvGraphicFramePr>
          <p:nvPr/>
        </p:nvGraphicFramePr>
        <p:xfrm>
          <a:off x="1143000" y="1727200"/>
          <a:ext cx="6162675" cy="1793875"/>
        </p:xfrm>
        <a:graphic>
          <a:graphicData uri="http://schemas.openxmlformats.org/presentationml/2006/ole">
            <mc:AlternateContent xmlns:mc="http://schemas.openxmlformats.org/markup-compatibility/2006">
              <mc:Choice xmlns:v="urn:schemas-microsoft-com:vml" Requires="v">
                <p:oleObj spid="_x0000_s56337" name="Equation" r:id="rId5" imgW="2276475" imgH="645160" progId="Equation.3">
                  <p:embed/>
                </p:oleObj>
              </mc:Choice>
              <mc:Fallback>
                <p:oleObj name="Equation" r:id="rId5" imgW="2276475" imgH="64516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000" y="1727200"/>
                        <a:ext cx="6162675" cy="179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0709" name="Rectangle 5"/>
          <p:cNvSpPr>
            <a:spLocks noChangeArrowheads="1"/>
          </p:cNvSpPr>
          <p:nvPr/>
        </p:nvSpPr>
        <p:spPr bwMode="auto">
          <a:xfrm>
            <a:off x="6732588" y="4103688"/>
            <a:ext cx="13446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b="1"/>
              <a:t>来定义</a:t>
            </a:r>
            <a:r>
              <a:rPr lang="en-US" altLang="zh-CN" sz="2800" b="1"/>
              <a:t>.</a:t>
            </a:r>
          </a:p>
        </p:txBody>
      </p:sp>
      <p:grpSp>
        <p:nvGrpSpPr>
          <p:cNvPr id="200710" name="Group 6"/>
          <p:cNvGrpSpPr/>
          <p:nvPr/>
        </p:nvGrpSpPr>
        <p:grpSpPr bwMode="auto">
          <a:xfrm>
            <a:off x="684213" y="3484563"/>
            <a:ext cx="6781800" cy="1487487"/>
            <a:chOff x="921" y="1661"/>
            <a:chExt cx="4272" cy="937"/>
          </a:xfrm>
        </p:grpSpPr>
        <p:sp>
          <p:nvSpPr>
            <p:cNvPr id="29704" name="Text Box 7"/>
            <p:cNvSpPr txBox="1">
              <a:spLocks noChangeArrowheads="1"/>
            </p:cNvSpPr>
            <p:nvPr/>
          </p:nvSpPr>
          <p:spPr bwMode="auto">
            <a:xfrm>
              <a:off x="921" y="1661"/>
              <a:ext cx="427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ct val="50000"/>
                </a:spcBef>
              </a:pPr>
              <a:r>
                <a:rPr lang="zh-CN" altLang="en-US" sz="2800" b="1"/>
                <a:t>其中伽玛函数         通过积分</a:t>
              </a:r>
            </a:p>
          </p:txBody>
        </p:sp>
        <p:graphicFrame>
          <p:nvGraphicFramePr>
            <p:cNvPr id="29705" name="Object 8"/>
            <p:cNvGraphicFramePr>
              <a:graphicFrameLocks noChangeAspect="1"/>
            </p:cNvGraphicFramePr>
            <p:nvPr/>
          </p:nvGraphicFramePr>
          <p:xfrm>
            <a:off x="1593" y="2045"/>
            <a:ext cx="2746" cy="553"/>
          </p:xfrm>
          <a:graphic>
            <a:graphicData uri="http://schemas.openxmlformats.org/presentationml/2006/ole">
              <mc:AlternateContent xmlns:mc="http://schemas.openxmlformats.org/markup-compatibility/2006">
                <mc:Choice xmlns:v="urn:schemas-microsoft-com:vml" Requires="v">
                  <p:oleObj spid="_x0000_s56338" name="Equation" r:id="rId7" imgW="1590675" imgH="317500" progId="Equation.3">
                    <p:embed/>
                  </p:oleObj>
                </mc:Choice>
                <mc:Fallback>
                  <p:oleObj name="Equation" r:id="rId7" imgW="1590675" imgH="3175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93" y="2045"/>
                          <a:ext cx="2746" cy="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706" name="Object 9"/>
            <p:cNvGraphicFramePr>
              <a:graphicFrameLocks noChangeAspect="1"/>
            </p:cNvGraphicFramePr>
            <p:nvPr/>
          </p:nvGraphicFramePr>
          <p:xfrm>
            <a:off x="2290" y="1661"/>
            <a:ext cx="576" cy="355"/>
          </p:xfrm>
          <a:graphic>
            <a:graphicData uri="http://schemas.openxmlformats.org/presentationml/2006/ole">
              <mc:AlternateContent xmlns:mc="http://schemas.openxmlformats.org/markup-compatibility/2006">
                <mc:Choice xmlns:v="urn:schemas-microsoft-com:vml" Requires="v">
                  <p:oleObj spid="_x0000_s56339" name="Equation" r:id="rId9" imgW="314325" imgH="182880" progId="Equation.3">
                    <p:embed/>
                  </p:oleObj>
                </mc:Choice>
                <mc:Fallback>
                  <p:oleObj name="Equation" r:id="rId9" imgW="314325" imgH="18288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90" y="1661"/>
                          <a:ext cx="576" cy="3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00714" name="Object 10"/>
          <p:cNvGraphicFramePr>
            <a:graphicFrameLocks noChangeAspect="1"/>
          </p:cNvGraphicFramePr>
          <p:nvPr/>
        </p:nvGraphicFramePr>
        <p:xfrm>
          <a:off x="685800" y="1193800"/>
          <a:ext cx="542925" cy="609600"/>
        </p:xfrm>
        <a:graphic>
          <a:graphicData uri="http://schemas.openxmlformats.org/presentationml/2006/ole">
            <mc:AlternateContent xmlns:mc="http://schemas.openxmlformats.org/markup-compatibility/2006">
              <mc:Choice xmlns:v="urn:schemas-microsoft-com:vml" Requires="v">
                <p:oleObj spid="_x0000_s56340" name="Equation" r:id="rId11" imgW="180975" imgH="211455" progId="Equation.3">
                  <p:embed/>
                </p:oleObj>
              </mc:Choice>
              <mc:Fallback>
                <p:oleObj name="Equation" r:id="rId11" imgW="180975" imgH="211455" progId="Equation.3">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5800" y="1193800"/>
                        <a:ext cx="542925" cy="609600"/>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00708"/>
                                        </p:tgtEl>
                                        <p:attrNameLst>
                                          <p:attrName>style.visibility</p:attrName>
                                        </p:attrNameLst>
                                      </p:cBhvr>
                                      <p:to>
                                        <p:strVal val="visible"/>
                                      </p:to>
                                    </p:set>
                                  </p:childTnLst>
                                </p:cTn>
                              </p:par>
                            </p:childTnLst>
                          </p:cTn>
                        </p:par>
                        <p:par>
                          <p:cTn id="7" fill="hold">
                            <p:stCondLst>
                              <p:cond delay="500"/>
                            </p:stCondLst>
                            <p:childTnLst>
                              <p:par>
                                <p:cTn id="8" presetID="22" presetClass="entr" presetSubtype="4" fill="hold" nodeType="afterEffect">
                                  <p:stCondLst>
                                    <p:cond delay="0"/>
                                  </p:stCondLst>
                                  <p:childTnLst>
                                    <p:set>
                                      <p:cBhvr>
                                        <p:cTn id="9" dur="1" fill="hold">
                                          <p:stCondLst>
                                            <p:cond delay="0"/>
                                          </p:stCondLst>
                                        </p:cTn>
                                        <p:tgtEl>
                                          <p:spTgt spid="200710"/>
                                        </p:tgtEl>
                                        <p:attrNameLst>
                                          <p:attrName>style.visibility</p:attrName>
                                        </p:attrNameLst>
                                      </p:cBhvr>
                                      <p:to>
                                        <p:strVal val="visible"/>
                                      </p:to>
                                    </p:set>
                                    <p:animEffect transition="in" filter="wipe(down)">
                                      <p:cBhvr>
                                        <p:cTn id="10" dur="500"/>
                                        <p:tgtEl>
                                          <p:spTgt spid="20071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00709"/>
                                        </p:tgtEl>
                                        <p:attrNameLst>
                                          <p:attrName>style.visibility</p:attrName>
                                        </p:attrNameLst>
                                      </p:cBhvr>
                                      <p:to>
                                        <p:strVal val="visible"/>
                                      </p:to>
                                    </p:set>
                                    <p:animEffect transition="in" filter="wipe(down)">
                                      <p:cBhvr>
                                        <p:cTn id="15" dur="500"/>
                                        <p:tgtEl>
                                          <p:spTgt spid="200709"/>
                                        </p:tgtEl>
                                      </p:cBhvr>
                                    </p:animEffect>
                                  </p:childTnLst>
                                </p:cTn>
                              </p:par>
                            </p:childTnLst>
                          </p:cTn>
                        </p:par>
                        <p:par>
                          <p:cTn id="16" fill="hold">
                            <p:stCondLst>
                              <p:cond delay="500"/>
                            </p:stCondLst>
                            <p:childTnLst>
                              <p:par>
                                <p:cTn id="17" presetID="22" presetClass="entr" presetSubtype="4" fill="hold" nodeType="afterEffect">
                                  <p:stCondLst>
                                    <p:cond delay="0"/>
                                  </p:stCondLst>
                                  <p:childTnLst>
                                    <p:set>
                                      <p:cBhvr>
                                        <p:cTn id="18" dur="1" fill="hold">
                                          <p:stCondLst>
                                            <p:cond delay="0"/>
                                          </p:stCondLst>
                                        </p:cTn>
                                        <p:tgtEl>
                                          <p:spTgt spid="200714"/>
                                        </p:tgtEl>
                                        <p:attrNameLst>
                                          <p:attrName>style.visibility</p:attrName>
                                        </p:attrNameLst>
                                      </p:cBhvr>
                                      <p:to>
                                        <p:strVal val="visible"/>
                                      </p:to>
                                    </p:set>
                                    <p:animEffect transition="in" filter="wipe(down)">
                                      <p:cBhvr>
                                        <p:cTn id="19" dur="500"/>
                                        <p:tgtEl>
                                          <p:spTgt spid="2007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09" grpId="0" bldLvl="0" animBg="1"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1730" name="Object 2"/>
          <p:cNvGraphicFramePr>
            <a:graphicFrameLocks noChangeAspect="1"/>
          </p:cNvGraphicFramePr>
          <p:nvPr/>
        </p:nvGraphicFramePr>
        <p:xfrm>
          <a:off x="611188" y="1473200"/>
          <a:ext cx="1619250" cy="609600"/>
        </p:xfrm>
        <a:graphic>
          <a:graphicData uri="http://schemas.openxmlformats.org/presentationml/2006/ole">
            <mc:AlternateContent xmlns:mc="http://schemas.openxmlformats.org/markup-compatibility/2006">
              <mc:Choice xmlns:v="urn:schemas-microsoft-com:vml" Requires="v">
                <p:oleObj spid="_x0000_s57372" name="Equation" r:id="rId3" imgW="628650" imgH="211455" progId="Equation.3">
                  <p:embed/>
                </p:oleObj>
              </mc:Choice>
              <mc:Fallback>
                <p:oleObj name="Equation" r:id="rId3" imgW="628650" imgH="211455"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1473200"/>
                        <a:ext cx="161925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1731" name="Rectangle 3"/>
          <p:cNvSpPr>
            <a:spLocks noChangeArrowheads="1"/>
          </p:cNvSpPr>
          <p:nvPr/>
        </p:nvSpPr>
        <p:spPr bwMode="auto">
          <a:xfrm>
            <a:off x="639763" y="762000"/>
            <a:ext cx="7296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t>1.</a:t>
            </a:r>
            <a:r>
              <a:rPr lang="en-US" altLang="zh-CN" sz="2800" b="1">
                <a:cs typeface="Times New Roman" panose="02020603050405020304" pitchFamily="18" charset="0"/>
              </a:rPr>
              <a:t>   </a:t>
            </a:r>
            <a:r>
              <a:rPr lang="zh-CN" altLang="en-US" sz="2800" b="1"/>
              <a:t>设                        相互独立</a:t>
            </a:r>
            <a:r>
              <a:rPr lang="en-US" altLang="zh-CN" sz="2800" b="1"/>
              <a:t>, </a:t>
            </a:r>
            <a:r>
              <a:rPr lang="zh-CN" altLang="en-US" sz="2800" b="1"/>
              <a:t>都服从正态分布</a:t>
            </a:r>
          </a:p>
        </p:txBody>
      </p:sp>
      <p:graphicFrame>
        <p:nvGraphicFramePr>
          <p:cNvPr id="201732" name="Object 4"/>
          <p:cNvGraphicFramePr>
            <a:graphicFrameLocks noChangeAspect="1"/>
          </p:cNvGraphicFramePr>
          <p:nvPr/>
        </p:nvGraphicFramePr>
        <p:xfrm>
          <a:off x="1706563" y="752475"/>
          <a:ext cx="2146300" cy="571500"/>
        </p:xfrm>
        <a:graphic>
          <a:graphicData uri="http://schemas.openxmlformats.org/presentationml/2006/ole">
            <mc:AlternateContent xmlns:mc="http://schemas.openxmlformats.org/markup-compatibility/2006">
              <mc:Choice xmlns:v="urn:schemas-microsoft-com:vml" Requires="v">
                <p:oleObj spid="_x0000_s57373" name="Equation" r:id="rId5" imgW="857250" imgH="211455" progId="Equation.3">
                  <p:embed/>
                </p:oleObj>
              </mc:Choice>
              <mc:Fallback>
                <p:oleObj name="Equation" r:id="rId5" imgW="857250" imgH="211455"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06563" y="752475"/>
                        <a:ext cx="21463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1733" name="Rectangle 5"/>
          <p:cNvSpPr>
            <a:spLocks noChangeArrowheads="1"/>
          </p:cNvSpPr>
          <p:nvPr/>
        </p:nvSpPr>
        <p:spPr bwMode="auto">
          <a:xfrm>
            <a:off x="2300288" y="1530350"/>
            <a:ext cx="5429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t>则</a:t>
            </a:r>
          </a:p>
        </p:txBody>
      </p:sp>
      <p:graphicFrame>
        <p:nvGraphicFramePr>
          <p:cNvPr id="201734" name="Object 6"/>
          <p:cNvGraphicFramePr>
            <a:graphicFrameLocks noChangeAspect="1"/>
          </p:cNvGraphicFramePr>
          <p:nvPr/>
        </p:nvGraphicFramePr>
        <p:xfrm>
          <a:off x="3059113" y="1298575"/>
          <a:ext cx="4360862" cy="1038225"/>
        </p:xfrm>
        <a:graphic>
          <a:graphicData uri="http://schemas.openxmlformats.org/presentationml/2006/ole">
            <mc:AlternateContent xmlns:mc="http://schemas.openxmlformats.org/markup-compatibility/2006">
              <mc:Choice xmlns:v="urn:schemas-microsoft-com:vml" Requires="v">
                <p:oleObj spid="_x0000_s57374" name="Equation" r:id="rId7" imgW="1838325" imgH="414020" progId="Equation.3">
                  <p:embed/>
                </p:oleObj>
              </mc:Choice>
              <mc:Fallback>
                <p:oleObj name="Equation" r:id="rId7" imgW="1838325" imgH="41402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59113" y="1298575"/>
                        <a:ext cx="4360862"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1735" name="Object 7"/>
          <p:cNvGraphicFramePr>
            <a:graphicFrameLocks noChangeAspect="1"/>
          </p:cNvGraphicFramePr>
          <p:nvPr/>
        </p:nvGraphicFramePr>
        <p:xfrm>
          <a:off x="611188" y="2984500"/>
          <a:ext cx="4856162" cy="504825"/>
        </p:xfrm>
        <a:graphic>
          <a:graphicData uri="http://schemas.openxmlformats.org/presentationml/2006/ole">
            <mc:AlternateContent xmlns:mc="http://schemas.openxmlformats.org/markup-compatibility/2006">
              <mc:Choice xmlns:v="urn:schemas-microsoft-com:vml" Requires="v">
                <p:oleObj spid="_x0000_s57375" name="公式" r:id="rId9" imgW="3590925" imgH="452120" progId="Equation.3">
                  <p:embed/>
                </p:oleObj>
              </mc:Choice>
              <mc:Fallback>
                <p:oleObj name="公式" r:id="rId9" imgW="3590925" imgH="45212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1188" y="2984500"/>
                        <a:ext cx="4856162"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1736" name="Object 8"/>
          <p:cNvGraphicFramePr>
            <a:graphicFrameLocks noChangeAspect="1"/>
          </p:cNvGraphicFramePr>
          <p:nvPr/>
        </p:nvGraphicFramePr>
        <p:xfrm>
          <a:off x="1689100" y="2193925"/>
          <a:ext cx="4308475" cy="609600"/>
        </p:xfrm>
        <a:graphic>
          <a:graphicData uri="http://schemas.openxmlformats.org/presentationml/2006/ole">
            <mc:AlternateContent xmlns:mc="http://schemas.openxmlformats.org/markup-compatibility/2006">
              <mc:Choice xmlns:v="urn:schemas-microsoft-com:vml" Requires="v">
                <p:oleObj spid="_x0000_s57376" name="Equation" r:id="rId11" imgW="1590675" imgH="211455" progId="Equation.3">
                  <p:embed/>
                </p:oleObj>
              </mc:Choice>
              <mc:Fallback>
                <p:oleObj name="Equation" r:id="rId11" imgW="1590675" imgH="211455" progId="Equation.3">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89100" y="2193925"/>
                        <a:ext cx="4308475"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01737" name="Group 9"/>
          <p:cNvGrpSpPr/>
          <p:nvPr/>
        </p:nvGrpSpPr>
        <p:grpSpPr bwMode="auto">
          <a:xfrm>
            <a:off x="1258888" y="3524250"/>
            <a:ext cx="4659312" cy="685800"/>
            <a:chOff x="703" y="2523"/>
            <a:chExt cx="2935" cy="432"/>
          </a:xfrm>
        </p:grpSpPr>
        <p:sp>
          <p:nvSpPr>
            <p:cNvPr id="30737" name="Rectangle 10"/>
            <p:cNvSpPr>
              <a:spLocks noChangeArrowheads="1"/>
            </p:cNvSpPr>
            <p:nvPr/>
          </p:nvSpPr>
          <p:spPr bwMode="auto">
            <a:xfrm>
              <a:off x="703" y="2588"/>
              <a:ext cx="2935"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solidFill>
                    <a:schemeClr val="accent2"/>
                  </a:solidFill>
                </a:rPr>
                <a:t>这个性质叫     分布的可加性</a:t>
              </a:r>
              <a:r>
                <a:rPr lang="en-US" altLang="zh-CN" sz="3200" b="1">
                  <a:solidFill>
                    <a:schemeClr val="accent2"/>
                  </a:solidFill>
                </a:rPr>
                <a:t>.</a:t>
              </a:r>
            </a:p>
          </p:txBody>
        </p:sp>
        <p:graphicFrame>
          <p:nvGraphicFramePr>
            <p:cNvPr id="30738" name="Object 11"/>
            <p:cNvGraphicFramePr>
              <a:graphicFrameLocks noChangeAspect="1"/>
            </p:cNvGraphicFramePr>
            <p:nvPr/>
          </p:nvGraphicFramePr>
          <p:xfrm>
            <a:off x="1882" y="2523"/>
            <a:ext cx="384" cy="432"/>
          </p:xfrm>
          <a:graphic>
            <a:graphicData uri="http://schemas.openxmlformats.org/presentationml/2006/ole">
              <mc:AlternateContent xmlns:mc="http://schemas.openxmlformats.org/markup-compatibility/2006">
                <mc:Choice xmlns:v="urn:schemas-microsoft-com:vml" Requires="v">
                  <p:oleObj spid="_x0000_s57377" name="Equation" r:id="rId13" imgW="180975" imgH="211455" progId="Equation.3">
                    <p:embed/>
                  </p:oleObj>
                </mc:Choice>
                <mc:Fallback>
                  <p:oleObj name="Equation" r:id="rId13" imgW="180975" imgH="211455" progId="Equation.3">
                    <p:embed/>
                    <p:pic>
                      <p:nvPicPr>
                        <p:cNvPr id="0" name="Object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82" y="2523"/>
                          <a:ext cx="384" cy="4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30730" name="Object 12"/>
          <p:cNvGraphicFramePr>
            <a:graphicFrameLocks noChangeAspect="1"/>
          </p:cNvGraphicFramePr>
          <p:nvPr/>
        </p:nvGraphicFramePr>
        <p:xfrm>
          <a:off x="712788" y="177800"/>
          <a:ext cx="2171700" cy="457200"/>
        </p:xfrm>
        <a:graphic>
          <a:graphicData uri="http://schemas.openxmlformats.org/presentationml/2006/ole">
            <mc:AlternateContent xmlns:mc="http://schemas.openxmlformats.org/markup-compatibility/2006">
              <mc:Choice xmlns:v="urn:schemas-microsoft-com:vml" Requires="v">
                <p:oleObj spid="_x0000_s57378" name="公式" r:id="rId15" imgW="2152650" imgH="442595" progId="Equation.3">
                  <p:embed/>
                </p:oleObj>
              </mc:Choice>
              <mc:Fallback>
                <p:oleObj name="公式" r:id="rId15" imgW="2152650" imgH="442595" progId="Equation.3">
                  <p:embed/>
                  <p:pic>
                    <p:nvPicPr>
                      <p:cNvPr id="0" name="Object 1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12788" y="177800"/>
                        <a:ext cx="2171700" cy="457200"/>
                      </a:xfrm>
                      <a:prstGeom prst="rect">
                        <a:avLst/>
                      </a:prstGeom>
                      <a:solidFill>
                        <a:srgbClr val="3333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1741" name="Object 13"/>
          <p:cNvGraphicFramePr>
            <a:graphicFrameLocks noChangeAspect="1"/>
          </p:cNvGraphicFramePr>
          <p:nvPr/>
        </p:nvGraphicFramePr>
        <p:xfrm>
          <a:off x="1654175" y="4281488"/>
          <a:ext cx="4824413" cy="503237"/>
        </p:xfrm>
        <a:graphic>
          <a:graphicData uri="http://schemas.openxmlformats.org/presentationml/2006/ole">
            <mc:AlternateContent xmlns:mc="http://schemas.openxmlformats.org/markup-compatibility/2006">
              <mc:Choice xmlns:v="urn:schemas-microsoft-com:vml" Requires="v">
                <p:oleObj spid="_x0000_s57379" name="公式" r:id="rId17" imgW="4124325" imgH="452120" progId="Equation.3">
                  <p:embed/>
                </p:oleObj>
              </mc:Choice>
              <mc:Fallback>
                <p:oleObj name="公式" r:id="rId17" imgW="4124325" imgH="452120" progId="Equation.3">
                  <p:embed/>
                  <p:pic>
                    <p:nvPicPr>
                      <p:cNvPr id="0" name="Object 1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654175" y="4281488"/>
                        <a:ext cx="4824413" cy="503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1742" name="Rectangle 14"/>
          <p:cNvSpPr>
            <a:spLocks noChangeArrowheads="1"/>
          </p:cNvSpPr>
          <p:nvPr/>
        </p:nvSpPr>
        <p:spPr bwMode="auto">
          <a:xfrm>
            <a:off x="579438" y="4303713"/>
            <a:ext cx="1076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t>3</a:t>
            </a:r>
            <a:r>
              <a:rPr lang="zh-CN" altLang="en-US" sz="2800" b="1"/>
              <a:t>．若</a:t>
            </a:r>
          </a:p>
        </p:txBody>
      </p:sp>
      <p:graphicFrame>
        <p:nvGraphicFramePr>
          <p:cNvPr id="201743" name="Object 15"/>
          <p:cNvGraphicFramePr>
            <a:graphicFrameLocks noChangeAspect="1"/>
          </p:cNvGraphicFramePr>
          <p:nvPr/>
        </p:nvGraphicFramePr>
        <p:xfrm>
          <a:off x="6623050" y="4210050"/>
          <a:ext cx="2087563" cy="792163"/>
        </p:xfrm>
        <a:graphic>
          <a:graphicData uri="http://schemas.openxmlformats.org/presentationml/2006/ole">
            <mc:AlternateContent xmlns:mc="http://schemas.openxmlformats.org/markup-compatibility/2006">
              <mc:Choice xmlns:v="urn:schemas-microsoft-com:vml" Requires="v">
                <p:oleObj spid="_x0000_s57380" name="公式" r:id="rId19" imgW="2000250" imgH="837565" progId="Equation.3">
                  <p:embed/>
                </p:oleObj>
              </mc:Choice>
              <mc:Fallback>
                <p:oleObj name="公式" r:id="rId19" imgW="2000250" imgH="837565" progId="Equation.3">
                  <p:embed/>
                  <p:pic>
                    <p:nvPicPr>
                      <p:cNvPr id="0" name="Object 1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623050" y="4210050"/>
                        <a:ext cx="2087563"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1744" name="Rectangle 16"/>
          <p:cNvSpPr>
            <a:spLocks noChangeArrowheads="1"/>
          </p:cNvSpPr>
          <p:nvPr/>
        </p:nvSpPr>
        <p:spPr bwMode="auto">
          <a:xfrm>
            <a:off x="503238" y="5059363"/>
            <a:ext cx="33559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b="1"/>
              <a:t>近似正态分布</a:t>
            </a:r>
            <a:r>
              <a:rPr lang="en-US" altLang="zh-CN" sz="2800" b="1"/>
              <a:t>N(0,1).</a:t>
            </a:r>
          </a:p>
        </p:txBody>
      </p:sp>
      <p:sp>
        <p:nvSpPr>
          <p:cNvPr id="201745" name="Rectangle 17"/>
          <p:cNvSpPr>
            <a:spLocks noChangeArrowheads="1"/>
          </p:cNvSpPr>
          <p:nvPr/>
        </p:nvSpPr>
        <p:spPr bwMode="auto">
          <a:xfrm>
            <a:off x="1644650" y="5721350"/>
            <a:ext cx="4349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chemeClr val="accent2"/>
                </a:solidFill>
              </a:rPr>
              <a:t>(</a:t>
            </a:r>
            <a:r>
              <a:rPr lang="zh-CN" altLang="en-US" sz="2800" b="1">
                <a:solidFill>
                  <a:schemeClr val="accent2"/>
                </a:solidFill>
              </a:rPr>
              <a:t>应用中心极限定理可得 </a:t>
            </a:r>
            <a:r>
              <a:rPr lang="en-US" altLang="zh-CN" sz="2800" b="1">
                <a:solidFill>
                  <a:schemeClr val="accent2"/>
                </a:solidFill>
              </a:rPr>
              <a:t>)   </a:t>
            </a:r>
          </a:p>
        </p:txBody>
      </p:sp>
      <p:sp>
        <p:nvSpPr>
          <p:cNvPr id="201746" name="Rectangle 18"/>
          <p:cNvSpPr>
            <a:spLocks noChangeArrowheads="1"/>
          </p:cNvSpPr>
          <p:nvPr/>
        </p:nvSpPr>
        <p:spPr bwMode="auto">
          <a:xfrm>
            <a:off x="611188" y="2265363"/>
            <a:ext cx="8532812"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b="1"/>
              <a:t>2</a:t>
            </a:r>
            <a:r>
              <a:rPr lang="zh-CN" altLang="en-US" sz="2800" b="1"/>
              <a:t>．设                                                且</a:t>
            </a:r>
            <a:r>
              <a:rPr lang="en-US" altLang="zh-CN" sz="2800" b="1" i="1"/>
              <a:t>X</a:t>
            </a:r>
            <a:r>
              <a:rPr lang="en-US" altLang="zh-CN" sz="2800" b="1" baseline="-25000"/>
              <a:t>1</a:t>
            </a:r>
            <a:r>
              <a:rPr lang="en-US" altLang="zh-CN" sz="2800" b="1"/>
              <a:t>,</a:t>
            </a:r>
            <a:r>
              <a:rPr lang="en-US" altLang="zh-CN" sz="2800" b="1" i="1"/>
              <a:t>X</a:t>
            </a:r>
            <a:r>
              <a:rPr lang="en-US" altLang="zh-CN" sz="2800" b="1" baseline="-25000"/>
              <a:t>2</a:t>
            </a:r>
            <a:r>
              <a:rPr lang="zh-CN" altLang="en-US" sz="2800" b="1"/>
              <a:t>相互独立，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1730"/>
                                        </p:tgtEl>
                                        <p:attrNameLst>
                                          <p:attrName>style.visibility</p:attrName>
                                        </p:attrNameLst>
                                      </p:cBhvr>
                                      <p:to>
                                        <p:strVal val="visible"/>
                                      </p:to>
                                    </p:set>
                                    <p:animEffect transition="in" filter="wipe(down)">
                                      <p:cBhvr>
                                        <p:cTn id="7" dur="500"/>
                                        <p:tgtEl>
                                          <p:spTgt spid="201730"/>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01731"/>
                                        </p:tgtEl>
                                        <p:attrNameLst>
                                          <p:attrName>style.visibility</p:attrName>
                                        </p:attrNameLst>
                                      </p:cBhvr>
                                      <p:to>
                                        <p:strVal val="visible"/>
                                      </p:to>
                                    </p:set>
                                    <p:animEffect transition="in" filter="wipe(down)">
                                      <p:cBhvr>
                                        <p:cTn id="11" dur="500"/>
                                        <p:tgtEl>
                                          <p:spTgt spid="201731"/>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201732"/>
                                        </p:tgtEl>
                                        <p:attrNameLst>
                                          <p:attrName>style.visibility</p:attrName>
                                        </p:attrNameLst>
                                      </p:cBhvr>
                                      <p:to>
                                        <p:strVal val="visible"/>
                                      </p:to>
                                    </p:set>
                                    <p:animEffect transition="in" filter="wipe(down)">
                                      <p:cBhvr>
                                        <p:cTn id="15" dur="500"/>
                                        <p:tgtEl>
                                          <p:spTgt spid="201732"/>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201733"/>
                                        </p:tgtEl>
                                        <p:attrNameLst>
                                          <p:attrName>style.visibility</p:attrName>
                                        </p:attrNameLst>
                                      </p:cBhvr>
                                      <p:to>
                                        <p:strVal val="visible"/>
                                      </p:to>
                                    </p:set>
                                    <p:animEffect transition="in" filter="wipe(down)">
                                      <p:cBhvr>
                                        <p:cTn id="19" dur="500"/>
                                        <p:tgtEl>
                                          <p:spTgt spid="201733"/>
                                        </p:tgtEl>
                                      </p:cBhvr>
                                    </p:animEffect>
                                  </p:childTnLst>
                                </p:cTn>
                              </p:par>
                            </p:childTnLst>
                          </p:cTn>
                        </p:par>
                        <p:par>
                          <p:cTn id="20" fill="hold">
                            <p:stCondLst>
                              <p:cond delay="2000"/>
                            </p:stCondLst>
                            <p:childTnLst>
                              <p:par>
                                <p:cTn id="21" presetID="22" presetClass="entr" presetSubtype="4" fill="hold" nodeType="afterEffect">
                                  <p:stCondLst>
                                    <p:cond delay="0"/>
                                  </p:stCondLst>
                                  <p:childTnLst>
                                    <p:set>
                                      <p:cBhvr>
                                        <p:cTn id="22" dur="1" fill="hold">
                                          <p:stCondLst>
                                            <p:cond delay="0"/>
                                          </p:stCondLst>
                                        </p:cTn>
                                        <p:tgtEl>
                                          <p:spTgt spid="201734"/>
                                        </p:tgtEl>
                                        <p:attrNameLst>
                                          <p:attrName>style.visibility</p:attrName>
                                        </p:attrNameLst>
                                      </p:cBhvr>
                                      <p:to>
                                        <p:strVal val="visible"/>
                                      </p:to>
                                    </p:set>
                                    <p:animEffect transition="in" filter="wipe(down)">
                                      <p:cBhvr>
                                        <p:cTn id="23" dur="500"/>
                                        <p:tgtEl>
                                          <p:spTgt spid="20173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201735"/>
                                        </p:tgtEl>
                                        <p:attrNameLst>
                                          <p:attrName>style.visibility</p:attrName>
                                        </p:attrNameLst>
                                      </p:cBhvr>
                                      <p:to>
                                        <p:strVal val="visible"/>
                                      </p:to>
                                    </p:set>
                                    <p:animEffect transition="in" filter="wipe(down)">
                                      <p:cBhvr>
                                        <p:cTn id="28" dur="500"/>
                                        <p:tgtEl>
                                          <p:spTgt spid="201735"/>
                                        </p:tgtEl>
                                      </p:cBhvr>
                                    </p:animEffect>
                                  </p:childTnLst>
                                </p:cTn>
                              </p:par>
                            </p:childTnLst>
                          </p:cTn>
                        </p:par>
                        <p:par>
                          <p:cTn id="29" fill="hold">
                            <p:stCondLst>
                              <p:cond delay="500"/>
                            </p:stCondLst>
                            <p:childTnLst>
                              <p:par>
                                <p:cTn id="30" presetID="22" presetClass="entr" presetSubtype="4" fill="hold" grpId="0" nodeType="afterEffect">
                                  <p:stCondLst>
                                    <p:cond delay="0"/>
                                  </p:stCondLst>
                                  <p:childTnLst>
                                    <p:set>
                                      <p:cBhvr>
                                        <p:cTn id="31" dur="1" fill="hold">
                                          <p:stCondLst>
                                            <p:cond delay="0"/>
                                          </p:stCondLst>
                                        </p:cTn>
                                        <p:tgtEl>
                                          <p:spTgt spid="201746"/>
                                        </p:tgtEl>
                                        <p:attrNameLst>
                                          <p:attrName>style.visibility</p:attrName>
                                        </p:attrNameLst>
                                      </p:cBhvr>
                                      <p:to>
                                        <p:strVal val="visible"/>
                                      </p:to>
                                    </p:set>
                                    <p:animEffect transition="in" filter="wipe(down)">
                                      <p:cBhvr>
                                        <p:cTn id="32" dur="500"/>
                                        <p:tgtEl>
                                          <p:spTgt spid="201746"/>
                                        </p:tgtEl>
                                      </p:cBhvr>
                                    </p:animEffect>
                                  </p:childTnLst>
                                </p:cTn>
                              </p:par>
                            </p:childTnLst>
                          </p:cTn>
                        </p:par>
                        <p:par>
                          <p:cTn id="33" fill="hold">
                            <p:stCondLst>
                              <p:cond delay="1000"/>
                            </p:stCondLst>
                            <p:childTnLst>
                              <p:par>
                                <p:cTn id="34" presetID="22" presetClass="entr" presetSubtype="4" fill="hold" nodeType="afterEffect">
                                  <p:stCondLst>
                                    <p:cond delay="0"/>
                                  </p:stCondLst>
                                  <p:childTnLst>
                                    <p:set>
                                      <p:cBhvr>
                                        <p:cTn id="35" dur="1" fill="hold">
                                          <p:stCondLst>
                                            <p:cond delay="0"/>
                                          </p:stCondLst>
                                        </p:cTn>
                                        <p:tgtEl>
                                          <p:spTgt spid="201736"/>
                                        </p:tgtEl>
                                        <p:attrNameLst>
                                          <p:attrName>style.visibility</p:attrName>
                                        </p:attrNameLst>
                                      </p:cBhvr>
                                      <p:to>
                                        <p:strVal val="visible"/>
                                      </p:to>
                                    </p:set>
                                    <p:animEffect transition="in" filter="wipe(down)">
                                      <p:cBhvr>
                                        <p:cTn id="36" dur="500"/>
                                        <p:tgtEl>
                                          <p:spTgt spid="20173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201737"/>
                                        </p:tgtEl>
                                        <p:attrNameLst>
                                          <p:attrName>style.visibility</p:attrName>
                                        </p:attrNameLst>
                                      </p:cBhvr>
                                      <p:to>
                                        <p:strVal val="visible"/>
                                      </p:to>
                                    </p:set>
                                    <p:animEffect transition="in" filter="wipe(down)">
                                      <p:cBhvr>
                                        <p:cTn id="41" dur="500"/>
                                        <p:tgtEl>
                                          <p:spTgt spid="20173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201741"/>
                                        </p:tgtEl>
                                        <p:attrNameLst>
                                          <p:attrName>style.visibility</p:attrName>
                                        </p:attrNameLst>
                                      </p:cBhvr>
                                      <p:to>
                                        <p:strVal val="visible"/>
                                      </p:to>
                                    </p:set>
                                    <p:animEffect transition="in" filter="wipe(down)">
                                      <p:cBhvr>
                                        <p:cTn id="46" dur="500"/>
                                        <p:tgtEl>
                                          <p:spTgt spid="201741"/>
                                        </p:tgtEl>
                                      </p:cBhvr>
                                    </p:animEffect>
                                  </p:childTnLst>
                                </p:cTn>
                              </p:par>
                            </p:childTnLst>
                          </p:cTn>
                        </p:par>
                        <p:par>
                          <p:cTn id="47" fill="hold">
                            <p:stCondLst>
                              <p:cond delay="500"/>
                            </p:stCondLst>
                            <p:childTnLst>
                              <p:par>
                                <p:cTn id="48" presetID="22" presetClass="entr" presetSubtype="4" fill="hold" grpId="0" nodeType="afterEffect">
                                  <p:stCondLst>
                                    <p:cond delay="0"/>
                                  </p:stCondLst>
                                  <p:childTnLst>
                                    <p:set>
                                      <p:cBhvr>
                                        <p:cTn id="49" dur="1" fill="hold">
                                          <p:stCondLst>
                                            <p:cond delay="0"/>
                                          </p:stCondLst>
                                        </p:cTn>
                                        <p:tgtEl>
                                          <p:spTgt spid="201742"/>
                                        </p:tgtEl>
                                        <p:attrNameLst>
                                          <p:attrName>style.visibility</p:attrName>
                                        </p:attrNameLst>
                                      </p:cBhvr>
                                      <p:to>
                                        <p:strVal val="visible"/>
                                      </p:to>
                                    </p:set>
                                    <p:animEffect transition="in" filter="wipe(down)">
                                      <p:cBhvr>
                                        <p:cTn id="50" dur="500"/>
                                        <p:tgtEl>
                                          <p:spTgt spid="201742"/>
                                        </p:tgtEl>
                                      </p:cBhvr>
                                    </p:animEffect>
                                  </p:childTnLst>
                                </p:cTn>
                              </p:par>
                            </p:childTnLst>
                          </p:cTn>
                        </p:par>
                        <p:par>
                          <p:cTn id="51" fill="hold">
                            <p:stCondLst>
                              <p:cond delay="1000"/>
                            </p:stCondLst>
                            <p:childTnLst>
                              <p:par>
                                <p:cTn id="52" presetID="22" presetClass="entr" presetSubtype="4" fill="hold" nodeType="afterEffect">
                                  <p:stCondLst>
                                    <p:cond delay="0"/>
                                  </p:stCondLst>
                                  <p:childTnLst>
                                    <p:set>
                                      <p:cBhvr>
                                        <p:cTn id="53" dur="1" fill="hold">
                                          <p:stCondLst>
                                            <p:cond delay="0"/>
                                          </p:stCondLst>
                                        </p:cTn>
                                        <p:tgtEl>
                                          <p:spTgt spid="201743"/>
                                        </p:tgtEl>
                                        <p:attrNameLst>
                                          <p:attrName>style.visibility</p:attrName>
                                        </p:attrNameLst>
                                      </p:cBhvr>
                                      <p:to>
                                        <p:strVal val="visible"/>
                                      </p:to>
                                    </p:set>
                                    <p:animEffect transition="in" filter="wipe(down)">
                                      <p:cBhvr>
                                        <p:cTn id="54" dur="500"/>
                                        <p:tgtEl>
                                          <p:spTgt spid="201743"/>
                                        </p:tgtEl>
                                      </p:cBhvr>
                                    </p:animEffect>
                                  </p:childTnLst>
                                </p:cTn>
                              </p:par>
                            </p:childTnLst>
                          </p:cTn>
                        </p:par>
                        <p:par>
                          <p:cTn id="55" fill="hold">
                            <p:stCondLst>
                              <p:cond delay="1500"/>
                            </p:stCondLst>
                            <p:childTnLst>
                              <p:par>
                                <p:cTn id="56" presetID="22" presetClass="entr" presetSubtype="4" fill="hold" grpId="0" nodeType="afterEffect">
                                  <p:stCondLst>
                                    <p:cond delay="0"/>
                                  </p:stCondLst>
                                  <p:childTnLst>
                                    <p:set>
                                      <p:cBhvr>
                                        <p:cTn id="57" dur="1" fill="hold">
                                          <p:stCondLst>
                                            <p:cond delay="0"/>
                                          </p:stCondLst>
                                        </p:cTn>
                                        <p:tgtEl>
                                          <p:spTgt spid="201744"/>
                                        </p:tgtEl>
                                        <p:attrNameLst>
                                          <p:attrName>style.visibility</p:attrName>
                                        </p:attrNameLst>
                                      </p:cBhvr>
                                      <p:to>
                                        <p:strVal val="visible"/>
                                      </p:to>
                                    </p:set>
                                    <p:animEffect transition="in" filter="wipe(down)">
                                      <p:cBhvr>
                                        <p:cTn id="58" dur="500"/>
                                        <p:tgtEl>
                                          <p:spTgt spid="201744"/>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grpId="0" nodeType="clickEffect">
                                  <p:stCondLst>
                                    <p:cond delay="0"/>
                                  </p:stCondLst>
                                  <p:childTnLst>
                                    <p:set>
                                      <p:cBhvr>
                                        <p:cTn id="62" dur="1" fill="hold">
                                          <p:stCondLst>
                                            <p:cond delay="0"/>
                                          </p:stCondLst>
                                        </p:cTn>
                                        <p:tgtEl>
                                          <p:spTgt spid="201745"/>
                                        </p:tgtEl>
                                        <p:attrNameLst>
                                          <p:attrName>style.visibility</p:attrName>
                                        </p:attrNameLst>
                                      </p:cBhvr>
                                      <p:to>
                                        <p:strVal val="visible"/>
                                      </p:to>
                                    </p:set>
                                    <p:animEffect transition="in" filter="wipe(down)">
                                      <p:cBhvr>
                                        <p:cTn id="63" dur="500"/>
                                        <p:tgtEl>
                                          <p:spTgt spid="2017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1" grpId="0" bldLvl="0" animBg="1" autoUpdateAnimBg="0"/>
      <p:bldP spid="201733" grpId="0" bldLvl="0" animBg="1" autoUpdateAnimBg="0"/>
      <p:bldP spid="201742" grpId="0" bldLvl="0" animBg="1" autoUpdateAnimBg="0"/>
      <p:bldP spid="201744" grpId="0" bldLvl="0" animBg="1" autoUpdateAnimBg="0"/>
      <p:bldP spid="201745" grpId="0" bldLvl="0" animBg="1" autoUpdateAnimBg="0"/>
      <p:bldP spid="201746" grpId="0" bldLvl="0" animBg="1"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ChangeArrowheads="1"/>
          </p:cNvSpPr>
          <p:nvPr/>
        </p:nvSpPr>
        <p:spPr bwMode="auto">
          <a:xfrm>
            <a:off x="2295525" y="1841500"/>
            <a:ext cx="3355975" cy="579438"/>
          </a:xfrm>
          <a:prstGeom prst="rect">
            <a:avLst/>
          </a:prstGeom>
          <a:noFill/>
          <a:ln>
            <a:noFill/>
          </a:ln>
          <a:effectLst/>
          <a:extLst>
            <a:ext uri="{909E8E84-426E-40DD-AFC4-6F175D3DCCD1}">
              <a14:hiddenFill xmlns:a14="http://schemas.microsoft.com/office/drawing/2010/main">
                <a:solidFill>
                  <a:srgbClr val="6600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3200" b="1" i="1"/>
              <a:t>E</a:t>
            </a:r>
            <a:r>
              <a:rPr lang="en-US" altLang="zh-CN" sz="3200" b="1"/>
              <a:t>(</a:t>
            </a:r>
            <a:r>
              <a:rPr lang="en-US" altLang="zh-CN" sz="3200" b="1" i="1"/>
              <a:t>X</a:t>
            </a:r>
            <a:r>
              <a:rPr lang="en-US" altLang="zh-CN" sz="3200" b="1"/>
              <a:t>)=</a:t>
            </a:r>
            <a:r>
              <a:rPr lang="en-US" altLang="zh-CN" sz="3200" b="1" i="1"/>
              <a:t>n</a:t>
            </a:r>
            <a:r>
              <a:rPr lang="en-US" altLang="zh-CN" sz="3200" b="1"/>
              <a:t>,  </a:t>
            </a:r>
            <a:r>
              <a:rPr lang="en-US" altLang="zh-CN" sz="3200" b="1" i="1"/>
              <a:t>D</a:t>
            </a:r>
            <a:r>
              <a:rPr lang="en-US" altLang="zh-CN" sz="3200" b="1"/>
              <a:t>(</a:t>
            </a:r>
            <a:r>
              <a:rPr lang="en-US" altLang="zh-CN" sz="3200" b="1" i="1"/>
              <a:t>X</a:t>
            </a:r>
            <a:r>
              <a:rPr lang="en-US" altLang="zh-CN" sz="3200" b="1"/>
              <a:t>)=2</a:t>
            </a:r>
            <a:r>
              <a:rPr lang="en-US" altLang="zh-CN" sz="3200" b="1" i="1"/>
              <a:t>n.</a:t>
            </a:r>
          </a:p>
        </p:txBody>
      </p:sp>
      <p:graphicFrame>
        <p:nvGraphicFramePr>
          <p:cNvPr id="31747" name="Object 3"/>
          <p:cNvGraphicFramePr>
            <a:graphicFrameLocks noChangeAspect="1"/>
          </p:cNvGraphicFramePr>
          <p:nvPr/>
        </p:nvGraphicFramePr>
        <p:xfrm>
          <a:off x="533400" y="1117600"/>
          <a:ext cx="7307263" cy="504825"/>
        </p:xfrm>
        <a:graphic>
          <a:graphicData uri="http://schemas.openxmlformats.org/presentationml/2006/ole">
            <mc:AlternateContent xmlns:mc="http://schemas.openxmlformats.org/markup-compatibility/2006">
              <mc:Choice xmlns:v="urn:schemas-microsoft-com:vml" Requires="v">
                <p:oleObj spid="_x0000_s58381" name="公式" r:id="rId3" imgW="6486525" imgH="452120" progId="Equation.3">
                  <p:embed/>
                </p:oleObj>
              </mc:Choice>
              <mc:Fallback>
                <p:oleObj name="公式" r:id="rId3" imgW="6486525" imgH="45212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1117600"/>
                        <a:ext cx="7307263" cy="504825"/>
                      </a:xfrm>
                      <a:prstGeom prst="rect">
                        <a:avLst/>
                      </a:prstGeom>
                      <a:noFill/>
                      <a:ln>
                        <a:noFill/>
                      </a:ln>
                      <a:effectLst/>
                      <a:extLst>
                        <a:ext uri="{909E8E84-426E-40DD-AFC4-6F175D3DCCD1}">
                          <a14:hiddenFill xmlns:a14="http://schemas.microsoft.com/office/drawing/2010/main">
                            <a:solidFill>
                              <a:srgbClr val="660033"/>
                            </a:solidFill>
                          </a14:hiddenFill>
                        </a:ext>
                        <a:ext uri="{91240B29-F687-4F45-9708-019B960494DF}">
                          <a14:hiddenLine xmlns:a14="http://schemas.microsoft.com/office/drawing/2010/main" w="9525">
                            <a:solidFill>
                              <a:srgbClr val="66003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2756" name="Object 4"/>
          <p:cNvGraphicFramePr>
            <a:graphicFrameLocks noChangeAspect="1"/>
          </p:cNvGraphicFramePr>
          <p:nvPr/>
        </p:nvGraphicFramePr>
        <p:xfrm>
          <a:off x="1331913" y="2844800"/>
          <a:ext cx="6946900" cy="508000"/>
        </p:xfrm>
        <a:graphic>
          <a:graphicData uri="http://schemas.openxmlformats.org/presentationml/2006/ole">
            <mc:AlternateContent xmlns:mc="http://schemas.openxmlformats.org/markup-compatibility/2006">
              <mc:Choice xmlns:v="urn:schemas-microsoft-com:vml" Requires="v">
                <p:oleObj spid="_x0000_s58382" name="公式" r:id="rId5" imgW="6924675" imgH="490855" progId="Equation.3">
                  <p:embed/>
                </p:oleObj>
              </mc:Choice>
              <mc:Fallback>
                <p:oleObj name="公式" r:id="rId5" imgW="6924675" imgH="490855"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1913" y="2844800"/>
                        <a:ext cx="69469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2757" name="Object 5"/>
          <p:cNvGraphicFramePr>
            <a:graphicFrameLocks noChangeAspect="1"/>
          </p:cNvGraphicFramePr>
          <p:nvPr/>
        </p:nvGraphicFramePr>
        <p:xfrm>
          <a:off x="539750" y="3708400"/>
          <a:ext cx="5702300" cy="482600"/>
        </p:xfrm>
        <a:graphic>
          <a:graphicData uri="http://schemas.openxmlformats.org/presentationml/2006/ole">
            <mc:AlternateContent xmlns:mc="http://schemas.openxmlformats.org/markup-compatibility/2006">
              <mc:Choice xmlns:v="urn:schemas-microsoft-com:vml" Requires="v">
                <p:oleObj spid="_x0000_s58383" name="公式" r:id="rId7" imgW="5686425" imgH="471805" progId="Equation.3">
                  <p:embed/>
                </p:oleObj>
              </mc:Choice>
              <mc:Fallback>
                <p:oleObj name="公式" r:id="rId7" imgW="5686425" imgH="471805"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9750" y="3708400"/>
                        <a:ext cx="570230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2758" name="Object 6"/>
          <p:cNvGraphicFramePr>
            <a:graphicFrameLocks noChangeAspect="1"/>
          </p:cNvGraphicFramePr>
          <p:nvPr/>
        </p:nvGraphicFramePr>
        <p:xfrm>
          <a:off x="496888" y="4500563"/>
          <a:ext cx="6883400" cy="800100"/>
        </p:xfrm>
        <a:graphic>
          <a:graphicData uri="http://schemas.openxmlformats.org/presentationml/2006/ole">
            <mc:AlternateContent xmlns:mc="http://schemas.openxmlformats.org/markup-compatibility/2006">
              <mc:Choice xmlns:v="urn:schemas-microsoft-com:vml" Requires="v">
                <p:oleObj spid="_x0000_s58384" name="公式" r:id="rId9" imgW="6867525" imgH="789305" progId="Equation.3">
                  <p:embed/>
                </p:oleObj>
              </mc:Choice>
              <mc:Fallback>
                <p:oleObj name="公式" r:id="rId9" imgW="6867525" imgH="789305"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6888" y="4500563"/>
                        <a:ext cx="6883400" cy="800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02754"/>
                                        </p:tgtEl>
                                        <p:attrNameLst>
                                          <p:attrName>style.visibility</p:attrName>
                                        </p:attrNameLst>
                                      </p:cBhvr>
                                      <p:to>
                                        <p:strVal val="visible"/>
                                      </p:to>
                                    </p:set>
                                    <p:animEffect transition="in" filter="wipe(down)">
                                      <p:cBhvr>
                                        <p:cTn id="7" dur="500"/>
                                        <p:tgtEl>
                                          <p:spTgt spid="20275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02756"/>
                                        </p:tgtEl>
                                        <p:attrNameLst>
                                          <p:attrName>style.visibility</p:attrName>
                                        </p:attrNameLst>
                                      </p:cBhvr>
                                      <p:to>
                                        <p:strVal val="visible"/>
                                      </p:to>
                                    </p:set>
                                    <p:animEffect transition="in" filter="blinds(horizontal)">
                                      <p:cBhvr>
                                        <p:cTn id="12" dur="500"/>
                                        <p:tgtEl>
                                          <p:spTgt spid="20275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02757"/>
                                        </p:tgtEl>
                                        <p:attrNameLst>
                                          <p:attrName>style.visibility</p:attrName>
                                        </p:attrNameLst>
                                      </p:cBhvr>
                                      <p:to>
                                        <p:strVal val="visible"/>
                                      </p:to>
                                    </p:set>
                                    <p:animEffect transition="in" filter="wipe(down)">
                                      <p:cBhvr>
                                        <p:cTn id="17" dur="500"/>
                                        <p:tgtEl>
                                          <p:spTgt spid="20275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02758"/>
                                        </p:tgtEl>
                                        <p:attrNameLst>
                                          <p:attrName>style.visibility</p:attrName>
                                        </p:attrNameLst>
                                      </p:cBhvr>
                                      <p:to>
                                        <p:strVal val="visible"/>
                                      </p:to>
                                    </p:set>
                                    <p:animEffect transition="in" filter="wipe(down)">
                                      <p:cBhvr>
                                        <p:cTn id="22" dur="500"/>
                                        <p:tgtEl>
                                          <p:spTgt spid="2027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4" grpId="0" bldLvl="0" animBg="1"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770" name="Object 2"/>
          <p:cNvGraphicFramePr>
            <a:graphicFrameLocks noChangeAspect="1"/>
          </p:cNvGraphicFramePr>
          <p:nvPr/>
        </p:nvGraphicFramePr>
        <p:xfrm>
          <a:off x="609600" y="609600"/>
          <a:ext cx="2946400" cy="469900"/>
        </p:xfrm>
        <a:graphic>
          <a:graphicData uri="http://schemas.openxmlformats.org/presentationml/2006/ole">
            <mc:AlternateContent xmlns:mc="http://schemas.openxmlformats.org/markup-compatibility/2006">
              <mc:Choice xmlns:v="urn:schemas-microsoft-com:vml" Requires="v">
                <p:oleObj spid="_x0000_s59414" name="公式" r:id="rId3" imgW="2924175" imgH="452120" progId="Equation.3">
                  <p:embed/>
                </p:oleObj>
              </mc:Choice>
              <mc:Fallback>
                <p:oleObj name="公式" r:id="rId3" imgW="2924175" imgH="45212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609600"/>
                        <a:ext cx="2946400" cy="469900"/>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03779" name="Group 3"/>
          <p:cNvGrpSpPr/>
          <p:nvPr/>
        </p:nvGrpSpPr>
        <p:grpSpPr bwMode="auto">
          <a:xfrm>
            <a:off x="2393950" y="4713288"/>
            <a:ext cx="3960813" cy="1655762"/>
            <a:chOff x="612" y="2886"/>
            <a:chExt cx="2495" cy="1043"/>
          </a:xfrm>
        </p:grpSpPr>
        <p:sp>
          <p:nvSpPr>
            <p:cNvPr id="32780" name="Line 4"/>
            <p:cNvSpPr>
              <a:spLocks noChangeShapeType="1"/>
            </p:cNvSpPr>
            <p:nvPr/>
          </p:nvSpPr>
          <p:spPr bwMode="auto">
            <a:xfrm flipV="1">
              <a:off x="839" y="2886"/>
              <a:ext cx="0" cy="1043"/>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1" name="Freeform 5"/>
            <p:cNvSpPr/>
            <p:nvPr/>
          </p:nvSpPr>
          <p:spPr bwMode="auto">
            <a:xfrm>
              <a:off x="839" y="2931"/>
              <a:ext cx="1814" cy="612"/>
            </a:xfrm>
            <a:custGeom>
              <a:avLst/>
              <a:gdLst>
                <a:gd name="T0" fmla="*/ 0 w 1814"/>
                <a:gd name="T1" fmla="*/ 612 h 612"/>
                <a:gd name="T2" fmla="*/ 181 w 1814"/>
                <a:gd name="T3" fmla="*/ 68 h 612"/>
                <a:gd name="T4" fmla="*/ 590 w 1814"/>
                <a:gd name="T5" fmla="*/ 204 h 612"/>
                <a:gd name="T6" fmla="*/ 1361 w 1814"/>
                <a:gd name="T7" fmla="*/ 521 h 612"/>
                <a:gd name="T8" fmla="*/ 1814 w 1814"/>
                <a:gd name="T9" fmla="*/ 567 h 6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14" h="612">
                  <a:moveTo>
                    <a:pt x="0" y="612"/>
                  </a:moveTo>
                  <a:cubicBezTo>
                    <a:pt x="41" y="374"/>
                    <a:pt x="83" y="136"/>
                    <a:pt x="181" y="68"/>
                  </a:cubicBezTo>
                  <a:cubicBezTo>
                    <a:pt x="279" y="0"/>
                    <a:pt x="393" y="129"/>
                    <a:pt x="590" y="204"/>
                  </a:cubicBezTo>
                  <a:cubicBezTo>
                    <a:pt x="787" y="279"/>
                    <a:pt x="1157" y="460"/>
                    <a:pt x="1361" y="521"/>
                  </a:cubicBezTo>
                  <a:cubicBezTo>
                    <a:pt x="1565" y="582"/>
                    <a:pt x="1731" y="559"/>
                    <a:pt x="1814" y="567"/>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2" name="Line 6"/>
            <p:cNvSpPr>
              <a:spLocks noChangeShapeType="1"/>
            </p:cNvSpPr>
            <p:nvPr/>
          </p:nvSpPr>
          <p:spPr bwMode="auto">
            <a:xfrm>
              <a:off x="612" y="3566"/>
              <a:ext cx="2495"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3" name="Line 7"/>
            <p:cNvSpPr>
              <a:spLocks noChangeShapeType="1"/>
            </p:cNvSpPr>
            <p:nvPr/>
          </p:nvSpPr>
          <p:spPr bwMode="auto">
            <a:xfrm>
              <a:off x="2018" y="3385"/>
              <a:ext cx="0" cy="18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4" name="Line 8"/>
            <p:cNvSpPr>
              <a:spLocks noChangeShapeType="1"/>
            </p:cNvSpPr>
            <p:nvPr/>
          </p:nvSpPr>
          <p:spPr bwMode="auto">
            <a:xfrm>
              <a:off x="2064" y="3430"/>
              <a:ext cx="45" cy="9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5" name="Line 9"/>
            <p:cNvSpPr>
              <a:spLocks noChangeShapeType="1"/>
            </p:cNvSpPr>
            <p:nvPr/>
          </p:nvSpPr>
          <p:spPr bwMode="auto">
            <a:xfrm>
              <a:off x="2154" y="3475"/>
              <a:ext cx="46" cy="4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6" name="Line 10"/>
            <p:cNvSpPr>
              <a:spLocks noChangeShapeType="1"/>
            </p:cNvSpPr>
            <p:nvPr/>
          </p:nvSpPr>
          <p:spPr bwMode="auto">
            <a:xfrm>
              <a:off x="2290" y="3475"/>
              <a:ext cx="182" cy="9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7" name="Line 11"/>
            <p:cNvSpPr>
              <a:spLocks noChangeShapeType="1"/>
            </p:cNvSpPr>
            <p:nvPr/>
          </p:nvSpPr>
          <p:spPr bwMode="auto">
            <a:xfrm>
              <a:off x="2517" y="3521"/>
              <a:ext cx="136" cy="4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8" name="Line 12"/>
            <p:cNvSpPr>
              <a:spLocks noChangeShapeType="1"/>
            </p:cNvSpPr>
            <p:nvPr/>
          </p:nvSpPr>
          <p:spPr bwMode="auto">
            <a:xfrm>
              <a:off x="2245" y="3475"/>
              <a:ext cx="45" cy="4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9" name="Line 13"/>
            <p:cNvSpPr>
              <a:spLocks noChangeShapeType="1"/>
            </p:cNvSpPr>
            <p:nvPr/>
          </p:nvSpPr>
          <p:spPr bwMode="auto">
            <a:xfrm>
              <a:off x="2018" y="3430"/>
              <a:ext cx="90" cy="1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203790" name="Object 14"/>
          <p:cNvGraphicFramePr>
            <a:graphicFrameLocks noChangeAspect="1"/>
          </p:cNvGraphicFramePr>
          <p:nvPr/>
        </p:nvGraphicFramePr>
        <p:xfrm>
          <a:off x="1817688" y="1909763"/>
          <a:ext cx="4838700" cy="571500"/>
        </p:xfrm>
        <a:graphic>
          <a:graphicData uri="http://schemas.openxmlformats.org/presentationml/2006/ole">
            <mc:AlternateContent xmlns:mc="http://schemas.openxmlformats.org/markup-compatibility/2006">
              <mc:Choice xmlns:v="urn:schemas-microsoft-com:vml" Requires="v">
                <p:oleObj spid="_x0000_s59415" name="公式" r:id="rId5" imgW="4819650" imgH="558165" progId="Equation.3">
                  <p:embed/>
                </p:oleObj>
              </mc:Choice>
              <mc:Fallback>
                <p:oleObj name="公式" r:id="rId5" imgW="4819650" imgH="558165" progId="Equation.3">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17688" y="1909763"/>
                        <a:ext cx="48387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3791" name="Object 15"/>
          <p:cNvGraphicFramePr>
            <a:graphicFrameLocks noChangeAspect="1"/>
          </p:cNvGraphicFramePr>
          <p:nvPr/>
        </p:nvGraphicFramePr>
        <p:xfrm>
          <a:off x="3976688" y="688975"/>
          <a:ext cx="4305300" cy="393700"/>
        </p:xfrm>
        <a:graphic>
          <a:graphicData uri="http://schemas.openxmlformats.org/presentationml/2006/ole">
            <mc:AlternateContent xmlns:mc="http://schemas.openxmlformats.org/markup-compatibility/2006">
              <mc:Choice xmlns:v="urn:schemas-microsoft-com:vml" Requires="v">
                <p:oleObj spid="_x0000_s59416" name="公式" r:id="rId7" imgW="4286250" imgH="375285" progId="Equation.3">
                  <p:embed/>
                </p:oleObj>
              </mc:Choice>
              <mc:Fallback>
                <p:oleObj name="公式" r:id="rId7" imgW="4286250" imgH="375285" progId="Equation.3">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76688" y="688975"/>
                        <a:ext cx="43053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3792" name="Object 16"/>
          <p:cNvGraphicFramePr>
            <a:graphicFrameLocks noChangeAspect="1"/>
          </p:cNvGraphicFramePr>
          <p:nvPr/>
        </p:nvGraphicFramePr>
        <p:xfrm>
          <a:off x="593725" y="1211263"/>
          <a:ext cx="1841500" cy="406400"/>
        </p:xfrm>
        <a:graphic>
          <a:graphicData uri="http://schemas.openxmlformats.org/presentationml/2006/ole">
            <mc:AlternateContent xmlns:mc="http://schemas.openxmlformats.org/markup-compatibility/2006">
              <mc:Choice xmlns:v="urn:schemas-microsoft-com:vml" Requires="v">
                <p:oleObj spid="_x0000_s59417" name="公式" r:id="rId9" imgW="1819275" imgH="394335" progId="Equation.3">
                  <p:embed/>
                </p:oleObj>
              </mc:Choice>
              <mc:Fallback>
                <p:oleObj name="公式" r:id="rId9" imgW="1819275" imgH="394335" progId="Equation.3">
                  <p:embed/>
                  <p:pic>
                    <p:nvPicPr>
                      <p:cNvPr id="0"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3725" y="1211263"/>
                        <a:ext cx="184150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3793" name="Object 17"/>
          <p:cNvGraphicFramePr>
            <a:graphicFrameLocks noChangeAspect="1"/>
          </p:cNvGraphicFramePr>
          <p:nvPr/>
        </p:nvGraphicFramePr>
        <p:xfrm>
          <a:off x="522288" y="2771775"/>
          <a:ext cx="5626100" cy="1727200"/>
        </p:xfrm>
        <a:graphic>
          <a:graphicData uri="http://schemas.openxmlformats.org/presentationml/2006/ole">
            <mc:AlternateContent xmlns:mc="http://schemas.openxmlformats.org/markup-compatibility/2006">
              <mc:Choice xmlns:v="urn:schemas-microsoft-com:vml" Requires="v">
                <p:oleObj spid="_x0000_s59418" name="公式" r:id="rId11" imgW="5610225" imgH="1722755" progId="Equation.3">
                  <p:embed/>
                </p:oleObj>
              </mc:Choice>
              <mc:Fallback>
                <p:oleObj name="公式" r:id="rId11" imgW="5610225" imgH="1722755" progId="Equation.3">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2288" y="2771775"/>
                        <a:ext cx="5626100" cy="172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03794" name="Group 18"/>
          <p:cNvGrpSpPr/>
          <p:nvPr/>
        </p:nvGrpSpPr>
        <p:grpSpPr bwMode="auto">
          <a:xfrm>
            <a:off x="4337050" y="5191125"/>
            <a:ext cx="863600" cy="1033463"/>
            <a:chOff x="1292" y="3505"/>
            <a:chExt cx="544" cy="651"/>
          </a:xfrm>
        </p:grpSpPr>
        <p:graphicFrame>
          <p:nvGraphicFramePr>
            <p:cNvPr id="32777" name="Object 19"/>
            <p:cNvGraphicFramePr>
              <a:graphicFrameLocks noChangeAspect="1"/>
            </p:cNvGraphicFramePr>
            <p:nvPr/>
          </p:nvGraphicFramePr>
          <p:xfrm>
            <a:off x="1292" y="3852"/>
            <a:ext cx="544" cy="304"/>
          </p:xfrm>
          <a:graphic>
            <a:graphicData uri="http://schemas.openxmlformats.org/presentationml/2006/ole">
              <mc:AlternateContent xmlns:mc="http://schemas.openxmlformats.org/markup-compatibility/2006">
                <mc:Choice xmlns:v="urn:schemas-microsoft-com:vml" Requires="v">
                  <p:oleObj spid="_x0000_s59419" name="公式" r:id="rId13" imgW="847725" imgH="471805" progId="Equation.3">
                    <p:embed/>
                  </p:oleObj>
                </mc:Choice>
                <mc:Fallback>
                  <p:oleObj name="公式" r:id="rId13" imgW="847725" imgH="471805" progId="Equation.3">
                    <p:embed/>
                    <p:pic>
                      <p:nvPicPr>
                        <p:cNvPr id="0" name="Object 1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92" y="3852"/>
                          <a:ext cx="544" cy="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778" name="Object 20"/>
            <p:cNvGraphicFramePr>
              <a:graphicFrameLocks noChangeAspect="1"/>
            </p:cNvGraphicFramePr>
            <p:nvPr/>
          </p:nvGraphicFramePr>
          <p:xfrm>
            <a:off x="1655" y="3505"/>
            <a:ext cx="168" cy="152"/>
          </p:xfrm>
          <a:graphic>
            <a:graphicData uri="http://schemas.openxmlformats.org/presentationml/2006/ole">
              <mc:AlternateContent xmlns:mc="http://schemas.openxmlformats.org/markup-compatibility/2006">
                <mc:Choice xmlns:v="urn:schemas-microsoft-com:vml" Requires="v">
                  <p:oleObj spid="_x0000_s59420" name="公式" r:id="rId15" imgW="247650" imgH="221615" progId="Equation.3">
                    <p:embed/>
                  </p:oleObj>
                </mc:Choice>
                <mc:Fallback>
                  <p:oleObj name="公式" r:id="rId15" imgW="247650" imgH="221615" progId="Equation.3">
                    <p:embed/>
                    <p:pic>
                      <p:nvPicPr>
                        <p:cNvPr id="0" name="Object 2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655" y="3505"/>
                          <a:ext cx="168" cy="1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79" name="Line 21"/>
            <p:cNvSpPr>
              <a:spLocks noChangeShapeType="1"/>
            </p:cNvSpPr>
            <p:nvPr/>
          </p:nvSpPr>
          <p:spPr bwMode="auto">
            <a:xfrm flipV="1">
              <a:off x="1610" y="3612"/>
              <a:ext cx="91" cy="1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3791"/>
                                        </p:tgtEl>
                                        <p:attrNameLst>
                                          <p:attrName>style.visibility</p:attrName>
                                        </p:attrNameLst>
                                      </p:cBhvr>
                                      <p:to>
                                        <p:strVal val="visible"/>
                                      </p:to>
                                    </p:set>
                                    <p:animEffect transition="in" filter="wipe(down)">
                                      <p:cBhvr>
                                        <p:cTn id="7" dur="500"/>
                                        <p:tgtEl>
                                          <p:spTgt spid="20379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03792"/>
                                        </p:tgtEl>
                                        <p:attrNameLst>
                                          <p:attrName>style.visibility</p:attrName>
                                        </p:attrNameLst>
                                      </p:cBhvr>
                                      <p:to>
                                        <p:strVal val="visible"/>
                                      </p:to>
                                    </p:set>
                                    <p:animEffect transition="in" filter="wipe(down)">
                                      <p:cBhvr>
                                        <p:cTn id="12" dur="500"/>
                                        <p:tgtEl>
                                          <p:spTgt spid="20379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03790"/>
                                        </p:tgtEl>
                                        <p:attrNameLst>
                                          <p:attrName>style.visibility</p:attrName>
                                        </p:attrNameLst>
                                      </p:cBhvr>
                                      <p:to>
                                        <p:strVal val="visible"/>
                                      </p:to>
                                    </p:set>
                                    <p:animEffect transition="in" filter="wipe(down)">
                                      <p:cBhvr>
                                        <p:cTn id="17" dur="500"/>
                                        <p:tgtEl>
                                          <p:spTgt spid="20379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03793"/>
                                        </p:tgtEl>
                                        <p:attrNameLst>
                                          <p:attrName>style.visibility</p:attrName>
                                        </p:attrNameLst>
                                      </p:cBhvr>
                                      <p:to>
                                        <p:strVal val="visible"/>
                                      </p:to>
                                    </p:set>
                                    <p:animEffect transition="in" filter="wipe(down)">
                                      <p:cBhvr>
                                        <p:cTn id="22" dur="500"/>
                                        <p:tgtEl>
                                          <p:spTgt spid="20379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03779"/>
                                        </p:tgtEl>
                                        <p:attrNameLst>
                                          <p:attrName>style.visibility</p:attrName>
                                        </p:attrNameLst>
                                      </p:cBhvr>
                                      <p:to>
                                        <p:strVal val="visible"/>
                                      </p:to>
                                    </p:set>
                                    <p:animEffect transition="in" filter="wipe(down)">
                                      <p:cBhvr>
                                        <p:cTn id="27" dur="500"/>
                                        <p:tgtEl>
                                          <p:spTgt spid="203779"/>
                                        </p:tgtEl>
                                      </p:cBhvr>
                                    </p:animEffect>
                                  </p:childTnLst>
                                </p:cTn>
                              </p:par>
                            </p:childTnLst>
                          </p:cTn>
                        </p:par>
                        <p:par>
                          <p:cTn id="28" fill="hold">
                            <p:stCondLst>
                              <p:cond delay="500"/>
                            </p:stCondLst>
                            <p:childTnLst>
                              <p:par>
                                <p:cTn id="29" presetID="22" presetClass="entr" presetSubtype="4" fill="hold" nodeType="afterEffect">
                                  <p:stCondLst>
                                    <p:cond delay="0"/>
                                  </p:stCondLst>
                                  <p:childTnLst>
                                    <p:set>
                                      <p:cBhvr>
                                        <p:cTn id="30" dur="1" fill="hold">
                                          <p:stCondLst>
                                            <p:cond delay="0"/>
                                          </p:stCondLst>
                                        </p:cTn>
                                        <p:tgtEl>
                                          <p:spTgt spid="203794"/>
                                        </p:tgtEl>
                                        <p:attrNameLst>
                                          <p:attrName>style.visibility</p:attrName>
                                        </p:attrNameLst>
                                      </p:cBhvr>
                                      <p:to>
                                        <p:strVal val="visible"/>
                                      </p:to>
                                    </p:set>
                                    <p:animEffect transition="in" filter="wipe(down)">
                                      <p:cBhvr>
                                        <p:cTn id="31" dur="500"/>
                                        <p:tgtEl>
                                          <p:spTgt spid="2037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2"/>
          <p:cNvSpPr txBox="1">
            <a:spLocks noChangeArrowheads="1"/>
          </p:cNvSpPr>
          <p:nvPr/>
        </p:nvSpPr>
        <p:spPr bwMode="auto">
          <a:xfrm>
            <a:off x="1252538" y="765175"/>
            <a:ext cx="1441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1800" b="1">
                <a:solidFill>
                  <a:srgbClr val="5050CC"/>
                </a:solidFill>
                <a:latin typeface="宋体" panose="02010600030101010101" pitchFamily="2" charset="-122"/>
              </a:rPr>
              <a:t>例</a:t>
            </a:r>
            <a:r>
              <a:rPr kumimoji="0" lang="en-US" altLang="zh-CN" sz="1800" b="1">
                <a:solidFill>
                  <a:srgbClr val="5050CC"/>
                </a:solidFill>
                <a:latin typeface="宋体" panose="02010600030101010101" pitchFamily="2" charset="-122"/>
              </a:rPr>
              <a:t>5</a:t>
            </a:r>
            <a:r>
              <a:rPr kumimoji="0" lang="zh-CN" altLang="en-US" sz="1800">
                <a:latin typeface="宋体" panose="02010600030101010101" pitchFamily="2" charset="-122"/>
              </a:rPr>
              <a:t>　设总体</a:t>
            </a:r>
            <a:endParaRPr kumimoji="0" lang="zh-CN" altLang="en-US" sz="1800" b="1">
              <a:latin typeface="宋体" panose="02010600030101010101" pitchFamily="2" charset="-122"/>
            </a:endParaRPr>
          </a:p>
        </p:txBody>
      </p:sp>
      <p:sp>
        <p:nvSpPr>
          <p:cNvPr id="59395" name="Text Box 3"/>
          <p:cNvSpPr txBox="1">
            <a:spLocks noChangeArrowheads="1"/>
          </p:cNvSpPr>
          <p:nvPr/>
        </p:nvSpPr>
        <p:spPr bwMode="auto">
          <a:xfrm>
            <a:off x="719138" y="1308100"/>
            <a:ext cx="984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1800">
                <a:latin typeface="宋体" panose="02010600030101010101" pitchFamily="2" charset="-122"/>
              </a:rPr>
              <a:t>的样本</a:t>
            </a:r>
            <a:r>
              <a:rPr kumimoji="0" lang="en-US" altLang="zh-CN" sz="1800">
                <a:latin typeface="宋体" panose="02010600030101010101" pitchFamily="2" charset="-122"/>
              </a:rPr>
              <a:t>,</a:t>
            </a:r>
          </a:p>
        </p:txBody>
      </p:sp>
      <p:sp>
        <p:nvSpPr>
          <p:cNvPr id="59396" name="Text Box 4"/>
          <p:cNvSpPr txBox="1">
            <a:spLocks noChangeArrowheads="1"/>
          </p:cNvSpPr>
          <p:nvPr/>
        </p:nvSpPr>
        <p:spPr bwMode="auto">
          <a:xfrm>
            <a:off x="6154738" y="795338"/>
            <a:ext cx="1009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1800">
                <a:latin typeface="宋体" panose="02010600030101010101" pitchFamily="2" charset="-122"/>
              </a:rPr>
              <a:t>为总体</a:t>
            </a:r>
            <a:r>
              <a:rPr kumimoji="0" lang="en-US" altLang="zh-CN" sz="1800" i="1"/>
              <a:t>X</a:t>
            </a:r>
            <a:endParaRPr kumimoji="0" lang="en-US" altLang="zh-CN" sz="1800"/>
          </a:p>
        </p:txBody>
      </p:sp>
      <p:sp>
        <p:nvSpPr>
          <p:cNvPr id="59397" name="Text Box 5"/>
          <p:cNvSpPr txBox="1">
            <a:spLocks noChangeArrowheads="1"/>
          </p:cNvSpPr>
          <p:nvPr/>
        </p:nvSpPr>
        <p:spPr bwMode="auto">
          <a:xfrm>
            <a:off x="719138" y="1874838"/>
            <a:ext cx="2457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1800">
                <a:latin typeface="宋体" panose="02010600030101010101" pitchFamily="2" charset="-122"/>
              </a:rPr>
              <a:t>试确定常数</a:t>
            </a:r>
            <a:r>
              <a:rPr kumimoji="0" lang="en-US" altLang="zh-CN" sz="1800" i="1"/>
              <a:t>c</a:t>
            </a:r>
            <a:r>
              <a:rPr kumimoji="0" lang="en-US" altLang="zh-CN" sz="1800"/>
              <a:t> </a:t>
            </a:r>
            <a:r>
              <a:rPr kumimoji="0" lang="zh-CN" altLang="en-US" sz="1800">
                <a:latin typeface="宋体" panose="02010600030101010101" pitchFamily="2" charset="-122"/>
              </a:rPr>
              <a:t>使</a:t>
            </a:r>
            <a:r>
              <a:rPr kumimoji="0" lang="en-US" altLang="zh-CN" sz="1800" i="1"/>
              <a:t>cY </a:t>
            </a:r>
            <a:r>
              <a:rPr kumimoji="0" lang="zh-CN" altLang="en-US" sz="1800">
                <a:latin typeface="宋体" panose="02010600030101010101" pitchFamily="2" charset="-122"/>
              </a:rPr>
              <a:t>服从</a:t>
            </a:r>
          </a:p>
        </p:txBody>
      </p:sp>
      <p:sp>
        <p:nvSpPr>
          <p:cNvPr id="59398" name="Text Box 6"/>
          <p:cNvSpPr txBox="1">
            <a:spLocks noChangeArrowheads="1"/>
          </p:cNvSpPr>
          <p:nvPr/>
        </p:nvSpPr>
        <p:spPr bwMode="auto">
          <a:xfrm>
            <a:off x="3875088" y="1857375"/>
            <a:ext cx="869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1800">
                <a:latin typeface="宋体" panose="02010600030101010101" pitchFamily="2" charset="-122"/>
              </a:rPr>
              <a:t>分布．</a:t>
            </a:r>
          </a:p>
        </p:txBody>
      </p:sp>
      <p:sp>
        <p:nvSpPr>
          <p:cNvPr id="59399" name="Text Box 7"/>
          <p:cNvSpPr txBox="1">
            <a:spLocks noChangeArrowheads="1"/>
          </p:cNvSpPr>
          <p:nvPr/>
        </p:nvSpPr>
        <p:spPr bwMode="auto">
          <a:xfrm>
            <a:off x="1252538" y="2408238"/>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1800" b="1">
                <a:solidFill>
                  <a:srgbClr val="5050CC"/>
                </a:solidFill>
                <a:latin typeface="宋体" panose="02010600030101010101" pitchFamily="2" charset="-122"/>
              </a:rPr>
              <a:t>解</a:t>
            </a:r>
          </a:p>
        </p:txBody>
      </p:sp>
      <p:sp>
        <p:nvSpPr>
          <p:cNvPr id="59400" name="Text Box 8"/>
          <p:cNvSpPr txBox="1">
            <a:spLocks noChangeArrowheads="1"/>
          </p:cNvSpPr>
          <p:nvPr/>
        </p:nvSpPr>
        <p:spPr bwMode="auto">
          <a:xfrm>
            <a:off x="1246188" y="3792538"/>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1800">
                <a:latin typeface="宋体" panose="02010600030101010101" pitchFamily="2" charset="-122"/>
              </a:rPr>
              <a:t>故</a:t>
            </a:r>
          </a:p>
        </p:txBody>
      </p:sp>
      <p:sp>
        <p:nvSpPr>
          <p:cNvPr id="59401" name="Text Box 9"/>
          <p:cNvSpPr txBox="1">
            <a:spLocks noChangeArrowheads="1"/>
          </p:cNvSpPr>
          <p:nvPr/>
        </p:nvSpPr>
        <p:spPr bwMode="auto">
          <a:xfrm>
            <a:off x="1344613" y="4775957"/>
            <a:ext cx="641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1800">
                <a:latin typeface="宋体" panose="02010600030101010101" pitchFamily="2" charset="-122"/>
              </a:rPr>
              <a:t>因此</a:t>
            </a:r>
          </a:p>
        </p:txBody>
      </p:sp>
      <p:graphicFrame>
        <p:nvGraphicFramePr>
          <p:cNvPr id="59402" name="Object 2"/>
          <p:cNvGraphicFramePr>
            <a:graphicFrameLocks noChangeAspect="1"/>
          </p:cNvGraphicFramePr>
          <p:nvPr/>
        </p:nvGraphicFramePr>
        <p:xfrm>
          <a:off x="2928938" y="854075"/>
          <a:ext cx="2984500" cy="344488"/>
        </p:xfrm>
        <a:graphic>
          <a:graphicData uri="http://schemas.openxmlformats.org/presentationml/2006/ole">
            <mc:AlternateContent xmlns:mc="http://schemas.openxmlformats.org/markup-compatibility/2006">
              <mc:Choice xmlns:v="urn:schemas-microsoft-com:vml" Requires="v">
                <p:oleObj spid="_x0000_s60444" name="Equation" r:id="rId3" imgW="3302000" imgH="381000" progId="Equation.3">
                  <p:embed/>
                </p:oleObj>
              </mc:Choice>
              <mc:Fallback>
                <p:oleObj name="Equation" r:id="rId3" imgW="3302000" imgH="3810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8938" y="854075"/>
                        <a:ext cx="29845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9403" name="Object 3"/>
          <p:cNvGraphicFramePr>
            <a:graphicFrameLocks noChangeAspect="1"/>
          </p:cNvGraphicFramePr>
          <p:nvPr/>
        </p:nvGraphicFramePr>
        <p:xfrm>
          <a:off x="1938338" y="1336675"/>
          <a:ext cx="4724400" cy="419100"/>
        </p:xfrm>
        <a:graphic>
          <a:graphicData uri="http://schemas.openxmlformats.org/presentationml/2006/ole">
            <mc:AlternateContent xmlns:mc="http://schemas.openxmlformats.org/markup-compatibility/2006">
              <mc:Choice xmlns:v="urn:schemas-microsoft-com:vml" Requires="v">
                <p:oleObj spid="_x0000_s60445" name="Equation" r:id="rId5" imgW="4724400" imgH="419100" progId="Equation.3">
                  <p:embed/>
                </p:oleObj>
              </mc:Choice>
              <mc:Fallback>
                <p:oleObj name="Equation" r:id="rId5" imgW="4724400" imgH="4191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38338" y="1336675"/>
                        <a:ext cx="47244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9404" name="Object 4"/>
          <p:cNvGraphicFramePr>
            <a:graphicFrameLocks noChangeAspect="1"/>
          </p:cNvGraphicFramePr>
          <p:nvPr/>
        </p:nvGraphicFramePr>
        <p:xfrm>
          <a:off x="1328738" y="2962275"/>
          <a:ext cx="5189537" cy="666750"/>
        </p:xfrm>
        <a:graphic>
          <a:graphicData uri="http://schemas.openxmlformats.org/presentationml/2006/ole">
            <mc:AlternateContent xmlns:mc="http://schemas.openxmlformats.org/markup-compatibility/2006">
              <mc:Choice xmlns:v="urn:schemas-microsoft-com:vml" Requires="v">
                <p:oleObj spid="_x0000_s60446" name="Equation" r:id="rId7" imgW="5740400" imgH="736600" progId="Equation.3">
                  <p:embed/>
                </p:oleObj>
              </mc:Choice>
              <mc:Fallback>
                <p:oleObj name="Equation" r:id="rId7" imgW="5740400" imgH="7366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28738" y="2962275"/>
                        <a:ext cx="5189537"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9405" name="Object 5"/>
          <p:cNvGraphicFramePr>
            <a:graphicFrameLocks noChangeAspect="1"/>
          </p:cNvGraphicFramePr>
          <p:nvPr/>
        </p:nvGraphicFramePr>
        <p:xfrm>
          <a:off x="1893888" y="3790950"/>
          <a:ext cx="5038725" cy="758825"/>
        </p:xfrm>
        <a:graphic>
          <a:graphicData uri="http://schemas.openxmlformats.org/presentationml/2006/ole">
            <mc:AlternateContent xmlns:mc="http://schemas.openxmlformats.org/markup-compatibility/2006">
              <mc:Choice xmlns:v="urn:schemas-microsoft-com:vml" Requires="v">
                <p:oleObj spid="_x0000_s60447" name="Equation" r:id="rId9" imgW="5575300" imgH="838200" progId="Equation.3">
                  <p:embed/>
                </p:oleObj>
              </mc:Choice>
              <mc:Fallback>
                <p:oleObj name="Equation" r:id="rId9" imgW="5575300" imgH="8382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93888" y="3790950"/>
                        <a:ext cx="5038725"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9406" name="Object 6"/>
          <p:cNvGraphicFramePr>
            <a:graphicFrameLocks noChangeAspect="1"/>
          </p:cNvGraphicFramePr>
          <p:nvPr/>
        </p:nvGraphicFramePr>
        <p:xfrm>
          <a:off x="2123728" y="4632288"/>
          <a:ext cx="654050" cy="654050"/>
        </p:xfrm>
        <a:graphic>
          <a:graphicData uri="http://schemas.openxmlformats.org/presentationml/2006/ole">
            <mc:AlternateContent xmlns:mc="http://schemas.openxmlformats.org/markup-compatibility/2006">
              <mc:Choice xmlns:v="urn:schemas-microsoft-com:vml" Requires="v">
                <p:oleObj spid="_x0000_s60448" name="Equation" r:id="rId11" imgW="723900" imgH="723900" progId="Equation.3">
                  <p:embed/>
                </p:oleObj>
              </mc:Choice>
              <mc:Fallback>
                <p:oleObj name="Equation" r:id="rId11" imgW="723900" imgH="72390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23728" y="4632288"/>
                        <a:ext cx="654050"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9407" name="Object 7"/>
          <p:cNvGraphicFramePr>
            <a:graphicFrameLocks noChangeAspect="1"/>
          </p:cNvGraphicFramePr>
          <p:nvPr/>
        </p:nvGraphicFramePr>
        <p:xfrm>
          <a:off x="3491345" y="1825406"/>
          <a:ext cx="355600" cy="406400"/>
        </p:xfrm>
        <a:graphic>
          <a:graphicData uri="http://schemas.openxmlformats.org/presentationml/2006/ole">
            <mc:AlternateContent xmlns:mc="http://schemas.openxmlformats.org/markup-compatibility/2006">
              <mc:Choice xmlns:v="urn:schemas-microsoft-com:vml" Requires="v">
                <p:oleObj spid="_x0000_s60449" name="Equation" r:id="rId13" imgW="355600" imgH="405765" progId="Equation.3">
                  <p:embed/>
                </p:oleObj>
              </mc:Choice>
              <mc:Fallback>
                <p:oleObj name="Equation" r:id="rId13" imgW="355600" imgH="405765"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91345" y="1825406"/>
                        <a:ext cx="3556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9408" name="Object 8"/>
          <p:cNvGraphicFramePr>
            <a:graphicFrameLocks noChangeAspect="1"/>
          </p:cNvGraphicFramePr>
          <p:nvPr/>
        </p:nvGraphicFramePr>
        <p:xfrm>
          <a:off x="1785938" y="2466975"/>
          <a:ext cx="5257800" cy="344488"/>
        </p:xfrm>
        <a:graphic>
          <a:graphicData uri="http://schemas.openxmlformats.org/presentationml/2006/ole">
            <mc:AlternateContent xmlns:mc="http://schemas.openxmlformats.org/markup-compatibility/2006">
              <mc:Choice xmlns:v="urn:schemas-microsoft-com:vml" Requires="v">
                <p:oleObj spid="_x0000_s60450" name="Equation" r:id="rId15" imgW="5816600" imgH="381000" progId="Equation.3">
                  <p:embed/>
                </p:oleObj>
              </mc:Choice>
              <mc:Fallback>
                <p:oleObj name="Equation" r:id="rId15" imgW="5816600" imgH="381000"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85938" y="2466975"/>
                        <a:ext cx="52578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9409" name="Object 9"/>
          <p:cNvGraphicFramePr>
            <a:graphicFrameLocks noChangeAspect="1"/>
          </p:cNvGraphicFramePr>
          <p:nvPr/>
        </p:nvGraphicFramePr>
        <p:xfrm>
          <a:off x="7043738" y="3843337"/>
          <a:ext cx="1584325" cy="654050"/>
        </p:xfrm>
        <a:graphic>
          <a:graphicData uri="http://schemas.openxmlformats.org/presentationml/2006/ole">
            <mc:AlternateContent xmlns:mc="http://schemas.openxmlformats.org/markup-compatibility/2006">
              <mc:Choice xmlns:v="urn:schemas-microsoft-com:vml" Requires="v">
                <p:oleObj spid="_x0000_s60451" name="Equation" r:id="rId17" imgW="1752600" imgH="723900" progId="Equation.3">
                  <p:embed/>
                </p:oleObj>
              </mc:Choice>
              <mc:Fallback>
                <p:oleObj name="Equation" r:id="rId17" imgW="1752600" imgH="723900" progId="Equation.3">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043738" y="3843337"/>
                        <a:ext cx="1584325"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3"/>
          <p:cNvGraphicFramePr>
            <a:graphicFrameLocks noChangeAspect="1"/>
          </p:cNvGraphicFramePr>
          <p:nvPr/>
        </p:nvGraphicFramePr>
        <p:xfrm>
          <a:off x="1184275" y="5443538"/>
          <a:ext cx="6442075" cy="506412"/>
        </p:xfrm>
        <a:graphic>
          <a:graphicData uri="http://schemas.openxmlformats.org/presentationml/2006/ole">
            <mc:AlternateContent xmlns:mc="http://schemas.openxmlformats.org/markup-compatibility/2006">
              <mc:Choice xmlns:v="urn:schemas-microsoft-com:vml" Requires="v">
                <p:oleObj spid="_x0000_s60452" name="Equation" r:id="rId19" imgW="73456800" imgH="5791200" progId="Equation.DSMT4">
                  <p:embed/>
                </p:oleObj>
              </mc:Choice>
              <mc:Fallback>
                <p:oleObj name="Equation" r:id="rId19" imgW="73456800" imgH="5791200" progId="Equation.DSMT4">
                  <p:embed/>
                  <p:pic>
                    <p:nvPicPr>
                      <p:cNvPr id="0" name="Object 3"/>
                      <p:cNvPicPr>
                        <a:picLocks noChangeAspect="1" noChangeArrowheads="1"/>
                      </p:cNvPicPr>
                      <p:nvPr/>
                    </p:nvPicPr>
                    <p:blipFill>
                      <a:blip r:embed="rId20"/>
                      <a:srcRect/>
                      <a:stretch>
                        <a:fillRect/>
                      </a:stretch>
                    </p:blipFill>
                    <p:spPr bwMode="auto">
                      <a:xfrm>
                        <a:off x="1184275" y="5443538"/>
                        <a:ext cx="6442075" cy="506412"/>
                      </a:xfrm>
                      <a:prstGeom prst="rect">
                        <a:avLst/>
                      </a:prstGeom>
                      <a:noFill/>
                      <a:ln>
                        <a:noFill/>
                      </a:ln>
                    </p:spPr>
                  </p:pic>
                </p:oleObj>
              </mc:Fallback>
            </mc:AlternateContent>
          </a:graphicData>
        </a:graphic>
      </p:graphicFrame>
    </p:spTree>
  </p:cSld>
  <p:clrMapOvr>
    <a:masterClrMapping/>
  </p:clrMapOvr>
  <p:transition advClick="0"/>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ChangeArrowheads="1"/>
          </p:cNvSpPr>
          <p:nvPr/>
        </p:nvSpPr>
        <p:spPr bwMode="auto">
          <a:xfrm>
            <a:off x="393700" y="4395788"/>
            <a:ext cx="34480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b="1">
                <a:solidFill>
                  <a:schemeClr val="accent2"/>
                </a:solidFill>
              </a:rPr>
              <a:t>概率密度函数为：</a:t>
            </a:r>
          </a:p>
        </p:txBody>
      </p:sp>
      <p:graphicFrame>
        <p:nvGraphicFramePr>
          <p:cNvPr id="204803" name="Object 3"/>
          <p:cNvGraphicFramePr>
            <a:graphicFrameLocks noChangeAspect="1"/>
          </p:cNvGraphicFramePr>
          <p:nvPr/>
        </p:nvGraphicFramePr>
        <p:xfrm>
          <a:off x="1389857" y="4975225"/>
          <a:ext cx="5499100" cy="794084"/>
        </p:xfrm>
        <a:graphic>
          <a:graphicData uri="http://schemas.openxmlformats.org/presentationml/2006/ole">
            <mc:AlternateContent xmlns:mc="http://schemas.openxmlformats.org/markup-compatibility/2006">
              <mc:Choice xmlns:v="urn:schemas-microsoft-com:vml" Requires="v">
                <p:oleObj spid="_x0000_s33912" name="Equation" r:id="rId3" imgW="67360800" imgH="11277600" progId="Equation.DSMT4">
                  <p:embed/>
                </p:oleObj>
              </mc:Choice>
              <mc:Fallback>
                <p:oleObj name="Equation" r:id="rId3" imgW="67360800" imgH="11277600" progId="Equation.DSMT4">
                  <p:embed/>
                  <p:pic>
                    <p:nvPicPr>
                      <p:cNvPr id="0" name="Object 3"/>
                      <p:cNvPicPr>
                        <a:picLocks noChangeAspect="1" noChangeArrowheads="1"/>
                      </p:cNvPicPr>
                      <p:nvPr/>
                    </p:nvPicPr>
                    <p:blipFill>
                      <a:blip r:embed="rId4"/>
                      <a:srcRect/>
                      <a:stretch>
                        <a:fillRect/>
                      </a:stretch>
                    </p:blipFill>
                    <p:spPr bwMode="auto">
                      <a:xfrm>
                        <a:off x="1389857" y="4975225"/>
                        <a:ext cx="5499100" cy="794084"/>
                      </a:xfrm>
                      <a:prstGeom prst="rect">
                        <a:avLst/>
                      </a:prstGeom>
                      <a:noFill/>
                      <a:ln>
                        <a:noFill/>
                      </a:ln>
                    </p:spPr>
                  </p:pic>
                </p:oleObj>
              </mc:Fallback>
            </mc:AlternateContent>
          </a:graphicData>
        </a:graphic>
      </p:graphicFrame>
      <p:grpSp>
        <p:nvGrpSpPr>
          <p:cNvPr id="204813" name="Group 13"/>
          <p:cNvGrpSpPr/>
          <p:nvPr/>
        </p:nvGrpSpPr>
        <p:grpSpPr bwMode="auto">
          <a:xfrm>
            <a:off x="468313" y="836613"/>
            <a:ext cx="8077200" cy="2811462"/>
            <a:chOff x="295" y="527"/>
            <a:chExt cx="5088" cy="1771"/>
          </a:xfrm>
        </p:grpSpPr>
        <p:sp>
          <p:nvSpPr>
            <p:cNvPr id="33800" name="Text Box 5"/>
            <p:cNvSpPr txBox="1">
              <a:spLocks noChangeArrowheads="1"/>
            </p:cNvSpPr>
            <p:nvPr/>
          </p:nvSpPr>
          <p:spPr bwMode="auto">
            <a:xfrm>
              <a:off x="295" y="573"/>
              <a:ext cx="5088"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ct val="50000"/>
                </a:spcBef>
              </a:pPr>
              <a:r>
                <a:rPr lang="zh-CN" altLang="en-US"/>
                <a:t> </a:t>
              </a:r>
              <a:r>
                <a:rPr lang="zh-CN" altLang="en-US" sz="2800" b="1">
                  <a:solidFill>
                    <a:schemeClr val="accent2"/>
                  </a:solidFill>
                </a:rPr>
                <a:t>定义</a:t>
              </a:r>
              <a:r>
                <a:rPr lang="en-US" altLang="zh-CN" sz="2800" b="1">
                  <a:solidFill>
                    <a:schemeClr val="accent2"/>
                  </a:solidFill>
                </a:rPr>
                <a:t>:</a:t>
              </a:r>
              <a:r>
                <a:rPr lang="en-US" altLang="zh-CN" sz="3200" b="1"/>
                <a:t>  </a:t>
              </a:r>
              <a:r>
                <a:rPr lang="zh-CN" altLang="en-US" sz="3200" b="1"/>
                <a:t>设</a:t>
              </a:r>
              <a:r>
                <a:rPr lang="en-US" altLang="zh-CN" sz="3200" b="1" i="1"/>
                <a:t>X</a:t>
              </a:r>
              <a:r>
                <a:rPr lang="zh-CN" altLang="en-US" sz="3200" b="1"/>
                <a:t>～</a:t>
              </a:r>
              <a:r>
                <a:rPr lang="en-US" altLang="zh-CN" sz="3200" b="1" i="1"/>
                <a:t>N</a:t>
              </a:r>
              <a:r>
                <a:rPr lang="en-US" altLang="zh-CN" sz="3200" b="1"/>
                <a:t>(0,1) ,</a:t>
              </a:r>
              <a:r>
                <a:rPr lang="en-US" altLang="zh-CN" sz="3200" b="1" i="1"/>
                <a:t> Y</a:t>
              </a:r>
              <a:r>
                <a:rPr lang="zh-CN" altLang="en-US" sz="3200" b="1"/>
                <a:t>～          </a:t>
              </a:r>
              <a:r>
                <a:rPr lang="en-US" altLang="zh-CN" sz="3200" b="1"/>
                <a:t>,  </a:t>
              </a:r>
              <a:r>
                <a:rPr lang="zh-CN" altLang="en-US" sz="3200" b="1"/>
                <a:t>且</a:t>
              </a:r>
              <a:r>
                <a:rPr lang="en-US" altLang="zh-CN" sz="3200" b="1" i="1"/>
                <a:t>X</a:t>
              </a:r>
              <a:r>
                <a:rPr lang="zh-CN" altLang="en-US" sz="3200" b="1"/>
                <a:t>与</a:t>
              </a:r>
              <a:r>
                <a:rPr lang="en-US" altLang="zh-CN" sz="3200" b="1" i="1"/>
                <a:t>Y</a:t>
              </a:r>
              <a:r>
                <a:rPr lang="zh-CN" altLang="en-US" sz="3200" b="1"/>
                <a:t>相互    独立，则称变量</a:t>
              </a:r>
            </a:p>
          </p:txBody>
        </p:sp>
        <p:graphicFrame>
          <p:nvGraphicFramePr>
            <p:cNvPr id="33801" name="Object 6"/>
            <p:cNvGraphicFramePr>
              <a:graphicFrameLocks noChangeAspect="1"/>
            </p:cNvGraphicFramePr>
            <p:nvPr/>
          </p:nvGraphicFramePr>
          <p:xfrm>
            <a:off x="1927" y="1117"/>
            <a:ext cx="1361" cy="776"/>
          </p:xfrm>
          <a:graphic>
            <a:graphicData uri="http://schemas.openxmlformats.org/presentationml/2006/ole">
              <mc:AlternateContent xmlns:mc="http://schemas.openxmlformats.org/markup-compatibility/2006">
                <mc:Choice xmlns:v="urn:schemas-microsoft-com:vml" Requires="v">
                  <p:oleObj spid="_x0000_s33913" name="Equation" r:id="rId5" imgW="638175" imgH="442595" progId="Equation.DSMT4">
                    <p:embed/>
                  </p:oleObj>
                </mc:Choice>
                <mc:Fallback>
                  <p:oleObj name="Equation" r:id="rId5" imgW="638175" imgH="442595"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27" y="1117"/>
                          <a:ext cx="1361" cy="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802" name="Rectangle 7"/>
            <p:cNvSpPr>
              <a:spLocks noChangeArrowheads="1"/>
            </p:cNvSpPr>
            <p:nvPr/>
          </p:nvSpPr>
          <p:spPr bwMode="auto">
            <a:xfrm>
              <a:off x="547" y="1933"/>
              <a:ext cx="4169"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b="1"/>
                <a:t>所服从的分布为</a:t>
              </a:r>
              <a:r>
                <a:rPr lang="zh-CN" altLang="en-US" sz="3200" b="1">
                  <a:solidFill>
                    <a:schemeClr val="accent2"/>
                  </a:solidFill>
                </a:rPr>
                <a:t>自由度为 </a:t>
              </a:r>
              <a:r>
                <a:rPr lang="en-US" altLang="zh-CN" sz="3200" b="1" i="1">
                  <a:solidFill>
                    <a:schemeClr val="accent2"/>
                  </a:solidFill>
                </a:rPr>
                <a:t>n</a:t>
              </a:r>
              <a:r>
                <a:rPr lang="zh-CN" altLang="en-US" sz="3200" b="1">
                  <a:solidFill>
                    <a:schemeClr val="accent2"/>
                  </a:solidFill>
                </a:rPr>
                <a:t>的 </a:t>
              </a:r>
              <a:r>
                <a:rPr lang="en-US" altLang="zh-CN" sz="3200" b="1" i="1">
                  <a:solidFill>
                    <a:schemeClr val="accent2"/>
                  </a:solidFill>
                </a:rPr>
                <a:t>t </a:t>
              </a:r>
              <a:r>
                <a:rPr lang="zh-CN" altLang="en-US" sz="3200" b="1">
                  <a:solidFill>
                    <a:schemeClr val="accent2"/>
                  </a:solidFill>
                </a:rPr>
                <a:t>分布</a:t>
              </a:r>
              <a:r>
                <a:rPr lang="en-US" altLang="zh-CN" sz="3200" b="1"/>
                <a:t>.</a:t>
              </a:r>
            </a:p>
          </p:txBody>
        </p:sp>
        <p:graphicFrame>
          <p:nvGraphicFramePr>
            <p:cNvPr id="33803" name="Object 8"/>
            <p:cNvGraphicFramePr>
              <a:graphicFrameLocks noChangeAspect="1"/>
            </p:cNvGraphicFramePr>
            <p:nvPr/>
          </p:nvGraphicFramePr>
          <p:xfrm>
            <a:off x="3140" y="527"/>
            <a:ext cx="602" cy="384"/>
          </p:xfrm>
          <a:graphic>
            <a:graphicData uri="http://schemas.openxmlformats.org/presentationml/2006/ole">
              <mc:AlternateContent xmlns:mc="http://schemas.openxmlformats.org/markup-compatibility/2006">
                <mc:Choice xmlns:v="urn:schemas-microsoft-com:vml" Requires="v">
                  <p:oleObj spid="_x0000_s33914" name="Equation" r:id="rId7" imgW="390525" imgH="211455" progId="Equation.3">
                    <p:embed/>
                  </p:oleObj>
                </mc:Choice>
                <mc:Fallback>
                  <p:oleObj name="Equation" r:id="rId7" imgW="390525" imgH="211455"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40" y="527"/>
                          <a:ext cx="60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804" name="Rectangle 9"/>
            <p:cNvSpPr>
              <a:spLocks noChangeArrowheads="1"/>
            </p:cNvSpPr>
            <p:nvPr/>
          </p:nvSpPr>
          <p:spPr bwMode="auto">
            <a:xfrm>
              <a:off x="4080" y="1347"/>
              <a:ext cx="11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endParaRPr lang="zh-CN" altLang="en-US" sz="3200" b="1"/>
            </a:p>
          </p:txBody>
        </p:sp>
      </p:grpSp>
      <p:sp>
        <p:nvSpPr>
          <p:cNvPr id="204810" name="Rectangle 10"/>
          <p:cNvSpPr>
            <a:spLocks noChangeArrowheads="1"/>
          </p:cNvSpPr>
          <p:nvPr/>
        </p:nvSpPr>
        <p:spPr bwMode="auto">
          <a:xfrm>
            <a:off x="609600" y="152400"/>
            <a:ext cx="2232025" cy="579438"/>
          </a:xfrm>
          <a:prstGeom prst="rect">
            <a:avLst/>
          </a:prstGeom>
          <a:noFill/>
          <a:ln>
            <a:noFill/>
          </a:ln>
          <a:effectLst/>
          <a:extLst>
            <a:ext uri="{909E8E84-426E-40DD-AFC4-6F175D3DCCD1}">
              <a14:hiddenFill xmlns:a14="http://schemas.microsoft.com/office/drawing/2010/main">
                <a:solidFill>
                  <a:srgbClr val="6600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3200" b="1">
                <a:solidFill>
                  <a:schemeClr val="accent2"/>
                </a:solidFill>
              </a:rPr>
              <a:t>2</a:t>
            </a:r>
            <a:r>
              <a:rPr lang="zh-CN" altLang="en-US" sz="3200" b="1" i="1">
                <a:solidFill>
                  <a:schemeClr val="accent2"/>
                </a:solidFill>
              </a:rPr>
              <a:t>、</a:t>
            </a:r>
            <a:r>
              <a:rPr lang="en-US" altLang="zh-CN" sz="3200" b="1" i="1">
                <a:solidFill>
                  <a:schemeClr val="accent2"/>
                </a:solidFill>
              </a:rPr>
              <a:t>t </a:t>
            </a:r>
            <a:r>
              <a:rPr lang="zh-CN" altLang="en-US" sz="3200" b="1">
                <a:solidFill>
                  <a:schemeClr val="accent2"/>
                </a:solidFill>
              </a:rPr>
              <a:t>分布</a:t>
            </a:r>
          </a:p>
        </p:txBody>
      </p:sp>
      <p:graphicFrame>
        <p:nvGraphicFramePr>
          <p:cNvPr id="204811" name="Object 11"/>
          <p:cNvGraphicFramePr>
            <a:graphicFrameLocks noChangeAspect="1"/>
          </p:cNvGraphicFramePr>
          <p:nvPr/>
        </p:nvGraphicFramePr>
        <p:xfrm>
          <a:off x="395288" y="3860800"/>
          <a:ext cx="2305050" cy="479425"/>
        </p:xfrm>
        <a:graphic>
          <a:graphicData uri="http://schemas.openxmlformats.org/presentationml/2006/ole">
            <mc:AlternateContent xmlns:mc="http://schemas.openxmlformats.org/markup-compatibility/2006">
              <mc:Choice xmlns:v="urn:schemas-microsoft-com:vml" Requires="v">
                <p:oleObj spid="_x0000_s33915" name="Equation" r:id="rId9" imgW="1019175" imgH="201930" progId="Equation.DSMT4">
                  <p:embed/>
                </p:oleObj>
              </mc:Choice>
              <mc:Fallback>
                <p:oleObj name="Equation" r:id="rId9" imgW="1019175" imgH="201930" progId="Equation.DSMT4">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5288" y="3860800"/>
                        <a:ext cx="2305050"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812" name="Object 12"/>
          <p:cNvGraphicFramePr>
            <a:graphicFrameLocks noChangeAspect="1"/>
          </p:cNvGraphicFramePr>
          <p:nvPr/>
        </p:nvGraphicFramePr>
        <p:xfrm>
          <a:off x="2771775" y="3933825"/>
          <a:ext cx="5499100" cy="431800"/>
        </p:xfrm>
        <a:graphic>
          <a:graphicData uri="http://schemas.openxmlformats.org/presentationml/2006/ole">
            <mc:AlternateContent xmlns:mc="http://schemas.openxmlformats.org/markup-compatibility/2006">
              <mc:Choice xmlns:v="urn:schemas-microsoft-com:vml" Requires="v">
                <p:oleObj spid="_x0000_s33916" name="公式" r:id="rId11" imgW="5476875" imgH="414020" progId="Equation.3">
                  <p:embed/>
                </p:oleObj>
              </mc:Choice>
              <mc:Fallback>
                <p:oleObj name="公式" r:id="rId11" imgW="5476875" imgH="414020"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71775" y="3933825"/>
                        <a:ext cx="54991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04810"/>
                                        </p:tgtEl>
                                        <p:attrNameLst>
                                          <p:attrName>style.visibility</p:attrName>
                                        </p:attrNameLst>
                                      </p:cBhvr>
                                      <p:to>
                                        <p:strVal val="visible"/>
                                      </p:to>
                                    </p:set>
                                    <p:animEffect transition="in" filter="wipe(down)">
                                      <p:cBhvr>
                                        <p:cTn id="7" dur="500"/>
                                        <p:tgtEl>
                                          <p:spTgt spid="20481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0481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204811"/>
                                        </p:tgtEl>
                                        <p:attrNameLst>
                                          <p:attrName>style.visibility</p:attrName>
                                        </p:attrNameLst>
                                      </p:cBhvr>
                                      <p:to>
                                        <p:strVal val="visible"/>
                                      </p:to>
                                    </p:set>
                                    <p:animEffect transition="in" filter="wipe(down)">
                                      <p:cBhvr>
                                        <p:cTn id="16" dur="500"/>
                                        <p:tgtEl>
                                          <p:spTgt spid="204811"/>
                                        </p:tgtEl>
                                      </p:cBhvr>
                                    </p:animEffect>
                                  </p:childTnLst>
                                </p:cTn>
                              </p:par>
                            </p:childTnLst>
                          </p:cTn>
                        </p:par>
                        <p:par>
                          <p:cTn id="17" fill="hold">
                            <p:stCondLst>
                              <p:cond delay="500"/>
                            </p:stCondLst>
                            <p:childTnLst>
                              <p:par>
                                <p:cTn id="18" presetID="22" presetClass="entr" presetSubtype="4" fill="hold" nodeType="afterEffect">
                                  <p:stCondLst>
                                    <p:cond delay="0"/>
                                  </p:stCondLst>
                                  <p:childTnLst>
                                    <p:set>
                                      <p:cBhvr>
                                        <p:cTn id="19" dur="1" fill="hold">
                                          <p:stCondLst>
                                            <p:cond delay="0"/>
                                          </p:stCondLst>
                                        </p:cTn>
                                        <p:tgtEl>
                                          <p:spTgt spid="204812"/>
                                        </p:tgtEl>
                                        <p:attrNameLst>
                                          <p:attrName>style.visibility</p:attrName>
                                        </p:attrNameLst>
                                      </p:cBhvr>
                                      <p:to>
                                        <p:strVal val="visible"/>
                                      </p:to>
                                    </p:set>
                                    <p:animEffect transition="in" filter="wipe(down)">
                                      <p:cBhvr>
                                        <p:cTn id="20" dur="500"/>
                                        <p:tgtEl>
                                          <p:spTgt spid="20481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04802"/>
                                        </p:tgtEl>
                                        <p:attrNameLst>
                                          <p:attrName>style.visibility</p:attrName>
                                        </p:attrNameLst>
                                      </p:cBhvr>
                                      <p:to>
                                        <p:strVal val="visible"/>
                                      </p:to>
                                    </p:set>
                                    <p:animEffect transition="in" filter="wipe(left)">
                                      <p:cBhvr>
                                        <p:cTn id="25" dur="500"/>
                                        <p:tgtEl>
                                          <p:spTgt spid="204802"/>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499"/>
                                          </p:stCondLst>
                                        </p:cTn>
                                        <p:tgtEl>
                                          <p:spTgt spid="2048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2" grpId="0" bldLvl="0" animBg="1" autoUpdateAnimBg="0"/>
      <p:bldP spid="204810" grpId="0" bldLvl="0" animBg="1"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5826" name="Object 2"/>
          <p:cNvGraphicFramePr>
            <a:graphicFrameLocks noChangeAspect="1"/>
          </p:cNvGraphicFramePr>
          <p:nvPr/>
        </p:nvGraphicFramePr>
        <p:xfrm>
          <a:off x="884238" y="452438"/>
          <a:ext cx="2082800" cy="419100"/>
        </p:xfrm>
        <a:graphic>
          <a:graphicData uri="http://schemas.openxmlformats.org/presentationml/2006/ole">
            <mc:AlternateContent xmlns:mc="http://schemas.openxmlformats.org/markup-compatibility/2006">
              <mc:Choice xmlns:v="urn:schemas-microsoft-com:vml" Requires="v">
                <p:oleObj spid="_x0000_s61453" name="公式" r:id="rId3" imgW="2066925" imgH="404495" progId="Equation.3">
                  <p:embed/>
                </p:oleObj>
              </mc:Choice>
              <mc:Fallback>
                <p:oleObj name="公式" r:id="rId3" imgW="2066925" imgH="404495"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4238" y="452438"/>
                        <a:ext cx="2082800" cy="419100"/>
                      </a:xfrm>
                      <a:prstGeom prst="rect">
                        <a:avLst/>
                      </a:prstGeom>
                      <a:solidFill>
                        <a:srgbClr val="3333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827" name="Object 3"/>
          <p:cNvGraphicFramePr>
            <a:graphicFrameLocks noChangeAspect="1"/>
          </p:cNvGraphicFramePr>
          <p:nvPr/>
        </p:nvGraphicFramePr>
        <p:xfrm>
          <a:off x="590550" y="1320800"/>
          <a:ext cx="7675563" cy="992188"/>
        </p:xfrm>
        <a:graphic>
          <a:graphicData uri="http://schemas.openxmlformats.org/presentationml/2006/ole">
            <mc:AlternateContent xmlns:mc="http://schemas.openxmlformats.org/markup-compatibility/2006">
              <mc:Choice xmlns:v="urn:schemas-microsoft-com:vml" Requires="v">
                <p:oleObj spid="_x0000_s61454" name="Equation" r:id="rId5" imgW="82296000" imgH="10972800" progId="Equation.DSMT4">
                  <p:embed/>
                </p:oleObj>
              </mc:Choice>
              <mc:Fallback>
                <p:oleObj name="Equation" r:id="rId5" imgW="82296000" imgH="10972800" progId="Equation.DSMT4">
                  <p:embed/>
                  <p:pic>
                    <p:nvPicPr>
                      <p:cNvPr id="0" name="Object 3"/>
                      <p:cNvPicPr>
                        <a:picLocks noChangeAspect="1" noChangeArrowheads="1"/>
                      </p:cNvPicPr>
                      <p:nvPr/>
                    </p:nvPicPr>
                    <p:blipFill>
                      <a:blip r:embed="rId6"/>
                      <a:srcRect/>
                      <a:stretch>
                        <a:fillRect/>
                      </a:stretch>
                    </p:blipFill>
                    <p:spPr bwMode="auto">
                      <a:xfrm>
                        <a:off x="590550" y="1320800"/>
                        <a:ext cx="7675563" cy="992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828" name="Object 4"/>
          <p:cNvGraphicFramePr>
            <a:graphicFrameLocks noChangeAspect="1"/>
          </p:cNvGraphicFramePr>
          <p:nvPr/>
        </p:nvGraphicFramePr>
        <p:xfrm>
          <a:off x="590550" y="2683005"/>
          <a:ext cx="7451319" cy="1862008"/>
        </p:xfrm>
        <a:graphic>
          <a:graphicData uri="http://schemas.openxmlformats.org/presentationml/2006/ole">
            <mc:AlternateContent xmlns:mc="http://schemas.openxmlformats.org/markup-compatibility/2006">
              <mc:Choice xmlns:v="urn:schemas-microsoft-com:vml" Requires="v">
                <p:oleObj spid="_x0000_s61455" name="Equation" r:id="rId7" imgW="83820000" imgH="21336000" progId="Equation.DSMT4">
                  <p:embed/>
                </p:oleObj>
              </mc:Choice>
              <mc:Fallback>
                <p:oleObj name="Equation" r:id="rId7" imgW="83820000" imgH="21336000" progId="Equation.DSMT4">
                  <p:embed/>
                  <p:pic>
                    <p:nvPicPr>
                      <p:cNvPr id="0" name="Object 4"/>
                      <p:cNvPicPr>
                        <a:picLocks noChangeAspect="1" noChangeArrowheads="1"/>
                      </p:cNvPicPr>
                      <p:nvPr/>
                    </p:nvPicPr>
                    <p:blipFill>
                      <a:blip r:embed="rId8"/>
                      <a:srcRect/>
                      <a:stretch>
                        <a:fillRect/>
                      </a:stretch>
                    </p:blipFill>
                    <p:spPr bwMode="auto">
                      <a:xfrm>
                        <a:off x="590550" y="2683005"/>
                        <a:ext cx="7451319" cy="1862008"/>
                      </a:xfrm>
                      <a:prstGeom prst="rect">
                        <a:avLst/>
                      </a:prstGeom>
                      <a:noFill/>
                      <a:ln>
                        <a:noFill/>
                      </a:ln>
                      <a:effectLst/>
                    </p:spPr>
                  </p:pic>
                </p:oleObj>
              </mc:Fallback>
            </mc:AlternateContent>
          </a:graphicData>
        </a:graphic>
      </p:graphicFrame>
      <p:graphicFrame>
        <p:nvGraphicFramePr>
          <p:cNvPr id="205829" name="Object 5"/>
          <p:cNvGraphicFramePr>
            <a:graphicFrameLocks noChangeAspect="1"/>
          </p:cNvGraphicFramePr>
          <p:nvPr/>
        </p:nvGraphicFramePr>
        <p:xfrm>
          <a:off x="1116013" y="4846638"/>
          <a:ext cx="5048250" cy="887412"/>
        </p:xfrm>
        <a:graphic>
          <a:graphicData uri="http://schemas.openxmlformats.org/presentationml/2006/ole">
            <mc:AlternateContent xmlns:mc="http://schemas.openxmlformats.org/markup-compatibility/2006">
              <mc:Choice xmlns:v="urn:schemas-microsoft-com:vml" Requires="v">
                <p:oleObj spid="_x0000_s61456" name="Equation" r:id="rId9" imgW="1857375" imgH="317500" progId="Equation.DSMT4">
                  <p:embed/>
                </p:oleObj>
              </mc:Choice>
              <mc:Fallback>
                <p:oleObj name="Equation" r:id="rId9" imgW="1857375" imgH="317500"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16013" y="4846638"/>
                        <a:ext cx="5048250" cy="887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5826"/>
                                        </p:tgtEl>
                                        <p:attrNameLst>
                                          <p:attrName>style.visibility</p:attrName>
                                        </p:attrNameLst>
                                      </p:cBhvr>
                                      <p:to>
                                        <p:strVal val="visible"/>
                                      </p:to>
                                    </p:set>
                                    <p:animEffect transition="in" filter="wipe(down)">
                                      <p:cBhvr>
                                        <p:cTn id="7" dur="500"/>
                                        <p:tgtEl>
                                          <p:spTgt spid="2058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05827"/>
                                        </p:tgtEl>
                                        <p:attrNameLst>
                                          <p:attrName>style.visibility</p:attrName>
                                        </p:attrNameLst>
                                      </p:cBhvr>
                                      <p:to>
                                        <p:strVal val="visible"/>
                                      </p:to>
                                    </p:set>
                                    <p:animEffect transition="in" filter="wipe(down)">
                                      <p:cBhvr>
                                        <p:cTn id="12" dur="500"/>
                                        <p:tgtEl>
                                          <p:spTgt spid="20582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05828"/>
                                        </p:tgtEl>
                                        <p:attrNameLst>
                                          <p:attrName>style.visibility</p:attrName>
                                        </p:attrNameLst>
                                      </p:cBhvr>
                                      <p:to>
                                        <p:strVal val="visible"/>
                                      </p:to>
                                    </p:set>
                                    <p:animEffect transition="in" filter="wipe(down)">
                                      <p:cBhvr>
                                        <p:cTn id="17" dur="500"/>
                                        <p:tgtEl>
                                          <p:spTgt spid="2058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05829"/>
                                        </p:tgtEl>
                                        <p:attrNameLst>
                                          <p:attrName>style.visibility</p:attrName>
                                        </p:attrNameLst>
                                      </p:cBhvr>
                                      <p:to>
                                        <p:strVal val="visible"/>
                                      </p:to>
                                    </p:set>
                                    <p:animEffect transition="in" filter="wipe(down)">
                                      <p:cBhvr>
                                        <p:cTn id="22" dur="500"/>
                                        <p:tgtEl>
                                          <p:spTgt spid="2058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Text Box 2"/>
          <p:cNvSpPr txBox="1">
            <a:spLocks noChangeArrowheads="1"/>
          </p:cNvSpPr>
          <p:nvPr/>
        </p:nvSpPr>
        <p:spPr bwMode="auto">
          <a:xfrm>
            <a:off x="955675" y="0"/>
            <a:ext cx="3581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b="1">
                <a:ea typeface="楷体_GB2312" pitchFamily="49" charset="-122"/>
              </a:rPr>
              <a:t>3 </a:t>
            </a:r>
            <a:r>
              <a:rPr lang="zh-CN" altLang="en-US" sz="2800" b="1">
                <a:ea typeface="楷体_GB2312" pitchFamily="49" charset="-122"/>
              </a:rPr>
              <a:t>、 </a:t>
            </a:r>
            <a:r>
              <a:rPr lang="en-US" altLang="zh-CN" sz="2800" b="1">
                <a:ea typeface="楷体_GB2312" pitchFamily="49" charset="-122"/>
              </a:rPr>
              <a:t>t </a:t>
            </a:r>
            <a:r>
              <a:rPr lang="zh-CN" altLang="en-US" sz="2800" b="1">
                <a:ea typeface="楷体_GB2312" pitchFamily="49" charset="-122"/>
              </a:rPr>
              <a:t>分布的分位点</a:t>
            </a:r>
          </a:p>
        </p:txBody>
      </p:sp>
      <p:sp>
        <p:nvSpPr>
          <p:cNvPr id="208899" name="Text Box 3"/>
          <p:cNvSpPr txBox="1">
            <a:spLocks noChangeArrowheads="1"/>
          </p:cNvSpPr>
          <p:nvPr/>
        </p:nvSpPr>
        <p:spPr bwMode="auto">
          <a:xfrm>
            <a:off x="955675" y="609600"/>
            <a:ext cx="4191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b="1">
                <a:ea typeface="楷体_GB2312" pitchFamily="49" charset="-122"/>
              </a:rPr>
              <a:t>     对于给定的正数</a:t>
            </a:r>
          </a:p>
        </p:txBody>
      </p:sp>
      <p:graphicFrame>
        <p:nvGraphicFramePr>
          <p:cNvPr id="208900" name="Object 4"/>
          <p:cNvGraphicFramePr>
            <a:graphicFrameLocks noChangeAspect="1"/>
          </p:cNvGraphicFramePr>
          <p:nvPr/>
        </p:nvGraphicFramePr>
        <p:xfrm>
          <a:off x="4079875" y="596900"/>
          <a:ext cx="2057400" cy="490538"/>
        </p:xfrm>
        <a:graphic>
          <a:graphicData uri="http://schemas.openxmlformats.org/presentationml/2006/ole">
            <mc:AlternateContent xmlns:mc="http://schemas.openxmlformats.org/markup-compatibility/2006">
              <mc:Choice xmlns:v="urn:schemas-microsoft-com:vml" Requires="v">
                <p:oleObj spid="_x0000_s62513" name="Equation" r:id="rId3" imgW="828675" imgH="182880" progId="Equation.3">
                  <p:embed/>
                </p:oleObj>
              </mc:Choice>
              <mc:Fallback>
                <p:oleObj name="Equation" r:id="rId3" imgW="828675" imgH="182880" progId="Equation.3">
                  <p:embed/>
                  <p:pic>
                    <p:nvPicPr>
                      <p:cNvPr id="0" name="Object 4"/>
                      <p:cNvPicPr>
                        <a:picLocks noChangeAspect="1" noChangeArrowheads="1"/>
                      </p:cNvPicPr>
                      <p:nvPr/>
                    </p:nvPicPr>
                    <p:blipFill>
                      <a:blip r:embed="rId4">
                        <a:lum bright="-100000"/>
                        <a:extLst>
                          <a:ext uri="{28A0092B-C50C-407E-A947-70E740481C1C}">
                            <a14:useLocalDpi xmlns:a14="http://schemas.microsoft.com/office/drawing/2010/main" val="0"/>
                          </a:ext>
                        </a:extLst>
                      </a:blip>
                      <a:srcRect/>
                      <a:stretch>
                        <a:fillRect/>
                      </a:stretch>
                    </p:blipFill>
                    <p:spPr bwMode="auto">
                      <a:xfrm>
                        <a:off x="4079875" y="596900"/>
                        <a:ext cx="2057400" cy="490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8901" name="Text Box 5"/>
          <p:cNvSpPr txBox="1">
            <a:spLocks noChangeArrowheads="1"/>
          </p:cNvSpPr>
          <p:nvPr/>
        </p:nvSpPr>
        <p:spPr bwMode="auto">
          <a:xfrm>
            <a:off x="6289675" y="533400"/>
            <a:ext cx="2438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b="1">
                <a:ea typeface="楷体_GB2312" pitchFamily="49" charset="-122"/>
              </a:rPr>
              <a:t>称满足条件</a:t>
            </a:r>
          </a:p>
        </p:txBody>
      </p:sp>
      <p:graphicFrame>
        <p:nvGraphicFramePr>
          <p:cNvPr id="208902" name="Object 6"/>
          <p:cNvGraphicFramePr>
            <a:graphicFrameLocks noChangeAspect="1"/>
          </p:cNvGraphicFramePr>
          <p:nvPr/>
        </p:nvGraphicFramePr>
        <p:xfrm>
          <a:off x="1431925" y="922338"/>
          <a:ext cx="5551488" cy="1179512"/>
        </p:xfrm>
        <a:graphic>
          <a:graphicData uri="http://schemas.openxmlformats.org/presentationml/2006/ole">
            <mc:AlternateContent xmlns:mc="http://schemas.openxmlformats.org/markup-compatibility/2006">
              <mc:Choice xmlns:v="urn:schemas-microsoft-com:vml" Requires="v">
                <p:oleObj spid="_x0000_s62514" name="Equation" r:id="rId5" imgW="1876425" imgH="471805" progId="Equation.DSMT4">
                  <p:embed/>
                </p:oleObj>
              </mc:Choice>
              <mc:Fallback>
                <p:oleObj name="Equation" r:id="rId5" imgW="1876425" imgH="471805" progId="Equation.DSMT4">
                  <p:embed/>
                  <p:pic>
                    <p:nvPicPr>
                      <p:cNvPr id="0" name="Object 6"/>
                      <p:cNvPicPr>
                        <a:picLocks noChangeAspect="1" noChangeArrowheads="1"/>
                      </p:cNvPicPr>
                      <p:nvPr/>
                    </p:nvPicPr>
                    <p:blipFill>
                      <a:blip r:embed="rId6">
                        <a:lum bright="-100000"/>
                        <a:extLst>
                          <a:ext uri="{28A0092B-C50C-407E-A947-70E740481C1C}">
                            <a14:useLocalDpi xmlns:a14="http://schemas.microsoft.com/office/drawing/2010/main" val="0"/>
                          </a:ext>
                        </a:extLst>
                      </a:blip>
                      <a:srcRect/>
                      <a:stretch>
                        <a:fillRect/>
                      </a:stretch>
                    </p:blipFill>
                    <p:spPr bwMode="auto">
                      <a:xfrm>
                        <a:off x="1431925" y="922338"/>
                        <a:ext cx="5551488" cy="1179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8903" name="Rectangle 7"/>
          <p:cNvSpPr>
            <a:spLocks noChangeArrowheads="1"/>
          </p:cNvSpPr>
          <p:nvPr/>
        </p:nvSpPr>
        <p:spPr bwMode="auto">
          <a:xfrm>
            <a:off x="650875" y="2111375"/>
            <a:ext cx="898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b="1">
                <a:ea typeface="楷体_GB2312" pitchFamily="49" charset="-122"/>
              </a:rPr>
              <a:t>的点</a:t>
            </a:r>
          </a:p>
        </p:txBody>
      </p:sp>
      <p:sp>
        <p:nvSpPr>
          <p:cNvPr id="208904" name="Text Box 8"/>
          <p:cNvSpPr txBox="1">
            <a:spLocks noChangeArrowheads="1"/>
          </p:cNvSpPr>
          <p:nvPr/>
        </p:nvSpPr>
        <p:spPr bwMode="auto">
          <a:xfrm>
            <a:off x="2479675" y="2052638"/>
            <a:ext cx="685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b="1">
                <a:ea typeface="楷体_GB2312" pitchFamily="49" charset="-122"/>
              </a:rPr>
              <a:t>为</a:t>
            </a:r>
          </a:p>
        </p:txBody>
      </p:sp>
      <p:sp>
        <p:nvSpPr>
          <p:cNvPr id="208905" name="Rectangle 9"/>
          <p:cNvSpPr>
            <a:spLocks noChangeArrowheads="1"/>
          </p:cNvSpPr>
          <p:nvPr/>
        </p:nvSpPr>
        <p:spPr bwMode="auto">
          <a:xfrm>
            <a:off x="6210300" y="2036763"/>
            <a:ext cx="17907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ea typeface="楷体_GB2312" pitchFamily="49" charset="-122"/>
              </a:rPr>
              <a:t>分位点”。</a:t>
            </a:r>
          </a:p>
        </p:txBody>
      </p:sp>
      <p:sp>
        <p:nvSpPr>
          <p:cNvPr id="208906" name="Rectangle 10"/>
          <p:cNvSpPr>
            <a:spLocks noChangeArrowheads="1"/>
          </p:cNvSpPr>
          <p:nvPr/>
        </p:nvSpPr>
        <p:spPr bwMode="auto">
          <a:xfrm>
            <a:off x="3775075" y="2079625"/>
            <a:ext cx="1790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ea typeface="楷体_GB2312" pitchFamily="49" charset="-122"/>
              </a:rPr>
              <a:t>分布的“上</a:t>
            </a:r>
          </a:p>
        </p:txBody>
      </p:sp>
      <p:graphicFrame>
        <p:nvGraphicFramePr>
          <p:cNvPr id="208907" name="Object 11"/>
          <p:cNvGraphicFramePr>
            <a:graphicFrameLocks noChangeAspect="1"/>
          </p:cNvGraphicFramePr>
          <p:nvPr/>
        </p:nvGraphicFramePr>
        <p:xfrm>
          <a:off x="3013075" y="2111375"/>
          <a:ext cx="762000" cy="554038"/>
        </p:xfrm>
        <a:graphic>
          <a:graphicData uri="http://schemas.openxmlformats.org/presentationml/2006/ole">
            <mc:AlternateContent xmlns:mc="http://schemas.openxmlformats.org/markup-compatibility/2006">
              <mc:Choice xmlns:v="urn:schemas-microsoft-com:vml" Requires="v">
                <p:oleObj spid="_x0000_s62515" name="Equation" r:id="rId7" imgW="257175" imgH="182880" progId="Equation.3">
                  <p:embed/>
                </p:oleObj>
              </mc:Choice>
              <mc:Fallback>
                <p:oleObj name="Equation" r:id="rId7" imgW="257175" imgH="182880" progId="Equation.3">
                  <p:embed/>
                  <p:pic>
                    <p:nvPicPr>
                      <p:cNvPr id="0" name="Object 11"/>
                      <p:cNvPicPr>
                        <a:picLocks noChangeAspect="1" noChangeArrowheads="1"/>
                      </p:cNvPicPr>
                      <p:nvPr/>
                    </p:nvPicPr>
                    <p:blipFill>
                      <a:blip r:embed="rId8">
                        <a:lum bright="-100000"/>
                        <a:extLst>
                          <a:ext uri="{28A0092B-C50C-407E-A947-70E740481C1C}">
                            <a14:useLocalDpi xmlns:a14="http://schemas.microsoft.com/office/drawing/2010/main" val="0"/>
                          </a:ext>
                        </a:extLst>
                      </a:blip>
                      <a:srcRect/>
                      <a:stretch>
                        <a:fillRect/>
                      </a:stretch>
                    </p:blipFill>
                    <p:spPr bwMode="auto">
                      <a:xfrm>
                        <a:off x="3013075" y="2111375"/>
                        <a:ext cx="762000" cy="554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8908" name="Object 12"/>
          <p:cNvGraphicFramePr>
            <a:graphicFrameLocks noChangeAspect="1"/>
          </p:cNvGraphicFramePr>
          <p:nvPr/>
        </p:nvGraphicFramePr>
        <p:xfrm>
          <a:off x="5718175" y="2166938"/>
          <a:ext cx="457200" cy="342900"/>
        </p:xfrm>
        <a:graphic>
          <a:graphicData uri="http://schemas.openxmlformats.org/presentationml/2006/ole">
            <mc:AlternateContent xmlns:mc="http://schemas.openxmlformats.org/markup-compatibility/2006">
              <mc:Choice xmlns:v="urn:schemas-microsoft-com:vml" Requires="v">
                <p:oleObj spid="_x0000_s62516" name="公式" r:id="rId9" imgW="133350" imgH="125095" progId="Equation.3">
                  <p:embed/>
                </p:oleObj>
              </mc:Choice>
              <mc:Fallback>
                <p:oleObj name="公式" r:id="rId9" imgW="133350" imgH="125095" progId="Equation.3">
                  <p:embed/>
                  <p:pic>
                    <p:nvPicPr>
                      <p:cNvPr id="0" name="Object 12"/>
                      <p:cNvPicPr>
                        <a:picLocks noChangeAspect="1" noChangeArrowheads="1"/>
                      </p:cNvPicPr>
                      <p:nvPr/>
                    </p:nvPicPr>
                    <p:blipFill>
                      <a:blip r:embed="rId10">
                        <a:lum bright="-100000"/>
                        <a:extLst>
                          <a:ext uri="{28A0092B-C50C-407E-A947-70E740481C1C}">
                            <a14:useLocalDpi xmlns:a14="http://schemas.microsoft.com/office/drawing/2010/main" val="0"/>
                          </a:ext>
                        </a:extLst>
                      </a:blip>
                      <a:srcRect/>
                      <a:stretch>
                        <a:fillRect/>
                      </a:stretch>
                    </p:blipFill>
                    <p:spPr bwMode="auto">
                      <a:xfrm>
                        <a:off x="5718175" y="2166938"/>
                        <a:ext cx="457200"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8909" name="Object 13"/>
          <p:cNvGraphicFramePr>
            <a:graphicFrameLocks noChangeAspect="1"/>
          </p:cNvGraphicFramePr>
          <p:nvPr/>
        </p:nvGraphicFramePr>
        <p:xfrm>
          <a:off x="1565275" y="2111375"/>
          <a:ext cx="914400" cy="588963"/>
        </p:xfrm>
        <a:graphic>
          <a:graphicData uri="http://schemas.openxmlformats.org/presentationml/2006/ole">
            <mc:AlternateContent xmlns:mc="http://schemas.openxmlformats.org/markup-compatibility/2006">
              <mc:Choice xmlns:v="urn:schemas-microsoft-com:vml" Requires="v">
                <p:oleObj spid="_x0000_s62517" name="Equation" r:id="rId11" imgW="333375" imgH="211455" progId="Equation.3">
                  <p:embed/>
                </p:oleObj>
              </mc:Choice>
              <mc:Fallback>
                <p:oleObj name="Equation" r:id="rId11" imgW="333375" imgH="211455" progId="Equation.3">
                  <p:embed/>
                  <p:pic>
                    <p:nvPicPr>
                      <p:cNvPr id="0" name="Object 13"/>
                      <p:cNvPicPr>
                        <a:picLocks noChangeAspect="1" noChangeArrowheads="1"/>
                      </p:cNvPicPr>
                      <p:nvPr/>
                    </p:nvPicPr>
                    <p:blipFill>
                      <a:blip r:embed="rId12">
                        <a:lum bright="-100000"/>
                        <a:extLst>
                          <a:ext uri="{28A0092B-C50C-407E-A947-70E740481C1C}">
                            <a14:useLocalDpi xmlns:a14="http://schemas.microsoft.com/office/drawing/2010/main" val="0"/>
                          </a:ext>
                        </a:extLst>
                      </a:blip>
                      <a:srcRect/>
                      <a:stretch>
                        <a:fillRect/>
                      </a:stretch>
                    </p:blipFill>
                    <p:spPr bwMode="auto">
                      <a:xfrm>
                        <a:off x="1565275" y="2111375"/>
                        <a:ext cx="914400" cy="588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14"/>
          <p:cNvGrpSpPr/>
          <p:nvPr/>
        </p:nvGrpSpPr>
        <p:grpSpPr bwMode="auto">
          <a:xfrm>
            <a:off x="650875" y="2819400"/>
            <a:ext cx="2535238" cy="1536700"/>
            <a:chOff x="1130" y="1728"/>
            <a:chExt cx="2662" cy="1208"/>
          </a:xfrm>
        </p:grpSpPr>
        <p:sp>
          <p:nvSpPr>
            <p:cNvPr id="35891" name="Line 15"/>
            <p:cNvSpPr>
              <a:spLocks noChangeShapeType="1"/>
            </p:cNvSpPr>
            <p:nvPr/>
          </p:nvSpPr>
          <p:spPr bwMode="auto">
            <a:xfrm>
              <a:off x="1152" y="2496"/>
              <a:ext cx="26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92" name="Line 16"/>
            <p:cNvSpPr>
              <a:spLocks noChangeShapeType="1"/>
            </p:cNvSpPr>
            <p:nvPr/>
          </p:nvSpPr>
          <p:spPr bwMode="auto">
            <a:xfrm>
              <a:off x="2160" y="1728"/>
              <a:ext cx="0" cy="76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93" name="Line 17"/>
            <p:cNvSpPr>
              <a:spLocks noChangeShapeType="1"/>
            </p:cNvSpPr>
            <p:nvPr/>
          </p:nvSpPr>
          <p:spPr bwMode="auto">
            <a:xfrm>
              <a:off x="2640" y="2208"/>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35894" name="Group 18"/>
            <p:cNvGrpSpPr/>
            <p:nvPr/>
          </p:nvGrpSpPr>
          <p:grpSpPr bwMode="auto">
            <a:xfrm>
              <a:off x="2640" y="2256"/>
              <a:ext cx="336" cy="240"/>
              <a:chOff x="3216" y="3120"/>
              <a:chExt cx="336" cy="240"/>
            </a:xfrm>
          </p:grpSpPr>
          <p:sp>
            <p:nvSpPr>
              <p:cNvPr id="35901" name="Line 19"/>
              <p:cNvSpPr>
                <a:spLocks noChangeShapeType="1"/>
              </p:cNvSpPr>
              <p:nvPr/>
            </p:nvSpPr>
            <p:spPr bwMode="auto">
              <a:xfrm flipH="1">
                <a:off x="3216" y="3120"/>
                <a:ext cx="96"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902" name="Line 20"/>
              <p:cNvSpPr>
                <a:spLocks noChangeShapeType="1"/>
              </p:cNvSpPr>
              <p:nvPr/>
            </p:nvSpPr>
            <p:spPr bwMode="auto">
              <a:xfrm flipH="1">
                <a:off x="3216" y="3168"/>
                <a:ext cx="144"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903" name="Line 21"/>
              <p:cNvSpPr>
                <a:spLocks noChangeShapeType="1"/>
              </p:cNvSpPr>
              <p:nvPr/>
            </p:nvSpPr>
            <p:spPr bwMode="auto">
              <a:xfrm flipH="1">
                <a:off x="3312" y="3216"/>
                <a:ext cx="144"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904" name="Line 22"/>
              <p:cNvSpPr>
                <a:spLocks noChangeShapeType="1"/>
              </p:cNvSpPr>
              <p:nvPr/>
            </p:nvSpPr>
            <p:spPr bwMode="auto">
              <a:xfrm flipH="1">
                <a:off x="3456" y="3264"/>
                <a:ext cx="96"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35895" name="Object 23"/>
            <p:cNvGraphicFramePr>
              <a:graphicFrameLocks noChangeAspect="1"/>
            </p:cNvGraphicFramePr>
            <p:nvPr/>
          </p:nvGraphicFramePr>
          <p:xfrm>
            <a:off x="2317" y="2604"/>
            <a:ext cx="515" cy="332"/>
          </p:xfrm>
          <a:graphic>
            <a:graphicData uri="http://schemas.openxmlformats.org/presentationml/2006/ole">
              <mc:AlternateContent xmlns:mc="http://schemas.openxmlformats.org/markup-compatibility/2006">
                <mc:Choice xmlns:v="urn:schemas-microsoft-com:vml" Requires="v">
                  <p:oleObj spid="_x0000_s62518" name="Equation" r:id="rId13" imgW="333375" imgH="211455" progId="Equation.3">
                    <p:embed/>
                  </p:oleObj>
                </mc:Choice>
                <mc:Fallback>
                  <p:oleObj name="Equation" r:id="rId13" imgW="333375" imgH="211455" progId="Equation.3">
                    <p:embed/>
                    <p:pic>
                      <p:nvPicPr>
                        <p:cNvPr id="0" name="Object 23"/>
                        <p:cNvPicPr>
                          <a:picLocks noChangeAspect="1" noChangeArrowheads="1"/>
                        </p:cNvPicPr>
                        <p:nvPr/>
                      </p:nvPicPr>
                      <p:blipFill>
                        <a:blip r:embed="rId14">
                          <a:lum bright="-100000"/>
                          <a:extLst>
                            <a:ext uri="{28A0092B-C50C-407E-A947-70E740481C1C}">
                              <a14:useLocalDpi xmlns:a14="http://schemas.microsoft.com/office/drawing/2010/main" val="0"/>
                            </a:ext>
                          </a:extLst>
                        </a:blip>
                        <a:srcRect/>
                        <a:stretch>
                          <a:fillRect/>
                        </a:stretch>
                      </p:blipFill>
                      <p:spPr bwMode="auto">
                        <a:xfrm>
                          <a:off x="2317" y="2604"/>
                          <a:ext cx="515" cy="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96" name="Line 24"/>
            <p:cNvSpPr>
              <a:spLocks noChangeShapeType="1"/>
            </p:cNvSpPr>
            <p:nvPr/>
          </p:nvSpPr>
          <p:spPr bwMode="auto">
            <a:xfrm flipH="1">
              <a:off x="2880" y="1968"/>
              <a:ext cx="528" cy="3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5897" name="Object 25"/>
            <p:cNvGraphicFramePr>
              <a:graphicFrameLocks noChangeAspect="1"/>
            </p:cNvGraphicFramePr>
            <p:nvPr/>
          </p:nvGraphicFramePr>
          <p:xfrm>
            <a:off x="3408" y="1812"/>
            <a:ext cx="288" cy="216"/>
          </p:xfrm>
          <a:graphic>
            <a:graphicData uri="http://schemas.openxmlformats.org/presentationml/2006/ole">
              <mc:AlternateContent xmlns:mc="http://schemas.openxmlformats.org/markup-compatibility/2006">
                <mc:Choice xmlns:v="urn:schemas-microsoft-com:vml" Requires="v">
                  <p:oleObj spid="_x0000_s62519" name="Equation" r:id="rId15" imgW="133350" imgH="125095" progId="Equation.3">
                    <p:embed/>
                  </p:oleObj>
                </mc:Choice>
                <mc:Fallback>
                  <p:oleObj name="Equation" r:id="rId15" imgW="133350" imgH="125095" progId="Equation.3">
                    <p:embed/>
                    <p:pic>
                      <p:nvPicPr>
                        <p:cNvPr id="0" name="Object 25"/>
                        <p:cNvPicPr>
                          <a:picLocks noChangeAspect="1" noChangeArrowheads="1"/>
                        </p:cNvPicPr>
                        <p:nvPr/>
                      </p:nvPicPr>
                      <p:blipFill>
                        <a:blip r:embed="rId16">
                          <a:lum bright="-100000"/>
                          <a:extLst>
                            <a:ext uri="{28A0092B-C50C-407E-A947-70E740481C1C}">
                              <a14:useLocalDpi xmlns:a14="http://schemas.microsoft.com/office/drawing/2010/main" val="0"/>
                            </a:ext>
                          </a:extLst>
                        </a:blip>
                        <a:srcRect/>
                        <a:stretch>
                          <a:fillRect/>
                        </a:stretch>
                      </p:blipFill>
                      <p:spPr bwMode="auto">
                        <a:xfrm>
                          <a:off x="3408" y="1812"/>
                          <a:ext cx="288"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5898" name="Group 26"/>
            <p:cNvGrpSpPr/>
            <p:nvPr/>
          </p:nvGrpSpPr>
          <p:grpSpPr bwMode="auto">
            <a:xfrm>
              <a:off x="1130" y="1853"/>
              <a:ext cx="2059" cy="547"/>
              <a:chOff x="1706" y="2717"/>
              <a:chExt cx="2059" cy="547"/>
            </a:xfrm>
          </p:grpSpPr>
          <p:sp>
            <p:nvSpPr>
              <p:cNvPr id="35899" name="Freeform 27"/>
              <p:cNvSpPr/>
              <p:nvPr/>
            </p:nvSpPr>
            <p:spPr bwMode="auto">
              <a:xfrm>
                <a:off x="2748" y="2717"/>
                <a:ext cx="1017" cy="547"/>
              </a:xfrm>
              <a:custGeom>
                <a:avLst/>
                <a:gdLst>
                  <a:gd name="T0" fmla="*/ 1017 w 1017"/>
                  <a:gd name="T1" fmla="*/ 540 h 547"/>
                  <a:gd name="T2" fmla="*/ 675 w 1017"/>
                  <a:gd name="T3" fmla="*/ 469 h 547"/>
                  <a:gd name="T4" fmla="*/ 164 w 1017"/>
                  <a:gd name="T5" fmla="*/ 75 h 547"/>
                  <a:gd name="T6" fmla="*/ 0 w 1017"/>
                  <a:gd name="T7" fmla="*/ 19 h 547"/>
                  <a:gd name="T8" fmla="*/ 0 60000 65536"/>
                  <a:gd name="T9" fmla="*/ 0 60000 65536"/>
                  <a:gd name="T10" fmla="*/ 0 60000 65536"/>
                  <a:gd name="T11" fmla="*/ 0 60000 65536"/>
                  <a:gd name="T12" fmla="*/ 0 w 1017"/>
                  <a:gd name="T13" fmla="*/ 0 h 547"/>
                  <a:gd name="T14" fmla="*/ 1017 w 1017"/>
                  <a:gd name="T15" fmla="*/ 547 h 547"/>
                </a:gdLst>
                <a:ahLst/>
                <a:cxnLst>
                  <a:cxn ang="T8">
                    <a:pos x="T0" y="T1"/>
                  </a:cxn>
                  <a:cxn ang="T9">
                    <a:pos x="T2" y="T3"/>
                  </a:cxn>
                  <a:cxn ang="T10">
                    <a:pos x="T4" y="T5"/>
                  </a:cxn>
                  <a:cxn ang="T11">
                    <a:pos x="T6" y="T7"/>
                  </a:cxn>
                </a:cxnLst>
                <a:rect l="T12" t="T13" r="T14" b="T15"/>
                <a:pathLst>
                  <a:path w="1017" h="547">
                    <a:moveTo>
                      <a:pt x="1017" y="540"/>
                    </a:moveTo>
                    <a:cubicBezTo>
                      <a:pt x="917" y="543"/>
                      <a:pt x="817" y="547"/>
                      <a:pt x="675" y="469"/>
                    </a:cubicBezTo>
                    <a:cubicBezTo>
                      <a:pt x="532" y="392"/>
                      <a:pt x="276" y="150"/>
                      <a:pt x="164" y="75"/>
                    </a:cubicBezTo>
                    <a:cubicBezTo>
                      <a:pt x="52" y="0"/>
                      <a:pt x="34" y="31"/>
                      <a:pt x="0" y="19"/>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900" name="Freeform 28"/>
              <p:cNvSpPr/>
              <p:nvPr/>
            </p:nvSpPr>
            <p:spPr bwMode="auto">
              <a:xfrm>
                <a:off x="1706" y="2719"/>
                <a:ext cx="1054" cy="545"/>
              </a:xfrm>
              <a:custGeom>
                <a:avLst/>
                <a:gdLst>
                  <a:gd name="T0" fmla="*/ 0 w 1054"/>
                  <a:gd name="T1" fmla="*/ 538 h 545"/>
                  <a:gd name="T2" fmla="*/ 342 w 1054"/>
                  <a:gd name="T3" fmla="*/ 467 h 545"/>
                  <a:gd name="T4" fmla="*/ 853 w 1054"/>
                  <a:gd name="T5" fmla="*/ 73 h 545"/>
                  <a:gd name="T6" fmla="*/ 1054 w 1054"/>
                  <a:gd name="T7" fmla="*/ 29 h 545"/>
                  <a:gd name="T8" fmla="*/ 0 60000 65536"/>
                  <a:gd name="T9" fmla="*/ 0 60000 65536"/>
                  <a:gd name="T10" fmla="*/ 0 60000 65536"/>
                  <a:gd name="T11" fmla="*/ 0 60000 65536"/>
                  <a:gd name="T12" fmla="*/ 0 w 1054"/>
                  <a:gd name="T13" fmla="*/ 0 h 545"/>
                  <a:gd name="T14" fmla="*/ 1054 w 1054"/>
                  <a:gd name="T15" fmla="*/ 545 h 545"/>
                </a:gdLst>
                <a:ahLst/>
                <a:cxnLst>
                  <a:cxn ang="T8">
                    <a:pos x="T0" y="T1"/>
                  </a:cxn>
                  <a:cxn ang="T9">
                    <a:pos x="T2" y="T3"/>
                  </a:cxn>
                  <a:cxn ang="T10">
                    <a:pos x="T4" y="T5"/>
                  </a:cxn>
                  <a:cxn ang="T11">
                    <a:pos x="T6" y="T7"/>
                  </a:cxn>
                </a:cxnLst>
                <a:rect l="T12" t="T13" r="T14" b="T15"/>
                <a:pathLst>
                  <a:path w="1054" h="545">
                    <a:moveTo>
                      <a:pt x="0" y="538"/>
                    </a:moveTo>
                    <a:cubicBezTo>
                      <a:pt x="100" y="541"/>
                      <a:pt x="200" y="545"/>
                      <a:pt x="342" y="467"/>
                    </a:cubicBezTo>
                    <a:cubicBezTo>
                      <a:pt x="485" y="390"/>
                      <a:pt x="734" y="146"/>
                      <a:pt x="853" y="73"/>
                    </a:cubicBezTo>
                    <a:cubicBezTo>
                      <a:pt x="972" y="0"/>
                      <a:pt x="1012" y="38"/>
                      <a:pt x="1054" y="29"/>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5" name="Group 29"/>
          <p:cNvGrpSpPr/>
          <p:nvPr/>
        </p:nvGrpSpPr>
        <p:grpSpPr bwMode="auto">
          <a:xfrm>
            <a:off x="3622675" y="2743200"/>
            <a:ext cx="2454275" cy="1489075"/>
            <a:chOff x="2124" y="1824"/>
            <a:chExt cx="1546" cy="938"/>
          </a:xfrm>
        </p:grpSpPr>
        <p:sp>
          <p:nvSpPr>
            <p:cNvPr id="35879" name="Line 30"/>
            <p:cNvSpPr>
              <a:spLocks noChangeShapeType="1"/>
            </p:cNvSpPr>
            <p:nvPr/>
          </p:nvSpPr>
          <p:spPr bwMode="auto">
            <a:xfrm>
              <a:off x="2172" y="2439"/>
              <a:ext cx="149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80" name="Line 31"/>
            <p:cNvSpPr>
              <a:spLocks noChangeShapeType="1"/>
            </p:cNvSpPr>
            <p:nvPr/>
          </p:nvSpPr>
          <p:spPr bwMode="auto">
            <a:xfrm>
              <a:off x="2744" y="1824"/>
              <a:ext cx="0" cy="6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81" name="Line 32"/>
            <p:cNvSpPr>
              <a:spLocks noChangeShapeType="1"/>
            </p:cNvSpPr>
            <p:nvPr/>
          </p:nvSpPr>
          <p:spPr bwMode="auto">
            <a:xfrm>
              <a:off x="2448" y="2208"/>
              <a:ext cx="0" cy="23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5882" name="Object 33"/>
            <p:cNvGraphicFramePr>
              <a:graphicFrameLocks noChangeAspect="1"/>
            </p:cNvGraphicFramePr>
            <p:nvPr/>
          </p:nvGraphicFramePr>
          <p:xfrm>
            <a:off x="2124" y="2496"/>
            <a:ext cx="365" cy="266"/>
          </p:xfrm>
          <a:graphic>
            <a:graphicData uri="http://schemas.openxmlformats.org/presentationml/2006/ole">
              <mc:AlternateContent xmlns:mc="http://schemas.openxmlformats.org/markup-compatibility/2006">
                <mc:Choice xmlns:v="urn:schemas-microsoft-com:vml" Requires="v">
                  <p:oleObj spid="_x0000_s62520" name="Equation" r:id="rId17" imgW="428625" imgH="211455" progId="Equation.3">
                    <p:embed/>
                  </p:oleObj>
                </mc:Choice>
                <mc:Fallback>
                  <p:oleObj name="Equation" r:id="rId17" imgW="428625" imgH="211455" progId="Equation.3">
                    <p:embed/>
                    <p:pic>
                      <p:nvPicPr>
                        <p:cNvPr id="0" name="Object 33"/>
                        <p:cNvPicPr>
                          <a:picLocks noChangeAspect="1" noChangeArrowheads="1"/>
                        </p:cNvPicPr>
                        <p:nvPr/>
                      </p:nvPicPr>
                      <p:blipFill>
                        <a:blip r:embed="rId18">
                          <a:lum bright="-100000"/>
                          <a:extLst>
                            <a:ext uri="{28A0092B-C50C-407E-A947-70E740481C1C}">
                              <a14:useLocalDpi xmlns:a14="http://schemas.microsoft.com/office/drawing/2010/main" val="0"/>
                            </a:ext>
                          </a:extLst>
                        </a:blip>
                        <a:srcRect/>
                        <a:stretch>
                          <a:fillRect/>
                        </a:stretch>
                      </p:blipFill>
                      <p:spPr bwMode="auto">
                        <a:xfrm>
                          <a:off x="2124" y="2496"/>
                          <a:ext cx="365" cy="2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83" name="Object 34"/>
            <p:cNvGraphicFramePr>
              <a:graphicFrameLocks noChangeAspect="1"/>
            </p:cNvGraphicFramePr>
            <p:nvPr/>
          </p:nvGraphicFramePr>
          <p:xfrm>
            <a:off x="2160" y="1968"/>
            <a:ext cx="164" cy="173"/>
          </p:xfrm>
          <a:graphic>
            <a:graphicData uri="http://schemas.openxmlformats.org/presentationml/2006/ole">
              <mc:AlternateContent xmlns:mc="http://schemas.openxmlformats.org/markup-compatibility/2006">
                <mc:Choice xmlns:v="urn:schemas-microsoft-com:vml" Requires="v">
                  <p:oleObj spid="_x0000_s62521" name="Equation" r:id="rId19" imgW="133350" imgH="125095" progId="Equation.3">
                    <p:embed/>
                  </p:oleObj>
                </mc:Choice>
                <mc:Fallback>
                  <p:oleObj name="Equation" r:id="rId19" imgW="133350" imgH="125095" progId="Equation.3">
                    <p:embed/>
                    <p:pic>
                      <p:nvPicPr>
                        <p:cNvPr id="0" name="Object 34"/>
                        <p:cNvPicPr>
                          <a:picLocks noChangeAspect="1" noChangeArrowheads="1"/>
                        </p:cNvPicPr>
                        <p:nvPr/>
                      </p:nvPicPr>
                      <p:blipFill>
                        <a:blip r:embed="rId20">
                          <a:lum bright="-100000"/>
                          <a:extLst>
                            <a:ext uri="{28A0092B-C50C-407E-A947-70E740481C1C}">
                              <a14:useLocalDpi xmlns:a14="http://schemas.microsoft.com/office/drawing/2010/main" val="0"/>
                            </a:ext>
                          </a:extLst>
                        </a:blip>
                        <a:srcRect/>
                        <a:stretch>
                          <a:fillRect/>
                        </a:stretch>
                      </p:blipFill>
                      <p:spPr bwMode="auto">
                        <a:xfrm>
                          <a:off x="2160" y="1968"/>
                          <a:ext cx="164"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5884" name="Group 35"/>
            <p:cNvGrpSpPr/>
            <p:nvPr/>
          </p:nvGrpSpPr>
          <p:grpSpPr bwMode="auto">
            <a:xfrm>
              <a:off x="2160" y="1924"/>
              <a:ext cx="1168" cy="438"/>
              <a:chOff x="1706" y="2717"/>
              <a:chExt cx="2059" cy="547"/>
            </a:xfrm>
          </p:grpSpPr>
          <p:sp>
            <p:nvSpPr>
              <p:cNvPr id="35889" name="Freeform 36"/>
              <p:cNvSpPr/>
              <p:nvPr/>
            </p:nvSpPr>
            <p:spPr bwMode="auto">
              <a:xfrm>
                <a:off x="2748" y="2717"/>
                <a:ext cx="1017" cy="547"/>
              </a:xfrm>
              <a:custGeom>
                <a:avLst/>
                <a:gdLst>
                  <a:gd name="T0" fmla="*/ 1017 w 1017"/>
                  <a:gd name="T1" fmla="*/ 540 h 547"/>
                  <a:gd name="T2" fmla="*/ 675 w 1017"/>
                  <a:gd name="T3" fmla="*/ 469 h 547"/>
                  <a:gd name="T4" fmla="*/ 164 w 1017"/>
                  <a:gd name="T5" fmla="*/ 75 h 547"/>
                  <a:gd name="T6" fmla="*/ 0 w 1017"/>
                  <a:gd name="T7" fmla="*/ 19 h 547"/>
                  <a:gd name="T8" fmla="*/ 0 60000 65536"/>
                  <a:gd name="T9" fmla="*/ 0 60000 65536"/>
                  <a:gd name="T10" fmla="*/ 0 60000 65536"/>
                  <a:gd name="T11" fmla="*/ 0 60000 65536"/>
                  <a:gd name="T12" fmla="*/ 0 w 1017"/>
                  <a:gd name="T13" fmla="*/ 0 h 547"/>
                  <a:gd name="T14" fmla="*/ 1017 w 1017"/>
                  <a:gd name="T15" fmla="*/ 547 h 547"/>
                </a:gdLst>
                <a:ahLst/>
                <a:cxnLst>
                  <a:cxn ang="T8">
                    <a:pos x="T0" y="T1"/>
                  </a:cxn>
                  <a:cxn ang="T9">
                    <a:pos x="T2" y="T3"/>
                  </a:cxn>
                  <a:cxn ang="T10">
                    <a:pos x="T4" y="T5"/>
                  </a:cxn>
                  <a:cxn ang="T11">
                    <a:pos x="T6" y="T7"/>
                  </a:cxn>
                </a:cxnLst>
                <a:rect l="T12" t="T13" r="T14" b="T15"/>
                <a:pathLst>
                  <a:path w="1017" h="547">
                    <a:moveTo>
                      <a:pt x="1017" y="540"/>
                    </a:moveTo>
                    <a:cubicBezTo>
                      <a:pt x="917" y="543"/>
                      <a:pt x="817" y="547"/>
                      <a:pt x="675" y="469"/>
                    </a:cubicBezTo>
                    <a:cubicBezTo>
                      <a:pt x="532" y="392"/>
                      <a:pt x="276" y="150"/>
                      <a:pt x="164" y="75"/>
                    </a:cubicBezTo>
                    <a:cubicBezTo>
                      <a:pt x="52" y="0"/>
                      <a:pt x="34" y="31"/>
                      <a:pt x="0" y="19"/>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890" name="Freeform 37"/>
              <p:cNvSpPr/>
              <p:nvPr/>
            </p:nvSpPr>
            <p:spPr bwMode="auto">
              <a:xfrm>
                <a:off x="1706" y="2719"/>
                <a:ext cx="1054" cy="545"/>
              </a:xfrm>
              <a:custGeom>
                <a:avLst/>
                <a:gdLst>
                  <a:gd name="T0" fmla="*/ 0 w 1054"/>
                  <a:gd name="T1" fmla="*/ 538 h 545"/>
                  <a:gd name="T2" fmla="*/ 342 w 1054"/>
                  <a:gd name="T3" fmla="*/ 467 h 545"/>
                  <a:gd name="T4" fmla="*/ 853 w 1054"/>
                  <a:gd name="T5" fmla="*/ 73 h 545"/>
                  <a:gd name="T6" fmla="*/ 1054 w 1054"/>
                  <a:gd name="T7" fmla="*/ 29 h 545"/>
                  <a:gd name="T8" fmla="*/ 0 60000 65536"/>
                  <a:gd name="T9" fmla="*/ 0 60000 65536"/>
                  <a:gd name="T10" fmla="*/ 0 60000 65536"/>
                  <a:gd name="T11" fmla="*/ 0 60000 65536"/>
                  <a:gd name="T12" fmla="*/ 0 w 1054"/>
                  <a:gd name="T13" fmla="*/ 0 h 545"/>
                  <a:gd name="T14" fmla="*/ 1054 w 1054"/>
                  <a:gd name="T15" fmla="*/ 545 h 545"/>
                </a:gdLst>
                <a:ahLst/>
                <a:cxnLst>
                  <a:cxn ang="T8">
                    <a:pos x="T0" y="T1"/>
                  </a:cxn>
                  <a:cxn ang="T9">
                    <a:pos x="T2" y="T3"/>
                  </a:cxn>
                  <a:cxn ang="T10">
                    <a:pos x="T4" y="T5"/>
                  </a:cxn>
                  <a:cxn ang="T11">
                    <a:pos x="T6" y="T7"/>
                  </a:cxn>
                </a:cxnLst>
                <a:rect l="T12" t="T13" r="T14" b="T15"/>
                <a:pathLst>
                  <a:path w="1054" h="545">
                    <a:moveTo>
                      <a:pt x="0" y="538"/>
                    </a:moveTo>
                    <a:cubicBezTo>
                      <a:pt x="100" y="541"/>
                      <a:pt x="200" y="545"/>
                      <a:pt x="342" y="467"/>
                    </a:cubicBezTo>
                    <a:cubicBezTo>
                      <a:pt x="485" y="390"/>
                      <a:pt x="734" y="146"/>
                      <a:pt x="853" y="73"/>
                    </a:cubicBezTo>
                    <a:cubicBezTo>
                      <a:pt x="972" y="0"/>
                      <a:pt x="1012" y="38"/>
                      <a:pt x="1054" y="29"/>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5885" name="Line 38"/>
            <p:cNvSpPr>
              <a:spLocks noChangeShapeType="1"/>
            </p:cNvSpPr>
            <p:nvPr/>
          </p:nvSpPr>
          <p:spPr bwMode="auto">
            <a:xfrm>
              <a:off x="2256" y="2160"/>
              <a:ext cx="96" cy="192"/>
            </a:xfrm>
            <a:prstGeom prst="line">
              <a:avLst/>
            </a:prstGeom>
            <a:noFill/>
            <a:ln w="28575">
              <a:solidFill>
                <a:srgbClr val="00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86" name="Line 39"/>
            <p:cNvSpPr>
              <a:spLocks noChangeShapeType="1"/>
            </p:cNvSpPr>
            <p:nvPr/>
          </p:nvSpPr>
          <p:spPr bwMode="auto">
            <a:xfrm flipH="1">
              <a:off x="2304" y="2256"/>
              <a:ext cx="96" cy="19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87" name="Line 40"/>
            <p:cNvSpPr>
              <a:spLocks noChangeShapeType="1"/>
            </p:cNvSpPr>
            <p:nvPr/>
          </p:nvSpPr>
          <p:spPr bwMode="auto">
            <a:xfrm flipH="1">
              <a:off x="2256" y="2304"/>
              <a:ext cx="48"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88" name="Line 41"/>
            <p:cNvSpPr>
              <a:spLocks noChangeShapeType="1"/>
            </p:cNvSpPr>
            <p:nvPr/>
          </p:nvSpPr>
          <p:spPr bwMode="auto">
            <a:xfrm flipH="1">
              <a:off x="2400" y="2256"/>
              <a:ext cx="48" cy="19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08938" name="Text Box 42"/>
          <p:cNvSpPr txBox="1">
            <a:spLocks noChangeArrowheads="1"/>
          </p:cNvSpPr>
          <p:nvPr/>
        </p:nvSpPr>
        <p:spPr bwMode="auto">
          <a:xfrm>
            <a:off x="574675" y="51816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ea typeface="楷体_GB2312" pitchFamily="49" charset="-122"/>
              </a:rPr>
              <a:t>例</a:t>
            </a:r>
          </a:p>
        </p:txBody>
      </p:sp>
      <p:graphicFrame>
        <p:nvGraphicFramePr>
          <p:cNvPr id="208939" name="Object 43"/>
          <p:cNvGraphicFramePr>
            <a:graphicFrameLocks noChangeAspect="1"/>
          </p:cNvGraphicFramePr>
          <p:nvPr/>
        </p:nvGraphicFramePr>
        <p:xfrm>
          <a:off x="1870075" y="5257800"/>
          <a:ext cx="4724400" cy="481013"/>
        </p:xfrm>
        <a:graphic>
          <a:graphicData uri="http://schemas.openxmlformats.org/presentationml/2006/ole">
            <mc:AlternateContent xmlns:mc="http://schemas.openxmlformats.org/markup-compatibility/2006">
              <mc:Choice xmlns:v="urn:schemas-microsoft-com:vml" Requires="v">
                <p:oleObj spid="_x0000_s62522" name="Equation" r:id="rId21" imgW="2228850" imgH="211455" progId="Equation.3">
                  <p:embed/>
                </p:oleObj>
              </mc:Choice>
              <mc:Fallback>
                <p:oleObj name="Equation" r:id="rId21" imgW="2228850" imgH="211455" progId="Equation.3">
                  <p:embed/>
                  <p:pic>
                    <p:nvPicPr>
                      <p:cNvPr id="0" name="Object 43"/>
                      <p:cNvPicPr>
                        <a:picLocks noChangeAspect="1" noChangeArrowheads="1"/>
                      </p:cNvPicPr>
                      <p:nvPr/>
                    </p:nvPicPr>
                    <p:blipFill>
                      <a:blip r:embed="rId22">
                        <a:lum bright="-100000"/>
                        <a:extLst>
                          <a:ext uri="{28A0092B-C50C-407E-A947-70E740481C1C}">
                            <a14:useLocalDpi xmlns:a14="http://schemas.microsoft.com/office/drawing/2010/main" val="0"/>
                          </a:ext>
                        </a:extLst>
                      </a:blip>
                      <a:srcRect/>
                      <a:stretch>
                        <a:fillRect/>
                      </a:stretch>
                    </p:blipFill>
                    <p:spPr bwMode="auto">
                      <a:xfrm>
                        <a:off x="1870075" y="5257800"/>
                        <a:ext cx="4724400" cy="481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 name="Group 44"/>
          <p:cNvGrpSpPr/>
          <p:nvPr/>
        </p:nvGrpSpPr>
        <p:grpSpPr bwMode="auto">
          <a:xfrm>
            <a:off x="6670675" y="2590800"/>
            <a:ext cx="2473325" cy="1843088"/>
            <a:chOff x="4032" y="1830"/>
            <a:chExt cx="1558" cy="1161"/>
          </a:xfrm>
        </p:grpSpPr>
        <p:sp>
          <p:nvSpPr>
            <p:cNvPr id="35862" name="Line 45"/>
            <p:cNvSpPr>
              <a:spLocks noChangeShapeType="1"/>
            </p:cNvSpPr>
            <p:nvPr/>
          </p:nvSpPr>
          <p:spPr bwMode="auto">
            <a:xfrm>
              <a:off x="4092" y="2535"/>
              <a:ext cx="149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63" name="Line 46"/>
            <p:cNvSpPr>
              <a:spLocks noChangeShapeType="1"/>
            </p:cNvSpPr>
            <p:nvPr/>
          </p:nvSpPr>
          <p:spPr bwMode="auto">
            <a:xfrm>
              <a:off x="4664" y="1920"/>
              <a:ext cx="0" cy="6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64" name="Line 47"/>
            <p:cNvSpPr>
              <a:spLocks noChangeShapeType="1"/>
            </p:cNvSpPr>
            <p:nvPr/>
          </p:nvSpPr>
          <p:spPr bwMode="auto">
            <a:xfrm flipH="1">
              <a:off x="5136" y="2208"/>
              <a:ext cx="336" cy="22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65" name="Line 48"/>
            <p:cNvSpPr>
              <a:spLocks noChangeShapeType="1"/>
            </p:cNvSpPr>
            <p:nvPr/>
          </p:nvSpPr>
          <p:spPr bwMode="auto">
            <a:xfrm flipH="1">
              <a:off x="5088" y="2400"/>
              <a:ext cx="81" cy="11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66" name="Line 49"/>
            <p:cNvSpPr>
              <a:spLocks noChangeShapeType="1"/>
            </p:cNvSpPr>
            <p:nvPr/>
          </p:nvSpPr>
          <p:spPr bwMode="auto">
            <a:xfrm flipH="1">
              <a:off x="5184" y="2448"/>
              <a:ext cx="82"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67" name="Line 50"/>
            <p:cNvSpPr>
              <a:spLocks noChangeShapeType="1"/>
            </p:cNvSpPr>
            <p:nvPr/>
          </p:nvSpPr>
          <p:spPr bwMode="auto">
            <a:xfrm flipH="1">
              <a:off x="5272" y="2467"/>
              <a:ext cx="54" cy="7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5868" name="Object 51"/>
            <p:cNvGraphicFramePr>
              <a:graphicFrameLocks noChangeAspect="1"/>
            </p:cNvGraphicFramePr>
            <p:nvPr/>
          </p:nvGraphicFramePr>
          <p:xfrm>
            <a:off x="5040" y="2592"/>
            <a:ext cx="303" cy="399"/>
          </p:xfrm>
          <a:graphic>
            <a:graphicData uri="http://schemas.openxmlformats.org/presentationml/2006/ole">
              <mc:AlternateContent xmlns:mc="http://schemas.openxmlformats.org/markup-compatibility/2006">
                <mc:Choice xmlns:v="urn:schemas-microsoft-com:vml" Requires="v">
                  <p:oleObj spid="_x0000_s62523" name="Equation" r:id="rId23" imgW="352425" imgH="327025" progId="Equation.3">
                    <p:embed/>
                  </p:oleObj>
                </mc:Choice>
                <mc:Fallback>
                  <p:oleObj name="Equation" r:id="rId23" imgW="352425" imgH="327025" progId="Equation.3">
                    <p:embed/>
                    <p:pic>
                      <p:nvPicPr>
                        <p:cNvPr id="0" name="Object 51"/>
                        <p:cNvPicPr>
                          <a:picLocks noChangeAspect="1" noChangeArrowheads="1"/>
                        </p:cNvPicPr>
                        <p:nvPr/>
                      </p:nvPicPr>
                      <p:blipFill>
                        <a:blip r:embed="rId24">
                          <a:lum bright="-100000"/>
                          <a:extLst>
                            <a:ext uri="{28A0092B-C50C-407E-A947-70E740481C1C}">
                              <a14:useLocalDpi xmlns:a14="http://schemas.microsoft.com/office/drawing/2010/main" val="0"/>
                            </a:ext>
                          </a:extLst>
                        </a:blip>
                        <a:srcRect/>
                        <a:stretch>
                          <a:fillRect/>
                        </a:stretch>
                      </p:blipFill>
                      <p:spPr bwMode="auto">
                        <a:xfrm>
                          <a:off x="5040" y="2592"/>
                          <a:ext cx="303" cy="3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69" name="Object 52"/>
            <p:cNvGraphicFramePr>
              <a:graphicFrameLocks noChangeAspect="1"/>
            </p:cNvGraphicFramePr>
            <p:nvPr/>
          </p:nvGraphicFramePr>
          <p:xfrm>
            <a:off x="5358" y="1830"/>
            <a:ext cx="192" cy="487"/>
          </p:xfrm>
          <a:graphic>
            <a:graphicData uri="http://schemas.openxmlformats.org/presentationml/2006/ole">
              <mc:AlternateContent xmlns:mc="http://schemas.openxmlformats.org/markup-compatibility/2006">
                <mc:Choice xmlns:v="urn:schemas-microsoft-com:vml" Requires="v">
                  <p:oleObj spid="_x0000_s62524" name="Equation" r:id="rId25" imgW="161925" imgH="375285" progId="Equation.3">
                    <p:embed/>
                  </p:oleObj>
                </mc:Choice>
                <mc:Fallback>
                  <p:oleObj name="Equation" r:id="rId25" imgW="161925" imgH="375285" progId="Equation.3">
                    <p:embed/>
                    <p:pic>
                      <p:nvPicPr>
                        <p:cNvPr id="0" name="Object 52"/>
                        <p:cNvPicPr>
                          <a:picLocks noChangeAspect="1" noChangeArrowheads="1"/>
                        </p:cNvPicPr>
                        <p:nvPr/>
                      </p:nvPicPr>
                      <p:blipFill>
                        <a:blip r:embed="rId26">
                          <a:lum bright="-100000"/>
                          <a:extLst>
                            <a:ext uri="{28A0092B-C50C-407E-A947-70E740481C1C}">
                              <a14:useLocalDpi xmlns:a14="http://schemas.microsoft.com/office/drawing/2010/main" val="0"/>
                            </a:ext>
                          </a:extLst>
                        </a:blip>
                        <a:srcRect/>
                        <a:stretch>
                          <a:fillRect/>
                        </a:stretch>
                      </p:blipFill>
                      <p:spPr bwMode="auto">
                        <a:xfrm>
                          <a:off x="5358" y="1830"/>
                          <a:ext cx="192" cy="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5870" name="Group 53"/>
            <p:cNvGrpSpPr/>
            <p:nvPr/>
          </p:nvGrpSpPr>
          <p:grpSpPr bwMode="auto">
            <a:xfrm>
              <a:off x="4080" y="2016"/>
              <a:ext cx="1200" cy="384"/>
              <a:chOff x="1706" y="2717"/>
              <a:chExt cx="2059" cy="547"/>
            </a:xfrm>
          </p:grpSpPr>
          <p:sp>
            <p:nvSpPr>
              <p:cNvPr id="35877" name="Freeform 54"/>
              <p:cNvSpPr/>
              <p:nvPr/>
            </p:nvSpPr>
            <p:spPr bwMode="auto">
              <a:xfrm>
                <a:off x="2748" y="2717"/>
                <a:ext cx="1017" cy="547"/>
              </a:xfrm>
              <a:custGeom>
                <a:avLst/>
                <a:gdLst>
                  <a:gd name="T0" fmla="*/ 1017 w 1017"/>
                  <a:gd name="T1" fmla="*/ 540 h 547"/>
                  <a:gd name="T2" fmla="*/ 675 w 1017"/>
                  <a:gd name="T3" fmla="*/ 469 h 547"/>
                  <a:gd name="T4" fmla="*/ 164 w 1017"/>
                  <a:gd name="T5" fmla="*/ 75 h 547"/>
                  <a:gd name="T6" fmla="*/ 0 w 1017"/>
                  <a:gd name="T7" fmla="*/ 19 h 547"/>
                  <a:gd name="T8" fmla="*/ 0 60000 65536"/>
                  <a:gd name="T9" fmla="*/ 0 60000 65536"/>
                  <a:gd name="T10" fmla="*/ 0 60000 65536"/>
                  <a:gd name="T11" fmla="*/ 0 60000 65536"/>
                  <a:gd name="T12" fmla="*/ 0 w 1017"/>
                  <a:gd name="T13" fmla="*/ 0 h 547"/>
                  <a:gd name="T14" fmla="*/ 1017 w 1017"/>
                  <a:gd name="T15" fmla="*/ 547 h 547"/>
                </a:gdLst>
                <a:ahLst/>
                <a:cxnLst>
                  <a:cxn ang="T8">
                    <a:pos x="T0" y="T1"/>
                  </a:cxn>
                  <a:cxn ang="T9">
                    <a:pos x="T2" y="T3"/>
                  </a:cxn>
                  <a:cxn ang="T10">
                    <a:pos x="T4" y="T5"/>
                  </a:cxn>
                  <a:cxn ang="T11">
                    <a:pos x="T6" y="T7"/>
                  </a:cxn>
                </a:cxnLst>
                <a:rect l="T12" t="T13" r="T14" b="T15"/>
                <a:pathLst>
                  <a:path w="1017" h="547">
                    <a:moveTo>
                      <a:pt x="1017" y="540"/>
                    </a:moveTo>
                    <a:cubicBezTo>
                      <a:pt x="917" y="543"/>
                      <a:pt x="817" y="547"/>
                      <a:pt x="675" y="469"/>
                    </a:cubicBezTo>
                    <a:cubicBezTo>
                      <a:pt x="532" y="392"/>
                      <a:pt x="276" y="150"/>
                      <a:pt x="164" y="75"/>
                    </a:cubicBezTo>
                    <a:cubicBezTo>
                      <a:pt x="52" y="0"/>
                      <a:pt x="34" y="31"/>
                      <a:pt x="0" y="19"/>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878" name="Freeform 55"/>
              <p:cNvSpPr/>
              <p:nvPr/>
            </p:nvSpPr>
            <p:spPr bwMode="auto">
              <a:xfrm>
                <a:off x="1706" y="2719"/>
                <a:ext cx="1054" cy="545"/>
              </a:xfrm>
              <a:custGeom>
                <a:avLst/>
                <a:gdLst>
                  <a:gd name="T0" fmla="*/ 0 w 1054"/>
                  <a:gd name="T1" fmla="*/ 538 h 545"/>
                  <a:gd name="T2" fmla="*/ 342 w 1054"/>
                  <a:gd name="T3" fmla="*/ 467 h 545"/>
                  <a:gd name="T4" fmla="*/ 853 w 1054"/>
                  <a:gd name="T5" fmla="*/ 73 h 545"/>
                  <a:gd name="T6" fmla="*/ 1054 w 1054"/>
                  <a:gd name="T7" fmla="*/ 29 h 545"/>
                  <a:gd name="T8" fmla="*/ 0 60000 65536"/>
                  <a:gd name="T9" fmla="*/ 0 60000 65536"/>
                  <a:gd name="T10" fmla="*/ 0 60000 65536"/>
                  <a:gd name="T11" fmla="*/ 0 60000 65536"/>
                  <a:gd name="T12" fmla="*/ 0 w 1054"/>
                  <a:gd name="T13" fmla="*/ 0 h 545"/>
                  <a:gd name="T14" fmla="*/ 1054 w 1054"/>
                  <a:gd name="T15" fmla="*/ 545 h 545"/>
                </a:gdLst>
                <a:ahLst/>
                <a:cxnLst>
                  <a:cxn ang="T8">
                    <a:pos x="T0" y="T1"/>
                  </a:cxn>
                  <a:cxn ang="T9">
                    <a:pos x="T2" y="T3"/>
                  </a:cxn>
                  <a:cxn ang="T10">
                    <a:pos x="T4" y="T5"/>
                  </a:cxn>
                  <a:cxn ang="T11">
                    <a:pos x="T6" y="T7"/>
                  </a:cxn>
                </a:cxnLst>
                <a:rect l="T12" t="T13" r="T14" b="T15"/>
                <a:pathLst>
                  <a:path w="1054" h="545">
                    <a:moveTo>
                      <a:pt x="0" y="538"/>
                    </a:moveTo>
                    <a:cubicBezTo>
                      <a:pt x="100" y="541"/>
                      <a:pt x="200" y="545"/>
                      <a:pt x="342" y="467"/>
                    </a:cubicBezTo>
                    <a:cubicBezTo>
                      <a:pt x="485" y="390"/>
                      <a:pt x="734" y="146"/>
                      <a:pt x="853" y="73"/>
                    </a:cubicBezTo>
                    <a:cubicBezTo>
                      <a:pt x="972" y="0"/>
                      <a:pt x="1012" y="38"/>
                      <a:pt x="1054" y="29"/>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5871" name="Line 56"/>
            <p:cNvSpPr>
              <a:spLocks noChangeShapeType="1"/>
            </p:cNvSpPr>
            <p:nvPr/>
          </p:nvSpPr>
          <p:spPr bwMode="auto">
            <a:xfrm>
              <a:off x="4128" y="2400"/>
              <a:ext cx="48"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72" name="Line 57"/>
            <p:cNvSpPr>
              <a:spLocks noChangeShapeType="1"/>
            </p:cNvSpPr>
            <p:nvPr/>
          </p:nvSpPr>
          <p:spPr bwMode="auto">
            <a:xfrm>
              <a:off x="5040" y="2352"/>
              <a:ext cx="0" cy="19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73" name="Line 58"/>
            <p:cNvSpPr>
              <a:spLocks noChangeShapeType="1"/>
            </p:cNvSpPr>
            <p:nvPr/>
          </p:nvSpPr>
          <p:spPr bwMode="auto">
            <a:xfrm>
              <a:off x="4320" y="2352"/>
              <a:ext cx="0" cy="19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74" name="Line 59"/>
            <p:cNvSpPr>
              <a:spLocks noChangeShapeType="1"/>
            </p:cNvSpPr>
            <p:nvPr/>
          </p:nvSpPr>
          <p:spPr bwMode="auto">
            <a:xfrm>
              <a:off x="4224" y="2400"/>
              <a:ext cx="96"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5875" name="Object 60"/>
            <p:cNvGraphicFramePr>
              <a:graphicFrameLocks noChangeAspect="1"/>
            </p:cNvGraphicFramePr>
            <p:nvPr/>
          </p:nvGraphicFramePr>
          <p:xfrm>
            <a:off x="4032" y="1872"/>
            <a:ext cx="192" cy="487"/>
          </p:xfrm>
          <a:graphic>
            <a:graphicData uri="http://schemas.openxmlformats.org/presentationml/2006/ole">
              <mc:AlternateContent xmlns:mc="http://schemas.openxmlformats.org/markup-compatibility/2006">
                <mc:Choice xmlns:v="urn:schemas-microsoft-com:vml" Requires="v">
                  <p:oleObj spid="_x0000_s62525" name="Equation" r:id="rId27" imgW="161925" imgH="375285" progId="Equation.3">
                    <p:embed/>
                  </p:oleObj>
                </mc:Choice>
                <mc:Fallback>
                  <p:oleObj name="Equation" r:id="rId27" imgW="161925" imgH="375285" progId="Equation.3">
                    <p:embed/>
                    <p:pic>
                      <p:nvPicPr>
                        <p:cNvPr id="0" name="Object 60"/>
                        <p:cNvPicPr>
                          <a:picLocks noChangeAspect="1" noChangeArrowheads="1"/>
                        </p:cNvPicPr>
                        <p:nvPr/>
                      </p:nvPicPr>
                      <p:blipFill>
                        <a:blip r:embed="rId28">
                          <a:lum bright="-100000"/>
                          <a:extLst>
                            <a:ext uri="{28A0092B-C50C-407E-A947-70E740481C1C}">
                              <a14:useLocalDpi xmlns:a14="http://schemas.microsoft.com/office/drawing/2010/main" val="0"/>
                            </a:ext>
                          </a:extLst>
                        </a:blip>
                        <a:srcRect/>
                        <a:stretch>
                          <a:fillRect/>
                        </a:stretch>
                      </p:blipFill>
                      <p:spPr bwMode="auto">
                        <a:xfrm>
                          <a:off x="4032" y="1872"/>
                          <a:ext cx="192" cy="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76" name="Object 61"/>
            <p:cNvGraphicFramePr>
              <a:graphicFrameLocks noChangeAspect="1"/>
            </p:cNvGraphicFramePr>
            <p:nvPr/>
          </p:nvGraphicFramePr>
          <p:xfrm>
            <a:off x="4128" y="2544"/>
            <a:ext cx="397" cy="399"/>
          </p:xfrm>
          <a:graphic>
            <a:graphicData uri="http://schemas.openxmlformats.org/presentationml/2006/ole">
              <mc:AlternateContent xmlns:mc="http://schemas.openxmlformats.org/markup-compatibility/2006">
                <mc:Choice xmlns:v="urn:schemas-microsoft-com:vml" Requires="v">
                  <p:oleObj spid="_x0000_s62526" name="Equation" r:id="rId29" imgW="466725" imgH="327025" progId="Equation.3">
                    <p:embed/>
                  </p:oleObj>
                </mc:Choice>
                <mc:Fallback>
                  <p:oleObj name="Equation" r:id="rId29" imgW="466725" imgH="327025" progId="Equation.3">
                    <p:embed/>
                    <p:pic>
                      <p:nvPicPr>
                        <p:cNvPr id="0" name="Object 61"/>
                        <p:cNvPicPr>
                          <a:picLocks noChangeAspect="1" noChangeArrowheads="1"/>
                        </p:cNvPicPr>
                        <p:nvPr/>
                      </p:nvPicPr>
                      <p:blipFill>
                        <a:blip r:embed="rId30">
                          <a:lum bright="-100000"/>
                          <a:extLst>
                            <a:ext uri="{28A0092B-C50C-407E-A947-70E740481C1C}">
                              <a14:useLocalDpi xmlns:a14="http://schemas.microsoft.com/office/drawing/2010/main" val="0"/>
                            </a:ext>
                          </a:extLst>
                        </a:blip>
                        <a:srcRect/>
                        <a:stretch>
                          <a:fillRect/>
                        </a:stretch>
                      </p:blipFill>
                      <p:spPr bwMode="auto">
                        <a:xfrm>
                          <a:off x="4128" y="2544"/>
                          <a:ext cx="397" cy="3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35859" name="Object 62"/>
          <p:cNvGraphicFramePr>
            <a:graphicFrameLocks noChangeAspect="1"/>
          </p:cNvGraphicFramePr>
          <p:nvPr/>
        </p:nvGraphicFramePr>
        <p:xfrm>
          <a:off x="4784725" y="3168650"/>
          <a:ext cx="114300" cy="215900"/>
        </p:xfrm>
        <a:graphic>
          <a:graphicData uri="http://schemas.openxmlformats.org/presentationml/2006/ole">
            <mc:AlternateContent xmlns:mc="http://schemas.openxmlformats.org/markup-compatibility/2006">
              <mc:Choice xmlns:v="urn:schemas-microsoft-com:vml" Requires="v">
                <p:oleObj spid="_x0000_s62527" name="Equation" r:id="rId31" imgW="114300" imgH="215900" progId="Equation.3">
                  <p:embed/>
                </p:oleObj>
              </mc:Choice>
              <mc:Fallback>
                <p:oleObj name="Equation" r:id="rId31" imgW="114300" imgH="215900" progId="Equation.3">
                  <p:embed/>
                  <p:pic>
                    <p:nvPicPr>
                      <p:cNvPr id="0" name="Object 62"/>
                      <p:cNvPicPr>
                        <a:picLocks noChangeAspect="1" noChangeArrowheads="1"/>
                      </p:cNvPicPr>
                      <p:nvPr/>
                    </p:nvPicPr>
                    <p:blipFill>
                      <a:blip r:embed="rId32">
                        <a:lum bright="-100000"/>
                        <a:extLst>
                          <a:ext uri="{28A0092B-C50C-407E-A947-70E740481C1C}">
                            <a14:useLocalDpi xmlns:a14="http://schemas.microsoft.com/office/drawing/2010/main" val="0"/>
                          </a:ext>
                        </a:extLst>
                      </a:blip>
                      <a:srcRect/>
                      <a:stretch>
                        <a:fillRect/>
                      </a:stretch>
                    </p:blipFill>
                    <p:spPr bwMode="auto">
                      <a:xfrm>
                        <a:off x="4784725" y="31686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8959" name="Object 63"/>
          <p:cNvGraphicFramePr>
            <a:graphicFrameLocks noChangeAspect="1"/>
          </p:cNvGraphicFramePr>
          <p:nvPr/>
        </p:nvGraphicFramePr>
        <p:xfrm>
          <a:off x="1108075" y="5867400"/>
          <a:ext cx="2362200" cy="528638"/>
        </p:xfrm>
        <a:graphic>
          <a:graphicData uri="http://schemas.openxmlformats.org/presentationml/2006/ole">
            <mc:AlternateContent xmlns:mc="http://schemas.openxmlformats.org/markup-compatibility/2006">
              <mc:Choice xmlns:v="urn:schemas-microsoft-com:vml" Requires="v">
                <p:oleObj spid="_x0000_s62528" name="Equation" r:id="rId33" imgW="962025" imgH="211455" progId="Equation.3">
                  <p:embed/>
                </p:oleObj>
              </mc:Choice>
              <mc:Fallback>
                <p:oleObj name="Equation" r:id="rId33" imgW="962025" imgH="211455" progId="Equation.3">
                  <p:embed/>
                  <p:pic>
                    <p:nvPicPr>
                      <p:cNvPr id="0" name="Object 63"/>
                      <p:cNvPicPr>
                        <a:picLocks noChangeAspect="1" noChangeArrowheads="1"/>
                      </p:cNvPicPr>
                      <p:nvPr/>
                    </p:nvPicPr>
                    <p:blipFill>
                      <a:blip r:embed="rId34">
                        <a:lum bright="-100000"/>
                        <a:extLst>
                          <a:ext uri="{28A0092B-C50C-407E-A947-70E740481C1C}">
                            <a14:useLocalDpi xmlns:a14="http://schemas.microsoft.com/office/drawing/2010/main" val="0"/>
                          </a:ext>
                        </a:extLst>
                      </a:blip>
                      <a:srcRect/>
                      <a:stretch>
                        <a:fillRect/>
                      </a:stretch>
                    </p:blipFill>
                    <p:spPr bwMode="auto">
                      <a:xfrm>
                        <a:off x="1108075" y="5867400"/>
                        <a:ext cx="2362200" cy="528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8960" name="Text Box 64"/>
          <p:cNvSpPr txBox="1">
            <a:spLocks noChangeArrowheads="1"/>
          </p:cNvSpPr>
          <p:nvPr/>
        </p:nvSpPr>
        <p:spPr bwMode="auto">
          <a:xfrm>
            <a:off x="635000" y="4486275"/>
            <a:ext cx="30702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ea typeface="楷体_GB2312" pitchFamily="49" charset="-122"/>
              </a:rPr>
              <a:t>查</a:t>
            </a:r>
            <a:r>
              <a:rPr lang="en-US" altLang="zh-CN" sz="2800" b="1">
                <a:ea typeface="楷体_GB2312" pitchFamily="49" charset="-122"/>
              </a:rPr>
              <a:t>t </a:t>
            </a:r>
            <a:r>
              <a:rPr lang="zh-CN" altLang="en-US" sz="2800" b="1">
                <a:ea typeface="楷体_GB2312" pitchFamily="49" charset="-122"/>
              </a:rPr>
              <a:t>分布表，附表</a:t>
            </a:r>
            <a:r>
              <a:rPr lang="en-US" altLang="zh-CN" sz="2800" b="1">
                <a:ea typeface="楷体_GB2312" pitchFamily="49" charset="-122"/>
              </a:rPr>
              <a:t>3</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8898">
                                            <p:txEl>
                                              <p:pRg st="0" end="0"/>
                                            </p:txEl>
                                          </p:spTgt>
                                        </p:tgtEl>
                                        <p:attrNameLst>
                                          <p:attrName>style.visibility</p:attrName>
                                        </p:attrNameLst>
                                      </p:cBhvr>
                                      <p:to>
                                        <p:strVal val="visible"/>
                                      </p:to>
                                    </p:set>
                                    <p:animEffect transition="in" filter="wipe(left)">
                                      <p:cBhvr>
                                        <p:cTn id="7" dur="500"/>
                                        <p:tgtEl>
                                          <p:spTgt spid="2088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8899">
                                            <p:txEl>
                                              <p:pRg st="0" end="0"/>
                                            </p:txEl>
                                          </p:spTgt>
                                        </p:tgtEl>
                                        <p:attrNameLst>
                                          <p:attrName>style.visibility</p:attrName>
                                        </p:attrNameLst>
                                      </p:cBhvr>
                                      <p:to>
                                        <p:strVal val="visible"/>
                                      </p:to>
                                    </p:set>
                                    <p:animEffect transition="in" filter="wipe(left)">
                                      <p:cBhvr>
                                        <p:cTn id="12" dur="500"/>
                                        <p:tgtEl>
                                          <p:spTgt spid="20889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8900"/>
                                        </p:tgtEl>
                                        <p:attrNameLst>
                                          <p:attrName>style.visibility</p:attrName>
                                        </p:attrNameLst>
                                      </p:cBhvr>
                                      <p:to>
                                        <p:strVal val="visible"/>
                                      </p:to>
                                    </p:set>
                                    <p:animEffect transition="in" filter="wipe(left)">
                                      <p:cBhvr>
                                        <p:cTn id="17" dur="500"/>
                                        <p:tgtEl>
                                          <p:spTgt spid="20890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8901">
                                            <p:txEl>
                                              <p:pRg st="0" end="0"/>
                                            </p:txEl>
                                          </p:spTgt>
                                        </p:tgtEl>
                                        <p:attrNameLst>
                                          <p:attrName>style.visibility</p:attrName>
                                        </p:attrNameLst>
                                      </p:cBhvr>
                                      <p:to>
                                        <p:strVal val="visible"/>
                                      </p:to>
                                    </p:set>
                                    <p:animEffect transition="in" filter="wipe(left)">
                                      <p:cBhvr>
                                        <p:cTn id="22" dur="500"/>
                                        <p:tgtEl>
                                          <p:spTgt spid="20890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08902"/>
                                        </p:tgtEl>
                                        <p:attrNameLst>
                                          <p:attrName>style.visibility</p:attrName>
                                        </p:attrNameLst>
                                      </p:cBhvr>
                                      <p:to>
                                        <p:strVal val="visible"/>
                                      </p:to>
                                    </p:set>
                                    <p:animEffect transition="in" filter="wipe(left)">
                                      <p:cBhvr>
                                        <p:cTn id="27" dur="500"/>
                                        <p:tgtEl>
                                          <p:spTgt spid="20890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8903">
                                            <p:txEl>
                                              <p:pRg st="0" end="0"/>
                                            </p:txEl>
                                          </p:spTgt>
                                        </p:tgtEl>
                                        <p:attrNameLst>
                                          <p:attrName>style.visibility</p:attrName>
                                        </p:attrNameLst>
                                      </p:cBhvr>
                                      <p:to>
                                        <p:strVal val="visible"/>
                                      </p:to>
                                    </p:set>
                                    <p:animEffect transition="in" filter="wipe(left)">
                                      <p:cBhvr>
                                        <p:cTn id="32" dur="500"/>
                                        <p:tgtEl>
                                          <p:spTgt spid="208903">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08909"/>
                                        </p:tgtEl>
                                        <p:attrNameLst>
                                          <p:attrName>style.visibility</p:attrName>
                                        </p:attrNameLst>
                                      </p:cBhvr>
                                      <p:to>
                                        <p:strVal val="visible"/>
                                      </p:to>
                                    </p:set>
                                    <p:animEffect transition="in" filter="wipe(left)">
                                      <p:cBhvr>
                                        <p:cTn id="37" dur="500"/>
                                        <p:tgtEl>
                                          <p:spTgt spid="20890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08904">
                                            <p:txEl>
                                              <p:pRg st="0" end="0"/>
                                            </p:txEl>
                                          </p:spTgt>
                                        </p:tgtEl>
                                        <p:attrNameLst>
                                          <p:attrName>style.visibility</p:attrName>
                                        </p:attrNameLst>
                                      </p:cBhvr>
                                      <p:to>
                                        <p:strVal val="visible"/>
                                      </p:to>
                                    </p:set>
                                    <p:animEffect transition="in" filter="wipe(left)">
                                      <p:cBhvr>
                                        <p:cTn id="42" dur="500"/>
                                        <p:tgtEl>
                                          <p:spTgt spid="208904">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08907"/>
                                        </p:tgtEl>
                                        <p:attrNameLst>
                                          <p:attrName>style.visibility</p:attrName>
                                        </p:attrNameLst>
                                      </p:cBhvr>
                                      <p:to>
                                        <p:strVal val="visible"/>
                                      </p:to>
                                    </p:set>
                                    <p:animEffect transition="in" filter="wipe(left)">
                                      <p:cBhvr>
                                        <p:cTn id="47" dur="500"/>
                                        <p:tgtEl>
                                          <p:spTgt spid="20890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08906">
                                            <p:txEl>
                                              <p:pRg st="0" end="0"/>
                                            </p:txEl>
                                          </p:spTgt>
                                        </p:tgtEl>
                                        <p:attrNameLst>
                                          <p:attrName>style.visibility</p:attrName>
                                        </p:attrNameLst>
                                      </p:cBhvr>
                                      <p:to>
                                        <p:strVal val="visible"/>
                                      </p:to>
                                    </p:set>
                                    <p:animEffect transition="in" filter="wipe(left)">
                                      <p:cBhvr>
                                        <p:cTn id="52" dur="500"/>
                                        <p:tgtEl>
                                          <p:spTgt spid="208906">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08908"/>
                                        </p:tgtEl>
                                        <p:attrNameLst>
                                          <p:attrName>style.visibility</p:attrName>
                                        </p:attrNameLst>
                                      </p:cBhvr>
                                      <p:to>
                                        <p:strVal val="visible"/>
                                      </p:to>
                                    </p:set>
                                    <p:animEffect transition="in" filter="wipe(left)">
                                      <p:cBhvr>
                                        <p:cTn id="57" dur="500"/>
                                        <p:tgtEl>
                                          <p:spTgt spid="20890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08905">
                                            <p:txEl>
                                              <p:pRg st="0" end="0"/>
                                            </p:txEl>
                                          </p:spTgt>
                                        </p:tgtEl>
                                        <p:attrNameLst>
                                          <p:attrName>style.visibility</p:attrName>
                                        </p:attrNameLst>
                                      </p:cBhvr>
                                      <p:to>
                                        <p:strVal val="visible"/>
                                      </p:to>
                                    </p:set>
                                    <p:animEffect transition="in" filter="wipe(left)">
                                      <p:cBhvr>
                                        <p:cTn id="62" dur="500"/>
                                        <p:tgtEl>
                                          <p:spTgt spid="208905">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2"/>
                                        </p:tgtEl>
                                        <p:attrNameLst>
                                          <p:attrName>style.visibility</p:attrName>
                                        </p:attrNameLst>
                                      </p:cBhvr>
                                      <p:to>
                                        <p:strVal val="visible"/>
                                      </p:to>
                                    </p:set>
                                    <p:animEffect transition="in" filter="wipe(left)">
                                      <p:cBhvr>
                                        <p:cTn id="67" dur="500"/>
                                        <p:tgtEl>
                                          <p:spTgt spid="2"/>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5"/>
                                        </p:tgtEl>
                                        <p:attrNameLst>
                                          <p:attrName>style.visibility</p:attrName>
                                        </p:attrNameLst>
                                      </p:cBhvr>
                                      <p:to>
                                        <p:strVal val="visible"/>
                                      </p:to>
                                    </p:set>
                                    <p:animEffect transition="in" filter="wipe(left)">
                                      <p:cBhvr>
                                        <p:cTn id="72" dur="500"/>
                                        <p:tgtEl>
                                          <p:spTgt spid="5"/>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7"/>
                                        </p:tgtEl>
                                        <p:attrNameLst>
                                          <p:attrName>style.visibility</p:attrName>
                                        </p:attrNameLst>
                                      </p:cBhvr>
                                      <p:to>
                                        <p:strVal val="visible"/>
                                      </p:to>
                                    </p:set>
                                    <p:animEffect transition="in" filter="wipe(left)">
                                      <p:cBhvr>
                                        <p:cTn id="77" dur="500"/>
                                        <p:tgtEl>
                                          <p:spTgt spid="7"/>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208960">
                                            <p:txEl>
                                              <p:pRg st="0" end="0"/>
                                            </p:txEl>
                                          </p:spTgt>
                                        </p:tgtEl>
                                        <p:attrNameLst>
                                          <p:attrName>style.visibility</p:attrName>
                                        </p:attrNameLst>
                                      </p:cBhvr>
                                      <p:to>
                                        <p:strVal val="visible"/>
                                      </p:to>
                                    </p:set>
                                    <p:animEffect transition="in" filter="wipe(left)">
                                      <p:cBhvr>
                                        <p:cTn id="82" dur="500"/>
                                        <p:tgtEl>
                                          <p:spTgt spid="208960">
                                            <p:txEl>
                                              <p:pRg st="0" end="0"/>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208938">
                                            <p:txEl>
                                              <p:pRg st="0" end="0"/>
                                            </p:txEl>
                                          </p:spTgt>
                                        </p:tgtEl>
                                        <p:attrNameLst>
                                          <p:attrName>style.visibility</p:attrName>
                                        </p:attrNameLst>
                                      </p:cBhvr>
                                      <p:to>
                                        <p:strVal val="visible"/>
                                      </p:to>
                                    </p:set>
                                    <p:animEffect transition="in" filter="wipe(left)">
                                      <p:cBhvr>
                                        <p:cTn id="87" dur="500"/>
                                        <p:tgtEl>
                                          <p:spTgt spid="208938">
                                            <p:txEl>
                                              <p:pRg st="0" end="0"/>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208939"/>
                                        </p:tgtEl>
                                        <p:attrNameLst>
                                          <p:attrName>style.visibility</p:attrName>
                                        </p:attrNameLst>
                                      </p:cBhvr>
                                      <p:to>
                                        <p:strVal val="visible"/>
                                      </p:to>
                                    </p:set>
                                    <p:animEffect transition="in" filter="wipe(left)">
                                      <p:cBhvr>
                                        <p:cTn id="92" dur="500"/>
                                        <p:tgtEl>
                                          <p:spTgt spid="208939"/>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208959"/>
                                        </p:tgtEl>
                                        <p:attrNameLst>
                                          <p:attrName>style.visibility</p:attrName>
                                        </p:attrNameLst>
                                      </p:cBhvr>
                                      <p:to>
                                        <p:strVal val="visible"/>
                                      </p:to>
                                    </p:set>
                                    <p:animEffect transition="in" filter="wipe(left)">
                                      <p:cBhvr>
                                        <p:cTn id="97" dur="500"/>
                                        <p:tgtEl>
                                          <p:spTgt spid="2089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898" grpId="0" build="p" autoUpdateAnimBg="0"/>
      <p:bldP spid="208899" grpId="0" build="p" autoUpdateAnimBg="0"/>
      <p:bldP spid="208901" grpId="0" build="p" autoUpdateAnimBg="0"/>
      <p:bldP spid="208903" grpId="0" build="p" autoUpdateAnimBg="0"/>
      <p:bldP spid="208904" grpId="0" build="p" autoUpdateAnimBg="0"/>
      <p:bldP spid="208905" grpId="0" build="p" autoUpdateAnimBg="0"/>
      <p:bldP spid="208906" grpId="0" build="p" autoUpdateAnimBg="0"/>
      <p:bldP spid="208938" grpId="0" build="p" autoUpdateAnimBg="0"/>
      <p:bldP spid="208960" grpId="0" build="p"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2"/>
          <p:cNvSpPr txBox="1">
            <a:spLocks noChangeArrowheads="1"/>
          </p:cNvSpPr>
          <p:nvPr/>
        </p:nvSpPr>
        <p:spPr bwMode="auto">
          <a:xfrm>
            <a:off x="609600" y="404813"/>
            <a:ext cx="6324600" cy="116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kumimoji="0" lang="zh-CN" altLang="en-US" sz="1800" b="1">
                <a:solidFill>
                  <a:srgbClr val="66CCFF"/>
                </a:solidFill>
                <a:latin typeface="宋体" panose="02010600030101010101" pitchFamily="2" charset="-122"/>
              </a:rPr>
              <a:t>　　</a:t>
            </a:r>
            <a:r>
              <a:rPr kumimoji="0" lang="zh-CN" altLang="en-US" sz="1800" b="1">
                <a:solidFill>
                  <a:srgbClr val="5050CC"/>
                </a:solidFill>
                <a:latin typeface="宋体" panose="02010600030101010101" pitchFamily="2" charset="-122"/>
              </a:rPr>
              <a:t>例</a:t>
            </a:r>
            <a:r>
              <a:rPr kumimoji="0" lang="en-US" altLang="zh-CN" sz="1800" b="1">
                <a:solidFill>
                  <a:srgbClr val="5050CC"/>
                </a:solidFill>
                <a:latin typeface="宋体" panose="02010600030101010101" pitchFamily="2" charset="-122"/>
              </a:rPr>
              <a:t>4</a:t>
            </a:r>
            <a:r>
              <a:rPr kumimoji="0" lang="zh-CN" altLang="en-US" sz="1800">
                <a:latin typeface="宋体" panose="02010600030101010101" pitchFamily="2" charset="-122"/>
              </a:rPr>
              <a:t>　设</a:t>
            </a:r>
            <a:r>
              <a:rPr kumimoji="0" lang="en-US" altLang="zh-CN" sz="1800" i="1"/>
              <a:t>X </a:t>
            </a:r>
            <a:r>
              <a:rPr kumimoji="0" lang="zh-CN" altLang="en-US" sz="1800">
                <a:latin typeface="宋体" panose="02010600030101010101" pitchFamily="2" charset="-122"/>
              </a:rPr>
              <a:t>与</a:t>
            </a:r>
            <a:r>
              <a:rPr kumimoji="0" lang="en-US" altLang="zh-CN" sz="1800" i="1"/>
              <a:t>Y </a:t>
            </a:r>
            <a:r>
              <a:rPr kumimoji="0" lang="zh-CN" altLang="en-US" sz="1800">
                <a:latin typeface="宋体" panose="02010600030101010101" pitchFamily="2" charset="-122"/>
              </a:rPr>
              <a:t>相互独立，</a:t>
            </a:r>
            <a:r>
              <a:rPr kumimoji="0" lang="en-US" altLang="zh-CN" sz="1800" i="1"/>
              <a:t>X ~ N</a:t>
            </a:r>
            <a:r>
              <a:rPr kumimoji="0" lang="en-US" altLang="zh-CN" sz="1800"/>
              <a:t>(0</a:t>
            </a:r>
            <a:r>
              <a:rPr kumimoji="0" lang="zh-CN" altLang="en-US" sz="1800"/>
              <a:t>，</a:t>
            </a:r>
            <a:r>
              <a:rPr kumimoji="0" lang="en-US" altLang="zh-CN" sz="1800"/>
              <a:t>16)</a:t>
            </a:r>
            <a:r>
              <a:rPr kumimoji="0" lang="zh-CN" altLang="en-US" sz="1800">
                <a:latin typeface="宋体" panose="02010600030101010101" pitchFamily="2" charset="-122"/>
              </a:rPr>
              <a:t>，</a:t>
            </a:r>
            <a:r>
              <a:rPr kumimoji="0" lang="en-US" altLang="zh-CN" sz="1800" i="1"/>
              <a:t>Y ~ N</a:t>
            </a:r>
            <a:r>
              <a:rPr kumimoji="0" lang="en-US" altLang="zh-CN" sz="1800"/>
              <a:t>(0</a:t>
            </a:r>
            <a:r>
              <a:rPr kumimoji="0" lang="zh-CN" altLang="en-US" sz="1800"/>
              <a:t>，</a:t>
            </a:r>
            <a:r>
              <a:rPr kumimoji="0" lang="en-US" altLang="zh-CN" sz="1800"/>
              <a:t>9)</a:t>
            </a:r>
            <a:r>
              <a:rPr kumimoji="0" lang="zh-CN" altLang="en-US" sz="1800"/>
              <a:t>，</a:t>
            </a:r>
            <a:r>
              <a:rPr kumimoji="0" lang="en-US" altLang="zh-CN" sz="1800" i="1"/>
              <a:t>X</a:t>
            </a:r>
            <a:r>
              <a:rPr kumimoji="0" lang="en-US" altLang="zh-CN" sz="1800" baseline="-25000"/>
              <a:t>1</a:t>
            </a:r>
            <a:r>
              <a:rPr kumimoji="0" lang="en-US" altLang="zh-CN" sz="1800"/>
              <a:t>, </a:t>
            </a:r>
            <a:r>
              <a:rPr kumimoji="0" lang="en-US" altLang="zh-CN" sz="1800" i="1"/>
              <a:t>X</a:t>
            </a:r>
            <a:r>
              <a:rPr kumimoji="0" lang="en-US" altLang="zh-CN" sz="1800" baseline="-25000"/>
              <a:t>2 </a:t>
            </a:r>
            <a:r>
              <a:rPr kumimoji="0" lang="en-US" altLang="zh-CN" sz="1800"/>
              <a:t>,…, </a:t>
            </a:r>
            <a:r>
              <a:rPr kumimoji="0" lang="en-US" altLang="zh-CN" sz="1800" i="1"/>
              <a:t>X</a:t>
            </a:r>
            <a:r>
              <a:rPr kumimoji="0" lang="en-US" altLang="zh-CN" sz="1800" baseline="-25000"/>
              <a:t>9</a:t>
            </a:r>
            <a:r>
              <a:rPr kumimoji="0" lang="zh-CN" altLang="en-US" sz="1800">
                <a:latin typeface="宋体" panose="02010600030101010101" pitchFamily="2" charset="-122"/>
              </a:rPr>
              <a:t>与</a:t>
            </a:r>
            <a:r>
              <a:rPr kumimoji="0" lang="en-US" altLang="zh-CN" sz="1800" i="1"/>
              <a:t>Y</a:t>
            </a:r>
            <a:r>
              <a:rPr kumimoji="0" lang="en-US" altLang="zh-CN" sz="1800" baseline="-25000"/>
              <a:t>1</a:t>
            </a:r>
            <a:r>
              <a:rPr kumimoji="0" lang="zh-CN" altLang="en-US" sz="1800"/>
              <a:t>，</a:t>
            </a:r>
            <a:r>
              <a:rPr kumimoji="0" lang="en-US" altLang="zh-CN" sz="1800" i="1"/>
              <a:t>Y</a:t>
            </a:r>
            <a:r>
              <a:rPr kumimoji="0" lang="en-US" altLang="zh-CN" sz="1800" baseline="-25000"/>
              <a:t>2</a:t>
            </a:r>
            <a:r>
              <a:rPr kumimoji="0" lang="zh-CN" altLang="en-US" sz="1800" baseline="-25000"/>
              <a:t>，</a:t>
            </a:r>
            <a:r>
              <a:rPr kumimoji="0" lang="en-US" altLang="zh-CN" sz="1800"/>
              <a:t>…</a:t>
            </a:r>
            <a:r>
              <a:rPr kumimoji="0" lang="zh-CN" altLang="en-US" sz="1800"/>
              <a:t>，</a:t>
            </a:r>
            <a:r>
              <a:rPr kumimoji="0" lang="en-US" altLang="zh-CN" sz="1800" i="1"/>
              <a:t>Y</a:t>
            </a:r>
            <a:r>
              <a:rPr kumimoji="0" lang="en-US" altLang="zh-CN" sz="1800" baseline="-25000"/>
              <a:t>16</a:t>
            </a:r>
            <a:r>
              <a:rPr kumimoji="0" lang="zh-CN" altLang="en-US" sz="1800">
                <a:latin typeface="宋体" panose="02010600030101010101" pitchFamily="2" charset="-122"/>
              </a:rPr>
              <a:t>分别是取</a:t>
            </a:r>
          </a:p>
          <a:p>
            <a:pPr eaLnBrk="1" hangingPunct="1">
              <a:lnSpc>
                <a:spcPct val="130000"/>
              </a:lnSpc>
            </a:pPr>
            <a:r>
              <a:rPr kumimoji="0" lang="zh-CN" altLang="en-US" sz="1800">
                <a:latin typeface="宋体" panose="02010600030101010101" pitchFamily="2" charset="-122"/>
              </a:rPr>
              <a:t>　　</a:t>
            </a:r>
            <a:endParaRPr kumimoji="0" lang="zh-CN" altLang="en-US" sz="1800" i="1">
              <a:latin typeface="宋体" panose="02010600030101010101" pitchFamily="2" charset="-122"/>
            </a:endParaRPr>
          </a:p>
        </p:txBody>
      </p:sp>
      <p:sp>
        <p:nvSpPr>
          <p:cNvPr id="57347" name="Text Box 3"/>
          <p:cNvSpPr txBox="1">
            <a:spLocks noChangeArrowheads="1"/>
          </p:cNvSpPr>
          <p:nvPr/>
        </p:nvSpPr>
        <p:spPr bwMode="auto">
          <a:xfrm>
            <a:off x="609600" y="2814638"/>
            <a:ext cx="1784350"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kumimoji="0" lang="zh-CN" altLang="en-US" sz="1800">
                <a:latin typeface="宋体" panose="02010600030101010101" pitchFamily="2" charset="-122"/>
              </a:rPr>
              <a:t>所服从的分布．</a:t>
            </a:r>
          </a:p>
        </p:txBody>
      </p:sp>
      <p:sp>
        <p:nvSpPr>
          <p:cNvPr id="57348" name="Text Box 4"/>
          <p:cNvSpPr txBox="1">
            <a:spLocks noChangeArrowheads="1"/>
          </p:cNvSpPr>
          <p:nvPr/>
        </p:nvSpPr>
        <p:spPr bwMode="auto">
          <a:xfrm>
            <a:off x="1219200" y="3348038"/>
            <a:ext cx="412750"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kumimoji="0" lang="zh-CN" altLang="en-US" sz="1800" b="1">
                <a:solidFill>
                  <a:srgbClr val="5050CC"/>
                </a:solidFill>
                <a:latin typeface="宋体" panose="02010600030101010101" pitchFamily="2" charset="-122"/>
              </a:rPr>
              <a:t>解</a:t>
            </a:r>
          </a:p>
        </p:txBody>
      </p:sp>
      <p:graphicFrame>
        <p:nvGraphicFramePr>
          <p:cNvPr id="57349" name="Object 2"/>
          <p:cNvGraphicFramePr>
            <a:graphicFrameLocks noChangeAspect="1"/>
          </p:cNvGraphicFramePr>
          <p:nvPr/>
        </p:nvGraphicFramePr>
        <p:xfrm>
          <a:off x="2438400" y="1976438"/>
          <a:ext cx="2336800" cy="838200"/>
        </p:xfrm>
        <a:graphic>
          <a:graphicData uri="http://schemas.openxmlformats.org/presentationml/2006/ole">
            <mc:AlternateContent xmlns:mc="http://schemas.openxmlformats.org/markup-compatibility/2006">
              <mc:Choice xmlns:v="urn:schemas-microsoft-com:vml" Requires="v">
                <p:oleObj spid="_x0000_s63501" name="Equation" r:id="rId3" imgW="2336800" imgH="838200" progId="Equation.3">
                  <p:embed/>
                </p:oleObj>
              </mc:Choice>
              <mc:Fallback>
                <p:oleObj name="Equation" r:id="rId3" imgW="2336800" imgH="8382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1976438"/>
                        <a:ext cx="23368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50" name="Object 3"/>
          <p:cNvGraphicFramePr>
            <a:graphicFrameLocks noChangeAspect="1"/>
          </p:cNvGraphicFramePr>
          <p:nvPr/>
        </p:nvGraphicFramePr>
        <p:xfrm>
          <a:off x="1816100" y="3513138"/>
          <a:ext cx="3300413" cy="349250"/>
        </p:xfrm>
        <a:graphic>
          <a:graphicData uri="http://schemas.openxmlformats.org/presentationml/2006/ole">
            <mc:AlternateContent xmlns:mc="http://schemas.openxmlformats.org/markup-compatibility/2006">
              <mc:Choice xmlns:v="urn:schemas-microsoft-com:vml" Requires="v">
                <p:oleObj spid="_x0000_s63502" name="Equation" r:id="rId5" imgW="3594100" imgH="381000" progId="Equation.3">
                  <p:embed/>
                </p:oleObj>
              </mc:Choice>
              <mc:Fallback>
                <p:oleObj name="Equation" r:id="rId5" imgW="3594100" imgH="3810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16100" y="3513138"/>
                        <a:ext cx="3300413"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51" name="Object 4"/>
          <p:cNvGraphicFramePr>
            <a:graphicFrameLocks noChangeAspect="1"/>
          </p:cNvGraphicFramePr>
          <p:nvPr/>
        </p:nvGraphicFramePr>
        <p:xfrm>
          <a:off x="1687759" y="4019567"/>
          <a:ext cx="3930178" cy="739759"/>
        </p:xfrm>
        <a:graphic>
          <a:graphicData uri="http://schemas.openxmlformats.org/presentationml/2006/ole">
            <mc:AlternateContent xmlns:mc="http://schemas.openxmlformats.org/markup-compatibility/2006">
              <mc:Choice xmlns:v="urn:schemas-microsoft-com:vml" Requires="v">
                <p:oleObj spid="_x0000_s63503" name="Equation" r:id="rId7" imgW="49987200" imgH="9448800" progId="Equation.DSMT4">
                  <p:embed/>
                </p:oleObj>
              </mc:Choice>
              <mc:Fallback>
                <p:oleObj name="Equation" r:id="rId7" imgW="49987200" imgH="9448800" progId="Equation.DSMT4">
                  <p:embed/>
                  <p:pic>
                    <p:nvPicPr>
                      <p:cNvPr id="0" name="Object 4"/>
                      <p:cNvPicPr>
                        <a:picLocks noChangeAspect="1" noChangeArrowheads="1"/>
                      </p:cNvPicPr>
                      <p:nvPr/>
                    </p:nvPicPr>
                    <p:blipFill>
                      <a:blip r:embed="rId8"/>
                      <a:srcRect/>
                      <a:stretch>
                        <a:fillRect/>
                      </a:stretch>
                    </p:blipFill>
                    <p:spPr bwMode="auto">
                      <a:xfrm>
                        <a:off x="1687759" y="4019567"/>
                        <a:ext cx="3930178" cy="739759"/>
                      </a:xfrm>
                      <a:prstGeom prst="rect">
                        <a:avLst/>
                      </a:prstGeom>
                      <a:noFill/>
                      <a:ln>
                        <a:noFill/>
                      </a:ln>
                    </p:spPr>
                  </p:pic>
                </p:oleObj>
              </mc:Fallback>
            </mc:AlternateContent>
          </a:graphicData>
        </a:graphic>
      </p:graphicFrame>
      <p:graphicFrame>
        <p:nvGraphicFramePr>
          <p:cNvPr id="57352" name="Object 5"/>
          <p:cNvGraphicFramePr>
            <a:graphicFrameLocks noChangeAspect="1"/>
          </p:cNvGraphicFramePr>
          <p:nvPr/>
        </p:nvGraphicFramePr>
        <p:xfrm>
          <a:off x="1676400" y="5008563"/>
          <a:ext cx="3021013" cy="665162"/>
        </p:xfrm>
        <a:graphic>
          <a:graphicData uri="http://schemas.openxmlformats.org/presentationml/2006/ole">
            <mc:AlternateContent xmlns:mc="http://schemas.openxmlformats.org/markup-compatibility/2006">
              <mc:Choice xmlns:v="urn:schemas-microsoft-com:vml" Requires="v">
                <p:oleObj spid="_x0000_s63504" name="Equation" r:id="rId9" imgW="3289300" imgH="723900" progId="Equation.3">
                  <p:embed/>
                </p:oleObj>
              </mc:Choice>
              <mc:Fallback>
                <p:oleObj name="Equation" r:id="rId9" imgW="3289300" imgH="7239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76400" y="5008563"/>
                        <a:ext cx="3021013" cy="66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7353" name="Text Box 9"/>
          <p:cNvSpPr txBox="1">
            <a:spLocks noChangeArrowheads="1"/>
          </p:cNvSpPr>
          <p:nvPr/>
        </p:nvSpPr>
        <p:spPr bwMode="auto">
          <a:xfrm>
            <a:off x="568325" y="1443038"/>
            <a:ext cx="399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1800">
                <a:latin typeface="宋体" panose="02010600030101010101" pitchFamily="2" charset="-122"/>
              </a:rPr>
              <a:t>自</a:t>
            </a:r>
            <a:r>
              <a:rPr kumimoji="0" lang="en-US" altLang="zh-CN" sz="1800" i="1"/>
              <a:t>X </a:t>
            </a:r>
            <a:r>
              <a:rPr kumimoji="0" lang="zh-CN" altLang="en-US" sz="1800">
                <a:latin typeface="宋体" panose="02010600030101010101" pitchFamily="2" charset="-122"/>
              </a:rPr>
              <a:t>与</a:t>
            </a:r>
            <a:r>
              <a:rPr kumimoji="0" lang="en-US" altLang="zh-CN" sz="1800" i="1"/>
              <a:t>Y </a:t>
            </a:r>
            <a:r>
              <a:rPr kumimoji="0" lang="zh-CN" altLang="en-US" sz="1800">
                <a:latin typeface="宋体" panose="02010600030101010101" pitchFamily="2" charset="-122"/>
              </a:rPr>
              <a:t>的简单随机样本，求统计量．</a:t>
            </a:r>
          </a:p>
        </p:txBody>
      </p:sp>
    </p:spTree>
  </p:cSld>
  <p:clrMapOvr>
    <a:masterClrMapping/>
  </p:clrMapOvr>
  <p:transition advClick="0"/>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2"/>
          <p:cNvSpPr txBox="1">
            <a:spLocks noChangeArrowheads="1"/>
          </p:cNvSpPr>
          <p:nvPr/>
        </p:nvSpPr>
        <p:spPr bwMode="auto">
          <a:xfrm>
            <a:off x="1244600" y="2379663"/>
            <a:ext cx="990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sz="1800"/>
              <a:t>从而</a:t>
            </a:r>
          </a:p>
        </p:txBody>
      </p:sp>
      <p:graphicFrame>
        <p:nvGraphicFramePr>
          <p:cNvPr id="58371" name="Object 2"/>
          <p:cNvGraphicFramePr>
            <a:graphicFrameLocks noChangeAspect="1"/>
          </p:cNvGraphicFramePr>
          <p:nvPr/>
        </p:nvGraphicFramePr>
        <p:xfrm>
          <a:off x="2235200" y="1196975"/>
          <a:ext cx="2101850" cy="763588"/>
        </p:xfrm>
        <a:graphic>
          <a:graphicData uri="http://schemas.openxmlformats.org/presentationml/2006/ole">
            <mc:AlternateContent xmlns:mc="http://schemas.openxmlformats.org/markup-compatibility/2006">
              <mc:Choice xmlns:v="urn:schemas-microsoft-com:vml" Requires="v">
                <p:oleObj spid="_x0000_s64522" name="Equation" r:id="rId3" imgW="2374900" imgH="863600" progId="Equation.3">
                  <p:embed/>
                </p:oleObj>
              </mc:Choice>
              <mc:Fallback>
                <p:oleObj name="Equation" r:id="rId3" imgW="2374900" imgH="863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35200" y="1196975"/>
                        <a:ext cx="2101850"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72" name="Object 3"/>
          <p:cNvGraphicFramePr>
            <a:graphicFrameLocks noChangeAspect="1"/>
          </p:cNvGraphicFramePr>
          <p:nvPr/>
        </p:nvGraphicFramePr>
        <p:xfrm>
          <a:off x="2032000" y="2227263"/>
          <a:ext cx="2336800" cy="838200"/>
        </p:xfrm>
        <a:graphic>
          <a:graphicData uri="http://schemas.openxmlformats.org/presentationml/2006/ole">
            <mc:AlternateContent xmlns:mc="http://schemas.openxmlformats.org/markup-compatibility/2006">
              <mc:Choice xmlns:v="urn:schemas-microsoft-com:vml" Requires="v">
                <p:oleObj spid="_x0000_s64523" name="Equation" r:id="rId5" imgW="2336800" imgH="838200" progId="Equation.3">
                  <p:embed/>
                </p:oleObj>
              </mc:Choice>
              <mc:Fallback>
                <p:oleObj name="Equation" r:id="rId5" imgW="2336800" imgH="8382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32000" y="2227263"/>
                        <a:ext cx="23368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73" name="Object 4"/>
          <p:cNvGraphicFramePr>
            <a:graphicFrameLocks noChangeAspect="1"/>
          </p:cNvGraphicFramePr>
          <p:nvPr/>
        </p:nvGraphicFramePr>
        <p:xfrm>
          <a:off x="2123728" y="3443199"/>
          <a:ext cx="4392488" cy="2497856"/>
        </p:xfrm>
        <a:graphic>
          <a:graphicData uri="http://schemas.openxmlformats.org/presentationml/2006/ole">
            <mc:AlternateContent xmlns:mc="http://schemas.openxmlformats.org/markup-compatibility/2006">
              <mc:Choice xmlns:v="urn:schemas-microsoft-com:vml" Requires="v">
                <p:oleObj spid="_x0000_s64524" name="Equation" r:id="rId7" imgW="44500800" imgH="25298400" progId="Equation.DSMT4">
                  <p:embed/>
                </p:oleObj>
              </mc:Choice>
              <mc:Fallback>
                <p:oleObj name="Equation" r:id="rId7" imgW="44500800" imgH="25298400" progId="Equation.DSMT4">
                  <p:embed/>
                  <p:pic>
                    <p:nvPicPr>
                      <p:cNvPr id="0" name="Object 4"/>
                      <p:cNvPicPr>
                        <a:picLocks noChangeAspect="1" noChangeArrowheads="1"/>
                      </p:cNvPicPr>
                      <p:nvPr/>
                    </p:nvPicPr>
                    <p:blipFill>
                      <a:blip r:embed="rId8"/>
                      <a:srcRect/>
                      <a:stretch>
                        <a:fillRect/>
                      </a:stretch>
                    </p:blipFill>
                    <p:spPr bwMode="auto">
                      <a:xfrm>
                        <a:off x="2123728" y="3443199"/>
                        <a:ext cx="4392488" cy="2497856"/>
                      </a:xfrm>
                      <a:prstGeom prst="rect">
                        <a:avLst/>
                      </a:prstGeom>
                      <a:noFill/>
                      <a:ln>
                        <a:noFill/>
                      </a:ln>
                    </p:spPr>
                  </p:pic>
                </p:oleObj>
              </mc:Fallback>
            </mc:AlternateContent>
          </a:graphicData>
        </a:graphic>
      </p:graphicFrame>
    </p:spTree>
  </p:cSld>
  <p:clrMapOvr>
    <a:masterClrMapping/>
  </p:clrMapOvr>
  <p:transition advClick="0"/>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827088" y="188913"/>
            <a:ext cx="41052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3200" b="1">
                <a:solidFill>
                  <a:srgbClr val="0000FF"/>
                </a:solidFill>
                <a:latin typeface="宋体" panose="02010600030101010101" pitchFamily="2" charset="-122"/>
              </a:rPr>
              <a:t>(4)</a:t>
            </a:r>
            <a:r>
              <a:rPr lang="en-US" altLang="zh-CN" sz="3200" b="1" i="1">
                <a:solidFill>
                  <a:srgbClr val="0000FF"/>
                </a:solidFill>
              </a:rPr>
              <a:t>F</a:t>
            </a:r>
            <a:r>
              <a:rPr lang="en-US" altLang="zh-CN" sz="3200" b="1" i="1">
                <a:solidFill>
                  <a:srgbClr val="0000FF"/>
                </a:solidFill>
                <a:latin typeface="宋体" panose="02010600030101010101" pitchFamily="2" charset="-122"/>
              </a:rPr>
              <a:t> </a:t>
            </a:r>
            <a:r>
              <a:rPr lang="zh-CN" altLang="en-US" sz="3200" b="1">
                <a:solidFill>
                  <a:srgbClr val="0000FF"/>
                </a:solidFill>
                <a:latin typeface="宋体" panose="02010600030101010101" pitchFamily="2" charset="-122"/>
              </a:rPr>
              <a:t>分布</a:t>
            </a:r>
          </a:p>
        </p:txBody>
      </p:sp>
      <p:graphicFrame>
        <p:nvGraphicFramePr>
          <p:cNvPr id="188419" name="Object 3"/>
          <p:cNvGraphicFramePr>
            <a:graphicFrameLocks noChangeAspect="1"/>
          </p:cNvGraphicFramePr>
          <p:nvPr/>
        </p:nvGraphicFramePr>
        <p:xfrm>
          <a:off x="1905000" y="881063"/>
          <a:ext cx="4025900" cy="592137"/>
        </p:xfrm>
        <a:graphic>
          <a:graphicData uri="http://schemas.openxmlformats.org/presentationml/2006/ole">
            <mc:AlternateContent xmlns:mc="http://schemas.openxmlformats.org/markup-compatibility/2006">
              <mc:Choice xmlns:v="urn:schemas-microsoft-com:vml" Requires="v">
                <p:oleObj spid="_x0000_s37009" name="公式" r:id="rId3" imgW="1533525" imgH="211455" progId="Equation.3">
                  <p:embed/>
                </p:oleObj>
              </mc:Choice>
              <mc:Fallback>
                <p:oleObj name="公式" r:id="rId3" imgW="1533525" imgH="211455"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881063"/>
                        <a:ext cx="4025900" cy="592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8420" name="Rectangle 4"/>
          <p:cNvSpPr>
            <a:spLocks noChangeArrowheads="1"/>
          </p:cNvSpPr>
          <p:nvPr/>
        </p:nvSpPr>
        <p:spPr bwMode="auto">
          <a:xfrm>
            <a:off x="4267200" y="2497138"/>
            <a:ext cx="5486400"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b="1">
                <a:latin typeface="宋体" panose="02010600030101010101" pitchFamily="2" charset="-122"/>
              </a:rPr>
              <a:t>的</a:t>
            </a:r>
            <a:r>
              <a:rPr lang="en-US" altLang="zh-CN" sz="2800" b="1" i="1"/>
              <a:t>F</a:t>
            </a:r>
            <a:r>
              <a:rPr lang="zh-CN" altLang="en-US" sz="2800" b="1">
                <a:latin typeface="宋体" panose="02010600030101010101" pitchFamily="2" charset="-122"/>
              </a:rPr>
              <a:t>分布，</a:t>
            </a:r>
            <a:r>
              <a:rPr lang="en-US" altLang="zh-CN" sz="2800" b="1" i="1"/>
              <a:t>n</a:t>
            </a:r>
            <a:r>
              <a:rPr lang="en-US" altLang="zh-CN" sz="2800" b="1" baseline="-30000"/>
              <a:t>1</a:t>
            </a:r>
            <a:r>
              <a:rPr lang="zh-CN" altLang="en-US" sz="2800" b="1">
                <a:latin typeface="宋体" panose="02010600030101010101" pitchFamily="2" charset="-122"/>
              </a:rPr>
              <a:t>称为第一自由度，</a:t>
            </a:r>
          </a:p>
        </p:txBody>
      </p:sp>
      <p:graphicFrame>
        <p:nvGraphicFramePr>
          <p:cNvPr id="188421" name="Object 5"/>
          <p:cNvGraphicFramePr>
            <a:graphicFrameLocks noChangeAspect="1"/>
          </p:cNvGraphicFramePr>
          <p:nvPr/>
        </p:nvGraphicFramePr>
        <p:xfrm>
          <a:off x="3563938" y="1438275"/>
          <a:ext cx="1781175" cy="1155700"/>
        </p:xfrm>
        <a:graphic>
          <a:graphicData uri="http://schemas.openxmlformats.org/presentationml/2006/ole">
            <mc:AlternateContent xmlns:mc="http://schemas.openxmlformats.org/markup-compatibility/2006">
              <mc:Choice xmlns:v="urn:schemas-microsoft-com:vml" Requires="v">
                <p:oleObj spid="_x0000_s37010" name="公式" r:id="rId5" imgW="666750" imgH="433070" progId="Equation.3">
                  <p:embed/>
                </p:oleObj>
              </mc:Choice>
              <mc:Fallback>
                <p:oleObj name="公式" r:id="rId5" imgW="666750" imgH="43307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63938" y="1438275"/>
                        <a:ext cx="1781175"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8422" name="Rectangle 6"/>
          <p:cNvSpPr>
            <a:spLocks noChangeArrowheads="1"/>
          </p:cNvSpPr>
          <p:nvPr/>
        </p:nvSpPr>
        <p:spPr bwMode="auto">
          <a:xfrm>
            <a:off x="1144588" y="847725"/>
            <a:ext cx="5413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latin typeface="宋体" panose="02010600030101010101" pitchFamily="2" charset="-122"/>
              </a:rPr>
              <a:t>设</a:t>
            </a:r>
          </a:p>
        </p:txBody>
      </p:sp>
      <p:sp>
        <p:nvSpPr>
          <p:cNvPr id="188423" name="Rectangle 7"/>
          <p:cNvSpPr>
            <a:spLocks noChangeArrowheads="1"/>
          </p:cNvSpPr>
          <p:nvPr/>
        </p:nvSpPr>
        <p:spPr bwMode="auto">
          <a:xfrm>
            <a:off x="6084888" y="957263"/>
            <a:ext cx="27813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i="1"/>
              <a:t>X</a:t>
            </a:r>
            <a:r>
              <a:rPr lang="zh-CN" altLang="en-US" sz="2800" b="1">
                <a:latin typeface="宋体" panose="02010600030101010101" pitchFamily="2" charset="-122"/>
              </a:rPr>
              <a:t>与</a:t>
            </a:r>
            <a:r>
              <a:rPr lang="en-US" altLang="zh-CN" sz="2800" b="1" i="1"/>
              <a:t>Y</a:t>
            </a:r>
            <a:r>
              <a:rPr lang="zh-CN" altLang="en-US" sz="2800" b="1">
                <a:latin typeface="宋体" panose="02010600030101010101" pitchFamily="2" charset="-122"/>
              </a:rPr>
              <a:t>相互独立，</a:t>
            </a:r>
          </a:p>
        </p:txBody>
      </p:sp>
      <p:sp>
        <p:nvSpPr>
          <p:cNvPr id="188424" name="Rectangle 8"/>
          <p:cNvSpPr>
            <a:spLocks noChangeArrowheads="1"/>
          </p:cNvSpPr>
          <p:nvPr/>
        </p:nvSpPr>
        <p:spPr bwMode="auto">
          <a:xfrm>
            <a:off x="827088" y="1582738"/>
            <a:ext cx="30591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latin typeface="宋体" panose="02010600030101010101" pitchFamily="2" charset="-122"/>
              </a:rPr>
              <a:t>则称统计量</a:t>
            </a:r>
          </a:p>
        </p:txBody>
      </p:sp>
      <p:sp>
        <p:nvSpPr>
          <p:cNvPr id="188425" name="Rectangle 9"/>
          <p:cNvSpPr>
            <a:spLocks noChangeArrowheads="1"/>
          </p:cNvSpPr>
          <p:nvPr/>
        </p:nvSpPr>
        <p:spPr bwMode="auto">
          <a:xfrm>
            <a:off x="838200" y="2519363"/>
            <a:ext cx="33131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latin typeface="宋体" panose="02010600030101010101" pitchFamily="2" charset="-122"/>
              </a:rPr>
              <a:t>服从自由度为</a:t>
            </a:r>
            <a:endParaRPr lang="zh-CN" altLang="en-US" sz="2800">
              <a:latin typeface="宋体" panose="02010600030101010101" pitchFamily="2" charset="-122"/>
            </a:endParaRPr>
          </a:p>
        </p:txBody>
      </p:sp>
      <p:grpSp>
        <p:nvGrpSpPr>
          <p:cNvPr id="2" name="Group 10"/>
          <p:cNvGrpSpPr/>
          <p:nvPr/>
        </p:nvGrpSpPr>
        <p:grpSpPr bwMode="auto">
          <a:xfrm>
            <a:off x="914400" y="3259138"/>
            <a:ext cx="4152900" cy="606425"/>
            <a:chOff x="1000" y="2795"/>
            <a:chExt cx="2616" cy="382"/>
          </a:xfrm>
        </p:grpSpPr>
        <p:sp>
          <p:nvSpPr>
            <p:cNvPr id="36879" name="Rectangle 11"/>
            <p:cNvSpPr>
              <a:spLocks noChangeArrowheads="1"/>
            </p:cNvSpPr>
            <p:nvPr/>
          </p:nvSpPr>
          <p:spPr bwMode="auto">
            <a:xfrm>
              <a:off x="1250" y="2796"/>
              <a:ext cx="2366"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b="1">
                  <a:latin typeface="宋体" panose="02010600030101010101" pitchFamily="2" charset="-122"/>
                </a:rPr>
                <a:t>称为第二自由度，记作</a:t>
              </a:r>
            </a:p>
          </p:txBody>
        </p:sp>
        <p:graphicFrame>
          <p:nvGraphicFramePr>
            <p:cNvPr id="36880" name="Object 12"/>
            <p:cNvGraphicFramePr>
              <a:graphicFrameLocks noChangeAspect="1"/>
            </p:cNvGraphicFramePr>
            <p:nvPr/>
          </p:nvGraphicFramePr>
          <p:xfrm>
            <a:off x="1000" y="2795"/>
            <a:ext cx="292" cy="353"/>
          </p:xfrm>
          <a:graphic>
            <a:graphicData uri="http://schemas.openxmlformats.org/presentationml/2006/ole">
              <mc:AlternateContent xmlns:mc="http://schemas.openxmlformats.org/markup-compatibility/2006">
                <mc:Choice xmlns:v="urn:schemas-microsoft-com:vml" Requires="v">
                  <p:oleObj spid="_x0000_s37011" name="公式" r:id="rId7" imgW="161925" imgH="201930" progId="Equation.3">
                    <p:embed/>
                  </p:oleObj>
                </mc:Choice>
                <mc:Fallback>
                  <p:oleObj name="公式" r:id="rId7" imgW="161925" imgH="201930"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00" y="2795"/>
                          <a:ext cx="292" cy="3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88429" name="Object 13"/>
          <p:cNvGraphicFramePr>
            <a:graphicFrameLocks noChangeAspect="1"/>
          </p:cNvGraphicFramePr>
          <p:nvPr/>
        </p:nvGraphicFramePr>
        <p:xfrm>
          <a:off x="5091113" y="3330575"/>
          <a:ext cx="2343150" cy="558800"/>
        </p:xfrm>
        <a:graphic>
          <a:graphicData uri="http://schemas.openxmlformats.org/presentationml/2006/ole">
            <mc:AlternateContent xmlns:mc="http://schemas.openxmlformats.org/markup-compatibility/2006">
              <mc:Choice xmlns:v="urn:schemas-microsoft-com:vml" Requires="v">
                <p:oleObj spid="_x0000_s37012" name="公式" r:id="rId9" imgW="885825" imgH="201930" progId="Equation.3">
                  <p:embed/>
                </p:oleObj>
              </mc:Choice>
              <mc:Fallback>
                <p:oleObj name="公式" r:id="rId9" imgW="885825" imgH="201930" progId="Equation.3">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91113" y="3330575"/>
                        <a:ext cx="2343150"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8433" name="Object 17"/>
          <p:cNvGraphicFramePr>
            <a:graphicFrameLocks noChangeAspect="1"/>
          </p:cNvGraphicFramePr>
          <p:nvPr/>
        </p:nvGraphicFramePr>
        <p:xfrm>
          <a:off x="3059113" y="2446338"/>
          <a:ext cx="1268412" cy="649287"/>
        </p:xfrm>
        <a:graphic>
          <a:graphicData uri="http://schemas.openxmlformats.org/presentationml/2006/ole">
            <mc:AlternateContent xmlns:mc="http://schemas.openxmlformats.org/markup-compatibility/2006">
              <mc:Choice xmlns:v="urn:schemas-microsoft-com:vml" Requires="v">
                <p:oleObj spid="_x0000_s37013" name="公式" r:id="rId11" imgW="352425" imgH="201930" progId="Equation.3">
                  <p:embed/>
                </p:oleObj>
              </mc:Choice>
              <mc:Fallback>
                <p:oleObj name="公式" r:id="rId11" imgW="352425" imgH="201930" progId="Equation.3">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59113" y="2446338"/>
                        <a:ext cx="1268412" cy="649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7887" name="Object 15"/>
          <p:cNvGraphicFramePr>
            <a:graphicFrameLocks noChangeAspect="1"/>
          </p:cNvGraphicFramePr>
          <p:nvPr/>
        </p:nvGraphicFramePr>
        <p:xfrm>
          <a:off x="1042988" y="4508500"/>
          <a:ext cx="6924675" cy="1646238"/>
        </p:xfrm>
        <a:graphic>
          <a:graphicData uri="http://schemas.openxmlformats.org/presentationml/2006/ole">
            <mc:AlternateContent xmlns:mc="http://schemas.openxmlformats.org/markup-compatibility/2006">
              <mc:Choice xmlns:v="urn:schemas-microsoft-com:vml" Requires="v">
                <p:oleObj spid="_x0000_s37014" name="Equation" r:id="rId13" imgW="3248025" imgH="702945" progId="Equation.DSMT4">
                  <p:embed/>
                </p:oleObj>
              </mc:Choice>
              <mc:Fallback>
                <p:oleObj name="Equation" r:id="rId13" imgW="3248025" imgH="702945" progId="Equation.DSMT4">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42988" y="4508500"/>
                        <a:ext cx="6924675" cy="164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878" name="Rectangle 16"/>
          <p:cNvSpPr>
            <a:spLocks noChangeArrowheads="1"/>
          </p:cNvSpPr>
          <p:nvPr/>
        </p:nvSpPr>
        <p:spPr bwMode="auto">
          <a:xfrm>
            <a:off x="609600" y="3952875"/>
            <a:ext cx="25638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i="1"/>
              <a:t>F</a:t>
            </a:r>
            <a:r>
              <a:rPr lang="zh-CN" altLang="en-US" sz="2800" b="1"/>
              <a:t>的概率密度为</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8422">
                                            <p:txEl>
                                              <p:pRg st="0" end="0"/>
                                            </p:txEl>
                                          </p:spTgt>
                                        </p:tgtEl>
                                        <p:attrNameLst>
                                          <p:attrName>style.visibility</p:attrName>
                                        </p:attrNameLst>
                                      </p:cBhvr>
                                      <p:to>
                                        <p:strVal val="visible"/>
                                      </p:to>
                                    </p:set>
                                    <p:animEffect transition="in" filter="wipe(left)">
                                      <p:cBhvr>
                                        <p:cTn id="7" dur="500"/>
                                        <p:tgtEl>
                                          <p:spTgt spid="1884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8419"/>
                                        </p:tgtEl>
                                        <p:attrNameLst>
                                          <p:attrName>style.visibility</p:attrName>
                                        </p:attrNameLst>
                                      </p:cBhvr>
                                      <p:to>
                                        <p:strVal val="visible"/>
                                      </p:to>
                                    </p:set>
                                    <p:animEffect transition="in" filter="wipe(left)">
                                      <p:cBhvr>
                                        <p:cTn id="12" dur="500"/>
                                        <p:tgtEl>
                                          <p:spTgt spid="1884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8423">
                                            <p:txEl>
                                              <p:pRg st="0" end="0"/>
                                            </p:txEl>
                                          </p:spTgt>
                                        </p:tgtEl>
                                        <p:attrNameLst>
                                          <p:attrName>style.visibility</p:attrName>
                                        </p:attrNameLst>
                                      </p:cBhvr>
                                      <p:to>
                                        <p:strVal val="visible"/>
                                      </p:to>
                                    </p:set>
                                    <p:animEffect transition="in" filter="wipe(left)">
                                      <p:cBhvr>
                                        <p:cTn id="17" dur="500"/>
                                        <p:tgtEl>
                                          <p:spTgt spid="18842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8424">
                                            <p:txEl>
                                              <p:pRg st="0" end="0"/>
                                            </p:txEl>
                                          </p:spTgt>
                                        </p:tgtEl>
                                        <p:attrNameLst>
                                          <p:attrName>style.visibility</p:attrName>
                                        </p:attrNameLst>
                                      </p:cBhvr>
                                      <p:to>
                                        <p:strVal val="visible"/>
                                      </p:to>
                                    </p:set>
                                    <p:animEffect transition="in" filter="wipe(left)">
                                      <p:cBhvr>
                                        <p:cTn id="22" dur="500"/>
                                        <p:tgtEl>
                                          <p:spTgt spid="18842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88421"/>
                                        </p:tgtEl>
                                        <p:attrNameLst>
                                          <p:attrName>style.visibility</p:attrName>
                                        </p:attrNameLst>
                                      </p:cBhvr>
                                      <p:to>
                                        <p:strVal val="visible"/>
                                      </p:to>
                                    </p:set>
                                    <p:animEffect transition="in" filter="wipe(left)">
                                      <p:cBhvr>
                                        <p:cTn id="27" dur="500"/>
                                        <p:tgtEl>
                                          <p:spTgt spid="18842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88425">
                                            <p:txEl>
                                              <p:pRg st="0" end="0"/>
                                            </p:txEl>
                                          </p:spTgt>
                                        </p:tgtEl>
                                        <p:attrNameLst>
                                          <p:attrName>style.visibility</p:attrName>
                                        </p:attrNameLst>
                                      </p:cBhvr>
                                      <p:to>
                                        <p:strVal val="visible"/>
                                      </p:to>
                                    </p:set>
                                    <p:animEffect transition="in" filter="wipe(left)">
                                      <p:cBhvr>
                                        <p:cTn id="32" dur="500"/>
                                        <p:tgtEl>
                                          <p:spTgt spid="188425">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88433"/>
                                        </p:tgtEl>
                                        <p:attrNameLst>
                                          <p:attrName>style.visibility</p:attrName>
                                        </p:attrNameLst>
                                      </p:cBhvr>
                                      <p:to>
                                        <p:strVal val="visible"/>
                                      </p:to>
                                    </p:set>
                                    <p:animEffect transition="in" filter="wipe(left)">
                                      <p:cBhvr>
                                        <p:cTn id="37" dur="500"/>
                                        <p:tgtEl>
                                          <p:spTgt spid="18843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88420">
                                            <p:txEl>
                                              <p:pRg st="0" end="0"/>
                                            </p:txEl>
                                          </p:spTgt>
                                        </p:tgtEl>
                                        <p:attrNameLst>
                                          <p:attrName>style.visibility</p:attrName>
                                        </p:attrNameLst>
                                      </p:cBhvr>
                                      <p:to>
                                        <p:strVal val="visible"/>
                                      </p:to>
                                    </p:set>
                                    <p:animEffect transition="in" filter="wipe(left)">
                                      <p:cBhvr>
                                        <p:cTn id="42" dur="500"/>
                                        <p:tgtEl>
                                          <p:spTgt spid="188420">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wipe(left)">
                                      <p:cBhvr>
                                        <p:cTn id="47" dur="500"/>
                                        <p:tgtEl>
                                          <p:spTgt spid="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88429"/>
                                        </p:tgtEl>
                                        <p:attrNameLst>
                                          <p:attrName>style.visibility</p:attrName>
                                        </p:attrNameLst>
                                      </p:cBhvr>
                                      <p:to>
                                        <p:strVal val="visible"/>
                                      </p:to>
                                    </p:set>
                                    <p:animEffect transition="in" filter="wipe(left)">
                                      <p:cBhvr>
                                        <p:cTn id="52" dur="500"/>
                                        <p:tgtEl>
                                          <p:spTgt spid="188429"/>
                                        </p:tgtEl>
                                      </p:cBhvr>
                                    </p:animEffect>
                                  </p:childTnLst>
                                </p:cTn>
                              </p:par>
                            </p:childTnLst>
                          </p:cTn>
                        </p:par>
                        <p:par>
                          <p:cTn id="53" fill="hold">
                            <p:stCondLst>
                              <p:cond delay="500"/>
                            </p:stCondLst>
                            <p:childTnLst>
                              <p:par>
                                <p:cTn id="54" presetID="1" presetClass="entr" presetSubtype="0" fill="hold" nodeType="afterEffect">
                                  <p:stCondLst>
                                    <p:cond delay="0"/>
                                  </p:stCondLst>
                                  <p:childTnLst>
                                    <p:set>
                                      <p:cBhvr>
                                        <p:cTn id="55" dur="1" fill="hold">
                                          <p:stCondLst>
                                            <p:cond delay="499"/>
                                          </p:stCondLst>
                                        </p:cTn>
                                        <p:tgtEl>
                                          <p:spTgt spid="2078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20" grpId="0" build="p" autoUpdateAnimBg="0"/>
      <p:bldP spid="188422" grpId="0" build="p" autoUpdateAnimBg="0"/>
      <p:bldP spid="188423" grpId="0" build="p" autoUpdateAnimBg="0"/>
      <p:bldP spid="188424" grpId="0" build="p" autoUpdateAnimBg="0"/>
      <p:bldP spid="188425" grpId="0" build="p"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3757613" y="3124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sz="3600" b="1">
              <a:latin typeface="楷体_GB2312" pitchFamily="49" charset="-122"/>
              <a:ea typeface="楷体_GB2312" pitchFamily="49" charset="-122"/>
            </a:endParaRPr>
          </a:p>
        </p:txBody>
      </p:sp>
      <p:sp>
        <p:nvSpPr>
          <p:cNvPr id="37891" name="Rectangle 3"/>
          <p:cNvSpPr>
            <a:spLocks noChangeArrowheads="1"/>
          </p:cNvSpPr>
          <p:nvPr/>
        </p:nvSpPr>
        <p:spPr bwMode="auto">
          <a:xfrm>
            <a:off x="4000500" y="3268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sz="3600" b="1">
              <a:latin typeface="楷体_GB2312" pitchFamily="49" charset="-122"/>
              <a:ea typeface="楷体_GB2312" pitchFamily="49" charset="-122"/>
            </a:endParaRPr>
          </a:p>
        </p:txBody>
      </p:sp>
      <p:sp>
        <p:nvSpPr>
          <p:cNvPr id="211972" name="Rectangle 4"/>
          <p:cNvSpPr>
            <a:spLocks noChangeArrowheads="1"/>
          </p:cNvSpPr>
          <p:nvPr/>
        </p:nvSpPr>
        <p:spPr bwMode="auto">
          <a:xfrm>
            <a:off x="533400" y="4343400"/>
            <a:ext cx="784860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b="1">
                <a:latin typeface="宋体" panose="02010600030101010101" pitchFamily="2" charset="-122"/>
                <a:ea typeface="楷体_GB2312" pitchFamily="49" charset="-122"/>
              </a:rPr>
              <a:t>即它的数学期望并不依赖于第一自由度</a:t>
            </a:r>
            <a:r>
              <a:rPr lang="en-US" altLang="zh-CN" sz="3200" b="1" i="1">
                <a:ea typeface="楷体_GB2312" pitchFamily="49" charset="-122"/>
              </a:rPr>
              <a:t>n</a:t>
            </a:r>
            <a:r>
              <a:rPr lang="en-US" altLang="zh-CN" sz="3200" b="1" baseline="-30000">
                <a:ea typeface="楷体_GB2312" pitchFamily="49" charset="-122"/>
              </a:rPr>
              <a:t> 1</a:t>
            </a:r>
            <a:r>
              <a:rPr lang="zh-CN" altLang="en-US" sz="3200" b="1">
                <a:latin typeface="宋体" panose="02010600030101010101" pitchFamily="2" charset="-122"/>
                <a:ea typeface="楷体_GB2312" pitchFamily="49" charset="-122"/>
              </a:rPr>
              <a:t>（证明）</a:t>
            </a:r>
            <a:endParaRPr lang="zh-CN" altLang="en-US" sz="3200" b="1">
              <a:ea typeface="楷体_GB2312" pitchFamily="49" charset="-122"/>
            </a:endParaRPr>
          </a:p>
        </p:txBody>
      </p:sp>
      <p:sp>
        <p:nvSpPr>
          <p:cNvPr id="37893" name="Rectangle 5"/>
          <p:cNvSpPr>
            <a:spLocks noChangeArrowheads="1"/>
          </p:cNvSpPr>
          <p:nvPr/>
        </p:nvSpPr>
        <p:spPr bwMode="auto">
          <a:xfrm>
            <a:off x="3929063" y="3281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sz="3600" b="1">
              <a:latin typeface="楷体_GB2312" pitchFamily="49" charset="-122"/>
              <a:ea typeface="楷体_GB2312" pitchFamily="49" charset="-122"/>
            </a:endParaRPr>
          </a:p>
        </p:txBody>
      </p:sp>
      <p:sp>
        <p:nvSpPr>
          <p:cNvPr id="37894" name="Rectangle 6"/>
          <p:cNvSpPr>
            <a:spLocks noChangeArrowheads="1"/>
          </p:cNvSpPr>
          <p:nvPr/>
        </p:nvSpPr>
        <p:spPr bwMode="auto">
          <a:xfrm>
            <a:off x="4259263" y="32162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sz="3600" b="1">
              <a:latin typeface="楷体_GB2312" pitchFamily="49" charset="-122"/>
              <a:ea typeface="楷体_GB2312" pitchFamily="49" charset="-122"/>
            </a:endParaRPr>
          </a:p>
        </p:txBody>
      </p:sp>
      <p:sp>
        <p:nvSpPr>
          <p:cNvPr id="211975" name="Rectangle 7"/>
          <p:cNvSpPr>
            <a:spLocks noChangeArrowheads="1"/>
          </p:cNvSpPr>
          <p:nvPr/>
        </p:nvSpPr>
        <p:spPr bwMode="auto">
          <a:xfrm>
            <a:off x="1116013" y="2276475"/>
            <a:ext cx="36036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3200" b="1">
                <a:ea typeface="楷体_GB2312" pitchFamily="49" charset="-122"/>
              </a:rPr>
              <a:t>(2)</a:t>
            </a:r>
            <a:r>
              <a:rPr lang="en-US" altLang="zh-CN" sz="3200" b="1" i="1">
                <a:ea typeface="楷体_GB2312" pitchFamily="49" charset="-122"/>
              </a:rPr>
              <a:t> X</a:t>
            </a:r>
            <a:r>
              <a:rPr lang="zh-CN" altLang="en-US" sz="3200" b="1">
                <a:ea typeface="楷体_GB2312" pitchFamily="49" charset="-122"/>
              </a:rPr>
              <a:t>的数学期望为</a:t>
            </a:r>
            <a:r>
              <a:rPr lang="en-US" altLang="zh-CN" sz="3200" b="1">
                <a:ea typeface="楷体_GB2312" pitchFamily="49" charset="-122"/>
              </a:rPr>
              <a:t>:</a:t>
            </a:r>
          </a:p>
        </p:txBody>
      </p:sp>
      <p:sp>
        <p:nvSpPr>
          <p:cNvPr id="37896" name="Rectangle 8"/>
          <p:cNvSpPr>
            <a:spLocks noChangeArrowheads="1"/>
          </p:cNvSpPr>
          <p:nvPr/>
        </p:nvSpPr>
        <p:spPr bwMode="auto">
          <a:xfrm>
            <a:off x="4359275" y="32242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en-US" sz="3600" b="1">
              <a:latin typeface="楷体_GB2312" pitchFamily="49" charset="-122"/>
              <a:ea typeface="楷体_GB2312" pitchFamily="49" charset="-122"/>
            </a:endParaRPr>
          </a:p>
        </p:txBody>
      </p:sp>
      <p:grpSp>
        <p:nvGrpSpPr>
          <p:cNvPr id="2" name="Group 9"/>
          <p:cNvGrpSpPr/>
          <p:nvPr/>
        </p:nvGrpSpPr>
        <p:grpSpPr bwMode="auto">
          <a:xfrm>
            <a:off x="1371600" y="2971800"/>
            <a:ext cx="4876800" cy="990600"/>
            <a:chOff x="1152" y="2208"/>
            <a:chExt cx="2793" cy="686"/>
          </a:xfrm>
        </p:grpSpPr>
        <p:graphicFrame>
          <p:nvGraphicFramePr>
            <p:cNvPr id="37903" name="Object 10"/>
            <p:cNvGraphicFramePr>
              <a:graphicFrameLocks noChangeAspect="1"/>
            </p:cNvGraphicFramePr>
            <p:nvPr/>
          </p:nvGraphicFramePr>
          <p:xfrm>
            <a:off x="1152" y="2208"/>
            <a:ext cx="1488" cy="686"/>
          </p:xfrm>
          <a:graphic>
            <a:graphicData uri="http://schemas.openxmlformats.org/presentationml/2006/ole">
              <mc:AlternateContent xmlns:mc="http://schemas.openxmlformats.org/markup-compatibility/2006">
                <mc:Choice xmlns:v="urn:schemas-microsoft-com:vml" Requires="v">
                  <p:oleObj spid="_x0000_s37949" name="Equation" r:id="rId3" imgW="904875" imgH="414020" progId="Equation.3">
                    <p:embed/>
                  </p:oleObj>
                </mc:Choice>
                <mc:Fallback>
                  <p:oleObj name="Equation" r:id="rId3" imgW="904875" imgH="414020"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2" y="2208"/>
                          <a:ext cx="1488" cy="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904" name="Rectangle 11"/>
            <p:cNvSpPr>
              <a:spLocks noChangeArrowheads="1"/>
            </p:cNvSpPr>
            <p:nvPr/>
          </p:nvSpPr>
          <p:spPr bwMode="auto">
            <a:xfrm>
              <a:off x="3072" y="2400"/>
              <a:ext cx="873"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b="1">
                  <a:ea typeface="楷体_GB2312" pitchFamily="49" charset="-122"/>
                </a:rPr>
                <a:t>若</a:t>
              </a:r>
              <a:r>
                <a:rPr lang="en-US" altLang="zh-CN" sz="3200" b="1" i="1">
                  <a:ea typeface="楷体_GB2312" pitchFamily="49" charset="-122"/>
                </a:rPr>
                <a:t>n</a:t>
              </a:r>
              <a:r>
                <a:rPr lang="en-US" altLang="zh-CN" sz="3200" b="1" baseline="-30000">
                  <a:ea typeface="楷体_GB2312" pitchFamily="49" charset="-122"/>
                </a:rPr>
                <a:t>2</a:t>
              </a:r>
              <a:r>
                <a:rPr lang="en-US" altLang="zh-CN" sz="3200" b="1">
                  <a:ea typeface="楷体_GB2312" pitchFamily="49" charset="-122"/>
                </a:rPr>
                <a:t>&gt;2</a:t>
              </a:r>
            </a:p>
          </p:txBody>
        </p:sp>
      </p:grpSp>
      <p:sp>
        <p:nvSpPr>
          <p:cNvPr id="211980" name="Rectangle 12"/>
          <p:cNvSpPr>
            <a:spLocks noChangeArrowheads="1"/>
          </p:cNvSpPr>
          <p:nvPr/>
        </p:nvSpPr>
        <p:spPr bwMode="auto">
          <a:xfrm>
            <a:off x="903288" y="1019175"/>
            <a:ext cx="3276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3200" b="1">
                <a:ea typeface="楷体_GB2312" pitchFamily="49" charset="-122"/>
              </a:rPr>
              <a:t>(1)</a:t>
            </a:r>
            <a:r>
              <a:rPr lang="zh-CN" altLang="en-US" sz="3200" b="1">
                <a:ea typeface="楷体_GB2312" pitchFamily="49" charset="-122"/>
              </a:rPr>
              <a:t>由定义可见，</a:t>
            </a:r>
          </a:p>
        </p:txBody>
      </p:sp>
      <p:grpSp>
        <p:nvGrpSpPr>
          <p:cNvPr id="3" name="Group 13"/>
          <p:cNvGrpSpPr/>
          <p:nvPr/>
        </p:nvGrpSpPr>
        <p:grpSpPr bwMode="auto">
          <a:xfrm>
            <a:off x="3995738" y="765175"/>
            <a:ext cx="3886200" cy="1011238"/>
            <a:chOff x="2016" y="3024"/>
            <a:chExt cx="2448" cy="637"/>
          </a:xfrm>
        </p:grpSpPr>
        <p:graphicFrame>
          <p:nvGraphicFramePr>
            <p:cNvPr id="37901" name="Object 14"/>
            <p:cNvGraphicFramePr>
              <a:graphicFrameLocks noChangeAspect="1"/>
            </p:cNvGraphicFramePr>
            <p:nvPr/>
          </p:nvGraphicFramePr>
          <p:xfrm>
            <a:off x="2016" y="3024"/>
            <a:ext cx="960" cy="637"/>
          </p:xfrm>
          <a:graphic>
            <a:graphicData uri="http://schemas.openxmlformats.org/presentationml/2006/ole">
              <mc:AlternateContent xmlns:mc="http://schemas.openxmlformats.org/markup-compatibility/2006">
                <mc:Choice xmlns:v="urn:schemas-microsoft-com:vml" Requires="v">
                  <p:oleObj spid="_x0000_s37950" name="Equation" r:id="rId5" imgW="657225" imgH="414020" progId="Equation.3">
                    <p:embed/>
                  </p:oleObj>
                </mc:Choice>
                <mc:Fallback>
                  <p:oleObj name="Equation" r:id="rId5" imgW="657225" imgH="414020" progId="Equation.3">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16" y="3024"/>
                          <a:ext cx="960" cy="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902" name="Rectangle 15"/>
            <p:cNvSpPr>
              <a:spLocks noChangeArrowheads="1"/>
            </p:cNvSpPr>
            <p:nvPr/>
          </p:nvSpPr>
          <p:spPr bwMode="auto">
            <a:xfrm>
              <a:off x="3024" y="3120"/>
              <a:ext cx="144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3200" b="1">
                  <a:ea typeface="楷体_GB2312" pitchFamily="49" charset="-122"/>
                </a:rPr>
                <a:t>~</a:t>
              </a:r>
              <a:r>
                <a:rPr lang="en-US" altLang="zh-CN" sz="3200" b="1" i="1">
                  <a:ea typeface="楷体_GB2312" pitchFamily="49" charset="-122"/>
                </a:rPr>
                <a:t>F</a:t>
              </a:r>
              <a:r>
                <a:rPr lang="en-US" altLang="zh-CN" sz="3200" b="1">
                  <a:ea typeface="楷体_GB2312" pitchFamily="49" charset="-122"/>
                </a:rPr>
                <a:t>(</a:t>
              </a:r>
              <a:r>
                <a:rPr lang="en-US" altLang="zh-CN" sz="3200" b="1" i="1">
                  <a:ea typeface="楷体_GB2312" pitchFamily="49" charset="-122"/>
                </a:rPr>
                <a:t>n</a:t>
              </a:r>
              <a:r>
                <a:rPr lang="en-US" altLang="zh-CN" sz="3200" b="1" baseline="-30000">
                  <a:ea typeface="楷体_GB2312" pitchFamily="49" charset="-122"/>
                </a:rPr>
                <a:t>2</a:t>
              </a:r>
              <a:r>
                <a:rPr lang="en-US" altLang="zh-CN" sz="3200" b="1">
                  <a:ea typeface="楷体_GB2312" pitchFamily="49" charset="-122"/>
                </a:rPr>
                <a:t>,</a:t>
              </a:r>
              <a:r>
                <a:rPr lang="en-US" altLang="zh-CN" sz="3200" b="1" i="1">
                  <a:ea typeface="楷体_GB2312" pitchFamily="49" charset="-122"/>
                </a:rPr>
                <a:t>n</a:t>
              </a:r>
              <a:r>
                <a:rPr lang="en-US" altLang="zh-CN" sz="3200" b="1" baseline="-30000">
                  <a:ea typeface="楷体_GB2312" pitchFamily="49" charset="-122"/>
                </a:rPr>
                <a:t>1</a:t>
              </a:r>
              <a:r>
                <a:rPr lang="en-US" altLang="zh-CN" sz="3200" b="1">
                  <a:ea typeface="楷体_GB2312" pitchFamily="49" charset="-122"/>
                </a:rPr>
                <a:t>)</a:t>
              </a:r>
            </a:p>
          </p:txBody>
        </p:sp>
      </p:grpSp>
      <p:sp>
        <p:nvSpPr>
          <p:cNvPr id="37900" name="Rectangle 16"/>
          <p:cNvSpPr>
            <a:spLocks noChangeArrowheads="1"/>
          </p:cNvSpPr>
          <p:nvPr/>
        </p:nvSpPr>
        <p:spPr bwMode="auto">
          <a:xfrm>
            <a:off x="827088" y="333375"/>
            <a:ext cx="1524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3200" b="1">
                <a:ea typeface="楷体_GB2312" pitchFamily="49" charset="-122"/>
              </a:rPr>
              <a:t>2.</a:t>
            </a:r>
            <a:r>
              <a:rPr lang="zh-CN" altLang="en-US" sz="3200" b="1">
                <a:ea typeface="楷体_GB2312" pitchFamily="49" charset="-122"/>
              </a:rPr>
              <a:t>性质</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1980"/>
                                        </p:tgtEl>
                                        <p:attrNameLst>
                                          <p:attrName>style.visibility</p:attrName>
                                        </p:attrNameLst>
                                      </p:cBhvr>
                                      <p:to>
                                        <p:strVal val="visible"/>
                                      </p:to>
                                    </p:set>
                                    <p:anim calcmode="lin" valueType="num">
                                      <p:cBhvr additive="base">
                                        <p:cTn id="7" dur="500" fill="hold"/>
                                        <p:tgtEl>
                                          <p:spTgt spid="211980"/>
                                        </p:tgtEl>
                                        <p:attrNameLst>
                                          <p:attrName>ppt_x</p:attrName>
                                        </p:attrNameLst>
                                      </p:cBhvr>
                                      <p:tavLst>
                                        <p:tav tm="0">
                                          <p:val>
                                            <p:strVal val="0-#ppt_w/2"/>
                                          </p:val>
                                        </p:tav>
                                        <p:tav tm="100000">
                                          <p:val>
                                            <p:strVal val="#ppt_x"/>
                                          </p:val>
                                        </p:tav>
                                      </p:tavLst>
                                    </p:anim>
                                    <p:anim calcmode="lin" valueType="num">
                                      <p:cBhvr additive="base">
                                        <p:cTn id="8" dur="500" fill="hold"/>
                                        <p:tgtEl>
                                          <p:spTgt spid="21198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499"/>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1975"/>
                                        </p:tgtEl>
                                        <p:attrNameLst>
                                          <p:attrName>style.visibility</p:attrName>
                                        </p:attrNameLst>
                                      </p:cBhvr>
                                      <p:to>
                                        <p:strVal val="visible"/>
                                      </p:to>
                                    </p:set>
                                    <p:animEffect transition="in" filter="wipe(left)">
                                      <p:cBhvr>
                                        <p:cTn id="17" dur="500"/>
                                        <p:tgtEl>
                                          <p:spTgt spid="211975"/>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499"/>
                                          </p:stCondLst>
                                        </p:cTn>
                                        <p:tgtEl>
                                          <p:spTgt spid="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11972"/>
                                        </p:tgtEl>
                                        <p:attrNameLst>
                                          <p:attrName>style.visibility</p:attrName>
                                        </p:attrNameLst>
                                      </p:cBhvr>
                                      <p:to>
                                        <p:strVal val="visible"/>
                                      </p:to>
                                    </p:set>
                                    <p:animEffect transition="in" filter="wipe(left)">
                                      <p:cBhvr>
                                        <p:cTn id="26" dur="500"/>
                                        <p:tgtEl>
                                          <p:spTgt spid="2119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72" grpId="0" autoUpdateAnimBg="0"/>
      <p:bldP spid="211975" grpId="0" autoUpdateAnimBg="0"/>
      <p:bldP spid="211980" grpId="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Text Box 2"/>
          <p:cNvSpPr txBox="1">
            <a:spLocks noChangeArrowheads="1"/>
          </p:cNvSpPr>
          <p:nvPr/>
        </p:nvSpPr>
        <p:spPr bwMode="auto">
          <a:xfrm>
            <a:off x="825500" y="287338"/>
            <a:ext cx="5638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b="1">
                <a:ea typeface="楷体_GB2312" pitchFamily="49" charset="-122"/>
              </a:rPr>
              <a:t>(3)F </a:t>
            </a:r>
            <a:r>
              <a:rPr lang="zh-CN" altLang="en-US" sz="2800" b="1">
                <a:ea typeface="楷体_GB2312" pitchFamily="49" charset="-122"/>
              </a:rPr>
              <a:t>分布的分位点</a:t>
            </a:r>
          </a:p>
        </p:txBody>
      </p:sp>
      <p:sp>
        <p:nvSpPr>
          <p:cNvPr id="212995" name="Text Box 3"/>
          <p:cNvSpPr txBox="1">
            <a:spLocks noChangeArrowheads="1"/>
          </p:cNvSpPr>
          <p:nvPr/>
        </p:nvSpPr>
        <p:spPr bwMode="auto">
          <a:xfrm>
            <a:off x="684213" y="1254125"/>
            <a:ext cx="4191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b="1">
                <a:ea typeface="楷体_GB2312" pitchFamily="49" charset="-122"/>
              </a:rPr>
              <a:t>     对于给定的正数</a:t>
            </a:r>
          </a:p>
        </p:txBody>
      </p:sp>
      <p:graphicFrame>
        <p:nvGraphicFramePr>
          <p:cNvPr id="212996" name="Object 4"/>
          <p:cNvGraphicFramePr>
            <a:graphicFrameLocks noChangeAspect="1"/>
          </p:cNvGraphicFramePr>
          <p:nvPr/>
        </p:nvGraphicFramePr>
        <p:xfrm>
          <a:off x="3995738" y="1268413"/>
          <a:ext cx="1981200" cy="449262"/>
        </p:xfrm>
        <a:graphic>
          <a:graphicData uri="http://schemas.openxmlformats.org/presentationml/2006/ole">
            <mc:AlternateContent xmlns:mc="http://schemas.openxmlformats.org/markup-compatibility/2006">
              <mc:Choice xmlns:v="urn:schemas-microsoft-com:vml" Requires="v">
                <p:oleObj spid="_x0000_s65561" name="Equation" r:id="rId3" imgW="1609725" imgH="356235" progId="Equation.3">
                  <p:embed/>
                </p:oleObj>
              </mc:Choice>
              <mc:Fallback>
                <p:oleObj name="Equation" r:id="rId3" imgW="1609725" imgH="356235" progId="Equation.3">
                  <p:embed/>
                  <p:pic>
                    <p:nvPicPr>
                      <p:cNvPr id="0" name="Object 4"/>
                      <p:cNvPicPr>
                        <a:picLocks noChangeAspect="1" noChangeArrowheads="1"/>
                      </p:cNvPicPr>
                      <p:nvPr/>
                    </p:nvPicPr>
                    <p:blipFill>
                      <a:blip r:embed="rId4">
                        <a:lum bright="-100000"/>
                        <a:extLst>
                          <a:ext uri="{28A0092B-C50C-407E-A947-70E740481C1C}">
                            <a14:useLocalDpi xmlns:a14="http://schemas.microsoft.com/office/drawing/2010/main" val="0"/>
                          </a:ext>
                        </a:extLst>
                      </a:blip>
                      <a:srcRect/>
                      <a:stretch>
                        <a:fillRect/>
                      </a:stretch>
                    </p:blipFill>
                    <p:spPr bwMode="auto">
                      <a:xfrm>
                        <a:off x="3995738" y="1268413"/>
                        <a:ext cx="1981200"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2997" name="Text Box 5"/>
          <p:cNvSpPr txBox="1">
            <a:spLocks noChangeArrowheads="1"/>
          </p:cNvSpPr>
          <p:nvPr/>
        </p:nvSpPr>
        <p:spPr bwMode="auto">
          <a:xfrm>
            <a:off x="6388100" y="1201738"/>
            <a:ext cx="2438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b="1">
                <a:ea typeface="楷体_GB2312" pitchFamily="49" charset="-122"/>
              </a:rPr>
              <a:t>称满足条件</a:t>
            </a:r>
          </a:p>
        </p:txBody>
      </p:sp>
      <p:graphicFrame>
        <p:nvGraphicFramePr>
          <p:cNvPr id="212998" name="Object 6"/>
          <p:cNvGraphicFramePr>
            <a:graphicFrameLocks noChangeAspect="1"/>
          </p:cNvGraphicFramePr>
          <p:nvPr/>
        </p:nvGraphicFramePr>
        <p:xfrm>
          <a:off x="901700" y="1749425"/>
          <a:ext cx="7589838" cy="1209675"/>
        </p:xfrm>
        <a:graphic>
          <a:graphicData uri="http://schemas.openxmlformats.org/presentationml/2006/ole">
            <mc:AlternateContent xmlns:mc="http://schemas.openxmlformats.org/markup-compatibility/2006">
              <mc:Choice xmlns:v="urn:schemas-microsoft-com:vml" Requires="v">
                <p:oleObj spid="_x0000_s65562" name="公式" r:id="rId5" imgW="2124075" imgH="481330" progId="Equation.3">
                  <p:embed/>
                </p:oleObj>
              </mc:Choice>
              <mc:Fallback>
                <p:oleObj name="公式" r:id="rId5" imgW="2124075" imgH="481330" progId="Equation.3">
                  <p:embed/>
                  <p:pic>
                    <p:nvPicPr>
                      <p:cNvPr id="0" name="Object 6"/>
                      <p:cNvPicPr>
                        <a:picLocks noChangeAspect="1" noChangeArrowheads="1"/>
                      </p:cNvPicPr>
                      <p:nvPr/>
                    </p:nvPicPr>
                    <p:blipFill>
                      <a:blip r:embed="rId6">
                        <a:lum bright="-100000"/>
                        <a:extLst>
                          <a:ext uri="{28A0092B-C50C-407E-A947-70E740481C1C}">
                            <a14:useLocalDpi xmlns:a14="http://schemas.microsoft.com/office/drawing/2010/main" val="0"/>
                          </a:ext>
                        </a:extLst>
                      </a:blip>
                      <a:srcRect/>
                      <a:stretch>
                        <a:fillRect/>
                      </a:stretch>
                    </p:blipFill>
                    <p:spPr bwMode="auto">
                      <a:xfrm>
                        <a:off x="901700" y="1749425"/>
                        <a:ext cx="7589838" cy="1209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2999" name="Rectangle 7"/>
          <p:cNvSpPr>
            <a:spLocks noChangeArrowheads="1"/>
          </p:cNvSpPr>
          <p:nvPr/>
        </p:nvSpPr>
        <p:spPr bwMode="auto">
          <a:xfrm>
            <a:off x="539750" y="2997200"/>
            <a:ext cx="898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b="1">
                <a:ea typeface="楷体_GB2312" pitchFamily="49" charset="-122"/>
              </a:rPr>
              <a:t>的点</a:t>
            </a:r>
          </a:p>
        </p:txBody>
      </p:sp>
      <p:sp>
        <p:nvSpPr>
          <p:cNvPr id="213000" name="Text Box 8"/>
          <p:cNvSpPr txBox="1">
            <a:spLocks noChangeArrowheads="1"/>
          </p:cNvSpPr>
          <p:nvPr/>
        </p:nvSpPr>
        <p:spPr bwMode="auto">
          <a:xfrm>
            <a:off x="3195638" y="2974975"/>
            <a:ext cx="685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b="1">
                <a:ea typeface="楷体_GB2312" pitchFamily="49" charset="-122"/>
              </a:rPr>
              <a:t>为</a:t>
            </a:r>
          </a:p>
        </p:txBody>
      </p:sp>
      <p:sp>
        <p:nvSpPr>
          <p:cNvPr id="213001" name="Rectangle 9"/>
          <p:cNvSpPr>
            <a:spLocks noChangeArrowheads="1"/>
          </p:cNvSpPr>
          <p:nvPr/>
        </p:nvSpPr>
        <p:spPr bwMode="auto">
          <a:xfrm>
            <a:off x="7596188" y="3141663"/>
            <a:ext cx="12557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ea typeface="楷体_GB2312" pitchFamily="49" charset="-122"/>
              </a:rPr>
              <a:t>分位点</a:t>
            </a:r>
          </a:p>
        </p:txBody>
      </p:sp>
      <p:sp>
        <p:nvSpPr>
          <p:cNvPr id="213002" name="Rectangle 10"/>
          <p:cNvSpPr>
            <a:spLocks noChangeArrowheads="1"/>
          </p:cNvSpPr>
          <p:nvPr/>
        </p:nvSpPr>
        <p:spPr bwMode="auto">
          <a:xfrm>
            <a:off x="5572125" y="3086100"/>
            <a:ext cx="1612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ea typeface="楷体_GB2312" pitchFamily="49" charset="-122"/>
              </a:rPr>
              <a:t>分布的上</a:t>
            </a:r>
          </a:p>
        </p:txBody>
      </p:sp>
      <p:graphicFrame>
        <p:nvGraphicFramePr>
          <p:cNvPr id="213003" name="Object 11"/>
          <p:cNvGraphicFramePr>
            <a:graphicFrameLocks noChangeAspect="1"/>
          </p:cNvGraphicFramePr>
          <p:nvPr/>
        </p:nvGraphicFramePr>
        <p:xfrm>
          <a:off x="7092950" y="3141663"/>
          <a:ext cx="685800" cy="514350"/>
        </p:xfrm>
        <a:graphic>
          <a:graphicData uri="http://schemas.openxmlformats.org/presentationml/2006/ole">
            <mc:AlternateContent xmlns:mc="http://schemas.openxmlformats.org/markup-compatibility/2006">
              <mc:Choice xmlns:v="urn:schemas-microsoft-com:vml" Requires="v">
                <p:oleObj spid="_x0000_s65563" name="Equation" r:id="rId7" imgW="133350" imgH="125095" progId="Equation.3">
                  <p:embed/>
                </p:oleObj>
              </mc:Choice>
              <mc:Fallback>
                <p:oleObj name="Equation" r:id="rId7" imgW="133350" imgH="125095" progId="Equation.3">
                  <p:embed/>
                  <p:pic>
                    <p:nvPicPr>
                      <p:cNvPr id="0" name="Object 11"/>
                      <p:cNvPicPr>
                        <a:picLocks noChangeAspect="1" noChangeArrowheads="1"/>
                      </p:cNvPicPr>
                      <p:nvPr/>
                    </p:nvPicPr>
                    <p:blipFill>
                      <a:blip r:embed="rId8">
                        <a:lum bright="-100000"/>
                        <a:extLst>
                          <a:ext uri="{28A0092B-C50C-407E-A947-70E740481C1C}">
                            <a14:useLocalDpi xmlns:a14="http://schemas.microsoft.com/office/drawing/2010/main" val="0"/>
                          </a:ext>
                        </a:extLst>
                      </a:blip>
                      <a:srcRect/>
                      <a:stretch>
                        <a:fillRect/>
                      </a:stretch>
                    </p:blipFill>
                    <p:spPr bwMode="auto">
                      <a:xfrm>
                        <a:off x="7092950" y="3141663"/>
                        <a:ext cx="685800" cy="51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24" name="Line 12"/>
          <p:cNvSpPr>
            <a:spLocks noChangeShapeType="1"/>
          </p:cNvSpPr>
          <p:nvPr/>
        </p:nvSpPr>
        <p:spPr bwMode="auto">
          <a:xfrm>
            <a:off x="2806700" y="5240338"/>
            <a:ext cx="41910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25" name="Line 13"/>
          <p:cNvSpPr>
            <a:spLocks noChangeShapeType="1"/>
          </p:cNvSpPr>
          <p:nvPr/>
        </p:nvSpPr>
        <p:spPr bwMode="auto">
          <a:xfrm>
            <a:off x="5168900" y="4630738"/>
            <a:ext cx="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38926" name="Group 14"/>
          <p:cNvGrpSpPr/>
          <p:nvPr/>
        </p:nvGrpSpPr>
        <p:grpSpPr bwMode="auto">
          <a:xfrm>
            <a:off x="5168900" y="4859338"/>
            <a:ext cx="533400" cy="381000"/>
            <a:chOff x="3216" y="3120"/>
            <a:chExt cx="336" cy="240"/>
          </a:xfrm>
        </p:grpSpPr>
        <p:sp>
          <p:nvSpPr>
            <p:cNvPr id="38936" name="Line 15"/>
            <p:cNvSpPr>
              <a:spLocks noChangeShapeType="1"/>
            </p:cNvSpPr>
            <p:nvPr/>
          </p:nvSpPr>
          <p:spPr bwMode="auto">
            <a:xfrm flipH="1">
              <a:off x="3216" y="3120"/>
              <a:ext cx="96"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37" name="Line 16"/>
            <p:cNvSpPr>
              <a:spLocks noChangeShapeType="1"/>
            </p:cNvSpPr>
            <p:nvPr/>
          </p:nvSpPr>
          <p:spPr bwMode="auto">
            <a:xfrm flipH="1">
              <a:off x="3216" y="3168"/>
              <a:ext cx="144"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38" name="Line 17"/>
            <p:cNvSpPr>
              <a:spLocks noChangeShapeType="1"/>
            </p:cNvSpPr>
            <p:nvPr/>
          </p:nvSpPr>
          <p:spPr bwMode="auto">
            <a:xfrm flipH="1">
              <a:off x="3312" y="3216"/>
              <a:ext cx="144"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39" name="Line 18"/>
            <p:cNvSpPr>
              <a:spLocks noChangeShapeType="1"/>
            </p:cNvSpPr>
            <p:nvPr/>
          </p:nvSpPr>
          <p:spPr bwMode="auto">
            <a:xfrm flipH="1">
              <a:off x="3456" y="3264"/>
              <a:ext cx="96"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213011" name="Object 19"/>
          <p:cNvGraphicFramePr>
            <a:graphicFrameLocks noChangeAspect="1"/>
          </p:cNvGraphicFramePr>
          <p:nvPr/>
        </p:nvGraphicFramePr>
        <p:xfrm>
          <a:off x="1403350" y="2997200"/>
          <a:ext cx="1655763" cy="596900"/>
        </p:xfrm>
        <a:graphic>
          <a:graphicData uri="http://schemas.openxmlformats.org/presentationml/2006/ole">
            <mc:AlternateContent xmlns:mc="http://schemas.openxmlformats.org/markup-compatibility/2006">
              <mc:Choice xmlns:v="urn:schemas-microsoft-com:vml" Requires="v">
                <p:oleObj spid="_x0000_s65564" name="公式" r:id="rId9" imgW="619125" imgH="211455" progId="Equation.3">
                  <p:embed/>
                </p:oleObj>
              </mc:Choice>
              <mc:Fallback>
                <p:oleObj name="公式" r:id="rId9" imgW="619125" imgH="211455" progId="Equation.3">
                  <p:embed/>
                  <p:pic>
                    <p:nvPicPr>
                      <p:cNvPr id="0" name="Object 19"/>
                      <p:cNvPicPr>
                        <a:picLocks noChangeAspect="1" noChangeArrowheads="1"/>
                      </p:cNvPicPr>
                      <p:nvPr/>
                    </p:nvPicPr>
                    <p:blipFill>
                      <a:blip r:embed="rId10">
                        <a:lum bright="-100000"/>
                        <a:extLst>
                          <a:ext uri="{28A0092B-C50C-407E-A947-70E740481C1C}">
                            <a14:useLocalDpi xmlns:a14="http://schemas.microsoft.com/office/drawing/2010/main" val="0"/>
                          </a:ext>
                        </a:extLst>
                      </a:blip>
                      <a:srcRect/>
                      <a:stretch>
                        <a:fillRect/>
                      </a:stretch>
                    </p:blipFill>
                    <p:spPr bwMode="auto">
                      <a:xfrm>
                        <a:off x="1403350" y="2997200"/>
                        <a:ext cx="1655763"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28" name="Line 20"/>
          <p:cNvSpPr>
            <a:spLocks noChangeShapeType="1"/>
          </p:cNvSpPr>
          <p:nvPr/>
        </p:nvSpPr>
        <p:spPr bwMode="auto">
          <a:xfrm flipH="1">
            <a:off x="5549900" y="4402138"/>
            <a:ext cx="83820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8929" name="Object 21"/>
          <p:cNvGraphicFramePr>
            <a:graphicFrameLocks noChangeAspect="1"/>
          </p:cNvGraphicFramePr>
          <p:nvPr/>
        </p:nvGraphicFramePr>
        <p:xfrm>
          <a:off x="6388100" y="4097338"/>
          <a:ext cx="685800" cy="514350"/>
        </p:xfrm>
        <a:graphic>
          <a:graphicData uri="http://schemas.openxmlformats.org/presentationml/2006/ole">
            <mc:AlternateContent xmlns:mc="http://schemas.openxmlformats.org/markup-compatibility/2006">
              <mc:Choice xmlns:v="urn:schemas-microsoft-com:vml" Requires="v">
                <p:oleObj spid="_x0000_s65565" name="Equation" r:id="rId11" imgW="133350" imgH="125095" progId="Equation.3">
                  <p:embed/>
                </p:oleObj>
              </mc:Choice>
              <mc:Fallback>
                <p:oleObj name="Equation" r:id="rId11" imgW="133350" imgH="125095" progId="Equation.3">
                  <p:embed/>
                  <p:pic>
                    <p:nvPicPr>
                      <p:cNvPr id="0" name="Object 21"/>
                      <p:cNvPicPr>
                        <a:picLocks noChangeAspect="1" noChangeArrowheads="1"/>
                      </p:cNvPicPr>
                      <p:nvPr/>
                    </p:nvPicPr>
                    <p:blipFill>
                      <a:blip r:embed="rId12">
                        <a:lum bright="-100000"/>
                        <a:extLst>
                          <a:ext uri="{28A0092B-C50C-407E-A947-70E740481C1C}">
                            <a14:useLocalDpi xmlns:a14="http://schemas.microsoft.com/office/drawing/2010/main" val="0"/>
                          </a:ext>
                        </a:extLst>
                      </a:blip>
                      <a:srcRect/>
                      <a:stretch>
                        <a:fillRect/>
                      </a:stretch>
                    </p:blipFill>
                    <p:spPr bwMode="auto">
                      <a:xfrm>
                        <a:off x="6388100" y="4097338"/>
                        <a:ext cx="685800" cy="51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30" name="Line 22"/>
          <p:cNvSpPr>
            <a:spLocks noChangeShapeType="1"/>
          </p:cNvSpPr>
          <p:nvPr/>
        </p:nvSpPr>
        <p:spPr bwMode="auto">
          <a:xfrm>
            <a:off x="3568700" y="5240338"/>
            <a:ext cx="34290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31" name="Line 23"/>
          <p:cNvSpPr>
            <a:spLocks noChangeShapeType="1"/>
          </p:cNvSpPr>
          <p:nvPr/>
        </p:nvSpPr>
        <p:spPr bwMode="auto">
          <a:xfrm>
            <a:off x="3568700" y="4021138"/>
            <a:ext cx="0" cy="1219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32" name="Freeform 24"/>
          <p:cNvSpPr/>
          <p:nvPr/>
        </p:nvSpPr>
        <p:spPr bwMode="auto">
          <a:xfrm>
            <a:off x="3568700" y="3944938"/>
            <a:ext cx="3200400" cy="1295400"/>
          </a:xfrm>
          <a:custGeom>
            <a:avLst/>
            <a:gdLst>
              <a:gd name="T0" fmla="*/ 0 w 2016"/>
              <a:gd name="T1" fmla="*/ 2147483646 h 688"/>
              <a:gd name="T2" fmla="*/ 2147483646 w 2016"/>
              <a:gd name="T3" fmla="*/ 2147483646 h 688"/>
              <a:gd name="T4" fmla="*/ 2147483646 w 2016"/>
              <a:gd name="T5" fmla="*/ 2147483646 h 688"/>
              <a:gd name="T6" fmla="*/ 2147483646 w 2016"/>
              <a:gd name="T7" fmla="*/ 2147483646 h 688"/>
              <a:gd name="T8" fmla="*/ 2147483646 w 2016"/>
              <a:gd name="T9" fmla="*/ 2147483646 h 688"/>
              <a:gd name="T10" fmla="*/ 2147483646 w 2016"/>
              <a:gd name="T11" fmla="*/ 2147483646 h 688"/>
              <a:gd name="T12" fmla="*/ 0 60000 65536"/>
              <a:gd name="T13" fmla="*/ 0 60000 65536"/>
              <a:gd name="T14" fmla="*/ 0 60000 65536"/>
              <a:gd name="T15" fmla="*/ 0 60000 65536"/>
              <a:gd name="T16" fmla="*/ 0 60000 65536"/>
              <a:gd name="T17" fmla="*/ 0 60000 65536"/>
              <a:gd name="T18" fmla="*/ 0 w 2016"/>
              <a:gd name="T19" fmla="*/ 0 h 688"/>
              <a:gd name="T20" fmla="*/ 2016 w 2016"/>
              <a:gd name="T21" fmla="*/ 688 h 688"/>
            </a:gdLst>
            <a:ahLst/>
            <a:cxnLst>
              <a:cxn ang="T12">
                <a:pos x="T0" y="T1"/>
              </a:cxn>
              <a:cxn ang="T13">
                <a:pos x="T2" y="T3"/>
              </a:cxn>
              <a:cxn ang="T14">
                <a:pos x="T4" y="T5"/>
              </a:cxn>
              <a:cxn ang="T15">
                <a:pos x="T6" y="T7"/>
              </a:cxn>
              <a:cxn ang="T16">
                <a:pos x="T8" y="T9"/>
              </a:cxn>
              <a:cxn ang="T17">
                <a:pos x="T10" y="T11"/>
              </a:cxn>
            </a:cxnLst>
            <a:rect l="T18" t="T19" r="T20" b="T21"/>
            <a:pathLst>
              <a:path w="2016" h="688">
                <a:moveTo>
                  <a:pt x="0" y="688"/>
                </a:moveTo>
                <a:cubicBezTo>
                  <a:pt x="140" y="408"/>
                  <a:pt x="280" y="128"/>
                  <a:pt x="432" y="64"/>
                </a:cubicBezTo>
                <a:cubicBezTo>
                  <a:pt x="584" y="0"/>
                  <a:pt x="768" y="224"/>
                  <a:pt x="912" y="304"/>
                </a:cubicBezTo>
                <a:cubicBezTo>
                  <a:pt x="1056" y="384"/>
                  <a:pt x="1152" y="488"/>
                  <a:pt x="1296" y="544"/>
                </a:cubicBezTo>
                <a:cubicBezTo>
                  <a:pt x="1440" y="600"/>
                  <a:pt x="1656" y="624"/>
                  <a:pt x="1776" y="640"/>
                </a:cubicBezTo>
                <a:cubicBezTo>
                  <a:pt x="1896" y="656"/>
                  <a:pt x="1956" y="648"/>
                  <a:pt x="2016" y="640"/>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213017" name="Object 25"/>
          <p:cNvGraphicFramePr>
            <a:graphicFrameLocks noChangeAspect="1"/>
          </p:cNvGraphicFramePr>
          <p:nvPr/>
        </p:nvGraphicFramePr>
        <p:xfrm>
          <a:off x="3843338" y="2974975"/>
          <a:ext cx="1778000" cy="658813"/>
        </p:xfrm>
        <a:graphic>
          <a:graphicData uri="http://schemas.openxmlformats.org/presentationml/2006/ole">
            <mc:AlternateContent xmlns:mc="http://schemas.openxmlformats.org/markup-compatibility/2006">
              <mc:Choice xmlns:v="urn:schemas-microsoft-com:vml" Requires="v">
                <p:oleObj spid="_x0000_s65566" name="公式" r:id="rId13" imgW="561975" imgH="201930" progId="Equation.3">
                  <p:embed/>
                </p:oleObj>
              </mc:Choice>
              <mc:Fallback>
                <p:oleObj name="公式" r:id="rId13" imgW="561975" imgH="201930" progId="Equation.3">
                  <p:embed/>
                  <p:pic>
                    <p:nvPicPr>
                      <p:cNvPr id="0" name="Object 25"/>
                      <p:cNvPicPr>
                        <a:picLocks noChangeAspect="1" noChangeArrowheads="1"/>
                      </p:cNvPicPr>
                      <p:nvPr/>
                    </p:nvPicPr>
                    <p:blipFill>
                      <a:blip r:embed="rId14">
                        <a:lum bright="-100000"/>
                        <a:extLst>
                          <a:ext uri="{28A0092B-C50C-407E-A947-70E740481C1C}">
                            <a14:useLocalDpi xmlns:a14="http://schemas.microsoft.com/office/drawing/2010/main" val="0"/>
                          </a:ext>
                        </a:extLst>
                      </a:blip>
                      <a:srcRect/>
                      <a:stretch>
                        <a:fillRect/>
                      </a:stretch>
                    </p:blipFill>
                    <p:spPr bwMode="auto">
                      <a:xfrm>
                        <a:off x="3843338" y="2974975"/>
                        <a:ext cx="1778000" cy="658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34" name="Object 26"/>
          <p:cNvGraphicFramePr>
            <a:graphicFrameLocks noChangeAspect="1"/>
          </p:cNvGraphicFramePr>
          <p:nvPr/>
        </p:nvGraphicFramePr>
        <p:xfrm>
          <a:off x="4448088" y="5390964"/>
          <a:ext cx="1441623" cy="519600"/>
        </p:xfrm>
        <a:graphic>
          <a:graphicData uri="http://schemas.openxmlformats.org/presentationml/2006/ole">
            <mc:AlternateContent xmlns:mc="http://schemas.openxmlformats.org/markup-compatibility/2006">
              <mc:Choice xmlns:v="urn:schemas-microsoft-com:vml" Requires="v">
                <p:oleObj spid="_x0000_s65567" name="公式" r:id="rId15" imgW="619125" imgH="211455" progId="Equation.3">
                  <p:embed/>
                </p:oleObj>
              </mc:Choice>
              <mc:Fallback>
                <p:oleObj name="公式" r:id="rId15" imgW="619125" imgH="211455" progId="Equation.3">
                  <p:embed/>
                  <p:pic>
                    <p:nvPicPr>
                      <p:cNvPr id="0" name="Object 26"/>
                      <p:cNvPicPr>
                        <a:picLocks noChangeAspect="1" noChangeArrowheads="1"/>
                      </p:cNvPicPr>
                      <p:nvPr/>
                    </p:nvPicPr>
                    <p:blipFill>
                      <a:blip r:embed="rId16">
                        <a:lum bright="-100000"/>
                        <a:extLst>
                          <a:ext uri="{28A0092B-C50C-407E-A947-70E740481C1C}">
                            <a14:useLocalDpi xmlns:a14="http://schemas.microsoft.com/office/drawing/2010/main" val="0"/>
                          </a:ext>
                        </a:extLst>
                      </a:blip>
                      <a:srcRect/>
                      <a:stretch>
                        <a:fillRect/>
                      </a:stretch>
                    </p:blipFill>
                    <p:spPr bwMode="auto">
                      <a:xfrm>
                        <a:off x="4448088" y="5390964"/>
                        <a:ext cx="1441623" cy="519600"/>
                      </a:xfrm>
                      <a:prstGeom prst="rect">
                        <a:avLst/>
                      </a:prstGeom>
                      <a:noFill/>
                      <a:ln>
                        <a:noFill/>
                      </a:ln>
                      <a:effectLst/>
                    </p:spPr>
                  </p:pic>
                </p:oleObj>
              </mc:Fallback>
            </mc:AlternateContent>
          </a:graphicData>
        </a:graphic>
      </p:graphicFrame>
      <p:graphicFrame>
        <p:nvGraphicFramePr>
          <p:cNvPr id="213019" name="Object 27"/>
          <p:cNvGraphicFramePr>
            <a:graphicFrameLocks noChangeAspect="1"/>
          </p:cNvGraphicFramePr>
          <p:nvPr/>
        </p:nvGraphicFramePr>
        <p:xfrm>
          <a:off x="873312" y="5426871"/>
          <a:ext cx="2970026" cy="615020"/>
        </p:xfrm>
        <a:graphic>
          <a:graphicData uri="http://schemas.openxmlformats.org/presentationml/2006/ole">
            <mc:AlternateContent xmlns:mc="http://schemas.openxmlformats.org/markup-compatibility/2006">
              <mc:Choice xmlns:v="urn:schemas-microsoft-com:vml" Requires="v">
                <p:oleObj spid="_x0000_s65568" name="Equation" r:id="rId17" imgW="1085850" imgH="211455" progId="Equation.DSMT4">
                  <p:embed/>
                </p:oleObj>
              </mc:Choice>
              <mc:Fallback>
                <p:oleObj name="Equation" r:id="rId17" imgW="1085850" imgH="211455" progId="Equation.DSMT4">
                  <p:embed/>
                  <p:pic>
                    <p:nvPicPr>
                      <p:cNvPr id="0" name="Object 27"/>
                      <p:cNvPicPr>
                        <a:picLocks noChangeAspect="1" noChangeArrowheads="1"/>
                      </p:cNvPicPr>
                      <p:nvPr/>
                    </p:nvPicPr>
                    <p:blipFill>
                      <a:blip r:embed="rId18">
                        <a:lum bright="-100000"/>
                        <a:extLst>
                          <a:ext uri="{28A0092B-C50C-407E-A947-70E740481C1C}">
                            <a14:useLocalDpi xmlns:a14="http://schemas.microsoft.com/office/drawing/2010/main" val="0"/>
                          </a:ext>
                        </a:extLst>
                      </a:blip>
                      <a:srcRect/>
                      <a:stretch>
                        <a:fillRect/>
                      </a:stretch>
                    </p:blipFill>
                    <p:spPr bwMode="auto">
                      <a:xfrm>
                        <a:off x="873312" y="5426871"/>
                        <a:ext cx="2970026" cy="615020"/>
                      </a:xfrm>
                      <a:prstGeom prst="rect">
                        <a:avLst/>
                      </a:prstGeom>
                      <a:noFill/>
                      <a:ln>
                        <a:noFill/>
                      </a:ln>
                      <a:effec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2994">
                                            <p:txEl>
                                              <p:pRg st="0" end="0"/>
                                            </p:txEl>
                                          </p:spTgt>
                                        </p:tgtEl>
                                        <p:attrNameLst>
                                          <p:attrName>style.visibility</p:attrName>
                                        </p:attrNameLst>
                                      </p:cBhvr>
                                      <p:to>
                                        <p:strVal val="visible"/>
                                      </p:to>
                                    </p:set>
                                    <p:animEffect transition="in" filter="wipe(left)">
                                      <p:cBhvr>
                                        <p:cTn id="7" dur="500"/>
                                        <p:tgtEl>
                                          <p:spTgt spid="21299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2995">
                                            <p:txEl>
                                              <p:pRg st="0" end="0"/>
                                            </p:txEl>
                                          </p:spTgt>
                                        </p:tgtEl>
                                        <p:attrNameLst>
                                          <p:attrName>style.visibility</p:attrName>
                                        </p:attrNameLst>
                                      </p:cBhvr>
                                      <p:to>
                                        <p:strVal val="visible"/>
                                      </p:to>
                                    </p:set>
                                    <p:animEffect transition="in" filter="wipe(left)">
                                      <p:cBhvr>
                                        <p:cTn id="12" dur="500"/>
                                        <p:tgtEl>
                                          <p:spTgt spid="21299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12996"/>
                                        </p:tgtEl>
                                        <p:attrNameLst>
                                          <p:attrName>style.visibility</p:attrName>
                                        </p:attrNameLst>
                                      </p:cBhvr>
                                      <p:to>
                                        <p:strVal val="visible"/>
                                      </p:to>
                                    </p:set>
                                    <p:animEffect transition="in" filter="wipe(left)">
                                      <p:cBhvr>
                                        <p:cTn id="17" dur="500"/>
                                        <p:tgtEl>
                                          <p:spTgt spid="21299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12997">
                                            <p:txEl>
                                              <p:pRg st="0" end="0"/>
                                            </p:txEl>
                                          </p:spTgt>
                                        </p:tgtEl>
                                        <p:attrNameLst>
                                          <p:attrName>style.visibility</p:attrName>
                                        </p:attrNameLst>
                                      </p:cBhvr>
                                      <p:to>
                                        <p:strVal val="visible"/>
                                      </p:to>
                                    </p:set>
                                    <p:animEffect transition="in" filter="wipe(left)">
                                      <p:cBhvr>
                                        <p:cTn id="22" dur="500"/>
                                        <p:tgtEl>
                                          <p:spTgt spid="21299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12998"/>
                                        </p:tgtEl>
                                        <p:attrNameLst>
                                          <p:attrName>style.visibility</p:attrName>
                                        </p:attrNameLst>
                                      </p:cBhvr>
                                      <p:to>
                                        <p:strVal val="visible"/>
                                      </p:to>
                                    </p:set>
                                    <p:animEffect transition="in" filter="wipe(left)">
                                      <p:cBhvr>
                                        <p:cTn id="27" dur="500"/>
                                        <p:tgtEl>
                                          <p:spTgt spid="21299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2999">
                                            <p:txEl>
                                              <p:pRg st="0" end="0"/>
                                            </p:txEl>
                                          </p:spTgt>
                                        </p:tgtEl>
                                        <p:attrNameLst>
                                          <p:attrName>style.visibility</p:attrName>
                                        </p:attrNameLst>
                                      </p:cBhvr>
                                      <p:to>
                                        <p:strVal val="visible"/>
                                      </p:to>
                                    </p:set>
                                    <p:animEffect transition="in" filter="wipe(left)">
                                      <p:cBhvr>
                                        <p:cTn id="32" dur="500"/>
                                        <p:tgtEl>
                                          <p:spTgt spid="212999">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13011"/>
                                        </p:tgtEl>
                                        <p:attrNameLst>
                                          <p:attrName>style.visibility</p:attrName>
                                        </p:attrNameLst>
                                      </p:cBhvr>
                                      <p:to>
                                        <p:strVal val="visible"/>
                                      </p:to>
                                    </p:set>
                                    <p:animEffect transition="in" filter="wipe(left)">
                                      <p:cBhvr>
                                        <p:cTn id="37" dur="500"/>
                                        <p:tgtEl>
                                          <p:spTgt spid="2130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13000">
                                            <p:txEl>
                                              <p:pRg st="0" end="0"/>
                                            </p:txEl>
                                          </p:spTgt>
                                        </p:tgtEl>
                                        <p:attrNameLst>
                                          <p:attrName>style.visibility</p:attrName>
                                        </p:attrNameLst>
                                      </p:cBhvr>
                                      <p:to>
                                        <p:strVal val="visible"/>
                                      </p:to>
                                    </p:set>
                                    <p:animEffect transition="in" filter="wipe(left)">
                                      <p:cBhvr>
                                        <p:cTn id="42" dur="500"/>
                                        <p:tgtEl>
                                          <p:spTgt spid="213000">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13017"/>
                                        </p:tgtEl>
                                        <p:attrNameLst>
                                          <p:attrName>style.visibility</p:attrName>
                                        </p:attrNameLst>
                                      </p:cBhvr>
                                      <p:to>
                                        <p:strVal val="visible"/>
                                      </p:to>
                                    </p:set>
                                    <p:animEffect transition="in" filter="wipe(left)">
                                      <p:cBhvr>
                                        <p:cTn id="47" dur="500"/>
                                        <p:tgtEl>
                                          <p:spTgt spid="21301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13002">
                                            <p:txEl>
                                              <p:pRg st="0" end="0"/>
                                            </p:txEl>
                                          </p:spTgt>
                                        </p:tgtEl>
                                        <p:attrNameLst>
                                          <p:attrName>style.visibility</p:attrName>
                                        </p:attrNameLst>
                                      </p:cBhvr>
                                      <p:to>
                                        <p:strVal val="visible"/>
                                      </p:to>
                                    </p:set>
                                    <p:animEffect transition="in" filter="wipe(left)">
                                      <p:cBhvr>
                                        <p:cTn id="52" dur="500"/>
                                        <p:tgtEl>
                                          <p:spTgt spid="213002">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13003"/>
                                        </p:tgtEl>
                                        <p:attrNameLst>
                                          <p:attrName>style.visibility</p:attrName>
                                        </p:attrNameLst>
                                      </p:cBhvr>
                                      <p:to>
                                        <p:strVal val="visible"/>
                                      </p:to>
                                    </p:set>
                                    <p:animEffect transition="in" filter="wipe(left)">
                                      <p:cBhvr>
                                        <p:cTn id="57" dur="500"/>
                                        <p:tgtEl>
                                          <p:spTgt spid="21300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13001">
                                            <p:txEl>
                                              <p:pRg st="0" end="0"/>
                                            </p:txEl>
                                          </p:spTgt>
                                        </p:tgtEl>
                                        <p:attrNameLst>
                                          <p:attrName>style.visibility</p:attrName>
                                        </p:attrNameLst>
                                      </p:cBhvr>
                                      <p:to>
                                        <p:strVal val="visible"/>
                                      </p:to>
                                    </p:set>
                                    <p:animEffect transition="in" filter="wipe(left)">
                                      <p:cBhvr>
                                        <p:cTn id="62" dur="500"/>
                                        <p:tgtEl>
                                          <p:spTgt spid="213001">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213019"/>
                                        </p:tgtEl>
                                        <p:attrNameLst>
                                          <p:attrName>style.visibility</p:attrName>
                                        </p:attrNameLst>
                                      </p:cBhvr>
                                      <p:to>
                                        <p:strVal val="visible"/>
                                      </p:to>
                                    </p:set>
                                    <p:animEffect transition="in" filter="wipe(left)">
                                      <p:cBhvr>
                                        <p:cTn id="67" dur="500"/>
                                        <p:tgtEl>
                                          <p:spTgt spid="2130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994" grpId="0" build="p" autoUpdateAnimBg="0"/>
      <p:bldP spid="212995" grpId="0" build="p" autoUpdateAnimBg="0"/>
      <p:bldP spid="212997" grpId="0" build="p" autoUpdateAnimBg="0"/>
      <p:bldP spid="212999" grpId="0" build="p" autoUpdateAnimBg="0"/>
      <p:bldP spid="213000" grpId="0" build="p" autoUpdateAnimBg="0"/>
      <p:bldP spid="213001" grpId="0" build="p" autoUpdateAnimBg="0"/>
      <p:bldP spid="213002" grpId="0" build="p"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Text Box 2"/>
          <p:cNvSpPr txBox="1">
            <a:spLocks noChangeArrowheads="1"/>
          </p:cNvSpPr>
          <p:nvPr/>
        </p:nvSpPr>
        <p:spPr bwMode="auto">
          <a:xfrm>
            <a:off x="899592" y="92592"/>
            <a:ext cx="50405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3600" b="1" dirty="0">
                <a:ea typeface="楷体_GB2312" pitchFamily="49" charset="-122"/>
              </a:rPr>
              <a:t>F </a:t>
            </a:r>
            <a:r>
              <a:rPr lang="zh-CN" altLang="en-US" sz="3600" b="1" dirty="0">
                <a:ea typeface="楷体_GB2312" pitchFamily="49" charset="-122"/>
              </a:rPr>
              <a:t>分布的性质</a:t>
            </a:r>
          </a:p>
        </p:txBody>
      </p:sp>
      <p:graphicFrame>
        <p:nvGraphicFramePr>
          <p:cNvPr id="214019" name="Object 3"/>
          <p:cNvGraphicFramePr>
            <a:graphicFrameLocks noChangeAspect="1"/>
          </p:cNvGraphicFramePr>
          <p:nvPr/>
        </p:nvGraphicFramePr>
        <p:xfrm>
          <a:off x="899592" y="764983"/>
          <a:ext cx="5688632" cy="494561"/>
        </p:xfrm>
        <a:graphic>
          <a:graphicData uri="http://schemas.openxmlformats.org/presentationml/2006/ole">
            <mc:AlternateContent xmlns:mc="http://schemas.openxmlformats.org/markup-compatibility/2006">
              <mc:Choice xmlns:v="urn:schemas-microsoft-com:vml" Requires="v">
                <p:oleObj spid="_x0000_s66585" name="公式" r:id="rId3" imgW="2447925" imgH="201930" progId="Equation.3">
                  <p:embed/>
                </p:oleObj>
              </mc:Choice>
              <mc:Fallback>
                <p:oleObj name="公式" r:id="rId3" imgW="2447925" imgH="201930" progId="Equation.3">
                  <p:embed/>
                  <p:pic>
                    <p:nvPicPr>
                      <p:cNvPr id="0" name="Object 3"/>
                      <p:cNvPicPr>
                        <a:picLocks noChangeAspect="1" noChangeArrowheads="1"/>
                      </p:cNvPicPr>
                      <p:nvPr/>
                    </p:nvPicPr>
                    <p:blipFill>
                      <a:blip r:embed="rId4">
                        <a:lum bright="-100000"/>
                        <a:extLst>
                          <a:ext uri="{28A0092B-C50C-407E-A947-70E740481C1C}">
                            <a14:useLocalDpi xmlns:a14="http://schemas.microsoft.com/office/drawing/2010/main" val="0"/>
                          </a:ext>
                        </a:extLst>
                      </a:blip>
                      <a:srcRect/>
                      <a:stretch>
                        <a:fillRect/>
                      </a:stretch>
                    </p:blipFill>
                    <p:spPr bwMode="auto">
                      <a:xfrm>
                        <a:off x="899592" y="764983"/>
                        <a:ext cx="5688632" cy="494561"/>
                      </a:xfrm>
                      <a:prstGeom prst="rect">
                        <a:avLst/>
                      </a:prstGeom>
                      <a:noFill/>
                      <a:ln>
                        <a:noFill/>
                      </a:ln>
                      <a:effectLst/>
                    </p:spPr>
                  </p:pic>
                </p:oleObj>
              </mc:Fallback>
            </mc:AlternateContent>
          </a:graphicData>
        </a:graphic>
      </p:graphicFrame>
      <p:graphicFrame>
        <p:nvGraphicFramePr>
          <p:cNvPr id="214020" name="Object 4"/>
          <p:cNvGraphicFramePr>
            <a:graphicFrameLocks noChangeAspect="1"/>
          </p:cNvGraphicFramePr>
          <p:nvPr/>
        </p:nvGraphicFramePr>
        <p:xfrm>
          <a:off x="526852" y="1320300"/>
          <a:ext cx="4971060" cy="570657"/>
        </p:xfrm>
        <a:graphic>
          <a:graphicData uri="http://schemas.openxmlformats.org/presentationml/2006/ole">
            <mc:AlternateContent xmlns:mc="http://schemas.openxmlformats.org/markup-compatibility/2006">
              <mc:Choice xmlns:v="urn:schemas-microsoft-com:vml" Requires="v">
                <p:oleObj spid="_x0000_s66586" name="公式" r:id="rId5" imgW="1847850" imgH="201930" progId="Equation.3">
                  <p:embed/>
                </p:oleObj>
              </mc:Choice>
              <mc:Fallback>
                <p:oleObj name="公式" r:id="rId5" imgW="1847850" imgH="201930" progId="Equation.3">
                  <p:embed/>
                  <p:pic>
                    <p:nvPicPr>
                      <p:cNvPr id="0" name="Object 4"/>
                      <p:cNvPicPr>
                        <a:picLocks noChangeAspect="1" noChangeArrowheads="1"/>
                      </p:cNvPicPr>
                      <p:nvPr/>
                    </p:nvPicPr>
                    <p:blipFill>
                      <a:blip r:embed="rId6">
                        <a:lum bright="-100000"/>
                        <a:extLst>
                          <a:ext uri="{28A0092B-C50C-407E-A947-70E740481C1C}">
                            <a14:useLocalDpi xmlns:a14="http://schemas.microsoft.com/office/drawing/2010/main" val="0"/>
                          </a:ext>
                        </a:extLst>
                      </a:blip>
                      <a:srcRect/>
                      <a:stretch>
                        <a:fillRect/>
                      </a:stretch>
                    </p:blipFill>
                    <p:spPr bwMode="auto">
                      <a:xfrm>
                        <a:off x="526852" y="1320300"/>
                        <a:ext cx="4971060" cy="570657"/>
                      </a:xfrm>
                      <a:prstGeom prst="rect">
                        <a:avLst/>
                      </a:prstGeom>
                      <a:noFill/>
                      <a:ln>
                        <a:noFill/>
                      </a:ln>
                      <a:effectLst/>
                    </p:spPr>
                  </p:pic>
                </p:oleObj>
              </mc:Fallback>
            </mc:AlternateContent>
          </a:graphicData>
        </a:graphic>
      </p:graphicFrame>
      <p:graphicFrame>
        <p:nvGraphicFramePr>
          <p:cNvPr id="214021" name="Object 5"/>
          <p:cNvGraphicFramePr>
            <a:graphicFrameLocks noChangeAspect="1"/>
          </p:cNvGraphicFramePr>
          <p:nvPr/>
        </p:nvGraphicFramePr>
        <p:xfrm>
          <a:off x="971600" y="1926572"/>
          <a:ext cx="3442146" cy="550743"/>
        </p:xfrm>
        <a:graphic>
          <a:graphicData uri="http://schemas.openxmlformats.org/presentationml/2006/ole">
            <mc:AlternateContent xmlns:mc="http://schemas.openxmlformats.org/markup-compatibility/2006">
              <mc:Choice xmlns:v="urn:schemas-microsoft-com:vml" Requires="v">
                <p:oleObj spid="_x0000_s66587" name="公式" r:id="rId7" imgW="1238250" imgH="182880" progId="Equation.3">
                  <p:embed/>
                </p:oleObj>
              </mc:Choice>
              <mc:Fallback>
                <p:oleObj name="公式" r:id="rId7" imgW="1238250" imgH="182880" progId="Equation.3">
                  <p:embed/>
                  <p:pic>
                    <p:nvPicPr>
                      <p:cNvPr id="0" name="Object 5"/>
                      <p:cNvPicPr>
                        <a:picLocks noChangeAspect="1" noChangeArrowheads="1"/>
                      </p:cNvPicPr>
                      <p:nvPr/>
                    </p:nvPicPr>
                    <p:blipFill>
                      <a:blip r:embed="rId8">
                        <a:lum bright="-100000"/>
                        <a:extLst>
                          <a:ext uri="{28A0092B-C50C-407E-A947-70E740481C1C}">
                            <a14:useLocalDpi xmlns:a14="http://schemas.microsoft.com/office/drawing/2010/main" val="0"/>
                          </a:ext>
                        </a:extLst>
                      </a:blip>
                      <a:srcRect/>
                      <a:stretch>
                        <a:fillRect/>
                      </a:stretch>
                    </p:blipFill>
                    <p:spPr bwMode="auto">
                      <a:xfrm>
                        <a:off x="971600" y="1926572"/>
                        <a:ext cx="3442146" cy="550743"/>
                      </a:xfrm>
                      <a:prstGeom prst="rect">
                        <a:avLst/>
                      </a:prstGeom>
                      <a:noFill/>
                      <a:ln>
                        <a:noFill/>
                      </a:ln>
                      <a:effectLst/>
                    </p:spPr>
                  </p:pic>
                </p:oleObj>
              </mc:Fallback>
            </mc:AlternateContent>
          </a:graphicData>
        </a:graphic>
      </p:graphicFrame>
      <p:graphicFrame>
        <p:nvGraphicFramePr>
          <p:cNvPr id="214022" name="Object 6"/>
          <p:cNvGraphicFramePr>
            <a:graphicFrameLocks noChangeAspect="1"/>
          </p:cNvGraphicFramePr>
          <p:nvPr/>
        </p:nvGraphicFramePr>
        <p:xfrm>
          <a:off x="838245" y="2453011"/>
          <a:ext cx="6935812" cy="948767"/>
        </p:xfrm>
        <a:graphic>
          <a:graphicData uri="http://schemas.openxmlformats.org/presentationml/2006/ole">
            <mc:AlternateContent xmlns:mc="http://schemas.openxmlformats.org/markup-compatibility/2006">
              <mc:Choice xmlns:v="urn:schemas-microsoft-com:vml" Requires="v">
                <p:oleObj spid="_x0000_s66588" name="公式" r:id="rId9" imgW="2676525" imgH="356235" progId="Equation.3">
                  <p:embed/>
                </p:oleObj>
              </mc:Choice>
              <mc:Fallback>
                <p:oleObj name="公式" r:id="rId9" imgW="2676525" imgH="356235" progId="Equation.3">
                  <p:embed/>
                  <p:pic>
                    <p:nvPicPr>
                      <p:cNvPr id="0" name="Object 6"/>
                      <p:cNvPicPr>
                        <a:picLocks noChangeAspect="1" noChangeArrowheads="1"/>
                      </p:cNvPicPr>
                      <p:nvPr/>
                    </p:nvPicPr>
                    <p:blipFill>
                      <a:blip r:embed="rId10">
                        <a:lum bright="-100000"/>
                        <a:extLst>
                          <a:ext uri="{28A0092B-C50C-407E-A947-70E740481C1C}">
                            <a14:useLocalDpi xmlns:a14="http://schemas.microsoft.com/office/drawing/2010/main" val="0"/>
                          </a:ext>
                        </a:extLst>
                      </a:blip>
                      <a:srcRect/>
                      <a:stretch>
                        <a:fillRect/>
                      </a:stretch>
                    </p:blipFill>
                    <p:spPr bwMode="auto">
                      <a:xfrm>
                        <a:off x="838245" y="2453011"/>
                        <a:ext cx="6935812" cy="948767"/>
                      </a:xfrm>
                      <a:prstGeom prst="rect">
                        <a:avLst/>
                      </a:prstGeom>
                      <a:noFill/>
                      <a:ln>
                        <a:noFill/>
                      </a:ln>
                      <a:effectLst/>
                    </p:spPr>
                  </p:pic>
                </p:oleObj>
              </mc:Fallback>
            </mc:AlternateContent>
          </a:graphicData>
        </a:graphic>
      </p:graphicFrame>
      <p:graphicFrame>
        <p:nvGraphicFramePr>
          <p:cNvPr id="214023" name="Object 7"/>
          <p:cNvGraphicFramePr>
            <a:graphicFrameLocks noChangeAspect="1"/>
          </p:cNvGraphicFramePr>
          <p:nvPr/>
        </p:nvGraphicFramePr>
        <p:xfrm>
          <a:off x="1619672" y="3146686"/>
          <a:ext cx="3553120" cy="936732"/>
        </p:xfrm>
        <a:graphic>
          <a:graphicData uri="http://schemas.openxmlformats.org/presentationml/2006/ole">
            <mc:AlternateContent xmlns:mc="http://schemas.openxmlformats.org/markup-compatibility/2006">
              <mc:Choice xmlns:v="urn:schemas-microsoft-com:vml" Requires="v">
                <p:oleObj spid="_x0000_s66589" name="公式" r:id="rId11" imgW="1381125" imgH="356235" progId="Equation.3">
                  <p:embed/>
                </p:oleObj>
              </mc:Choice>
              <mc:Fallback>
                <p:oleObj name="公式" r:id="rId11" imgW="1381125" imgH="356235" progId="Equation.3">
                  <p:embed/>
                  <p:pic>
                    <p:nvPicPr>
                      <p:cNvPr id="0" name="Object 7"/>
                      <p:cNvPicPr>
                        <a:picLocks noChangeAspect="1" noChangeArrowheads="1"/>
                      </p:cNvPicPr>
                      <p:nvPr/>
                    </p:nvPicPr>
                    <p:blipFill>
                      <a:blip r:embed="rId12">
                        <a:lum bright="-100000"/>
                        <a:extLst>
                          <a:ext uri="{28A0092B-C50C-407E-A947-70E740481C1C}">
                            <a14:useLocalDpi xmlns:a14="http://schemas.microsoft.com/office/drawing/2010/main" val="0"/>
                          </a:ext>
                        </a:extLst>
                      </a:blip>
                      <a:srcRect/>
                      <a:stretch>
                        <a:fillRect/>
                      </a:stretch>
                    </p:blipFill>
                    <p:spPr bwMode="auto">
                      <a:xfrm>
                        <a:off x="1619672" y="3146686"/>
                        <a:ext cx="3553120" cy="936732"/>
                      </a:xfrm>
                      <a:prstGeom prst="rect">
                        <a:avLst/>
                      </a:prstGeom>
                      <a:noFill/>
                      <a:ln>
                        <a:noFill/>
                      </a:ln>
                      <a:effectLst/>
                    </p:spPr>
                  </p:pic>
                </p:oleObj>
              </mc:Fallback>
            </mc:AlternateContent>
          </a:graphicData>
        </a:graphic>
      </p:graphicFrame>
      <p:graphicFrame>
        <p:nvGraphicFramePr>
          <p:cNvPr id="214024" name="Object 8"/>
          <p:cNvGraphicFramePr>
            <a:graphicFrameLocks noChangeAspect="1"/>
          </p:cNvGraphicFramePr>
          <p:nvPr/>
        </p:nvGraphicFramePr>
        <p:xfrm>
          <a:off x="838245" y="4180842"/>
          <a:ext cx="4252912" cy="913589"/>
        </p:xfrm>
        <a:graphic>
          <a:graphicData uri="http://schemas.openxmlformats.org/presentationml/2006/ole">
            <mc:AlternateContent xmlns:mc="http://schemas.openxmlformats.org/markup-compatibility/2006">
              <mc:Choice xmlns:v="urn:schemas-microsoft-com:vml" Requires="v">
                <p:oleObj spid="_x0000_s66590" name="公式" r:id="rId13" imgW="1695450" imgH="356235" progId="Equation.3">
                  <p:embed/>
                </p:oleObj>
              </mc:Choice>
              <mc:Fallback>
                <p:oleObj name="公式" r:id="rId13" imgW="1695450" imgH="356235" progId="Equation.3">
                  <p:embed/>
                  <p:pic>
                    <p:nvPicPr>
                      <p:cNvPr id="0" name="Object 8"/>
                      <p:cNvPicPr>
                        <a:picLocks noChangeAspect="1" noChangeArrowheads="1"/>
                      </p:cNvPicPr>
                      <p:nvPr/>
                    </p:nvPicPr>
                    <p:blipFill>
                      <a:blip r:embed="rId14">
                        <a:lum bright="-100000"/>
                        <a:extLst>
                          <a:ext uri="{28A0092B-C50C-407E-A947-70E740481C1C}">
                            <a14:useLocalDpi xmlns:a14="http://schemas.microsoft.com/office/drawing/2010/main" val="0"/>
                          </a:ext>
                        </a:extLst>
                      </a:blip>
                      <a:srcRect/>
                      <a:stretch>
                        <a:fillRect/>
                      </a:stretch>
                    </p:blipFill>
                    <p:spPr bwMode="auto">
                      <a:xfrm>
                        <a:off x="838245" y="4180842"/>
                        <a:ext cx="4252912" cy="913589"/>
                      </a:xfrm>
                      <a:prstGeom prst="rect">
                        <a:avLst/>
                      </a:prstGeom>
                      <a:noFill/>
                      <a:ln>
                        <a:noFill/>
                      </a:ln>
                      <a:effectLst/>
                    </p:spPr>
                  </p:pic>
                </p:oleObj>
              </mc:Fallback>
            </mc:AlternateContent>
          </a:graphicData>
        </a:graphic>
      </p:graphicFrame>
      <p:graphicFrame>
        <p:nvGraphicFramePr>
          <p:cNvPr id="214025" name="Object 9"/>
          <p:cNvGraphicFramePr>
            <a:graphicFrameLocks noChangeAspect="1"/>
          </p:cNvGraphicFramePr>
          <p:nvPr/>
        </p:nvGraphicFramePr>
        <p:xfrm>
          <a:off x="4211960" y="5191855"/>
          <a:ext cx="2801518" cy="930439"/>
        </p:xfrm>
        <a:graphic>
          <a:graphicData uri="http://schemas.openxmlformats.org/presentationml/2006/ole">
            <mc:AlternateContent xmlns:mc="http://schemas.openxmlformats.org/markup-compatibility/2006">
              <mc:Choice xmlns:v="urn:schemas-microsoft-com:vml" Requires="v">
                <p:oleObj spid="_x0000_s66591" name="公式" r:id="rId15" imgW="1581150" imgH="414020" progId="Equation.3">
                  <p:embed/>
                </p:oleObj>
              </mc:Choice>
              <mc:Fallback>
                <p:oleObj name="公式" r:id="rId15" imgW="1581150" imgH="414020" progId="Equation.3">
                  <p:embed/>
                  <p:pic>
                    <p:nvPicPr>
                      <p:cNvPr id="0" name="Object 9"/>
                      <p:cNvPicPr>
                        <a:picLocks noChangeAspect="1" noChangeArrowheads="1"/>
                      </p:cNvPicPr>
                      <p:nvPr/>
                    </p:nvPicPr>
                    <p:blipFill>
                      <a:blip r:embed="rId16">
                        <a:lum bright="-100000"/>
                        <a:extLst>
                          <a:ext uri="{28A0092B-C50C-407E-A947-70E740481C1C}">
                            <a14:useLocalDpi xmlns:a14="http://schemas.microsoft.com/office/drawing/2010/main" val="0"/>
                          </a:ext>
                        </a:extLst>
                      </a:blip>
                      <a:srcRect/>
                      <a:stretch>
                        <a:fillRect/>
                      </a:stretch>
                    </p:blipFill>
                    <p:spPr bwMode="auto">
                      <a:xfrm>
                        <a:off x="4211960" y="5191855"/>
                        <a:ext cx="2801518" cy="930439"/>
                      </a:xfrm>
                      <a:prstGeom prst="rect">
                        <a:avLst/>
                      </a:prstGeom>
                      <a:noFill/>
                      <a:ln>
                        <a:noFill/>
                      </a:ln>
                      <a:effectLst/>
                    </p:spPr>
                  </p:pic>
                </p:oleObj>
              </mc:Fallback>
            </mc:AlternateContent>
          </a:graphicData>
        </a:graphic>
      </p:graphicFrame>
      <p:graphicFrame>
        <p:nvGraphicFramePr>
          <p:cNvPr id="214026" name="Object 10"/>
          <p:cNvGraphicFramePr>
            <a:graphicFrameLocks noChangeAspect="1"/>
          </p:cNvGraphicFramePr>
          <p:nvPr/>
        </p:nvGraphicFramePr>
        <p:xfrm>
          <a:off x="1352029" y="5298442"/>
          <a:ext cx="2681287" cy="549275"/>
        </p:xfrm>
        <a:graphic>
          <a:graphicData uri="http://schemas.openxmlformats.org/presentationml/2006/ole">
            <mc:AlternateContent xmlns:mc="http://schemas.openxmlformats.org/markup-compatibility/2006">
              <mc:Choice xmlns:v="urn:schemas-microsoft-com:vml" Requires="v">
                <p:oleObj spid="_x0000_s66592" name="公式" r:id="rId17" imgW="1276350" imgH="201930" progId="Equation.3">
                  <p:embed/>
                </p:oleObj>
              </mc:Choice>
              <mc:Fallback>
                <p:oleObj name="公式" r:id="rId17" imgW="1276350" imgH="201930" progId="Equation.3">
                  <p:embed/>
                  <p:pic>
                    <p:nvPicPr>
                      <p:cNvPr id="0" name="Object 10"/>
                      <p:cNvPicPr>
                        <a:picLocks noChangeAspect="1" noChangeArrowheads="1"/>
                      </p:cNvPicPr>
                      <p:nvPr/>
                    </p:nvPicPr>
                    <p:blipFill>
                      <a:blip r:embed="rId18">
                        <a:lum bright="-100000"/>
                        <a:extLst>
                          <a:ext uri="{28A0092B-C50C-407E-A947-70E740481C1C}">
                            <a14:useLocalDpi xmlns:a14="http://schemas.microsoft.com/office/drawing/2010/main" val="0"/>
                          </a:ext>
                        </a:extLst>
                      </a:blip>
                      <a:srcRect/>
                      <a:stretch>
                        <a:fillRect/>
                      </a:stretch>
                    </p:blipFill>
                    <p:spPr bwMode="auto">
                      <a:xfrm>
                        <a:off x="1352029" y="5298442"/>
                        <a:ext cx="2681287"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4018">
                                            <p:txEl>
                                              <p:pRg st="0" end="0"/>
                                            </p:txEl>
                                          </p:spTgt>
                                        </p:tgtEl>
                                        <p:attrNameLst>
                                          <p:attrName>style.visibility</p:attrName>
                                        </p:attrNameLst>
                                      </p:cBhvr>
                                      <p:to>
                                        <p:strVal val="visible"/>
                                      </p:to>
                                    </p:set>
                                    <p:animEffect transition="in" filter="wipe(left)">
                                      <p:cBhvr>
                                        <p:cTn id="7" dur="500"/>
                                        <p:tgtEl>
                                          <p:spTgt spid="2140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4019"/>
                                        </p:tgtEl>
                                        <p:attrNameLst>
                                          <p:attrName>style.visibility</p:attrName>
                                        </p:attrNameLst>
                                      </p:cBhvr>
                                      <p:to>
                                        <p:strVal val="visible"/>
                                      </p:to>
                                    </p:set>
                                    <p:animEffect transition="in" filter="wipe(left)">
                                      <p:cBhvr>
                                        <p:cTn id="12" dur="500"/>
                                        <p:tgtEl>
                                          <p:spTgt spid="2140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14020"/>
                                        </p:tgtEl>
                                        <p:attrNameLst>
                                          <p:attrName>style.visibility</p:attrName>
                                        </p:attrNameLst>
                                      </p:cBhvr>
                                      <p:to>
                                        <p:strVal val="visible"/>
                                      </p:to>
                                    </p:set>
                                    <p:animEffect transition="in" filter="wipe(left)">
                                      <p:cBhvr>
                                        <p:cTn id="17" dur="500"/>
                                        <p:tgtEl>
                                          <p:spTgt spid="21402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14021"/>
                                        </p:tgtEl>
                                        <p:attrNameLst>
                                          <p:attrName>style.visibility</p:attrName>
                                        </p:attrNameLst>
                                      </p:cBhvr>
                                      <p:to>
                                        <p:strVal val="visible"/>
                                      </p:to>
                                    </p:set>
                                    <p:animEffect transition="in" filter="blinds(horizontal)">
                                      <p:cBhvr>
                                        <p:cTn id="22" dur="500"/>
                                        <p:tgtEl>
                                          <p:spTgt spid="21402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14022"/>
                                        </p:tgtEl>
                                        <p:attrNameLst>
                                          <p:attrName>style.visibility</p:attrName>
                                        </p:attrNameLst>
                                      </p:cBhvr>
                                      <p:to>
                                        <p:strVal val="visible"/>
                                      </p:to>
                                    </p:set>
                                    <p:animEffect transition="in" filter="wipe(left)">
                                      <p:cBhvr>
                                        <p:cTn id="27" dur="500"/>
                                        <p:tgtEl>
                                          <p:spTgt spid="21402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14023"/>
                                        </p:tgtEl>
                                        <p:attrNameLst>
                                          <p:attrName>style.visibility</p:attrName>
                                        </p:attrNameLst>
                                      </p:cBhvr>
                                      <p:to>
                                        <p:strVal val="visible"/>
                                      </p:to>
                                    </p:set>
                                    <p:animEffect transition="in" filter="wipe(left)">
                                      <p:cBhvr>
                                        <p:cTn id="32" dur="500"/>
                                        <p:tgtEl>
                                          <p:spTgt spid="21402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14024"/>
                                        </p:tgtEl>
                                        <p:attrNameLst>
                                          <p:attrName>style.visibility</p:attrName>
                                        </p:attrNameLst>
                                      </p:cBhvr>
                                      <p:to>
                                        <p:strVal val="visible"/>
                                      </p:to>
                                    </p:set>
                                    <p:animEffect transition="in" filter="wipe(left)">
                                      <p:cBhvr>
                                        <p:cTn id="37" dur="500"/>
                                        <p:tgtEl>
                                          <p:spTgt spid="21402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14026"/>
                                        </p:tgtEl>
                                        <p:attrNameLst>
                                          <p:attrName>style.visibility</p:attrName>
                                        </p:attrNameLst>
                                      </p:cBhvr>
                                      <p:to>
                                        <p:strVal val="visible"/>
                                      </p:to>
                                    </p:set>
                                    <p:animEffect transition="in" filter="wipe(left)">
                                      <p:cBhvr>
                                        <p:cTn id="42" dur="500"/>
                                        <p:tgtEl>
                                          <p:spTgt spid="21402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14025"/>
                                        </p:tgtEl>
                                        <p:attrNameLst>
                                          <p:attrName>style.visibility</p:attrName>
                                        </p:attrNameLst>
                                      </p:cBhvr>
                                      <p:to>
                                        <p:strVal val="visible"/>
                                      </p:to>
                                    </p:set>
                                    <p:animEffect transition="in" filter="wipe(left)">
                                      <p:cBhvr>
                                        <p:cTn id="47" dur="500"/>
                                        <p:tgtEl>
                                          <p:spTgt spid="2140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18" grpId="0" build="p"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Text Box 2"/>
          <p:cNvSpPr txBox="1">
            <a:spLocks noChangeArrowheads="1"/>
          </p:cNvSpPr>
          <p:nvPr/>
        </p:nvSpPr>
        <p:spPr bwMode="auto">
          <a:xfrm>
            <a:off x="684213" y="1700213"/>
            <a:ext cx="25923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3200" b="1">
                <a:ea typeface="楷体_GB2312" pitchFamily="49" charset="-122"/>
              </a:rPr>
              <a:t>表中所给的</a:t>
            </a:r>
          </a:p>
        </p:txBody>
      </p:sp>
      <p:graphicFrame>
        <p:nvGraphicFramePr>
          <p:cNvPr id="215043" name="Object 3"/>
          <p:cNvGraphicFramePr>
            <a:graphicFrameLocks noChangeAspect="1"/>
          </p:cNvGraphicFramePr>
          <p:nvPr/>
        </p:nvGraphicFramePr>
        <p:xfrm>
          <a:off x="2805113" y="1798638"/>
          <a:ext cx="542925" cy="495300"/>
        </p:xfrm>
        <a:graphic>
          <a:graphicData uri="http://schemas.openxmlformats.org/presentationml/2006/ole">
            <mc:AlternateContent xmlns:mc="http://schemas.openxmlformats.org/markup-compatibility/2006">
              <mc:Choice xmlns:v="urn:schemas-microsoft-com:vml" Requires="v">
                <p:oleObj spid="_x0000_s41101" name="公式" r:id="rId3" imgW="133350" imgH="125095" progId="Equation.3">
                  <p:embed/>
                </p:oleObj>
              </mc:Choice>
              <mc:Fallback>
                <p:oleObj name="公式" r:id="rId3" imgW="133350" imgH="125095" progId="Equation.3">
                  <p:embed/>
                  <p:pic>
                    <p:nvPicPr>
                      <p:cNvPr id="0" name="Object 3"/>
                      <p:cNvPicPr>
                        <a:picLocks noChangeAspect="1" noChangeArrowheads="1"/>
                      </p:cNvPicPr>
                      <p:nvPr/>
                    </p:nvPicPr>
                    <p:blipFill>
                      <a:blip r:embed="rId4">
                        <a:lum bright="-100000"/>
                        <a:extLst>
                          <a:ext uri="{28A0092B-C50C-407E-A947-70E740481C1C}">
                            <a14:useLocalDpi xmlns:a14="http://schemas.microsoft.com/office/drawing/2010/main" val="0"/>
                          </a:ext>
                        </a:extLst>
                      </a:blip>
                      <a:srcRect/>
                      <a:stretch>
                        <a:fillRect/>
                      </a:stretch>
                    </p:blipFill>
                    <p:spPr bwMode="auto">
                      <a:xfrm>
                        <a:off x="2805113" y="1798638"/>
                        <a:ext cx="542925"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044" name="Text Box 4"/>
          <p:cNvSpPr txBox="1">
            <a:spLocks noChangeArrowheads="1"/>
          </p:cNvSpPr>
          <p:nvPr/>
        </p:nvSpPr>
        <p:spPr bwMode="auto">
          <a:xfrm>
            <a:off x="3205163" y="1700213"/>
            <a:ext cx="61928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3200" b="1">
                <a:ea typeface="楷体_GB2312" pitchFamily="49" charset="-122"/>
              </a:rPr>
              <a:t>都是很小的数，如</a:t>
            </a:r>
            <a:r>
              <a:rPr lang="en-US" altLang="zh-CN" sz="3200" b="1">
                <a:ea typeface="楷体_GB2312" pitchFamily="49" charset="-122"/>
              </a:rPr>
              <a:t>0.01</a:t>
            </a:r>
            <a:r>
              <a:rPr lang="zh-CN" altLang="en-US" sz="3200" b="1">
                <a:ea typeface="楷体_GB2312" pitchFamily="49" charset="-122"/>
              </a:rPr>
              <a:t>，</a:t>
            </a:r>
            <a:r>
              <a:rPr lang="en-US" altLang="zh-CN" sz="3200" b="1">
                <a:ea typeface="楷体_GB2312" pitchFamily="49" charset="-122"/>
              </a:rPr>
              <a:t>0.05</a:t>
            </a:r>
            <a:r>
              <a:rPr lang="zh-CN" altLang="en-US" sz="3200" b="1">
                <a:ea typeface="楷体_GB2312" pitchFamily="49" charset="-122"/>
              </a:rPr>
              <a:t>等</a:t>
            </a:r>
          </a:p>
        </p:txBody>
      </p:sp>
      <p:sp>
        <p:nvSpPr>
          <p:cNvPr id="215045" name="Text Box 5"/>
          <p:cNvSpPr txBox="1">
            <a:spLocks noChangeArrowheads="1"/>
          </p:cNvSpPr>
          <p:nvPr/>
        </p:nvSpPr>
        <p:spPr bwMode="auto">
          <a:xfrm>
            <a:off x="755650" y="2349500"/>
            <a:ext cx="863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3200" b="1">
                <a:ea typeface="楷体_GB2312" pitchFamily="49" charset="-122"/>
              </a:rPr>
              <a:t>当</a:t>
            </a:r>
          </a:p>
        </p:txBody>
      </p:sp>
      <p:graphicFrame>
        <p:nvGraphicFramePr>
          <p:cNvPr id="215046" name="Object 6"/>
          <p:cNvGraphicFramePr>
            <a:graphicFrameLocks noChangeAspect="1"/>
          </p:cNvGraphicFramePr>
          <p:nvPr/>
        </p:nvGraphicFramePr>
        <p:xfrm>
          <a:off x="1319213" y="2446338"/>
          <a:ext cx="542925" cy="495300"/>
        </p:xfrm>
        <a:graphic>
          <a:graphicData uri="http://schemas.openxmlformats.org/presentationml/2006/ole">
            <mc:AlternateContent xmlns:mc="http://schemas.openxmlformats.org/markup-compatibility/2006">
              <mc:Choice xmlns:v="urn:schemas-microsoft-com:vml" Requires="v">
                <p:oleObj spid="_x0000_s41102" name="公式" r:id="rId5" imgW="133350" imgH="125095" progId="Equation.3">
                  <p:embed/>
                </p:oleObj>
              </mc:Choice>
              <mc:Fallback>
                <p:oleObj name="公式" r:id="rId5" imgW="133350" imgH="125095" progId="Equation.3">
                  <p:embed/>
                  <p:pic>
                    <p:nvPicPr>
                      <p:cNvPr id="0" name="Object 6"/>
                      <p:cNvPicPr>
                        <a:picLocks noChangeAspect="1" noChangeArrowheads="1"/>
                      </p:cNvPicPr>
                      <p:nvPr/>
                    </p:nvPicPr>
                    <p:blipFill>
                      <a:blip r:embed="rId6">
                        <a:lum bright="-100000"/>
                        <a:extLst>
                          <a:ext uri="{28A0092B-C50C-407E-A947-70E740481C1C}">
                            <a14:useLocalDpi xmlns:a14="http://schemas.microsoft.com/office/drawing/2010/main" val="0"/>
                          </a:ext>
                        </a:extLst>
                      </a:blip>
                      <a:srcRect/>
                      <a:stretch>
                        <a:fillRect/>
                      </a:stretch>
                    </p:blipFill>
                    <p:spPr bwMode="auto">
                      <a:xfrm>
                        <a:off x="1319213" y="2446338"/>
                        <a:ext cx="542925"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047" name="Text Box 7"/>
          <p:cNvSpPr txBox="1">
            <a:spLocks noChangeArrowheads="1"/>
          </p:cNvSpPr>
          <p:nvPr/>
        </p:nvSpPr>
        <p:spPr bwMode="auto">
          <a:xfrm>
            <a:off x="792163" y="3284538"/>
            <a:ext cx="64436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3200" b="1">
                <a:ea typeface="楷体_GB2312" pitchFamily="49" charset="-122"/>
              </a:rPr>
              <a:t>表中查不出，由性质（</a:t>
            </a:r>
            <a:r>
              <a:rPr lang="en-US" altLang="zh-CN" sz="3200" b="1">
                <a:ea typeface="楷体_GB2312" pitchFamily="49" charset="-122"/>
              </a:rPr>
              <a:t>2</a:t>
            </a:r>
            <a:r>
              <a:rPr lang="zh-CN" altLang="en-US" sz="3200" b="1">
                <a:ea typeface="楷体_GB2312" pitchFamily="49" charset="-122"/>
              </a:rPr>
              <a:t>）</a:t>
            </a:r>
          </a:p>
        </p:txBody>
      </p:sp>
      <p:graphicFrame>
        <p:nvGraphicFramePr>
          <p:cNvPr id="40968" name="Object 8"/>
          <p:cNvGraphicFramePr>
            <a:graphicFrameLocks noChangeAspect="1"/>
          </p:cNvGraphicFramePr>
          <p:nvPr/>
        </p:nvGraphicFramePr>
        <p:xfrm>
          <a:off x="539750" y="404813"/>
          <a:ext cx="4800600" cy="1104900"/>
        </p:xfrm>
        <a:graphic>
          <a:graphicData uri="http://schemas.openxmlformats.org/presentationml/2006/ole">
            <mc:AlternateContent xmlns:mc="http://schemas.openxmlformats.org/markup-compatibility/2006">
              <mc:Choice xmlns:v="urn:schemas-microsoft-com:vml" Requires="v">
                <p:oleObj spid="_x0000_s41103" name="公式" r:id="rId7" imgW="1581150" imgH="356235" progId="Equation.3">
                  <p:embed/>
                </p:oleObj>
              </mc:Choice>
              <mc:Fallback>
                <p:oleObj name="公式" r:id="rId7" imgW="1581150" imgH="356235" progId="Equation.3">
                  <p:embed/>
                  <p:pic>
                    <p:nvPicPr>
                      <p:cNvPr id="0" name="Object 8"/>
                      <p:cNvPicPr>
                        <a:picLocks noChangeAspect="1" noChangeArrowheads="1"/>
                      </p:cNvPicPr>
                      <p:nvPr/>
                    </p:nvPicPr>
                    <p:blipFill>
                      <a:blip r:embed="rId8">
                        <a:lum bright="-100000"/>
                        <a:extLst>
                          <a:ext uri="{28A0092B-C50C-407E-A947-70E740481C1C}">
                            <a14:useLocalDpi xmlns:a14="http://schemas.microsoft.com/office/drawing/2010/main" val="0"/>
                          </a:ext>
                        </a:extLst>
                      </a:blip>
                      <a:srcRect/>
                      <a:stretch>
                        <a:fillRect/>
                      </a:stretch>
                    </p:blipFill>
                    <p:spPr bwMode="auto">
                      <a:xfrm>
                        <a:off x="539750" y="404813"/>
                        <a:ext cx="4800600" cy="1104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049" name="Object 9"/>
          <p:cNvGraphicFramePr>
            <a:graphicFrameLocks noChangeAspect="1"/>
          </p:cNvGraphicFramePr>
          <p:nvPr/>
        </p:nvGraphicFramePr>
        <p:xfrm>
          <a:off x="684213" y="4581525"/>
          <a:ext cx="2971800" cy="685800"/>
        </p:xfrm>
        <a:graphic>
          <a:graphicData uri="http://schemas.openxmlformats.org/presentationml/2006/ole">
            <mc:AlternateContent xmlns:mc="http://schemas.openxmlformats.org/markup-compatibility/2006">
              <mc:Choice xmlns:v="urn:schemas-microsoft-com:vml" Requires="v">
                <p:oleObj spid="_x0000_s41104" name="公式" r:id="rId9" imgW="971550" imgH="211455" progId="Equation.3">
                  <p:embed/>
                </p:oleObj>
              </mc:Choice>
              <mc:Fallback>
                <p:oleObj name="公式" r:id="rId9" imgW="971550" imgH="211455" progId="Equation.3">
                  <p:embed/>
                  <p:pic>
                    <p:nvPicPr>
                      <p:cNvPr id="0" name="Object 9"/>
                      <p:cNvPicPr>
                        <a:picLocks noChangeAspect="1" noChangeArrowheads="1"/>
                      </p:cNvPicPr>
                      <p:nvPr/>
                    </p:nvPicPr>
                    <p:blipFill>
                      <a:blip r:embed="rId10">
                        <a:lum bright="-100000"/>
                        <a:extLst>
                          <a:ext uri="{28A0092B-C50C-407E-A947-70E740481C1C}">
                            <a14:useLocalDpi xmlns:a14="http://schemas.microsoft.com/office/drawing/2010/main" val="0"/>
                          </a:ext>
                        </a:extLst>
                      </a:blip>
                      <a:srcRect/>
                      <a:stretch>
                        <a:fillRect/>
                      </a:stretch>
                    </p:blipFill>
                    <p:spPr bwMode="auto">
                      <a:xfrm>
                        <a:off x="684213" y="4581525"/>
                        <a:ext cx="29718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050" name="Object 10"/>
          <p:cNvGraphicFramePr>
            <a:graphicFrameLocks noChangeAspect="1"/>
          </p:cNvGraphicFramePr>
          <p:nvPr/>
        </p:nvGraphicFramePr>
        <p:xfrm>
          <a:off x="3708400" y="4221163"/>
          <a:ext cx="2400300" cy="1295400"/>
        </p:xfrm>
        <a:graphic>
          <a:graphicData uri="http://schemas.openxmlformats.org/presentationml/2006/ole">
            <mc:AlternateContent xmlns:mc="http://schemas.openxmlformats.org/markup-compatibility/2006">
              <mc:Choice xmlns:v="urn:schemas-microsoft-com:vml" Requires="v">
                <p:oleObj spid="_x0000_s41105" name="公式" r:id="rId11" imgW="781050" imgH="414020" progId="Equation.3">
                  <p:embed/>
                </p:oleObj>
              </mc:Choice>
              <mc:Fallback>
                <p:oleObj name="公式" r:id="rId11" imgW="781050" imgH="414020" progId="Equation.3">
                  <p:embed/>
                  <p:pic>
                    <p:nvPicPr>
                      <p:cNvPr id="0" name="Object 10"/>
                      <p:cNvPicPr>
                        <a:picLocks noChangeAspect="1" noChangeArrowheads="1"/>
                      </p:cNvPicPr>
                      <p:nvPr/>
                    </p:nvPicPr>
                    <p:blipFill>
                      <a:blip r:embed="rId12">
                        <a:lum bright="-100000"/>
                        <a:extLst>
                          <a:ext uri="{28A0092B-C50C-407E-A947-70E740481C1C}">
                            <a14:useLocalDpi xmlns:a14="http://schemas.microsoft.com/office/drawing/2010/main" val="0"/>
                          </a:ext>
                        </a:extLst>
                      </a:blip>
                      <a:srcRect/>
                      <a:stretch>
                        <a:fillRect/>
                      </a:stretch>
                    </p:blipFill>
                    <p:spPr bwMode="auto">
                      <a:xfrm>
                        <a:off x="3708400" y="4221163"/>
                        <a:ext cx="2400300" cy="1295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051" name="Object 11"/>
          <p:cNvGraphicFramePr>
            <a:graphicFrameLocks noChangeAspect="1"/>
          </p:cNvGraphicFramePr>
          <p:nvPr/>
        </p:nvGraphicFramePr>
        <p:xfrm>
          <a:off x="6011863" y="4221163"/>
          <a:ext cx="2857500" cy="1181100"/>
        </p:xfrm>
        <a:graphic>
          <a:graphicData uri="http://schemas.openxmlformats.org/presentationml/2006/ole">
            <mc:AlternateContent xmlns:mc="http://schemas.openxmlformats.org/markup-compatibility/2006">
              <mc:Choice xmlns:v="urn:schemas-microsoft-com:vml" Requires="v">
                <p:oleObj spid="_x0000_s41106" name="公式" r:id="rId13" imgW="933450" imgH="375285" progId="Equation.3">
                  <p:embed/>
                </p:oleObj>
              </mc:Choice>
              <mc:Fallback>
                <p:oleObj name="公式" r:id="rId13" imgW="933450" imgH="375285" progId="Equation.3">
                  <p:embed/>
                  <p:pic>
                    <p:nvPicPr>
                      <p:cNvPr id="0" name="Object 11"/>
                      <p:cNvPicPr>
                        <a:picLocks noChangeAspect="1" noChangeArrowheads="1"/>
                      </p:cNvPicPr>
                      <p:nvPr/>
                    </p:nvPicPr>
                    <p:blipFill>
                      <a:blip r:embed="rId14">
                        <a:lum bright="-100000"/>
                        <a:extLst>
                          <a:ext uri="{28A0092B-C50C-407E-A947-70E740481C1C}">
                            <a14:useLocalDpi xmlns:a14="http://schemas.microsoft.com/office/drawing/2010/main" val="0"/>
                          </a:ext>
                        </a:extLst>
                      </a:blip>
                      <a:srcRect/>
                      <a:stretch>
                        <a:fillRect/>
                      </a:stretch>
                    </p:blipFill>
                    <p:spPr bwMode="auto">
                      <a:xfrm>
                        <a:off x="6011863" y="4221163"/>
                        <a:ext cx="2857500" cy="1181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052" name="Rectangle 12"/>
          <p:cNvSpPr>
            <a:spLocks noChangeArrowheads="1"/>
          </p:cNvSpPr>
          <p:nvPr/>
        </p:nvSpPr>
        <p:spPr bwMode="auto">
          <a:xfrm>
            <a:off x="1835150" y="2387600"/>
            <a:ext cx="3333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3200" b="1">
                <a:ea typeface="楷体_GB2312" pitchFamily="49" charset="-122"/>
              </a:rPr>
              <a:t>较大时，如</a:t>
            </a:r>
            <a:r>
              <a:rPr lang="en-US" altLang="zh-CN" sz="3200" b="1">
                <a:ea typeface="楷体_GB2312" pitchFamily="49" charset="-122"/>
              </a:rPr>
              <a:t>0.95</a:t>
            </a:r>
            <a:r>
              <a:rPr lang="zh-CN" altLang="en-US" sz="3200" b="1">
                <a:ea typeface="楷体_GB2312" pitchFamily="49"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5042">
                                            <p:txEl>
                                              <p:pRg st="0" end="0"/>
                                            </p:txEl>
                                          </p:spTgt>
                                        </p:tgtEl>
                                        <p:attrNameLst>
                                          <p:attrName>style.visibility</p:attrName>
                                        </p:attrNameLst>
                                      </p:cBhvr>
                                      <p:to>
                                        <p:strVal val="visible"/>
                                      </p:to>
                                    </p:set>
                                    <p:animEffect transition="in" filter="wipe(left)">
                                      <p:cBhvr>
                                        <p:cTn id="7" dur="500"/>
                                        <p:tgtEl>
                                          <p:spTgt spid="21504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5043"/>
                                        </p:tgtEl>
                                        <p:attrNameLst>
                                          <p:attrName>style.visibility</p:attrName>
                                        </p:attrNameLst>
                                      </p:cBhvr>
                                      <p:to>
                                        <p:strVal val="visible"/>
                                      </p:to>
                                    </p:set>
                                    <p:animEffect transition="in" filter="wipe(left)">
                                      <p:cBhvr>
                                        <p:cTn id="12" dur="500"/>
                                        <p:tgtEl>
                                          <p:spTgt spid="21504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5044">
                                            <p:txEl>
                                              <p:pRg st="0" end="0"/>
                                            </p:txEl>
                                          </p:spTgt>
                                        </p:tgtEl>
                                        <p:attrNameLst>
                                          <p:attrName>style.visibility</p:attrName>
                                        </p:attrNameLst>
                                      </p:cBhvr>
                                      <p:to>
                                        <p:strVal val="visible"/>
                                      </p:to>
                                    </p:set>
                                    <p:animEffect transition="in" filter="wipe(left)">
                                      <p:cBhvr>
                                        <p:cTn id="17" dur="500"/>
                                        <p:tgtEl>
                                          <p:spTgt spid="21504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15045">
                                            <p:txEl>
                                              <p:pRg st="0" end="0"/>
                                            </p:txEl>
                                          </p:spTgt>
                                        </p:tgtEl>
                                        <p:attrNameLst>
                                          <p:attrName>style.visibility</p:attrName>
                                        </p:attrNameLst>
                                      </p:cBhvr>
                                      <p:to>
                                        <p:strVal val="visible"/>
                                      </p:to>
                                    </p:set>
                                    <p:animEffect transition="in" filter="wipe(left)">
                                      <p:cBhvr>
                                        <p:cTn id="22" dur="500"/>
                                        <p:tgtEl>
                                          <p:spTgt spid="21504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15046"/>
                                        </p:tgtEl>
                                        <p:attrNameLst>
                                          <p:attrName>style.visibility</p:attrName>
                                        </p:attrNameLst>
                                      </p:cBhvr>
                                      <p:to>
                                        <p:strVal val="visible"/>
                                      </p:to>
                                    </p:set>
                                    <p:animEffect transition="in" filter="wipe(left)">
                                      <p:cBhvr>
                                        <p:cTn id="27" dur="500"/>
                                        <p:tgtEl>
                                          <p:spTgt spid="21504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15052"/>
                                        </p:tgtEl>
                                        <p:attrNameLst>
                                          <p:attrName>style.visibility</p:attrName>
                                        </p:attrNameLst>
                                      </p:cBhvr>
                                      <p:to>
                                        <p:strVal val="visible"/>
                                      </p:to>
                                    </p:set>
                                    <p:animEffect transition="in" filter="blinds(horizontal)">
                                      <p:cBhvr>
                                        <p:cTn id="32" dur="500"/>
                                        <p:tgtEl>
                                          <p:spTgt spid="21505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15047">
                                            <p:txEl>
                                              <p:pRg st="0" end="0"/>
                                            </p:txEl>
                                          </p:spTgt>
                                        </p:tgtEl>
                                        <p:attrNameLst>
                                          <p:attrName>style.visibility</p:attrName>
                                        </p:attrNameLst>
                                      </p:cBhvr>
                                      <p:to>
                                        <p:strVal val="visible"/>
                                      </p:to>
                                    </p:set>
                                    <p:animEffect transition="in" filter="wipe(left)">
                                      <p:cBhvr>
                                        <p:cTn id="37" dur="500"/>
                                        <p:tgtEl>
                                          <p:spTgt spid="215047">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15049"/>
                                        </p:tgtEl>
                                        <p:attrNameLst>
                                          <p:attrName>style.visibility</p:attrName>
                                        </p:attrNameLst>
                                      </p:cBhvr>
                                      <p:to>
                                        <p:strVal val="visible"/>
                                      </p:to>
                                    </p:set>
                                    <p:animEffect transition="in" filter="wipe(left)">
                                      <p:cBhvr>
                                        <p:cTn id="42" dur="500"/>
                                        <p:tgtEl>
                                          <p:spTgt spid="21504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15050"/>
                                        </p:tgtEl>
                                        <p:attrNameLst>
                                          <p:attrName>style.visibility</p:attrName>
                                        </p:attrNameLst>
                                      </p:cBhvr>
                                      <p:to>
                                        <p:strVal val="visible"/>
                                      </p:to>
                                    </p:set>
                                    <p:animEffect transition="in" filter="wipe(left)">
                                      <p:cBhvr>
                                        <p:cTn id="47" dur="500"/>
                                        <p:tgtEl>
                                          <p:spTgt spid="21505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15051"/>
                                        </p:tgtEl>
                                        <p:attrNameLst>
                                          <p:attrName>style.visibility</p:attrName>
                                        </p:attrNameLst>
                                      </p:cBhvr>
                                      <p:to>
                                        <p:strVal val="visible"/>
                                      </p:to>
                                    </p:set>
                                    <p:animEffect transition="in" filter="wipe(left)">
                                      <p:cBhvr>
                                        <p:cTn id="52" dur="500"/>
                                        <p:tgtEl>
                                          <p:spTgt spid="215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2" grpId="0" build="p" autoUpdateAnimBg="0"/>
      <p:bldP spid="215044" grpId="0" build="p" autoUpdateAnimBg="0"/>
      <p:bldP spid="215045" grpId="0" build="p" autoUpdateAnimBg="0"/>
      <p:bldP spid="215047" grpId="0" build="p" autoUpdateAnimBg="0"/>
      <p:bldP spid="215052"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idx="4294967295"/>
          </p:nvPr>
        </p:nvSpPr>
        <p:spPr>
          <a:xfrm>
            <a:off x="179388" y="496888"/>
            <a:ext cx="1649412" cy="609600"/>
          </a:xfrm>
          <a:noFill/>
        </p:spPr>
        <p:txBody>
          <a:bodyPr/>
          <a:lstStyle/>
          <a:p>
            <a:r>
              <a:rPr lang="zh-CN" altLang="en-US" sz="2800"/>
              <a:t>例</a:t>
            </a:r>
            <a:endParaRPr lang="zh-CN" altLang="en-US" sz="2800" b="0"/>
          </a:p>
        </p:txBody>
      </p:sp>
      <p:graphicFrame>
        <p:nvGraphicFramePr>
          <p:cNvPr id="41987" name="Object 3"/>
          <p:cNvGraphicFramePr>
            <a:graphicFrameLocks noChangeAspect="1"/>
          </p:cNvGraphicFramePr>
          <p:nvPr/>
        </p:nvGraphicFramePr>
        <p:xfrm>
          <a:off x="3459163" y="549275"/>
          <a:ext cx="1485900" cy="527050"/>
        </p:xfrm>
        <a:graphic>
          <a:graphicData uri="http://schemas.openxmlformats.org/presentationml/2006/ole">
            <mc:AlternateContent xmlns:mc="http://schemas.openxmlformats.org/markup-compatibility/2006">
              <mc:Choice xmlns:v="urn:schemas-microsoft-com:vml" Requires="v">
                <p:oleObj spid="_x0000_s42265" name="Equation" r:id="rId3" imgW="552450" imgH="182880" progId="Equation.DSMT4">
                  <p:embed/>
                </p:oleObj>
              </mc:Choice>
              <mc:Fallback>
                <p:oleObj name="Equation" r:id="rId3" imgW="552450" imgH="182880" progId="Equation.DSMT4">
                  <p:embed/>
                  <p:pic>
                    <p:nvPicPr>
                      <p:cNvPr id="0" name="Object 3"/>
                      <p:cNvPicPr>
                        <a:picLocks noChangeAspect="1" noChangeArrowheads="1"/>
                      </p:cNvPicPr>
                      <p:nvPr/>
                    </p:nvPicPr>
                    <p:blipFill>
                      <a:blip r:embed="rId4">
                        <a:lum bright="-100000" contrast="-100000"/>
                        <a:extLst>
                          <a:ext uri="{28A0092B-C50C-407E-A947-70E740481C1C}">
                            <a14:useLocalDpi xmlns:a14="http://schemas.microsoft.com/office/drawing/2010/main" val="0"/>
                          </a:ext>
                        </a:extLst>
                      </a:blip>
                      <a:srcRect/>
                      <a:stretch>
                        <a:fillRect/>
                      </a:stretch>
                    </p:blipFill>
                    <p:spPr bwMode="auto">
                      <a:xfrm>
                        <a:off x="3459163" y="549275"/>
                        <a:ext cx="1485900" cy="52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988" name="Object 4"/>
          <p:cNvGraphicFramePr>
            <a:graphicFrameLocks noChangeAspect="1"/>
          </p:cNvGraphicFramePr>
          <p:nvPr/>
        </p:nvGraphicFramePr>
        <p:xfrm>
          <a:off x="5386388" y="492125"/>
          <a:ext cx="493712" cy="495300"/>
        </p:xfrm>
        <a:graphic>
          <a:graphicData uri="http://schemas.openxmlformats.org/presentationml/2006/ole">
            <mc:AlternateContent xmlns:mc="http://schemas.openxmlformats.org/markup-compatibility/2006">
              <mc:Choice xmlns:v="urn:schemas-microsoft-com:vml" Requires="v">
                <p:oleObj spid="_x0000_s42266" name="Equation" r:id="rId5" imgW="171450" imgH="173355" progId="Equation.DSMT4">
                  <p:embed/>
                </p:oleObj>
              </mc:Choice>
              <mc:Fallback>
                <p:oleObj name="Equation" r:id="rId5" imgW="171450" imgH="173355" progId="Equation.DSMT4">
                  <p:embed/>
                  <p:pic>
                    <p:nvPicPr>
                      <p:cNvPr id="0" name="Object 4"/>
                      <p:cNvPicPr>
                        <a:picLocks noChangeAspect="1" noChangeArrowheads="1"/>
                      </p:cNvPicPr>
                      <p:nvPr/>
                    </p:nvPicPr>
                    <p:blipFill>
                      <a:blip r:embed="rId6">
                        <a:lum bright="-100000" contrast="-100000"/>
                        <a:extLst>
                          <a:ext uri="{28A0092B-C50C-407E-A947-70E740481C1C}">
                            <a14:useLocalDpi xmlns:a14="http://schemas.microsoft.com/office/drawing/2010/main" val="0"/>
                          </a:ext>
                        </a:extLst>
                      </a:blip>
                      <a:srcRect/>
                      <a:stretch>
                        <a:fillRect/>
                      </a:stretch>
                    </p:blipFill>
                    <p:spPr bwMode="auto">
                      <a:xfrm>
                        <a:off x="5386388" y="492125"/>
                        <a:ext cx="493712"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8357" name="Object 5"/>
          <p:cNvGraphicFramePr>
            <a:graphicFrameLocks noChangeAspect="1"/>
          </p:cNvGraphicFramePr>
          <p:nvPr/>
        </p:nvGraphicFramePr>
        <p:xfrm>
          <a:off x="3316288" y="1141413"/>
          <a:ext cx="1979612" cy="1089025"/>
        </p:xfrm>
        <a:graphic>
          <a:graphicData uri="http://schemas.openxmlformats.org/presentationml/2006/ole">
            <mc:AlternateContent xmlns:mc="http://schemas.openxmlformats.org/markup-compatibility/2006">
              <mc:Choice xmlns:v="urn:schemas-microsoft-com:vml" Requires="v">
                <p:oleObj spid="_x0000_s42267" name="Equation" r:id="rId7" imgW="742950" imgH="404495" progId="Equation.DSMT4">
                  <p:embed/>
                </p:oleObj>
              </mc:Choice>
              <mc:Fallback>
                <p:oleObj name="Equation" r:id="rId7" imgW="742950" imgH="404495" progId="Equation.DSMT4">
                  <p:embed/>
                  <p:pic>
                    <p:nvPicPr>
                      <p:cNvPr id="0" name="Object 5"/>
                      <p:cNvPicPr>
                        <a:picLocks noChangeAspect="1" noChangeArrowheads="1"/>
                      </p:cNvPicPr>
                      <p:nvPr/>
                    </p:nvPicPr>
                    <p:blipFill>
                      <a:blip r:embed="rId8">
                        <a:lum bright="-100000" contrast="-100000"/>
                        <a:extLst>
                          <a:ext uri="{28A0092B-C50C-407E-A947-70E740481C1C}">
                            <a14:useLocalDpi xmlns:a14="http://schemas.microsoft.com/office/drawing/2010/main" val="0"/>
                          </a:ext>
                        </a:extLst>
                      </a:blip>
                      <a:srcRect/>
                      <a:stretch>
                        <a:fillRect/>
                      </a:stretch>
                    </p:blipFill>
                    <p:spPr bwMode="auto">
                      <a:xfrm>
                        <a:off x="3316288" y="1141413"/>
                        <a:ext cx="1979612" cy="1089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990" name="Text Box 6"/>
          <p:cNvSpPr txBox="1">
            <a:spLocks noChangeArrowheads="1"/>
          </p:cNvSpPr>
          <p:nvPr/>
        </p:nvSpPr>
        <p:spPr bwMode="auto">
          <a:xfrm>
            <a:off x="1470025" y="514350"/>
            <a:ext cx="31734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设随机变量</a:t>
            </a:r>
          </a:p>
        </p:txBody>
      </p:sp>
      <p:sp>
        <p:nvSpPr>
          <p:cNvPr id="41991" name="Text Box 7"/>
          <p:cNvSpPr txBox="1">
            <a:spLocks noChangeArrowheads="1"/>
          </p:cNvSpPr>
          <p:nvPr/>
        </p:nvSpPr>
        <p:spPr bwMode="auto">
          <a:xfrm>
            <a:off x="4903788" y="500063"/>
            <a:ext cx="5413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求</a:t>
            </a:r>
          </a:p>
        </p:txBody>
      </p:sp>
      <p:sp>
        <p:nvSpPr>
          <p:cNvPr id="41992" name="Text Box 8"/>
          <p:cNvSpPr txBox="1">
            <a:spLocks noChangeArrowheads="1"/>
          </p:cNvSpPr>
          <p:nvPr/>
        </p:nvSpPr>
        <p:spPr bwMode="auto">
          <a:xfrm>
            <a:off x="5781675" y="514350"/>
            <a:ext cx="29670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的分布。</a:t>
            </a:r>
          </a:p>
        </p:txBody>
      </p:sp>
      <p:sp>
        <p:nvSpPr>
          <p:cNvPr id="228361" name="Text Box 9"/>
          <p:cNvSpPr txBox="1">
            <a:spLocks noChangeArrowheads="1"/>
          </p:cNvSpPr>
          <p:nvPr/>
        </p:nvSpPr>
        <p:spPr bwMode="auto">
          <a:xfrm>
            <a:off x="654050" y="1393825"/>
            <a:ext cx="8096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solidFill>
                  <a:srgbClr val="0000FF"/>
                </a:solidFill>
                <a:latin typeface="楷体_GB2312" pitchFamily="49" charset="-122"/>
                <a:ea typeface="楷体_GB2312" pitchFamily="49" charset="-122"/>
              </a:rPr>
              <a:t>解 </a:t>
            </a:r>
            <a:r>
              <a:rPr lang="zh-CN" altLang="en-US" sz="2800" b="1"/>
              <a:t> </a:t>
            </a:r>
          </a:p>
        </p:txBody>
      </p:sp>
      <p:grpSp>
        <p:nvGrpSpPr>
          <p:cNvPr id="2" name="Group 10"/>
          <p:cNvGrpSpPr/>
          <p:nvPr/>
        </p:nvGrpSpPr>
        <p:grpSpPr bwMode="auto">
          <a:xfrm>
            <a:off x="5314950" y="1377950"/>
            <a:ext cx="2852738" cy="546100"/>
            <a:chOff x="3494" y="793"/>
            <a:chExt cx="1797" cy="344"/>
          </a:xfrm>
        </p:grpSpPr>
        <p:graphicFrame>
          <p:nvGraphicFramePr>
            <p:cNvPr id="42007" name="Object 11"/>
            <p:cNvGraphicFramePr>
              <a:graphicFrameLocks noChangeAspect="1"/>
            </p:cNvGraphicFramePr>
            <p:nvPr/>
          </p:nvGraphicFramePr>
          <p:xfrm>
            <a:off x="4564" y="829"/>
            <a:ext cx="291" cy="270"/>
          </p:xfrm>
          <a:graphic>
            <a:graphicData uri="http://schemas.openxmlformats.org/presentationml/2006/ole">
              <mc:AlternateContent xmlns:mc="http://schemas.openxmlformats.org/markup-compatibility/2006">
                <mc:Choice xmlns:v="urn:schemas-microsoft-com:vml" Requires="v">
                  <p:oleObj spid="_x0000_s42268" name="公式" r:id="rId9" imgW="161925" imgH="144145" progId="Equation.3">
                    <p:embed/>
                  </p:oleObj>
                </mc:Choice>
                <mc:Fallback>
                  <p:oleObj name="公式" r:id="rId9" imgW="161925" imgH="144145" progId="Equation.3">
                    <p:embed/>
                    <p:pic>
                      <p:nvPicPr>
                        <p:cNvPr id="0" name="Object 11"/>
                        <p:cNvPicPr>
                          <a:picLocks noChangeAspect="1" noChangeArrowheads="1"/>
                        </p:cNvPicPr>
                        <p:nvPr/>
                      </p:nvPicPr>
                      <p:blipFill>
                        <a:blip r:embed="rId10">
                          <a:lum bright="-100000" contrast="-100000"/>
                          <a:extLst>
                            <a:ext uri="{28A0092B-C50C-407E-A947-70E740481C1C}">
                              <a14:useLocalDpi xmlns:a14="http://schemas.microsoft.com/office/drawing/2010/main" val="0"/>
                            </a:ext>
                          </a:extLst>
                        </a:blip>
                        <a:srcRect/>
                        <a:stretch>
                          <a:fillRect/>
                        </a:stretch>
                      </p:blipFill>
                      <p:spPr bwMode="auto">
                        <a:xfrm>
                          <a:off x="4564" y="829"/>
                          <a:ext cx="291"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008" name="Object 12"/>
            <p:cNvGraphicFramePr>
              <a:graphicFrameLocks noChangeAspect="1"/>
            </p:cNvGraphicFramePr>
            <p:nvPr/>
          </p:nvGraphicFramePr>
          <p:xfrm>
            <a:off x="5042" y="821"/>
            <a:ext cx="249" cy="270"/>
          </p:xfrm>
          <a:graphic>
            <a:graphicData uri="http://schemas.openxmlformats.org/presentationml/2006/ole">
              <mc:AlternateContent xmlns:mc="http://schemas.openxmlformats.org/markup-compatibility/2006">
                <mc:Choice xmlns:v="urn:schemas-microsoft-com:vml" Requires="v">
                  <p:oleObj spid="_x0000_s42269" name="公式" r:id="rId11" imgW="133350" imgH="144145" progId="Equation.3">
                    <p:embed/>
                  </p:oleObj>
                </mc:Choice>
                <mc:Fallback>
                  <p:oleObj name="公式" r:id="rId11" imgW="133350" imgH="144145" progId="Equation.3">
                    <p:embed/>
                    <p:pic>
                      <p:nvPicPr>
                        <p:cNvPr id="0" name="Object 12"/>
                        <p:cNvPicPr>
                          <a:picLocks noChangeAspect="1" noChangeArrowheads="1"/>
                        </p:cNvPicPr>
                        <p:nvPr/>
                      </p:nvPicPr>
                      <p:blipFill>
                        <a:blip r:embed="rId12">
                          <a:lum bright="-100000" contrast="-100000"/>
                          <a:extLst>
                            <a:ext uri="{28A0092B-C50C-407E-A947-70E740481C1C}">
                              <a14:useLocalDpi xmlns:a14="http://schemas.microsoft.com/office/drawing/2010/main" val="0"/>
                            </a:ext>
                          </a:extLst>
                        </a:blip>
                        <a:srcRect/>
                        <a:stretch>
                          <a:fillRect/>
                        </a:stretch>
                      </p:blipFill>
                      <p:spPr bwMode="auto">
                        <a:xfrm>
                          <a:off x="5042" y="821"/>
                          <a:ext cx="249"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2009" name="Text Box 13"/>
            <p:cNvSpPr txBox="1">
              <a:spLocks noChangeArrowheads="1"/>
            </p:cNvSpPr>
            <p:nvPr/>
          </p:nvSpPr>
          <p:spPr bwMode="auto">
            <a:xfrm>
              <a:off x="3494" y="793"/>
              <a:ext cx="10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随机变量</a:t>
              </a:r>
            </a:p>
          </p:txBody>
        </p:sp>
        <p:sp>
          <p:nvSpPr>
            <p:cNvPr id="42010" name="Text Box 14"/>
            <p:cNvSpPr txBox="1">
              <a:spLocks noChangeArrowheads="1"/>
            </p:cNvSpPr>
            <p:nvPr/>
          </p:nvSpPr>
          <p:spPr bwMode="auto">
            <a:xfrm>
              <a:off x="4757" y="810"/>
              <a:ext cx="3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与</a:t>
              </a:r>
            </a:p>
          </p:txBody>
        </p:sp>
      </p:grpSp>
      <p:sp>
        <p:nvSpPr>
          <p:cNvPr id="228367" name="Text Box 15"/>
          <p:cNvSpPr txBox="1">
            <a:spLocks noChangeArrowheads="1"/>
          </p:cNvSpPr>
          <p:nvPr/>
        </p:nvSpPr>
        <p:spPr bwMode="auto">
          <a:xfrm>
            <a:off x="8066088" y="1393825"/>
            <a:ext cx="898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独立</a:t>
            </a:r>
          </a:p>
        </p:txBody>
      </p:sp>
      <p:graphicFrame>
        <p:nvGraphicFramePr>
          <p:cNvPr id="228368" name="Object 16"/>
          <p:cNvGraphicFramePr>
            <a:graphicFrameLocks noChangeAspect="1"/>
          </p:cNvGraphicFramePr>
          <p:nvPr/>
        </p:nvGraphicFramePr>
        <p:xfrm>
          <a:off x="2154238" y="2481263"/>
          <a:ext cx="2079625" cy="527050"/>
        </p:xfrm>
        <a:graphic>
          <a:graphicData uri="http://schemas.openxmlformats.org/presentationml/2006/ole">
            <mc:AlternateContent xmlns:mc="http://schemas.openxmlformats.org/markup-compatibility/2006">
              <mc:Choice xmlns:v="urn:schemas-microsoft-com:vml" Requires="v">
                <p:oleObj spid="_x0000_s42270" name="公式" r:id="rId13" imgW="781050" imgH="182880" progId="Equation.3">
                  <p:embed/>
                </p:oleObj>
              </mc:Choice>
              <mc:Fallback>
                <p:oleObj name="公式" r:id="rId13" imgW="781050" imgH="182880" progId="Equation.3">
                  <p:embed/>
                  <p:pic>
                    <p:nvPicPr>
                      <p:cNvPr id="0" name="Object 16"/>
                      <p:cNvPicPr>
                        <a:picLocks noChangeAspect="1" noChangeArrowheads="1"/>
                      </p:cNvPicPr>
                      <p:nvPr/>
                    </p:nvPicPr>
                    <p:blipFill>
                      <a:blip r:embed="rId14">
                        <a:lum bright="-100000" contrast="-100000"/>
                        <a:extLst>
                          <a:ext uri="{28A0092B-C50C-407E-A947-70E740481C1C}">
                            <a14:useLocalDpi xmlns:a14="http://schemas.microsoft.com/office/drawing/2010/main" val="0"/>
                          </a:ext>
                        </a:extLst>
                      </a:blip>
                      <a:srcRect/>
                      <a:stretch>
                        <a:fillRect/>
                      </a:stretch>
                    </p:blipFill>
                    <p:spPr bwMode="auto">
                      <a:xfrm>
                        <a:off x="2154238" y="2481263"/>
                        <a:ext cx="2079625" cy="52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8369" name="Object 17"/>
          <p:cNvGraphicFramePr>
            <a:graphicFrameLocks noChangeAspect="1"/>
          </p:cNvGraphicFramePr>
          <p:nvPr/>
        </p:nvGraphicFramePr>
        <p:xfrm>
          <a:off x="4643438" y="2401888"/>
          <a:ext cx="1746250" cy="593725"/>
        </p:xfrm>
        <a:graphic>
          <a:graphicData uri="http://schemas.openxmlformats.org/presentationml/2006/ole">
            <mc:AlternateContent xmlns:mc="http://schemas.openxmlformats.org/markup-compatibility/2006">
              <mc:Choice xmlns:v="urn:schemas-microsoft-com:vml" Requires="v">
                <p:oleObj spid="_x0000_s42271" name="公式" r:id="rId15" imgW="657225" imgH="211455" progId="Equation.3">
                  <p:embed/>
                </p:oleObj>
              </mc:Choice>
              <mc:Fallback>
                <p:oleObj name="公式" r:id="rId15" imgW="657225" imgH="211455" progId="Equation.3">
                  <p:embed/>
                  <p:pic>
                    <p:nvPicPr>
                      <p:cNvPr id="0" name="Object 17"/>
                      <p:cNvPicPr>
                        <a:picLocks noChangeAspect="1" noChangeArrowheads="1"/>
                      </p:cNvPicPr>
                      <p:nvPr/>
                    </p:nvPicPr>
                    <p:blipFill>
                      <a:blip r:embed="rId16">
                        <a:lum bright="-100000" contrast="-100000"/>
                        <a:extLst>
                          <a:ext uri="{28A0092B-C50C-407E-A947-70E740481C1C}">
                            <a14:useLocalDpi xmlns:a14="http://schemas.microsoft.com/office/drawing/2010/main" val="0"/>
                          </a:ext>
                        </a:extLst>
                      </a:blip>
                      <a:srcRect/>
                      <a:stretch>
                        <a:fillRect/>
                      </a:stretch>
                    </p:blipFill>
                    <p:spPr bwMode="auto">
                      <a:xfrm>
                        <a:off x="4643438" y="2401888"/>
                        <a:ext cx="174625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8370" name="Text Box 18"/>
          <p:cNvSpPr txBox="1">
            <a:spLocks noChangeArrowheads="1"/>
          </p:cNvSpPr>
          <p:nvPr/>
        </p:nvSpPr>
        <p:spPr bwMode="auto">
          <a:xfrm>
            <a:off x="2425700" y="3522663"/>
            <a:ext cx="8985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因而</a:t>
            </a:r>
          </a:p>
        </p:txBody>
      </p:sp>
      <p:graphicFrame>
        <p:nvGraphicFramePr>
          <p:cNvPr id="228371" name="Object 19"/>
          <p:cNvGraphicFramePr>
            <a:graphicFrameLocks noChangeAspect="1"/>
          </p:cNvGraphicFramePr>
          <p:nvPr/>
        </p:nvGraphicFramePr>
        <p:xfrm>
          <a:off x="3763963" y="3213100"/>
          <a:ext cx="1879600" cy="1089025"/>
        </p:xfrm>
        <a:graphic>
          <a:graphicData uri="http://schemas.openxmlformats.org/presentationml/2006/ole">
            <mc:AlternateContent xmlns:mc="http://schemas.openxmlformats.org/markup-compatibility/2006">
              <mc:Choice xmlns:v="urn:schemas-microsoft-com:vml" Requires="v">
                <p:oleObj spid="_x0000_s42272" name="Equation" r:id="rId17" imgW="704850" imgH="404495" progId="Equation.DSMT4">
                  <p:embed/>
                </p:oleObj>
              </mc:Choice>
              <mc:Fallback>
                <p:oleObj name="Equation" r:id="rId17" imgW="704850" imgH="404495" progId="Equation.DSMT4">
                  <p:embed/>
                  <p:pic>
                    <p:nvPicPr>
                      <p:cNvPr id="0" name="Object 19"/>
                      <p:cNvPicPr>
                        <a:picLocks noChangeAspect="1" noChangeArrowheads="1"/>
                      </p:cNvPicPr>
                      <p:nvPr/>
                    </p:nvPicPr>
                    <p:blipFill>
                      <a:blip r:embed="rId18">
                        <a:lum bright="-100000" contrast="-100000"/>
                        <a:extLst>
                          <a:ext uri="{28A0092B-C50C-407E-A947-70E740481C1C}">
                            <a14:useLocalDpi xmlns:a14="http://schemas.microsoft.com/office/drawing/2010/main" val="0"/>
                          </a:ext>
                        </a:extLst>
                      </a:blip>
                      <a:srcRect/>
                      <a:stretch>
                        <a:fillRect/>
                      </a:stretch>
                    </p:blipFill>
                    <p:spPr bwMode="auto">
                      <a:xfrm>
                        <a:off x="3763963" y="3213100"/>
                        <a:ext cx="1879600" cy="1089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8372" name="Object 20"/>
          <p:cNvGraphicFramePr>
            <a:graphicFrameLocks noChangeAspect="1"/>
          </p:cNvGraphicFramePr>
          <p:nvPr/>
        </p:nvGraphicFramePr>
        <p:xfrm>
          <a:off x="2670175" y="4402138"/>
          <a:ext cx="2047875" cy="593725"/>
        </p:xfrm>
        <a:graphic>
          <a:graphicData uri="http://schemas.openxmlformats.org/presentationml/2006/ole">
            <mc:AlternateContent xmlns:mc="http://schemas.openxmlformats.org/markup-compatibility/2006">
              <mc:Choice xmlns:v="urn:schemas-microsoft-com:vml" Requires="v">
                <p:oleObj spid="_x0000_s42273" name="公式" r:id="rId19" imgW="771525" imgH="211455" progId="Equation.3">
                  <p:embed/>
                </p:oleObj>
              </mc:Choice>
              <mc:Fallback>
                <p:oleObj name="公式" r:id="rId19" imgW="771525" imgH="211455" progId="Equation.3">
                  <p:embed/>
                  <p:pic>
                    <p:nvPicPr>
                      <p:cNvPr id="0" name="Object 20"/>
                      <p:cNvPicPr>
                        <a:picLocks noChangeAspect="1" noChangeArrowheads="1"/>
                      </p:cNvPicPr>
                      <p:nvPr/>
                    </p:nvPicPr>
                    <p:blipFill>
                      <a:blip r:embed="rId20">
                        <a:lum bright="-100000" contrast="-100000"/>
                        <a:extLst>
                          <a:ext uri="{28A0092B-C50C-407E-A947-70E740481C1C}">
                            <a14:useLocalDpi xmlns:a14="http://schemas.microsoft.com/office/drawing/2010/main" val="0"/>
                          </a:ext>
                        </a:extLst>
                      </a:blip>
                      <a:srcRect/>
                      <a:stretch>
                        <a:fillRect/>
                      </a:stretch>
                    </p:blipFill>
                    <p:spPr bwMode="auto">
                      <a:xfrm>
                        <a:off x="2670175" y="4402138"/>
                        <a:ext cx="2047875"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8373" name="Object 21"/>
          <p:cNvGraphicFramePr>
            <a:graphicFrameLocks noChangeAspect="1"/>
          </p:cNvGraphicFramePr>
          <p:nvPr/>
        </p:nvGraphicFramePr>
        <p:xfrm>
          <a:off x="4841875" y="4402138"/>
          <a:ext cx="1846263" cy="593725"/>
        </p:xfrm>
        <a:graphic>
          <a:graphicData uri="http://schemas.openxmlformats.org/presentationml/2006/ole">
            <mc:AlternateContent xmlns:mc="http://schemas.openxmlformats.org/markup-compatibility/2006">
              <mc:Choice xmlns:v="urn:schemas-microsoft-com:vml" Requires="v">
                <p:oleObj spid="_x0000_s42274" name="公式" r:id="rId21" imgW="695325" imgH="211455" progId="Equation.3">
                  <p:embed/>
                </p:oleObj>
              </mc:Choice>
              <mc:Fallback>
                <p:oleObj name="公式" r:id="rId21" imgW="695325" imgH="211455" progId="Equation.3">
                  <p:embed/>
                  <p:pic>
                    <p:nvPicPr>
                      <p:cNvPr id="0" name="Object 21"/>
                      <p:cNvPicPr>
                        <a:picLocks noChangeAspect="1" noChangeArrowheads="1"/>
                      </p:cNvPicPr>
                      <p:nvPr/>
                    </p:nvPicPr>
                    <p:blipFill>
                      <a:blip r:embed="rId22">
                        <a:lum bright="-100000" contrast="-100000"/>
                        <a:extLst>
                          <a:ext uri="{28A0092B-C50C-407E-A947-70E740481C1C}">
                            <a14:useLocalDpi xmlns:a14="http://schemas.microsoft.com/office/drawing/2010/main" val="0"/>
                          </a:ext>
                        </a:extLst>
                      </a:blip>
                      <a:srcRect/>
                      <a:stretch>
                        <a:fillRect/>
                      </a:stretch>
                    </p:blipFill>
                    <p:spPr bwMode="auto">
                      <a:xfrm>
                        <a:off x="4841875" y="4402138"/>
                        <a:ext cx="1846263"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8374" name="Object 22"/>
          <p:cNvGraphicFramePr>
            <a:graphicFrameLocks noChangeAspect="1"/>
          </p:cNvGraphicFramePr>
          <p:nvPr/>
        </p:nvGraphicFramePr>
        <p:xfrm>
          <a:off x="4083050" y="5373688"/>
          <a:ext cx="2047875" cy="593725"/>
        </p:xfrm>
        <a:graphic>
          <a:graphicData uri="http://schemas.openxmlformats.org/presentationml/2006/ole">
            <mc:AlternateContent xmlns:mc="http://schemas.openxmlformats.org/markup-compatibility/2006">
              <mc:Choice xmlns:v="urn:schemas-microsoft-com:vml" Requires="v">
                <p:oleObj spid="_x0000_s42275" name="Equation" r:id="rId23" imgW="771525" imgH="211455" progId="Equation.DSMT4">
                  <p:embed/>
                </p:oleObj>
              </mc:Choice>
              <mc:Fallback>
                <p:oleObj name="Equation" r:id="rId23" imgW="771525" imgH="211455" progId="Equation.DSMT4">
                  <p:embed/>
                  <p:pic>
                    <p:nvPicPr>
                      <p:cNvPr id="0" name="Object 22"/>
                      <p:cNvPicPr>
                        <a:picLocks noChangeAspect="1" noChangeArrowheads="1"/>
                      </p:cNvPicPr>
                      <p:nvPr/>
                    </p:nvPicPr>
                    <p:blipFill>
                      <a:blip r:embed="rId24">
                        <a:lum bright="-100000" contrast="-100000"/>
                        <a:extLst>
                          <a:ext uri="{28A0092B-C50C-407E-A947-70E740481C1C}">
                            <a14:useLocalDpi xmlns:a14="http://schemas.microsoft.com/office/drawing/2010/main" val="0"/>
                          </a:ext>
                        </a:extLst>
                      </a:blip>
                      <a:srcRect/>
                      <a:stretch>
                        <a:fillRect/>
                      </a:stretch>
                    </p:blipFill>
                    <p:spPr bwMode="auto">
                      <a:xfrm>
                        <a:off x="4083050" y="5373688"/>
                        <a:ext cx="2047875"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8375" name="Text Box 23"/>
          <p:cNvSpPr txBox="1">
            <a:spLocks noChangeArrowheads="1"/>
          </p:cNvSpPr>
          <p:nvPr/>
        </p:nvSpPr>
        <p:spPr bwMode="auto">
          <a:xfrm>
            <a:off x="1619250" y="4454525"/>
            <a:ext cx="898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由于</a:t>
            </a:r>
          </a:p>
        </p:txBody>
      </p:sp>
      <p:sp>
        <p:nvSpPr>
          <p:cNvPr id="228376" name="Text Box 24"/>
          <p:cNvSpPr txBox="1">
            <a:spLocks noChangeArrowheads="1"/>
          </p:cNvSpPr>
          <p:nvPr/>
        </p:nvSpPr>
        <p:spPr bwMode="auto">
          <a:xfrm>
            <a:off x="1625600" y="5402263"/>
            <a:ext cx="19685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由定理 </a:t>
            </a:r>
            <a:r>
              <a:rPr lang="en-US" altLang="zh-CN" sz="2800" b="1"/>
              <a:t>3 </a:t>
            </a:r>
            <a:r>
              <a:rPr lang="zh-CN" altLang="en-US" sz="2800" b="1"/>
              <a:t>得</a:t>
            </a:r>
          </a:p>
        </p:txBody>
      </p:sp>
      <p:sp>
        <p:nvSpPr>
          <p:cNvPr id="228377" name="Text Box 25"/>
          <p:cNvSpPr txBox="1">
            <a:spLocks noChangeArrowheads="1"/>
          </p:cNvSpPr>
          <p:nvPr/>
        </p:nvSpPr>
        <p:spPr bwMode="auto">
          <a:xfrm>
            <a:off x="1489075" y="1382713"/>
            <a:ext cx="16129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由题可知</a:t>
            </a:r>
          </a:p>
        </p:txBody>
      </p:sp>
      <p:graphicFrame>
        <p:nvGraphicFramePr>
          <p:cNvPr id="228378" name="Object 26"/>
          <p:cNvGraphicFramePr>
            <a:graphicFrameLocks noChangeAspect="1"/>
          </p:cNvGraphicFramePr>
          <p:nvPr/>
        </p:nvGraphicFramePr>
        <p:xfrm>
          <a:off x="6372225" y="5100638"/>
          <a:ext cx="2111375" cy="1022350"/>
        </p:xfrm>
        <a:graphic>
          <a:graphicData uri="http://schemas.openxmlformats.org/presentationml/2006/ole">
            <mc:AlternateContent xmlns:mc="http://schemas.openxmlformats.org/markup-compatibility/2006">
              <mc:Choice xmlns:v="urn:schemas-microsoft-com:vml" Requires="v">
                <p:oleObj spid="_x0000_s42276" name="Equation" r:id="rId25" imgW="790575" imgH="375285" progId="Equation.DSMT4">
                  <p:embed/>
                </p:oleObj>
              </mc:Choice>
              <mc:Fallback>
                <p:oleObj name="Equation" r:id="rId25" imgW="790575" imgH="375285" progId="Equation.DSMT4">
                  <p:embed/>
                  <p:pic>
                    <p:nvPicPr>
                      <p:cNvPr id="0" name="Object 26"/>
                      <p:cNvPicPr>
                        <a:picLocks noChangeAspect="1" noChangeArrowheads="1"/>
                      </p:cNvPicPr>
                      <p:nvPr/>
                    </p:nvPicPr>
                    <p:blipFill>
                      <a:blip r:embed="rId26">
                        <a:lum bright="-100000" contrast="-100000"/>
                        <a:extLst>
                          <a:ext uri="{28A0092B-C50C-407E-A947-70E740481C1C}">
                            <a14:useLocalDpi xmlns:a14="http://schemas.microsoft.com/office/drawing/2010/main" val="0"/>
                          </a:ext>
                        </a:extLst>
                      </a:blip>
                      <a:srcRect/>
                      <a:stretch>
                        <a:fillRect/>
                      </a:stretch>
                    </p:blipFill>
                    <p:spPr bwMode="auto">
                      <a:xfrm>
                        <a:off x="6372225" y="5100638"/>
                        <a:ext cx="2111375" cy="1022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8361">
                                            <p:txEl>
                                              <p:pRg st="0" end="0"/>
                                            </p:txEl>
                                          </p:spTgt>
                                        </p:tgtEl>
                                        <p:attrNameLst>
                                          <p:attrName>style.visibility</p:attrName>
                                        </p:attrNameLst>
                                      </p:cBhvr>
                                      <p:to>
                                        <p:strVal val="visible"/>
                                      </p:to>
                                    </p:set>
                                    <p:animEffect transition="in" filter="wipe(left)">
                                      <p:cBhvr>
                                        <p:cTn id="7" dur="500"/>
                                        <p:tgtEl>
                                          <p:spTgt spid="22836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8377">
                                            <p:txEl>
                                              <p:pRg st="0" end="0"/>
                                            </p:txEl>
                                          </p:spTgt>
                                        </p:tgtEl>
                                        <p:attrNameLst>
                                          <p:attrName>style.visibility</p:attrName>
                                        </p:attrNameLst>
                                      </p:cBhvr>
                                      <p:to>
                                        <p:strVal val="visible"/>
                                      </p:to>
                                    </p:set>
                                    <p:animEffect transition="in" filter="wipe(left)">
                                      <p:cBhvr>
                                        <p:cTn id="12" dur="500"/>
                                        <p:tgtEl>
                                          <p:spTgt spid="22837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8357"/>
                                        </p:tgtEl>
                                        <p:attrNameLst>
                                          <p:attrName>style.visibility</p:attrName>
                                        </p:attrNameLst>
                                      </p:cBhvr>
                                      <p:to>
                                        <p:strVal val="visible"/>
                                      </p:to>
                                    </p:set>
                                    <p:animEffect transition="in" filter="wipe(left)">
                                      <p:cBhvr>
                                        <p:cTn id="17" dur="500"/>
                                        <p:tgtEl>
                                          <p:spTgt spid="22835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8367">
                                            <p:txEl>
                                              <p:pRg st="0" end="0"/>
                                            </p:txEl>
                                          </p:spTgt>
                                        </p:tgtEl>
                                        <p:attrNameLst>
                                          <p:attrName>style.visibility</p:attrName>
                                        </p:attrNameLst>
                                      </p:cBhvr>
                                      <p:to>
                                        <p:strVal val="visible"/>
                                      </p:to>
                                    </p:set>
                                    <p:animEffect transition="in" filter="wipe(left)">
                                      <p:cBhvr>
                                        <p:cTn id="27" dur="500"/>
                                        <p:tgtEl>
                                          <p:spTgt spid="228367">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28368"/>
                                        </p:tgtEl>
                                        <p:attrNameLst>
                                          <p:attrName>style.visibility</p:attrName>
                                        </p:attrNameLst>
                                      </p:cBhvr>
                                      <p:to>
                                        <p:strVal val="visible"/>
                                      </p:to>
                                    </p:set>
                                    <p:animEffect transition="in" filter="wipe(left)">
                                      <p:cBhvr>
                                        <p:cTn id="32" dur="500"/>
                                        <p:tgtEl>
                                          <p:spTgt spid="22836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28369"/>
                                        </p:tgtEl>
                                        <p:attrNameLst>
                                          <p:attrName>style.visibility</p:attrName>
                                        </p:attrNameLst>
                                      </p:cBhvr>
                                      <p:to>
                                        <p:strVal val="visible"/>
                                      </p:to>
                                    </p:set>
                                    <p:animEffect transition="in" filter="wipe(left)">
                                      <p:cBhvr>
                                        <p:cTn id="37" dur="500"/>
                                        <p:tgtEl>
                                          <p:spTgt spid="22836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28370">
                                            <p:txEl>
                                              <p:pRg st="0" end="0"/>
                                            </p:txEl>
                                          </p:spTgt>
                                        </p:tgtEl>
                                        <p:attrNameLst>
                                          <p:attrName>style.visibility</p:attrName>
                                        </p:attrNameLst>
                                      </p:cBhvr>
                                      <p:to>
                                        <p:strVal val="visible"/>
                                      </p:to>
                                    </p:set>
                                    <p:animEffect transition="in" filter="wipe(left)">
                                      <p:cBhvr>
                                        <p:cTn id="42" dur="500"/>
                                        <p:tgtEl>
                                          <p:spTgt spid="228370">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28371"/>
                                        </p:tgtEl>
                                        <p:attrNameLst>
                                          <p:attrName>style.visibility</p:attrName>
                                        </p:attrNameLst>
                                      </p:cBhvr>
                                      <p:to>
                                        <p:strVal val="visible"/>
                                      </p:to>
                                    </p:set>
                                    <p:animEffect transition="in" filter="wipe(left)">
                                      <p:cBhvr>
                                        <p:cTn id="47" dur="500"/>
                                        <p:tgtEl>
                                          <p:spTgt spid="22837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28375">
                                            <p:txEl>
                                              <p:pRg st="0" end="0"/>
                                            </p:txEl>
                                          </p:spTgt>
                                        </p:tgtEl>
                                        <p:attrNameLst>
                                          <p:attrName>style.visibility</p:attrName>
                                        </p:attrNameLst>
                                      </p:cBhvr>
                                      <p:to>
                                        <p:strVal val="visible"/>
                                      </p:to>
                                    </p:set>
                                    <p:animEffect transition="in" filter="wipe(left)">
                                      <p:cBhvr>
                                        <p:cTn id="52" dur="500"/>
                                        <p:tgtEl>
                                          <p:spTgt spid="228375">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28372"/>
                                        </p:tgtEl>
                                        <p:attrNameLst>
                                          <p:attrName>style.visibility</p:attrName>
                                        </p:attrNameLst>
                                      </p:cBhvr>
                                      <p:to>
                                        <p:strVal val="visible"/>
                                      </p:to>
                                    </p:set>
                                    <p:animEffect transition="in" filter="wipe(left)">
                                      <p:cBhvr>
                                        <p:cTn id="57" dur="500"/>
                                        <p:tgtEl>
                                          <p:spTgt spid="22837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28373"/>
                                        </p:tgtEl>
                                        <p:attrNameLst>
                                          <p:attrName>style.visibility</p:attrName>
                                        </p:attrNameLst>
                                      </p:cBhvr>
                                      <p:to>
                                        <p:strVal val="visible"/>
                                      </p:to>
                                    </p:set>
                                    <p:animEffect transition="in" filter="wipe(left)">
                                      <p:cBhvr>
                                        <p:cTn id="62" dur="500"/>
                                        <p:tgtEl>
                                          <p:spTgt spid="22837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28376">
                                            <p:txEl>
                                              <p:pRg st="0" end="0"/>
                                            </p:txEl>
                                          </p:spTgt>
                                        </p:tgtEl>
                                        <p:attrNameLst>
                                          <p:attrName>style.visibility</p:attrName>
                                        </p:attrNameLst>
                                      </p:cBhvr>
                                      <p:to>
                                        <p:strVal val="visible"/>
                                      </p:to>
                                    </p:set>
                                    <p:animEffect transition="in" filter="wipe(left)">
                                      <p:cBhvr>
                                        <p:cTn id="67" dur="500"/>
                                        <p:tgtEl>
                                          <p:spTgt spid="228376">
                                            <p:txEl>
                                              <p:pRg st="0" end="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228374"/>
                                        </p:tgtEl>
                                        <p:attrNameLst>
                                          <p:attrName>style.visibility</p:attrName>
                                        </p:attrNameLst>
                                      </p:cBhvr>
                                      <p:to>
                                        <p:strVal val="visible"/>
                                      </p:to>
                                    </p:set>
                                    <p:animEffect transition="in" filter="wipe(left)">
                                      <p:cBhvr>
                                        <p:cTn id="72" dur="500"/>
                                        <p:tgtEl>
                                          <p:spTgt spid="228374"/>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228378"/>
                                        </p:tgtEl>
                                        <p:attrNameLst>
                                          <p:attrName>style.visibility</p:attrName>
                                        </p:attrNameLst>
                                      </p:cBhvr>
                                      <p:to>
                                        <p:strVal val="visible"/>
                                      </p:to>
                                    </p:set>
                                    <p:animEffect transition="in" filter="wipe(left)">
                                      <p:cBhvr>
                                        <p:cTn id="77" dur="500"/>
                                        <p:tgtEl>
                                          <p:spTgt spid="2283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61" grpId="0" build="p" autoUpdateAnimBg="0"/>
      <p:bldP spid="228367" grpId="0" build="p" autoUpdateAnimBg="0"/>
      <p:bldP spid="228370" grpId="0" build="p" autoUpdateAnimBg="0"/>
      <p:bldP spid="228375" grpId="0" build="p" autoUpdateAnimBg="0"/>
      <p:bldP spid="228376" grpId="0" build="p" autoUpdateAnimBg="0"/>
      <p:bldP spid="228377" grpId="0" build="p"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微信图片_20200426215300"/>
          <p:cNvPicPr>
            <a:picLocks noChangeAspect="1"/>
          </p:cNvPicPr>
          <p:nvPr/>
        </p:nvPicPr>
        <p:blipFill>
          <a:blip r:embed="rId2"/>
          <a:stretch>
            <a:fillRect/>
          </a:stretch>
        </p:blipFill>
        <p:spPr>
          <a:xfrm>
            <a:off x="151765" y="600075"/>
            <a:ext cx="8632190" cy="5657215"/>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p:cNvSpPr txBox="1">
            <a:spLocks noChangeArrowheads="1"/>
          </p:cNvSpPr>
          <p:nvPr/>
        </p:nvSpPr>
        <p:spPr bwMode="auto">
          <a:xfrm>
            <a:off x="1169988" y="1471613"/>
            <a:ext cx="26400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000" b="1">
                <a:solidFill>
                  <a:srgbClr val="5050CC"/>
                </a:solidFill>
                <a:latin typeface="宋体" panose="02010600030101010101" pitchFamily="2" charset="-122"/>
              </a:rPr>
              <a:t>例</a:t>
            </a:r>
            <a:r>
              <a:rPr kumimoji="0" lang="en-US" altLang="zh-CN" sz="2000" b="1">
                <a:solidFill>
                  <a:srgbClr val="5050CC"/>
                </a:solidFill>
                <a:latin typeface="宋体" panose="02010600030101010101" pitchFamily="2" charset="-122"/>
              </a:rPr>
              <a:t>3</a:t>
            </a:r>
            <a:r>
              <a:rPr kumimoji="0" lang="zh-CN" altLang="en-US" sz="2000" b="1">
                <a:latin typeface="宋体" panose="02010600030101010101" pitchFamily="2" charset="-122"/>
              </a:rPr>
              <a:t>　</a:t>
            </a:r>
            <a:r>
              <a:rPr kumimoji="0" lang="zh-CN" altLang="en-US" sz="2000">
                <a:latin typeface="宋体" panose="02010600030101010101" pitchFamily="2" charset="-122"/>
              </a:rPr>
              <a:t>设总体</a:t>
            </a:r>
          </a:p>
        </p:txBody>
      </p:sp>
      <p:sp>
        <p:nvSpPr>
          <p:cNvPr id="53251" name="Text Box 3"/>
          <p:cNvSpPr txBox="1">
            <a:spLocks noChangeArrowheads="1"/>
          </p:cNvSpPr>
          <p:nvPr/>
        </p:nvSpPr>
        <p:spPr bwMode="auto">
          <a:xfrm>
            <a:off x="685800" y="1905000"/>
            <a:ext cx="67056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kumimoji="0" lang="zh-CN" altLang="en-US" sz="2000">
                <a:latin typeface="宋体" panose="02010600030101010101" pitchFamily="2" charset="-122"/>
              </a:rPr>
              <a:t>于</a:t>
            </a:r>
            <a:r>
              <a:rPr kumimoji="0" lang="en-US" altLang="zh-CN" sz="2000"/>
              <a:t>70</a:t>
            </a:r>
            <a:r>
              <a:rPr kumimoji="0" lang="zh-CN" altLang="en-US" sz="2000">
                <a:latin typeface="宋体" panose="02010600030101010101" pitchFamily="2" charset="-122"/>
              </a:rPr>
              <a:t>的概率不小于</a:t>
            </a:r>
            <a:r>
              <a:rPr kumimoji="0" lang="en-US" altLang="zh-CN" sz="2000"/>
              <a:t>90%</a:t>
            </a:r>
            <a:r>
              <a:rPr kumimoji="0" lang="zh-CN" altLang="en-US" sz="2000">
                <a:latin typeface="宋体" panose="02010600030101010101" pitchFamily="2" charset="-122"/>
              </a:rPr>
              <a:t>，则样本容量至少为</a:t>
            </a:r>
            <a:r>
              <a:rPr kumimoji="0" lang="en-US" altLang="zh-CN" sz="2000"/>
              <a:t>n=</a:t>
            </a:r>
            <a:r>
              <a:rPr kumimoji="0" lang="en-US" altLang="zh-CN" sz="2000" u="sng"/>
              <a:t>42</a:t>
            </a:r>
            <a:r>
              <a:rPr kumimoji="0" lang="zh-CN" altLang="en-US" sz="2000">
                <a:latin typeface="宋体" panose="02010600030101010101" pitchFamily="2" charset="-122"/>
              </a:rPr>
              <a:t>．  </a:t>
            </a:r>
          </a:p>
        </p:txBody>
      </p:sp>
      <p:sp>
        <p:nvSpPr>
          <p:cNvPr id="53252" name="Text Box 4"/>
          <p:cNvSpPr txBox="1">
            <a:spLocks noChangeArrowheads="1"/>
          </p:cNvSpPr>
          <p:nvPr/>
        </p:nvSpPr>
        <p:spPr bwMode="auto">
          <a:xfrm>
            <a:off x="4540250" y="1477963"/>
            <a:ext cx="221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000">
                <a:latin typeface="宋体" panose="02010600030101010101" pitchFamily="2" charset="-122"/>
              </a:rPr>
              <a:t>，为使样本均值大</a:t>
            </a:r>
          </a:p>
        </p:txBody>
      </p:sp>
      <p:sp>
        <p:nvSpPr>
          <p:cNvPr id="53253" name="Text Box 5"/>
          <p:cNvSpPr txBox="1">
            <a:spLocks noChangeArrowheads="1"/>
          </p:cNvSpPr>
          <p:nvPr/>
        </p:nvSpPr>
        <p:spPr bwMode="auto">
          <a:xfrm>
            <a:off x="1219200" y="2620963"/>
            <a:ext cx="3733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000" b="1">
                <a:solidFill>
                  <a:srgbClr val="5050CC"/>
                </a:solidFill>
                <a:latin typeface="宋体" panose="02010600030101010101" pitchFamily="2" charset="-122"/>
              </a:rPr>
              <a:t>解</a:t>
            </a:r>
            <a:r>
              <a:rPr kumimoji="0" lang="zh-CN" altLang="en-US" sz="2000" b="1">
                <a:latin typeface="宋体" panose="02010600030101010101" pitchFamily="2" charset="-122"/>
              </a:rPr>
              <a:t>　</a:t>
            </a:r>
            <a:r>
              <a:rPr kumimoji="0" lang="zh-CN" altLang="en-US" sz="2000">
                <a:latin typeface="宋体" panose="02010600030101010101" pitchFamily="2" charset="-122"/>
              </a:rPr>
              <a:t>设样本容量为</a:t>
            </a:r>
            <a:r>
              <a:rPr kumimoji="0" lang="en-US" altLang="zh-CN" sz="2000" i="1"/>
              <a:t>n</a:t>
            </a:r>
            <a:r>
              <a:rPr kumimoji="0" lang="zh-CN" altLang="en-US" sz="2000">
                <a:latin typeface="宋体" panose="02010600030101010101" pitchFamily="2" charset="-122"/>
              </a:rPr>
              <a:t>，则</a:t>
            </a:r>
          </a:p>
        </p:txBody>
      </p:sp>
      <p:sp>
        <p:nvSpPr>
          <p:cNvPr id="53254" name="Text Box 6"/>
          <p:cNvSpPr txBox="1">
            <a:spLocks noChangeArrowheads="1"/>
          </p:cNvSpPr>
          <p:nvPr/>
        </p:nvSpPr>
        <p:spPr bwMode="auto">
          <a:xfrm>
            <a:off x="1212850" y="3302000"/>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000">
                <a:latin typeface="宋体" panose="02010600030101010101" pitchFamily="2" charset="-122"/>
              </a:rPr>
              <a:t>故</a:t>
            </a:r>
          </a:p>
        </p:txBody>
      </p:sp>
      <p:sp>
        <p:nvSpPr>
          <p:cNvPr id="53255" name="Text Box 7"/>
          <p:cNvSpPr txBox="1">
            <a:spLocks noChangeArrowheads="1"/>
          </p:cNvSpPr>
          <p:nvPr/>
        </p:nvSpPr>
        <p:spPr bwMode="auto">
          <a:xfrm>
            <a:off x="1219200" y="3924300"/>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000">
                <a:latin typeface="宋体" panose="02010600030101010101" pitchFamily="2" charset="-122"/>
              </a:rPr>
              <a:t>令</a:t>
            </a:r>
          </a:p>
        </p:txBody>
      </p:sp>
      <p:sp>
        <p:nvSpPr>
          <p:cNvPr id="53256" name="Text Box 8"/>
          <p:cNvSpPr txBox="1">
            <a:spLocks noChangeArrowheads="1"/>
          </p:cNvSpPr>
          <p:nvPr/>
        </p:nvSpPr>
        <p:spPr bwMode="auto">
          <a:xfrm>
            <a:off x="3473450" y="3952875"/>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000">
                <a:latin typeface="宋体" panose="02010600030101010101" pitchFamily="2" charset="-122"/>
              </a:rPr>
              <a:t>查表得</a:t>
            </a:r>
          </a:p>
        </p:txBody>
      </p:sp>
      <p:sp>
        <p:nvSpPr>
          <p:cNvPr id="53257" name="Text Box 9"/>
          <p:cNvSpPr txBox="1">
            <a:spLocks noChangeArrowheads="1"/>
          </p:cNvSpPr>
          <p:nvPr/>
        </p:nvSpPr>
        <p:spPr bwMode="auto">
          <a:xfrm>
            <a:off x="1225550" y="4457700"/>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000">
                <a:latin typeface="宋体" panose="02010600030101010101" pitchFamily="2" charset="-122"/>
              </a:rPr>
              <a:t>即</a:t>
            </a:r>
          </a:p>
        </p:txBody>
      </p:sp>
      <p:sp>
        <p:nvSpPr>
          <p:cNvPr id="53258" name="Text Box 10"/>
          <p:cNvSpPr txBox="1">
            <a:spLocks noChangeArrowheads="1"/>
          </p:cNvSpPr>
          <p:nvPr/>
        </p:nvSpPr>
        <p:spPr bwMode="auto">
          <a:xfrm>
            <a:off x="3054350" y="4457700"/>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000">
                <a:latin typeface="宋体" panose="02010600030101010101" pitchFamily="2" charset="-122"/>
              </a:rPr>
              <a:t>所以取</a:t>
            </a:r>
          </a:p>
        </p:txBody>
      </p:sp>
      <p:graphicFrame>
        <p:nvGraphicFramePr>
          <p:cNvPr id="53259" name="Object 2"/>
          <p:cNvGraphicFramePr>
            <a:graphicFrameLocks noChangeAspect="1"/>
          </p:cNvGraphicFramePr>
          <p:nvPr/>
        </p:nvGraphicFramePr>
        <p:xfrm>
          <a:off x="2874963" y="1595438"/>
          <a:ext cx="1697037" cy="309562"/>
        </p:xfrm>
        <a:graphic>
          <a:graphicData uri="http://schemas.openxmlformats.org/presentationml/2006/ole">
            <mc:AlternateContent xmlns:mc="http://schemas.openxmlformats.org/markup-compatibility/2006">
              <mc:Choice xmlns:v="urn:schemas-microsoft-com:vml" Requires="v">
                <p:oleObj spid="_x0000_s67609" name="Equation" r:id="rId3" imgW="1879600" imgH="342900" progId="Equation.3">
                  <p:embed/>
                </p:oleObj>
              </mc:Choice>
              <mc:Fallback>
                <p:oleObj name="Equation" r:id="rId3" imgW="1879600" imgH="3429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4963" y="1595438"/>
                        <a:ext cx="1697037" cy="3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60" name="Object 3"/>
          <p:cNvGraphicFramePr>
            <a:graphicFrameLocks noChangeAspect="1"/>
          </p:cNvGraphicFramePr>
          <p:nvPr/>
        </p:nvGraphicFramePr>
        <p:xfrm>
          <a:off x="4343400" y="2514600"/>
          <a:ext cx="1801813" cy="654050"/>
        </p:xfrm>
        <a:graphic>
          <a:graphicData uri="http://schemas.openxmlformats.org/presentationml/2006/ole">
            <mc:AlternateContent xmlns:mc="http://schemas.openxmlformats.org/markup-compatibility/2006">
              <mc:Choice xmlns:v="urn:schemas-microsoft-com:vml" Requires="v">
                <p:oleObj spid="_x0000_s67610" name="Equation" r:id="rId5" imgW="1993900" imgH="723900" progId="Equation.3">
                  <p:embed/>
                </p:oleObj>
              </mc:Choice>
              <mc:Fallback>
                <p:oleObj name="Equation" r:id="rId5" imgW="1993900" imgH="7239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43400" y="2514600"/>
                        <a:ext cx="1801813"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61" name="Object 4"/>
          <p:cNvGraphicFramePr>
            <a:graphicFrameLocks noChangeAspect="1"/>
          </p:cNvGraphicFramePr>
          <p:nvPr/>
        </p:nvGraphicFramePr>
        <p:xfrm>
          <a:off x="1600200" y="3390900"/>
          <a:ext cx="2952750" cy="331788"/>
        </p:xfrm>
        <a:graphic>
          <a:graphicData uri="http://schemas.openxmlformats.org/presentationml/2006/ole">
            <mc:AlternateContent xmlns:mc="http://schemas.openxmlformats.org/markup-compatibility/2006">
              <mc:Choice xmlns:v="urn:schemas-microsoft-com:vml" Requires="v">
                <p:oleObj spid="_x0000_s67611" name="Equation" r:id="rId7" imgW="3276600" imgH="368300" progId="Equation.3">
                  <p:embed/>
                </p:oleObj>
              </mc:Choice>
              <mc:Fallback>
                <p:oleObj name="Equation" r:id="rId7" imgW="3276600" imgH="3683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00200" y="3390900"/>
                        <a:ext cx="2952750"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62" name="Object 5"/>
          <p:cNvGraphicFramePr>
            <a:graphicFrameLocks noChangeAspect="1"/>
          </p:cNvGraphicFramePr>
          <p:nvPr/>
        </p:nvGraphicFramePr>
        <p:xfrm>
          <a:off x="1600200" y="3987800"/>
          <a:ext cx="1743075" cy="355600"/>
        </p:xfrm>
        <a:graphic>
          <a:graphicData uri="http://schemas.openxmlformats.org/presentationml/2006/ole">
            <mc:AlternateContent xmlns:mc="http://schemas.openxmlformats.org/markup-compatibility/2006">
              <mc:Choice xmlns:v="urn:schemas-microsoft-com:vml" Requires="v">
                <p:oleObj spid="_x0000_s67612" name="Equation" r:id="rId9" imgW="1930400" imgH="393700" progId="Equation.3">
                  <p:embed/>
                </p:oleObj>
              </mc:Choice>
              <mc:Fallback>
                <p:oleObj name="Equation" r:id="rId9" imgW="1930400" imgH="3937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00200" y="3987800"/>
                        <a:ext cx="17430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63" name="Object 6"/>
          <p:cNvGraphicFramePr>
            <a:graphicFrameLocks noChangeAspect="1"/>
          </p:cNvGraphicFramePr>
          <p:nvPr/>
        </p:nvGraphicFramePr>
        <p:xfrm>
          <a:off x="4464050" y="4000500"/>
          <a:ext cx="1503363" cy="309563"/>
        </p:xfrm>
        <a:graphic>
          <a:graphicData uri="http://schemas.openxmlformats.org/presentationml/2006/ole">
            <mc:AlternateContent xmlns:mc="http://schemas.openxmlformats.org/markup-compatibility/2006">
              <mc:Choice xmlns:v="urn:schemas-microsoft-com:vml" Requires="v">
                <p:oleObj spid="_x0000_s67613" name="Equation" r:id="rId11" imgW="1663700" imgH="342900" progId="Equation.3">
                  <p:embed/>
                </p:oleObj>
              </mc:Choice>
              <mc:Fallback>
                <p:oleObj name="Equation" r:id="rId11" imgW="1663700" imgH="34290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64050" y="4000500"/>
                        <a:ext cx="1503363"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64" name="Object 7"/>
          <p:cNvGraphicFramePr>
            <a:graphicFrameLocks noChangeAspect="1"/>
          </p:cNvGraphicFramePr>
          <p:nvPr/>
        </p:nvGraphicFramePr>
        <p:xfrm>
          <a:off x="1682750" y="4533900"/>
          <a:ext cx="1196975" cy="250825"/>
        </p:xfrm>
        <a:graphic>
          <a:graphicData uri="http://schemas.openxmlformats.org/presentationml/2006/ole">
            <mc:AlternateContent xmlns:mc="http://schemas.openxmlformats.org/markup-compatibility/2006">
              <mc:Choice xmlns:v="urn:schemas-microsoft-com:vml" Requires="v">
                <p:oleObj spid="_x0000_s67614" name="Equation" r:id="rId13" imgW="1333500" imgH="279400" progId="Equation.3">
                  <p:embed/>
                </p:oleObj>
              </mc:Choice>
              <mc:Fallback>
                <p:oleObj name="Equation" r:id="rId13" imgW="1333500" imgH="279400"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82750" y="4533900"/>
                        <a:ext cx="119697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65" name="Object 8"/>
          <p:cNvGraphicFramePr>
            <a:graphicFrameLocks noChangeAspect="1"/>
          </p:cNvGraphicFramePr>
          <p:nvPr/>
        </p:nvGraphicFramePr>
        <p:xfrm>
          <a:off x="4013200" y="4533900"/>
          <a:ext cx="776288" cy="250825"/>
        </p:xfrm>
        <a:graphic>
          <a:graphicData uri="http://schemas.openxmlformats.org/presentationml/2006/ole">
            <mc:AlternateContent xmlns:mc="http://schemas.openxmlformats.org/markup-compatibility/2006">
              <mc:Choice xmlns:v="urn:schemas-microsoft-com:vml" Requires="v">
                <p:oleObj spid="_x0000_s67615" name="Equation" r:id="rId15" imgW="862965" imgH="279400" progId="Equation.3">
                  <p:embed/>
                </p:oleObj>
              </mc:Choice>
              <mc:Fallback>
                <p:oleObj name="Equation" r:id="rId15" imgW="862965" imgH="279400"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013200" y="4533900"/>
                        <a:ext cx="776288"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66" name="Object 9"/>
          <p:cNvGraphicFramePr>
            <a:graphicFrameLocks noChangeAspect="1"/>
          </p:cNvGraphicFramePr>
          <p:nvPr/>
        </p:nvGraphicFramePr>
        <p:xfrm>
          <a:off x="4845050" y="3378200"/>
          <a:ext cx="1403350" cy="355600"/>
        </p:xfrm>
        <a:graphic>
          <a:graphicData uri="http://schemas.openxmlformats.org/presentationml/2006/ole">
            <mc:AlternateContent xmlns:mc="http://schemas.openxmlformats.org/markup-compatibility/2006">
              <mc:Choice xmlns:v="urn:schemas-microsoft-com:vml" Requires="v">
                <p:oleObj spid="_x0000_s67616" name="Equation" r:id="rId17" imgW="1548765" imgH="393700" progId="Equation.3">
                  <p:embed/>
                </p:oleObj>
              </mc:Choice>
              <mc:Fallback>
                <p:oleObj name="Equation" r:id="rId17" imgW="1548765" imgH="393700" progId="Equation.3">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845050" y="3378200"/>
                        <a:ext cx="140335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advClick="0"/>
</p:sld>
</file>

<file path=ppt/theme/theme1.xml><?xml version="1.0" encoding="utf-8"?>
<a:theme xmlns:a="http://schemas.openxmlformats.org/drawingml/2006/main" name="古瓶荷花">
  <a:themeElements>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fontScheme name="古瓶荷花">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clrMap bg1="lt1" tx1="dk1" bg2="lt2" tx2="dk2" accent1="accent1" accent2="accent2" accent3="accent3" accent4="accent4" accent5="accent5" accent6="accent6" hlink="hlink" folHlink="folHlink"/>
    </a:extraClrScheme>
    <a:extraClrScheme>
      <a:clrScheme name="古瓶荷花 2">
        <a:dk1>
          <a:srgbClr val="007A77"/>
        </a:dk1>
        <a:lt1>
          <a:srgbClr val="EFF6EE"/>
        </a:lt1>
        <a:dk2>
          <a:srgbClr val="0066CC"/>
        </a:dk2>
        <a:lt2>
          <a:srgbClr val="C0C0C0"/>
        </a:lt2>
        <a:accent1>
          <a:srgbClr val="E7EEE6"/>
        </a:accent1>
        <a:accent2>
          <a:srgbClr val="FF9933"/>
        </a:accent2>
        <a:accent3>
          <a:srgbClr val="F6FAF5"/>
        </a:accent3>
        <a:accent4>
          <a:srgbClr val="006765"/>
        </a:accent4>
        <a:accent5>
          <a:srgbClr val="F1F5F0"/>
        </a:accent5>
        <a:accent6>
          <a:srgbClr val="E78A2D"/>
        </a:accent6>
        <a:hlink>
          <a:srgbClr val="636395"/>
        </a:hlink>
        <a:folHlink>
          <a:srgbClr val="CC3300"/>
        </a:folHlink>
      </a:clrScheme>
      <a:clrMap bg1="lt1" tx1="dk1" bg2="lt2" tx2="dk2" accent1="accent1" accent2="accent2" accent3="accent3" accent4="accent4" accent5="accent5" accent6="accent6" hlink="hlink" folHlink="folHlink"/>
    </a:extraClrScheme>
    <a:extraClrScheme>
      <a:clrScheme name="古瓶荷花 3">
        <a:dk1>
          <a:srgbClr val="000000"/>
        </a:dk1>
        <a:lt1>
          <a:srgbClr val="CCFFCC"/>
        </a:lt1>
        <a:dk2>
          <a:srgbClr val="E88A00"/>
        </a:dk2>
        <a:lt2>
          <a:srgbClr val="C0C0C0"/>
        </a:lt2>
        <a:accent1>
          <a:srgbClr val="CCECFF"/>
        </a:accent1>
        <a:accent2>
          <a:srgbClr val="336600"/>
        </a:accent2>
        <a:accent3>
          <a:srgbClr val="E2FFE2"/>
        </a:accent3>
        <a:accent4>
          <a:srgbClr val="000000"/>
        </a:accent4>
        <a:accent5>
          <a:srgbClr val="E2F4FF"/>
        </a:accent5>
        <a:accent6>
          <a:srgbClr val="2D5C00"/>
        </a:accent6>
        <a:hlink>
          <a:srgbClr val="3333CC"/>
        </a:hlink>
        <a:folHlink>
          <a:srgbClr val="3399FF"/>
        </a:folHlink>
      </a:clrScheme>
      <a:clrMap bg1="lt1" tx1="dk1" bg2="lt2" tx2="dk2" accent1="accent1" accent2="accent2" accent3="accent3" accent4="accent4" accent5="accent5" accent6="accent6" hlink="hlink" folHlink="folHlink"/>
    </a:extraClrScheme>
    <a:extraClrScheme>
      <a:clrScheme name="古瓶荷花 4">
        <a:dk1>
          <a:srgbClr val="000000"/>
        </a:dk1>
        <a:lt1>
          <a:srgbClr val="FFFFCC"/>
        </a:lt1>
        <a:dk2>
          <a:srgbClr val="CC3300"/>
        </a:dk2>
        <a:lt2>
          <a:srgbClr val="C0C0C0"/>
        </a:lt2>
        <a:accent1>
          <a:srgbClr val="FFFFCC"/>
        </a:accent1>
        <a:accent2>
          <a:srgbClr val="339933"/>
        </a:accent2>
        <a:accent3>
          <a:srgbClr val="FFFFE2"/>
        </a:accent3>
        <a:accent4>
          <a:srgbClr val="000000"/>
        </a:accent4>
        <a:accent5>
          <a:srgbClr val="FFFFE2"/>
        </a:accent5>
        <a:accent6>
          <a:srgbClr val="2D8A2D"/>
        </a:accent6>
        <a:hlink>
          <a:srgbClr val="0066FF"/>
        </a:hlink>
        <a:folHlink>
          <a:srgbClr val="6F6F9F"/>
        </a:folHlink>
      </a:clrScheme>
      <a:clrMap bg1="lt1" tx1="dk1" bg2="lt2" tx2="dk2" accent1="accent1" accent2="accent2" accent3="accent3" accent4="accent4" accent5="accent5" accent6="accent6" hlink="hlink" folHlink="folHlink"/>
    </a:extraClrScheme>
    <a:extraClrScheme>
      <a:clrScheme name="古瓶荷花 5">
        <a:dk1>
          <a:srgbClr val="636395"/>
        </a:dk1>
        <a:lt1>
          <a:srgbClr val="FFE2C5"/>
        </a:lt1>
        <a:dk2>
          <a:srgbClr val="000000"/>
        </a:dk2>
        <a:lt2>
          <a:srgbClr val="C0C0C0"/>
        </a:lt2>
        <a:accent1>
          <a:srgbClr val="FFE1E1"/>
        </a:accent1>
        <a:accent2>
          <a:srgbClr val="FF9933"/>
        </a:accent2>
        <a:accent3>
          <a:srgbClr val="FFEEDF"/>
        </a:accent3>
        <a:accent4>
          <a:srgbClr val="53537E"/>
        </a:accent4>
        <a:accent5>
          <a:srgbClr val="FFEEEE"/>
        </a:accent5>
        <a:accent6>
          <a:srgbClr val="E78A2D"/>
        </a:accent6>
        <a:hlink>
          <a:srgbClr val="008080"/>
        </a:hlink>
        <a:folHlink>
          <a:srgbClr val="3399FF"/>
        </a:folHlink>
      </a:clrScheme>
      <a:clrMap bg1="lt1" tx1="dk1" bg2="lt2" tx2="dk2" accent1="accent1" accent2="accent2" accent3="accent3" accent4="accent4" accent5="accent5" accent6="accent6" hlink="hlink" folHlink="folHlink"/>
    </a:extraClrScheme>
    <a:extraClrScheme>
      <a:clrScheme name="古瓶荷花 6">
        <a:dk1>
          <a:srgbClr val="626292"/>
        </a:dk1>
        <a:lt1>
          <a:srgbClr val="CCECFF"/>
        </a:lt1>
        <a:dk2>
          <a:srgbClr val="3333CC"/>
        </a:dk2>
        <a:lt2>
          <a:srgbClr val="C0C0C0"/>
        </a:lt2>
        <a:accent1>
          <a:srgbClr val="D9F1FF"/>
        </a:accent1>
        <a:accent2>
          <a:srgbClr val="FF9900"/>
        </a:accent2>
        <a:accent3>
          <a:srgbClr val="E2F4FF"/>
        </a:accent3>
        <a:accent4>
          <a:srgbClr val="53537C"/>
        </a:accent4>
        <a:accent5>
          <a:srgbClr val="E9F7FF"/>
        </a:accent5>
        <a:accent6>
          <a:srgbClr val="E78A00"/>
        </a:accent6>
        <a:hlink>
          <a:srgbClr val="CC0066"/>
        </a:hlink>
        <a:folHlink>
          <a:srgbClr val="009999"/>
        </a:folHlink>
      </a:clrScheme>
      <a:clrMap bg1="lt1" tx1="dk1" bg2="lt2" tx2="dk2" accent1="accent1" accent2="accent2" accent3="accent3" accent4="accent4" accent5="accent5" accent6="accent6" hlink="hlink" folHlink="folHlink"/>
    </a:extraClrScheme>
    <a:extraClrScheme>
      <a:clrScheme name="古瓶荷花 7">
        <a:dk1>
          <a:srgbClr val="0066CC"/>
        </a:dk1>
        <a:lt1>
          <a:srgbClr val="FFE1E1"/>
        </a:lt1>
        <a:dk2>
          <a:srgbClr val="006600"/>
        </a:dk2>
        <a:lt2>
          <a:srgbClr val="C0C0C0"/>
        </a:lt2>
        <a:accent1>
          <a:srgbClr val="FFFFCC"/>
        </a:accent1>
        <a:accent2>
          <a:srgbClr val="009999"/>
        </a:accent2>
        <a:accent3>
          <a:srgbClr val="FFEEEE"/>
        </a:accent3>
        <a:accent4>
          <a:srgbClr val="0056AE"/>
        </a:accent4>
        <a:accent5>
          <a:srgbClr val="FFFFE2"/>
        </a:accent5>
        <a:accent6>
          <a:srgbClr val="008A8A"/>
        </a:accent6>
        <a:hlink>
          <a:srgbClr val="EC0000"/>
        </a:hlink>
        <a:folHlink>
          <a:srgbClr val="0099FF"/>
        </a:folHlink>
      </a:clrScheme>
      <a:clrMap bg1="lt1" tx1="dk1" bg2="lt2" tx2="dk2" accent1="accent1" accent2="accent2" accent3="accent3" accent4="accent4" accent5="accent5" accent6="accent6" hlink="hlink" folHlink="folHlink"/>
    </a:extraClrScheme>
    <a:extraClrScheme>
      <a:clrScheme name="古瓶荷花 8">
        <a:dk1>
          <a:srgbClr val="292929"/>
        </a:dk1>
        <a:lt1>
          <a:srgbClr val="DDDDDD"/>
        </a:lt1>
        <a:dk2>
          <a:srgbClr val="0066CC"/>
        </a:dk2>
        <a:lt2>
          <a:srgbClr val="B2B2B2"/>
        </a:lt2>
        <a:accent1>
          <a:srgbClr val="CACADC"/>
        </a:accent1>
        <a:accent2>
          <a:srgbClr val="FFCC00"/>
        </a:accent2>
        <a:accent3>
          <a:srgbClr val="EBEBEB"/>
        </a:accent3>
        <a:accent4>
          <a:srgbClr val="212121"/>
        </a:accent4>
        <a:accent5>
          <a:srgbClr val="E1E1EB"/>
        </a:accent5>
        <a:accent6>
          <a:srgbClr val="E7B900"/>
        </a:accent6>
        <a:hlink>
          <a:srgbClr val="008080"/>
        </a:hlink>
        <a:folHlink>
          <a:srgbClr val="7D7DA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CDESIGNK</Template>
  <TotalTime>46</TotalTime>
  <Words>2914</Words>
  <Application>Microsoft Office PowerPoint</Application>
  <PresentationFormat>全屏显示(4:3)</PresentationFormat>
  <Paragraphs>333</Paragraphs>
  <Slides>86</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3</vt:i4>
      </vt:variant>
      <vt:variant>
        <vt:lpstr>幻灯片标题</vt:lpstr>
      </vt:variant>
      <vt:variant>
        <vt:i4>86</vt:i4>
      </vt:variant>
    </vt:vector>
  </HeadingPairs>
  <TitlesOfParts>
    <vt:vector size="100" baseType="lpstr">
      <vt:lpstr>Arial Unicode MS</vt:lpstr>
      <vt:lpstr>黑体</vt:lpstr>
      <vt:lpstr>华文楷体</vt:lpstr>
      <vt:lpstr>华文新魏</vt:lpstr>
      <vt:lpstr>楷体_GB2312</vt:lpstr>
      <vt:lpstr>宋体</vt:lpstr>
      <vt:lpstr>Arial</vt:lpstr>
      <vt:lpstr>Symbol</vt:lpstr>
      <vt:lpstr>Times New Roman</vt:lpstr>
      <vt:lpstr>Wingdings</vt:lpstr>
      <vt:lpstr>古瓶荷花</vt:lpstr>
      <vt:lpstr>公式</vt:lpstr>
      <vt:lpstr>Equation</vt:lpstr>
      <vt:lpstr>剪辑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棣莫弗－拉普拉斯极限定理 （二项分布的正态近似）</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请同学们课后千万认真看书, 极限定理部分是近代概率论的重中之重，中心极限定理几乎是每次概率统计考试的必考部分!</vt:lpstr>
      <vt:lpstr>第六章  数理统计的基本概念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“简单随机抽样”。</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vt:lpstr>
      <vt:lpstr>PowerPoint 演示文稿</vt:lpstr>
      <vt:lpstr>PowerPoint 演示文稿</vt:lpstr>
    </vt:vector>
  </TitlesOfParts>
  <Company>whu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xgldaj</dc:creator>
  <cp:lastModifiedBy>夷清斌</cp:lastModifiedBy>
  <cp:revision>278</cp:revision>
  <dcterms:created xsi:type="dcterms:W3CDTF">2010-03-02T01:46:00Z</dcterms:created>
  <dcterms:modified xsi:type="dcterms:W3CDTF">2020-12-25T08:23:49Z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2052-10.1.0.7224</vt:lpwstr>
  </property>
</Properties>
</file>