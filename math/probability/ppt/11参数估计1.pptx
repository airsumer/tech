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1776" r:id="rId3"/>
    <p:sldId id="1813" r:id="rId4"/>
    <p:sldId id="1781" r:id="rId5"/>
    <p:sldId id="1782" r:id="rId6"/>
    <p:sldId id="1783" r:id="rId7"/>
    <p:sldId id="1784" r:id="rId8"/>
    <p:sldId id="1785" r:id="rId9"/>
    <p:sldId id="1807" r:id="rId10"/>
    <p:sldId id="1786" r:id="rId11"/>
    <p:sldId id="1787" r:id="rId12"/>
    <p:sldId id="1788" r:id="rId13"/>
    <p:sldId id="1808" r:id="rId14"/>
    <p:sldId id="1809" r:id="rId15"/>
    <p:sldId id="1789" r:id="rId16"/>
    <p:sldId id="1790" r:id="rId17"/>
    <p:sldId id="1791" r:id="rId18"/>
    <p:sldId id="1792" r:id="rId19"/>
    <p:sldId id="1793" r:id="rId20"/>
    <p:sldId id="1794" r:id="rId21"/>
    <p:sldId id="1810" r:id="rId22"/>
    <p:sldId id="1798" r:id="rId23"/>
    <p:sldId id="1833" r:id="rId24"/>
    <p:sldId id="1834" r:id="rId25"/>
    <p:sldId id="1835" r:id="rId26"/>
    <p:sldId id="1836" r:id="rId27"/>
    <p:sldId id="1837" r:id="rId28"/>
    <p:sldId id="1838" r:id="rId29"/>
    <p:sldId id="1839" r:id="rId30"/>
    <p:sldId id="1840" r:id="rId31"/>
    <p:sldId id="1841" r:id="rId32"/>
    <p:sldId id="1842" r:id="rId33"/>
    <p:sldId id="1843" r:id="rId34"/>
    <p:sldId id="1844" r:id="rId35"/>
    <p:sldId id="1845" r:id="rId36"/>
    <p:sldId id="1846" r:id="rId37"/>
    <p:sldId id="1847" r:id="rId38"/>
    <p:sldId id="1848" r:id="rId39"/>
    <p:sldId id="1849" r:id="rId40"/>
    <p:sldId id="1850" r:id="rId41"/>
    <p:sldId id="1851" r:id="rId42"/>
    <p:sldId id="1852" r:id="rId43"/>
    <p:sldId id="1853" r:id="rId44"/>
    <p:sldId id="1854" r:id="rId45"/>
    <p:sldId id="1855" r:id="rId46"/>
    <p:sldId id="1856" r:id="rId47"/>
    <p:sldId id="1857" r:id="rId48"/>
    <p:sldId id="1858" r:id="rId49"/>
    <p:sldId id="1859" r:id="rId50"/>
    <p:sldId id="1860" r:id="rId5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5F4FC"/>
    <a:srgbClr val="F8F8F8"/>
    <a:srgbClr val="FFCCFF"/>
    <a:srgbClr val="CCFFFF"/>
    <a:srgbClr val="C1643F"/>
    <a:srgbClr val="336600"/>
    <a:srgbClr val="99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8" autoAdjust="0"/>
    <p:restoredTop sz="94660"/>
  </p:normalViewPr>
  <p:slideViewPr>
    <p:cSldViewPr>
      <p:cViewPr varScale="1">
        <p:scale>
          <a:sx n="114" d="100"/>
          <a:sy n="114" d="100"/>
        </p:scale>
        <p:origin x="1958" y="91"/>
      </p:cViewPr>
      <p:guideLst>
        <p:guide orient="horz" pos="2100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notesMaster" Target="notesMasters/notesMaster1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7.emf"/><Relationship Id="rId4" Type="http://schemas.openxmlformats.org/officeDocument/2006/relationships/image" Target="../media/image16.emf"/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.emf"/><Relationship Id="rId8" Type="http://schemas.openxmlformats.org/officeDocument/2006/relationships/image" Target="../media/image25.emf"/><Relationship Id="rId7" Type="http://schemas.openxmlformats.org/officeDocument/2006/relationships/image" Target="../media/image24.emf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30.emf"/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6.vml.rels><?xml version="1.0" encoding="UTF-8" standalone="yes"?>
<Relationships xmlns="http://schemas.openxmlformats.org/package/2006/relationships"><Relationship Id="rId7" Type="http://schemas.openxmlformats.org/officeDocument/2006/relationships/image" Target="../media/image37.emf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34.emf"/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6.wmf"/><Relationship Id="rId8" Type="http://schemas.openxmlformats.org/officeDocument/2006/relationships/image" Target="../media/image45.wmf"/><Relationship Id="rId7" Type="http://schemas.openxmlformats.org/officeDocument/2006/relationships/image" Target="../media/image44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51.emf"/><Relationship Id="rId4" Type="http://schemas.openxmlformats.org/officeDocument/2006/relationships/image" Target="../media/image50.emf"/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image" Target="../media/image47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55.e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e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64.emf"/><Relationship Id="rId8" Type="http://schemas.openxmlformats.org/officeDocument/2006/relationships/image" Target="../media/image63.emf"/><Relationship Id="rId7" Type="http://schemas.openxmlformats.org/officeDocument/2006/relationships/image" Target="../media/image62.emf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59.emf"/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6" Type="http://schemas.openxmlformats.org/officeDocument/2006/relationships/image" Target="../media/image71.emf"/><Relationship Id="rId15" Type="http://schemas.openxmlformats.org/officeDocument/2006/relationships/image" Target="../media/image70.wmf"/><Relationship Id="rId14" Type="http://schemas.openxmlformats.org/officeDocument/2006/relationships/image" Target="../media/image69.emf"/><Relationship Id="rId13" Type="http://schemas.openxmlformats.org/officeDocument/2006/relationships/image" Target="../media/image68.emf"/><Relationship Id="rId12" Type="http://schemas.openxmlformats.org/officeDocument/2006/relationships/image" Target="../media/image67.emf"/><Relationship Id="rId11" Type="http://schemas.openxmlformats.org/officeDocument/2006/relationships/image" Target="../media/image66.emf"/><Relationship Id="rId10" Type="http://schemas.openxmlformats.org/officeDocument/2006/relationships/image" Target="../media/image65.emf"/><Relationship Id="rId1" Type="http://schemas.openxmlformats.org/officeDocument/2006/relationships/image" Target="../media/image56.e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75.wmf"/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13.vml.rels><?xml version="1.0" encoding="UTF-8" standalone="yes"?>
<Relationships xmlns="http://schemas.openxmlformats.org/package/2006/relationships"><Relationship Id="rId6" Type="http://schemas.openxmlformats.org/officeDocument/2006/relationships/image" Target="../media/image84.emf"/><Relationship Id="rId5" Type="http://schemas.openxmlformats.org/officeDocument/2006/relationships/image" Target="../media/image83.emf"/><Relationship Id="rId4" Type="http://schemas.openxmlformats.org/officeDocument/2006/relationships/image" Target="../media/image82.emf"/><Relationship Id="rId3" Type="http://schemas.openxmlformats.org/officeDocument/2006/relationships/image" Target="../media/image81.emf"/><Relationship Id="rId2" Type="http://schemas.openxmlformats.org/officeDocument/2006/relationships/image" Target="../media/image80.emf"/><Relationship Id="rId1" Type="http://schemas.openxmlformats.org/officeDocument/2006/relationships/image" Target="../media/image79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image" Target="../media/image85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emf"/><Relationship Id="rId7" Type="http://schemas.openxmlformats.org/officeDocument/2006/relationships/image" Target="../media/image93.emf"/><Relationship Id="rId6" Type="http://schemas.openxmlformats.org/officeDocument/2006/relationships/image" Target="../media/image92.emf"/><Relationship Id="rId5" Type="http://schemas.openxmlformats.org/officeDocument/2006/relationships/image" Target="../media/image91.emf"/><Relationship Id="rId4" Type="http://schemas.openxmlformats.org/officeDocument/2006/relationships/image" Target="../media/image90.emf"/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image" Target="../media/image87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emf"/><Relationship Id="rId7" Type="http://schemas.openxmlformats.org/officeDocument/2006/relationships/image" Target="../media/image101.emf"/><Relationship Id="rId6" Type="http://schemas.openxmlformats.org/officeDocument/2006/relationships/image" Target="../media/image100.emf"/><Relationship Id="rId5" Type="http://schemas.openxmlformats.org/officeDocument/2006/relationships/image" Target="../media/image99.emf"/><Relationship Id="rId4" Type="http://schemas.openxmlformats.org/officeDocument/2006/relationships/image" Target="../media/image98.emf"/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image" Target="../media/image95.emf"/></Relationships>
</file>

<file path=ppt/drawings/_rels/vmlDrawing17.vml.rels><?xml version="1.0" encoding="UTF-8" standalone="yes"?>
<Relationships xmlns="http://schemas.openxmlformats.org/package/2006/relationships"><Relationship Id="rId6" Type="http://schemas.openxmlformats.org/officeDocument/2006/relationships/image" Target="../media/image108.emf"/><Relationship Id="rId5" Type="http://schemas.openxmlformats.org/officeDocument/2006/relationships/image" Target="../media/image107.emf"/><Relationship Id="rId4" Type="http://schemas.openxmlformats.org/officeDocument/2006/relationships/image" Target="../media/image106.emf"/><Relationship Id="rId3" Type="http://schemas.openxmlformats.org/officeDocument/2006/relationships/image" Target="../media/image105.emf"/><Relationship Id="rId2" Type="http://schemas.openxmlformats.org/officeDocument/2006/relationships/image" Target="../media/image104.emf"/><Relationship Id="rId1" Type="http://schemas.openxmlformats.org/officeDocument/2006/relationships/image" Target="../media/image103.e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emf"/><Relationship Id="rId8" Type="http://schemas.openxmlformats.org/officeDocument/2006/relationships/image" Target="../media/image116.emf"/><Relationship Id="rId7" Type="http://schemas.openxmlformats.org/officeDocument/2006/relationships/image" Target="../media/image115.emf"/><Relationship Id="rId6" Type="http://schemas.openxmlformats.org/officeDocument/2006/relationships/image" Target="../media/image114.emf"/><Relationship Id="rId5" Type="http://schemas.openxmlformats.org/officeDocument/2006/relationships/image" Target="../media/image113.emf"/><Relationship Id="rId4" Type="http://schemas.openxmlformats.org/officeDocument/2006/relationships/image" Target="../media/image112.emf"/><Relationship Id="rId3" Type="http://schemas.openxmlformats.org/officeDocument/2006/relationships/image" Target="../media/image111.emf"/><Relationship Id="rId2" Type="http://schemas.openxmlformats.org/officeDocument/2006/relationships/image" Target="../media/image110.emf"/><Relationship Id="rId12" Type="http://schemas.openxmlformats.org/officeDocument/2006/relationships/image" Target="../media/image120.emf"/><Relationship Id="rId11" Type="http://schemas.openxmlformats.org/officeDocument/2006/relationships/image" Target="../media/image119.emf"/><Relationship Id="rId10" Type="http://schemas.openxmlformats.org/officeDocument/2006/relationships/image" Target="../media/image118.emf"/><Relationship Id="rId1" Type="http://schemas.openxmlformats.org/officeDocument/2006/relationships/image" Target="../media/image109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7" Type="http://schemas.openxmlformats.org/officeDocument/2006/relationships/image" Target="../media/image128.wmf"/><Relationship Id="rId6" Type="http://schemas.openxmlformats.org/officeDocument/2006/relationships/image" Target="../media/image127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167392BE-B871-4C5A-9552-69260FEFB88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3962400" y="1066800"/>
            <a:ext cx="4648200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776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3962400" y="3657600"/>
            <a:ext cx="4572000" cy="1676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769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9E9C5-D3B2-4B1A-8859-AA2D215D97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F9407-972C-4568-B451-653AE087F08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83A3F-6855-4B5E-9608-775CF40574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375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DDAC7-2EEA-4D0D-8662-9D209C9EB1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9177A-2807-46F9-860A-C7611B4D6A8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0A165-E460-4AAF-9FFA-46E44F4E46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040AB-5746-4111-A488-4E98BFA2370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C76E4-12B9-4F43-AF51-3986CCA992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FD30B-895A-4AF2-AE09-B4A62D89DC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630E0-BCA3-4404-B8EC-237505EF63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0363" y="685800"/>
            <a:ext cx="2135187" cy="5181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85800"/>
            <a:ext cx="6256338" cy="5181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CCACC-D8C8-4D43-85D5-D752EED8C0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85800"/>
            <a:ext cx="8543925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E890A-976C-42A5-A759-9BF3BCBD652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858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4800" y="1981200"/>
            <a:ext cx="854075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1980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330F0EE5-09C0-453D-9C30-AE90C8ECFEC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e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emf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10.e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9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e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7.emf"/><Relationship Id="rId15" Type="http://schemas.openxmlformats.org/officeDocument/2006/relationships/vmlDrawing" Target="../drawings/vmlDrawing2.vml"/><Relationship Id="rId14" Type="http://schemas.openxmlformats.org/officeDocument/2006/relationships/slideLayout" Target="../slideLayouts/slideLayout7.xml"/><Relationship Id="rId13" Type="http://schemas.openxmlformats.org/officeDocument/2006/relationships/hyperlink" Target="&#26446;&#20908;&#26757;&#25991;&#20214;&#22841;/&#27010;&#29575;&#35770;&#19982;&#25968;&#29702;&#32479;&#35745;&#30005;&#23376;&#25945;&#26696;/&#25945;&#26696;/&#27010;&#29575;&#25945;&#26696;1/X/X_FB.EXE" TargetMode="External"/><Relationship Id="rId12" Type="http://schemas.openxmlformats.org/officeDocument/2006/relationships/image" Target="../media/image12.emf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11.emf"/><Relationship Id="rId1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.bin"/><Relationship Id="rId8" Type="http://schemas.openxmlformats.org/officeDocument/2006/relationships/image" Target="../media/image16.e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e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3.emf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7.emf"/><Relationship Id="rId1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21.e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9.emf"/><Relationship Id="rId3" Type="http://schemas.openxmlformats.org/officeDocument/2006/relationships/oleObject" Target="../embeddings/oleObject18.bin"/><Relationship Id="rId20" Type="http://schemas.openxmlformats.org/officeDocument/2006/relationships/vmlDrawing" Target="../drawings/vmlDrawing4.vml"/><Relationship Id="rId2" Type="http://schemas.openxmlformats.org/officeDocument/2006/relationships/image" Target="../media/image18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6.emf"/><Relationship Id="rId17" Type="http://schemas.openxmlformats.org/officeDocument/2006/relationships/oleObject" Target="../embeddings/oleObject25.bin"/><Relationship Id="rId16" Type="http://schemas.openxmlformats.org/officeDocument/2006/relationships/image" Target="../media/image25.emf"/><Relationship Id="rId15" Type="http://schemas.openxmlformats.org/officeDocument/2006/relationships/oleObject" Target="../embeddings/oleObject24.bin"/><Relationship Id="rId14" Type="http://schemas.openxmlformats.org/officeDocument/2006/relationships/image" Target="../media/image24.emf"/><Relationship Id="rId13" Type="http://schemas.openxmlformats.org/officeDocument/2006/relationships/oleObject" Target="../embeddings/oleObject23.bin"/><Relationship Id="rId12" Type="http://schemas.openxmlformats.org/officeDocument/2006/relationships/image" Target="../media/image23.e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22.emf"/><Relationship Id="rId1" Type="http://schemas.openxmlformats.org/officeDocument/2006/relationships/oleObject" Target="../embeddings/oleObject17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0.e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8.e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7.emf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26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.bin"/><Relationship Id="rId8" Type="http://schemas.openxmlformats.org/officeDocument/2006/relationships/image" Target="../media/image34.emf"/><Relationship Id="rId7" Type="http://schemas.openxmlformats.org/officeDocument/2006/relationships/oleObject" Target="../embeddings/oleObject33.bin"/><Relationship Id="rId6" Type="http://schemas.openxmlformats.org/officeDocument/2006/relationships/image" Target="../media/image33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2.e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31.emf"/><Relationship Id="rId16" Type="http://schemas.openxmlformats.org/officeDocument/2006/relationships/vmlDrawing" Target="../drawings/vmlDrawing6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7.emf"/><Relationship Id="rId13" Type="http://schemas.openxmlformats.org/officeDocument/2006/relationships/oleObject" Target="../embeddings/oleObject36.bin"/><Relationship Id="rId12" Type="http://schemas.openxmlformats.org/officeDocument/2006/relationships/image" Target="../media/image36.emf"/><Relationship Id="rId11" Type="http://schemas.openxmlformats.org/officeDocument/2006/relationships/oleObject" Target="../embeddings/oleObject35.bin"/><Relationship Id="rId10" Type="http://schemas.openxmlformats.org/officeDocument/2006/relationships/image" Target="../media/image35.emf"/><Relationship Id="rId1" Type="http://schemas.openxmlformats.org/officeDocument/2006/relationships/oleObject" Target="../embeddings/oleObject30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.bin"/><Relationship Id="rId8" Type="http://schemas.openxmlformats.org/officeDocument/2006/relationships/image" Target="../media/image41.wmf"/><Relationship Id="rId7" Type="http://schemas.openxmlformats.org/officeDocument/2006/relationships/oleObject" Target="../embeddings/oleObject40.bin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38.bin"/><Relationship Id="rId20" Type="http://schemas.openxmlformats.org/officeDocument/2006/relationships/vmlDrawing" Target="../drawings/vmlDrawing7.vml"/><Relationship Id="rId2" Type="http://schemas.openxmlformats.org/officeDocument/2006/relationships/image" Target="../media/image38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46.wmf"/><Relationship Id="rId17" Type="http://schemas.openxmlformats.org/officeDocument/2006/relationships/oleObject" Target="../embeddings/oleObject45.bin"/><Relationship Id="rId16" Type="http://schemas.openxmlformats.org/officeDocument/2006/relationships/image" Target="../media/image45.wmf"/><Relationship Id="rId15" Type="http://schemas.openxmlformats.org/officeDocument/2006/relationships/oleObject" Target="../embeddings/oleObject44.bin"/><Relationship Id="rId14" Type="http://schemas.openxmlformats.org/officeDocument/2006/relationships/image" Target="../media/image44.wmf"/><Relationship Id="rId13" Type="http://schemas.openxmlformats.org/officeDocument/2006/relationships/oleObject" Target="../embeddings/oleObject43.bin"/><Relationship Id="rId12" Type="http://schemas.openxmlformats.org/officeDocument/2006/relationships/image" Target="../media/image43.wmf"/><Relationship Id="rId11" Type="http://schemas.openxmlformats.org/officeDocument/2006/relationships/oleObject" Target="../embeddings/oleObject42.bin"/><Relationship Id="rId10" Type="http://schemas.openxmlformats.org/officeDocument/2006/relationships/image" Target="../media/image42.wmf"/><Relationship Id="rId1" Type="http://schemas.openxmlformats.org/officeDocument/2006/relationships/oleObject" Target="../embeddings/oleObject37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.bin"/><Relationship Id="rId8" Type="http://schemas.openxmlformats.org/officeDocument/2006/relationships/image" Target="../media/image50.e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49.e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8.e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47.wmf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1.emf"/><Relationship Id="rId1" Type="http://schemas.openxmlformats.org/officeDocument/2006/relationships/oleObject" Target="../embeddings/oleObject46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5.e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3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52.emf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51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.bin"/><Relationship Id="rId8" Type="http://schemas.openxmlformats.org/officeDocument/2006/relationships/image" Target="../media/image59.e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58.e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7.emf"/><Relationship Id="rId34" Type="http://schemas.openxmlformats.org/officeDocument/2006/relationships/vmlDrawing" Target="../drawings/vmlDrawing10.vml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71.emf"/><Relationship Id="rId31" Type="http://schemas.openxmlformats.org/officeDocument/2006/relationships/oleObject" Target="../embeddings/oleObject70.bin"/><Relationship Id="rId30" Type="http://schemas.openxmlformats.org/officeDocument/2006/relationships/image" Target="../media/image70.wmf"/><Relationship Id="rId3" Type="http://schemas.openxmlformats.org/officeDocument/2006/relationships/oleObject" Target="../embeddings/oleObject56.bin"/><Relationship Id="rId29" Type="http://schemas.openxmlformats.org/officeDocument/2006/relationships/oleObject" Target="../embeddings/oleObject69.bin"/><Relationship Id="rId28" Type="http://schemas.openxmlformats.org/officeDocument/2006/relationships/image" Target="../media/image69.emf"/><Relationship Id="rId27" Type="http://schemas.openxmlformats.org/officeDocument/2006/relationships/oleObject" Target="../embeddings/oleObject68.bin"/><Relationship Id="rId26" Type="http://schemas.openxmlformats.org/officeDocument/2006/relationships/image" Target="../media/image68.emf"/><Relationship Id="rId25" Type="http://schemas.openxmlformats.org/officeDocument/2006/relationships/oleObject" Target="../embeddings/oleObject67.bin"/><Relationship Id="rId24" Type="http://schemas.openxmlformats.org/officeDocument/2006/relationships/image" Target="../media/image67.emf"/><Relationship Id="rId23" Type="http://schemas.openxmlformats.org/officeDocument/2006/relationships/oleObject" Target="../embeddings/oleObject66.bin"/><Relationship Id="rId22" Type="http://schemas.openxmlformats.org/officeDocument/2006/relationships/image" Target="../media/image66.emf"/><Relationship Id="rId21" Type="http://schemas.openxmlformats.org/officeDocument/2006/relationships/oleObject" Target="../embeddings/oleObject65.bin"/><Relationship Id="rId20" Type="http://schemas.openxmlformats.org/officeDocument/2006/relationships/image" Target="../media/image65.emf"/><Relationship Id="rId2" Type="http://schemas.openxmlformats.org/officeDocument/2006/relationships/image" Target="../media/image56.emf"/><Relationship Id="rId19" Type="http://schemas.openxmlformats.org/officeDocument/2006/relationships/oleObject" Target="../embeddings/oleObject64.bin"/><Relationship Id="rId18" Type="http://schemas.openxmlformats.org/officeDocument/2006/relationships/image" Target="../media/image64.emf"/><Relationship Id="rId17" Type="http://schemas.openxmlformats.org/officeDocument/2006/relationships/oleObject" Target="../embeddings/oleObject63.bin"/><Relationship Id="rId16" Type="http://schemas.openxmlformats.org/officeDocument/2006/relationships/image" Target="../media/image63.emf"/><Relationship Id="rId15" Type="http://schemas.openxmlformats.org/officeDocument/2006/relationships/oleObject" Target="../embeddings/oleObject62.bin"/><Relationship Id="rId14" Type="http://schemas.openxmlformats.org/officeDocument/2006/relationships/image" Target="../media/image62.emf"/><Relationship Id="rId13" Type="http://schemas.openxmlformats.org/officeDocument/2006/relationships/oleObject" Target="../embeddings/oleObject61.bin"/><Relationship Id="rId12" Type="http://schemas.openxmlformats.org/officeDocument/2006/relationships/image" Target="../media/image61.emf"/><Relationship Id="rId11" Type="http://schemas.openxmlformats.org/officeDocument/2006/relationships/oleObject" Target="../embeddings/oleObject60.bin"/><Relationship Id="rId10" Type="http://schemas.openxmlformats.org/officeDocument/2006/relationships/image" Target="../media/image60.emf"/><Relationship Id="rId1" Type="http://schemas.openxmlformats.org/officeDocument/2006/relationships/oleObject" Target="../embeddings/oleObject55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5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74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73.wmf"/><Relationship Id="rId3" Type="http://schemas.openxmlformats.org/officeDocument/2006/relationships/oleObject" Target="../embeddings/oleObject72.bin"/><Relationship Id="rId2" Type="http://schemas.openxmlformats.org/officeDocument/2006/relationships/image" Target="../media/image72.w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7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76.bin"/><Relationship Id="rId2" Type="http://schemas.openxmlformats.org/officeDocument/2006/relationships/image" Target="../media/image76.wmf"/><Relationship Id="rId1" Type="http://schemas.openxmlformats.org/officeDocument/2006/relationships/oleObject" Target="../embeddings/oleObject75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2.bin"/><Relationship Id="rId8" Type="http://schemas.openxmlformats.org/officeDocument/2006/relationships/image" Target="../media/image82.emf"/><Relationship Id="rId7" Type="http://schemas.openxmlformats.org/officeDocument/2006/relationships/oleObject" Target="../embeddings/oleObject81.bin"/><Relationship Id="rId6" Type="http://schemas.openxmlformats.org/officeDocument/2006/relationships/image" Target="../media/image81.e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80.emf"/><Relationship Id="rId3" Type="http://schemas.openxmlformats.org/officeDocument/2006/relationships/oleObject" Target="../embeddings/oleObject79.bin"/><Relationship Id="rId2" Type="http://schemas.openxmlformats.org/officeDocument/2006/relationships/image" Target="../media/image79.emf"/><Relationship Id="rId14" Type="http://schemas.openxmlformats.org/officeDocument/2006/relationships/vmlDrawing" Target="../drawings/vmlDrawing1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84.emf"/><Relationship Id="rId11" Type="http://schemas.openxmlformats.org/officeDocument/2006/relationships/oleObject" Target="../embeddings/oleObject83.bin"/><Relationship Id="rId10" Type="http://schemas.openxmlformats.org/officeDocument/2006/relationships/image" Target="../media/image83.emf"/><Relationship Id="rId1" Type="http://schemas.openxmlformats.org/officeDocument/2006/relationships/oleObject" Target="../embeddings/oleObject78.bin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6.emf"/><Relationship Id="rId3" Type="http://schemas.openxmlformats.org/officeDocument/2006/relationships/oleObject" Target="../embeddings/oleObject85.bin"/><Relationship Id="rId2" Type="http://schemas.openxmlformats.org/officeDocument/2006/relationships/image" Target="../media/image85.emf"/><Relationship Id="rId1" Type="http://schemas.openxmlformats.org/officeDocument/2006/relationships/oleObject" Target="../embeddings/oleObject84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0.bin"/><Relationship Id="rId8" Type="http://schemas.openxmlformats.org/officeDocument/2006/relationships/image" Target="../media/image90.e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89.e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88.emf"/><Relationship Id="rId3" Type="http://schemas.openxmlformats.org/officeDocument/2006/relationships/oleObject" Target="../embeddings/oleObject87.bin"/><Relationship Id="rId2" Type="http://schemas.openxmlformats.org/officeDocument/2006/relationships/image" Target="../media/image87.emf"/><Relationship Id="rId18" Type="http://schemas.openxmlformats.org/officeDocument/2006/relationships/vmlDrawing" Target="../drawings/vmlDrawing15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94.emf"/><Relationship Id="rId15" Type="http://schemas.openxmlformats.org/officeDocument/2006/relationships/oleObject" Target="../embeddings/oleObject93.bin"/><Relationship Id="rId14" Type="http://schemas.openxmlformats.org/officeDocument/2006/relationships/image" Target="../media/image93.emf"/><Relationship Id="rId13" Type="http://schemas.openxmlformats.org/officeDocument/2006/relationships/oleObject" Target="../embeddings/oleObject92.bin"/><Relationship Id="rId12" Type="http://schemas.openxmlformats.org/officeDocument/2006/relationships/image" Target="../media/image92.emf"/><Relationship Id="rId11" Type="http://schemas.openxmlformats.org/officeDocument/2006/relationships/oleObject" Target="../embeddings/oleObject91.bin"/><Relationship Id="rId10" Type="http://schemas.openxmlformats.org/officeDocument/2006/relationships/image" Target="../media/image91.emf"/><Relationship Id="rId1" Type="http://schemas.openxmlformats.org/officeDocument/2006/relationships/oleObject" Target="../embeddings/oleObject86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8.bin"/><Relationship Id="rId8" Type="http://schemas.openxmlformats.org/officeDocument/2006/relationships/image" Target="../media/image98.e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97.e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96.e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95.emf"/><Relationship Id="rId18" Type="http://schemas.openxmlformats.org/officeDocument/2006/relationships/vmlDrawing" Target="../drawings/vmlDrawing16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02.emf"/><Relationship Id="rId15" Type="http://schemas.openxmlformats.org/officeDocument/2006/relationships/oleObject" Target="../embeddings/oleObject101.bin"/><Relationship Id="rId14" Type="http://schemas.openxmlformats.org/officeDocument/2006/relationships/image" Target="../media/image101.emf"/><Relationship Id="rId13" Type="http://schemas.openxmlformats.org/officeDocument/2006/relationships/oleObject" Target="../embeddings/oleObject100.bin"/><Relationship Id="rId12" Type="http://schemas.openxmlformats.org/officeDocument/2006/relationships/image" Target="../media/image100.emf"/><Relationship Id="rId11" Type="http://schemas.openxmlformats.org/officeDocument/2006/relationships/oleObject" Target="../embeddings/oleObject99.bin"/><Relationship Id="rId10" Type="http://schemas.openxmlformats.org/officeDocument/2006/relationships/image" Target="../media/image99.emf"/><Relationship Id="rId1" Type="http://schemas.openxmlformats.org/officeDocument/2006/relationships/oleObject" Target="../embeddings/oleObject94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6.bin"/><Relationship Id="rId8" Type="http://schemas.openxmlformats.org/officeDocument/2006/relationships/image" Target="../media/image106.emf"/><Relationship Id="rId7" Type="http://schemas.openxmlformats.org/officeDocument/2006/relationships/oleObject" Target="../embeddings/oleObject105.bin"/><Relationship Id="rId6" Type="http://schemas.openxmlformats.org/officeDocument/2006/relationships/image" Target="../media/image105.e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04.emf"/><Relationship Id="rId3" Type="http://schemas.openxmlformats.org/officeDocument/2006/relationships/oleObject" Target="../embeddings/oleObject103.bin"/><Relationship Id="rId2" Type="http://schemas.openxmlformats.org/officeDocument/2006/relationships/image" Target="../media/image103.emf"/><Relationship Id="rId14" Type="http://schemas.openxmlformats.org/officeDocument/2006/relationships/vmlDrawing" Target="../drawings/vmlDrawing17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08.emf"/><Relationship Id="rId11" Type="http://schemas.openxmlformats.org/officeDocument/2006/relationships/oleObject" Target="../embeddings/oleObject107.bin"/><Relationship Id="rId10" Type="http://schemas.openxmlformats.org/officeDocument/2006/relationships/image" Target="../media/image107.emf"/><Relationship Id="rId1" Type="http://schemas.openxmlformats.org/officeDocument/2006/relationships/oleObject" Target="../embeddings/oleObject102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2.bin"/><Relationship Id="rId8" Type="http://schemas.openxmlformats.org/officeDocument/2006/relationships/image" Target="../media/image112.emf"/><Relationship Id="rId7" Type="http://schemas.openxmlformats.org/officeDocument/2006/relationships/oleObject" Target="../embeddings/oleObject111.bin"/><Relationship Id="rId6" Type="http://schemas.openxmlformats.org/officeDocument/2006/relationships/image" Target="../media/image111.e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10.emf"/><Relationship Id="rId3" Type="http://schemas.openxmlformats.org/officeDocument/2006/relationships/oleObject" Target="../embeddings/oleObject109.bin"/><Relationship Id="rId26" Type="http://schemas.openxmlformats.org/officeDocument/2006/relationships/vmlDrawing" Target="../drawings/vmlDrawing18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20.emf"/><Relationship Id="rId23" Type="http://schemas.openxmlformats.org/officeDocument/2006/relationships/oleObject" Target="../embeddings/oleObject119.bin"/><Relationship Id="rId22" Type="http://schemas.openxmlformats.org/officeDocument/2006/relationships/image" Target="../media/image119.emf"/><Relationship Id="rId21" Type="http://schemas.openxmlformats.org/officeDocument/2006/relationships/oleObject" Target="../embeddings/oleObject118.bin"/><Relationship Id="rId20" Type="http://schemas.openxmlformats.org/officeDocument/2006/relationships/image" Target="../media/image118.emf"/><Relationship Id="rId2" Type="http://schemas.openxmlformats.org/officeDocument/2006/relationships/image" Target="../media/image109.emf"/><Relationship Id="rId19" Type="http://schemas.openxmlformats.org/officeDocument/2006/relationships/oleObject" Target="../embeddings/oleObject117.bin"/><Relationship Id="rId18" Type="http://schemas.openxmlformats.org/officeDocument/2006/relationships/image" Target="../media/image117.emf"/><Relationship Id="rId17" Type="http://schemas.openxmlformats.org/officeDocument/2006/relationships/oleObject" Target="../embeddings/oleObject116.bin"/><Relationship Id="rId16" Type="http://schemas.openxmlformats.org/officeDocument/2006/relationships/image" Target="../media/image116.emf"/><Relationship Id="rId15" Type="http://schemas.openxmlformats.org/officeDocument/2006/relationships/oleObject" Target="../embeddings/oleObject115.bin"/><Relationship Id="rId14" Type="http://schemas.openxmlformats.org/officeDocument/2006/relationships/image" Target="../media/image115.emf"/><Relationship Id="rId13" Type="http://schemas.openxmlformats.org/officeDocument/2006/relationships/oleObject" Target="../embeddings/oleObject114.bin"/><Relationship Id="rId12" Type="http://schemas.openxmlformats.org/officeDocument/2006/relationships/image" Target="../media/image114.emf"/><Relationship Id="rId11" Type="http://schemas.openxmlformats.org/officeDocument/2006/relationships/oleObject" Target="../embeddings/oleObject113.bin"/><Relationship Id="rId10" Type="http://schemas.openxmlformats.org/officeDocument/2006/relationships/image" Target="../media/image113.emf"/><Relationship Id="rId1" Type="http://schemas.openxmlformats.org/officeDocument/2006/relationships/oleObject" Target="../embeddings/oleObject108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1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4.bin"/><Relationship Id="rId8" Type="http://schemas.openxmlformats.org/officeDocument/2006/relationships/image" Target="../media/image125.wmf"/><Relationship Id="rId7" Type="http://schemas.openxmlformats.org/officeDocument/2006/relationships/oleObject" Target="../embeddings/oleObject123.bin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23.wmf"/><Relationship Id="rId3" Type="http://schemas.openxmlformats.org/officeDocument/2006/relationships/oleObject" Target="../embeddings/oleObject121.bin"/><Relationship Id="rId2" Type="http://schemas.openxmlformats.org/officeDocument/2006/relationships/image" Target="../media/image122.wmf"/><Relationship Id="rId18" Type="http://schemas.openxmlformats.org/officeDocument/2006/relationships/vmlDrawing" Target="../drawings/vmlDrawing19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29.wmf"/><Relationship Id="rId15" Type="http://schemas.openxmlformats.org/officeDocument/2006/relationships/oleObject" Target="../embeddings/oleObject127.bin"/><Relationship Id="rId14" Type="http://schemas.openxmlformats.org/officeDocument/2006/relationships/image" Target="../media/image128.wmf"/><Relationship Id="rId13" Type="http://schemas.openxmlformats.org/officeDocument/2006/relationships/oleObject" Target="../embeddings/oleObject126.bin"/><Relationship Id="rId12" Type="http://schemas.openxmlformats.org/officeDocument/2006/relationships/image" Target="../media/image127.wmf"/><Relationship Id="rId11" Type="http://schemas.openxmlformats.org/officeDocument/2006/relationships/oleObject" Target="../embeddings/oleObject125.bin"/><Relationship Id="rId10" Type="http://schemas.openxmlformats.org/officeDocument/2006/relationships/image" Target="../media/image126.wmf"/><Relationship Id="rId1" Type="http://schemas.openxmlformats.org/officeDocument/2006/relationships/oleObject" Target="../embeddings/oleObject120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0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4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5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6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7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8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9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0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1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2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3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4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5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6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7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8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8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9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0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1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2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3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4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5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/>
        </p:nvGraphicFramePr>
        <p:xfrm>
          <a:off x="4537075" y="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5" name="公式" r:id="rId1" imgW="171450" imgH="404495" progId="Equation.3">
                  <p:embed/>
                </p:oleObj>
              </mc:Choice>
              <mc:Fallback>
                <p:oleObj name="公式" r:id="rId1" imgW="171450" imgH="4044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075" y="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533400" y="215900"/>
            <a:ext cx="3271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800" b="1">
                <a:solidFill>
                  <a:schemeClr val="hlink"/>
                </a:solidFill>
              </a:rPr>
              <a:t>  </a:t>
            </a:r>
            <a:r>
              <a:rPr lang="zh-CN" altLang="en-US" sz="2800" b="1">
                <a:solidFill>
                  <a:schemeClr val="accent2"/>
                </a:solidFill>
              </a:rPr>
              <a:t>几个常见统计量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sp>
        <p:nvSpPr>
          <p:cNvPr id="194564" name="Rectangle 4"/>
          <p:cNvSpPr>
            <a:spLocks noChangeArrowheads="1"/>
          </p:cNvSpPr>
          <p:nvPr/>
        </p:nvSpPr>
        <p:spPr bwMode="auto">
          <a:xfrm>
            <a:off x="388938" y="1179513"/>
            <a:ext cx="28082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样本平均值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graphicFrame>
        <p:nvGraphicFramePr>
          <p:cNvPr id="194565" name="Object 5"/>
          <p:cNvGraphicFramePr>
            <a:graphicFrameLocks noChangeAspect="1"/>
          </p:cNvGraphicFramePr>
          <p:nvPr/>
        </p:nvGraphicFramePr>
        <p:xfrm>
          <a:off x="3197225" y="863600"/>
          <a:ext cx="2368550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6" name="公式" r:id="rId3" imgW="790575" imgH="414020" progId="Equation.3">
                  <p:embed/>
                </p:oleObj>
              </mc:Choice>
              <mc:Fallback>
                <p:oleObj name="公式" r:id="rId3" imgW="790575" imgH="4140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7225" y="863600"/>
                        <a:ext cx="2368550" cy="125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66" name="AutoShape 6"/>
          <p:cNvSpPr>
            <a:spLocks noChangeArrowheads="1"/>
          </p:cNvSpPr>
          <p:nvPr/>
        </p:nvSpPr>
        <p:spPr bwMode="auto">
          <a:xfrm>
            <a:off x="6869113" y="862013"/>
            <a:ext cx="1800225" cy="1225550"/>
          </a:xfrm>
          <a:prstGeom prst="wedgeRoundRectCallout">
            <a:avLst>
              <a:gd name="adj1" fmla="val -120106"/>
              <a:gd name="adj2" fmla="val 35620"/>
              <a:gd name="adj3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它反映了</a:t>
            </a:r>
            <a:endParaRPr lang="zh-CN" altLang="en-US" b="1"/>
          </a:p>
          <a:p>
            <a:pPr algn="ctr" eaLnBrk="1" hangingPunct="1"/>
            <a:r>
              <a:rPr lang="zh-CN" altLang="en-US" b="1"/>
              <a:t>总体均值</a:t>
            </a:r>
            <a:endParaRPr lang="zh-CN" altLang="en-US" b="1"/>
          </a:p>
          <a:p>
            <a:pPr algn="ctr" eaLnBrk="1" hangingPunct="1"/>
            <a:r>
              <a:rPr lang="zh-CN" altLang="en-US" b="1"/>
              <a:t>的信息</a:t>
            </a:r>
            <a:endParaRPr lang="zh-CN" altLang="en-US" b="1"/>
          </a:p>
        </p:txBody>
      </p:sp>
      <p:sp>
        <p:nvSpPr>
          <p:cNvPr id="194567" name="Rectangle 7"/>
          <p:cNvSpPr>
            <a:spLocks noChangeArrowheads="1"/>
          </p:cNvSpPr>
          <p:nvPr/>
        </p:nvSpPr>
        <p:spPr bwMode="auto">
          <a:xfrm>
            <a:off x="460375" y="2406650"/>
            <a:ext cx="23764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样本方差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graphicFrame>
        <p:nvGraphicFramePr>
          <p:cNvPr id="194568" name="Object 8"/>
          <p:cNvGraphicFramePr>
            <a:graphicFrameLocks noChangeAspect="1"/>
          </p:cNvGraphicFramePr>
          <p:nvPr/>
        </p:nvGraphicFramePr>
        <p:xfrm>
          <a:off x="2908300" y="2128838"/>
          <a:ext cx="4298950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7" name="公式" r:id="rId5" imgW="1457325" imgH="414020" progId="Equation.3">
                  <p:embed/>
                </p:oleObj>
              </mc:Choice>
              <mc:Fallback>
                <p:oleObj name="公式" r:id="rId5" imgW="1457325" imgH="4140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2128838"/>
                        <a:ext cx="4298950" cy="125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69" name="AutoShape 9"/>
          <p:cNvSpPr>
            <a:spLocks noChangeArrowheads="1"/>
          </p:cNvSpPr>
          <p:nvPr/>
        </p:nvSpPr>
        <p:spPr bwMode="auto">
          <a:xfrm>
            <a:off x="388938" y="3455988"/>
            <a:ext cx="2303462" cy="1143000"/>
          </a:xfrm>
          <a:prstGeom prst="wedgeRoundRectCallout">
            <a:avLst>
              <a:gd name="adj1" fmla="val 62407"/>
              <a:gd name="adj2" fmla="val -59861"/>
              <a:gd name="adj3" fmla="val 16667"/>
            </a:avLst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它反映了总体</a:t>
            </a:r>
            <a:endParaRPr lang="zh-CN" altLang="en-US" b="1"/>
          </a:p>
          <a:p>
            <a:pPr algn="ctr" eaLnBrk="1" hangingPunct="1"/>
            <a:r>
              <a:rPr lang="zh-CN" altLang="en-US" b="1"/>
              <a:t>方差的信息</a:t>
            </a:r>
            <a:endParaRPr lang="zh-CN" altLang="en-US" b="1"/>
          </a:p>
        </p:txBody>
      </p:sp>
      <p:graphicFrame>
        <p:nvGraphicFramePr>
          <p:cNvPr id="194570" name="Object 10"/>
          <p:cNvGraphicFramePr>
            <a:graphicFrameLocks noChangeAspect="1"/>
          </p:cNvGraphicFramePr>
          <p:nvPr/>
        </p:nvGraphicFramePr>
        <p:xfrm>
          <a:off x="3536950" y="3455988"/>
          <a:ext cx="31877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8" name="公式" r:id="rId7" imgW="3171825" imgH="837565" progId="Equation.3">
                  <p:embed/>
                </p:oleObj>
              </mc:Choice>
              <mc:Fallback>
                <p:oleObj name="公式" r:id="rId7" imgW="3171825" imgH="83756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0" y="3455988"/>
                        <a:ext cx="31877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71" name="Rectangle 11"/>
          <p:cNvSpPr>
            <a:spLocks noChangeArrowheads="1"/>
          </p:cNvSpPr>
          <p:nvPr/>
        </p:nvSpPr>
        <p:spPr bwMode="auto">
          <a:xfrm>
            <a:off x="882650" y="5138738"/>
            <a:ext cx="20589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样本标准差 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graphicFrame>
        <p:nvGraphicFramePr>
          <p:cNvPr id="194572" name="Object 12"/>
          <p:cNvGraphicFramePr>
            <a:graphicFrameLocks noChangeAspect="1"/>
          </p:cNvGraphicFramePr>
          <p:nvPr/>
        </p:nvGraphicFramePr>
        <p:xfrm>
          <a:off x="3124200" y="4897438"/>
          <a:ext cx="36703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9" name="公式" r:id="rId9" imgW="3409950" imgH="866140" progId="Equation.3">
                  <p:embed/>
                </p:oleObj>
              </mc:Choice>
              <mc:Fallback>
                <p:oleObj name="公式" r:id="rId9" imgW="3409950" imgH="8661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897438"/>
                        <a:ext cx="36703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9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4" grpId="0" bldLvl="0" animBg="1" autoUpdateAnimBg="0"/>
      <p:bldP spid="194566" grpId="0" bldLvl="0" animBg="1" autoUpdateAnimBg="0"/>
      <p:bldP spid="194567" grpId="0" bldLvl="0" animBg="1" autoUpdateAnimBg="0"/>
      <p:bldP spid="194569" grpId="0" bldLvl="0" animBg="1" autoUpdateAnimBg="0"/>
      <p:bldP spid="194571" grpId="0" bldLvl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262152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0" y="600710"/>
            <a:ext cx="89408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381000" y="228600"/>
            <a:ext cx="50339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二、统计三大抽样分布</a:t>
            </a:r>
            <a:endParaRPr lang="zh-CN" altLang="en-US" sz="32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99683" name="Group 3"/>
          <p:cNvGrpSpPr/>
          <p:nvPr/>
        </p:nvGrpSpPr>
        <p:grpSpPr bwMode="auto">
          <a:xfrm>
            <a:off x="685800" y="5105400"/>
            <a:ext cx="3548063" cy="609600"/>
            <a:chOff x="1008" y="3158"/>
            <a:chExt cx="2235" cy="384"/>
          </a:xfrm>
        </p:grpSpPr>
        <p:graphicFrame>
          <p:nvGraphicFramePr>
            <p:cNvPr id="28688" name="Object 4"/>
            <p:cNvGraphicFramePr>
              <a:graphicFrameLocks noChangeAspect="1"/>
            </p:cNvGraphicFramePr>
            <p:nvPr/>
          </p:nvGraphicFramePr>
          <p:xfrm>
            <a:off x="2003" y="3158"/>
            <a:ext cx="124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98" name="Equation" r:id="rId1" imgW="714375" imgH="211455" progId="Equation.3">
                    <p:embed/>
                  </p:oleObj>
                </mc:Choice>
                <mc:Fallback>
                  <p:oleObj name="Equation" r:id="rId1" imgW="714375" imgH="21145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3" y="3158"/>
                          <a:ext cx="124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9" name="Rectangle 5"/>
            <p:cNvSpPr>
              <a:spLocks noChangeArrowheads="1"/>
            </p:cNvSpPr>
            <p:nvPr/>
          </p:nvSpPr>
          <p:spPr bwMode="auto">
            <a:xfrm>
              <a:off x="1008" y="3203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>
                  <a:latin typeface="宋体" panose="02010600030101010101" pitchFamily="2" charset="-122"/>
                </a:rPr>
                <a:t>记为</a:t>
              </a:r>
              <a:endParaRPr lang="zh-CN" altLang="en-US" sz="2800" b="1">
                <a:latin typeface="宋体" panose="02010600030101010101" pitchFamily="2" charset="-122"/>
              </a:endParaRPr>
            </a:p>
          </p:txBody>
        </p:sp>
      </p:grpSp>
      <p:grpSp>
        <p:nvGrpSpPr>
          <p:cNvPr id="199686" name="Group 6"/>
          <p:cNvGrpSpPr/>
          <p:nvPr/>
        </p:nvGrpSpPr>
        <p:grpSpPr bwMode="auto">
          <a:xfrm>
            <a:off x="1309688" y="808038"/>
            <a:ext cx="1647825" cy="685800"/>
            <a:chOff x="1062" y="720"/>
            <a:chExt cx="831" cy="432"/>
          </a:xfrm>
        </p:grpSpPr>
        <p:graphicFrame>
          <p:nvGraphicFramePr>
            <p:cNvPr id="28686" name="Object 7"/>
            <p:cNvGraphicFramePr>
              <a:graphicFrameLocks noChangeAspect="1"/>
            </p:cNvGraphicFramePr>
            <p:nvPr/>
          </p:nvGraphicFramePr>
          <p:xfrm>
            <a:off x="1062" y="720"/>
            <a:ext cx="381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99" name="Equation" r:id="rId3" imgW="180975" imgH="211455" progId="Equation.3">
                    <p:embed/>
                  </p:oleObj>
                </mc:Choice>
                <mc:Fallback>
                  <p:oleObj name="Equation" r:id="rId3" imgW="180975" imgH="211455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2" y="720"/>
                          <a:ext cx="381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00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7" name="Rectangle 8"/>
            <p:cNvSpPr>
              <a:spLocks noChangeArrowheads="1"/>
            </p:cNvSpPr>
            <p:nvPr/>
          </p:nvSpPr>
          <p:spPr bwMode="auto">
            <a:xfrm>
              <a:off x="1440" y="801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33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分布</a:t>
              </a:r>
              <a:endPara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99689" name="Rectangle 9"/>
          <p:cNvSpPr>
            <a:spLocks noChangeArrowheads="1"/>
          </p:cNvSpPr>
          <p:nvPr/>
        </p:nvSpPr>
        <p:spPr bwMode="auto">
          <a:xfrm>
            <a:off x="685800" y="946150"/>
            <a:ext cx="719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chemeClr val="accent2"/>
                </a:solidFill>
              </a:rPr>
              <a:t>1</a:t>
            </a:r>
            <a:r>
              <a:rPr lang="zh-CN" altLang="en-US" sz="2800" b="1">
                <a:solidFill>
                  <a:schemeClr val="accent2"/>
                </a:solidFill>
              </a:rPr>
              <a:t>、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sp>
        <p:nvSpPr>
          <p:cNvPr id="199690" name="Text Box 10"/>
          <p:cNvSpPr txBox="1">
            <a:spLocks noChangeArrowheads="1"/>
          </p:cNvSpPr>
          <p:nvPr/>
        </p:nvSpPr>
        <p:spPr bwMode="auto">
          <a:xfrm>
            <a:off x="660400" y="2590800"/>
            <a:ext cx="8305800" cy="244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定义</a:t>
            </a:r>
            <a:r>
              <a:rPr lang="en-US" altLang="zh-CN" sz="2800" b="1">
                <a:solidFill>
                  <a:schemeClr val="accent2"/>
                </a:solidFill>
              </a:rPr>
              <a:t>:</a:t>
            </a:r>
            <a:r>
              <a:rPr lang="en-US" altLang="zh-CN" sz="2800" b="1"/>
              <a:t> </a:t>
            </a:r>
            <a:r>
              <a:rPr lang="zh-CN" altLang="en-US" sz="2800" b="1"/>
              <a:t>设                         相互独立</a:t>
            </a:r>
            <a:r>
              <a:rPr lang="en-US" altLang="zh-CN" sz="2800" b="1"/>
              <a:t>,  </a:t>
            </a:r>
            <a:r>
              <a:rPr lang="zh-CN" altLang="en-US" sz="2800" b="1"/>
              <a:t>都服从正态分布</a:t>
            </a:r>
            <a:endParaRPr lang="zh-CN" altLang="en-US" sz="2800" b="1"/>
          </a:p>
          <a:p>
            <a:pPr algn="just">
              <a:spcBef>
                <a:spcPct val="50000"/>
              </a:spcBef>
            </a:pPr>
            <a:r>
              <a:rPr lang="en-US" altLang="zh-CN" sz="2800" b="1" i="1"/>
              <a:t>N</a:t>
            </a:r>
            <a:r>
              <a:rPr lang="en-US" altLang="zh-CN" sz="2800" b="1"/>
              <a:t>(0,1), </a:t>
            </a:r>
            <a:r>
              <a:rPr lang="zh-CN" altLang="en-US" sz="2800" b="1"/>
              <a:t>则称随机变量：               </a:t>
            </a:r>
            <a:endParaRPr lang="zh-CN" altLang="en-US" sz="2800" b="1"/>
          </a:p>
          <a:p>
            <a:pPr algn="just">
              <a:spcBef>
                <a:spcPct val="50000"/>
              </a:spcBef>
            </a:pPr>
            <a:r>
              <a:rPr lang="zh-CN" altLang="en-US" sz="2800" b="1"/>
              <a:t>                                                               </a:t>
            </a:r>
            <a:endParaRPr lang="zh-CN" altLang="en-US" sz="2800" b="1"/>
          </a:p>
          <a:p>
            <a:pPr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所服从的分布为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自由度为</a:t>
            </a:r>
            <a:r>
              <a:rPr lang="zh-CN" altLang="en-US" sz="2800" b="1" i="1">
                <a:solidFill>
                  <a:schemeClr val="accent2"/>
                </a:solidFill>
              </a:rPr>
              <a:t> </a:t>
            </a:r>
            <a:r>
              <a:rPr lang="en-US" altLang="zh-CN" sz="2800" b="1" i="1">
                <a:solidFill>
                  <a:schemeClr val="accent2"/>
                </a:solidFill>
              </a:rPr>
              <a:t>n</a:t>
            </a:r>
            <a:r>
              <a:rPr lang="en-US" altLang="zh-CN" sz="2800" b="1">
                <a:solidFill>
                  <a:schemeClr val="accent2"/>
                </a:solidFill>
              </a:rPr>
              <a:t> </a:t>
            </a:r>
            <a:r>
              <a:rPr lang="zh-CN" altLang="en-US" sz="2800" b="1">
                <a:solidFill>
                  <a:schemeClr val="accent2"/>
                </a:solidFill>
                <a:latin typeface="宋体" panose="02010600030101010101" pitchFamily="2" charset="-122"/>
              </a:rPr>
              <a:t>的   分布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graphicFrame>
        <p:nvGraphicFramePr>
          <p:cNvPr id="199691" name="Object 11"/>
          <p:cNvGraphicFramePr>
            <a:graphicFrameLocks noChangeAspect="1"/>
          </p:cNvGraphicFramePr>
          <p:nvPr/>
        </p:nvGraphicFramePr>
        <p:xfrm>
          <a:off x="1981200" y="2590800"/>
          <a:ext cx="22225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0" name="Equation" r:id="rId5" imgW="857250" imgH="211455" progId="Equation.3">
                  <p:embed/>
                </p:oleObj>
              </mc:Choice>
              <mc:Fallback>
                <p:oleObj name="Equation" r:id="rId5" imgW="857250" imgH="21145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590800"/>
                        <a:ext cx="222250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2" name="Object 12"/>
          <p:cNvGraphicFramePr>
            <a:graphicFrameLocks noChangeAspect="1"/>
          </p:cNvGraphicFramePr>
          <p:nvPr/>
        </p:nvGraphicFramePr>
        <p:xfrm>
          <a:off x="1981200" y="3657600"/>
          <a:ext cx="449580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1" name="Equation" r:id="rId7" imgW="1581150" imgH="240665" progId="Equation.3">
                  <p:embed/>
                </p:oleObj>
              </mc:Choice>
              <mc:Fallback>
                <p:oleObj name="Equation" r:id="rId7" imgW="1581150" imgH="24066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657600"/>
                        <a:ext cx="4495800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9693" name="Object 13"/>
          <p:cNvGraphicFramePr>
            <a:graphicFrameLocks noChangeAspect="1"/>
          </p:cNvGraphicFramePr>
          <p:nvPr/>
        </p:nvGraphicFramePr>
        <p:xfrm>
          <a:off x="5486400" y="4419600"/>
          <a:ext cx="5429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02" name="Equation" r:id="rId9" imgW="180975" imgH="211455" progId="Equation.3">
                  <p:embed/>
                </p:oleObj>
              </mc:Choice>
              <mc:Fallback>
                <p:oleObj name="Equation" r:id="rId9" imgW="180975" imgH="21145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419600"/>
                        <a:ext cx="5429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9694" name="Group 14"/>
          <p:cNvGrpSpPr/>
          <p:nvPr/>
        </p:nvGrpSpPr>
        <p:grpSpPr bwMode="auto">
          <a:xfrm>
            <a:off x="914400" y="1676400"/>
            <a:ext cx="6878638" cy="685800"/>
            <a:chOff x="579" y="1075"/>
            <a:chExt cx="4333" cy="432"/>
          </a:xfrm>
        </p:grpSpPr>
        <p:graphicFrame>
          <p:nvGraphicFramePr>
            <p:cNvPr id="28684" name="Object 15"/>
            <p:cNvGraphicFramePr>
              <a:graphicFrameLocks noChangeAspect="1"/>
            </p:cNvGraphicFramePr>
            <p:nvPr/>
          </p:nvGraphicFramePr>
          <p:xfrm>
            <a:off x="579" y="1075"/>
            <a:ext cx="381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03" name="Equation" r:id="rId11" imgW="180975" imgH="211455" progId="Equation.3">
                    <p:embed/>
                  </p:oleObj>
                </mc:Choice>
                <mc:Fallback>
                  <p:oleObj name="Equation" r:id="rId11" imgW="180975" imgH="21145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" y="1075"/>
                          <a:ext cx="381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00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5" name="Rectangle 16"/>
            <p:cNvSpPr>
              <a:spLocks noChangeArrowheads="1"/>
            </p:cNvSpPr>
            <p:nvPr/>
          </p:nvSpPr>
          <p:spPr bwMode="auto">
            <a:xfrm>
              <a:off x="858" y="1156"/>
              <a:ext cx="40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33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>
                  <a:latin typeface="宋体" panose="02010600030101010101" pitchFamily="2" charset="-122"/>
                </a:rPr>
                <a:t>分布是由正态分布派生出来的一种分布</a:t>
              </a:r>
              <a:r>
                <a:rPr lang="en-US" altLang="zh-CN" sz="2800" b="1">
                  <a:latin typeface="宋体" panose="02010600030101010101" pitchFamily="2" charset="-122"/>
                </a:rPr>
                <a:t>.</a:t>
              </a:r>
              <a:endParaRPr lang="en-US" altLang="zh-CN" sz="2800" b="1">
                <a:latin typeface="宋体" panose="02010600030101010101" pitchFamily="2" charset="-122"/>
              </a:endParaRPr>
            </a:p>
          </p:txBody>
        </p:sp>
      </p:grpSp>
      <p:sp>
        <p:nvSpPr>
          <p:cNvPr id="199697" name="Text Box 17"/>
          <p:cNvSpPr txBox="1">
            <a:spLocks noChangeArrowheads="1"/>
          </p:cNvSpPr>
          <p:nvPr/>
        </p:nvSpPr>
        <p:spPr bwMode="auto">
          <a:xfrm>
            <a:off x="1219200" y="914400"/>
            <a:ext cx="2286000" cy="641350"/>
          </a:xfrm>
          <a:prstGeom prst="rect">
            <a:avLst/>
          </a:prstGeom>
          <a:solidFill>
            <a:srgbClr val="66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/>
              <a:t> </a:t>
            </a:r>
            <a:r>
              <a:rPr lang="en-US" altLang="zh-CN" sz="3600" b="1">
                <a:solidFill>
                  <a:schemeClr val="hlink"/>
                </a:solidFill>
                <a:latin typeface="Symbol" panose="05050102010706020507" pitchFamily="18" charset="2"/>
              </a:rPr>
              <a:t>c</a:t>
            </a:r>
            <a:r>
              <a:rPr lang="en-US" altLang="zh-CN" sz="3600" b="1" baseline="30000">
                <a:solidFill>
                  <a:schemeClr val="hlink"/>
                </a:solidFill>
                <a:latin typeface="Symbol" panose="05050102010706020507" pitchFamily="18" charset="2"/>
              </a:rPr>
              <a:t>2 </a:t>
            </a:r>
            <a:r>
              <a:rPr lang="en-US" altLang="zh-CN" sz="3600" b="1" baseline="30000">
                <a:latin typeface="Symbol" panose="05050102010706020507" pitchFamily="18" charset="2"/>
              </a:rPr>
              <a:t> </a:t>
            </a:r>
            <a:r>
              <a:rPr lang="zh-CN" altLang="en-US" sz="3600" b="1">
                <a:hlinkClick r:id="rId13" action="ppaction://hlinkfile"/>
              </a:rPr>
              <a:t>分布</a:t>
            </a:r>
            <a:endParaRPr lang="zh-CN" altLang="en-US" sz="36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9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9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9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99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9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99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99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9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9" grpId="0" bldLvl="0" animBg="1" autoUpdateAnimBg="0"/>
      <p:bldP spid="199690" grpId="0" bldLvl="0" animBg="1" autoUpdateAnimBg="0"/>
      <p:bldP spid="199697" grpId="0" bldLvl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/>
          <p:cNvGraphicFramePr>
            <a:graphicFrameLocks noChangeAspect="1"/>
          </p:cNvGraphicFramePr>
          <p:nvPr/>
        </p:nvGraphicFramePr>
        <p:xfrm>
          <a:off x="609600" y="1270000"/>
          <a:ext cx="5429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7" name="Equation" r:id="rId1" imgW="180975" imgH="211455" progId="Equation.3">
                  <p:embed/>
                </p:oleObj>
              </mc:Choice>
              <mc:Fallback>
                <p:oleObj name="Equation" r:id="rId1" imgW="180975" imgH="21145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270000"/>
                        <a:ext cx="54292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1143000" y="1295400"/>
            <a:ext cx="304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分布的密度函数为</a:t>
            </a:r>
            <a:endParaRPr lang="zh-CN" altLang="en-US" sz="2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00708" name="Object 4"/>
          <p:cNvGraphicFramePr>
            <a:graphicFrameLocks noChangeAspect="1"/>
          </p:cNvGraphicFramePr>
          <p:nvPr/>
        </p:nvGraphicFramePr>
        <p:xfrm>
          <a:off x="1143000" y="1727200"/>
          <a:ext cx="6162675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8" name="Equation" r:id="rId3" imgW="2276475" imgH="645160" progId="Equation.3">
                  <p:embed/>
                </p:oleObj>
              </mc:Choice>
              <mc:Fallback>
                <p:oleObj name="Equation" r:id="rId3" imgW="2276475" imgH="6451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27200"/>
                        <a:ext cx="6162675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09" name="Rectangle 5"/>
          <p:cNvSpPr>
            <a:spLocks noChangeArrowheads="1"/>
          </p:cNvSpPr>
          <p:nvPr/>
        </p:nvSpPr>
        <p:spPr bwMode="auto">
          <a:xfrm>
            <a:off x="6732588" y="4103688"/>
            <a:ext cx="13446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来定义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grpSp>
        <p:nvGrpSpPr>
          <p:cNvPr id="200710" name="Group 6"/>
          <p:cNvGrpSpPr/>
          <p:nvPr/>
        </p:nvGrpSpPr>
        <p:grpSpPr bwMode="auto">
          <a:xfrm>
            <a:off x="684213" y="3484563"/>
            <a:ext cx="6781800" cy="1487487"/>
            <a:chOff x="921" y="1661"/>
            <a:chExt cx="4272" cy="937"/>
          </a:xfrm>
        </p:grpSpPr>
        <p:sp>
          <p:nvSpPr>
            <p:cNvPr id="29704" name="Text Box 7"/>
            <p:cNvSpPr txBox="1">
              <a:spLocks noChangeArrowheads="1"/>
            </p:cNvSpPr>
            <p:nvPr/>
          </p:nvSpPr>
          <p:spPr bwMode="auto">
            <a:xfrm>
              <a:off x="921" y="1661"/>
              <a:ext cx="4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zh-CN" altLang="en-US" sz="2800" b="1"/>
                <a:t>其中伽玛函数         通过积分</a:t>
              </a:r>
              <a:endParaRPr lang="zh-CN" altLang="en-US" sz="2800" b="1"/>
            </a:p>
          </p:txBody>
        </p:sp>
        <p:graphicFrame>
          <p:nvGraphicFramePr>
            <p:cNvPr id="29705" name="Object 8"/>
            <p:cNvGraphicFramePr>
              <a:graphicFrameLocks noChangeAspect="1"/>
            </p:cNvGraphicFramePr>
            <p:nvPr/>
          </p:nvGraphicFramePr>
          <p:xfrm>
            <a:off x="1593" y="2045"/>
            <a:ext cx="2746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99" name="Equation" r:id="rId5" imgW="1590675" imgH="317500" progId="Equation.3">
                    <p:embed/>
                  </p:oleObj>
                </mc:Choice>
                <mc:Fallback>
                  <p:oleObj name="Equation" r:id="rId5" imgW="1590675" imgH="3175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3" y="2045"/>
                          <a:ext cx="2746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6" name="Object 9"/>
            <p:cNvGraphicFramePr>
              <a:graphicFrameLocks noChangeAspect="1"/>
            </p:cNvGraphicFramePr>
            <p:nvPr/>
          </p:nvGraphicFramePr>
          <p:xfrm>
            <a:off x="2290" y="1661"/>
            <a:ext cx="576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00" name="Equation" r:id="rId7" imgW="314325" imgH="182880" progId="Equation.3">
                    <p:embed/>
                  </p:oleObj>
                </mc:Choice>
                <mc:Fallback>
                  <p:oleObj name="Equation" r:id="rId7" imgW="314325" imgH="18288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1661"/>
                          <a:ext cx="576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0714" name="Object 10"/>
          <p:cNvGraphicFramePr>
            <a:graphicFrameLocks noChangeAspect="1"/>
          </p:cNvGraphicFramePr>
          <p:nvPr/>
        </p:nvGraphicFramePr>
        <p:xfrm>
          <a:off x="685800" y="1193800"/>
          <a:ext cx="54292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1" name="Equation" r:id="rId9" imgW="180975" imgH="211455" progId="Equation.3">
                  <p:embed/>
                </p:oleObj>
              </mc:Choice>
              <mc:Fallback>
                <p:oleObj name="Equation" r:id="rId9" imgW="180975" imgH="21145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193800"/>
                        <a:ext cx="542925" cy="60960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0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9" grpId="0" bldLvl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730" name="Object 2"/>
          <p:cNvGraphicFramePr>
            <a:graphicFrameLocks noChangeAspect="1"/>
          </p:cNvGraphicFramePr>
          <p:nvPr/>
        </p:nvGraphicFramePr>
        <p:xfrm>
          <a:off x="611188" y="1473200"/>
          <a:ext cx="16192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1" name="Equation" r:id="rId1" imgW="628650" imgH="211455" progId="Equation.3">
                  <p:embed/>
                </p:oleObj>
              </mc:Choice>
              <mc:Fallback>
                <p:oleObj name="Equation" r:id="rId1" imgW="628650" imgH="21145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473200"/>
                        <a:ext cx="16192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1" name="Rectangle 3"/>
          <p:cNvSpPr>
            <a:spLocks noChangeArrowheads="1"/>
          </p:cNvSpPr>
          <p:nvPr/>
        </p:nvSpPr>
        <p:spPr bwMode="auto">
          <a:xfrm>
            <a:off x="639763" y="762000"/>
            <a:ext cx="7296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1.</a:t>
            </a:r>
            <a:r>
              <a:rPr lang="en-US" altLang="zh-CN" sz="2800" b="1">
                <a:cs typeface="Times New Roman" panose="02020603050405020304" pitchFamily="18" charset="0"/>
              </a:rPr>
              <a:t>   </a:t>
            </a:r>
            <a:r>
              <a:rPr lang="zh-CN" altLang="en-US" sz="2800" b="1"/>
              <a:t>设                        相互独立</a:t>
            </a:r>
            <a:r>
              <a:rPr lang="en-US" altLang="zh-CN" sz="2800" b="1"/>
              <a:t>, </a:t>
            </a:r>
            <a:r>
              <a:rPr lang="zh-CN" altLang="en-US" sz="2800" b="1"/>
              <a:t>都服从正态分布</a:t>
            </a:r>
            <a:endParaRPr lang="zh-CN" altLang="en-US" sz="2800" b="1"/>
          </a:p>
        </p:txBody>
      </p:sp>
      <p:graphicFrame>
        <p:nvGraphicFramePr>
          <p:cNvPr id="201732" name="Object 4"/>
          <p:cNvGraphicFramePr>
            <a:graphicFrameLocks noChangeAspect="1"/>
          </p:cNvGraphicFramePr>
          <p:nvPr/>
        </p:nvGraphicFramePr>
        <p:xfrm>
          <a:off x="1706563" y="752475"/>
          <a:ext cx="2146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2" name="Equation" r:id="rId3" imgW="857250" imgH="211455" progId="Equation.3">
                  <p:embed/>
                </p:oleObj>
              </mc:Choice>
              <mc:Fallback>
                <p:oleObj name="Equation" r:id="rId3" imgW="857250" imgH="21145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752475"/>
                        <a:ext cx="2146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3" name="Rectangle 5"/>
          <p:cNvSpPr>
            <a:spLocks noChangeArrowheads="1"/>
          </p:cNvSpPr>
          <p:nvPr/>
        </p:nvSpPr>
        <p:spPr bwMode="auto">
          <a:xfrm>
            <a:off x="2300288" y="1530350"/>
            <a:ext cx="542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则</a:t>
            </a:r>
            <a:endParaRPr lang="zh-CN" altLang="en-US" sz="2800" b="1"/>
          </a:p>
        </p:txBody>
      </p:sp>
      <p:graphicFrame>
        <p:nvGraphicFramePr>
          <p:cNvPr id="201734" name="Object 6"/>
          <p:cNvGraphicFramePr>
            <a:graphicFrameLocks noChangeAspect="1"/>
          </p:cNvGraphicFramePr>
          <p:nvPr/>
        </p:nvGraphicFramePr>
        <p:xfrm>
          <a:off x="3059113" y="1298575"/>
          <a:ext cx="4360862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3" name="Equation" r:id="rId5" imgW="1838325" imgH="414020" progId="Equation.3">
                  <p:embed/>
                </p:oleObj>
              </mc:Choice>
              <mc:Fallback>
                <p:oleObj name="Equation" r:id="rId5" imgW="1838325" imgH="4140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298575"/>
                        <a:ext cx="4360862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5" name="Object 7"/>
          <p:cNvGraphicFramePr>
            <a:graphicFrameLocks noChangeAspect="1"/>
          </p:cNvGraphicFramePr>
          <p:nvPr/>
        </p:nvGraphicFramePr>
        <p:xfrm>
          <a:off x="611188" y="2984500"/>
          <a:ext cx="48561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4" name="公式" r:id="rId7" imgW="3590925" imgH="452120" progId="Equation.3">
                  <p:embed/>
                </p:oleObj>
              </mc:Choice>
              <mc:Fallback>
                <p:oleObj name="公式" r:id="rId7" imgW="3590925" imgH="4521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984500"/>
                        <a:ext cx="485616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36" name="Object 8"/>
          <p:cNvGraphicFramePr>
            <a:graphicFrameLocks noChangeAspect="1"/>
          </p:cNvGraphicFramePr>
          <p:nvPr/>
        </p:nvGraphicFramePr>
        <p:xfrm>
          <a:off x="1689100" y="2193925"/>
          <a:ext cx="43084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5" name="Equation" r:id="rId9" imgW="1590675" imgH="211455" progId="Equation.3">
                  <p:embed/>
                </p:oleObj>
              </mc:Choice>
              <mc:Fallback>
                <p:oleObj name="Equation" r:id="rId9" imgW="1590675" imgH="21145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2193925"/>
                        <a:ext cx="43084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1737" name="Group 9"/>
          <p:cNvGrpSpPr/>
          <p:nvPr/>
        </p:nvGrpSpPr>
        <p:grpSpPr bwMode="auto">
          <a:xfrm>
            <a:off x="1258888" y="3524250"/>
            <a:ext cx="4659312" cy="685800"/>
            <a:chOff x="703" y="2523"/>
            <a:chExt cx="2935" cy="432"/>
          </a:xfrm>
        </p:grpSpPr>
        <p:sp>
          <p:nvSpPr>
            <p:cNvPr id="30737" name="Rectangle 10"/>
            <p:cNvSpPr>
              <a:spLocks noChangeArrowheads="1"/>
            </p:cNvSpPr>
            <p:nvPr/>
          </p:nvSpPr>
          <p:spPr bwMode="auto">
            <a:xfrm>
              <a:off x="703" y="2588"/>
              <a:ext cx="293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>
                  <a:solidFill>
                    <a:schemeClr val="accent2"/>
                  </a:solidFill>
                </a:rPr>
                <a:t>这个性质叫     分布的可加性</a:t>
              </a:r>
              <a:r>
                <a:rPr lang="en-US" altLang="zh-CN" sz="3200" b="1">
                  <a:solidFill>
                    <a:schemeClr val="accent2"/>
                  </a:solidFill>
                </a:rPr>
                <a:t>.</a:t>
              </a:r>
              <a:endParaRPr lang="en-US" altLang="zh-CN" sz="3200" b="1">
                <a:solidFill>
                  <a:schemeClr val="accent2"/>
                </a:solidFill>
              </a:endParaRPr>
            </a:p>
          </p:txBody>
        </p:sp>
        <p:graphicFrame>
          <p:nvGraphicFramePr>
            <p:cNvPr id="30738" name="Object 11"/>
            <p:cNvGraphicFramePr>
              <a:graphicFrameLocks noChangeAspect="1"/>
            </p:cNvGraphicFramePr>
            <p:nvPr/>
          </p:nvGraphicFramePr>
          <p:xfrm>
            <a:off x="1882" y="2523"/>
            <a:ext cx="384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6" name="Equation" r:id="rId11" imgW="180975" imgH="211455" progId="Equation.3">
                    <p:embed/>
                  </p:oleObj>
                </mc:Choice>
                <mc:Fallback>
                  <p:oleObj name="Equation" r:id="rId11" imgW="180975" imgH="21145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2" y="2523"/>
                          <a:ext cx="384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730" name="Object 12"/>
          <p:cNvGraphicFramePr>
            <a:graphicFrameLocks noChangeAspect="1"/>
          </p:cNvGraphicFramePr>
          <p:nvPr/>
        </p:nvGraphicFramePr>
        <p:xfrm>
          <a:off x="712788" y="177800"/>
          <a:ext cx="2171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7" name="公式" r:id="rId13" imgW="2152650" imgH="442595" progId="Equation.3">
                  <p:embed/>
                </p:oleObj>
              </mc:Choice>
              <mc:Fallback>
                <p:oleObj name="公式" r:id="rId13" imgW="2152650" imgH="44259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177800"/>
                        <a:ext cx="2171700" cy="45720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41" name="Object 13"/>
          <p:cNvGraphicFramePr>
            <a:graphicFrameLocks noChangeAspect="1"/>
          </p:cNvGraphicFramePr>
          <p:nvPr/>
        </p:nvGraphicFramePr>
        <p:xfrm>
          <a:off x="1654175" y="4281488"/>
          <a:ext cx="48244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8" name="公式" r:id="rId15" imgW="4124325" imgH="452120" progId="Equation.3">
                  <p:embed/>
                </p:oleObj>
              </mc:Choice>
              <mc:Fallback>
                <p:oleObj name="公式" r:id="rId15" imgW="4124325" imgH="4521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4281488"/>
                        <a:ext cx="482441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42" name="Rectangle 14"/>
          <p:cNvSpPr>
            <a:spLocks noChangeArrowheads="1"/>
          </p:cNvSpPr>
          <p:nvPr/>
        </p:nvSpPr>
        <p:spPr bwMode="auto">
          <a:xfrm>
            <a:off x="579438" y="4303713"/>
            <a:ext cx="1076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3</a:t>
            </a:r>
            <a:r>
              <a:rPr lang="zh-CN" altLang="en-US" sz="2800" b="1"/>
              <a:t>．若</a:t>
            </a:r>
            <a:endParaRPr lang="zh-CN" altLang="en-US" sz="2800" b="1"/>
          </a:p>
        </p:txBody>
      </p:sp>
      <p:graphicFrame>
        <p:nvGraphicFramePr>
          <p:cNvPr id="201743" name="Object 15"/>
          <p:cNvGraphicFramePr>
            <a:graphicFrameLocks noChangeAspect="1"/>
          </p:cNvGraphicFramePr>
          <p:nvPr/>
        </p:nvGraphicFramePr>
        <p:xfrm>
          <a:off x="6623050" y="4210050"/>
          <a:ext cx="2087563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9" name="公式" r:id="rId17" imgW="2000250" imgH="837565" progId="Equation.3">
                  <p:embed/>
                </p:oleObj>
              </mc:Choice>
              <mc:Fallback>
                <p:oleObj name="公式" r:id="rId17" imgW="2000250" imgH="83756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050" y="4210050"/>
                        <a:ext cx="2087563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44" name="Rectangle 16"/>
          <p:cNvSpPr>
            <a:spLocks noChangeArrowheads="1"/>
          </p:cNvSpPr>
          <p:nvPr/>
        </p:nvSpPr>
        <p:spPr bwMode="auto">
          <a:xfrm>
            <a:off x="503238" y="5059363"/>
            <a:ext cx="3355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近似正态分布</a:t>
            </a:r>
            <a:r>
              <a:rPr lang="en-US" altLang="zh-CN" sz="2800" b="1"/>
              <a:t>N(0,1).</a:t>
            </a:r>
            <a:endParaRPr lang="en-US" altLang="zh-CN" sz="2800" b="1"/>
          </a:p>
        </p:txBody>
      </p:sp>
      <p:sp>
        <p:nvSpPr>
          <p:cNvPr id="201745" name="Rectangle 17"/>
          <p:cNvSpPr>
            <a:spLocks noChangeArrowheads="1"/>
          </p:cNvSpPr>
          <p:nvPr/>
        </p:nvSpPr>
        <p:spPr bwMode="auto">
          <a:xfrm>
            <a:off x="1644650" y="5721350"/>
            <a:ext cx="434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chemeClr val="accent2"/>
                </a:solidFill>
              </a:rPr>
              <a:t>(</a:t>
            </a:r>
            <a:r>
              <a:rPr lang="zh-CN" altLang="en-US" sz="2800" b="1">
                <a:solidFill>
                  <a:schemeClr val="accent2"/>
                </a:solidFill>
              </a:rPr>
              <a:t>应用中心极限定理可得 </a:t>
            </a:r>
            <a:r>
              <a:rPr lang="en-US" altLang="zh-CN" sz="2800" b="1">
                <a:solidFill>
                  <a:schemeClr val="accent2"/>
                </a:solidFill>
              </a:rPr>
              <a:t>)   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sp>
        <p:nvSpPr>
          <p:cNvPr id="201746" name="Rectangle 18"/>
          <p:cNvSpPr>
            <a:spLocks noChangeArrowheads="1"/>
          </p:cNvSpPr>
          <p:nvPr/>
        </p:nvSpPr>
        <p:spPr bwMode="auto">
          <a:xfrm>
            <a:off x="611188" y="2265363"/>
            <a:ext cx="853281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/>
              <a:t>2</a:t>
            </a:r>
            <a:r>
              <a:rPr lang="zh-CN" altLang="en-US" sz="2800" b="1"/>
              <a:t>．设                                                且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zh-CN" altLang="en-US" sz="2800" b="1"/>
              <a:t>相互独立，　　  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0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0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0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01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1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01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1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01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1" grpId="0" bldLvl="0" animBg="1" autoUpdateAnimBg="0"/>
      <p:bldP spid="201733" grpId="0" bldLvl="0" animBg="1" autoUpdateAnimBg="0"/>
      <p:bldP spid="201742" grpId="0" bldLvl="0" animBg="1" autoUpdateAnimBg="0"/>
      <p:bldP spid="201744" grpId="0" bldLvl="0" animBg="1" autoUpdateAnimBg="0"/>
      <p:bldP spid="201745" grpId="0" bldLvl="0" animBg="1" autoUpdateAnimBg="0"/>
      <p:bldP spid="201746" grpId="0" bldLvl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ChangeArrowheads="1"/>
          </p:cNvSpPr>
          <p:nvPr/>
        </p:nvSpPr>
        <p:spPr bwMode="auto">
          <a:xfrm>
            <a:off x="2295525" y="1841500"/>
            <a:ext cx="3355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i="1"/>
              <a:t>E</a:t>
            </a:r>
            <a:r>
              <a:rPr lang="en-US" altLang="zh-CN" sz="3200" b="1"/>
              <a:t>(</a:t>
            </a:r>
            <a:r>
              <a:rPr lang="en-US" altLang="zh-CN" sz="3200" b="1" i="1"/>
              <a:t>X</a:t>
            </a:r>
            <a:r>
              <a:rPr lang="en-US" altLang="zh-CN" sz="3200" b="1"/>
              <a:t>)=</a:t>
            </a:r>
            <a:r>
              <a:rPr lang="en-US" altLang="zh-CN" sz="3200" b="1" i="1"/>
              <a:t>n</a:t>
            </a:r>
            <a:r>
              <a:rPr lang="en-US" altLang="zh-CN" sz="3200" b="1"/>
              <a:t>,  </a:t>
            </a:r>
            <a:r>
              <a:rPr lang="en-US" altLang="zh-CN" sz="3200" b="1" i="1"/>
              <a:t>D</a:t>
            </a:r>
            <a:r>
              <a:rPr lang="en-US" altLang="zh-CN" sz="3200" b="1"/>
              <a:t>(</a:t>
            </a:r>
            <a:r>
              <a:rPr lang="en-US" altLang="zh-CN" sz="3200" b="1" i="1"/>
              <a:t>X</a:t>
            </a:r>
            <a:r>
              <a:rPr lang="en-US" altLang="zh-CN" sz="3200" b="1"/>
              <a:t>)=2</a:t>
            </a:r>
            <a:r>
              <a:rPr lang="en-US" altLang="zh-CN" sz="3200" b="1" i="1"/>
              <a:t>n.</a:t>
            </a:r>
            <a:endParaRPr lang="en-US" altLang="zh-CN" sz="3200" b="1" i="1"/>
          </a:p>
        </p:txBody>
      </p:sp>
      <p:graphicFrame>
        <p:nvGraphicFramePr>
          <p:cNvPr id="31747" name="Object 3"/>
          <p:cNvGraphicFramePr>
            <a:graphicFrameLocks noChangeAspect="1"/>
          </p:cNvGraphicFramePr>
          <p:nvPr/>
        </p:nvGraphicFramePr>
        <p:xfrm>
          <a:off x="533400" y="1117600"/>
          <a:ext cx="73072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3" name="公式" r:id="rId1" imgW="6486525" imgH="452120" progId="Equation.3">
                  <p:embed/>
                </p:oleObj>
              </mc:Choice>
              <mc:Fallback>
                <p:oleObj name="公式" r:id="rId1" imgW="6486525" imgH="4521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117600"/>
                        <a:ext cx="73072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00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00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6" name="Object 4"/>
          <p:cNvGraphicFramePr>
            <a:graphicFrameLocks noChangeAspect="1"/>
          </p:cNvGraphicFramePr>
          <p:nvPr/>
        </p:nvGraphicFramePr>
        <p:xfrm>
          <a:off x="1331913" y="2844800"/>
          <a:ext cx="6946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4" name="公式" r:id="rId3" imgW="6924675" imgH="490855" progId="Equation.3">
                  <p:embed/>
                </p:oleObj>
              </mc:Choice>
              <mc:Fallback>
                <p:oleObj name="公式" r:id="rId3" imgW="6924675" imgH="49085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844800"/>
                        <a:ext cx="6946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7" name="Object 5"/>
          <p:cNvGraphicFramePr>
            <a:graphicFrameLocks noChangeAspect="1"/>
          </p:cNvGraphicFramePr>
          <p:nvPr/>
        </p:nvGraphicFramePr>
        <p:xfrm>
          <a:off x="539750" y="3708400"/>
          <a:ext cx="5702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5" name="公式" r:id="rId5" imgW="5686425" imgH="471805" progId="Equation.3">
                  <p:embed/>
                </p:oleObj>
              </mc:Choice>
              <mc:Fallback>
                <p:oleObj name="公式" r:id="rId5" imgW="5686425" imgH="47180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3708400"/>
                        <a:ext cx="57023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2758" name="Object 6"/>
          <p:cNvGraphicFramePr>
            <a:graphicFrameLocks noChangeAspect="1"/>
          </p:cNvGraphicFramePr>
          <p:nvPr/>
        </p:nvGraphicFramePr>
        <p:xfrm>
          <a:off x="496888" y="4500563"/>
          <a:ext cx="6883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6" name="公式" r:id="rId7" imgW="6867525" imgH="789305" progId="Equation.3">
                  <p:embed/>
                </p:oleObj>
              </mc:Choice>
              <mc:Fallback>
                <p:oleObj name="公式" r:id="rId7" imgW="6867525" imgH="78930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8" y="4500563"/>
                        <a:ext cx="68834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 bldLvl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609600" y="609600"/>
          <a:ext cx="2946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6" name="公式" r:id="rId1" imgW="2924175" imgH="452120" progId="Equation.3">
                  <p:embed/>
                </p:oleObj>
              </mc:Choice>
              <mc:Fallback>
                <p:oleObj name="公式" r:id="rId1" imgW="2924175" imgH="4521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609600"/>
                        <a:ext cx="2946400" cy="46990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3779" name="Group 3"/>
          <p:cNvGrpSpPr/>
          <p:nvPr/>
        </p:nvGrpSpPr>
        <p:grpSpPr bwMode="auto">
          <a:xfrm>
            <a:off x="2393950" y="4713288"/>
            <a:ext cx="3960813" cy="1655762"/>
            <a:chOff x="612" y="2886"/>
            <a:chExt cx="2495" cy="1043"/>
          </a:xfrm>
        </p:grpSpPr>
        <p:sp>
          <p:nvSpPr>
            <p:cNvPr id="32780" name="Line 4"/>
            <p:cNvSpPr>
              <a:spLocks noChangeShapeType="1"/>
            </p:cNvSpPr>
            <p:nvPr/>
          </p:nvSpPr>
          <p:spPr bwMode="auto">
            <a:xfrm flipV="1">
              <a:off x="839" y="2886"/>
              <a:ext cx="0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1" name="Freeform 5"/>
            <p:cNvSpPr/>
            <p:nvPr/>
          </p:nvSpPr>
          <p:spPr bwMode="auto">
            <a:xfrm>
              <a:off x="839" y="2931"/>
              <a:ext cx="1814" cy="612"/>
            </a:xfrm>
            <a:custGeom>
              <a:avLst/>
              <a:gdLst>
                <a:gd name="T0" fmla="*/ 0 w 1814"/>
                <a:gd name="T1" fmla="*/ 612 h 612"/>
                <a:gd name="T2" fmla="*/ 181 w 1814"/>
                <a:gd name="T3" fmla="*/ 68 h 612"/>
                <a:gd name="T4" fmla="*/ 590 w 1814"/>
                <a:gd name="T5" fmla="*/ 204 h 612"/>
                <a:gd name="T6" fmla="*/ 1361 w 1814"/>
                <a:gd name="T7" fmla="*/ 521 h 612"/>
                <a:gd name="T8" fmla="*/ 1814 w 1814"/>
                <a:gd name="T9" fmla="*/ 567 h 6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14" h="612">
                  <a:moveTo>
                    <a:pt x="0" y="612"/>
                  </a:moveTo>
                  <a:cubicBezTo>
                    <a:pt x="41" y="374"/>
                    <a:pt x="83" y="136"/>
                    <a:pt x="181" y="68"/>
                  </a:cubicBezTo>
                  <a:cubicBezTo>
                    <a:pt x="279" y="0"/>
                    <a:pt x="393" y="129"/>
                    <a:pt x="590" y="204"/>
                  </a:cubicBezTo>
                  <a:cubicBezTo>
                    <a:pt x="787" y="279"/>
                    <a:pt x="1157" y="460"/>
                    <a:pt x="1361" y="521"/>
                  </a:cubicBezTo>
                  <a:cubicBezTo>
                    <a:pt x="1565" y="582"/>
                    <a:pt x="1731" y="559"/>
                    <a:pt x="1814" y="56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2" name="Line 6"/>
            <p:cNvSpPr>
              <a:spLocks noChangeShapeType="1"/>
            </p:cNvSpPr>
            <p:nvPr/>
          </p:nvSpPr>
          <p:spPr bwMode="auto">
            <a:xfrm>
              <a:off x="612" y="3566"/>
              <a:ext cx="24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3" name="Line 7"/>
            <p:cNvSpPr>
              <a:spLocks noChangeShapeType="1"/>
            </p:cNvSpPr>
            <p:nvPr/>
          </p:nvSpPr>
          <p:spPr bwMode="auto">
            <a:xfrm>
              <a:off x="2018" y="3385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4" name="Line 8"/>
            <p:cNvSpPr>
              <a:spLocks noChangeShapeType="1"/>
            </p:cNvSpPr>
            <p:nvPr/>
          </p:nvSpPr>
          <p:spPr bwMode="auto">
            <a:xfrm>
              <a:off x="2064" y="3430"/>
              <a:ext cx="45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5" name="Line 9"/>
            <p:cNvSpPr>
              <a:spLocks noChangeShapeType="1"/>
            </p:cNvSpPr>
            <p:nvPr/>
          </p:nvSpPr>
          <p:spPr bwMode="auto">
            <a:xfrm>
              <a:off x="2154" y="3475"/>
              <a:ext cx="46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6" name="Line 10"/>
            <p:cNvSpPr>
              <a:spLocks noChangeShapeType="1"/>
            </p:cNvSpPr>
            <p:nvPr/>
          </p:nvSpPr>
          <p:spPr bwMode="auto">
            <a:xfrm>
              <a:off x="2290" y="3475"/>
              <a:ext cx="182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7" name="Line 11"/>
            <p:cNvSpPr>
              <a:spLocks noChangeShapeType="1"/>
            </p:cNvSpPr>
            <p:nvPr/>
          </p:nvSpPr>
          <p:spPr bwMode="auto">
            <a:xfrm>
              <a:off x="2517" y="3521"/>
              <a:ext cx="136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8" name="Line 12"/>
            <p:cNvSpPr>
              <a:spLocks noChangeShapeType="1"/>
            </p:cNvSpPr>
            <p:nvPr/>
          </p:nvSpPr>
          <p:spPr bwMode="auto">
            <a:xfrm>
              <a:off x="2245" y="3475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9" name="Line 13"/>
            <p:cNvSpPr>
              <a:spLocks noChangeShapeType="1"/>
            </p:cNvSpPr>
            <p:nvPr/>
          </p:nvSpPr>
          <p:spPr bwMode="auto">
            <a:xfrm>
              <a:off x="2018" y="3430"/>
              <a:ext cx="9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03790" name="Object 14"/>
          <p:cNvGraphicFramePr>
            <a:graphicFrameLocks noChangeAspect="1"/>
          </p:cNvGraphicFramePr>
          <p:nvPr/>
        </p:nvGraphicFramePr>
        <p:xfrm>
          <a:off x="1817688" y="1909763"/>
          <a:ext cx="4838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7" name="公式" r:id="rId3" imgW="4819650" imgH="558165" progId="Equation.3">
                  <p:embed/>
                </p:oleObj>
              </mc:Choice>
              <mc:Fallback>
                <p:oleObj name="公式" r:id="rId3" imgW="4819650" imgH="55816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88" y="1909763"/>
                        <a:ext cx="48387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91" name="Object 15"/>
          <p:cNvGraphicFramePr>
            <a:graphicFrameLocks noChangeAspect="1"/>
          </p:cNvGraphicFramePr>
          <p:nvPr/>
        </p:nvGraphicFramePr>
        <p:xfrm>
          <a:off x="3976688" y="688975"/>
          <a:ext cx="430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8" name="公式" r:id="rId5" imgW="4286250" imgH="375285" progId="Equation.3">
                  <p:embed/>
                </p:oleObj>
              </mc:Choice>
              <mc:Fallback>
                <p:oleObj name="公式" r:id="rId5" imgW="4286250" imgH="37528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688" y="688975"/>
                        <a:ext cx="4305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92" name="Object 16"/>
          <p:cNvGraphicFramePr>
            <a:graphicFrameLocks noChangeAspect="1"/>
          </p:cNvGraphicFramePr>
          <p:nvPr/>
        </p:nvGraphicFramePr>
        <p:xfrm>
          <a:off x="593725" y="1211263"/>
          <a:ext cx="1841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19" name="公式" r:id="rId7" imgW="1819275" imgH="394335" progId="Equation.3">
                  <p:embed/>
                </p:oleObj>
              </mc:Choice>
              <mc:Fallback>
                <p:oleObj name="公式" r:id="rId7" imgW="1819275" imgH="39433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1211263"/>
                        <a:ext cx="1841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3793" name="Object 17"/>
          <p:cNvGraphicFramePr>
            <a:graphicFrameLocks noChangeAspect="1"/>
          </p:cNvGraphicFramePr>
          <p:nvPr/>
        </p:nvGraphicFramePr>
        <p:xfrm>
          <a:off x="522288" y="2771775"/>
          <a:ext cx="56261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0" name="公式" r:id="rId9" imgW="5610225" imgH="1722755" progId="Equation.3">
                  <p:embed/>
                </p:oleObj>
              </mc:Choice>
              <mc:Fallback>
                <p:oleObj name="公式" r:id="rId9" imgW="5610225" imgH="172275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8" y="2771775"/>
                        <a:ext cx="5626100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3794" name="Group 18"/>
          <p:cNvGrpSpPr/>
          <p:nvPr/>
        </p:nvGrpSpPr>
        <p:grpSpPr bwMode="auto">
          <a:xfrm>
            <a:off x="4337050" y="5191125"/>
            <a:ext cx="863600" cy="1033463"/>
            <a:chOff x="1292" y="3505"/>
            <a:chExt cx="544" cy="651"/>
          </a:xfrm>
        </p:grpSpPr>
        <p:graphicFrame>
          <p:nvGraphicFramePr>
            <p:cNvPr id="32777" name="Object 19"/>
            <p:cNvGraphicFramePr>
              <a:graphicFrameLocks noChangeAspect="1"/>
            </p:cNvGraphicFramePr>
            <p:nvPr/>
          </p:nvGraphicFramePr>
          <p:xfrm>
            <a:off x="1292" y="3852"/>
            <a:ext cx="544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21" name="公式" r:id="rId11" imgW="847725" imgH="471805" progId="Equation.3">
                    <p:embed/>
                  </p:oleObj>
                </mc:Choice>
                <mc:Fallback>
                  <p:oleObj name="公式" r:id="rId11" imgW="847725" imgH="47180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3852"/>
                          <a:ext cx="544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8" name="Object 20"/>
            <p:cNvGraphicFramePr>
              <a:graphicFrameLocks noChangeAspect="1"/>
            </p:cNvGraphicFramePr>
            <p:nvPr/>
          </p:nvGraphicFramePr>
          <p:xfrm>
            <a:off x="1655" y="3505"/>
            <a:ext cx="16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22" name="公式" r:id="rId13" imgW="247650" imgH="221615" progId="Equation.3">
                    <p:embed/>
                  </p:oleObj>
                </mc:Choice>
                <mc:Fallback>
                  <p:oleObj name="公式" r:id="rId13" imgW="247650" imgH="22161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3505"/>
                          <a:ext cx="168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79" name="Line 21"/>
            <p:cNvSpPr>
              <a:spLocks noChangeShapeType="1"/>
            </p:cNvSpPr>
            <p:nvPr/>
          </p:nvSpPr>
          <p:spPr bwMode="auto">
            <a:xfrm flipV="1">
              <a:off x="1610" y="3612"/>
              <a:ext cx="9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3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0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1252538" y="765175"/>
            <a:ext cx="1441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1800" b="1">
                <a:solidFill>
                  <a:srgbClr val="5050CC"/>
                </a:solidFill>
                <a:latin typeface="宋体" panose="02010600030101010101" pitchFamily="2" charset="-122"/>
              </a:rPr>
              <a:t>例</a:t>
            </a:r>
            <a:r>
              <a:rPr kumimoji="0" lang="en-US" altLang="zh-CN" sz="1800" b="1">
                <a:solidFill>
                  <a:srgbClr val="5050CC"/>
                </a:solidFill>
                <a:latin typeface="宋体" panose="02010600030101010101" pitchFamily="2" charset="-122"/>
              </a:rPr>
              <a:t>5</a:t>
            </a:r>
            <a:r>
              <a:rPr kumimoji="0" lang="zh-CN" altLang="en-US" sz="1800">
                <a:latin typeface="宋体" panose="02010600030101010101" pitchFamily="2" charset="-122"/>
              </a:rPr>
              <a:t>　设总体</a:t>
            </a:r>
            <a:endParaRPr kumimoji="0" lang="zh-CN" altLang="en-US" sz="1800" b="1">
              <a:latin typeface="宋体" panose="02010600030101010101" pitchFamily="2" charset="-122"/>
            </a:endParaRP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719138" y="1308100"/>
            <a:ext cx="98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1800">
                <a:latin typeface="宋体" panose="02010600030101010101" pitchFamily="2" charset="-122"/>
              </a:rPr>
              <a:t>的样本</a:t>
            </a:r>
            <a:r>
              <a:rPr kumimoji="0" lang="en-US" altLang="zh-CN" sz="1800">
                <a:latin typeface="宋体" panose="02010600030101010101" pitchFamily="2" charset="-122"/>
              </a:rPr>
              <a:t>,</a:t>
            </a:r>
            <a:endParaRPr kumimoji="0" lang="en-US" altLang="zh-CN" sz="1800">
              <a:latin typeface="宋体" panose="02010600030101010101" pitchFamily="2" charset="-122"/>
            </a:endParaRP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6154738" y="795338"/>
            <a:ext cx="1009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1800">
                <a:latin typeface="宋体" panose="02010600030101010101" pitchFamily="2" charset="-122"/>
              </a:rPr>
              <a:t>为总体</a:t>
            </a:r>
            <a:r>
              <a:rPr kumimoji="0" lang="en-US" altLang="zh-CN" sz="1800" i="1"/>
              <a:t>X</a:t>
            </a:r>
            <a:endParaRPr kumimoji="0" lang="en-US" altLang="zh-CN" sz="1800"/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719138" y="1874838"/>
            <a:ext cx="245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1800">
                <a:latin typeface="宋体" panose="02010600030101010101" pitchFamily="2" charset="-122"/>
              </a:rPr>
              <a:t>试确定常数</a:t>
            </a:r>
            <a:r>
              <a:rPr kumimoji="0" lang="en-US" altLang="zh-CN" sz="1800" i="1"/>
              <a:t>c</a:t>
            </a:r>
            <a:r>
              <a:rPr kumimoji="0" lang="en-US" altLang="zh-CN" sz="1800"/>
              <a:t> </a:t>
            </a:r>
            <a:r>
              <a:rPr kumimoji="0" lang="zh-CN" altLang="en-US" sz="1800">
                <a:latin typeface="宋体" panose="02010600030101010101" pitchFamily="2" charset="-122"/>
              </a:rPr>
              <a:t>使</a:t>
            </a:r>
            <a:r>
              <a:rPr kumimoji="0" lang="en-US" altLang="zh-CN" sz="1800" i="1"/>
              <a:t>cY </a:t>
            </a:r>
            <a:r>
              <a:rPr kumimoji="0" lang="zh-CN" altLang="en-US" sz="1800">
                <a:latin typeface="宋体" panose="02010600030101010101" pitchFamily="2" charset="-122"/>
              </a:rPr>
              <a:t>服从</a:t>
            </a:r>
            <a:endParaRPr kumimoji="0" lang="zh-CN" altLang="en-US" sz="1800">
              <a:latin typeface="宋体" panose="02010600030101010101" pitchFamily="2" charset="-122"/>
            </a:endParaRPr>
          </a:p>
        </p:txBody>
      </p:sp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3875088" y="1857375"/>
            <a:ext cx="869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1800">
                <a:latin typeface="宋体" panose="02010600030101010101" pitchFamily="2" charset="-122"/>
              </a:rPr>
              <a:t>分布．</a:t>
            </a:r>
            <a:endParaRPr kumimoji="0" lang="zh-CN" altLang="en-US" sz="1800">
              <a:latin typeface="宋体" panose="02010600030101010101" pitchFamily="2" charset="-122"/>
            </a:endParaRPr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1252538" y="24082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1800" b="1">
                <a:solidFill>
                  <a:srgbClr val="5050CC"/>
                </a:solidFill>
                <a:latin typeface="宋体" panose="02010600030101010101" pitchFamily="2" charset="-122"/>
              </a:rPr>
              <a:t>解</a:t>
            </a:r>
            <a:endParaRPr kumimoji="0" lang="zh-CN" altLang="en-US" sz="1800" b="1">
              <a:solidFill>
                <a:srgbClr val="5050CC"/>
              </a:solidFill>
              <a:latin typeface="宋体" panose="02010600030101010101" pitchFamily="2" charset="-122"/>
            </a:endParaRPr>
          </a:p>
        </p:txBody>
      </p:sp>
      <p:sp>
        <p:nvSpPr>
          <p:cNvPr id="59400" name="Text Box 8"/>
          <p:cNvSpPr txBox="1">
            <a:spLocks noChangeArrowheads="1"/>
          </p:cNvSpPr>
          <p:nvPr/>
        </p:nvSpPr>
        <p:spPr bwMode="auto">
          <a:xfrm>
            <a:off x="1246188" y="37925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1800">
                <a:latin typeface="宋体" panose="02010600030101010101" pitchFamily="2" charset="-122"/>
              </a:rPr>
              <a:t>故</a:t>
            </a:r>
            <a:endParaRPr kumimoji="0" lang="zh-CN" altLang="en-US" sz="1800">
              <a:latin typeface="宋体" panose="02010600030101010101" pitchFamily="2" charset="-122"/>
            </a:endParaRPr>
          </a:p>
        </p:txBody>
      </p:sp>
      <p:sp>
        <p:nvSpPr>
          <p:cNvPr id="59401" name="Text Box 9"/>
          <p:cNvSpPr txBox="1">
            <a:spLocks noChangeArrowheads="1"/>
          </p:cNvSpPr>
          <p:nvPr/>
        </p:nvSpPr>
        <p:spPr bwMode="auto">
          <a:xfrm>
            <a:off x="1344613" y="4775957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1800">
                <a:latin typeface="宋体" panose="02010600030101010101" pitchFamily="2" charset="-122"/>
              </a:rPr>
              <a:t>因此</a:t>
            </a:r>
            <a:endParaRPr kumimoji="0" lang="zh-CN" altLang="en-US" sz="1800">
              <a:latin typeface="宋体" panose="02010600030101010101" pitchFamily="2" charset="-122"/>
            </a:endParaRPr>
          </a:p>
        </p:txBody>
      </p:sp>
      <p:graphicFrame>
        <p:nvGraphicFramePr>
          <p:cNvPr id="59402" name="Object 2"/>
          <p:cNvGraphicFramePr>
            <a:graphicFrameLocks noChangeAspect="1"/>
          </p:cNvGraphicFramePr>
          <p:nvPr/>
        </p:nvGraphicFramePr>
        <p:xfrm>
          <a:off x="2928938" y="854075"/>
          <a:ext cx="29845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65" name="Equation" r:id="rId1" imgW="3302000" imgH="381000" progId="Equation.3">
                  <p:embed/>
                </p:oleObj>
              </mc:Choice>
              <mc:Fallback>
                <p:oleObj name="Equation" r:id="rId1" imgW="3302000" imgH="38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854075"/>
                        <a:ext cx="2984500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3" name="Object 3"/>
          <p:cNvGraphicFramePr>
            <a:graphicFrameLocks noChangeAspect="1"/>
          </p:cNvGraphicFramePr>
          <p:nvPr/>
        </p:nvGraphicFramePr>
        <p:xfrm>
          <a:off x="1938338" y="1336675"/>
          <a:ext cx="472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66" name="Equation" r:id="rId3" imgW="4724400" imgH="419100" progId="Equation.3">
                  <p:embed/>
                </p:oleObj>
              </mc:Choice>
              <mc:Fallback>
                <p:oleObj name="Equation" r:id="rId3" imgW="47244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8338" y="1336675"/>
                        <a:ext cx="4724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4" name="Object 4"/>
          <p:cNvGraphicFramePr>
            <a:graphicFrameLocks noChangeAspect="1"/>
          </p:cNvGraphicFramePr>
          <p:nvPr/>
        </p:nvGraphicFramePr>
        <p:xfrm>
          <a:off x="1328738" y="2962275"/>
          <a:ext cx="518953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67" name="Equation" r:id="rId5" imgW="5740400" imgH="736600" progId="Equation.3">
                  <p:embed/>
                </p:oleObj>
              </mc:Choice>
              <mc:Fallback>
                <p:oleObj name="Equation" r:id="rId5" imgW="5740400" imgH="736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2962275"/>
                        <a:ext cx="5189537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5" name="Object 5"/>
          <p:cNvGraphicFramePr>
            <a:graphicFrameLocks noChangeAspect="1"/>
          </p:cNvGraphicFramePr>
          <p:nvPr/>
        </p:nvGraphicFramePr>
        <p:xfrm>
          <a:off x="1893888" y="3790950"/>
          <a:ext cx="503872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68" name="Equation" r:id="rId7" imgW="5575300" imgH="838200" progId="Equation.3">
                  <p:embed/>
                </p:oleObj>
              </mc:Choice>
              <mc:Fallback>
                <p:oleObj name="Equation" r:id="rId7" imgW="5575300" imgH="838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8" y="3790950"/>
                        <a:ext cx="503872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6" name="Object 6"/>
          <p:cNvGraphicFramePr>
            <a:graphicFrameLocks noChangeAspect="1"/>
          </p:cNvGraphicFramePr>
          <p:nvPr/>
        </p:nvGraphicFramePr>
        <p:xfrm>
          <a:off x="2123728" y="4632288"/>
          <a:ext cx="6540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69" name="Equation" r:id="rId9" imgW="723900" imgH="723900" progId="Equation.3">
                  <p:embed/>
                </p:oleObj>
              </mc:Choice>
              <mc:Fallback>
                <p:oleObj name="Equation" r:id="rId9" imgW="723900" imgH="723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4632288"/>
                        <a:ext cx="65405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7" name="Object 7"/>
          <p:cNvGraphicFramePr>
            <a:graphicFrameLocks noChangeAspect="1"/>
          </p:cNvGraphicFramePr>
          <p:nvPr/>
        </p:nvGraphicFramePr>
        <p:xfrm>
          <a:off x="3491345" y="1825406"/>
          <a:ext cx="35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70" name="Equation" r:id="rId11" imgW="355600" imgH="405765" progId="Equation.3">
                  <p:embed/>
                </p:oleObj>
              </mc:Choice>
              <mc:Fallback>
                <p:oleObj name="Equation" r:id="rId11" imgW="355600" imgH="40576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345" y="1825406"/>
                        <a:ext cx="355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8" name="Object 8"/>
          <p:cNvGraphicFramePr>
            <a:graphicFrameLocks noChangeAspect="1"/>
          </p:cNvGraphicFramePr>
          <p:nvPr/>
        </p:nvGraphicFramePr>
        <p:xfrm>
          <a:off x="1785938" y="2466975"/>
          <a:ext cx="52578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71" name="Equation" r:id="rId13" imgW="5816600" imgH="381000" progId="Equation.3">
                  <p:embed/>
                </p:oleObj>
              </mc:Choice>
              <mc:Fallback>
                <p:oleObj name="Equation" r:id="rId13" imgW="5816600" imgH="38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2466975"/>
                        <a:ext cx="5257800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9" name="Object 9"/>
          <p:cNvGraphicFramePr>
            <a:graphicFrameLocks noChangeAspect="1"/>
          </p:cNvGraphicFramePr>
          <p:nvPr/>
        </p:nvGraphicFramePr>
        <p:xfrm>
          <a:off x="7043738" y="3843337"/>
          <a:ext cx="15843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72" name="Equation" r:id="rId15" imgW="1752600" imgH="723900" progId="Equation.3">
                  <p:embed/>
                </p:oleObj>
              </mc:Choice>
              <mc:Fallback>
                <p:oleObj name="Equation" r:id="rId15" imgW="1752600" imgH="723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3738" y="3843337"/>
                        <a:ext cx="158432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1184275" y="5443538"/>
          <a:ext cx="64420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73" name="Equation" r:id="rId17" imgW="73456800" imgH="5791200" progId="Equation.DSMT4">
                  <p:embed/>
                </p:oleObj>
              </mc:Choice>
              <mc:Fallback>
                <p:oleObj name="Equation" r:id="rId17" imgW="73456800" imgH="579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4275" y="5443538"/>
                        <a:ext cx="644207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ChangeArrowheads="1"/>
          </p:cNvSpPr>
          <p:nvPr/>
        </p:nvSpPr>
        <p:spPr bwMode="auto">
          <a:xfrm>
            <a:off x="393700" y="4395788"/>
            <a:ext cx="34480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chemeClr val="accent2"/>
                </a:solidFill>
              </a:rPr>
              <a:t>概率密度函数为：</a:t>
            </a:r>
            <a:endParaRPr lang="zh-CN" altLang="en-US" sz="3200" b="1">
              <a:solidFill>
                <a:schemeClr val="accent2"/>
              </a:solidFill>
            </a:endParaRPr>
          </a:p>
        </p:txBody>
      </p:sp>
      <p:graphicFrame>
        <p:nvGraphicFramePr>
          <p:cNvPr id="204803" name="Object 3"/>
          <p:cNvGraphicFramePr>
            <a:graphicFrameLocks noChangeAspect="1"/>
          </p:cNvGraphicFramePr>
          <p:nvPr/>
        </p:nvGraphicFramePr>
        <p:xfrm>
          <a:off x="1389857" y="4975225"/>
          <a:ext cx="5499100" cy="794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5" name="Equation" r:id="rId1" imgW="67360800" imgH="11277600" progId="Equation.DSMT4">
                  <p:embed/>
                </p:oleObj>
              </mc:Choice>
              <mc:Fallback>
                <p:oleObj name="Equation" r:id="rId1" imgW="67360800" imgH="11277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857" y="4975225"/>
                        <a:ext cx="5499100" cy="794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13" name="Group 13"/>
          <p:cNvGrpSpPr/>
          <p:nvPr/>
        </p:nvGrpSpPr>
        <p:grpSpPr bwMode="auto">
          <a:xfrm>
            <a:off x="468313" y="836613"/>
            <a:ext cx="8077200" cy="2811462"/>
            <a:chOff x="295" y="527"/>
            <a:chExt cx="5088" cy="1771"/>
          </a:xfrm>
        </p:grpSpPr>
        <p:sp>
          <p:nvSpPr>
            <p:cNvPr id="33800" name="Text Box 5"/>
            <p:cNvSpPr txBox="1">
              <a:spLocks noChangeArrowheads="1"/>
            </p:cNvSpPr>
            <p:nvPr/>
          </p:nvSpPr>
          <p:spPr bwMode="auto">
            <a:xfrm>
              <a:off x="295" y="573"/>
              <a:ext cx="5088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zh-CN" altLang="en-US"/>
                <a:t> </a:t>
              </a:r>
              <a:r>
                <a:rPr lang="zh-CN" altLang="en-US" sz="2800" b="1">
                  <a:solidFill>
                    <a:schemeClr val="accent2"/>
                  </a:solidFill>
                </a:rPr>
                <a:t>定义</a:t>
              </a:r>
              <a:r>
                <a:rPr lang="en-US" altLang="zh-CN" sz="2800" b="1">
                  <a:solidFill>
                    <a:schemeClr val="accent2"/>
                  </a:solidFill>
                </a:rPr>
                <a:t>:</a:t>
              </a:r>
              <a:r>
                <a:rPr lang="en-US" altLang="zh-CN" sz="3200" b="1"/>
                <a:t>  </a:t>
              </a:r>
              <a:r>
                <a:rPr lang="zh-CN" altLang="en-US" sz="3200" b="1"/>
                <a:t>设</a:t>
              </a:r>
              <a:r>
                <a:rPr lang="en-US" altLang="zh-CN" sz="3200" b="1" i="1"/>
                <a:t>X</a:t>
              </a:r>
              <a:r>
                <a:rPr lang="zh-CN" altLang="en-US" sz="3200" b="1"/>
                <a:t>～</a:t>
              </a:r>
              <a:r>
                <a:rPr lang="en-US" altLang="zh-CN" sz="3200" b="1" i="1"/>
                <a:t>N</a:t>
              </a:r>
              <a:r>
                <a:rPr lang="en-US" altLang="zh-CN" sz="3200" b="1"/>
                <a:t>(0,1) ,</a:t>
              </a:r>
              <a:r>
                <a:rPr lang="en-US" altLang="zh-CN" sz="3200" b="1" i="1"/>
                <a:t> Y</a:t>
              </a:r>
              <a:r>
                <a:rPr lang="zh-CN" altLang="en-US" sz="3200" b="1"/>
                <a:t>～          </a:t>
              </a:r>
              <a:r>
                <a:rPr lang="en-US" altLang="zh-CN" sz="3200" b="1"/>
                <a:t>,  </a:t>
              </a:r>
              <a:r>
                <a:rPr lang="zh-CN" altLang="en-US" sz="3200" b="1"/>
                <a:t>且</a:t>
              </a:r>
              <a:r>
                <a:rPr lang="en-US" altLang="zh-CN" sz="3200" b="1" i="1"/>
                <a:t>X</a:t>
              </a:r>
              <a:r>
                <a:rPr lang="zh-CN" altLang="en-US" sz="3200" b="1"/>
                <a:t>与</a:t>
              </a:r>
              <a:r>
                <a:rPr lang="en-US" altLang="zh-CN" sz="3200" b="1" i="1"/>
                <a:t>Y</a:t>
              </a:r>
              <a:r>
                <a:rPr lang="zh-CN" altLang="en-US" sz="3200" b="1"/>
                <a:t>相互    独立，则称变量</a:t>
              </a:r>
              <a:endParaRPr lang="zh-CN" altLang="en-US" sz="3200" b="1"/>
            </a:p>
          </p:txBody>
        </p:sp>
        <p:graphicFrame>
          <p:nvGraphicFramePr>
            <p:cNvPr id="33801" name="Object 6"/>
            <p:cNvGraphicFramePr>
              <a:graphicFrameLocks noChangeAspect="1"/>
            </p:cNvGraphicFramePr>
            <p:nvPr/>
          </p:nvGraphicFramePr>
          <p:xfrm>
            <a:off x="1927" y="1117"/>
            <a:ext cx="1361" cy="7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6" name="Equation" r:id="rId3" imgW="638175" imgH="442595" progId="Equation.DSMT4">
                    <p:embed/>
                  </p:oleObj>
                </mc:Choice>
                <mc:Fallback>
                  <p:oleObj name="Equation" r:id="rId3" imgW="638175" imgH="44259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1117"/>
                          <a:ext cx="1361" cy="7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2" name="Rectangle 7"/>
            <p:cNvSpPr>
              <a:spLocks noChangeArrowheads="1"/>
            </p:cNvSpPr>
            <p:nvPr/>
          </p:nvSpPr>
          <p:spPr bwMode="auto">
            <a:xfrm>
              <a:off x="547" y="1933"/>
              <a:ext cx="416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200" b="1"/>
                <a:t>所服从的分布为</a:t>
              </a:r>
              <a:r>
                <a:rPr lang="zh-CN" altLang="en-US" sz="3200" b="1">
                  <a:solidFill>
                    <a:schemeClr val="accent2"/>
                  </a:solidFill>
                </a:rPr>
                <a:t>自由度为 </a:t>
              </a:r>
              <a:r>
                <a:rPr lang="en-US" altLang="zh-CN" sz="3200" b="1" i="1">
                  <a:solidFill>
                    <a:schemeClr val="accent2"/>
                  </a:solidFill>
                </a:rPr>
                <a:t>n</a:t>
              </a:r>
              <a:r>
                <a:rPr lang="zh-CN" altLang="en-US" sz="3200" b="1">
                  <a:solidFill>
                    <a:schemeClr val="accent2"/>
                  </a:solidFill>
                </a:rPr>
                <a:t>的 </a:t>
              </a:r>
              <a:r>
                <a:rPr lang="en-US" altLang="zh-CN" sz="3200" b="1" i="1">
                  <a:solidFill>
                    <a:schemeClr val="accent2"/>
                  </a:solidFill>
                </a:rPr>
                <a:t>t </a:t>
              </a:r>
              <a:r>
                <a:rPr lang="zh-CN" altLang="en-US" sz="3200" b="1">
                  <a:solidFill>
                    <a:schemeClr val="accent2"/>
                  </a:solidFill>
                </a:rPr>
                <a:t>分布</a:t>
              </a:r>
              <a:r>
                <a:rPr lang="en-US" altLang="zh-CN" sz="3200" b="1"/>
                <a:t>.</a:t>
              </a:r>
              <a:endParaRPr lang="en-US" altLang="zh-CN" sz="3200" b="1"/>
            </a:p>
          </p:txBody>
        </p:sp>
        <p:graphicFrame>
          <p:nvGraphicFramePr>
            <p:cNvPr id="33803" name="Object 8"/>
            <p:cNvGraphicFramePr>
              <a:graphicFrameLocks noChangeAspect="1"/>
            </p:cNvGraphicFramePr>
            <p:nvPr/>
          </p:nvGraphicFramePr>
          <p:xfrm>
            <a:off x="3140" y="527"/>
            <a:ext cx="602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7" name="Equation" r:id="rId5" imgW="390525" imgH="211455" progId="Equation.3">
                    <p:embed/>
                  </p:oleObj>
                </mc:Choice>
                <mc:Fallback>
                  <p:oleObj name="Equation" r:id="rId5" imgW="390525" imgH="21145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0" y="527"/>
                          <a:ext cx="60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4" name="Rectangle 9"/>
            <p:cNvSpPr>
              <a:spLocks noChangeArrowheads="1"/>
            </p:cNvSpPr>
            <p:nvPr/>
          </p:nvSpPr>
          <p:spPr bwMode="auto">
            <a:xfrm>
              <a:off x="4080" y="1347"/>
              <a:ext cx="11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en-US" sz="3200" b="1"/>
            </a:p>
          </p:txBody>
        </p:sp>
      </p:grpSp>
      <p:sp>
        <p:nvSpPr>
          <p:cNvPr id="204810" name="Rectangle 10"/>
          <p:cNvSpPr>
            <a:spLocks noChangeArrowheads="1"/>
          </p:cNvSpPr>
          <p:nvPr/>
        </p:nvSpPr>
        <p:spPr bwMode="auto">
          <a:xfrm>
            <a:off x="609600" y="152400"/>
            <a:ext cx="2232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chemeClr val="accent2"/>
                </a:solidFill>
              </a:rPr>
              <a:t>2</a:t>
            </a:r>
            <a:r>
              <a:rPr lang="zh-CN" altLang="en-US" sz="3200" b="1" i="1">
                <a:solidFill>
                  <a:schemeClr val="accent2"/>
                </a:solidFill>
              </a:rPr>
              <a:t>、</a:t>
            </a:r>
            <a:r>
              <a:rPr lang="en-US" altLang="zh-CN" sz="3200" b="1" i="1">
                <a:solidFill>
                  <a:schemeClr val="accent2"/>
                </a:solidFill>
              </a:rPr>
              <a:t>t </a:t>
            </a:r>
            <a:r>
              <a:rPr lang="zh-CN" altLang="en-US" sz="3200" b="1">
                <a:solidFill>
                  <a:schemeClr val="accent2"/>
                </a:solidFill>
              </a:rPr>
              <a:t>分布</a:t>
            </a:r>
            <a:endParaRPr lang="zh-CN" altLang="en-US" sz="3200" b="1">
              <a:solidFill>
                <a:schemeClr val="accent2"/>
              </a:solidFill>
            </a:endParaRPr>
          </a:p>
        </p:txBody>
      </p:sp>
      <p:graphicFrame>
        <p:nvGraphicFramePr>
          <p:cNvPr id="204811" name="Object 11"/>
          <p:cNvGraphicFramePr>
            <a:graphicFrameLocks noChangeAspect="1"/>
          </p:cNvGraphicFramePr>
          <p:nvPr/>
        </p:nvGraphicFramePr>
        <p:xfrm>
          <a:off x="395288" y="3860800"/>
          <a:ext cx="23050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8" name="Equation" r:id="rId7" imgW="1019175" imgH="201930" progId="Equation.DSMT4">
                  <p:embed/>
                </p:oleObj>
              </mc:Choice>
              <mc:Fallback>
                <p:oleObj name="Equation" r:id="rId7" imgW="1019175" imgH="20193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860800"/>
                        <a:ext cx="23050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2" name="Object 12"/>
          <p:cNvGraphicFramePr>
            <a:graphicFrameLocks noChangeAspect="1"/>
          </p:cNvGraphicFramePr>
          <p:nvPr/>
        </p:nvGraphicFramePr>
        <p:xfrm>
          <a:off x="2771775" y="3933825"/>
          <a:ext cx="5499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9" name="公式" r:id="rId9" imgW="5476875" imgH="414020" progId="Equation.3">
                  <p:embed/>
                </p:oleObj>
              </mc:Choice>
              <mc:Fallback>
                <p:oleObj name="公式" r:id="rId9" imgW="5476875" imgH="4140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933825"/>
                        <a:ext cx="5499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4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0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2" grpId="0" bldLvl="0" animBg="1" autoUpdateAnimBg="0"/>
      <p:bldP spid="204810" grpId="0" bldLvl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826" name="Object 2"/>
          <p:cNvGraphicFramePr>
            <a:graphicFrameLocks noChangeAspect="1"/>
          </p:cNvGraphicFramePr>
          <p:nvPr/>
        </p:nvGraphicFramePr>
        <p:xfrm>
          <a:off x="884238" y="452438"/>
          <a:ext cx="2082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4" name="公式" r:id="rId1" imgW="2066925" imgH="404495" progId="Equation.3">
                  <p:embed/>
                </p:oleObj>
              </mc:Choice>
              <mc:Fallback>
                <p:oleObj name="公式" r:id="rId1" imgW="2066925" imgH="4044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452438"/>
                        <a:ext cx="2082800" cy="41910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27" name="Object 3"/>
          <p:cNvGraphicFramePr>
            <a:graphicFrameLocks noChangeAspect="1"/>
          </p:cNvGraphicFramePr>
          <p:nvPr/>
        </p:nvGraphicFramePr>
        <p:xfrm>
          <a:off x="590550" y="1320800"/>
          <a:ext cx="7675563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5" name="Equation" r:id="rId3" imgW="82296000" imgH="10972800" progId="Equation.DSMT4">
                  <p:embed/>
                </p:oleObj>
              </mc:Choice>
              <mc:Fallback>
                <p:oleObj name="Equation" r:id="rId3" imgW="82296000" imgH="10972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1320800"/>
                        <a:ext cx="7675563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28" name="Object 4"/>
          <p:cNvGraphicFramePr>
            <a:graphicFrameLocks noChangeAspect="1"/>
          </p:cNvGraphicFramePr>
          <p:nvPr/>
        </p:nvGraphicFramePr>
        <p:xfrm>
          <a:off x="590550" y="2683005"/>
          <a:ext cx="7451319" cy="1862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6" name="Equation" r:id="rId5" imgW="83820000" imgH="21336000" progId="Equation.DSMT4">
                  <p:embed/>
                </p:oleObj>
              </mc:Choice>
              <mc:Fallback>
                <p:oleObj name="Equation" r:id="rId5" imgW="83820000" imgH="21336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2683005"/>
                        <a:ext cx="7451319" cy="1862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29" name="Object 5"/>
          <p:cNvGraphicFramePr>
            <a:graphicFrameLocks noChangeAspect="1"/>
          </p:cNvGraphicFramePr>
          <p:nvPr/>
        </p:nvGraphicFramePr>
        <p:xfrm>
          <a:off x="1116013" y="4846638"/>
          <a:ext cx="5048250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7" name="Equation" r:id="rId7" imgW="1857375" imgH="317500" progId="Equation.DSMT4">
                  <p:embed/>
                </p:oleObj>
              </mc:Choice>
              <mc:Fallback>
                <p:oleObj name="Equation" r:id="rId7" imgW="1857375" imgH="317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846638"/>
                        <a:ext cx="5048250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Text Box 2"/>
          <p:cNvSpPr txBox="1">
            <a:spLocks noChangeArrowheads="1"/>
          </p:cNvSpPr>
          <p:nvPr/>
        </p:nvSpPr>
        <p:spPr bwMode="auto">
          <a:xfrm>
            <a:off x="955675" y="0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3 </a:t>
            </a:r>
            <a:r>
              <a:rPr lang="zh-CN" altLang="en-US" sz="2800" b="1">
                <a:ea typeface="楷体_GB2312" pitchFamily="49" charset="-122"/>
              </a:rPr>
              <a:t>、 </a:t>
            </a:r>
            <a:r>
              <a:rPr lang="en-US" altLang="zh-CN" sz="2800" b="1">
                <a:ea typeface="楷体_GB2312" pitchFamily="49" charset="-122"/>
              </a:rPr>
              <a:t>t </a:t>
            </a:r>
            <a:r>
              <a:rPr lang="zh-CN" altLang="en-US" sz="2800" b="1">
                <a:ea typeface="楷体_GB2312" pitchFamily="49" charset="-122"/>
              </a:rPr>
              <a:t>分布的分位点</a:t>
            </a:r>
            <a:endParaRPr lang="zh-CN" altLang="en-US" sz="2800" b="1">
              <a:ea typeface="楷体_GB2312" pitchFamily="49" charset="-122"/>
            </a:endParaRPr>
          </a:p>
        </p:txBody>
      </p:sp>
      <p:sp>
        <p:nvSpPr>
          <p:cNvPr id="208899" name="Text Box 3"/>
          <p:cNvSpPr txBox="1">
            <a:spLocks noChangeArrowheads="1"/>
          </p:cNvSpPr>
          <p:nvPr/>
        </p:nvSpPr>
        <p:spPr bwMode="auto">
          <a:xfrm>
            <a:off x="955675" y="609600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     对于给定的正数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208900" name="Object 4"/>
          <p:cNvGraphicFramePr>
            <a:graphicFrameLocks noChangeAspect="1"/>
          </p:cNvGraphicFramePr>
          <p:nvPr/>
        </p:nvGraphicFramePr>
        <p:xfrm>
          <a:off x="4079875" y="596900"/>
          <a:ext cx="20574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3" name="Equation" r:id="rId1" imgW="828675" imgH="182880" progId="Equation.3">
                  <p:embed/>
                </p:oleObj>
              </mc:Choice>
              <mc:Fallback>
                <p:oleObj name="Equation" r:id="rId1" imgW="828675" imgH="1828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596900"/>
                        <a:ext cx="2057400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1" name="Text Box 5"/>
          <p:cNvSpPr txBox="1">
            <a:spLocks noChangeArrowheads="1"/>
          </p:cNvSpPr>
          <p:nvPr/>
        </p:nvSpPr>
        <p:spPr bwMode="auto">
          <a:xfrm>
            <a:off x="6289675" y="53340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称满足条件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208902" name="Object 6"/>
          <p:cNvGraphicFramePr>
            <a:graphicFrameLocks noChangeAspect="1"/>
          </p:cNvGraphicFramePr>
          <p:nvPr/>
        </p:nvGraphicFramePr>
        <p:xfrm>
          <a:off x="1431925" y="922338"/>
          <a:ext cx="5551488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4" name="Equation" r:id="rId3" imgW="1876425" imgH="471805" progId="Equation.DSMT4">
                  <p:embed/>
                </p:oleObj>
              </mc:Choice>
              <mc:Fallback>
                <p:oleObj name="Equation" r:id="rId3" imgW="1876425" imgH="47180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922338"/>
                        <a:ext cx="5551488" cy="1179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3" name="Rectangle 7"/>
          <p:cNvSpPr>
            <a:spLocks noChangeArrowheads="1"/>
          </p:cNvSpPr>
          <p:nvPr/>
        </p:nvSpPr>
        <p:spPr bwMode="auto">
          <a:xfrm>
            <a:off x="650875" y="2111375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的点</a:t>
            </a:r>
            <a:endParaRPr lang="zh-CN" altLang="en-US" sz="2800" b="1">
              <a:ea typeface="楷体_GB2312" pitchFamily="49" charset="-122"/>
            </a:endParaRPr>
          </a:p>
        </p:txBody>
      </p:sp>
      <p:sp>
        <p:nvSpPr>
          <p:cNvPr id="208904" name="Text Box 8"/>
          <p:cNvSpPr txBox="1">
            <a:spLocks noChangeArrowheads="1"/>
          </p:cNvSpPr>
          <p:nvPr/>
        </p:nvSpPr>
        <p:spPr bwMode="auto">
          <a:xfrm>
            <a:off x="2479675" y="205263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为</a:t>
            </a:r>
            <a:endParaRPr lang="zh-CN" altLang="en-US" sz="2800" b="1">
              <a:ea typeface="楷体_GB2312" pitchFamily="49" charset="-122"/>
            </a:endParaRPr>
          </a:p>
        </p:txBody>
      </p:sp>
      <p:sp>
        <p:nvSpPr>
          <p:cNvPr id="208905" name="Rectangle 9"/>
          <p:cNvSpPr>
            <a:spLocks noChangeArrowheads="1"/>
          </p:cNvSpPr>
          <p:nvPr/>
        </p:nvSpPr>
        <p:spPr bwMode="auto">
          <a:xfrm>
            <a:off x="6210300" y="2036763"/>
            <a:ext cx="1790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分位点”。</a:t>
            </a:r>
            <a:endParaRPr lang="zh-CN" altLang="en-US" sz="2800" b="1">
              <a:ea typeface="楷体_GB2312" pitchFamily="49" charset="-122"/>
            </a:endParaRPr>
          </a:p>
        </p:txBody>
      </p:sp>
      <p:sp>
        <p:nvSpPr>
          <p:cNvPr id="208906" name="Rectangle 10"/>
          <p:cNvSpPr>
            <a:spLocks noChangeArrowheads="1"/>
          </p:cNvSpPr>
          <p:nvPr/>
        </p:nvSpPr>
        <p:spPr bwMode="auto">
          <a:xfrm>
            <a:off x="3775075" y="2079625"/>
            <a:ext cx="1790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分布的“上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208907" name="Object 11"/>
          <p:cNvGraphicFramePr>
            <a:graphicFrameLocks noChangeAspect="1"/>
          </p:cNvGraphicFramePr>
          <p:nvPr/>
        </p:nvGraphicFramePr>
        <p:xfrm>
          <a:off x="3013075" y="2111375"/>
          <a:ext cx="7620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5" name="Equation" r:id="rId5" imgW="257175" imgH="182880" progId="Equation.3">
                  <p:embed/>
                </p:oleObj>
              </mc:Choice>
              <mc:Fallback>
                <p:oleObj name="Equation" r:id="rId5" imgW="257175" imgH="1828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075" y="2111375"/>
                        <a:ext cx="7620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08" name="Object 12"/>
          <p:cNvGraphicFramePr>
            <a:graphicFrameLocks noChangeAspect="1"/>
          </p:cNvGraphicFramePr>
          <p:nvPr/>
        </p:nvGraphicFramePr>
        <p:xfrm>
          <a:off x="5718175" y="2166938"/>
          <a:ext cx="45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6" name="公式" r:id="rId7" imgW="133350" imgH="125095" progId="Equation.3">
                  <p:embed/>
                </p:oleObj>
              </mc:Choice>
              <mc:Fallback>
                <p:oleObj name="公式" r:id="rId7" imgW="133350" imgH="12509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8175" y="2166938"/>
                        <a:ext cx="457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09" name="Object 13"/>
          <p:cNvGraphicFramePr>
            <a:graphicFrameLocks noChangeAspect="1"/>
          </p:cNvGraphicFramePr>
          <p:nvPr/>
        </p:nvGraphicFramePr>
        <p:xfrm>
          <a:off x="1565275" y="2111375"/>
          <a:ext cx="9144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7" name="Equation" r:id="rId9" imgW="333375" imgH="211455" progId="Equation.3">
                  <p:embed/>
                </p:oleObj>
              </mc:Choice>
              <mc:Fallback>
                <p:oleObj name="Equation" r:id="rId9" imgW="333375" imgH="21145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2111375"/>
                        <a:ext cx="91440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/>
          <p:nvPr/>
        </p:nvGrpSpPr>
        <p:grpSpPr bwMode="auto">
          <a:xfrm>
            <a:off x="650875" y="2819400"/>
            <a:ext cx="2535238" cy="1536700"/>
            <a:chOff x="1130" y="1728"/>
            <a:chExt cx="2662" cy="1208"/>
          </a:xfrm>
        </p:grpSpPr>
        <p:sp>
          <p:nvSpPr>
            <p:cNvPr id="35891" name="Line 15"/>
            <p:cNvSpPr>
              <a:spLocks noChangeShapeType="1"/>
            </p:cNvSpPr>
            <p:nvPr/>
          </p:nvSpPr>
          <p:spPr bwMode="auto">
            <a:xfrm>
              <a:off x="1152" y="2496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2" name="Line 16"/>
            <p:cNvSpPr>
              <a:spLocks noChangeShapeType="1"/>
            </p:cNvSpPr>
            <p:nvPr/>
          </p:nvSpPr>
          <p:spPr bwMode="auto">
            <a:xfrm>
              <a:off x="2160" y="172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3" name="Line 17"/>
            <p:cNvSpPr>
              <a:spLocks noChangeShapeType="1"/>
            </p:cNvSpPr>
            <p:nvPr/>
          </p:nvSpPr>
          <p:spPr bwMode="auto">
            <a:xfrm>
              <a:off x="2640" y="220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894" name="Group 18"/>
            <p:cNvGrpSpPr/>
            <p:nvPr/>
          </p:nvGrpSpPr>
          <p:grpSpPr bwMode="auto">
            <a:xfrm>
              <a:off x="2640" y="2256"/>
              <a:ext cx="336" cy="240"/>
              <a:chOff x="3216" y="3120"/>
              <a:chExt cx="336" cy="240"/>
            </a:xfrm>
          </p:grpSpPr>
          <p:sp>
            <p:nvSpPr>
              <p:cNvPr id="35901" name="Line 19"/>
              <p:cNvSpPr>
                <a:spLocks noChangeShapeType="1"/>
              </p:cNvSpPr>
              <p:nvPr/>
            </p:nvSpPr>
            <p:spPr bwMode="auto">
              <a:xfrm flipH="1">
                <a:off x="3216" y="3120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2" name="Line 20"/>
              <p:cNvSpPr>
                <a:spLocks noChangeShapeType="1"/>
              </p:cNvSpPr>
              <p:nvPr/>
            </p:nvSpPr>
            <p:spPr bwMode="auto">
              <a:xfrm flipH="1">
                <a:off x="3216" y="3168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3" name="Line 21"/>
              <p:cNvSpPr>
                <a:spLocks noChangeShapeType="1"/>
              </p:cNvSpPr>
              <p:nvPr/>
            </p:nvSpPr>
            <p:spPr bwMode="auto">
              <a:xfrm flipH="1">
                <a:off x="3312" y="3216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4" name="Line 22"/>
              <p:cNvSpPr>
                <a:spLocks noChangeShapeType="1"/>
              </p:cNvSpPr>
              <p:nvPr/>
            </p:nvSpPr>
            <p:spPr bwMode="auto">
              <a:xfrm flipH="1">
                <a:off x="3456" y="3264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5895" name="Object 23"/>
            <p:cNvGraphicFramePr>
              <a:graphicFrameLocks noChangeAspect="1"/>
            </p:cNvGraphicFramePr>
            <p:nvPr/>
          </p:nvGraphicFramePr>
          <p:xfrm>
            <a:off x="2317" y="2604"/>
            <a:ext cx="515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98" name="Equation" r:id="rId11" imgW="333375" imgH="211455" progId="Equation.3">
                    <p:embed/>
                  </p:oleObj>
                </mc:Choice>
                <mc:Fallback>
                  <p:oleObj name="Equation" r:id="rId11" imgW="333375" imgH="21145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7" y="2604"/>
                          <a:ext cx="515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96" name="Line 24"/>
            <p:cNvSpPr>
              <a:spLocks noChangeShapeType="1"/>
            </p:cNvSpPr>
            <p:nvPr/>
          </p:nvSpPr>
          <p:spPr bwMode="auto">
            <a:xfrm flipH="1">
              <a:off x="2880" y="1968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5897" name="Object 25"/>
            <p:cNvGraphicFramePr>
              <a:graphicFrameLocks noChangeAspect="1"/>
            </p:cNvGraphicFramePr>
            <p:nvPr/>
          </p:nvGraphicFramePr>
          <p:xfrm>
            <a:off x="3408" y="1812"/>
            <a:ext cx="28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99" name="Equation" r:id="rId13" imgW="133350" imgH="125095" progId="Equation.3">
                    <p:embed/>
                  </p:oleObj>
                </mc:Choice>
                <mc:Fallback>
                  <p:oleObj name="Equation" r:id="rId13" imgW="133350" imgH="125095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1812"/>
                          <a:ext cx="288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898" name="Group 26"/>
            <p:cNvGrpSpPr/>
            <p:nvPr/>
          </p:nvGrpSpPr>
          <p:grpSpPr bwMode="auto">
            <a:xfrm>
              <a:off x="1130" y="1853"/>
              <a:ext cx="2059" cy="547"/>
              <a:chOff x="1706" y="2717"/>
              <a:chExt cx="2059" cy="547"/>
            </a:xfrm>
          </p:grpSpPr>
          <p:sp>
            <p:nvSpPr>
              <p:cNvPr id="35899" name="Freeform 27"/>
              <p:cNvSpPr/>
              <p:nvPr/>
            </p:nvSpPr>
            <p:spPr bwMode="auto">
              <a:xfrm>
                <a:off x="2748" y="2717"/>
                <a:ext cx="1017" cy="547"/>
              </a:xfrm>
              <a:custGeom>
                <a:avLst/>
                <a:gdLst>
                  <a:gd name="T0" fmla="*/ 1017 w 1017"/>
                  <a:gd name="T1" fmla="*/ 540 h 547"/>
                  <a:gd name="T2" fmla="*/ 675 w 1017"/>
                  <a:gd name="T3" fmla="*/ 469 h 547"/>
                  <a:gd name="T4" fmla="*/ 164 w 1017"/>
                  <a:gd name="T5" fmla="*/ 75 h 547"/>
                  <a:gd name="T6" fmla="*/ 0 w 1017"/>
                  <a:gd name="T7" fmla="*/ 19 h 5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7"/>
                  <a:gd name="T13" fmla="*/ 0 h 547"/>
                  <a:gd name="T14" fmla="*/ 1017 w 1017"/>
                  <a:gd name="T15" fmla="*/ 547 h 5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7" h="547">
                    <a:moveTo>
                      <a:pt x="1017" y="540"/>
                    </a:moveTo>
                    <a:cubicBezTo>
                      <a:pt x="917" y="543"/>
                      <a:pt x="817" y="547"/>
                      <a:pt x="675" y="469"/>
                    </a:cubicBezTo>
                    <a:cubicBezTo>
                      <a:pt x="532" y="392"/>
                      <a:pt x="276" y="150"/>
                      <a:pt x="164" y="75"/>
                    </a:cubicBezTo>
                    <a:cubicBezTo>
                      <a:pt x="52" y="0"/>
                      <a:pt x="34" y="31"/>
                      <a:pt x="0" y="19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00" name="Freeform 28"/>
              <p:cNvSpPr/>
              <p:nvPr/>
            </p:nvSpPr>
            <p:spPr bwMode="auto">
              <a:xfrm>
                <a:off x="1706" y="2719"/>
                <a:ext cx="1054" cy="545"/>
              </a:xfrm>
              <a:custGeom>
                <a:avLst/>
                <a:gdLst>
                  <a:gd name="T0" fmla="*/ 0 w 1054"/>
                  <a:gd name="T1" fmla="*/ 538 h 545"/>
                  <a:gd name="T2" fmla="*/ 342 w 1054"/>
                  <a:gd name="T3" fmla="*/ 467 h 545"/>
                  <a:gd name="T4" fmla="*/ 853 w 1054"/>
                  <a:gd name="T5" fmla="*/ 73 h 545"/>
                  <a:gd name="T6" fmla="*/ 1054 w 1054"/>
                  <a:gd name="T7" fmla="*/ 29 h 5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4"/>
                  <a:gd name="T13" fmla="*/ 0 h 545"/>
                  <a:gd name="T14" fmla="*/ 1054 w 1054"/>
                  <a:gd name="T15" fmla="*/ 545 h 5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4" h="545">
                    <a:moveTo>
                      <a:pt x="0" y="538"/>
                    </a:moveTo>
                    <a:cubicBezTo>
                      <a:pt x="100" y="541"/>
                      <a:pt x="200" y="545"/>
                      <a:pt x="342" y="467"/>
                    </a:cubicBezTo>
                    <a:cubicBezTo>
                      <a:pt x="485" y="390"/>
                      <a:pt x="734" y="146"/>
                      <a:pt x="853" y="73"/>
                    </a:cubicBezTo>
                    <a:cubicBezTo>
                      <a:pt x="972" y="0"/>
                      <a:pt x="1012" y="38"/>
                      <a:pt x="1054" y="29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29"/>
          <p:cNvGrpSpPr/>
          <p:nvPr/>
        </p:nvGrpSpPr>
        <p:grpSpPr bwMode="auto">
          <a:xfrm>
            <a:off x="3622675" y="2743200"/>
            <a:ext cx="2454275" cy="1489075"/>
            <a:chOff x="2124" y="1824"/>
            <a:chExt cx="1546" cy="938"/>
          </a:xfrm>
        </p:grpSpPr>
        <p:sp>
          <p:nvSpPr>
            <p:cNvPr id="35879" name="Line 30"/>
            <p:cNvSpPr>
              <a:spLocks noChangeShapeType="1"/>
            </p:cNvSpPr>
            <p:nvPr/>
          </p:nvSpPr>
          <p:spPr bwMode="auto">
            <a:xfrm>
              <a:off x="2172" y="2439"/>
              <a:ext cx="1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0" name="Line 31"/>
            <p:cNvSpPr>
              <a:spLocks noChangeShapeType="1"/>
            </p:cNvSpPr>
            <p:nvPr/>
          </p:nvSpPr>
          <p:spPr bwMode="auto">
            <a:xfrm>
              <a:off x="2744" y="1824"/>
              <a:ext cx="0" cy="6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1" name="Line 32"/>
            <p:cNvSpPr>
              <a:spLocks noChangeShapeType="1"/>
            </p:cNvSpPr>
            <p:nvPr/>
          </p:nvSpPr>
          <p:spPr bwMode="auto">
            <a:xfrm>
              <a:off x="2448" y="2208"/>
              <a:ext cx="0" cy="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5882" name="Object 33"/>
            <p:cNvGraphicFramePr>
              <a:graphicFrameLocks noChangeAspect="1"/>
            </p:cNvGraphicFramePr>
            <p:nvPr/>
          </p:nvGraphicFramePr>
          <p:xfrm>
            <a:off x="2124" y="2496"/>
            <a:ext cx="365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00" name="Equation" r:id="rId15" imgW="428625" imgH="211455" progId="Equation.3">
                    <p:embed/>
                  </p:oleObj>
                </mc:Choice>
                <mc:Fallback>
                  <p:oleObj name="Equation" r:id="rId15" imgW="428625" imgH="211455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4" y="2496"/>
                          <a:ext cx="365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3" name="Object 34"/>
            <p:cNvGraphicFramePr>
              <a:graphicFrameLocks noChangeAspect="1"/>
            </p:cNvGraphicFramePr>
            <p:nvPr/>
          </p:nvGraphicFramePr>
          <p:xfrm>
            <a:off x="2160" y="1968"/>
            <a:ext cx="164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01" name="Equation" r:id="rId17" imgW="133350" imgH="125095" progId="Equation.3">
                    <p:embed/>
                  </p:oleObj>
                </mc:Choice>
                <mc:Fallback>
                  <p:oleObj name="Equation" r:id="rId17" imgW="133350" imgH="125095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1968"/>
                          <a:ext cx="164" cy="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884" name="Group 35"/>
            <p:cNvGrpSpPr/>
            <p:nvPr/>
          </p:nvGrpSpPr>
          <p:grpSpPr bwMode="auto">
            <a:xfrm>
              <a:off x="2160" y="1924"/>
              <a:ext cx="1168" cy="438"/>
              <a:chOff x="1706" y="2717"/>
              <a:chExt cx="2059" cy="547"/>
            </a:xfrm>
          </p:grpSpPr>
          <p:sp>
            <p:nvSpPr>
              <p:cNvPr id="35889" name="Freeform 36"/>
              <p:cNvSpPr/>
              <p:nvPr/>
            </p:nvSpPr>
            <p:spPr bwMode="auto">
              <a:xfrm>
                <a:off x="2748" y="2717"/>
                <a:ext cx="1017" cy="547"/>
              </a:xfrm>
              <a:custGeom>
                <a:avLst/>
                <a:gdLst>
                  <a:gd name="T0" fmla="*/ 1017 w 1017"/>
                  <a:gd name="T1" fmla="*/ 540 h 547"/>
                  <a:gd name="T2" fmla="*/ 675 w 1017"/>
                  <a:gd name="T3" fmla="*/ 469 h 547"/>
                  <a:gd name="T4" fmla="*/ 164 w 1017"/>
                  <a:gd name="T5" fmla="*/ 75 h 547"/>
                  <a:gd name="T6" fmla="*/ 0 w 1017"/>
                  <a:gd name="T7" fmla="*/ 19 h 5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7"/>
                  <a:gd name="T13" fmla="*/ 0 h 547"/>
                  <a:gd name="T14" fmla="*/ 1017 w 1017"/>
                  <a:gd name="T15" fmla="*/ 547 h 5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7" h="547">
                    <a:moveTo>
                      <a:pt x="1017" y="540"/>
                    </a:moveTo>
                    <a:cubicBezTo>
                      <a:pt x="917" y="543"/>
                      <a:pt x="817" y="547"/>
                      <a:pt x="675" y="469"/>
                    </a:cubicBezTo>
                    <a:cubicBezTo>
                      <a:pt x="532" y="392"/>
                      <a:pt x="276" y="150"/>
                      <a:pt x="164" y="75"/>
                    </a:cubicBezTo>
                    <a:cubicBezTo>
                      <a:pt x="52" y="0"/>
                      <a:pt x="34" y="31"/>
                      <a:pt x="0" y="19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90" name="Freeform 37"/>
              <p:cNvSpPr/>
              <p:nvPr/>
            </p:nvSpPr>
            <p:spPr bwMode="auto">
              <a:xfrm>
                <a:off x="1706" y="2719"/>
                <a:ext cx="1054" cy="545"/>
              </a:xfrm>
              <a:custGeom>
                <a:avLst/>
                <a:gdLst>
                  <a:gd name="T0" fmla="*/ 0 w 1054"/>
                  <a:gd name="T1" fmla="*/ 538 h 545"/>
                  <a:gd name="T2" fmla="*/ 342 w 1054"/>
                  <a:gd name="T3" fmla="*/ 467 h 545"/>
                  <a:gd name="T4" fmla="*/ 853 w 1054"/>
                  <a:gd name="T5" fmla="*/ 73 h 545"/>
                  <a:gd name="T6" fmla="*/ 1054 w 1054"/>
                  <a:gd name="T7" fmla="*/ 29 h 5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4"/>
                  <a:gd name="T13" fmla="*/ 0 h 545"/>
                  <a:gd name="T14" fmla="*/ 1054 w 1054"/>
                  <a:gd name="T15" fmla="*/ 545 h 5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4" h="545">
                    <a:moveTo>
                      <a:pt x="0" y="538"/>
                    </a:moveTo>
                    <a:cubicBezTo>
                      <a:pt x="100" y="541"/>
                      <a:pt x="200" y="545"/>
                      <a:pt x="342" y="467"/>
                    </a:cubicBezTo>
                    <a:cubicBezTo>
                      <a:pt x="485" y="390"/>
                      <a:pt x="734" y="146"/>
                      <a:pt x="853" y="73"/>
                    </a:cubicBezTo>
                    <a:cubicBezTo>
                      <a:pt x="972" y="0"/>
                      <a:pt x="1012" y="38"/>
                      <a:pt x="1054" y="29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885" name="Line 38"/>
            <p:cNvSpPr>
              <a:spLocks noChangeShapeType="1"/>
            </p:cNvSpPr>
            <p:nvPr/>
          </p:nvSpPr>
          <p:spPr bwMode="auto">
            <a:xfrm>
              <a:off x="2256" y="2160"/>
              <a:ext cx="96" cy="192"/>
            </a:xfrm>
            <a:prstGeom prst="line">
              <a:avLst/>
            </a:prstGeom>
            <a:noFill/>
            <a:ln w="28575">
              <a:solidFill>
                <a:srgbClr val="00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6" name="Line 39"/>
            <p:cNvSpPr>
              <a:spLocks noChangeShapeType="1"/>
            </p:cNvSpPr>
            <p:nvPr/>
          </p:nvSpPr>
          <p:spPr bwMode="auto">
            <a:xfrm flipH="1">
              <a:off x="2304" y="2256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7" name="Line 40"/>
            <p:cNvSpPr>
              <a:spLocks noChangeShapeType="1"/>
            </p:cNvSpPr>
            <p:nvPr/>
          </p:nvSpPr>
          <p:spPr bwMode="auto">
            <a:xfrm flipH="1">
              <a:off x="2256" y="2304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8" name="Line 41"/>
            <p:cNvSpPr>
              <a:spLocks noChangeShapeType="1"/>
            </p:cNvSpPr>
            <p:nvPr/>
          </p:nvSpPr>
          <p:spPr bwMode="auto">
            <a:xfrm flipH="1">
              <a:off x="2400" y="225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8938" name="Text Box 42"/>
          <p:cNvSpPr txBox="1">
            <a:spLocks noChangeArrowheads="1"/>
          </p:cNvSpPr>
          <p:nvPr/>
        </p:nvSpPr>
        <p:spPr bwMode="auto">
          <a:xfrm>
            <a:off x="574675" y="51816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例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208939" name="Object 43"/>
          <p:cNvGraphicFramePr>
            <a:graphicFrameLocks noChangeAspect="1"/>
          </p:cNvGraphicFramePr>
          <p:nvPr/>
        </p:nvGraphicFramePr>
        <p:xfrm>
          <a:off x="1870075" y="5257800"/>
          <a:ext cx="47244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02" name="Equation" r:id="rId19" imgW="2228850" imgH="211455" progId="Equation.3">
                  <p:embed/>
                </p:oleObj>
              </mc:Choice>
              <mc:Fallback>
                <p:oleObj name="Equation" r:id="rId19" imgW="2228850" imgH="211455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075" y="5257800"/>
                        <a:ext cx="47244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44"/>
          <p:cNvGrpSpPr/>
          <p:nvPr/>
        </p:nvGrpSpPr>
        <p:grpSpPr bwMode="auto">
          <a:xfrm>
            <a:off x="6670675" y="2590800"/>
            <a:ext cx="2473325" cy="1843088"/>
            <a:chOff x="4032" y="1830"/>
            <a:chExt cx="1558" cy="1161"/>
          </a:xfrm>
        </p:grpSpPr>
        <p:sp>
          <p:nvSpPr>
            <p:cNvPr id="35862" name="Line 45"/>
            <p:cNvSpPr>
              <a:spLocks noChangeShapeType="1"/>
            </p:cNvSpPr>
            <p:nvPr/>
          </p:nvSpPr>
          <p:spPr bwMode="auto">
            <a:xfrm>
              <a:off x="4092" y="2535"/>
              <a:ext cx="1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3" name="Line 46"/>
            <p:cNvSpPr>
              <a:spLocks noChangeShapeType="1"/>
            </p:cNvSpPr>
            <p:nvPr/>
          </p:nvSpPr>
          <p:spPr bwMode="auto">
            <a:xfrm>
              <a:off x="4664" y="1920"/>
              <a:ext cx="0" cy="6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4" name="Line 47"/>
            <p:cNvSpPr>
              <a:spLocks noChangeShapeType="1"/>
            </p:cNvSpPr>
            <p:nvPr/>
          </p:nvSpPr>
          <p:spPr bwMode="auto">
            <a:xfrm flipH="1">
              <a:off x="5136" y="2208"/>
              <a:ext cx="336" cy="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5" name="Line 48"/>
            <p:cNvSpPr>
              <a:spLocks noChangeShapeType="1"/>
            </p:cNvSpPr>
            <p:nvPr/>
          </p:nvSpPr>
          <p:spPr bwMode="auto">
            <a:xfrm flipH="1">
              <a:off x="5088" y="2400"/>
              <a:ext cx="81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6" name="Line 49"/>
            <p:cNvSpPr>
              <a:spLocks noChangeShapeType="1"/>
            </p:cNvSpPr>
            <p:nvPr/>
          </p:nvSpPr>
          <p:spPr bwMode="auto">
            <a:xfrm flipH="1">
              <a:off x="5184" y="2448"/>
              <a:ext cx="8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7" name="Line 50"/>
            <p:cNvSpPr>
              <a:spLocks noChangeShapeType="1"/>
            </p:cNvSpPr>
            <p:nvPr/>
          </p:nvSpPr>
          <p:spPr bwMode="auto">
            <a:xfrm flipH="1">
              <a:off x="5272" y="2467"/>
              <a:ext cx="54" cy="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5868" name="Object 51"/>
            <p:cNvGraphicFramePr>
              <a:graphicFrameLocks noChangeAspect="1"/>
            </p:cNvGraphicFramePr>
            <p:nvPr/>
          </p:nvGraphicFramePr>
          <p:xfrm>
            <a:off x="5040" y="2592"/>
            <a:ext cx="303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03" name="Equation" r:id="rId21" imgW="352425" imgH="327025" progId="Equation.3">
                    <p:embed/>
                  </p:oleObj>
                </mc:Choice>
                <mc:Fallback>
                  <p:oleObj name="Equation" r:id="rId21" imgW="352425" imgH="327025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2592"/>
                          <a:ext cx="303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9" name="Object 52"/>
            <p:cNvGraphicFramePr>
              <a:graphicFrameLocks noChangeAspect="1"/>
            </p:cNvGraphicFramePr>
            <p:nvPr/>
          </p:nvGraphicFramePr>
          <p:xfrm>
            <a:off x="5358" y="1830"/>
            <a:ext cx="192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04" name="Equation" r:id="rId23" imgW="161925" imgH="375285" progId="Equation.3">
                    <p:embed/>
                  </p:oleObj>
                </mc:Choice>
                <mc:Fallback>
                  <p:oleObj name="Equation" r:id="rId23" imgW="161925" imgH="375285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8" y="1830"/>
                          <a:ext cx="192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5870" name="Group 53"/>
            <p:cNvGrpSpPr/>
            <p:nvPr/>
          </p:nvGrpSpPr>
          <p:grpSpPr bwMode="auto">
            <a:xfrm>
              <a:off x="4080" y="2016"/>
              <a:ext cx="1200" cy="384"/>
              <a:chOff x="1706" y="2717"/>
              <a:chExt cx="2059" cy="547"/>
            </a:xfrm>
          </p:grpSpPr>
          <p:sp>
            <p:nvSpPr>
              <p:cNvPr id="35877" name="Freeform 54"/>
              <p:cNvSpPr/>
              <p:nvPr/>
            </p:nvSpPr>
            <p:spPr bwMode="auto">
              <a:xfrm>
                <a:off x="2748" y="2717"/>
                <a:ext cx="1017" cy="547"/>
              </a:xfrm>
              <a:custGeom>
                <a:avLst/>
                <a:gdLst>
                  <a:gd name="T0" fmla="*/ 1017 w 1017"/>
                  <a:gd name="T1" fmla="*/ 540 h 547"/>
                  <a:gd name="T2" fmla="*/ 675 w 1017"/>
                  <a:gd name="T3" fmla="*/ 469 h 547"/>
                  <a:gd name="T4" fmla="*/ 164 w 1017"/>
                  <a:gd name="T5" fmla="*/ 75 h 547"/>
                  <a:gd name="T6" fmla="*/ 0 w 1017"/>
                  <a:gd name="T7" fmla="*/ 19 h 5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17"/>
                  <a:gd name="T13" fmla="*/ 0 h 547"/>
                  <a:gd name="T14" fmla="*/ 1017 w 1017"/>
                  <a:gd name="T15" fmla="*/ 547 h 5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17" h="547">
                    <a:moveTo>
                      <a:pt x="1017" y="540"/>
                    </a:moveTo>
                    <a:cubicBezTo>
                      <a:pt x="917" y="543"/>
                      <a:pt x="817" y="547"/>
                      <a:pt x="675" y="469"/>
                    </a:cubicBezTo>
                    <a:cubicBezTo>
                      <a:pt x="532" y="392"/>
                      <a:pt x="276" y="150"/>
                      <a:pt x="164" y="75"/>
                    </a:cubicBezTo>
                    <a:cubicBezTo>
                      <a:pt x="52" y="0"/>
                      <a:pt x="34" y="31"/>
                      <a:pt x="0" y="19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78" name="Freeform 55"/>
              <p:cNvSpPr/>
              <p:nvPr/>
            </p:nvSpPr>
            <p:spPr bwMode="auto">
              <a:xfrm>
                <a:off x="1706" y="2719"/>
                <a:ext cx="1054" cy="545"/>
              </a:xfrm>
              <a:custGeom>
                <a:avLst/>
                <a:gdLst>
                  <a:gd name="T0" fmla="*/ 0 w 1054"/>
                  <a:gd name="T1" fmla="*/ 538 h 545"/>
                  <a:gd name="T2" fmla="*/ 342 w 1054"/>
                  <a:gd name="T3" fmla="*/ 467 h 545"/>
                  <a:gd name="T4" fmla="*/ 853 w 1054"/>
                  <a:gd name="T5" fmla="*/ 73 h 545"/>
                  <a:gd name="T6" fmla="*/ 1054 w 1054"/>
                  <a:gd name="T7" fmla="*/ 29 h 5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4"/>
                  <a:gd name="T13" fmla="*/ 0 h 545"/>
                  <a:gd name="T14" fmla="*/ 1054 w 1054"/>
                  <a:gd name="T15" fmla="*/ 545 h 5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4" h="545">
                    <a:moveTo>
                      <a:pt x="0" y="538"/>
                    </a:moveTo>
                    <a:cubicBezTo>
                      <a:pt x="100" y="541"/>
                      <a:pt x="200" y="545"/>
                      <a:pt x="342" y="467"/>
                    </a:cubicBezTo>
                    <a:cubicBezTo>
                      <a:pt x="485" y="390"/>
                      <a:pt x="734" y="146"/>
                      <a:pt x="853" y="73"/>
                    </a:cubicBezTo>
                    <a:cubicBezTo>
                      <a:pt x="972" y="0"/>
                      <a:pt x="1012" y="38"/>
                      <a:pt x="1054" y="29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871" name="Line 56"/>
            <p:cNvSpPr>
              <a:spLocks noChangeShapeType="1"/>
            </p:cNvSpPr>
            <p:nvPr/>
          </p:nvSpPr>
          <p:spPr bwMode="auto">
            <a:xfrm>
              <a:off x="4128" y="2400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2" name="Line 57"/>
            <p:cNvSpPr>
              <a:spLocks noChangeShapeType="1"/>
            </p:cNvSpPr>
            <p:nvPr/>
          </p:nvSpPr>
          <p:spPr bwMode="auto">
            <a:xfrm>
              <a:off x="5040" y="23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3" name="Line 58"/>
            <p:cNvSpPr>
              <a:spLocks noChangeShapeType="1"/>
            </p:cNvSpPr>
            <p:nvPr/>
          </p:nvSpPr>
          <p:spPr bwMode="auto">
            <a:xfrm>
              <a:off x="4320" y="23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4" name="Line 59"/>
            <p:cNvSpPr>
              <a:spLocks noChangeShapeType="1"/>
            </p:cNvSpPr>
            <p:nvPr/>
          </p:nvSpPr>
          <p:spPr bwMode="auto">
            <a:xfrm>
              <a:off x="4224" y="2400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5875" name="Object 60"/>
            <p:cNvGraphicFramePr>
              <a:graphicFrameLocks noChangeAspect="1"/>
            </p:cNvGraphicFramePr>
            <p:nvPr/>
          </p:nvGraphicFramePr>
          <p:xfrm>
            <a:off x="4032" y="1872"/>
            <a:ext cx="192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05" name="Equation" r:id="rId25" imgW="161925" imgH="375285" progId="Equation.3">
                    <p:embed/>
                  </p:oleObj>
                </mc:Choice>
                <mc:Fallback>
                  <p:oleObj name="Equation" r:id="rId25" imgW="161925" imgH="375285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872"/>
                          <a:ext cx="192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6" name="Object 61"/>
            <p:cNvGraphicFramePr>
              <a:graphicFrameLocks noChangeAspect="1"/>
            </p:cNvGraphicFramePr>
            <p:nvPr/>
          </p:nvGraphicFramePr>
          <p:xfrm>
            <a:off x="4128" y="2544"/>
            <a:ext cx="397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06" name="Equation" r:id="rId27" imgW="466725" imgH="327025" progId="Equation.3">
                    <p:embed/>
                  </p:oleObj>
                </mc:Choice>
                <mc:Fallback>
                  <p:oleObj name="Equation" r:id="rId27" imgW="466725" imgH="327025" progId="Equation.3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lum brigh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2544"/>
                          <a:ext cx="397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859" name="Object 62"/>
          <p:cNvGraphicFramePr>
            <a:graphicFrameLocks noChangeAspect="1"/>
          </p:cNvGraphicFramePr>
          <p:nvPr/>
        </p:nvGraphicFramePr>
        <p:xfrm>
          <a:off x="4784725" y="31686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07" name="Equation" r:id="rId29" imgW="114300" imgH="215900" progId="Equation.3">
                  <p:embed/>
                </p:oleObj>
              </mc:Choice>
              <mc:Fallback>
                <p:oleObj name="Equation" r:id="rId29" imgW="114300" imgH="21590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4725" y="31686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59" name="Object 63"/>
          <p:cNvGraphicFramePr>
            <a:graphicFrameLocks noChangeAspect="1"/>
          </p:cNvGraphicFramePr>
          <p:nvPr/>
        </p:nvGraphicFramePr>
        <p:xfrm>
          <a:off x="1108075" y="5867400"/>
          <a:ext cx="23622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08" name="Equation" r:id="rId31" imgW="962025" imgH="211455" progId="Equation.3">
                  <p:embed/>
                </p:oleObj>
              </mc:Choice>
              <mc:Fallback>
                <p:oleObj name="Equation" r:id="rId31" imgW="962025" imgH="211455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5867400"/>
                        <a:ext cx="23622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60" name="Text Box 64"/>
          <p:cNvSpPr txBox="1">
            <a:spLocks noChangeArrowheads="1"/>
          </p:cNvSpPr>
          <p:nvPr/>
        </p:nvSpPr>
        <p:spPr bwMode="auto">
          <a:xfrm>
            <a:off x="635000" y="4486275"/>
            <a:ext cx="3070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查</a:t>
            </a:r>
            <a:r>
              <a:rPr lang="en-US" altLang="zh-CN" sz="2800" b="1">
                <a:ea typeface="楷体_GB2312" pitchFamily="49" charset="-122"/>
              </a:rPr>
              <a:t>t </a:t>
            </a:r>
            <a:r>
              <a:rPr lang="zh-CN" altLang="en-US" sz="2800" b="1">
                <a:ea typeface="楷体_GB2312" pitchFamily="49" charset="-122"/>
              </a:rPr>
              <a:t>分布表，附表</a:t>
            </a:r>
            <a:r>
              <a:rPr lang="en-US" altLang="zh-CN" sz="2800" b="1">
                <a:ea typeface="楷体_GB2312" pitchFamily="49" charset="-122"/>
              </a:rPr>
              <a:t>3</a:t>
            </a:r>
            <a:endParaRPr lang="en-US" altLang="zh-CN" sz="2800" b="1"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8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8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8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89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8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89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8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89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89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8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8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8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08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8" grpId="0" autoUpdateAnimBg="0" build="p"/>
      <p:bldP spid="208899" grpId="0" autoUpdateAnimBg="0" build="p"/>
      <p:bldP spid="208901" grpId="0" autoUpdateAnimBg="0" build="p"/>
      <p:bldP spid="208903" grpId="0" autoUpdateAnimBg="0" build="p"/>
      <p:bldP spid="208904" grpId="0" autoUpdateAnimBg="0" build="p"/>
      <p:bldP spid="208905" grpId="0" autoUpdateAnimBg="0" build="p"/>
      <p:bldP spid="208906" grpId="0" autoUpdateAnimBg="0" build="p"/>
      <p:bldP spid="208938" grpId="0" autoUpdateAnimBg="0" build="p"/>
      <p:bldP spid="208960" grpId="0" autoUpdateAnimBg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609600" y="404813"/>
            <a:ext cx="6324600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zh-CN" altLang="en-US" sz="1800" b="1">
                <a:solidFill>
                  <a:srgbClr val="66CCFF"/>
                </a:solidFill>
                <a:latin typeface="宋体" panose="02010600030101010101" pitchFamily="2" charset="-122"/>
              </a:rPr>
              <a:t>　　</a:t>
            </a:r>
            <a:r>
              <a:rPr kumimoji="0" lang="zh-CN" altLang="en-US" sz="1800" b="1">
                <a:solidFill>
                  <a:srgbClr val="5050CC"/>
                </a:solidFill>
                <a:latin typeface="宋体" panose="02010600030101010101" pitchFamily="2" charset="-122"/>
              </a:rPr>
              <a:t>例</a:t>
            </a:r>
            <a:r>
              <a:rPr kumimoji="0" lang="en-US" altLang="zh-CN" sz="1800" b="1">
                <a:solidFill>
                  <a:srgbClr val="5050CC"/>
                </a:solidFill>
                <a:latin typeface="宋体" panose="02010600030101010101" pitchFamily="2" charset="-122"/>
              </a:rPr>
              <a:t>4</a:t>
            </a:r>
            <a:r>
              <a:rPr kumimoji="0" lang="zh-CN" altLang="en-US" sz="1800">
                <a:latin typeface="宋体" panose="02010600030101010101" pitchFamily="2" charset="-122"/>
              </a:rPr>
              <a:t>　设</a:t>
            </a:r>
            <a:r>
              <a:rPr kumimoji="0" lang="en-US" altLang="zh-CN" sz="1800" i="1"/>
              <a:t>X </a:t>
            </a:r>
            <a:r>
              <a:rPr kumimoji="0" lang="zh-CN" altLang="en-US" sz="1800">
                <a:latin typeface="宋体" panose="02010600030101010101" pitchFamily="2" charset="-122"/>
              </a:rPr>
              <a:t>与</a:t>
            </a:r>
            <a:r>
              <a:rPr kumimoji="0" lang="en-US" altLang="zh-CN" sz="1800" i="1"/>
              <a:t>Y </a:t>
            </a:r>
            <a:r>
              <a:rPr kumimoji="0" lang="zh-CN" altLang="en-US" sz="1800">
                <a:latin typeface="宋体" panose="02010600030101010101" pitchFamily="2" charset="-122"/>
              </a:rPr>
              <a:t>相互独立，</a:t>
            </a:r>
            <a:r>
              <a:rPr kumimoji="0" lang="en-US" altLang="zh-CN" sz="1800" i="1"/>
              <a:t>X ~ N</a:t>
            </a:r>
            <a:r>
              <a:rPr kumimoji="0" lang="en-US" altLang="zh-CN" sz="1800"/>
              <a:t>(0</a:t>
            </a:r>
            <a:r>
              <a:rPr kumimoji="0" lang="zh-CN" altLang="en-US" sz="1800"/>
              <a:t>，</a:t>
            </a:r>
            <a:r>
              <a:rPr kumimoji="0" lang="en-US" altLang="zh-CN" sz="1800"/>
              <a:t>16)</a:t>
            </a:r>
            <a:r>
              <a:rPr kumimoji="0" lang="zh-CN" altLang="en-US" sz="1800">
                <a:latin typeface="宋体" panose="02010600030101010101" pitchFamily="2" charset="-122"/>
              </a:rPr>
              <a:t>，</a:t>
            </a:r>
            <a:r>
              <a:rPr kumimoji="0" lang="en-US" altLang="zh-CN" sz="1800" i="1"/>
              <a:t>Y ~ N</a:t>
            </a:r>
            <a:r>
              <a:rPr kumimoji="0" lang="en-US" altLang="zh-CN" sz="1800"/>
              <a:t>(0</a:t>
            </a:r>
            <a:r>
              <a:rPr kumimoji="0" lang="zh-CN" altLang="en-US" sz="1800"/>
              <a:t>，</a:t>
            </a:r>
            <a:r>
              <a:rPr kumimoji="0" lang="en-US" altLang="zh-CN" sz="1800"/>
              <a:t>9)</a:t>
            </a:r>
            <a:r>
              <a:rPr kumimoji="0" lang="zh-CN" altLang="en-US" sz="1800"/>
              <a:t>，</a:t>
            </a:r>
            <a:r>
              <a:rPr kumimoji="0" lang="en-US" altLang="zh-CN" sz="1800" i="1"/>
              <a:t>X</a:t>
            </a:r>
            <a:r>
              <a:rPr kumimoji="0" lang="en-US" altLang="zh-CN" sz="1800" baseline="-25000"/>
              <a:t>1</a:t>
            </a:r>
            <a:r>
              <a:rPr kumimoji="0" lang="en-US" altLang="zh-CN" sz="1800"/>
              <a:t>, </a:t>
            </a:r>
            <a:r>
              <a:rPr kumimoji="0" lang="en-US" altLang="zh-CN" sz="1800" i="1"/>
              <a:t>X</a:t>
            </a:r>
            <a:r>
              <a:rPr kumimoji="0" lang="en-US" altLang="zh-CN" sz="1800" baseline="-25000"/>
              <a:t>2 </a:t>
            </a:r>
            <a:r>
              <a:rPr kumimoji="0" lang="en-US" altLang="zh-CN" sz="1800"/>
              <a:t>,…, </a:t>
            </a:r>
            <a:r>
              <a:rPr kumimoji="0" lang="en-US" altLang="zh-CN" sz="1800" i="1"/>
              <a:t>X</a:t>
            </a:r>
            <a:r>
              <a:rPr kumimoji="0" lang="en-US" altLang="zh-CN" sz="1800" baseline="-25000"/>
              <a:t>9</a:t>
            </a:r>
            <a:r>
              <a:rPr kumimoji="0" lang="zh-CN" altLang="en-US" sz="1800">
                <a:latin typeface="宋体" panose="02010600030101010101" pitchFamily="2" charset="-122"/>
              </a:rPr>
              <a:t>与</a:t>
            </a:r>
            <a:r>
              <a:rPr kumimoji="0" lang="en-US" altLang="zh-CN" sz="1800" i="1"/>
              <a:t>Y</a:t>
            </a:r>
            <a:r>
              <a:rPr kumimoji="0" lang="en-US" altLang="zh-CN" sz="1800" baseline="-25000"/>
              <a:t>1</a:t>
            </a:r>
            <a:r>
              <a:rPr kumimoji="0" lang="zh-CN" altLang="en-US" sz="1800"/>
              <a:t>，</a:t>
            </a:r>
            <a:r>
              <a:rPr kumimoji="0" lang="en-US" altLang="zh-CN" sz="1800" i="1"/>
              <a:t>Y</a:t>
            </a:r>
            <a:r>
              <a:rPr kumimoji="0" lang="en-US" altLang="zh-CN" sz="1800" baseline="-25000"/>
              <a:t>2</a:t>
            </a:r>
            <a:r>
              <a:rPr kumimoji="0" lang="zh-CN" altLang="en-US" sz="1800" baseline="-25000"/>
              <a:t>，</a:t>
            </a:r>
            <a:r>
              <a:rPr kumimoji="0" lang="en-US" altLang="zh-CN" sz="1800"/>
              <a:t>…</a:t>
            </a:r>
            <a:r>
              <a:rPr kumimoji="0" lang="zh-CN" altLang="en-US" sz="1800"/>
              <a:t>，</a:t>
            </a:r>
            <a:r>
              <a:rPr kumimoji="0" lang="en-US" altLang="zh-CN" sz="1800" i="1"/>
              <a:t>Y</a:t>
            </a:r>
            <a:r>
              <a:rPr kumimoji="0" lang="en-US" altLang="zh-CN" sz="1800" baseline="-25000"/>
              <a:t>16</a:t>
            </a:r>
            <a:r>
              <a:rPr kumimoji="0" lang="zh-CN" altLang="en-US" sz="1800">
                <a:latin typeface="宋体" panose="02010600030101010101" pitchFamily="2" charset="-122"/>
              </a:rPr>
              <a:t>分别是取</a:t>
            </a:r>
            <a:endParaRPr kumimoji="0" lang="zh-CN" altLang="en-US" sz="1800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kumimoji="0" lang="zh-CN" altLang="en-US" sz="1800">
                <a:latin typeface="宋体" panose="02010600030101010101" pitchFamily="2" charset="-122"/>
              </a:rPr>
              <a:t>　　</a:t>
            </a:r>
            <a:endParaRPr kumimoji="0" lang="zh-CN" altLang="en-US" sz="1800" i="1">
              <a:latin typeface="宋体" panose="02010600030101010101" pitchFamily="2" charset="-122"/>
            </a:endParaRP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609600" y="2814638"/>
            <a:ext cx="178435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zh-CN" altLang="en-US" sz="1800">
                <a:latin typeface="宋体" panose="02010600030101010101" pitchFamily="2" charset="-122"/>
              </a:rPr>
              <a:t>所服从的分布．</a:t>
            </a:r>
            <a:endParaRPr kumimoji="0" lang="zh-CN" altLang="en-US" sz="1800">
              <a:latin typeface="宋体" panose="02010600030101010101" pitchFamily="2" charset="-122"/>
            </a:endParaRP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1219200" y="3348038"/>
            <a:ext cx="412750" cy="44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zh-CN" altLang="en-US" sz="1800" b="1">
                <a:solidFill>
                  <a:srgbClr val="5050CC"/>
                </a:solidFill>
                <a:latin typeface="宋体" panose="02010600030101010101" pitchFamily="2" charset="-122"/>
              </a:rPr>
              <a:t>解</a:t>
            </a:r>
            <a:endParaRPr kumimoji="0" lang="zh-CN" altLang="en-US" sz="1800" b="1">
              <a:solidFill>
                <a:srgbClr val="5050CC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57349" name="Object 2"/>
          <p:cNvGraphicFramePr>
            <a:graphicFrameLocks noChangeAspect="1"/>
          </p:cNvGraphicFramePr>
          <p:nvPr/>
        </p:nvGraphicFramePr>
        <p:xfrm>
          <a:off x="2438400" y="1976438"/>
          <a:ext cx="2336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26" name="Equation" r:id="rId1" imgW="2336800" imgH="838200" progId="Equation.3">
                  <p:embed/>
                </p:oleObj>
              </mc:Choice>
              <mc:Fallback>
                <p:oleObj name="Equation" r:id="rId1" imgW="2336800" imgH="838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976438"/>
                        <a:ext cx="2336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0" name="Object 3"/>
          <p:cNvGraphicFramePr>
            <a:graphicFrameLocks noChangeAspect="1"/>
          </p:cNvGraphicFramePr>
          <p:nvPr/>
        </p:nvGraphicFramePr>
        <p:xfrm>
          <a:off x="1816100" y="3513138"/>
          <a:ext cx="330041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27" name="Equation" r:id="rId3" imgW="3594100" imgH="381000" progId="Equation.3">
                  <p:embed/>
                </p:oleObj>
              </mc:Choice>
              <mc:Fallback>
                <p:oleObj name="Equation" r:id="rId3" imgW="3594100" imgH="38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3513138"/>
                        <a:ext cx="3300413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1" name="Object 4"/>
          <p:cNvGraphicFramePr>
            <a:graphicFrameLocks noChangeAspect="1"/>
          </p:cNvGraphicFramePr>
          <p:nvPr/>
        </p:nvGraphicFramePr>
        <p:xfrm>
          <a:off x="1687759" y="4019567"/>
          <a:ext cx="3930178" cy="739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28" name="Equation" r:id="rId5" imgW="49987200" imgH="9448800" progId="Equation.DSMT4">
                  <p:embed/>
                </p:oleObj>
              </mc:Choice>
              <mc:Fallback>
                <p:oleObj name="Equation" r:id="rId5" imgW="49987200" imgH="9448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759" y="4019567"/>
                        <a:ext cx="3930178" cy="7397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2" name="Object 5"/>
          <p:cNvGraphicFramePr>
            <a:graphicFrameLocks noChangeAspect="1"/>
          </p:cNvGraphicFramePr>
          <p:nvPr/>
        </p:nvGraphicFramePr>
        <p:xfrm>
          <a:off x="1676400" y="5008563"/>
          <a:ext cx="3021013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29" name="Equation" r:id="rId7" imgW="3289300" imgH="723900" progId="Equation.3">
                  <p:embed/>
                </p:oleObj>
              </mc:Choice>
              <mc:Fallback>
                <p:oleObj name="Equation" r:id="rId7" imgW="3289300" imgH="723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008563"/>
                        <a:ext cx="3021013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568325" y="1443038"/>
            <a:ext cx="399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1800">
                <a:latin typeface="宋体" panose="02010600030101010101" pitchFamily="2" charset="-122"/>
              </a:rPr>
              <a:t>自</a:t>
            </a:r>
            <a:r>
              <a:rPr kumimoji="0" lang="en-US" altLang="zh-CN" sz="1800" i="1"/>
              <a:t>X </a:t>
            </a:r>
            <a:r>
              <a:rPr kumimoji="0" lang="zh-CN" altLang="en-US" sz="1800">
                <a:latin typeface="宋体" panose="02010600030101010101" pitchFamily="2" charset="-122"/>
              </a:rPr>
              <a:t>与</a:t>
            </a:r>
            <a:r>
              <a:rPr kumimoji="0" lang="en-US" altLang="zh-CN" sz="1800" i="1"/>
              <a:t>Y </a:t>
            </a:r>
            <a:r>
              <a:rPr kumimoji="0" lang="zh-CN" altLang="en-US" sz="1800">
                <a:latin typeface="宋体" panose="02010600030101010101" pitchFamily="2" charset="-122"/>
              </a:rPr>
              <a:t>的简单随机样本，求统计量．</a:t>
            </a:r>
            <a:endParaRPr kumimoji="0" lang="zh-CN" altLang="en-US" sz="18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1244600" y="2379663"/>
            <a:ext cx="990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1800"/>
              <a:t>从而</a:t>
            </a:r>
            <a:endParaRPr kumimoji="0" lang="zh-CN" altLang="en-US" sz="1800"/>
          </a:p>
        </p:txBody>
      </p:sp>
      <p:graphicFrame>
        <p:nvGraphicFramePr>
          <p:cNvPr id="58371" name="Object 2"/>
          <p:cNvGraphicFramePr>
            <a:graphicFrameLocks noChangeAspect="1"/>
          </p:cNvGraphicFramePr>
          <p:nvPr/>
        </p:nvGraphicFramePr>
        <p:xfrm>
          <a:off x="2235200" y="1196975"/>
          <a:ext cx="210185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8" name="Equation" r:id="rId1" imgW="2374900" imgH="863600" progId="Equation.3">
                  <p:embed/>
                </p:oleObj>
              </mc:Choice>
              <mc:Fallback>
                <p:oleObj name="Equation" r:id="rId1" imgW="2374900" imgH="863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1196975"/>
                        <a:ext cx="210185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3"/>
          <p:cNvGraphicFramePr>
            <a:graphicFrameLocks noChangeAspect="1"/>
          </p:cNvGraphicFramePr>
          <p:nvPr/>
        </p:nvGraphicFramePr>
        <p:xfrm>
          <a:off x="2032000" y="2227263"/>
          <a:ext cx="2336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9" name="Equation" r:id="rId3" imgW="2336800" imgH="838200" progId="Equation.3">
                  <p:embed/>
                </p:oleObj>
              </mc:Choice>
              <mc:Fallback>
                <p:oleObj name="Equation" r:id="rId3" imgW="2336800" imgH="838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2227263"/>
                        <a:ext cx="2336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4"/>
          <p:cNvGraphicFramePr>
            <a:graphicFrameLocks noChangeAspect="1"/>
          </p:cNvGraphicFramePr>
          <p:nvPr/>
        </p:nvGraphicFramePr>
        <p:xfrm>
          <a:off x="2123728" y="3443199"/>
          <a:ext cx="4392488" cy="2497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0" name="Equation" r:id="rId5" imgW="44500800" imgH="25298400" progId="Equation.DSMT4">
                  <p:embed/>
                </p:oleObj>
              </mc:Choice>
              <mc:Fallback>
                <p:oleObj name="Equation" r:id="rId5" imgW="44500800" imgH="25298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443199"/>
                        <a:ext cx="4392488" cy="2497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827088" y="188913"/>
            <a:ext cx="4105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FF"/>
                </a:solidFill>
                <a:latin typeface="宋体" panose="02010600030101010101" pitchFamily="2" charset="-122"/>
              </a:rPr>
              <a:t>(4)</a:t>
            </a:r>
            <a:r>
              <a:rPr lang="en-US" altLang="zh-CN" sz="3200" b="1" i="1">
                <a:solidFill>
                  <a:srgbClr val="0000FF"/>
                </a:solidFill>
              </a:rPr>
              <a:t>F</a:t>
            </a:r>
            <a:r>
              <a:rPr lang="en-US" altLang="zh-CN" sz="3200" b="1" i="1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3200" b="1">
                <a:solidFill>
                  <a:srgbClr val="0000FF"/>
                </a:solidFill>
                <a:latin typeface="宋体" panose="02010600030101010101" pitchFamily="2" charset="-122"/>
              </a:rPr>
              <a:t>分布</a:t>
            </a:r>
            <a:endParaRPr lang="zh-CN" altLang="en-US" sz="32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88419" name="Object 3"/>
          <p:cNvGraphicFramePr>
            <a:graphicFrameLocks noChangeAspect="1"/>
          </p:cNvGraphicFramePr>
          <p:nvPr/>
        </p:nvGraphicFramePr>
        <p:xfrm>
          <a:off x="1905000" y="881063"/>
          <a:ext cx="402590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9" name="公式" r:id="rId1" imgW="1533525" imgH="211455" progId="Equation.3">
                  <p:embed/>
                </p:oleObj>
              </mc:Choice>
              <mc:Fallback>
                <p:oleObj name="公式" r:id="rId1" imgW="1533525" imgH="21145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881063"/>
                        <a:ext cx="4025900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0" name="Rectangle 4"/>
          <p:cNvSpPr>
            <a:spLocks noChangeArrowheads="1"/>
          </p:cNvSpPr>
          <p:nvPr/>
        </p:nvSpPr>
        <p:spPr bwMode="auto">
          <a:xfrm>
            <a:off x="4267200" y="2497138"/>
            <a:ext cx="54864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b="1">
                <a:latin typeface="宋体" panose="02010600030101010101" pitchFamily="2" charset="-122"/>
              </a:rPr>
              <a:t>的</a:t>
            </a:r>
            <a:r>
              <a:rPr lang="en-US" altLang="zh-CN" sz="2800" b="1" i="1"/>
              <a:t>F</a:t>
            </a:r>
            <a:r>
              <a:rPr lang="zh-CN" altLang="en-US" sz="2800" b="1">
                <a:latin typeface="宋体" panose="02010600030101010101" pitchFamily="2" charset="-122"/>
              </a:rPr>
              <a:t>分布，</a:t>
            </a:r>
            <a:r>
              <a:rPr lang="en-US" altLang="zh-CN" sz="2800" b="1" i="1"/>
              <a:t>n</a:t>
            </a:r>
            <a:r>
              <a:rPr lang="en-US" altLang="zh-CN" sz="2800" b="1" baseline="-30000"/>
              <a:t>1</a:t>
            </a:r>
            <a:r>
              <a:rPr lang="zh-CN" altLang="en-US" sz="2800" b="1">
                <a:latin typeface="宋体" panose="02010600030101010101" pitchFamily="2" charset="-122"/>
              </a:rPr>
              <a:t>称为第一自由度，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graphicFrame>
        <p:nvGraphicFramePr>
          <p:cNvPr id="188421" name="Object 5"/>
          <p:cNvGraphicFramePr>
            <a:graphicFrameLocks noChangeAspect="1"/>
          </p:cNvGraphicFramePr>
          <p:nvPr/>
        </p:nvGraphicFramePr>
        <p:xfrm>
          <a:off x="3563938" y="1438275"/>
          <a:ext cx="1781175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90" name="公式" r:id="rId3" imgW="666750" imgH="433070" progId="Equation.3">
                  <p:embed/>
                </p:oleObj>
              </mc:Choice>
              <mc:Fallback>
                <p:oleObj name="公式" r:id="rId3" imgW="666750" imgH="43307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438275"/>
                        <a:ext cx="1781175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2" name="Rectangle 6"/>
          <p:cNvSpPr>
            <a:spLocks noChangeArrowheads="1"/>
          </p:cNvSpPr>
          <p:nvPr/>
        </p:nvSpPr>
        <p:spPr bwMode="auto">
          <a:xfrm>
            <a:off x="1144588" y="847725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宋体" panose="02010600030101010101" pitchFamily="2" charset="-122"/>
              </a:rPr>
              <a:t>设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188423" name="Rectangle 7"/>
          <p:cNvSpPr>
            <a:spLocks noChangeArrowheads="1"/>
          </p:cNvSpPr>
          <p:nvPr/>
        </p:nvSpPr>
        <p:spPr bwMode="auto">
          <a:xfrm>
            <a:off x="6084888" y="957263"/>
            <a:ext cx="2781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i="1"/>
              <a:t>X</a:t>
            </a:r>
            <a:r>
              <a:rPr lang="zh-CN" altLang="en-US" sz="2800" b="1">
                <a:latin typeface="宋体" panose="02010600030101010101" pitchFamily="2" charset="-122"/>
              </a:rPr>
              <a:t>与</a:t>
            </a:r>
            <a:r>
              <a:rPr lang="en-US" altLang="zh-CN" sz="2800" b="1" i="1"/>
              <a:t>Y</a:t>
            </a:r>
            <a:r>
              <a:rPr lang="zh-CN" altLang="en-US" sz="2800" b="1">
                <a:latin typeface="宋体" panose="02010600030101010101" pitchFamily="2" charset="-122"/>
              </a:rPr>
              <a:t>相互独立，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188424" name="Rectangle 8"/>
          <p:cNvSpPr>
            <a:spLocks noChangeArrowheads="1"/>
          </p:cNvSpPr>
          <p:nvPr/>
        </p:nvSpPr>
        <p:spPr bwMode="auto">
          <a:xfrm>
            <a:off x="827088" y="1582738"/>
            <a:ext cx="3059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宋体" panose="02010600030101010101" pitchFamily="2" charset="-122"/>
              </a:rPr>
              <a:t>则称统计量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188425" name="Rectangle 9"/>
          <p:cNvSpPr>
            <a:spLocks noChangeArrowheads="1"/>
          </p:cNvSpPr>
          <p:nvPr/>
        </p:nvSpPr>
        <p:spPr bwMode="auto">
          <a:xfrm>
            <a:off x="838200" y="2519363"/>
            <a:ext cx="3313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宋体" panose="02010600030101010101" pitchFamily="2" charset="-122"/>
              </a:rPr>
              <a:t>服从自由度为</a:t>
            </a:r>
            <a:endParaRPr lang="zh-CN" altLang="en-US" sz="2800">
              <a:latin typeface="宋体" panose="02010600030101010101" pitchFamily="2" charset="-122"/>
            </a:endParaRPr>
          </a:p>
        </p:txBody>
      </p:sp>
      <p:grpSp>
        <p:nvGrpSpPr>
          <p:cNvPr id="2" name="Group 10"/>
          <p:cNvGrpSpPr/>
          <p:nvPr/>
        </p:nvGrpSpPr>
        <p:grpSpPr bwMode="auto">
          <a:xfrm>
            <a:off x="914400" y="3259138"/>
            <a:ext cx="4152900" cy="606425"/>
            <a:chOff x="1000" y="2795"/>
            <a:chExt cx="2616" cy="382"/>
          </a:xfrm>
        </p:grpSpPr>
        <p:sp>
          <p:nvSpPr>
            <p:cNvPr id="36879" name="Rectangle 11"/>
            <p:cNvSpPr>
              <a:spLocks noChangeArrowheads="1"/>
            </p:cNvSpPr>
            <p:nvPr/>
          </p:nvSpPr>
          <p:spPr bwMode="auto">
            <a:xfrm>
              <a:off x="1250" y="2796"/>
              <a:ext cx="2366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2800" b="1">
                  <a:latin typeface="宋体" panose="02010600030101010101" pitchFamily="2" charset="-122"/>
                </a:rPr>
                <a:t>称为第二自由度，记作</a:t>
              </a:r>
              <a:endParaRPr lang="zh-CN" altLang="en-US" sz="2800" b="1">
                <a:latin typeface="宋体" panose="02010600030101010101" pitchFamily="2" charset="-122"/>
              </a:endParaRPr>
            </a:p>
          </p:txBody>
        </p:sp>
        <p:graphicFrame>
          <p:nvGraphicFramePr>
            <p:cNvPr id="36880" name="Object 12"/>
            <p:cNvGraphicFramePr>
              <a:graphicFrameLocks noChangeAspect="1"/>
            </p:cNvGraphicFramePr>
            <p:nvPr/>
          </p:nvGraphicFramePr>
          <p:xfrm>
            <a:off x="1000" y="2795"/>
            <a:ext cx="292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91" name="公式" r:id="rId5" imgW="161925" imgH="201930" progId="Equation.3">
                    <p:embed/>
                  </p:oleObj>
                </mc:Choice>
                <mc:Fallback>
                  <p:oleObj name="公式" r:id="rId5" imgW="161925" imgH="20193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0" y="2795"/>
                          <a:ext cx="292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8429" name="Object 13"/>
          <p:cNvGraphicFramePr>
            <a:graphicFrameLocks noChangeAspect="1"/>
          </p:cNvGraphicFramePr>
          <p:nvPr/>
        </p:nvGraphicFramePr>
        <p:xfrm>
          <a:off x="5091113" y="3330575"/>
          <a:ext cx="23431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92" name="公式" r:id="rId7" imgW="885825" imgH="201930" progId="Equation.3">
                  <p:embed/>
                </p:oleObj>
              </mc:Choice>
              <mc:Fallback>
                <p:oleObj name="公式" r:id="rId7" imgW="885825" imgH="20193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1113" y="3330575"/>
                        <a:ext cx="23431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33" name="Object 17"/>
          <p:cNvGraphicFramePr>
            <a:graphicFrameLocks noChangeAspect="1"/>
          </p:cNvGraphicFramePr>
          <p:nvPr/>
        </p:nvGraphicFramePr>
        <p:xfrm>
          <a:off x="3059113" y="2446338"/>
          <a:ext cx="1268412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93" name="公式" r:id="rId9" imgW="352425" imgH="201930" progId="Equation.3">
                  <p:embed/>
                </p:oleObj>
              </mc:Choice>
              <mc:Fallback>
                <p:oleObj name="公式" r:id="rId9" imgW="352425" imgH="20193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446338"/>
                        <a:ext cx="1268412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87" name="Object 15"/>
          <p:cNvGraphicFramePr>
            <a:graphicFrameLocks noChangeAspect="1"/>
          </p:cNvGraphicFramePr>
          <p:nvPr/>
        </p:nvGraphicFramePr>
        <p:xfrm>
          <a:off x="1042988" y="4508500"/>
          <a:ext cx="6924675" cy="164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94" name="Equation" r:id="rId11" imgW="3248025" imgH="702945" progId="Equation.DSMT4">
                  <p:embed/>
                </p:oleObj>
              </mc:Choice>
              <mc:Fallback>
                <p:oleObj name="Equation" r:id="rId11" imgW="3248025" imgH="70294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508500"/>
                        <a:ext cx="6924675" cy="164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8" name="Rectangle 16"/>
          <p:cNvSpPr>
            <a:spLocks noChangeArrowheads="1"/>
          </p:cNvSpPr>
          <p:nvPr/>
        </p:nvSpPr>
        <p:spPr bwMode="auto">
          <a:xfrm>
            <a:off x="609600" y="3952875"/>
            <a:ext cx="25638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i="1"/>
              <a:t>F</a:t>
            </a:r>
            <a:r>
              <a:rPr lang="zh-CN" altLang="en-US" sz="2800" b="1"/>
              <a:t>的概率密度为</a:t>
            </a:r>
            <a:endParaRPr lang="zh-CN" altLang="en-US" sz="28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8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8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8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8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8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0" grpId="0" autoUpdateAnimBg="0" build="p"/>
      <p:bldP spid="188422" grpId="0" autoUpdateAnimBg="0" build="p"/>
      <p:bldP spid="188423" grpId="0" autoUpdateAnimBg="0" build="p"/>
      <p:bldP spid="188424" grpId="0" autoUpdateAnimBg="0" build="p"/>
      <p:bldP spid="188425" grpId="0" autoUpdateAnimBg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3757613" y="3124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 sz="36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4000500" y="3268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 sz="36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1972" name="Rectangle 4"/>
          <p:cNvSpPr>
            <a:spLocks noChangeArrowheads="1"/>
          </p:cNvSpPr>
          <p:nvPr/>
        </p:nvSpPr>
        <p:spPr bwMode="auto">
          <a:xfrm>
            <a:off x="533400" y="4343400"/>
            <a:ext cx="78486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latin typeface="宋体" panose="02010600030101010101" pitchFamily="2" charset="-122"/>
                <a:ea typeface="楷体_GB2312" pitchFamily="49" charset="-122"/>
              </a:rPr>
              <a:t>即它的数学期望并不依赖于第一自由度</a:t>
            </a:r>
            <a:r>
              <a:rPr lang="en-US" altLang="zh-CN" sz="3200" b="1" i="1">
                <a:ea typeface="楷体_GB2312" pitchFamily="49" charset="-122"/>
              </a:rPr>
              <a:t>n</a:t>
            </a:r>
            <a:r>
              <a:rPr lang="en-US" altLang="zh-CN" sz="3200" b="1" baseline="-30000">
                <a:ea typeface="楷体_GB2312" pitchFamily="49" charset="-122"/>
              </a:rPr>
              <a:t> 1</a:t>
            </a:r>
            <a:r>
              <a:rPr lang="zh-CN" altLang="en-US" sz="3200" b="1">
                <a:latin typeface="宋体" panose="02010600030101010101" pitchFamily="2" charset="-122"/>
                <a:ea typeface="楷体_GB2312" pitchFamily="49" charset="-122"/>
              </a:rPr>
              <a:t>（证明）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3929063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 sz="36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4259263" y="3216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 sz="36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1975" name="Rectangle 7"/>
          <p:cNvSpPr>
            <a:spLocks noChangeArrowheads="1"/>
          </p:cNvSpPr>
          <p:nvPr/>
        </p:nvSpPr>
        <p:spPr bwMode="auto">
          <a:xfrm>
            <a:off x="1116013" y="2276475"/>
            <a:ext cx="3603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ea typeface="楷体_GB2312" pitchFamily="49" charset="-122"/>
              </a:rPr>
              <a:t>(2)</a:t>
            </a:r>
            <a:r>
              <a:rPr lang="en-US" altLang="zh-CN" sz="3200" b="1" i="1">
                <a:ea typeface="楷体_GB2312" pitchFamily="49" charset="-122"/>
              </a:rPr>
              <a:t> X</a:t>
            </a:r>
            <a:r>
              <a:rPr lang="zh-CN" altLang="en-US" sz="3200" b="1">
                <a:ea typeface="楷体_GB2312" pitchFamily="49" charset="-122"/>
              </a:rPr>
              <a:t>的数学期望为</a:t>
            </a:r>
            <a:r>
              <a:rPr lang="en-US" altLang="zh-CN" sz="3200" b="1">
                <a:ea typeface="楷体_GB2312" pitchFamily="49" charset="-122"/>
              </a:rPr>
              <a:t>: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37896" name="Rectangle 8"/>
          <p:cNvSpPr>
            <a:spLocks noChangeArrowheads="1"/>
          </p:cNvSpPr>
          <p:nvPr/>
        </p:nvSpPr>
        <p:spPr bwMode="auto">
          <a:xfrm>
            <a:off x="43592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zh-CN" altLang="en-US" sz="3600" b="1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" name="Group 9"/>
          <p:cNvGrpSpPr/>
          <p:nvPr/>
        </p:nvGrpSpPr>
        <p:grpSpPr bwMode="auto">
          <a:xfrm>
            <a:off x="1371600" y="2971800"/>
            <a:ext cx="4876800" cy="990600"/>
            <a:chOff x="1152" y="2208"/>
            <a:chExt cx="2793" cy="686"/>
          </a:xfrm>
        </p:grpSpPr>
        <p:graphicFrame>
          <p:nvGraphicFramePr>
            <p:cNvPr id="37903" name="Object 10"/>
            <p:cNvGraphicFramePr>
              <a:graphicFrameLocks noChangeAspect="1"/>
            </p:cNvGraphicFramePr>
            <p:nvPr/>
          </p:nvGraphicFramePr>
          <p:xfrm>
            <a:off x="1152" y="2208"/>
            <a:ext cx="1488" cy="6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41" name="Equation" r:id="rId1" imgW="904875" imgH="414020" progId="Equation.3">
                    <p:embed/>
                  </p:oleObj>
                </mc:Choice>
                <mc:Fallback>
                  <p:oleObj name="Equation" r:id="rId1" imgW="904875" imgH="41402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208"/>
                          <a:ext cx="1488" cy="6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4" name="Rectangle 11"/>
            <p:cNvSpPr>
              <a:spLocks noChangeArrowheads="1"/>
            </p:cNvSpPr>
            <p:nvPr/>
          </p:nvSpPr>
          <p:spPr bwMode="auto">
            <a:xfrm>
              <a:off x="3072" y="2400"/>
              <a:ext cx="873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200" b="1">
                  <a:ea typeface="楷体_GB2312" pitchFamily="49" charset="-122"/>
                </a:rPr>
                <a:t>若</a:t>
              </a:r>
              <a:r>
                <a:rPr lang="en-US" altLang="zh-CN" sz="3200" b="1" i="1">
                  <a:ea typeface="楷体_GB2312" pitchFamily="49" charset="-122"/>
                </a:rPr>
                <a:t>n</a:t>
              </a:r>
              <a:r>
                <a:rPr lang="en-US" altLang="zh-CN" sz="3200" b="1" baseline="-30000">
                  <a:ea typeface="楷体_GB2312" pitchFamily="49" charset="-122"/>
                </a:rPr>
                <a:t>2</a:t>
              </a:r>
              <a:r>
                <a:rPr lang="en-US" altLang="zh-CN" sz="3200" b="1">
                  <a:ea typeface="楷体_GB2312" pitchFamily="49" charset="-122"/>
                </a:rPr>
                <a:t>&gt;2</a:t>
              </a:r>
              <a:endParaRPr lang="en-US" altLang="zh-CN" sz="3200" b="1">
                <a:ea typeface="楷体_GB2312" pitchFamily="49" charset="-122"/>
              </a:endParaRPr>
            </a:p>
          </p:txBody>
        </p:sp>
      </p:grpSp>
      <p:sp>
        <p:nvSpPr>
          <p:cNvPr id="211980" name="Rectangle 12"/>
          <p:cNvSpPr>
            <a:spLocks noChangeArrowheads="1"/>
          </p:cNvSpPr>
          <p:nvPr/>
        </p:nvSpPr>
        <p:spPr bwMode="auto">
          <a:xfrm>
            <a:off x="903288" y="1019175"/>
            <a:ext cx="3276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ea typeface="楷体_GB2312" pitchFamily="49" charset="-122"/>
              </a:rPr>
              <a:t>(1)</a:t>
            </a:r>
            <a:r>
              <a:rPr lang="zh-CN" altLang="en-US" sz="3200" b="1">
                <a:ea typeface="楷体_GB2312" pitchFamily="49" charset="-122"/>
              </a:rPr>
              <a:t>由定义可见，</a:t>
            </a:r>
            <a:endParaRPr lang="zh-CN" altLang="en-US" sz="3200" b="1">
              <a:ea typeface="楷体_GB2312" pitchFamily="49" charset="-122"/>
            </a:endParaRPr>
          </a:p>
        </p:txBody>
      </p:sp>
      <p:grpSp>
        <p:nvGrpSpPr>
          <p:cNvPr id="3" name="Group 13"/>
          <p:cNvGrpSpPr/>
          <p:nvPr/>
        </p:nvGrpSpPr>
        <p:grpSpPr bwMode="auto">
          <a:xfrm>
            <a:off x="3995738" y="765175"/>
            <a:ext cx="3886200" cy="1011238"/>
            <a:chOff x="2016" y="3024"/>
            <a:chExt cx="2448" cy="637"/>
          </a:xfrm>
        </p:grpSpPr>
        <p:graphicFrame>
          <p:nvGraphicFramePr>
            <p:cNvPr id="37901" name="Object 14"/>
            <p:cNvGraphicFramePr>
              <a:graphicFrameLocks noChangeAspect="1"/>
            </p:cNvGraphicFramePr>
            <p:nvPr/>
          </p:nvGraphicFramePr>
          <p:xfrm>
            <a:off x="2016" y="3024"/>
            <a:ext cx="960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42" name="Equation" r:id="rId3" imgW="657225" imgH="414020" progId="Equation.3">
                    <p:embed/>
                  </p:oleObj>
                </mc:Choice>
                <mc:Fallback>
                  <p:oleObj name="Equation" r:id="rId3" imgW="657225" imgH="41402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3024"/>
                          <a:ext cx="960" cy="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2" name="Rectangle 15"/>
            <p:cNvSpPr>
              <a:spLocks noChangeArrowheads="1"/>
            </p:cNvSpPr>
            <p:nvPr/>
          </p:nvSpPr>
          <p:spPr bwMode="auto">
            <a:xfrm>
              <a:off x="3024" y="3120"/>
              <a:ext cx="14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 b="1">
                  <a:ea typeface="楷体_GB2312" pitchFamily="49" charset="-122"/>
                </a:rPr>
                <a:t>~</a:t>
              </a:r>
              <a:r>
                <a:rPr lang="en-US" altLang="zh-CN" sz="3200" b="1" i="1">
                  <a:ea typeface="楷体_GB2312" pitchFamily="49" charset="-122"/>
                </a:rPr>
                <a:t>F</a:t>
              </a:r>
              <a:r>
                <a:rPr lang="en-US" altLang="zh-CN" sz="3200" b="1">
                  <a:ea typeface="楷体_GB2312" pitchFamily="49" charset="-122"/>
                </a:rPr>
                <a:t>(</a:t>
              </a:r>
              <a:r>
                <a:rPr lang="en-US" altLang="zh-CN" sz="3200" b="1" i="1">
                  <a:ea typeface="楷体_GB2312" pitchFamily="49" charset="-122"/>
                </a:rPr>
                <a:t>n</a:t>
              </a:r>
              <a:r>
                <a:rPr lang="en-US" altLang="zh-CN" sz="3200" b="1" baseline="-30000">
                  <a:ea typeface="楷体_GB2312" pitchFamily="49" charset="-122"/>
                </a:rPr>
                <a:t>2</a:t>
              </a:r>
              <a:r>
                <a:rPr lang="en-US" altLang="zh-CN" sz="3200" b="1">
                  <a:ea typeface="楷体_GB2312" pitchFamily="49" charset="-122"/>
                </a:rPr>
                <a:t>,</a:t>
              </a:r>
              <a:r>
                <a:rPr lang="en-US" altLang="zh-CN" sz="3200" b="1" i="1">
                  <a:ea typeface="楷体_GB2312" pitchFamily="49" charset="-122"/>
                </a:rPr>
                <a:t>n</a:t>
              </a:r>
              <a:r>
                <a:rPr lang="en-US" altLang="zh-CN" sz="3200" b="1" baseline="-30000">
                  <a:ea typeface="楷体_GB2312" pitchFamily="49" charset="-122"/>
                </a:rPr>
                <a:t>1</a:t>
              </a:r>
              <a:r>
                <a:rPr lang="en-US" altLang="zh-CN" sz="3200" b="1">
                  <a:ea typeface="楷体_GB2312" pitchFamily="49" charset="-122"/>
                </a:rPr>
                <a:t>)</a:t>
              </a:r>
              <a:endParaRPr lang="en-US" altLang="zh-CN" sz="3200" b="1">
                <a:ea typeface="楷体_GB2312" pitchFamily="49" charset="-122"/>
              </a:endParaRPr>
            </a:p>
          </p:txBody>
        </p:sp>
      </p:grpSp>
      <p:sp>
        <p:nvSpPr>
          <p:cNvPr id="37900" name="Rectangle 16"/>
          <p:cNvSpPr>
            <a:spLocks noChangeArrowheads="1"/>
          </p:cNvSpPr>
          <p:nvPr/>
        </p:nvSpPr>
        <p:spPr bwMode="auto">
          <a:xfrm>
            <a:off x="827088" y="333375"/>
            <a:ext cx="152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ea typeface="楷体_GB2312" pitchFamily="49" charset="-122"/>
              </a:rPr>
              <a:t>2.</a:t>
            </a:r>
            <a:r>
              <a:rPr lang="zh-CN" altLang="en-US" sz="3200" b="1">
                <a:ea typeface="楷体_GB2312" pitchFamily="49" charset="-122"/>
              </a:rPr>
              <a:t>性质</a:t>
            </a:r>
            <a:endParaRPr lang="zh-CN" altLang="en-US" sz="3200" b="1"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2" grpId="0" autoUpdateAnimBg="0"/>
      <p:bldP spid="211975" grpId="0" autoUpdateAnimBg="0"/>
      <p:bldP spid="21198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Text Box 2"/>
          <p:cNvSpPr txBox="1">
            <a:spLocks noChangeArrowheads="1"/>
          </p:cNvSpPr>
          <p:nvPr/>
        </p:nvSpPr>
        <p:spPr bwMode="auto">
          <a:xfrm>
            <a:off x="825500" y="287338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(3)F </a:t>
            </a:r>
            <a:r>
              <a:rPr lang="zh-CN" altLang="en-US" sz="2800" b="1">
                <a:ea typeface="楷体_GB2312" pitchFamily="49" charset="-122"/>
              </a:rPr>
              <a:t>分布的分位点</a:t>
            </a:r>
            <a:endParaRPr lang="zh-CN" altLang="en-US" sz="2800" b="1">
              <a:ea typeface="楷体_GB2312" pitchFamily="49" charset="-122"/>
            </a:endParaRPr>
          </a:p>
        </p:txBody>
      </p:sp>
      <p:sp>
        <p:nvSpPr>
          <p:cNvPr id="212995" name="Text Box 3"/>
          <p:cNvSpPr txBox="1">
            <a:spLocks noChangeArrowheads="1"/>
          </p:cNvSpPr>
          <p:nvPr/>
        </p:nvSpPr>
        <p:spPr bwMode="auto">
          <a:xfrm>
            <a:off x="684213" y="1254125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     对于给定的正数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212996" name="Object 4"/>
          <p:cNvGraphicFramePr>
            <a:graphicFrameLocks noChangeAspect="1"/>
          </p:cNvGraphicFramePr>
          <p:nvPr/>
        </p:nvGraphicFramePr>
        <p:xfrm>
          <a:off x="3995738" y="1268413"/>
          <a:ext cx="19812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4" name="Equation" r:id="rId1" imgW="1609725" imgH="356235" progId="Equation.3">
                  <p:embed/>
                </p:oleObj>
              </mc:Choice>
              <mc:Fallback>
                <p:oleObj name="Equation" r:id="rId1" imgW="1609725" imgH="3562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1268413"/>
                        <a:ext cx="198120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997" name="Text Box 5"/>
          <p:cNvSpPr txBox="1">
            <a:spLocks noChangeArrowheads="1"/>
          </p:cNvSpPr>
          <p:nvPr/>
        </p:nvSpPr>
        <p:spPr bwMode="auto">
          <a:xfrm>
            <a:off x="6388100" y="120173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称满足条件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212998" name="Object 6"/>
          <p:cNvGraphicFramePr>
            <a:graphicFrameLocks noChangeAspect="1"/>
          </p:cNvGraphicFramePr>
          <p:nvPr/>
        </p:nvGraphicFramePr>
        <p:xfrm>
          <a:off x="901700" y="1749425"/>
          <a:ext cx="7589838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5" name="公式" r:id="rId3" imgW="2124075" imgH="481330" progId="Equation.3">
                  <p:embed/>
                </p:oleObj>
              </mc:Choice>
              <mc:Fallback>
                <p:oleObj name="公式" r:id="rId3" imgW="2124075" imgH="48133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1749425"/>
                        <a:ext cx="7589838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999" name="Rectangle 7"/>
          <p:cNvSpPr>
            <a:spLocks noChangeArrowheads="1"/>
          </p:cNvSpPr>
          <p:nvPr/>
        </p:nvSpPr>
        <p:spPr bwMode="auto">
          <a:xfrm>
            <a:off x="539750" y="2997200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的点</a:t>
            </a:r>
            <a:endParaRPr lang="zh-CN" altLang="en-US" sz="2800" b="1">
              <a:ea typeface="楷体_GB2312" pitchFamily="49" charset="-122"/>
            </a:endParaRPr>
          </a:p>
        </p:txBody>
      </p:sp>
      <p:sp>
        <p:nvSpPr>
          <p:cNvPr id="213000" name="Text Box 8"/>
          <p:cNvSpPr txBox="1">
            <a:spLocks noChangeArrowheads="1"/>
          </p:cNvSpPr>
          <p:nvPr/>
        </p:nvSpPr>
        <p:spPr bwMode="auto">
          <a:xfrm>
            <a:off x="3195638" y="2974975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为</a:t>
            </a:r>
            <a:endParaRPr lang="zh-CN" altLang="en-US" sz="2800" b="1">
              <a:ea typeface="楷体_GB2312" pitchFamily="49" charset="-122"/>
            </a:endParaRPr>
          </a:p>
        </p:txBody>
      </p:sp>
      <p:sp>
        <p:nvSpPr>
          <p:cNvPr id="213001" name="Rectangle 9"/>
          <p:cNvSpPr>
            <a:spLocks noChangeArrowheads="1"/>
          </p:cNvSpPr>
          <p:nvPr/>
        </p:nvSpPr>
        <p:spPr bwMode="auto">
          <a:xfrm>
            <a:off x="7596188" y="3141663"/>
            <a:ext cx="1255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分位点</a:t>
            </a:r>
            <a:endParaRPr lang="zh-CN" altLang="en-US" sz="2800" b="1">
              <a:ea typeface="楷体_GB2312" pitchFamily="49" charset="-122"/>
            </a:endParaRPr>
          </a:p>
        </p:txBody>
      </p:sp>
      <p:sp>
        <p:nvSpPr>
          <p:cNvPr id="213002" name="Rectangle 10"/>
          <p:cNvSpPr>
            <a:spLocks noChangeArrowheads="1"/>
          </p:cNvSpPr>
          <p:nvPr/>
        </p:nvSpPr>
        <p:spPr bwMode="auto">
          <a:xfrm>
            <a:off x="5572125" y="3086100"/>
            <a:ext cx="1612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ea typeface="楷体_GB2312" pitchFamily="49" charset="-122"/>
              </a:rPr>
              <a:t>分布的上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213003" name="Object 11"/>
          <p:cNvGraphicFramePr>
            <a:graphicFrameLocks noChangeAspect="1"/>
          </p:cNvGraphicFramePr>
          <p:nvPr/>
        </p:nvGraphicFramePr>
        <p:xfrm>
          <a:off x="7092950" y="3141663"/>
          <a:ext cx="685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6" name="Equation" r:id="rId5" imgW="133350" imgH="125095" progId="Equation.3">
                  <p:embed/>
                </p:oleObj>
              </mc:Choice>
              <mc:Fallback>
                <p:oleObj name="Equation" r:id="rId5" imgW="133350" imgH="12509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3141663"/>
                        <a:ext cx="6858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4" name="Line 12"/>
          <p:cNvSpPr>
            <a:spLocks noChangeShapeType="1"/>
          </p:cNvSpPr>
          <p:nvPr/>
        </p:nvSpPr>
        <p:spPr bwMode="auto">
          <a:xfrm>
            <a:off x="2806700" y="5240338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25" name="Line 13"/>
          <p:cNvSpPr>
            <a:spLocks noChangeShapeType="1"/>
          </p:cNvSpPr>
          <p:nvPr/>
        </p:nvSpPr>
        <p:spPr bwMode="auto">
          <a:xfrm>
            <a:off x="5168900" y="46307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8926" name="Group 14"/>
          <p:cNvGrpSpPr/>
          <p:nvPr/>
        </p:nvGrpSpPr>
        <p:grpSpPr bwMode="auto">
          <a:xfrm>
            <a:off x="5168900" y="4859338"/>
            <a:ext cx="533400" cy="381000"/>
            <a:chOff x="3216" y="3120"/>
            <a:chExt cx="336" cy="240"/>
          </a:xfrm>
        </p:grpSpPr>
        <p:sp>
          <p:nvSpPr>
            <p:cNvPr id="38936" name="Line 15"/>
            <p:cNvSpPr>
              <a:spLocks noChangeShapeType="1"/>
            </p:cNvSpPr>
            <p:nvPr/>
          </p:nvSpPr>
          <p:spPr bwMode="auto">
            <a:xfrm flipH="1">
              <a:off x="3216" y="3120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7" name="Line 16"/>
            <p:cNvSpPr>
              <a:spLocks noChangeShapeType="1"/>
            </p:cNvSpPr>
            <p:nvPr/>
          </p:nvSpPr>
          <p:spPr bwMode="auto">
            <a:xfrm flipH="1">
              <a:off x="3216" y="316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Line 17"/>
            <p:cNvSpPr>
              <a:spLocks noChangeShapeType="1"/>
            </p:cNvSpPr>
            <p:nvPr/>
          </p:nvSpPr>
          <p:spPr bwMode="auto">
            <a:xfrm flipH="1">
              <a:off x="3312" y="3216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9" name="Line 18"/>
            <p:cNvSpPr>
              <a:spLocks noChangeShapeType="1"/>
            </p:cNvSpPr>
            <p:nvPr/>
          </p:nvSpPr>
          <p:spPr bwMode="auto">
            <a:xfrm flipH="1">
              <a:off x="3456" y="3264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13011" name="Object 19"/>
          <p:cNvGraphicFramePr>
            <a:graphicFrameLocks noChangeAspect="1"/>
          </p:cNvGraphicFramePr>
          <p:nvPr/>
        </p:nvGraphicFramePr>
        <p:xfrm>
          <a:off x="1403350" y="2997200"/>
          <a:ext cx="165576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7" name="公式" r:id="rId7" imgW="619125" imgH="211455" progId="Equation.3">
                  <p:embed/>
                </p:oleObj>
              </mc:Choice>
              <mc:Fallback>
                <p:oleObj name="公式" r:id="rId7" imgW="619125" imgH="21145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997200"/>
                        <a:ext cx="165576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8" name="Line 20"/>
          <p:cNvSpPr>
            <a:spLocks noChangeShapeType="1"/>
          </p:cNvSpPr>
          <p:nvPr/>
        </p:nvSpPr>
        <p:spPr bwMode="auto">
          <a:xfrm flipH="1">
            <a:off x="5549900" y="4402138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8929" name="Object 21"/>
          <p:cNvGraphicFramePr>
            <a:graphicFrameLocks noChangeAspect="1"/>
          </p:cNvGraphicFramePr>
          <p:nvPr/>
        </p:nvGraphicFramePr>
        <p:xfrm>
          <a:off x="6388100" y="4097338"/>
          <a:ext cx="685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8" name="Equation" r:id="rId9" imgW="133350" imgH="125095" progId="Equation.3">
                  <p:embed/>
                </p:oleObj>
              </mc:Choice>
              <mc:Fallback>
                <p:oleObj name="Equation" r:id="rId9" imgW="133350" imgH="12509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8100" y="4097338"/>
                        <a:ext cx="6858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0" name="Line 22"/>
          <p:cNvSpPr>
            <a:spLocks noChangeShapeType="1"/>
          </p:cNvSpPr>
          <p:nvPr/>
        </p:nvSpPr>
        <p:spPr bwMode="auto">
          <a:xfrm>
            <a:off x="3568700" y="5240338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1" name="Line 23"/>
          <p:cNvSpPr>
            <a:spLocks noChangeShapeType="1"/>
          </p:cNvSpPr>
          <p:nvPr/>
        </p:nvSpPr>
        <p:spPr bwMode="auto">
          <a:xfrm>
            <a:off x="3568700" y="4021138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32" name="Freeform 24"/>
          <p:cNvSpPr/>
          <p:nvPr/>
        </p:nvSpPr>
        <p:spPr bwMode="auto">
          <a:xfrm>
            <a:off x="3568700" y="3944938"/>
            <a:ext cx="3200400" cy="1295400"/>
          </a:xfrm>
          <a:custGeom>
            <a:avLst/>
            <a:gdLst>
              <a:gd name="T0" fmla="*/ 0 w 2016"/>
              <a:gd name="T1" fmla="*/ 2147483646 h 688"/>
              <a:gd name="T2" fmla="*/ 2147483646 w 2016"/>
              <a:gd name="T3" fmla="*/ 2147483646 h 688"/>
              <a:gd name="T4" fmla="*/ 2147483646 w 2016"/>
              <a:gd name="T5" fmla="*/ 2147483646 h 688"/>
              <a:gd name="T6" fmla="*/ 2147483646 w 2016"/>
              <a:gd name="T7" fmla="*/ 2147483646 h 688"/>
              <a:gd name="T8" fmla="*/ 2147483646 w 2016"/>
              <a:gd name="T9" fmla="*/ 2147483646 h 688"/>
              <a:gd name="T10" fmla="*/ 2147483646 w 2016"/>
              <a:gd name="T11" fmla="*/ 2147483646 h 6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16"/>
              <a:gd name="T19" fmla="*/ 0 h 688"/>
              <a:gd name="T20" fmla="*/ 2016 w 2016"/>
              <a:gd name="T21" fmla="*/ 688 h 68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16" h="688">
                <a:moveTo>
                  <a:pt x="0" y="688"/>
                </a:moveTo>
                <a:cubicBezTo>
                  <a:pt x="140" y="408"/>
                  <a:pt x="280" y="128"/>
                  <a:pt x="432" y="64"/>
                </a:cubicBezTo>
                <a:cubicBezTo>
                  <a:pt x="584" y="0"/>
                  <a:pt x="768" y="224"/>
                  <a:pt x="912" y="304"/>
                </a:cubicBezTo>
                <a:cubicBezTo>
                  <a:pt x="1056" y="384"/>
                  <a:pt x="1152" y="488"/>
                  <a:pt x="1296" y="544"/>
                </a:cubicBezTo>
                <a:cubicBezTo>
                  <a:pt x="1440" y="600"/>
                  <a:pt x="1656" y="624"/>
                  <a:pt x="1776" y="640"/>
                </a:cubicBezTo>
                <a:cubicBezTo>
                  <a:pt x="1896" y="656"/>
                  <a:pt x="1956" y="648"/>
                  <a:pt x="2016" y="64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3017" name="Object 25"/>
          <p:cNvGraphicFramePr>
            <a:graphicFrameLocks noChangeAspect="1"/>
          </p:cNvGraphicFramePr>
          <p:nvPr/>
        </p:nvGraphicFramePr>
        <p:xfrm>
          <a:off x="3843338" y="2974975"/>
          <a:ext cx="177800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9" name="公式" r:id="rId11" imgW="561975" imgH="201930" progId="Equation.3">
                  <p:embed/>
                </p:oleObj>
              </mc:Choice>
              <mc:Fallback>
                <p:oleObj name="公式" r:id="rId11" imgW="561975" imgH="20193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3338" y="2974975"/>
                        <a:ext cx="1778000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4" name="Object 26"/>
          <p:cNvGraphicFramePr>
            <a:graphicFrameLocks noChangeAspect="1"/>
          </p:cNvGraphicFramePr>
          <p:nvPr/>
        </p:nvGraphicFramePr>
        <p:xfrm>
          <a:off x="4448088" y="5390964"/>
          <a:ext cx="1441623" cy="5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90" name="公式" r:id="rId13" imgW="619125" imgH="211455" progId="Equation.3">
                  <p:embed/>
                </p:oleObj>
              </mc:Choice>
              <mc:Fallback>
                <p:oleObj name="公式" r:id="rId13" imgW="619125" imgH="211455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8088" y="5390964"/>
                        <a:ext cx="1441623" cy="5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19" name="Object 27"/>
          <p:cNvGraphicFramePr>
            <a:graphicFrameLocks noChangeAspect="1"/>
          </p:cNvGraphicFramePr>
          <p:nvPr/>
        </p:nvGraphicFramePr>
        <p:xfrm>
          <a:off x="873312" y="5426871"/>
          <a:ext cx="2970026" cy="615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91" name="Equation" r:id="rId15" imgW="1085850" imgH="211455" progId="Equation.DSMT4">
                  <p:embed/>
                </p:oleObj>
              </mc:Choice>
              <mc:Fallback>
                <p:oleObj name="Equation" r:id="rId15" imgW="1085850" imgH="211455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312" y="5426871"/>
                        <a:ext cx="2970026" cy="6150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2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2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30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3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3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4" grpId="0" autoUpdateAnimBg="0" build="p"/>
      <p:bldP spid="212995" grpId="0" autoUpdateAnimBg="0" build="p"/>
      <p:bldP spid="212997" grpId="0" autoUpdateAnimBg="0" build="p"/>
      <p:bldP spid="212999" grpId="0" autoUpdateAnimBg="0" build="p"/>
      <p:bldP spid="213000" grpId="0" autoUpdateAnimBg="0" build="p"/>
      <p:bldP spid="213001" grpId="0" autoUpdateAnimBg="0" build="p"/>
      <p:bldP spid="213002" grpId="0" autoUpdateAnimBg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Text Box 2"/>
          <p:cNvSpPr txBox="1">
            <a:spLocks noChangeArrowheads="1"/>
          </p:cNvSpPr>
          <p:nvPr/>
        </p:nvSpPr>
        <p:spPr bwMode="auto">
          <a:xfrm>
            <a:off x="899592" y="92592"/>
            <a:ext cx="50405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600" b="1" dirty="0">
                <a:ea typeface="楷体_GB2312" pitchFamily="49" charset="-122"/>
              </a:rPr>
              <a:t>F </a:t>
            </a:r>
            <a:r>
              <a:rPr lang="zh-CN" altLang="en-US" sz="3600" b="1" dirty="0">
                <a:ea typeface="楷体_GB2312" pitchFamily="49" charset="-122"/>
              </a:rPr>
              <a:t>分布的性质</a:t>
            </a:r>
            <a:endParaRPr lang="zh-CN" altLang="en-US" sz="3600" b="1" dirty="0">
              <a:ea typeface="楷体_GB2312" pitchFamily="49" charset="-122"/>
            </a:endParaRPr>
          </a:p>
        </p:txBody>
      </p:sp>
      <p:graphicFrame>
        <p:nvGraphicFramePr>
          <p:cNvPr id="214019" name="Object 3"/>
          <p:cNvGraphicFramePr>
            <a:graphicFrameLocks noChangeAspect="1"/>
          </p:cNvGraphicFramePr>
          <p:nvPr/>
        </p:nvGraphicFramePr>
        <p:xfrm>
          <a:off x="899592" y="764983"/>
          <a:ext cx="5688632" cy="494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1" name="公式" r:id="rId1" imgW="2447925" imgH="201930" progId="Equation.3">
                  <p:embed/>
                </p:oleObj>
              </mc:Choice>
              <mc:Fallback>
                <p:oleObj name="公式" r:id="rId1" imgW="2447925" imgH="2019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764983"/>
                        <a:ext cx="5688632" cy="4945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0" name="Object 4"/>
          <p:cNvGraphicFramePr>
            <a:graphicFrameLocks noChangeAspect="1"/>
          </p:cNvGraphicFramePr>
          <p:nvPr/>
        </p:nvGraphicFramePr>
        <p:xfrm>
          <a:off x="526852" y="1320300"/>
          <a:ext cx="4971060" cy="570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2" name="公式" r:id="rId3" imgW="1847850" imgH="201930" progId="Equation.3">
                  <p:embed/>
                </p:oleObj>
              </mc:Choice>
              <mc:Fallback>
                <p:oleObj name="公式" r:id="rId3" imgW="1847850" imgH="20193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52" y="1320300"/>
                        <a:ext cx="4971060" cy="570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1" name="Object 5"/>
          <p:cNvGraphicFramePr>
            <a:graphicFrameLocks noChangeAspect="1"/>
          </p:cNvGraphicFramePr>
          <p:nvPr/>
        </p:nvGraphicFramePr>
        <p:xfrm>
          <a:off x="971600" y="1926572"/>
          <a:ext cx="3442146" cy="550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3" name="公式" r:id="rId5" imgW="1238250" imgH="182880" progId="Equation.3">
                  <p:embed/>
                </p:oleObj>
              </mc:Choice>
              <mc:Fallback>
                <p:oleObj name="公式" r:id="rId5" imgW="1238250" imgH="1828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926572"/>
                        <a:ext cx="3442146" cy="5507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2" name="Object 6"/>
          <p:cNvGraphicFramePr>
            <a:graphicFrameLocks noChangeAspect="1"/>
          </p:cNvGraphicFramePr>
          <p:nvPr/>
        </p:nvGraphicFramePr>
        <p:xfrm>
          <a:off x="838245" y="2453011"/>
          <a:ext cx="6935812" cy="948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4" name="公式" r:id="rId7" imgW="2676525" imgH="356235" progId="Equation.3">
                  <p:embed/>
                </p:oleObj>
              </mc:Choice>
              <mc:Fallback>
                <p:oleObj name="公式" r:id="rId7" imgW="2676525" imgH="35623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45" y="2453011"/>
                        <a:ext cx="6935812" cy="9487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3" name="Object 7"/>
          <p:cNvGraphicFramePr>
            <a:graphicFrameLocks noChangeAspect="1"/>
          </p:cNvGraphicFramePr>
          <p:nvPr/>
        </p:nvGraphicFramePr>
        <p:xfrm>
          <a:off x="1619672" y="3146686"/>
          <a:ext cx="3553120" cy="936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5" name="公式" r:id="rId9" imgW="1381125" imgH="356235" progId="Equation.3">
                  <p:embed/>
                </p:oleObj>
              </mc:Choice>
              <mc:Fallback>
                <p:oleObj name="公式" r:id="rId9" imgW="1381125" imgH="35623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3146686"/>
                        <a:ext cx="3553120" cy="936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4" name="Object 8"/>
          <p:cNvGraphicFramePr>
            <a:graphicFrameLocks noChangeAspect="1"/>
          </p:cNvGraphicFramePr>
          <p:nvPr/>
        </p:nvGraphicFramePr>
        <p:xfrm>
          <a:off x="838245" y="4180842"/>
          <a:ext cx="4252912" cy="91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6" name="公式" r:id="rId11" imgW="1695450" imgH="356235" progId="Equation.3">
                  <p:embed/>
                </p:oleObj>
              </mc:Choice>
              <mc:Fallback>
                <p:oleObj name="公式" r:id="rId11" imgW="1695450" imgH="35623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45" y="4180842"/>
                        <a:ext cx="4252912" cy="913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5" name="Object 9"/>
          <p:cNvGraphicFramePr>
            <a:graphicFrameLocks noChangeAspect="1"/>
          </p:cNvGraphicFramePr>
          <p:nvPr/>
        </p:nvGraphicFramePr>
        <p:xfrm>
          <a:off x="4211960" y="5191855"/>
          <a:ext cx="2801518" cy="930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7" name="公式" r:id="rId13" imgW="1581150" imgH="414020" progId="Equation.3">
                  <p:embed/>
                </p:oleObj>
              </mc:Choice>
              <mc:Fallback>
                <p:oleObj name="公式" r:id="rId13" imgW="1581150" imgH="4140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5191855"/>
                        <a:ext cx="2801518" cy="9304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6" name="Object 10"/>
          <p:cNvGraphicFramePr>
            <a:graphicFrameLocks noChangeAspect="1"/>
          </p:cNvGraphicFramePr>
          <p:nvPr/>
        </p:nvGraphicFramePr>
        <p:xfrm>
          <a:off x="1352029" y="5298442"/>
          <a:ext cx="26812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8" name="公式" r:id="rId15" imgW="1276350" imgH="201930" progId="Equation.3">
                  <p:embed/>
                </p:oleObj>
              </mc:Choice>
              <mc:Fallback>
                <p:oleObj name="公式" r:id="rId15" imgW="1276350" imgH="20193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029" y="5298442"/>
                        <a:ext cx="268128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4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8" grpId="0" autoUpdateAnimBg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Text Box 2"/>
          <p:cNvSpPr txBox="1">
            <a:spLocks noChangeArrowheads="1"/>
          </p:cNvSpPr>
          <p:nvPr/>
        </p:nvSpPr>
        <p:spPr bwMode="auto">
          <a:xfrm>
            <a:off x="684213" y="1700213"/>
            <a:ext cx="25923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表中所给的</a:t>
            </a:r>
            <a:endParaRPr lang="zh-CN" altLang="en-US" sz="3200" b="1">
              <a:ea typeface="楷体_GB2312" pitchFamily="49" charset="-122"/>
            </a:endParaRPr>
          </a:p>
        </p:txBody>
      </p:sp>
      <p:graphicFrame>
        <p:nvGraphicFramePr>
          <p:cNvPr id="215043" name="Object 3"/>
          <p:cNvGraphicFramePr>
            <a:graphicFrameLocks noChangeAspect="1"/>
          </p:cNvGraphicFramePr>
          <p:nvPr/>
        </p:nvGraphicFramePr>
        <p:xfrm>
          <a:off x="2805113" y="1798638"/>
          <a:ext cx="5429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1" name="公式" r:id="rId1" imgW="133350" imgH="125095" progId="Equation.3">
                  <p:embed/>
                </p:oleObj>
              </mc:Choice>
              <mc:Fallback>
                <p:oleObj name="公式" r:id="rId1" imgW="133350" imgH="12509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113" y="1798638"/>
                        <a:ext cx="5429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44" name="Text Box 4"/>
          <p:cNvSpPr txBox="1">
            <a:spLocks noChangeArrowheads="1"/>
          </p:cNvSpPr>
          <p:nvPr/>
        </p:nvSpPr>
        <p:spPr bwMode="auto">
          <a:xfrm>
            <a:off x="3205163" y="1700213"/>
            <a:ext cx="61928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都是很小的数，如</a:t>
            </a:r>
            <a:r>
              <a:rPr lang="en-US" altLang="zh-CN" sz="3200" b="1">
                <a:ea typeface="楷体_GB2312" pitchFamily="49" charset="-122"/>
              </a:rPr>
              <a:t>0.01</a:t>
            </a:r>
            <a:r>
              <a:rPr lang="zh-CN" altLang="en-US" sz="3200" b="1">
                <a:ea typeface="楷体_GB2312" pitchFamily="49" charset="-122"/>
              </a:rPr>
              <a:t>，</a:t>
            </a:r>
            <a:r>
              <a:rPr lang="en-US" altLang="zh-CN" sz="3200" b="1">
                <a:ea typeface="楷体_GB2312" pitchFamily="49" charset="-122"/>
              </a:rPr>
              <a:t>0.05</a:t>
            </a:r>
            <a:r>
              <a:rPr lang="zh-CN" altLang="en-US" sz="3200" b="1">
                <a:ea typeface="楷体_GB2312" pitchFamily="49" charset="-122"/>
              </a:rPr>
              <a:t>等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215045" name="Text Box 5"/>
          <p:cNvSpPr txBox="1">
            <a:spLocks noChangeArrowheads="1"/>
          </p:cNvSpPr>
          <p:nvPr/>
        </p:nvSpPr>
        <p:spPr bwMode="auto">
          <a:xfrm>
            <a:off x="755650" y="2349500"/>
            <a:ext cx="863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当</a:t>
            </a:r>
            <a:endParaRPr lang="zh-CN" altLang="en-US" sz="3200" b="1">
              <a:ea typeface="楷体_GB2312" pitchFamily="49" charset="-122"/>
            </a:endParaRPr>
          </a:p>
        </p:txBody>
      </p:sp>
      <p:graphicFrame>
        <p:nvGraphicFramePr>
          <p:cNvPr id="215046" name="Object 6"/>
          <p:cNvGraphicFramePr>
            <a:graphicFrameLocks noChangeAspect="1"/>
          </p:cNvGraphicFramePr>
          <p:nvPr/>
        </p:nvGraphicFramePr>
        <p:xfrm>
          <a:off x="1319213" y="2446338"/>
          <a:ext cx="5429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2" name="公式" r:id="rId3" imgW="133350" imgH="125095" progId="Equation.3">
                  <p:embed/>
                </p:oleObj>
              </mc:Choice>
              <mc:Fallback>
                <p:oleObj name="公式" r:id="rId3" imgW="133350" imgH="12509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2446338"/>
                        <a:ext cx="5429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47" name="Text Box 7"/>
          <p:cNvSpPr txBox="1">
            <a:spLocks noChangeArrowheads="1"/>
          </p:cNvSpPr>
          <p:nvPr/>
        </p:nvSpPr>
        <p:spPr bwMode="auto">
          <a:xfrm>
            <a:off x="792163" y="3284538"/>
            <a:ext cx="64436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表中查不出，由性质（</a:t>
            </a:r>
            <a:r>
              <a:rPr lang="en-US" altLang="zh-CN" sz="3200" b="1">
                <a:ea typeface="楷体_GB2312" pitchFamily="49" charset="-122"/>
              </a:rPr>
              <a:t>2</a:t>
            </a:r>
            <a:r>
              <a:rPr lang="zh-CN" altLang="en-US" sz="3200" b="1">
                <a:ea typeface="楷体_GB2312" pitchFamily="49" charset="-122"/>
              </a:rPr>
              <a:t>）</a:t>
            </a:r>
            <a:endParaRPr lang="zh-CN" altLang="en-US" sz="3200" b="1">
              <a:ea typeface="楷体_GB2312" pitchFamily="49" charset="-122"/>
            </a:endParaRPr>
          </a:p>
        </p:txBody>
      </p:sp>
      <p:graphicFrame>
        <p:nvGraphicFramePr>
          <p:cNvPr id="40968" name="Object 8"/>
          <p:cNvGraphicFramePr>
            <a:graphicFrameLocks noChangeAspect="1"/>
          </p:cNvGraphicFramePr>
          <p:nvPr/>
        </p:nvGraphicFramePr>
        <p:xfrm>
          <a:off x="539750" y="404813"/>
          <a:ext cx="4800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3" name="公式" r:id="rId5" imgW="1581150" imgH="356235" progId="Equation.3">
                  <p:embed/>
                </p:oleObj>
              </mc:Choice>
              <mc:Fallback>
                <p:oleObj name="公式" r:id="rId5" imgW="1581150" imgH="35623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04813"/>
                        <a:ext cx="48006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9" name="Object 9"/>
          <p:cNvGraphicFramePr>
            <a:graphicFrameLocks noChangeAspect="1"/>
          </p:cNvGraphicFramePr>
          <p:nvPr/>
        </p:nvGraphicFramePr>
        <p:xfrm>
          <a:off x="684213" y="4581525"/>
          <a:ext cx="2971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4" name="公式" r:id="rId7" imgW="971550" imgH="211455" progId="Equation.3">
                  <p:embed/>
                </p:oleObj>
              </mc:Choice>
              <mc:Fallback>
                <p:oleObj name="公式" r:id="rId7" imgW="971550" imgH="21145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581525"/>
                        <a:ext cx="29718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0" name="Object 10"/>
          <p:cNvGraphicFramePr>
            <a:graphicFrameLocks noChangeAspect="1"/>
          </p:cNvGraphicFramePr>
          <p:nvPr/>
        </p:nvGraphicFramePr>
        <p:xfrm>
          <a:off x="3708400" y="4221163"/>
          <a:ext cx="2400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5" name="公式" r:id="rId9" imgW="781050" imgH="414020" progId="Equation.3">
                  <p:embed/>
                </p:oleObj>
              </mc:Choice>
              <mc:Fallback>
                <p:oleObj name="公式" r:id="rId9" imgW="781050" imgH="41402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221163"/>
                        <a:ext cx="24003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1" name="Object 11"/>
          <p:cNvGraphicFramePr>
            <a:graphicFrameLocks noChangeAspect="1"/>
          </p:cNvGraphicFramePr>
          <p:nvPr/>
        </p:nvGraphicFramePr>
        <p:xfrm>
          <a:off x="6011863" y="4221163"/>
          <a:ext cx="28575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6" name="公式" r:id="rId11" imgW="933450" imgH="375285" progId="Equation.3">
                  <p:embed/>
                </p:oleObj>
              </mc:Choice>
              <mc:Fallback>
                <p:oleObj name="公式" r:id="rId11" imgW="933450" imgH="37528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4221163"/>
                        <a:ext cx="28575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2" name="Rectangle 12"/>
          <p:cNvSpPr>
            <a:spLocks noChangeArrowheads="1"/>
          </p:cNvSpPr>
          <p:nvPr/>
        </p:nvSpPr>
        <p:spPr bwMode="auto">
          <a:xfrm>
            <a:off x="1835150" y="2387600"/>
            <a:ext cx="3333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3200" b="1">
                <a:ea typeface="楷体_GB2312" pitchFamily="49" charset="-122"/>
              </a:rPr>
              <a:t>较大时，如</a:t>
            </a:r>
            <a:r>
              <a:rPr lang="en-US" altLang="zh-CN" sz="3200" b="1">
                <a:ea typeface="楷体_GB2312" pitchFamily="49" charset="-122"/>
              </a:rPr>
              <a:t>0.95</a:t>
            </a:r>
            <a:r>
              <a:rPr lang="zh-CN" altLang="en-US" sz="3200" b="1">
                <a:ea typeface="楷体_GB2312" pitchFamily="49" charset="-122"/>
              </a:rPr>
              <a:t>，</a:t>
            </a:r>
            <a:endParaRPr lang="zh-CN" altLang="en-US" sz="3200" b="1"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5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2" grpId="0" autoUpdateAnimBg="0" build="p"/>
      <p:bldP spid="215044" grpId="0" autoUpdateAnimBg="0" build="p"/>
      <p:bldP spid="215045" grpId="0" autoUpdateAnimBg="0" build="p"/>
      <p:bldP spid="215047" grpId="0" autoUpdateAnimBg="0" build="p"/>
      <p:bldP spid="21505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9388" y="496888"/>
            <a:ext cx="1649412" cy="609600"/>
          </a:xfrm>
          <a:noFill/>
        </p:spPr>
        <p:txBody>
          <a:bodyPr/>
          <a:lstStyle/>
          <a:p>
            <a:r>
              <a:rPr lang="zh-CN" altLang="en-US" sz="2800"/>
              <a:t>例</a:t>
            </a:r>
            <a:endParaRPr lang="zh-CN" altLang="en-US" sz="2800" b="0"/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3459163" y="549275"/>
          <a:ext cx="14859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7" name="Equation" r:id="rId1" imgW="552450" imgH="182880" progId="Equation.DSMT4">
                  <p:embed/>
                </p:oleObj>
              </mc:Choice>
              <mc:Fallback>
                <p:oleObj name="Equation" r:id="rId1" imgW="552450" imgH="1828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9163" y="549275"/>
                        <a:ext cx="14859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5386388" y="492125"/>
          <a:ext cx="4937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8" name="Equation" r:id="rId3" imgW="171450" imgH="173355" progId="Equation.DSMT4">
                  <p:embed/>
                </p:oleObj>
              </mc:Choice>
              <mc:Fallback>
                <p:oleObj name="Equation" r:id="rId3" imgW="171450" imgH="17335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6388" y="492125"/>
                        <a:ext cx="49371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57" name="Object 5"/>
          <p:cNvGraphicFramePr>
            <a:graphicFrameLocks noChangeAspect="1"/>
          </p:cNvGraphicFramePr>
          <p:nvPr/>
        </p:nvGraphicFramePr>
        <p:xfrm>
          <a:off x="3316288" y="1141413"/>
          <a:ext cx="1979612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9" name="Equation" r:id="rId5" imgW="742950" imgH="404495" progId="Equation.DSMT4">
                  <p:embed/>
                </p:oleObj>
              </mc:Choice>
              <mc:Fallback>
                <p:oleObj name="Equation" r:id="rId5" imgW="742950" imgH="40449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1141413"/>
                        <a:ext cx="1979612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1470025" y="514350"/>
            <a:ext cx="3173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设随机变量</a:t>
            </a:r>
            <a:endParaRPr lang="zh-CN" altLang="en-US" sz="2800" b="1"/>
          </a:p>
        </p:txBody>
      </p:sp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4903788" y="500063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求</a:t>
            </a:r>
            <a:endParaRPr lang="zh-CN" altLang="en-US" sz="2800" b="1"/>
          </a:p>
        </p:txBody>
      </p:sp>
      <p:sp>
        <p:nvSpPr>
          <p:cNvPr id="41992" name="Text Box 8"/>
          <p:cNvSpPr txBox="1">
            <a:spLocks noChangeArrowheads="1"/>
          </p:cNvSpPr>
          <p:nvPr/>
        </p:nvSpPr>
        <p:spPr bwMode="auto">
          <a:xfrm>
            <a:off x="5781675" y="514350"/>
            <a:ext cx="2967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的分布。</a:t>
            </a:r>
            <a:endParaRPr lang="zh-CN" altLang="en-US" sz="2800" b="1"/>
          </a:p>
        </p:txBody>
      </p:sp>
      <p:sp>
        <p:nvSpPr>
          <p:cNvPr id="228361" name="Text Box 9"/>
          <p:cNvSpPr txBox="1">
            <a:spLocks noChangeArrowheads="1"/>
          </p:cNvSpPr>
          <p:nvPr/>
        </p:nvSpPr>
        <p:spPr bwMode="auto">
          <a:xfrm>
            <a:off x="654050" y="1393825"/>
            <a:ext cx="809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解 </a:t>
            </a:r>
            <a:r>
              <a:rPr lang="zh-CN" altLang="en-US" sz="2800" b="1"/>
              <a:t> </a:t>
            </a:r>
            <a:endParaRPr lang="zh-CN" altLang="en-US" sz="2800" b="1"/>
          </a:p>
        </p:txBody>
      </p:sp>
      <p:grpSp>
        <p:nvGrpSpPr>
          <p:cNvPr id="2" name="Group 10"/>
          <p:cNvGrpSpPr/>
          <p:nvPr/>
        </p:nvGrpSpPr>
        <p:grpSpPr bwMode="auto">
          <a:xfrm>
            <a:off x="5314950" y="1377950"/>
            <a:ext cx="2852738" cy="546100"/>
            <a:chOff x="3494" y="793"/>
            <a:chExt cx="1797" cy="344"/>
          </a:xfrm>
        </p:grpSpPr>
        <p:graphicFrame>
          <p:nvGraphicFramePr>
            <p:cNvPr id="42007" name="Object 11"/>
            <p:cNvGraphicFramePr>
              <a:graphicFrameLocks noChangeAspect="1"/>
            </p:cNvGraphicFramePr>
            <p:nvPr/>
          </p:nvGraphicFramePr>
          <p:xfrm>
            <a:off x="4564" y="829"/>
            <a:ext cx="291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30" name="公式" r:id="rId7" imgW="161925" imgH="144145" progId="Equation.3">
                    <p:embed/>
                  </p:oleObj>
                </mc:Choice>
                <mc:Fallback>
                  <p:oleObj name="公式" r:id="rId7" imgW="161925" imgH="14414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lum bright="-100000" contras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4" y="829"/>
                          <a:ext cx="291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8" name="Object 12"/>
            <p:cNvGraphicFramePr>
              <a:graphicFrameLocks noChangeAspect="1"/>
            </p:cNvGraphicFramePr>
            <p:nvPr/>
          </p:nvGraphicFramePr>
          <p:xfrm>
            <a:off x="5042" y="821"/>
            <a:ext cx="24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31" name="公式" r:id="rId9" imgW="133350" imgH="144145" progId="Equation.3">
                    <p:embed/>
                  </p:oleObj>
                </mc:Choice>
                <mc:Fallback>
                  <p:oleObj name="公式" r:id="rId9" imgW="133350" imgH="144145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lum bright="-100000" contras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2" y="821"/>
                          <a:ext cx="249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9" name="Text Box 13"/>
            <p:cNvSpPr txBox="1">
              <a:spLocks noChangeArrowheads="1"/>
            </p:cNvSpPr>
            <p:nvPr/>
          </p:nvSpPr>
          <p:spPr bwMode="auto">
            <a:xfrm>
              <a:off x="3494" y="793"/>
              <a:ext cx="1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随机变量</a:t>
              </a:r>
              <a:endParaRPr lang="zh-CN" altLang="en-US" sz="2800" b="1"/>
            </a:p>
          </p:txBody>
        </p:sp>
        <p:sp>
          <p:nvSpPr>
            <p:cNvPr id="42010" name="Text Box 14"/>
            <p:cNvSpPr txBox="1">
              <a:spLocks noChangeArrowheads="1"/>
            </p:cNvSpPr>
            <p:nvPr/>
          </p:nvSpPr>
          <p:spPr bwMode="auto">
            <a:xfrm>
              <a:off x="4757" y="810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与</a:t>
              </a:r>
              <a:endParaRPr lang="zh-CN" altLang="en-US" sz="2800" b="1"/>
            </a:p>
          </p:txBody>
        </p:sp>
      </p:grpSp>
      <p:sp>
        <p:nvSpPr>
          <p:cNvPr id="228367" name="Text Box 15"/>
          <p:cNvSpPr txBox="1">
            <a:spLocks noChangeArrowheads="1"/>
          </p:cNvSpPr>
          <p:nvPr/>
        </p:nvSpPr>
        <p:spPr bwMode="auto">
          <a:xfrm>
            <a:off x="8066088" y="1393825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独立</a:t>
            </a:r>
            <a:endParaRPr lang="zh-CN" altLang="en-US" sz="2800" b="1"/>
          </a:p>
        </p:txBody>
      </p:sp>
      <p:graphicFrame>
        <p:nvGraphicFramePr>
          <p:cNvPr id="228368" name="Object 16"/>
          <p:cNvGraphicFramePr>
            <a:graphicFrameLocks noChangeAspect="1"/>
          </p:cNvGraphicFramePr>
          <p:nvPr/>
        </p:nvGraphicFramePr>
        <p:xfrm>
          <a:off x="2154238" y="2481263"/>
          <a:ext cx="20796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2" name="公式" r:id="rId11" imgW="781050" imgH="182880" progId="Equation.3">
                  <p:embed/>
                </p:oleObj>
              </mc:Choice>
              <mc:Fallback>
                <p:oleObj name="公式" r:id="rId11" imgW="781050" imgH="1828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2481263"/>
                        <a:ext cx="207962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9" name="Object 17"/>
          <p:cNvGraphicFramePr>
            <a:graphicFrameLocks noChangeAspect="1"/>
          </p:cNvGraphicFramePr>
          <p:nvPr/>
        </p:nvGraphicFramePr>
        <p:xfrm>
          <a:off x="4643438" y="2401888"/>
          <a:ext cx="17462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3" name="公式" r:id="rId13" imgW="657225" imgH="211455" progId="Equation.3">
                  <p:embed/>
                </p:oleObj>
              </mc:Choice>
              <mc:Fallback>
                <p:oleObj name="公式" r:id="rId13" imgW="657225" imgH="21145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2401888"/>
                        <a:ext cx="17462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70" name="Text Box 18"/>
          <p:cNvSpPr txBox="1">
            <a:spLocks noChangeArrowheads="1"/>
          </p:cNvSpPr>
          <p:nvPr/>
        </p:nvSpPr>
        <p:spPr bwMode="auto">
          <a:xfrm>
            <a:off x="2425700" y="3522663"/>
            <a:ext cx="898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因而</a:t>
            </a:r>
            <a:endParaRPr lang="zh-CN" altLang="en-US" sz="2800" b="1"/>
          </a:p>
        </p:txBody>
      </p:sp>
      <p:graphicFrame>
        <p:nvGraphicFramePr>
          <p:cNvPr id="228371" name="Object 19"/>
          <p:cNvGraphicFramePr>
            <a:graphicFrameLocks noChangeAspect="1"/>
          </p:cNvGraphicFramePr>
          <p:nvPr/>
        </p:nvGraphicFramePr>
        <p:xfrm>
          <a:off x="3763963" y="3213100"/>
          <a:ext cx="187960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4" name="Equation" r:id="rId15" imgW="704850" imgH="404495" progId="Equation.DSMT4">
                  <p:embed/>
                </p:oleObj>
              </mc:Choice>
              <mc:Fallback>
                <p:oleObj name="Equation" r:id="rId15" imgW="704850" imgH="404495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3963" y="3213100"/>
                        <a:ext cx="1879600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2" name="Object 20"/>
          <p:cNvGraphicFramePr>
            <a:graphicFrameLocks noChangeAspect="1"/>
          </p:cNvGraphicFramePr>
          <p:nvPr/>
        </p:nvGraphicFramePr>
        <p:xfrm>
          <a:off x="2670175" y="4402138"/>
          <a:ext cx="20478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5" name="公式" r:id="rId17" imgW="771525" imgH="211455" progId="Equation.3">
                  <p:embed/>
                </p:oleObj>
              </mc:Choice>
              <mc:Fallback>
                <p:oleObj name="公式" r:id="rId17" imgW="771525" imgH="211455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4402138"/>
                        <a:ext cx="20478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3" name="Object 21"/>
          <p:cNvGraphicFramePr>
            <a:graphicFrameLocks noChangeAspect="1"/>
          </p:cNvGraphicFramePr>
          <p:nvPr/>
        </p:nvGraphicFramePr>
        <p:xfrm>
          <a:off x="4841875" y="4402138"/>
          <a:ext cx="184626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6" name="公式" r:id="rId19" imgW="695325" imgH="211455" progId="Equation.3">
                  <p:embed/>
                </p:oleObj>
              </mc:Choice>
              <mc:Fallback>
                <p:oleObj name="公式" r:id="rId19" imgW="695325" imgH="21145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75" y="4402138"/>
                        <a:ext cx="184626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74" name="Object 22"/>
          <p:cNvGraphicFramePr>
            <a:graphicFrameLocks noChangeAspect="1"/>
          </p:cNvGraphicFramePr>
          <p:nvPr/>
        </p:nvGraphicFramePr>
        <p:xfrm>
          <a:off x="4083050" y="5373688"/>
          <a:ext cx="20478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7" name="Equation" r:id="rId21" imgW="771525" imgH="211455" progId="Equation.DSMT4">
                  <p:embed/>
                </p:oleObj>
              </mc:Choice>
              <mc:Fallback>
                <p:oleObj name="Equation" r:id="rId21" imgW="771525" imgH="211455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0" y="5373688"/>
                        <a:ext cx="20478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8375" name="Text Box 23"/>
          <p:cNvSpPr txBox="1">
            <a:spLocks noChangeArrowheads="1"/>
          </p:cNvSpPr>
          <p:nvPr/>
        </p:nvSpPr>
        <p:spPr bwMode="auto">
          <a:xfrm>
            <a:off x="1619250" y="4454525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由于</a:t>
            </a:r>
            <a:endParaRPr lang="zh-CN" altLang="en-US" sz="2800" b="1"/>
          </a:p>
        </p:txBody>
      </p:sp>
      <p:sp>
        <p:nvSpPr>
          <p:cNvPr id="228376" name="Text Box 24"/>
          <p:cNvSpPr txBox="1">
            <a:spLocks noChangeArrowheads="1"/>
          </p:cNvSpPr>
          <p:nvPr/>
        </p:nvSpPr>
        <p:spPr bwMode="auto">
          <a:xfrm>
            <a:off x="1625600" y="5402263"/>
            <a:ext cx="1968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由定理 </a:t>
            </a:r>
            <a:r>
              <a:rPr lang="en-US" altLang="zh-CN" sz="2800" b="1"/>
              <a:t>3 </a:t>
            </a:r>
            <a:r>
              <a:rPr lang="zh-CN" altLang="en-US" sz="2800" b="1"/>
              <a:t>得</a:t>
            </a:r>
            <a:endParaRPr lang="zh-CN" altLang="en-US" sz="2800" b="1"/>
          </a:p>
        </p:txBody>
      </p:sp>
      <p:sp>
        <p:nvSpPr>
          <p:cNvPr id="228377" name="Text Box 25"/>
          <p:cNvSpPr txBox="1">
            <a:spLocks noChangeArrowheads="1"/>
          </p:cNvSpPr>
          <p:nvPr/>
        </p:nvSpPr>
        <p:spPr bwMode="auto">
          <a:xfrm>
            <a:off x="1489075" y="1382713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由题可知</a:t>
            </a:r>
            <a:endParaRPr lang="zh-CN" altLang="en-US" sz="2800" b="1"/>
          </a:p>
        </p:txBody>
      </p:sp>
      <p:graphicFrame>
        <p:nvGraphicFramePr>
          <p:cNvPr id="228378" name="Object 26"/>
          <p:cNvGraphicFramePr>
            <a:graphicFrameLocks noChangeAspect="1"/>
          </p:cNvGraphicFramePr>
          <p:nvPr/>
        </p:nvGraphicFramePr>
        <p:xfrm>
          <a:off x="6372225" y="5100638"/>
          <a:ext cx="21113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8" name="Equation" r:id="rId23" imgW="790575" imgH="375285" progId="Equation.DSMT4">
                  <p:embed/>
                </p:oleObj>
              </mc:Choice>
              <mc:Fallback>
                <p:oleObj name="Equation" r:id="rId23" imgW="790575" imgH="375285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5100638"/>
                        <a:ext cx="211137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8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8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8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8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8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8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61" grpId="0" autoUpdateAnimBg="0" build="p"/>
      <p:bldP spid="228367" grpId="0" autoUpdateAnimBg="0" build="p"/>
      <p:bldP spid="228370" grpId="0" autoUpdateAnimBg="0" build="p"/>
      <p:bldP spid="228375" grpId="0" autoUpdateAnimBg="0" build="p"/>
      <p:bldP spid="228376" grpId="0" autoUpdateAnimBg="0" build="p"/>
      <p:bldP spid="228377" grpId="0" autoUpdateAnimBg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4262153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65" y="600075"/>
            <a:ext cx="863219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1169988" y="1471613"/>
            <a:ext cx="2640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 b="1">
                <a:solidFill>
                  <a:srgbClr val="5050CC"/>
                </a:solidFill>
                <a:latin typeface="宋体" panose="02010600030101010101" pitchFamily="2" charset="-122"/>
              </a:rPr>
              <a:t>例</a:t>
            </a:r>
            <a:r>
              <a:rPr kumimoji="0" lang="en-US" altLang="zh-CN" sz="2000" b="1">
                <a:solidFill>
                  <a:srgbClr val="5050CC"/>
                </a:solidFill>
                <a:latin typeface="宋体" panose="02010600030101010101" pitchFamily="2" charset="-122"/>
              </a:rPr>
              <a:t>3</a:t>
            </a:r>
            <a:r>
              <a:rPr kumimoji="0" lang="zh-CN" altLang="en-US" sz="2000" b="1">
                <a:latin typeface="宋体" panose="02010600030101010101" pitchFamily="2" charset="-122"/>
              </a:rPr>
              <a:t>　</a:t>
            </a:r>
            <a:r>
              <a:rPr kumimoji="0" lang="zh-CN" altLang="en-US" sz="2000">
                <a:latin typeface="宋体" panose="02010600030101010101" pitchFamily="2" charset="-122"/>
              </a:rPr>
              <a:t>设总体</a:t>
            </a:r>
            <a:endParaRPr kumimoji="0" lang="zh-CN" altLang="en-US" sz="2000">
              <a:latin typeface="宋体" panose="02010600030101010101" pitchFamily="2" charset="-122"/>
            </a:endParaRP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685800" y="1905000"/>
            <a:ext cx="67056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0" lang="zh-CN" altLang="en-US" sz="2000">
                <a:latin typeface="宋体" panose="02010600030101010101" pitchFamily="2" charset="-122"/>
              </a:rPr>
              <a:t>于</a:t>
            </a:r>
            <a:r>
              <a:rPr kumimoji="0" lang="en-US" altLang="zh-CN" sz="2000"/>
              <a:t>70</a:t>
            </a:r>
            <a:r>
              <a:rPr kumimoji="0" lang="zh-CN" altLang="en-US" sz="2000">
                <a:latin typeface="宋体" panose="02010600030101010101" pitchFamily="2" charset="-122"/>
              </a:rPr>
              <a:t>的概率不小于</a:t>
            </a:r>
            <a:r>
              <a:rPr kumimoji="0" lang="en-US" altLang="zh-CN" sz="2000"/>
              <a:t>90%</a:t>
            </a:r>
            <a:r>
              <a:rPr kumimoji="0" lang="zh-CN" altLang="en-US" sz="2000">
                <a:latin typeface="宋体" panose="02010600030101010101" pitchFamily="2" charset="-122"/>
              </a:rPr>
              <a:t>，则样本容量至少为</a:t>
            </a:r>
            <a:r>
              <a:rPr kumimoji="0" lang="en-US" altLang="zh-CN" sz="2000"/>
              <a:t>n=</a:t>
            </a:r>
            <a:r>
              <a:rPr kumimoji="0" lang="en-US" altLang="zh-CN" sz="2000" u="sng"/>
              <a:t>42</a:t>
            </a:r>
            <a:r>
              <a:rPr kumimoji="0" lang="zh-CN" altLang="en-US" sz="2000">
                <a:latin typeface="宋体" panose="02010600030101010101" pitchFamily="2" charset="-122"/>
              </a:rPr>
              <a:t>．  </a:t>
            </a:r>
            <a:endParaRPr kumimoji="0" lang="zh-CN" altLang="en-US" sz="2000">
              <a:latin typeface="宋体" panose="02010600030101010101" pitchFamily="2" charset="-122"/>
            </a:endParaRP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4540250" y="1477963"/>
            <a:ext cx="221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latin typeface="宋体" panose="02010600030101010101" pitchFamily="2" charset="-122"/>
              </a:rPr>
              <a:t>，为使样本均值大</a:t>
            </a:r>
            <a:endParaRPr kumimoji="0" lang="zh-CN" altLang="en-US" sz="2000">
              <a:latin typeface="宋体" panose="02010600030101010101" pitchFamily="2" charset="-122"/>
            </a:endParaRP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1219200" y="2620963"/>
            <a:ext cx="3733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 b="1">
                <a:solidFill>
                  <a:srgbClr val="5050CC"/>
                </a:solidFill>
                <a:latin typeface="宋体" panose="02010600030101010101" pitchFamily="2" charset="-122"/>
              </a:rPr>
              <a:t>解</a:t>
            </a:r>
            <a:r>
              <a:rPr kumimoji="0" lang="zh-CN" altLang="en-US" sz="2000" b="1">
                <a:latin typeface="宋体" panose="02010600030101010101" pitchFamily="2" charset="-122"/>
              </a:rPr>
              <a:t>　</a:t>
            </a:r>
            <a:r>
              <a:rPr kumimoji="0" lang="zh-CN" altLang="en-US" sz="2000">
                <a:latin typeface="宋体" panose="02010600030101010101" pitchFamily="2" charset="-122"/>
              </a:rPr>
              <a:t>设样本容量为</a:t>
            </a:r>
            <a:r>
              <a:rPr kumimoji="0" lang="en-US" altLang="zh-CN" sz="2000" i="1"/>
              <a:t>n</a:t>
            </a:r>
            <a:r>
              <a:rPr kumimoji="0" lang="zh-CN" altLang="en-US" sz="2000">
                <a:latin typeface="宋体" panose="02010600030101010101" pitchFamily="2" charset="-122"/>
              </a:rPr>
              <a:t>，则</a:t>
            </a:r>
            <a:endParaRPr kumimoji="0" lang="zh-CN" altLang="en-US" sz="2000">
              <a:latin typeface="宋体" panose="02010600030101010101" pitchFamily="2" charset="-122"/>
            </a:endParaRPr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1212850" y="330200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latin typeface="宋体" panose="02010600030101010101" pitchFamily="2" charset="-122"/>
              </a:rPr>
              <a:t>故</a:t>
            </a:r>
            <a:endParaRPr kumimoji="0" lang="zh-CN" altLang="en-US" sz="2000">
              <a:latin typeface="宋体" panose="02010600030101010101" pitchFamily="2" charset="-122"/>
            </a:endParaRPr>
          </a:p>
        </p:txBody>
      </p:sp>
      <p:sp>
        <p:nvSpPr>
          <p:cNvPr id="53255" name="Text Box 7"/>
          <p:cNvSpPr txBox="1">
            <a:spLocks noChangeArrowheads="1"/>
          </p:cNvSpPr>
          <p:nvPr/>
        </p:nvSpPr>
        <p:spPr bwMode="auto">
          <a:xfrm>
            <a:off x="1219200" y="392430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latin typeface="宋体" panose="02010600030101010101" pitchFamily="2" charset="-122"/>
              </a:rPr>
              <a:t>令</a:t>
            </a:r>
            <a:endParaRPr kumimoji="0" lang="zh-CN" altLang="en-US" sz="2000">
              <a:latin typeface="宋体" panose="02010600030101010101" pitchFamily="2" charset="-122"/>
            </a:endParaRPr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3473450" y="3952875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latin typeface="宋体" panose="02010600030101010101" pitchFamily="2" charset="-122"/>
              </a:rPr>
              <a:t>查表得</a:t>
            </a:r>
            <a:endParaRPr kumimoji="0" lang="zh-CN" altLang="en-US" sz="2000">
              <a:latin typeface="宋体" panose="02010600030101010101" pitchFamily="2" charset="-122"/>
            </a:endParaRPr>
          </a:p>
        </p:txBody>
      </p:sp>
      <p:sp>
        <p:nvSpPr>
          <p:cNvPr id="53257" name="Text Box 9"/>
          <p:cNvSpPr txBox="1">
            <a:spLocks noChangeArrowheads="1"/>
          </p:cNvSpPr>
          <p:nvPr/>
        </p:nvSpPr>
        <p:spPr bwMode="auto">
          <a:xfrm>
            <a:off x="1225550" y="445770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latin typeface="宋体" panose="02010600030101010101" pitchFamily="2" charset="-122"/>
              </a:rPr>
              <a:t>即</a:t>
            </a:r>
            <a:endParaRPr kumimoji="0" lang="zh-CN" altLang="en-US" sz="2000">
              <a:latin typeface="宋体" panose="02010600030101010101" pitchFamily="2" charset="-122"/>
            </a:endParaRPr>
          </a:p>
        </p:txBody>
      </p:sp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3054350" y="4457700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>
                <a:latin typeface="宋体" panose="02010600030101010101" pitchFamily="2" charset="-122"/>
              </a:rPr>
              <a:t>所以取</a:t>
            </a:r>
            <a:endParaRPr kumimoji="0" lang="zh-CN" altLang="en-US" sz="2000">
              <a:latin typeface="宋体" panose="02010600030101010101" pitchFamily="2" charset="-122"/>
            </a:endParaRPr>
          </a:p>
        </p:txBody>
      </p:sp>
      <p:graphicFrame>
        <p:nvGraphicFramePr>
          <p:cNvPr id="53259" name="Object 2"/>
          <p:cNvGraphicFramePr>
            <a:graphicFrameLocks noChangeAspect="1"/>
          </p:cNvGraphicFramePr>
          <p:nvPr/>
        </p:nvGraphicFramePr>
        <p:xfrm>
          <a:off x="2874963" y="1595438"/>
          <a:ext cx="1697037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11" name="Equation" r:id="rId1" imgW="1879600" imgH="342900" progId="Equation.3">
                  <p:embed/>
                </p:oleObj>
              </mc:Choice>
              <mc:Fallback>
                <p:oleObj name="Equation" r:id="rId1" imgW="1879600" imgH="342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1595438"/>
                        <a:ext cx="1697037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0" name="Object 3"/>
          <p:cNvGraphicFramePr>
            <a:graphicFrameLocks noChangeAspect="1"/>
          </p:cNvGraphicFramePr>
          <p:nvPr/>
        </p:nvGraphicFramePr>
        <p:xfrm>
          <a:off x="4343400" y="2514600"/>
          <a:ext cx="180181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12" name="Equation" r:id="rId3" imgW="1993900" imgH="723900" progId="Equation.3">
                  <p:embed/>
                </p:oleObj>
              </mc:Choice>
              <mc:Fallback>
                <p:oleObj name="Equation" r:id="rId3" imgW="1993900" imgH="723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514600"/>
                        <a:ext cx="1801813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1" name="Object 4"/>
          <p:cNvGraphicFramePr>
            <a:graphicFrameLocks noChangeAspect="1"/>
          </p:cNvGraphicFramePr>
          <p:nvPr/>
        </p:nvGraphicFramePr>
        <p:xfrm>
          <a:off x="1600200" y="3390900"/>
          <a:ext cx="295275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13" name="Equation" r:id="rId5" imgW="3276600" imgH="368300" progId="Equation.3">
                  <p:embed/>
                </p:oleObj>
              </mc:Choice>
              <mc:Fallback>
                <p:oleObj name="Equation" r:id="rId5" imgW="3276600" imgH="368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390900"/>
                        <a:ext cx="2952750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2" name="Object 5"/>
          <p:cNvGraphicFramePr>
            <a:graphicFrameLocks noChangeAspect="1"/>
          </p:cNvGraphicFramePr>
          <p:nvPr/>
        </p:nvGraphicFramePr>
        <p:xfrm>
          <a:off x="1600200" y="3987800"/>
          <a:ext cx="17430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14" name="Equation" r:id="rId7" imgW="1930400" imgH="393700" progId="Equation.3">
                  <p:embed/>
                </p:oleObj>
              </mc:Choice>
              <mc:Fallback>
                <p:oleObj name="Equation" r:id="rId7" imgW="19304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987800"/>
                        <a:ext cx="17430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3" name="Object 6"/>
          <p:cNvGraphicFramePr>
            <a:graphicFrameLocks noChangeAspect="1"/>
          </p:cNvGraphicFramePr>
          <p:nvPr/>
        </p:nvGraphicFramePr>
        <p:xfrm>
          <a:off x="4464050" y="4000500"/>
          <a:ext cx="1503363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15" name="Equation" r:id="rId9" imgW="1663700" imgH="342900" progId="Equation.3">
                  <p:embed/>
                </p:oleObj>
              </mc:Choice>
              <mc:Fallback>
                <p:oleObj name="Equation" r:id="rId9" imgW="1663700" imgH="342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0" y="4000500"/>
                        <a:ext cx="1503363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4" name="Object 7"/>
          <p:cNvGraphicFramePr>
            <a:graphicFrameLocks noChangeAspect="1"/>
          </p:cNvGraphicFramePr>
          <p:nvPr/>
        </p:nvGraphicFramePr>
        <p:xfrm>
          <a:off x="1682750" y="4533900"/>
          <a:ext cx="1196975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16" name="Equation" r:id="rId11" imgW="1333500" imgH="279400" progId="Equation.3">
                  <p:embed/>
                </p:oleObj>
              </mc:Choice>
              <mc:Fallback>
                <p:oleObj name="Equation" r:id="rId11" imgW="1333500" imgH="279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0" y="4533900"/>
                        <a:ext cx="1196975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5" name="Object 8"/>
          <p:cNvGraphicFramePr>
            <a:graphicFrameLocks noChangeAspect="1"/>
          </p:cNvGraphicFramePr>
          <p:nvPr/>
        </p:nvGraphicFramePr>
        <p:xfrm>
          <a:off x="4013200" y="4533900"/>
          <a:ext cx="77628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17" name="Equation" r:id="rId13" imgW="862965" imgH="279400" progId="Equation.3">
                  <p:embed/>
                </p:oleObj>
              </mc:Choice>
              <mc:Fallback>
                <p:oleObj name="Equation" r:id="rId13" imgW="862965" imgH="279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0" y="4533900"/>
                        <a:ext cx="776288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6" name="Object 9"/>
          <p:cNvGraphicFramePr>
            <a:graphicFrameLocks noChangeAspect="1"/>
          </p:cNvGraphicFramePr>
          <p:nvPr/>
        </p:nvGraphicFramePr>
        <p:xfrm>
          <a:off x="4845050" y="3378200"/>
          <a:ext cx="14033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18" name="Equation" r:id="rId15" imgW="1548765" imgH="393700" progId="Equation.3">
                  <p:embed/>
                </p:oleObj>
              </mc:Choice>
              <mc:Fallback>
                <p:oleObj name="Equation" r:id="rId15" imgW="1548765" imgH="393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3378200"/>
                        <a:ext cx="14033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46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47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47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48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48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49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" y="600075"/>
            <a:ext cx="9519285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49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" y="600075"/>
            <a:ext cx="954278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0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0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755" y="600075"/>
            <a:ext cx="9672955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1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1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0335" y="600075"/>
            <a:ext cx="940943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2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2385" y="600075"/>
            <a:ext cx="9633585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3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02590" y="685165"/>
            <a:ext cx="976503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3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2390" y="600075"/>
            <a:ext cx="9449435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4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" y="600075"/>
            <a:ext cx="904113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4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85" y="600075"/>
            <a:ext cx="9026525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5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030" y="600075"/>
            <a:ext cx="856361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5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9705" y="600075"/>
            <a:ext cx="9504045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6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8110" y="600075"/>
            <a:ext cx="914908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6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4615" y="600075"/>
            <a:ext cx="930275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7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26695" y="600075"/>
            <a:ext cx="957453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8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2235" y="600075"/>
            <a:ext cx="924052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8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0640" y="600075"/>
            <a:ext cx="964184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159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8260" y="600075"/>
            <a:ext cx="9303385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200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5" y="600075"/>
            <a:ext cx="912622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200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4615" y="600075"/>
            <a:ext cx="903986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201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3985" y="600075"/>
            <a:ext cx="95504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5082202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600075"/>
            <a:ext cx="10058400" cy="56572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CDESIGNK</Template>
  <TotalTime>0</TotalTime>
  <Words>1034</Words>
  <Application>WPS 演示</Application>
  <PresentationFormat>全屏显示(4:3)</PresentationFormat>
  <Paragraphs>203</Paragraphs>
  <Slides>49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127</vt:i4>
      </vt:variant>
      <vt:variant>
        <vt:lpstr>幻灯片标题</vt:lpstr>
      </vt:variant>
      <vt:variant>
        <vt:i4>49</vt:i4>
      </vt:variant>
    </vt:vector>
  </HeadingPairs>
  <TitlesOfParts>
    <vt:vector size="187" baseType="lpstr">
      <vt:lpstr>Arial</vt:lpstr>
      <vt:lpstr>宋体</vt:lpstr>
      <vt:lpstr>Wingdings</vt:lpstr>
      <vt:lpstr>Times New Roman</vt:lpstr>
      <vt:lpstr>黑体</vt:lpstr>
      <vt:lpstr>Symbol</vt:lpstr>
      <vt:lpstr>微软雅黑</vt:lpstr>
      <vt:lpstr>Arial Unicode MS</vt:lpstr>
      <vt:lpstr>楷体_GB2312</vt:lpstr>
      <vt:lpstr>新宋体</vt:lpstr>
      <vt:lpstr>古瓶荷花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whu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xgldaj</dc:creator>
  <cp:lastModifiedBy>Guest</cp:lastModifiedBy>
  <cp:revision>277</cp:revision>
  <dcterms:created xsi:type="dcterms:W3CDTF">2010-03-02T01:46:00Z</dcterms:created>
  <dcterms:modified xsi:type="dcterms:W3CDTF">2020-05-08T14:03:03Z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